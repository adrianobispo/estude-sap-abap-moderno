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05.04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05.04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 Invasivo a Convidado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 nova era da extensibilidade no S/4HANA Cloud: dominando Cloud BAdIs para um ‘Clean Core’ robusto e à prova de upgrades.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/ Customer Exit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BAdI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Descoberta no ADT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Enhancement Implementation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Filtros de BAdI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Nossa Jornada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100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94767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79806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Compreender o Paradigma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Entender o papel arquitetural dos Cloud BAdIs como a evolução segura dos User Exits.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91640"/>
            <a:ext cx="54100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94767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79806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Dominar a Descoberta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Navegar e localizar BAdIs liberados (Released) exclusivamente via ADT (Eclipse).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512978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Implementar com Confiança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Criar uma Enhancement Implementation completa para cenários de validação e modificação.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512978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Respeitar as Regras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Justificar as limitações técnicas (ex.: proibição 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600" dirty="0">
                <a:solidFill>
                  <a:srgbClr val="556B82"/>
                </a:solidFill>
              </a:rPr>
              <a:t>) e sua relação com a integridade da LUW.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56616" cy="3566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443984"/>
            <a:ext cx="356616" cy="3566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32" y="2112264"/>
            <a:ext cx="356616" cy="356616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4443984"/>
            <a:ext cx="356616" cy="356616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Paradigma Legado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Era da Extensibilidade Invasiva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632923" y="2455883"/>
            <a:ext cx="905210" cy="90521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3314027" y="2455883"/>
            <a:ext cx="905210" cy="90521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632923" y="4136987"/>
            <a:ext cx="905210" cy="90521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14027" y="4136987"/>
            <a:ext cx="905210" cy="90521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097280" y="3749040"/>
            <a:ext cx="1280160" cy="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3749040"/>
            <a:ext cx="1280160" cy="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926080" y="1920240"/>
            <a:ext cx="0" cy="128016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4297680"/>
            <a:ext cx="0" cy="1280160"/>
          </a:xfrm>
          <a:prstGeom prst="line">
            <a:avLst/>
          </a:prstGeom>
          <a:noFill/>
          <a:ln w="508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74520" y="26974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A9B4BE"/>
          </a:solidFill>
          <a:ln w="25400">
            <a:solidFill>
              <a:srgbClr val="E7650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965960" y="27889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SAP Standard Program Core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User Exits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709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Modificações Diretas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554480"/>
            <a:ext cx="5973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No SAP ECC, a extensibilidade era frequentemente uma “cirurgia de alto risco”. Modificávamos diretamente includes de sistema (como o famoso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MV45AFZZ</a:t>
            </a:r>
            <a:r>
              <a:rPr lang="en-US" sz="1500" dirty="0">
                <a:solidFill>
                  <a:srgbClr val="1D2D3E"/>
                </a:solidFill>
              </a:rPr>
              <a:t>) ou usávamos Customer Exits (CMOD/SMOD) que dependiam de código procedural e variáveis globais.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108960"/>
            <a:ext cx="5973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O Problema da Abordagem Clássica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0" y="35661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54787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Fragilidade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Uma simples mudança no programa standard da SAP durante um upgrade poderia quebrar a lógica customizada.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41655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Conflito de Nomes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falta de isolamento de variáveis levava a colisões e comportamentos imprevisíveis (‘Variable Shadowing’).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528523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Sequenciamento Caótico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Múltiplos projetos no mesmo exit transformavam o código em uma ‘colcha de retalhos’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556B82"/>
                </a:solidFill>
              </a:rPr>
              <a:t>s.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3675888"/>
            <a:ext cx="237744" cy="237744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4544568"/>
            <a:ext cx="237744" cy="237744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541324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 ‘Clean Core’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Bem-vindo aos Cloud BAdIs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2560320"/>
            <a:ext cx="2377440" cy="2377440"/>
          </a:xfrm>
          <a:prstGeom prst="roundRect">
            <a:avLst>
              <a:gd name="adj" fmla="val 7692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77440" y="3337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SAP Standard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24912" y="267919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DB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93592" y="35478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DB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24912" y="441655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DB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6232" y="35478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DB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4290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023360" y="3749040"/>
            <a:ext cx="320040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06040" y="5166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926080" y="4846320"/>
            <a:ext cx="0" cy="32004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97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Pontos de extensão explícitos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554480"/>
            <a:ext cx="5973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SAP substituiu os mecanismos legados por uma abordagem moderna. Cloud BAdIs são pontos de extensão </a:t>
            </a:r>
            <a:r>
              <a:rPr lang="en-US" sz="1500" b="1" dirty="0">
                <a:solidFill>
                  <a:srgbClr val="1D2D3E"/>
                </a:solidFill>
              </a:rPr>
              <a:t>explícitos, seguros e liberados</a:t>
            </a:r>
            <a:r>
              <a:rPr lang="en-US" sz="1500" dirty="0">
                <a:solidFill>
                  <a:srgbClr val="1D2D3E"/>
                </a:solidFill>
              </a:rPr>
              <a:t> para a nuvem. Não “invadimos” mais o código; somos </a:t>
            </a:r>
            <a:r>
              <a:rPr lang="en-US" sz="1500" b="1" dirty="0">
                <a:solidFill>
                  <a:srgbClr val="1D2D3E"/>
                </a:solidFill>
              </a:rPr>
              <a:t>“convidados”</a:t>
            </a:r>
            <a:r>
              <a:rPr lang="en-US" sz="1500" dirty="0">
                <a:solidFill>
                  <a:srgbClr val="1D2D3E"/>
                </a:solidFill>
              </a:rPr>
              <a:t> a estendê-lo em pontos pré-definidos.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108960"/>
            <a:ext cx="5973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Principais Vantagens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35661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354787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Orientação a Objetos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BAdI é uma interface ABAP com contrato claro: você sabe o que entra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300" dirty="0">
                <a:solidFill>
                  <a:srgbClr val="556B82"/>
                </a:solidFill>
              </a:rPr>
              <a:t>) e o que pode modificar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Changing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441655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Estabilidade Contratual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SAP garante que a assinatura do método do BAdI não mudará em upgrades.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528523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Múltiplas Implementações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framework suporta várias implementações ativas, permitindo que soluções diferentes coexistam sem conflitos.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3675888"/>
            <a:ext cx="237744" cy="23774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4544568"/>
            <a:ext cx="237744" cy="23774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541324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Confronto de Paradigmas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Extensão Clássica vs. ‘Clean Core’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56B82"/>
                          </a:solidFill>
                        </a:rPr>
                        <a:t>User / Customer Exit (Legado)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56B82"/>
                          </a:solidFill>
                        </a:rPr>
                        <a:t>Cloud BAdI (Moderno)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Tecnologia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✗ Subrotinas (FORM), Function Modules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✓ Classes e interfaces ABAP OO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Estabilidade de Upgrade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✗ Baixa. Dependente de variáveis globais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✓ Alta. Contrato de interface garantido pela SAP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Múltiplas Implementações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✗ Geralmente não. Conflitos de código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✓ Sim. O framework suporta coexistência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Filtros de Execução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✗ Não. </a:t>
                      </a:r>
                      <a:r>
                        <a:rPr lang="en-US" sz="16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</a:t>
                      </a: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s manuais e ineficientes no código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✓ Sim. Filtro otimizado pelo Kernel ABAP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Adeus SE18, Olá ADT (Eclipse)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Encontrar os Pontos de Extensão?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No ABAP Cloud, a descoberta de pontos de extensão acontece exclusivamente no </a:t>
            </a:r>
            <a:r>
              <a:rPr lang="en-US" sz="1500" b="1" dirty="0">
                <a:solidFill>
                  <a:srgbClr val="1D2D3E"/>
                </a:solidFill>
              </a:rPr>
              <a:t>ABAP Development Tools (Eclipse)</a:t>
            </a:r>
            <a:r>
              <a:rPr lang="en-US" sz="1500" dirty="0">
                <a:solidFill>
                  <a:srgbClr val="1D2D3E"/>
                </a:solidFill>
              </a:rPr>
              <a:t>. A transação SE18 mostra BAdIs não liberados e inseguros para a nuvem.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0129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012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974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Abra a view </a:t>
            </a:r>
            <a:r>
              <a:rPr lang="en-US" sz="1400" b="1" dirty="0">
                <a:solidFill>
                  <a:srgbClr val="1D2D3E"/>
                </a:solidFill>
              </a:rPr>
              <a:t>Project Explorer</a:t>
            </a:r>
            <a:r>
              <a:rPr lang="en-US" sz="1400" dirty="0">
                <a:solidFill>
                  <a:srgbClr val="1D2D3E"/>
                </a:solidFill>
              </a:rPr>
              <a:t> no ADT.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4082796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40827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6732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Navegue pela árvore: </a:t>
            </a:r>
            <a:r>
              <a:rPr lang="en-US" sz="1400" b="1" dirty="0">
                <a:solidFill>
                  <a:srgbClr val="1D2D3E"/>
                </a:solidFill>
              </a:rPr>
              <a:t>Released Objects › Enhancements › Business Add-ins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37176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515264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5152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37176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Resultado:</a:t>
            </a:r>
            <a:r>
              <a:rPr lang="en-US" sz="1400" dirty="0">
                <a:solidFill>
                  <a:srgbClr val="1D2D3E"/>
                </a:solidFill>
              </a:rPr>
              <a:t> a árvore exibe apenas os BAdIs que a SAP marcou como seguros (Released API), garantindo a estabilidade da sua solução.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1600200"/>
            <a:ext cx="4876495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75704" y="1609344"/>
            <a:ext cx="4858207" cy="29260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16916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169164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69480" y="16916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196596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Project Explorer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33172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▾ S4D_100 [pt]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624328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▸ Favorite Packages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916936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▸ Local Objects ($TMP)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209544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▾ Released Objects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5021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▸ Core Data Services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79476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▾ Enhancements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087368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▾ Business Add-ins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379976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SD_SLS_CHECK_HEAD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4672584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SD_SLS_MODIFY_HEAD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96519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▸ Source Code Library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25780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▸ System Library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3182112"/>
            <a:ext cx="4327855" cy="1463040"/>
          </a:xfrm>
          <a:prstGeom prst="roundRect">
            <a:avLst>
              <a:gd name="adj" fmla="val 3750"/>
            </a:avLst>
          </a:prstGeom>
          <a:solidFill>
            <a:srgbClr val="FFFFFF">
              <a:alpha val="0"/>
            </a:srgbClr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5212080"/>
            <a:ext cx="4327855" cy="640080"/>
          </a:xfrm>
          <a:prstGeom prst="roundRect">
            <a:avLst>
              <a:gd name="adj" fmla="val 17143"/>
            </a:avLst>
          </a:prstGeom>
          <a:solidFill>
            <a:srgbClr val="EBF8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0" y="5212080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 fonte única da verdade para BAdIs liberados.</a:t>
            </a:r>
            <a:endParaRPr lang="en-US" sz="16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53583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Dica de Produtividade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Descobrindo BAdIs com o App Fiori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uma visão mais funcional e de negócio, consultores e Key Users podem utilizar o app Fiori “Custom Logic”.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" y="2157984"/>
            <a:ext cx="4187952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57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  Custom Logic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840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Buscar BAdIs…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Sales Order Validation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Validar dados antes de salvar o pedido.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Product Price Calculation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Lógica customizada de preço.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3017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Busca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017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Anota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017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Implementa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4160520"/>
            <a:ext cx="2606040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2148840"/>
            <a:ext cx="3916375" cy="2377440"/>
          </a:xfrm>
          <a:prstGeom prst="roundRect">
            <a:avLst>
              <a:gd name="adj" fmla="val 3077"/>
            </a:avLst>
          </a:prstGeom>
          <a:solidFill>
            <a:srgbClr val="1D2D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221992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Explorer (ADT)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60604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DE"/>
                </a:solidFill>
              </a:rPr>
              <a:t>▾ Released Objects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10728" y="2898648"/>
            <a:ext cx="3349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DE"/>
                </a:solidFill>
              </a:rPr>
              <a:t>▾ Enhancements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11896" y="3191256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DE"/>
                </a:solidFill>
              </a:rPr>
              <a:t>▾ Business Add-ins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3483864"/>
            <a:ext cx="3733495" cy="274320"/>
          </a:xfrm>
          <a:prstGeom prst="rect">
            <a:avLst/>
          </a:prstGeom>
          <a:solidFill>
            <a:srgbClr val="2F4A66"/>
          </a:solidFill>
          <a:ln w="12700">
            <a:solidFill>
              <a:srgbClr val="4DB1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13064" y="3483864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SD_SLS_CHECK_HEAD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13064" y="3776472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SD_SLS_MODIFY_HEAD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513064" y="4069080"/>
            <a:ext cx="2947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SD_SLS_FIELDPROP_HEAD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73659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709160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Busca visual:</a:t>
            </a:r>
            <a:r>
              <a:rPr lang="en-US" sz="1300" dirty="0">
                <a:solidFill>
                  <a:srgbClr val="1D2D3E"/>
                </a:solidFill>
              </a:rPr>
              <a:t> use o app para buscar BAdIs por processo de negócio e ler a documentação funcional de forma amigável.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19379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166360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Identificação técnica:</a:t>
            </a:r>
            <a:r>
              <a:rPr lang="en-US" sz="1300" dirty="0">
                <a:solidFill>
                  <a:srgbClr val="1D2D3E"/>
                </a:solidFill>
              </a:rPr>
              <a:t> anote o nome técnico do BAdI encontrado no app.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5623560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65099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3232" y="5650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5623560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Implementação no ADT:</a:t>
            </a:r>
            <a:r>
              <a:rPr lang="en-US" sz="1300" dirty="0">
                <a:solidFill>
                  <a:srgbClr val="1D2D3E"/>
                </a:solidFill>
              </a:rPr>
              <a:t> volte para o Eclipse e use o nome técnico para implementar a lógica com controle total do código.</a:t>
            </a:r>
            <a:endParaRPr lang="en-US" sz="16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7566" y="3160166"/>
            <a:ext cx="309067" cy="309067"/>
          </a:xfrm>
          <a:prstGeom prst="rect">
            <a:avLst/>
          </a:prstGeom>
        </p:spPr>
      </p:pic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46" y="3160166"/>
            <a:ext cx="309067" cy="309067"/>
          </a:xfrm>
          <a:prstGeom prst="rect">
            <a:avLst/>
          </a:prstGeom>
        </p:spPr>
      </p:pic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926" y="3160166"/>
            <a:ext cx="309067" cy="309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Fluxo de Implementação de um BAdI no ADT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332378" cy="443484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Criar o Container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</a:rPr>
              <a:t>Enhancement Implementation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Clique com o botão direito no seu pacote › </a:t>
            </a:r>
            <a:r>
              <a:rPr lang="en-US" sz="1400" b="1" dirty="0">
                <a:solidFill>
                  <a:srgbClr val="1D2D3E"/>
                </a:solidFill>
              </a:rPr>
              <a:t>New › BAdI Enhancement Implementation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27837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Este objeto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.badi</a:t>
            </a:r>
            <a:r>
              <a:rPr lang="en-US" sz="1400" dirty="0">
                <a:solidFill>
                  <a:srgbClr val="556B82"/>
                </a:solidFill>
              </a:rPr>
              <a:t>) agrupa suas implementações e define filtros.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2458" y="3611880"/>
            <a:ext cx="365760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658" y="1600200"/>
            <a:ext cx="3332378" cy="443484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978" y="1874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397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3978" y="2560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Escolher a Definição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</a:rPr>
              <a:t>BAdI Definition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3978" y="347472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No assistente, selecione o BAdI standard que deseja estender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SD_SLS_CHECK_HEAD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3978" y="4800600"/>
            <a:ext cx="27837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Isso define o “contrato” que sua classe deve seguir.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53477" y="3611880"/>
            <a:ext cx="365760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0677" y="1600200"/>
            <a:ext cx="3332378" cy="4434840"/>
          </a:xfrm>
          <a:prstGeom prst="roundRect">
            <a:avLst>
              <a:gd name="adj" fmla="val 38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84997" y="1874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84997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84997" y="2560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Implementar a Classe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</a:rPr>
              <a:t>Implementation Class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84997" y="347472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ADT gera automaticamente a classe Z que implementa a interface do BAdI.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84997" y="4800600"/>
            <a:ext cx="27837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Seu trabalho é preencher a lógica de negócio nos métodos vazios.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6618" y="1874520"/>
            <a:ext cx="640080" cy="64008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874520"/>
            <a:ext cx="640080" cy="640080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637" y="1874520"/>
            <a:ext cx="640080" cy="640080"/>
          </a:xfrm>
          <a:prstGeom prst="rect">
            <a:avLst/>
          </a:prstGeom>
        </p:spPr>
      </p:pic>
      <p:sp>
        <p:nvSpPr>
          <p:cNvPr id="2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 · BAdI SD_SLS_CHECK_HEAD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Validando um Pedido de Venda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Cenário:</a:t>
            </a:r>
            <a:r>
              <a:rPr lang="en-US" sz="1500" dirty="0">
                <a:solidFill>
                  <a:srgbClr val="1D2D3E"/>
                </a:solidFill>
              </a:rPr>
              <a:t> impedir a criação de um pedido de venda se o campo ‘Referência do Cliente’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PurchaseOrderByCustomer</a:t>
            </a:r>
            <a:r>
              <a:rPr lang="en-US" sz="1500" dirty="0">
                <a:solidFill>
                  <a:srgbClr val="1D2D3E"/>
                </a:solidFill>
              </a:rPr>
              <a:t>) estiver vazio.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94944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13432"/>
            <a:ext cx="6492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zcl_sd_check_po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if_sd_sls_check_head~check_header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sales_order_header-purchase_order_by_customer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'ZMSG_SALES'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msgno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msgty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msgv1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'Campo Referência é obrigatório'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check_result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if_sd_sls_check_head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&lt;- 3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214884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6992" y="26014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36992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14884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parâmetro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sales_order_header</a:t>
            </a:r>
            <a:r>
              <a:rPr lang="en-US" sz="1300" dirty="0">
                <a:solidFill>
                  <a:srgbClr val="1D2D3E"/>
                </a:solidFill>
              </a:rPr>
              <a:t> contém os dados do pedido em processamento.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347472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6992" y="39273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36992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47472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Para rejeitar, adicionamos uma mensagem à tabela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r>
              <a:rPr lang="en-US" sz="1300" dirty="0">
                <a:solidFill>
                  <a:srgbClr val="1D2D3E"/>
                </a:solidFill>
              </a:rPr>
              <a:t>. Não usamos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... RAISE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480060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52532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36992" y="5253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80060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Sinalizamos explicitamente a falha ao framework, garantindo que a transação seja abortada de forma limpa.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As Regras do Jogo · Por que não posso dar COMMIT WORK?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Protegendo a Integridade do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Seu código BAdI opera como um </a:t>
            </a:r>
            <a:r>
              <a:rPr lang="en-US" sz="1400" b="1" dirty="0">
                <a:solidFill>
                  <a:srgbClr val="1D2D3E"/>
                </a:solidFill>
              </a:rPr>
              <a:t>convidado</a:t>
            </a:r>
            <a:r>
              <a:rPr lang="en-US" sz="1400" dirty="0">
                <a:solidFill>
                  <a:srgbClr val="1D2D3E"/>
                </a:solidFill>
              </a:rPr>
              <a:t> dentro da transação do processo standard. A integridade da </a:t>
            </a:r>
            <a:r>
              <a:rPr lang="en-US" sz="1400" b="1" dirty="0">
                <a:solidFill>
                  <a:srgbClr val="1D2D3E"/>
                </a:solidFill>
              </a:rPr>
              <a:t>LUW (Logical Unit of Work)</a:t>
            </a:r>
            <a:r>
              <a:rPr lang="en-US" sz="1400" dirty="0">
                <a:solidFill>
                  <a:srgbClr val="1D2D3E"/>
                </a:solidFill>
              </a:rPr>
              <a:t> é sagrada.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 risco:</a:t>
            </a:r>
            <a:r>
              <a:rPr lang="en-US" sz="1400" dirty="0">
                <a:solidFill>
                  <a:srgbClr val="1D2D3E"/>
                </a:solidFill>
              </a:rPr>
              <a:t> se você emitir um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WORK</a:t>
            </a:r>
            <a:r>
              <a:rPr lang="en-US" sz="1400" dirty="0">
                <a:solidFill>
                  <a:srgbClr val="1D2D3E"/>
                </a:solidFill>
              </a:rPr>
              <a:t>, força a gravação prematura dos dados. Se o processo standard falhar logo depois, o resultado é uma </a:t>
            </a:r>
            <a:r>
              <a:rPr lang="en-US" sz="1400" b="1" dirty="0">
                <a:solidFill>
                  <a:srgbClr val="1D2D3E"/>
                </a:solidFill>
              </a:rPr>
              <a:t>inconsistência grave</a:t>
            </a:r>
            <a:r>
              <a:rPr lang="en-US" sz="1400" dirty="0">
                <a:solidFill>
                  <a:srgbClr val="1D2D3E"/>
                </a:solidFill>
              </a:rPr>
              <a:t> (metade gravada, metade não). O processo pai controla 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400" dirty="0">
                <a:solidFill>
                  <a:srgbClr val="1D2D3E"/>
                </a:solidFill>
              </a:rPr>
              <a:t> final.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Processo Standard de Gravação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953512"/>
            <a:ext cx="9631375" cy="0"/>
          </a:xfrm>
          <a:prstGeom prst="line">
            <a:avLst/>
          </a:prstGeom>
          <a:noFill/>
          <a:ln w="25400">
            <a:solidFill>
              <a:srgbClr val="006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53512"/>
            <a:ext cx="0" cy="128016"/>
          </a:xfrm>
          <a:prstGeom prst="line">
            <a:avLst/>
          </a:prstGeom>
          <a:noFill/>
          <a:ln w="25400">
            <a:solidFill>
              <a:srgbClr val="0064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28655" y="2953512"/>
            <a:ext cx="0" cy="128016"/>
          </a:xfrm>
          <a:prstGeom prst="line">
            <a:avLst/>
          </a:prstGeom>
          <a:noFill/>
          <a:ln w="25400">
            <a:solidFill>
              <a:srgbClr val="0064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566160"/>
            <a:ext cx="9037015" cy="0"/>
          </a:xfrm>
          <a:prstGeom prst="line">
            <a:avLst/>
          </a:prstGeom>
          <a:noFill/>
          <a:ln w="381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8408" y="344728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D2D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Início da Transação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Execução do BAdI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2461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64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WORK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640080" cy="548640"/>
          </a:xfrm>
          <a:prstGeom prst="line">
            <a:avLst/>
          </a:prstGeom>
          <a:noFill/>
          <a:ln w="50800">
            <a:solidFill>
              <a:srgbClr val="D2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4617720" y="3291840"/>
            <a:ext cx="640080" cy="548640"/>
          </a:xfrm>
          <a:prstGeom prst="line">
            <a:avLst/>
          </a:prstGeom>
          <a:noFill/>
          <a:ln w="50800">
            <a:solidFill>
              <a:srgbClr val="D20A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931920"/>
            <a:ext cx="0" cy="502920"/>
          </a:xfrm>
          <a:prstGeom prst="line">
            <a:avLst/>
          </a:prstGeom>
          <a:noFill/>
          <a:ln w="381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46888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A0808"/>
                </a:solidFill>
              </a:rPr>
              <a:t>Gravação prematura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3931920"/>
            <a:ext cx="548640" cy="502920"/>
          </a:xfrm>
          <a:prstGeom prst="line">
            <a:avLst/>
          </a:prstGeom>
          <a:noFill/>
          <a:ln w="381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44652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Dados inconsistentes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53528" y="344728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D2D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Falha standard posterior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225735" y="3337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WORK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Correto (controlado pelo standard)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5364328" cy="868680"/>
          </a:xfrm>
          <a:prstGeom prst="roundRect">
            <a:avLst>
              <a:gd name="adj" fmla="val 12632"/>
            </a:avLst>
          </a:prstGeom>
          <a:solidFill>
            <a:srgbClr val="FFEA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80160" y="521208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Sem acesso direto:</a:t>
            </a:r>
            <a:r>
              <a:rPr lang="en-US" sz="1300" dirty="0">
                <a:solidFill>
                  <a:srgbClr val="1D2D3E"/>
                </a:solidFill>
              </a:rPr>
              <a:t> nunca use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300" dirty="0">
                <a:solidFill>
                  <a:srgbClr val="1D2D3E"/>
                </a:solidFill>
              </a:rPr>
              <a:t> direto em tabelas standard (VBAK, MARA). Modifique dados apenas pelos parâmetros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CHANGING</a:t>
            </a:r>
            <a:r>
              <a:rPr lang="en-US" sz="1300" dirty="0">
                <a:solidFill>
                  <a:srgbClr val="1D2D3E"/>
                </a:solidFill>
              </a:rPr>
              <a:t> da interface.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78728" y="5212080"/>
            <a:ext cx="5364328" cy="868680"/>
          </a:xfrm>
          <a:prstGeom prst="roundRect">
            <a:avLst>
              <a:gd name="adj" fmla="val 12632"/>
            </a:avLst>
          </a:prstGeom>
          <a:solidFill>
            <a:srgbClr val="FFF8D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10248" y="521208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Performance é essencial:</a:t>
            </a:r>
            <a:r>
              <a:rPr lang="en-US" sz="1300" dirty="0">
                <a:solidFill>
                  <a:srgbClr val="1D2D3E"/>
                </a:solidFill>
              </a:rPr>
              <a:t> o código roda de forma síncrona. BAdI lento = processo de negócio lento. Evite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</a:rPr>
              <a:t>s pesados e chamadas de API síncronas.</a:t>
            </a:r>
            <a:endParaRPr lang="en-US" sz="16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480560"/>
            <a:ext cx="548640" cy="548640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4462272"/>
            <a:ext cx="502920" cy="502920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880360"/>
            <a:ext cx="365760" cy="365760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095" y="2880360"/>
            <a:ext cx="457200" cy="45720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72684"/>
            <a:ext cx="347472" cy="347472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54726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Otimização de Performance com Filtros de BAdI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4F00"/>
                </a:solidFill>
              </a:rPr>
              <a:t>Abordagem Ineficiente (IF no código)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324448" y="155448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 Solução Inteligente (BAdI Filters)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48" y="1554480"/>
            <a:ext cx="0" cy="315468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7784" y="20116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73504" y="2011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Pedido recebido (Org: 2020)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44904" y="26060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90624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Carregar classe Z na memória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44904" y="32918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90624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Executar método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7744" y="3931920"/>
            <a:ext cx="2194560" cy="777240"/>
          </a:xfrm>
          <a:prstGeom prst="diamond">
            <a:avLst/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44904" y="3931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sales_org = '1010'</a:t>
            </a:r>
            <a:r>
              <a:rPr lang="en-US" sz="10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22344" y="406908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8064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Sair sem fazer nada (desperdício)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7944" y="2395728"/>
            <a:ext cx="0" cy="210312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7944" y="3063240"/>
            <a:ext cx="0" cy="22860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05024" y="3749040"/>
            <a:ext cx="0" cy="18288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02304" y="4320540"/>
            <a:ext cx="32004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756584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Não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72071" y="20116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17791" y="2011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Pedido recebido (Org: 2020)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2231" y="2395728"/>
            <a:ext cx="0" cy="210312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80631" y="2606040"/>
            <a:ext cx="2743200" cy="1097280"/>
          </a:xfrm>
          <a:prstGeom prst="diamond">
            <a:avLst/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2111" y="26060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Kernel ABAP:</a:t>
            </a:r>
            <a:r>
              <a:rPr lang="en-US" sz="1100" dirty="0">
                <a:solidFill>
                  <a:srgbClr val="1D2D3E"/>
                </a:solidFill>
              </a:rPr>
              <a:t> filtro </a:t>
            </a: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SALES_ORG = 1010</a:t>
            </a:r>
            <a:r>
              <a:rPr lang="en-US" sz="11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23831" y="3154680"/>
            <a:ext cx="36576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9605543" y="28529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Não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89591" y="288036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5FAE5"/>
          </a:solidFill>
          <a:ln w="15875">
            <a:solidFill>
              <a:srgbClr val="3091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35311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Fim. Classe Z </a:t>
            </a:r>
            <a:r>
              <a:rPr lang="en-US" sz="1100" b="1" dirty="0">
                <a:solidFill>
                  <a:srgbClr val="1D2D3E"/>
                </a:solidFill>
              </a:rPr>
              <a:t>NÃO</a:t>
            </a:r>
            <a:r>
              <a:rPr lang="en-US" sz="1100" dirty="0">
                <a:solidFill>
                  <a:srgbClr val="1D2D3E"/>
                </a:solidFill>
              </a:rPr>
              <a:t> é carregada.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2231" y="3703320"/>
            <a:ext cx="0" cy="228600"/>
          </a:xfrm>
          <a:prstGeom prst="line">
            <a:avLst/>
          </a:prstGeom>
          <a:noFill/>
          <a:ln w="15875">
            <a:solidFill>
              <a:srgbClr val="A9B4BE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343671" y="3685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Sim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37831" y="39319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C5CCD3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383551" y="3931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6A8"/>
                </a:solidFill>
              </a:rPr>
              <a:t>Carregar classe Z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2231" y="4279392"/>
            <a:ext cx="0" cy="91440"/>
          </a:xfrm>
          <a:prstGeom prst="line">
            <a:avLst/>
          </a:prstGeom>
          <a:noFill/>
          <a:ln w="15875">
            <a:solidFill>
              <a:srgbClr val="A9B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7831" y="437083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C5CCD3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7383551" y="4370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6A8"/>
                </a:solidFill>
              </a:rPr>
              <a:t>Executar método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89204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O problema:</a:t>
            </a:r>
            <a:r>
              <a:rPr lang="en-US" sz="1400" dirty="0">
                <a:solidFill>
                  <a:srgbClr val="1D2D3E"/>
                </a:solidFill>
              </a:rPr>
              <a:t> escrever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sales_org = '1010'</a:t>
            </a:r>
            <a:r>
              <a:rPr lang="en-US" sz="1400" dirty="0">
                <a:solidFill>
                  <a:srgbClr val="1D2D3E"/>
                </a:solidFill>
              </a:rPr>
              <a:t> dentro do código é ineficiente. O sistema precisa carregar e executar sua classe para todos os pedidos, apenas para não fazer nada na maioria das vezes.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O ganho de performance:</a:t>
            </a:r>
            <a:r>
              <a:rPr lang="en-US" sz="1400" dirty="0">
                <a:solidFill>
                  <a:srgbClr val="1D2D3E"/>
                </a:solidFill>
              </a:rPr>
              <a:t> o Kernel do ABAP verifica o filtro antes de instanciar sua classe. Se a condição não for atendida, sua classe Z nem sequer é carregada na memória.</a:t>
            </a:r>
            <a:endParaRPr lang="en-US" sz="1600" dirty="0"/>
          </a:p>
        </p:txBody>
      </p:sp>
      <p:sp>
        <p:nvSpPr>
          <p:cNvPr id="3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 do Desenvolvedor ‘Clean Core’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1536192"/>
            <a:ext cx="103171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Cloud BAdI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Ponto de extensão OO, liberado pela SAP (Released API), que permite injetar lógica customizada em processos standard com segurança contra upgrades.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32304"/>
            <a:ext cx="103171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Enhancement Implementation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artefato técnico no ADT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.badi</a:t>
            </a:r>
            <a:r>
              <a:rPr lang="en-US" sz="1400" dirty="0">
                <a:solidFill>
                  <a:srgbClr val="556B82"/>
                </a:solidFill>
              </a:rPr>
              <a:t>) que serve como container para a classe de implementação e a configuração dos filtros de um BAdI.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4670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328416"/>
            <a:ext cx="103171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BAdI Interface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contrato técnico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IF_...</a:t>
            </a:r>
            <a:r>
              <a:rPr lang="en-US" sz="1400" dirty="0">
                <a:solidFill>
                  <a:srgbClr val="556B82"/>
                </a:solidFill>
              </a:rPr>
              <a:t>) que define quais métodos sua classe deve implementar e quais parâmetros estão disponíveis.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24281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4224528"/>
            <a:ext cx="103171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Filter Value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Configuração declarativa que restringe a execução de um BAdI a critérios específicos (ex.: Empresa ‘1000’), evitando o carregamento desnecessário da classe.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13892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5120640"/>
            <a:ext cx="103171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LUW (Logical Unit of Work)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Sequência de operações de banco de dados tratadas como uma unidade atômica (tudo ou nada). BAdIs operam dentro da LUW do processo pai.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686154"/>
            <a:ext cx="285293" cy="28529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374490"/>
            <a:ext cx="285293" cy="28529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478378"/>
            <a:ext cx="285293" cy="285293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2582266"/>
            <a:ext cx="285293" cy="28529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270602"/>
            <a:ext cx="285293" cy="285293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Sua Nova Missão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 Invasor a Arquiteto Convidado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A transição para Cloud BAdIs é mais do que uma mudança técnica: é uma mudança de filosofia. Abandonamos a mentalidade de “modificar o standard a qualquer custo” e adotamos a disciplina de estender o sistema em pontos seguros e bem definidos.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Limpo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805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Seu sistema permanece estável, previsível e fácil de manter.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8218" y="288036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3977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Upgrades Sem Susto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44805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As atualizações do S/4HANA Cloud se tornam eventos de rotina, não projetos de crise.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88036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7837" y="3977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Valor Sustentável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47837" y="44805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Extensões robustas, escaláveis e alinhadas com a estratégia de longo prazo da SAP.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7837" y="3154680"/>
            <a:ext cx="685800" cy="68580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3154680"/>
            <a:ext cx="685800" cy="68580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Invasivo a Convidado: Cloud BAdIs</dc:title>
  <dc:subject>ABAP Moderno – Módulo 05</dc:subject>
  <dc:creator>Adriano Bispo</dc:creator>
  <cp:lastModifiedBy>Adriano Bispo</cp:lastModifiedBy>
  <cp:revision>1</cp:revision>
  <dcterms:created xsi:type="dcterms:W3CDTF">2026-10-28T02:52:30Z</dcterms:created>
  <dcterms:modified xsi:type="dcterms:W3CDTF">2026-10-28T02:52:30Z</dcterms:modified>
</cp:coreProperties>
</file>