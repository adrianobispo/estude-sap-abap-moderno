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05  ·  05.05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05  ·  05.05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05  ·  05.05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05  ·  05.05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Dominando os Dois Mundos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A estratégia Clean Core definitiva para SAP S/4HANA Private Cloud e On-Premise.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3 · Clássico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Tier 1 · Mundo Cloud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Padrão Wrapper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ABAP Test Cockpit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Clean Core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Dilema da Liberdade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Public vs. Private Edition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81328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S/4HANA Cloud Public Edition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481568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D3E"/>
                </a:solidFill>
              </a:rPr>
              <a:t>Um ambiente </a:t>
            </a:r>
            <a:r>
              <a:rPr lang="en-US" sz="1500" b="1" dirty="0">
                <a:solidFill>
                  <a:srgbClr val="1D2D3E"/>
                </a:solidFill>
              </a:rPr>
              <a:t>SaaS puro</a:t>
            </a:r>
            <a:r>
              <a:rPr lang="en-US" sz="1500" dirty="0">
                <a:solidFill>
                  <a:srgbClr val="1D2D3E"/>
                </a:solidFill>
              </a:rPr>
              <a:t>. A SAP impõe as regras.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D2D3E"/>
                </a:solidFill>
              </a:rPr>
              <a:t>Realidade do desenvolvedor:</a:t>
            </a:r>
            <a:r>
              <a:rPr lang="en-US" sz="1500" dirty="0">
                <a:solidFill>
                  <a:srgbClr val="1D2D3E"/>
                </a:solidFill>
              </a:rPr>
              <a:t> o Clean Core é tecnicamente obrigatório. Não há acesso ao SAP GUI (SE38, SE80). O compilador simplesmente não aceita código que viole as regras da nuvem. É Clean Core ou nada.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53048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211416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82"/>
                </a:solidFill>
              </a:rPr>
              <a:t>Private Edition (e On-Premise)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60320"/>
            <a:ext cx="481568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D3E"/>
                </a:solidFill>
              </a:rPr>
              <a:t>Um ambiente </a:t>
            </a:r>
            <a:r>
              <a:rPr lang="en-US" sz="1500" b="1" dirty="0">
                <a:solidFill>
                  <a:srgbClr val="1D2D3E"/>
                </a:solidFill>
              </a:rPr>
              <a:t>dedicado</a:t>
            </a:r>
            <a:r>
              <a:rPr lang="en-US" sz="1500" dirty="0">
                <a:solidFill>
                  <a:srgbClr val="1D2D3E"/>
                </a:solidFill>
              </a:rPr>
              <a:t> (single tenant). Você tem controle total.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D2D3E"/>
                </a:solidFill>
              </a:rPr>
              <a:t>Realidade do desenvolvedor:</a:t>
            </a:r>
            <a:r>
              <a:rPr lang="en-US" sz="1500" dirty="0">
                <a:solidFill>
                  <a:srgbClr val="1D2D3E"/>
                </a:solidFill>
              </a:rPr>
              <a:t> acesso total ao SAP GUI e às transações clássicas. Você pode continuar desenvolvendo ‘como em 2010’.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5364328" cy="1188720"/>
          </a:xfrm>
          <a:prstGeom prst="roundRect">
            <a:avLst>
              <a:gd name="adj" fmla="val 9231"/>
            </a:avLst>
          </a:prstGeom>
          <a:solidFill>
            <a:srgbClr val="FFF8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80160" y="4846320"/>
            <a:ext cx="4358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O perigo da liberdade:</a:t>
            </a:r>
            <a:r>
              <a:rPr lang="en-US" sz="1500" dirty="0">
                <a:solidFill>
                  <a:srgbClr val="1D2D3E"/>
                </a:solidFill>
              </a:rPr>
              <a:t> a tentação de usar velhos hábitos gera nova dívida técnica, comprometendo upgrades e inovações futuras.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78728" y="4846320"/>
            <a:ext cx="5364328" cy="1188720"/>
          </a:xfrm>
          <a:prstGeom prst="roundRect">
            <a:avLst>
              <a:gd name="adj" fmla="val 9231"/>
            </a:avLst>
          </a:prstGeom>
          <a:solidFill>
            <a:srgbClr val="F5FAE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10248" y="4846320"/>
            <a:ext cx="4358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 recomendação estratégica:</a:t>
            </a:r>
            <a:r>
              <a:rPr lang="en-US" sz="1500" dirty="0">
                <a:solidFill>
                  <a:srgbClr val="1D2D3E"/>
                </a:solidFill>
              </a:rPr>
              <a:t> adotar </a:t>
            </a:r>
            <a:r>
              <a:rPr lang="en-US" sz="1500" b="1" dirty="0">
                <a:solidFill>
                  <a:srgbClr val="1D2D3E"/>
                </a:solidFill>
              </a:rPr>
              <a:t>voluntariamente</a:t>
            </a:r>
            <a:r>
              <a:rPr lang="en-US" sz="1500" dirty="0">
                <a:solidFill>
                  <a:srgbClr val="1D2D3E"/>
                </a:solidFill>
              </a:rPr>
              <a:t> a disciplina Clean Core, mesmo quando o sistema permite o contrário.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1979127"/>
            <a:ext cx="266273" cy="266273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943" y="1979127"/>
            <a:ext cx="266273" cy="266273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266944"/>
            <a:ext cx="347472" cy="34747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526694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Anatomia dos Dois Mundos no Seu Sistema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64328" cy="4434840"/>
          </a:xfrm>
          <a:prstGeom prst="roundRect">
            <a:avLst>
              <a:gd name="adj" fmla="val 2887"/>
            </a:avLst>
          </a:prstGeom>
          <a:solidFill>
            <a:srgbClr val="0070F2"/>
          </a:solidFill>
          <a:ln/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6EBFF"/>
                </a:solidFill>
              </a:rPr>
              <a:t>O Mundo Cloud (o futuro)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1 · ABAP Cloud (Developer Extensibility)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38328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Regras do jogo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749040"/>
            <a:ext cx="46328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Usa exclusivamente APIs e objetos liberados pela SAP (Released APIs).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Desenvolvimento orientado a ABAP Cloud e RAP.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Garante estabilidade em upgrades.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Pronto para inovações (IA, side-by-side).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4434840"/>
          </a:xfrm>
          <a:prstGeom prst="roundRect">
            <a:avLst>
              <a:gd name="adj" fmla="val 2887"/>
            </a:avLst>
          </a:prstGeom>
          <a:solidFill>
            <a:srgbClr val="1D2D3E"/>
          </a:solidFill>
          <a:ln/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44488" y="192024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O Mundo Clássico (a herança)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2286000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3 · Classic Extensibility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338328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Regras do jogo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44488" y="3749040"/>
            <a:ext cx="46328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Acesso irrestrito a todo o código base.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Permite o uso de BAPIs não liberadas, includes, modificações etc.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Poderoso, mas frágil: o código pode quebrar em futuros upgrades.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Repositório do seu legado de 20 anos.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7128" y="1920240"/>
            <a:ext cx="685800" cy="68580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1920240"/>
            <a:ext cx="685800" cy="68580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Sua Jornada Define o Território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Greenfield vs. Brownfield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1097280" cy="10972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286000" y="1783080"/>
            <a:ext cx="9082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56F3A"/>
                </a:solidFill>
              </a:rPr>
              <a:t>Greenfield (começar do zero)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24028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Descrição:</a:t>
            </a:r>
            <a:r>
              <a:rPr lang="en-US" sz="1400" dirty="0">
                <a:solidFill>
                  <a:srgbClr val="1D2D3E"/>
                </a:solidFill>
              </a:rPr>
              <a:t> implementação de um sistema novo, sem o peso do passado.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Estratégia:</a:t>
            </a:r>
            <a:r>
              <a:rPr lang="en-US" sz="1400" dirty="0">
                <a:solidFill>
                  <a:srgbClr val="1D2D3E"/>
                </a:solidFill>
              </a:rPr>
              <a:t> a oportunidade perfeita para viver 100% no </a:t>
            </a:r>
            <a:r>
              <a:rPr lang="en-US" sz="1400" b="1" dirty="0">
                <a:solidFill>
                  <a:srgbClr val="1D2D3E"/>
                </a:solidFill>
              </a:rPr>
              <a:t>Mundo Cloud</a:t>
            </a:r>
            <a:r>
              <a:rPr lang="en-US" sz="1400" dirty="0">
                <a:solidFill>
                  <a:srgbClr val="1D2D3E"/>
                </a:solidFill>
              </a:rPr>
              <a:t>. Todos os novos desenvolvimentos devem nascer no Tier 1 (ABAP Cloud) ou via Key User Extensibility.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Vantagem:</a:t>
            </a:r>
            <a:r>
              <a:rPr lang="en-US" sz="1400" dirty="0">
                <a:solidFill>
                  <a:srgbClr val="1D2D3E"/>
                </a:solidFill>
              </a:rPr>
              <a:t> arquitetura limpa, sem dívida técnica, compatibilidade total com o futuro.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11094415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4389120"/>
            <a:ext cx="1097280" cy="1097280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86000" y="4069080"/>
            <a:ext cx="9082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56B82"/>
                </a:solidFill>
              </a:rPr>
              <a:t>Brownfield (conversão de sistema)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452628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Descrição:</a:t>
            </a:r>
            <a:r>
              <a:rPr lang="en-US" sz="1400" dirty="0">
                <a:solidFill>
                  <a:srgbClr val="1D2D3E"/>
                </a:solidFill>
              </a:rPr>
              <a:t> conversão de um ECC existente, trazendo milhões de linhas de código Z.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Realidade:</a:t>
            </a:r>
            <a:r>
              <a:rPr lang="en-US" sz="1400" dirty="0">
                <a:solidFill>
                  <a:srgbClr val="1D2D3E"/>
                </a:solidFill>
              </a:rPr>
              <a:t> você herda um vasto território no </a:t>
            </a:r>
            <a:r>
              <a:rPr lang="en-US" sz="1400" b="1" dirty="0">
                <a:solidFill>
                  <a:srgbClr val="1D2D3E"/>
                </a:solidFill>
              </a:rPr>
              <a:t>Mundo Clássico (Tier 3)</a:t>
            </a:r>
            <a:r>
              <a:rPr lang="en-US" sz="1400" dirty="0">
                <a:solidFill>
                  <a:srgbClr val="1D2D3E"/>
                </a:solidFill>
              </a:rPr>
              <a:t>. Reescrever tudo é economicamente inviável.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O desafio:</a:t>
            </a:r>
            <a:r>
              <a:rPr lang="en-US" sz="1400" dirty="0">
                <a:solidFill>
                  <a:srgbClr val="1D2D3E"/>
                </a:solidFill>
              </a:rPr>
              <a:t> gerenciar a coexistência pacífica e produtiva dos dois mundos.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" y="2366467"/>
            <a:ext cx="570586" cy="570586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027" y="4652467"/>
            <a:ext cx="570586" cy="57058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Desafio Brownfield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Construindo o Futuro Sobre a Herança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377440" y="1691640"/>
            <a:ext cx="3108960" cy="1920240"/>
          </a:xfrm>
          <a:prstGeom prst="rect">
            <a:avLst/>
          </a:prstGeom>
          <a:solidFill>
            <a:srgbClr val="1D2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377440" y="16916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Legado Estável (Tier 3)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0" y="2103120"/>
            <a:ext cx="2377440" cy="1097280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60920" y="21031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Novas Funcionalidades (Tier 1)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H="1">
            <a:off x="5577840" y="2651760"/>
            <a:ext cx="1645920" cy="0"/>
          </a:xfrm>
          <a:prstGeom prst="line">
            <a:avLst/>
          </a:prstGeom>
          <a:noFill/>
          <a:ln w="31750">
            <a:solidFill>
              <a:srgbClr val="C8961E"/>
            </a:solidFill>
            <a:prstDash val="sysDot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03504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61E"/>
                </a:solidFill>
              </a:rPr>
              <a:t>?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351525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24179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1. Manter o Legado Estável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código antigo que funciona no Tier 3 deve ser preservado. “If it ain’t broke, don’t fix it.” Este é o seu ativo.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38218" y="3977640"/>
            <a:ext cx="351525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06898" y="4206240"/>
            <a:ext cx="24179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2. Inovar no Mundo Cloud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Qualquer novo requisito (um app Fiori, uma API) deve ser construído com as regras do Tier 1 (ABAP Cloud, RAP). Esta é a sua agilidade.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3977640"/>
            <a:ext cx="3515258" cy="2057400"/>
          </a:xfrm>
          <a:prstGeom prst="roundRect">
            <a:avLst>
              <a:gd name="adj" fmla="val 6222"/>
            </a:avLst>
          </a:prstGeom>
          <a:solidFill>
            <a:srgbClr val="FFF8D6"/>
          </a:solidFill>
          <a:ln w="19050">
            <a:solidFill>
              <a:srgbClr val="C896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96477" y="4206240"/>
            <a:ext cx="24179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 Questão Central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Como fazer o “novo” (Tier 1) conversar de forma segura com o “velho” (Tier 3) quando for absolutamente necessário?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251960"/>
            <a:ext cx="457200" cy="45720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4251960"/>
            <a:ext cx="457200" cy="45720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4251960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Perigo da Fronteira Aberta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Por que a Disciplina é Crucial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34640" y="1691640"/>
            <a:ext cx="0" cy="420624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34640" y="1691640"/>
            <a:ext cx="2286000" cy="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18688" y="1691640"/>
            <a:ext cx="0" cy="420624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2392680"/>
            <a:ext cx="2286000" cy="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02736" y="1691640"/>
            <a:ext cx="0" cy="420624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3093720"/>
            <a:ext cx="2286000" cy="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86784" y="1691640"/>
            <a:ext cx="0" cy="420624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3794760"/>
            <a:ext cx="2286000" cy="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0832" y="1691640"/>
            <a:ext cx="0" cy="420624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4640" y="4495800"/>
            <a:ext cx="2286000" cy="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691640"/>
            <a:ext cx="0" cy="420624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34640" y="5196840"/>
            <a:ext cx="2286000" cy="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38928" y="1691640"/>
            <a:ext cx="0" cy="420624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4640" y="5897880"/>
            <a:ext cx="2286000" cy="0"/>
          </a:xfrm>
          <a:prstGeom prst="line">
            <a:avLst/>
          </a:prstGeom>
          <a:noFill/>
          <a:ln w="25400">
            <a:solidFill>
              <a:srgbClr val="8CC7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2057400"/>
            <a:ext cx="868680" cy="9144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08760" y="2148840"/>
            <a:ext cx="1965960" cy="100584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822960" y="2788920"/>
            <a:ext cx="2057400" cy="54864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880360" y="2240280"/>
            <a:ext cx="960120" cy="54864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434840"/>
            <a:ext cx="1005840" cy="18288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554480" y="3886200"/>
            <a:ext cx="2103120" cy="73152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4400" y="4572000"/>
            <a:ext cx="1737360" cy="96012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2651760" y="4526280"/>
            <a:ext cx="640080" cy="4572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2514600"/>
            <a:ext cx="685800" cy="137160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17320" y="3886200"/>
            <a:ext cx="1783080" cy="137160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97280" y="3886200"/>
            <a:ext cx="2011680" cy="100584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08960" y="4892040"/>
            <a:ext cx="914400" cy="9144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640080" y="3291840"/>
            <a:ext cx="914400" cy="169164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554480" y="2514600"/>
            <a:ext cx="2011680" cy="77724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1783080"/>
            <a:ext cx="1600200" cy="128016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06040" y="3063240"/>
            <a:ext cx="502920" cy="128016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3520440"/>
            <a:ext cx="868680" cy="155448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17320" y="5074920"/>
            <a:ext cx="1965960" cy="64008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822960" y="4160520"/>
            <a:ext cx="2011680" cy="164592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2834640" y="3429000"/>
            <a:ext cx="914400" cy="731520"/>
          </a:xfrm>
          <a:prstGeom prst="line">
            <a:avLst/>
          </a:prstGeom>
          <a:noFill/>
          <a:ln w="28575">
            <a:solidFill>
              <a:srgbClr val="1D2D3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5943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Legado (Tier 3)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2834640" y="5943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Tier 1 contaminado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669280" y="1554480"/>
            <a:ext cx="5973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1D2D3E"/>
                </a:solidFill>
              </a:rPr>
              <a:t>“Se eu posso chamar código legado diretamente, por que não o faço?”</a:t>
            </a:r>
            <a:endParaRPr lang="en-US" sz="1900" dirty="0"/>
          </a:p>
        </p:txBody>
      </p:sp>
      <p:sp>
        <p:nvSpPr>
          <p:cNvPr id="41" name="Shape 39"/>
          <p:cNvSpPr/>
          <p:nvPr/>
        </p:nvSpPr>
        <p:spPr>
          <a:xfrm>
            <a:off x="5669280" y="246888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0" y="2450592"/>
            <a:ext cx="5242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Risco 1: Instabilidade em Upgrades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Código no Tier 3 usa APIs internas e objetos não liberados. A SAP não garante sua estabilidade: um futuro upgrade pode alterá-los ou removê-los, quebrando suas extensões.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669280" y="37947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00800" y="3776472"/>
            <a:ext cx="5242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Risco 2: Bloqueio Estratégico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Contaminar o código novo com dependências clássicas dificulta ou impossibilita uma futura migração para a Public Cloud ou a adoção de tecnologias que exigem Clean Core.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5669280" y="5166360"/>
            <a:ext cx="5973775" cy="868680"/>
          </a:xfrm>
          <a:prstGeom prst="roundRect">
            <a:avLst>
              <a:gd name="adj" fmla="val 12632"/>
            </a:avLst>
          </a:prstGeom>
          <a:solidFill>
            <a:srgbClr val="F5FAE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0" y="5166360"/>
            <a:ext cx="4967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 conclusão:</a:t>
            </a:r>
            <a:r>
              <a:rPr lang="en-US" sz="1400" dirty="0">
                <a:solidFill>
                  <a:srgbClr val="1D2D3E"/>
                </a:solidFill>
              </a:rPr>
              <a:t> o código no Tier 1 é um investimento. Ele usa apenas APIs estáveis, blindando seu desenvolvimento contra mudanças no núcleo SAP.</a:t>
            </a:r>
            <a:endParaRPr lang="en-US" sz="1600" dirty="0"/>
          </a:p>
        </p:txBody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9981" y="2589581"/>
            <a:ext cx="261518" cy="261518"/>
          </a:xfrm>
          <a:prstGeom prst="rect">
            <a:avLst/>
          </a:prstGeom>
        </p:spPr>
      </p:pic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981" y="3915461"/>
            <a:ext cx="261518" cy="261518"/>
          </a:xfrm>
          <a:prstGeom prst="rect">
            <a:avLst/>
          </a:prstGeom>
        </p:spPr>
      </p:pic>
      <p:pic>
        <p:nvPicPr>
          <p:cNvPr id="4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542696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Solução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Construindo a Ponte Estratégica entre os Mundos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971800"/>
            <a:ext cx="3200400" cy="1737360"/>
          </a:xfrm>
          <a:prstGeom prst="roundRect">
            <a:avLst>
              <a:gd name="adj" fmla="val 7368"/>
            </a:avLst>
          </a:prstGeom>
          <a:solidFill>
            <a:srgbClr val="1D2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Mundo Clássico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Tier 3 · legado estável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42655" y="2971800"/>
            <a:ext cx="3200400" cy="1737360"/>
          </a:xfrm>
          <a:prstGeom prst="roundRect">
            <a:avLst>
              <a:gd name="adj" fmla="val 7368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42655" y="39319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Mundo Cloud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6EBFF"/>
                </a:solidFill>
              </a:rPr>
              <a:t>Tier 1 · novas funcionalidades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749040" y="3840480"/>
            <a:ext cx="4693615" cy="164592"/>
          </a:xfrm>
          <a:prstGeom prst="rect">
            <a:avLst/>
          </a:prstGeom>
          <a:solidFill>
            <a:srgbClr val="C8961E"/>
          </a:solidFill>
          <a:ln/>
        </p:spPr>
      </p:sp>
      <p:sp>
        <p:nvSpPr>
          <p:cNvPr id="9" name="Shape 7"/>
          <p:cNvSpPr/>
          <p:nvPr/>
        </p:nvSpPr>
        <p:spPr>
          <a:xfrm>
            <a:off x="4672584" y="2560320"/>
            <a:ext cx="164592" cy="1463040"/>
          </a:xfrm>
          <a:prstGeom prst="rect">
            <a:avLst/>
          </a:prstGeom>
          <a:solidFill>
            <a:srgbClr val="C8961E"/>
          </a:solidFill>
          <a:ln/>
        </p:spPr>
      </p:sp>
      <p:sp>
        <p:nvSpPr>
          <p:cNvPr id="10" name="Shape 8"/>
          <p:cNvSpPr/>
          <p:nvPr/>
        </p:nvSpPr>
        <p:spPr>
          <a:xfrm>
            <a:off x="7354519" y="2560320"/>
            <a:ext cx="164592" cy="1463040"/>
          </a:xfrm>
          <a:prstGeom prst="rect">
            <a:avLst/>
          </a:prstGeom>
          <a:solidFill>
            <a:srgbClr val="C8961E"/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3749040" y="2606040"/>
            <a:ext cx="1005840" cy="1234440"/>
          </a:xfrm>
          <a:prstGeom prst="line">
            <a:avLst/>
          </a:prstGeom>
          <a:noFill/>
          <a:ln w="25400">
            <a:solidFill>
              <a:srgbClr val="C8961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2606040"/>
            <a:ext cx="1340968" cy="1143000"/>
          </a:xfrm>
          <a:prstGeom prst="line">
            <a:avLst/>
          </a:prstGeom>
          <a:noFill/>
          <a:ln w="25400">
            <a:solidFill>
              <a:srgbClr val="C8961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6095848" y="2606040"/>
            <a:ext cx="1340968" cy="1143000"/>
          </a:xfrm>
          <a:prstGeom prst="line">
            <a:avLst/>
          </a:prstGeom>
          <a:noFill/>
          <a:ln w="25400">
            <a:solidFill>
              <a:srgbClr val="C8961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36815" y="2606040"/>
            <a:ext cx="1005840" cy="1234440"/>
          </a:xfrm>
          <a:prstGeom prst="line">
            <a:avLst/>
          </a:prstGeom>
          <a:noFill/>
          <a:ln w="25400">
            <a:solidFill>
              <a:srgbClr val="C8961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90008" y="164592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8961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90008" y="1645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Padrão Wrapper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95848" y="2103120"/>
            <a:ext cx="0" cy="1554480"/>
          </a:xfrm>
          <a:prstGeom prst="line">
            <a:avLst/>
          </a:prstGeom>
          <a:noFill/>
          <a:ln w="25400">
            <a:solidFill>
              <a:srgbClr val="C8961E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548640" y="49377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D2D3E"/>
                </a:solidFill>
              </a:rPr>
              <a:t>Quando o código moderno (Tier 1) precisa acessar uma lógica de negócio crítica que reside no legado (Tier 3), não cruzamos a fronteira de forma imprudente. Construímos uma ponte: </a:t>
            </a:r>
            <a:r>
              <a:rPr lang="en-US" sz="1500" b="1" dirty="0">
                <a:solidFill>
                  <a:srgbClr val="1D2D3E"/>
                </a:solidFill>
              </a:rPr>
              <a:t>o Padrão Wrapper (Facade)</a:t>
            </a:r>
            <a:r>
              <a:rPr lang="en-US" sz="1500" dirty="0">
                <a:solidFill>
                  <a:srgbClr val="1D2D3E"/>
                </a:solidFill>
              </a:rPr>
              <a:t>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O que ele faz?</a:t>
            </a:r>
            <a:r>
              <a:rPr lang="en-US" sz="1500" dirty="0">
                <a:solidFill>
                  <a:srgbClr val="1D2D3E"/>
                </a:solidFill>
              </a:rPr>
              <a:t> O Wrapper atua como um adaptador, uma ‘zona de descontaminação’: encapsula a complexidade do código antigo e expõe uma interface limpa, moderna e segura para o novo mundo.</a:t>
            </a:r>
            <a:endParaRPr lang="en-US" sz="16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154680"/>
            <a:ext cx="731520" cy="731520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315468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Como Construir a Ponte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Padrão Wrapper na Prática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Cenário de exemplo:</a:t>
            </a:r>
            <a:r>
              <a:rPr lang="en-US" sz="1500" dirty="0">
                <a:solidFill>
                  <a:srgbClr val="1D2D3E"/>
                </a:solidFill>
              </a:rPr>
              <a:t> você está criando um app Fiori (Tier 1) e precisa usar a função legada e complexa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Z_CALCULA_IMPOSTO_BR_COMPLEXO</a:t>
            </a:r>
            <a:r>
              <a:rPr lang="en-US" sz="1500" dirty="0">
                <a:solidFill>
                  <a:srgbClr val="1D2D3E"/>
                </a:solidFill>
              </a:rPr>
              <a:t> (Tier 3).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393338" cy="3794760"/>
          </a:xfrm>
          <a:prstGeom prst="roundRect">
            <a:avLst>
              <a:gd name="adj" fmla="val 3234"/>
            </a:avLst>
          </a:prstGeom>
          <a:solidFill>
            <a:srgbClr val="FFFFFF"/>
          </a:solidFill>
          <a:ln w="31750">
            <a:solidFill>
              <a:srgbClr val="1D2D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10896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Passo 1: Criar o Wrapper (Tier 2) em ABAP Clássico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Crie uma classe global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ZCL_WRAPPER_IMPOSTO</a:t>
            </a:r>
            <a:r>
              <a:rPr lang="en-US" sz="1300" dirty="0">
                <a:solidFill>
                  <a:srgbClr val="1D2D3E"/>
                </a:solidFill>
              </a:rPr>
              <a:t> em </a:t>
            </a:r>
            <a:r>
              <a:rPr lang="en-US" sz="1300" b="1" dirty="0">
                <a:solidFill>
                  <a:srgbClr val="1D2D3E"/>
                </a:solidFill>
              </a:rPr>
              <a:t>Standard ABAP</a:t>
            </a:r>
            <a:r>
              <a:rPr lang="en-US" sz="13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709160"/>
            <a:ext cx="2844698" cy="6858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4727448"/>
            <a:ext cx="266181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calcular.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 FUNCTION 'Z_CALCULA_…'.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440680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Neste nível, a classe tem “superpoderes” e pode chamar qualquer código legado.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15130" y="4137660"/>
            <a:ext cx="310896" cy="0"/>
          </a:xfrm>
          <a:prstGeom prst="line">
            <a:avLst/>
          </a:prstGeom>
          <a:noFill/>
          <a:ln w="31750">
            <a:solidFill>
              <a:srgbClr val="C8961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99178" y="2240280"/>
            <a:ext cx="3393338" cy="3794760"/>
          </a:xfrm>
          <a:prstGeom prst="roundRect">
            <a:avLst>
              <a:gd name="adj" fmla="val 3234"/>
            </a:avLst>
          </a:prstGeom>
          <a:solidFill>
            <a:srgbClr val="FFFFFF"/>
          </a:solidFill>
          <a:ln w="31750">
            <a:solidFill>
              <a:srgbClr val="C8961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73498" y="310896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Passo 2: Liberar a Ponte para o Mundo Cloud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73498" y="3840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Marque a classe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ZCL_WRAPPER_IMPOSTO</a:t>
            </a:r>
            <a:r>
              <a:rPr lang="en-US" sz="1300" dirty="0">
                <a:solidFill>
                  <a:srgbClr val="1D2D3E"/>
                </a:solidFill>
              </a:rPr>
              <a:t> com o contrato de liberação </a:t>
            </a:r>
            <a:r>
              <a:rPr lang="en-US" sz="1300" b="1" dirty="0">
                <a:solidFill>
                  <a:srgbClr val="1D2D3E"/>
                </a:solidFill>
              </a:rPr>
              <a:t>C1 (Use in Cloud Development)</a:t>
            </a:r>
            <a:r>
              <a:rPr lang="en-US" sz="13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73498" y="4800600"/>
            <a:ext cx="28446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Este ato é a sua “garantia” ao compilador do Tier 1: “eu garanto que esta interface é estável e segura para consumo.”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65669" y="4137660"/>
            <a:ext cx="310896" cy="0"/>
          </a:xfrm>
          <a:prstGeom prst="line">
            <a:avLst/>
          </a:prstGeom>
          <a:noFill/>
          <a:ln w="31750">
            <a:solidFill>
              <a:srgbClr val="C8961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249717" y="2240280"/>
            <a:ext cx="3393338" cy="3794760"/>
          </a:xfrm>
          <a:prstGeom prst="roundRect">
            <a:avLst>
              <a:gd name="adj" fmla="val 3234"/>
            </a:avLst>
          </a:prstGeom>
          <a:solidFill>
            <a:srgbClr val="FFFFFF"/>
          </a:solidFill>
          <a:ln w="31750">
            <a:solidFill>
              <a:srgbClr val="0070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24037" y="310896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Passo 3: Consumir no Mundo Cloud (Tier 1)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524037" y="3840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No seu código ABAP Cloud (ex.: na classe do seu app Fiori), instancie e chame o método da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ZCL_WRAPPER_IMPOSTO</a:t>
            </a:r>
            <a:r>
              <a:rPr lang="en-US" sz="13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524037" y="4800600"/>
            <a:ext cx="28446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64D9"/>
                </a:solidFill>
              </a:rPr>
              <a:t>O seu código moderno permanece limpo, interagindo apenas com uma interface liberada e estável. A complexidade fica escondida.</a:t>
            </a:r>
            <a:endParaRPr lang="en-US" sz="12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68880"/>
            <a:ext cx="548640" cy="548640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037" y="2468880"/>
            <a:ext cx="548640" cy="548640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498" y="246888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Guardião da Fronteira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Garantindo a Governança com ATC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206240" cy="4434840"/>
          </a:xfrm>
          <a:prstGeom prst="roundRect">
            <a:avLst>
              <a:gd name="adj" fmla="val 3043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114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ABAP Test Cockpit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45920" y="47548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45920" y="47548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Cloud Readiness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45920" y="516636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45920" y="51663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Auditoria em massa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45920" y="557784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45920" y="55778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Quick Fixes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1600200"/>
            <a:ext cx="6430975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Construir pontes</a:t>
            </a:r>
            <a:r>
              <a:rPr lang="en-US" sz="1700" dirty="0">
                <a:solidFill>
                  <a:srgbClr val="1D2D3E"/>
                </a:solidFill>
              </a:rPr>
              <a:t> é essencial, mas como garantimos que os desenvolvedores as usem corretamente?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Como auditamos milhões de linhas de código legado</a:t>
            </a:r>
            <a:r>
              <a:rPr lang="en-US" sz="1700" dirty="0">
                <a:solidFill>
                  <a:srgbClr val="1D2D3E"/>
                </a:solidFill>
              </a:rPr>
              <a:t> para entender seus riscos e seu nível de “Cloud Readiness”? </a:t>
            </a:r>
            <a:r>
              <a:rPr lang="en-US" sz="1700" b="1" dirty="0">
                <a:solidFill>
                  <a:srgbClr val="1D2D3E"/>
                </a:solidFill>
              </a:rPr>
              <a:t>A análise manual é impossível.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A ferramenta:</a:t>
            </a:r>
            <a:r>
              <a:rPr lang="en-US" sz="1700" dirty="0">
                <a:solidFill>
                  <a:srgbClr val="1D2D3E"/>
                </a:solidFill>
              </a:rPr>
              <a:t> o </a:t>
            </a:r>
            <a:r>
              <a:rPr lang="en-US" sz="1700" b="1" dirty="0">
                <a:solidFill>
                  <a:srgbClr val="1D2D3E"/>
                </a:solidFill>
              </a:rPr>
              <a:t>ABAP Test Cockpit (ATC)</a:t>
            </a:r>
            <a:r>
              <a:rPr lang="en-US" sz="1700" dirty="0">
                <a:solidFill>
                  <a:srgbClr val="1D2D3E"/>
                </a:solidFill>
              </a:rPr>
              <a:t> é o seu guardião automatizado. Ele atua como uma ferramenta de governança que verifica se as regras de fronteira estão sendo respeitadas em todo o seu código.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2148840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Arsenal do Guardião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Variantes de Verificação do ATC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85800" cy="6858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1874520"/>
            <a:ext cx="3992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S4HANA_READINESS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Verifica incompatibilidades funcionais e de banco de dados.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481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56B82"/>
                </a:solidFill>
              </a:rPr>
              <a:t>Uso de tabelas que não existem mais no S/4HANA (ex.: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</a:t>
            </a:r>
            <a:r>
              <a:rPr lang="en-US" sz="1400" dirty="0">
                <a:solidFill>
                  <a:srgbClr val="556B82"/>
                </a:solidFill>
              </a:rPr>
              <a:t>, tabelas agregadas de FI).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400" dirty="0">
                <a:solidFill>
                  <a:srgbClr val="556B82"/>
                </a:solidFill>
              </a:rPr>
              <a:t>s sem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400" dirty="0">
                <a:solidFill>
                  <a:srgbClr val="556B82"/>
                </a:solidFill>
              </a:rPr>
              <a:t> que dependiam da ordenação implícita do banco antigo.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364328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1874520"/>
            <a:ext cx="685800" cy="6858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21728" y="1874520"/>
            <a:ext cx="3992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ABAP_CLOUD_READINESS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269748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Verifica a conformidade com as regras do ABAP Cloud.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200400"/>
            <a:ext cx="481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56B82"/>
                </a:solidFill>
              </a:rPr>
              <a:t>Chamadas diretas a objetos standard da SAP que não foram liberados (não estão na ‘whitelist’).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56B82"/>
                </a:solidFill>
              </a:rPr>
              <a:t>Uso de sintaxe e objetos não permitidos no ABAP Cloud.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56B82"/>
                </a:solidFill>
              </a:rPr>
              <a:t>Para código novo, use a variante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ABAP_CLOUD_DEVELOPMENT_DEFAULT</a:t>
            </a:r>
            <a:r>
              <a:rPr lang="en-US" sz="1400" dirty="0">
                <a:solidFill>
                  <a:srgbClr val="556B82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Fluxo de trabalho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212080"/>
            <a:ext cx="3423818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5285232"/>
            <a:ext cx="324093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1. Auditar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em massa o código legado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045610" y="5486400"/>
            <a:ext cx="265176" cy="274320"/>
          </a:xfrm>
          <a:prstGeom prst="rightArrow">
            <a:avLst/>
          </a:prstGeom>
          <a:solidFill>
            <a:srgbClr val="556B82"/>
          </a:solidFill>
          <a:ln/>
        </p:spPr>
      </p:sp>
      <p:sp>
        <p:nvSpPr>
          <p:cNvPr id="18" name="Shape 16"/>
          <p:cNvSpPr/>
          <p:nvPr/>
        </p:nvSpPr>
        <p:spPr>
          <a:xfrm>
            <a:off x="4383938" y="5212080"/>
            <a:ext cx="3423818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75378" y="5285232"/>
            <a:ext cx="324093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2. Triar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os erros (funcionais vs. cloud)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880909" y="5486400"/>
            <a:ext cx="265176" cy="274320"/>
          </a:xfrm>
          <a:prstGeom prst="rightArrow">
            <a:avLst/>
          </a:prstGeom>
          <a:solidFill>
            <a:srgbClr val="556B82"/>
          </a:solidFill>
          <a:ln/>
        </p:spPr>
      </p:sp>
      <p:sp>
        <p:nvSpPr>
          <p:cNvPr id="21" name="Shape 19"/>
          <p:cNvSpPr/>
          <p:nvPr/>
        </p:nvSpPr>
        <p:spPr>
          <a:xfrm>
            <a:off x="8219237" y="5212080"/>
            <a:ext cx="3423818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10677" y="5285232"/>
            <a:ext cx="324093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3. Corrigir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 Quick Fixes ou decidir pela estratégia de Wrapper</a:t>
            </a:r>
            <a:endParaRPr lang="en-US" sz="16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356616" cy="356616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640" y="2039112"/>
            <a:ext cx="356616" cy="3566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Blueprint da Coexistência Híbrida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280160" y="1600200"/>
            <a:ext cx="9631375" cy="777240"/>
          </a:xfrm>
          <a:prstGeom prst="roundRect">
            <a:avLst>
              <a:gd name="adj" fmla="val 11765"/>
            </a:avLst>
          </a:prstGeom>
          <a:solidFill>
            <a:srgbClr val="EBF8FF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194560" y="1600200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App Fiori / Serviço RAP · Mundo Cloud (Tier 1)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Código limpo, estrito, usando apenas APIs liberadas.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377440" y="2404872"/>
            <a:ext cx="0" cy="356616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256032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Chamada segura e controlada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80160" y="2788920"/>
            <a:ext cx="9631375" cy="777240"/>
          </a:xfrm>
          <a:prstGeom prst="roundRect">
            <a:avLst>
              <a:gd name="adj" fmla="val 11765"/>
            </a:avLst>
          </a:prstGeom>
          <a:solidFill>
            <a:srgbClr val="FFF8D6"/>
          </a:solidFill>
          <a:ln w="25400">
            <a:solidFill>
              <a:srgbClr val="C8961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94560" y="2788920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Classe Wrapper · A Ponte Estratégica (Tier 2 · Cloud API Enablement)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Interface liberada com contrato C1. Encapsula a complexidade do legado.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77440" y="3593592"/>
            <a:ext cx="0" cy="356616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56032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Acesso interno ao legado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80160" y="3977640"/>
            <a:ext cx="9631375" cy="777240"/>
          </a:xfrm>
          <a:prstGeom prst="roundRect">
            <a:avLst>
              <a:gd name="adj" fmla="val 11765"/>
            </a:avLst>
          </a:prstGeom>
          <a:solidFill>
            <a:srgbClr val="1D2D3E"/>
          </a:solidFill>
          <a:ln w="25400">
            <a:solidFill>
              <a:srgbClr val="1D2D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94560" y="3977640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Código Legado / BAPIs / Funções Z · Mundo Clássico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 herança funcional que continua a agregar valor.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BF8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80160" y="5166360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Esta arquitetura permite inovar rapidamente no </a:t>
            </a:r>
            <a:r>
              <a:rPr lang="en-US" sz="1500" b="1" dirty="0">
                <a:solidFill>
                  <a:srgbClr val="1D2D3E"/>
                </a:solidFill>
              </a:rPr>
              <a:t>Mundo Cloud (Tier 1)</a:t>
            </a:r>
            <a:r>
              <a:rPr lang="en-US" sz="1500" dirty="0">
                <a:solidFill>
                  <a:srgbClr val="1D2D3E"/>
                </a:solidFill>
              </a:rPr>
              <a:t> enquanto reutiliza de forma segura e estratégica os ativos valiosos do </a:t>
            </a:r>
            <a:r>
              <a:rPr lang="en-US" sz="1500" b="1" dirty="0">
                <a:solidFill>
                  <a:srgbClr val="1D2D3E"/>
                </a:solidFill>
              </a:rPr>
              <a:t>Mundo Clássico (Tier 3)</a:t>
            </a:r>
            <a:r>
              <a:rPr lang="en-US" sz="1500" dirty="0">
                <a:solidFill>
                  <a:srgbClr val="1D2D3E"/>
                </a:solidFill>
              </a:rPr>
              <a:t>, garantindo agilidade e estabilidade.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83080"/>
            <a:ext cx="411480" cy="411480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971800"/>
            <a:ext cx="411480" cy="41148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4160520"/>
            <a:ext cx="411480" cy="411480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426964"/>
            <a:ext cx="347472" cy="347472"/>
          </a:xfrm>
          <a:prstGeom prst="rect">
            <a:avLst/>
          </a:prstGeom>
        </p:spPr>
      </p:pic>
      <p:sp>
        <p:nvSpPr>
          <p:cNvPr id="19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Atualização 2025 da SAP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Dos 3 Tiers aos Níveis A–D do Clean Core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A SAP evoluiu o modelo de 3 Tiers para o </a:t>
            </a:r>
            <a:r>
              <a:rPr lang="en-US" sz="1500" b="1" dirty="0">
                <a:solidFill>
                  <a:srgbClr val="1D2D3E"/>
                </a:solidFill>
              </a:rPr>
              <a:t>conceito de níveis de Clean Core</a:t>
            </a:r>
            <a:r>
              <a:rPr lang="en-US" sz="1500" dirty="0">
                <a:solidFill>
                  <a:srgbClr val="1D2D3E"/>
                </a:solidFill>
              </a:rPr>
              <a:t>. A classificação deixa de tratar todo ABAP clássico como “sujo” e passa a avaliar o risco de upgrade de cada objeto usado.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567864" cy="2606040"/>
          </a:xfrm>
          <a:prstGeom prst="roundRect">
            <a:avLst>
              <a:gd name="adj" fmla="val 49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377440"/>
            <a:ext cx="2567864" cy="73152"/>
          </a:xfrm>
          <a:prstGeom prst="rect">
            <a:avLst/>
          </a:prstGeom>
          <a:solidFill>
            <a:srgbClr val="30914C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651760"/>
            <a:ext cx="640080" cy="640080"/>
          </a:xfrm>
          <a:prstGeom prst="ellipse">
            <a:avLst/>
          </a:prstGeom>
          <a:solidFill>
            <a:srgbClr val="F5FAE5"/>
          </a:solidFill>
          <a:ln w="25400">
            <a:solidFill>
              <a:srgbClr val="3091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F3A"/>
                </a:solidFill>
              </a:rPr>
              <a:t>A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651760"/>
            <a:ext cx="1379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F3A"/>
                </a:solidFill>
              </a:rPr>
              <a:t>Nível 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926080"/>
            <a:ext cx="1379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Released APIs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74720"/>
            <a:ext cx="2110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e pontos de extensão liberados: ABAP Cloud on-stack, Key User e side-by-side na SAP BTP. Máxima estabilidade em upgrades.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90824" y="2377440"/>
            <a:ext cx="2567864" cy="2606040"/>
          </a:xfrm>
          <a:prstGeom prst="roundRect">
            <a:avLst>
              <a:gd name="adj" fmla="val 49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90824" y="2377440"/>
            <a:ext cx="2567864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619424" y="2651760"/>
            <a:ext cx="640080" cy="640080"/>
          </a:xfrm>
          <a:prstGeom prst="ellipse">
            <a:avLst/>
          </a:prstGeom>
          <a:solidFill>
            <a:srgbClr val="EBF8FF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19424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64D9"/>
                </a:solidFill>
              </a:rPr>
              <a:t>B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396664" y="2651760"/>
            <a:ext cx="1379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Nível B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396664" y="2926080"/>
            <a:ext cx="1379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Classic APIs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619424" y="3474720"/>
            <a:ext cx="2110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Artefatos clássicos (ex.: BAPIs) que a SAP classifica como estáveis para upgrade. Risco baixo.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2377440"/>
            <a:ext cx="2567864" cy="2606040"/>
          </a:xfrm>
          <a:prstGeom prst="roundRect">
            <a:avLst>
              <a:gd name="adj" fmla="val 49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33008" y="2377440"/>
            <a:ext cx="2567864" cy="73152"/>
          </a:xfrm>
          <a:prstGeom prst="rect">
            <a:avLst/>
          </a:prstGeom>
          <a:solidFill>
            <a:srgbClr val="E76500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1608" y="2651760"/>
            <a:ext cx="640080" cy="640080"/>
          </a:xfrm>
          <a:prstGeom prst="ellipse">
            <a:avLst/>
          </a:prstGeom>
          <a:solidFill>
            <a:srgbClr val="FFF8D6"/>
          </a:solidFill>
          <a:ln w="25400">
            <a:solidFill>
              <a:srgbClr val="E765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61608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4F00"/>
                </a:solidFill>
              </a:rPr>
              <a:t>C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238848" y="2651760"/>
            <a:ext cx="1379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Nível C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238848" y="2926080"/>
            <a:ext cx="1379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Objetos internos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61608" y="3474720"/>
            <a:ext cx="2110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Objetos não classificados como API. Risco gerenciável, acompanhado pelo changelog da SAP e por verificações do ATC.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075191" y="2377440"/>
            <a:ext cx="2567864" cy="2606040"/>
          </a:xfrm>
          <a:prstGeom prst="roundRect">
            <a:avLst>
              <a:gd name="adj" fmla="val 49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075191" y="2377440"/>
            <a:ext cx="2567864" cy="73152"/>
          </a:xfrm>
          <a:prstGeom prst="rect">
            <a:avLst/>
          </a:prstGeom>
          <a:solidFill>
            <a:srgbClr val="D20A0A"/>
          </a:solidFill>
          <a:ln/>
        </p:spPr>
      </p:sp>
      <p:sp>
        <p:nvSpPr>
          <p:cNvPr id="28" name="Shape 26"/>
          <p:cNvSpPr/>
          <p:nvPr/>
        </p:nvSpPr>
        <p:spPr>
          <a:xfrm>
            <a:off x="9303791" y="2651760"/>
            <a:ext cx="640080" cy="640080"/>
          </a:xfrm>
          <a:prstGeom prst="ellipse">
            <a:avLst/>
          </a:prstGeom>
          <a:solidFill>
            <a:srgbClr val="FFEAF4"/>
          </a:solidFill>
          <a:ln w="25400">
            <a:solidFill>
              <a:srgbClr val="D20A0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03791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0808"/>
                </a:solidFill>
              </a:rPr>
              <a:t>D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10081031" y="2651760"/>
            <a:ext cx="1379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A0808"/>
                </a:solidFill>
              </a:rPr>
              <a:t>Nível 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081031" y="2926080"/>
            <a:ext cx="1379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Não recomendado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303791" y="3474720"/>
            <a:ext cx="2110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Modificações, escrita direta em tabelas SAP, enhancements implícitos. Maior dívida técnica: remediar.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212080"/>
            <a:ext cx="11094415" cy="822960"/>
          </a:xfrm>
          <a:prstGeom prst="roundRect">
            <a:avLst>
              <a:gd name="adj" fmla="val 13333"/>
            </a:avLst>
          </a:prstGeom>
          <a:solidFill>
            <a:srgbClr val="EBF8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80160" y="521208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Uma extensão é avaliada pelo </a:t>
            </a:r>
            <a:r>
              <a:rPr lang="en-US" sz="1400" b="1" dirty="0">
                <a:solidFill>
                  <a:srgbClr val="1D2D3E"/>
                </a:solidFill>
              </a:rPr>
              <a:t>objeto de menor nível</a:t>
            </a:r>
            <a:r>
              <a:rPr lang="en-US" sz="1400" dirty="0">
                <a:solidFill>
                  <a:srgbClr val="1D2D3E"/>
                </a:solidFill>
              </a:rPr>
              <a:t> que ela usa. Wrappers já construídos no modelo de Tiers (Tier 2) </a:t>
            </a:r>
            <a:r>
              <a:rPr lang="en-US" sz="1400" b="1" dirty="0">
                <a:solidFill>
                  <a:srgbClr val="1D2D3E"/>
                </a:solidFill>
              </a:rPr>
              <a:t>não precisam ser migrados</a:t>
            </a:r>
            <a:r>
              <a:rPr lang="en-US" sz="1400" dirty="0">
                <a:solidFill>
                  <a:srgbClr val="1D2D3E"/>
                </a:solidFill>
              </a:rPr>
              <a:t>: o objetivo é subir de nível sempre que possível.</a:t>
            </a:r>
            <a:endParaRPr lang="en-US" sz="16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44982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Seu Plano de Ação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Estratégia de 3 Passos para o Clean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434340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Shape 4"/>
          <p:cNvSpPr/>
          <p:nvPr/>
        </p:nvSpPr>
        <p:spPr>
          <a:xfrm>
            <a:off x="3259226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59226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889504"/>
            <a:ext cx="300319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Regra de Ouro para o Novo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Todo e qualquer novo desenvolvimento (relatórios, apps, APIs) deve ser feito obrigatoriamente usando </a:t>
            </a:r>
            <a:r>
              <a:rPr lang="en-US" sz="1500" b="1" dirty="0">
                <a:solidFill>
                  <a:srgbClr val="556B82"/>
                </a:solidFill>
              </a:rPr>
              <a:t>ABAP Cloud (Tier 1)</a:t>
            </a:r>
            <a:r>
              <a:rPr lang="en-US" sz="1500" dirty="0">
                <a:solidFill>
                  <a:srgbClr val="556B82"/>
                </a:solidFill>
              </a:rPr>
              <a:t>. Estabeleça isso como o novo padrão da sua equipe.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38218" y="1691640"/>
            <a:ext cx="3515258" cy="434340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4250" y="1947672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Shape 9"/>
          <p:cNvSpPr/>
          <p:nvPr/>
        </p:nvSpPr>
        <p:spPr>
          <a:xfrm>
            <a:off x="7048805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8805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4250" y="2889504"/>
            <a:ext cx="300319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Priorize Extensões “In-App”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Antes de escrever código, verifique se a necessidade pode ser atendida com </a:t>
            </a:r>
            <a:r>
              <a:rPr lang="en-US" sz="1500" b="1" dirty="0">
                <a:solidFill>
                  <a:srgbClr val="556B82"/>
                </a:solidFill>
              </a:rPr>
              <a:t>Key User Extensibility</a:t>
            </a:r>
            <a:r>
              <a:rPr lang="en-US" sz="1500" dirty="0">
                <a:solidFill>
                  <a:srgbClr val="556B82"/>
                </a:solidFill>
              </a:rPr>
              <a:t> ou </a:t>
            </a:r>
            <a:r>
              <a:rPr lang="en-US" sz="1500" b="1" dirty="0">
                <a:solidFill>
                  <a:srgbClr val="556B82"/>
                </a:solidFill>
              </a:rPr>
              <a:t>Cloud BAdIs</a:t>
            </a:r>
            <a:r>
              <a:rPr lang="en-US" sz="1500" dirty="0">
                <a:solidFill>
                  <a:srgbClr val="556B82"/>
                </a:solidFill>
              </a:rPr>
              <a:t>. Evite as User Exits antigas sempre que possível.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515258" cy="434340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83829" y="1947672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38383" y="19659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838383" y="1965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383829" y="2889504"/>
            <a:ext cx="300319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Envelopar, Não Replicar o Legado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Quando uma lógica de negócio antiga e crítica precisar ser usada em um novo desenvolvimento, </a:t>
            </a:r>
            <a:r>
              <a:rPr lang="en-US" sz="1500" b="1" dirty="0">
                <a:solidFill>
                  <a:srgbClr val="556B82"/>
                </a:solidFill>
              </a:rPr>
              <a:t>encapsule-a em um Wrapper</a:t>
            </a:r>
            <a:r>
              <a:rPr lang="en-US" sz="1500" dirty="0">
                <a:solidFill>
                  <a:srgbClr val="556B82"/>
                </a:solidFill>
              </a:rPr>
              <a:t>. Não reescreva nem duplique a lógica.</a:t>
            </a:r>
            <a:endParaRPr lang="en-US" sz="16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10" y="2134210"/>
            <a:ext cx="404165" cy="404165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788" y="2134210"/>
            <a:ext cx="404165" cy="404165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366" y="2134210"/>
            <a:ext cx="404165" cy="40416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Glossário Essencial para Navegar os Dois Mundos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074152"/>
              </a:tblGrid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Termo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Definição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D2D3E"/>
                          </a:solidFill>
                        </a:rPr>
                        <a:t>Greenfield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D2D3E"/>
                          </a:solidFill>
                        </a:rPr>
                        <a:t>Implementação do zero (‘campo verde’). Cenário ideal para 100% Clean Core desde o início.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D2D3E"/>
                          </a:solidFill>
                        </a:rPr>
                        <a:t>Brownfield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D2D3E"/>
                          </a:solidFill>
                        </a:rPr>
                        <a:t>Conversão de um sistema ECC existente. Herda a dívida técnica e exige a gestão da coexistência entre o Clássico e o Cloud.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D2D3E"/>
                          </a:solidFill>
                        </a:rPr>
                        <a:t>Wrapper Pattern (Padrão Envelope)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D2D3E"/>
                          </a:solidFill>
                        </a:rPr>
                        <a:t>Classe do Tier 2 (Cloud API Enablement), escrita em ABAP clássico, que encapsula lógica legada e expõe uma interface simplificada e liberada (contrato C1) para consumo por aplicações do Tier 1.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D2D3E"/>
                          </a:solidFill>
                        </a:rPr>
                        <a:t>Cloud Readiness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D2D3E"/>
                          </a:solidFill>
                        </a:rPr>
                        <a:t>O grau de conformidade de um código com as regras do ABAP Cloud. Verificado automaticamente via ATC.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D2D3E"/>
                          </a:solidFill>
                        </a:rPr>
                        <a:t>Níveis A–D do Clean Core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D2D3E"/>
                          </a:solidFill>
                        </a:rPr>
                        <a:t>Classificação de 2025 que sucede os 3 Tiers: A = APIs liberadas, B = APIs clássicas, C = objetos internos, D = não recomendado.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D2D3E"/>
                          </a:solidFill>
                        </a:rPr>
                        <a:t>Tier 3 (Classic Extensibility)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D2D3E"/>
                          </a:solidFill>
                        </a:rPr>
                        <a:t>Camada de extensibilidade irrestrita do Private Edition/On-Premise. Deve ser usada para manter o legado, não para novos projetos.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 Disciplina de Hoje é a Agilidade de Amanhã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DE"/>
                </a:solidFill>
              </a:rPr>
              <a:t>No S/4HANA Private Cloud, a liberdade técnica é uma faca de dois gumes. Adotar a disciplina Clean Core não é uma restrição, mas uma habilitação. Cada Wrapper que você constrói, cada novo projeto que você inicia no Tier 1, é um passo que garante: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74904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Upgrades Tranquilos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1605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Blindando suas extensões contra mudanças no core da SAP.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38218" y="2880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58258" y="374904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Longevidade do Código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658258" y="41605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Escrevendo código que permanecerá relevante e estável.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7797" y="2880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47837" y="374904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Prontidão para o Futuro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47837" y="41605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Mantendo seu sistema ágil e pronto para a próxima onda de inovação.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120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Gerenciar os dois mundos não é um compromisso: é a </a:t>
            </a:r>
            <a:r>
              <a:rPr lang="en-US" sz="1800" b="1" dirty="0">
                <a:solidFill>
                  <a:srgbClr val="FFFFFF"/>
                </a:solidFill>
              </a:rPr>
              <a:t>estratégia mais inteligente</a:t>
            </a:r>
            <a:r>
              <a:rPr lang="en-US" sz="1800" dirty="0">
                <a:solidFill>
                  <a:srgbClr val="FFFFFF"/>
                </a:solidFill>
              </a:rPr>
              <a:t> para o futuro do seu SAP.</a:t>
            </a:r>
            <a:endParaRPr lang="en-US" sz="16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8258" y="3108960"/>
            <a:ext cx="548640" cy="548640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108960"/>
            <a:ext cx="548640" cy="548640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7837" y="3108960"/>
            <a:ext cx="548640" cy="548640"/>
          </a:xfrm>
          <a:prstGeom prst="rect">
            <a:avLst/>
          </a:prstGeom>
        </p:spPr>
      </p:pic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Dominando os Dois Mundos</dc:title>
  <dc:subject>ABAP Moderno – Módulo 05</dc:subject>
  <dc:creator>Adriano Bispo</dc:creator>
  <cp:lastModifiedBy>Adriano Bispo</cp:lastModifiedBy>
  <cp:revision>1</cp:revision>
  <dcterms:created xsi:type="dcterms:W3CDTF">2026-10-28T03:25:49Z</dcterms:created>
  <dcterms:modified xsi:type="dcterms:W3CDTF">2026-10-28T03:25:49Z</dcterms:modified>
</cp:coreProperties>
</file>