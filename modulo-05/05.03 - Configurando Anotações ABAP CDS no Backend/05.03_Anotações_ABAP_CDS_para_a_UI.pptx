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3 de 11 — Anotações de UI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3 de 11 — Anotações de UI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03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Anotações ABAP CDS para a UI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Metadata extensions com @UI.headerInfo, lineItem, selectionField e identification: a tela descrita no back-end.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3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72330" y="285292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72330" y="285292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transformamos o preview vazio em um List Report com colunas, filtros, textos e cores, e em uma Object Page com campos.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Onde cada anotação mora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0284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02847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771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47716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Projection 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1724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@Metadata.allowExtensions: true</a:t>
            </a:r>
            <a:r>
              <a:rPr lang="en-US" sz="1350" dirty="0">
                <a:solidFill>
                  <a:srgbClr val="1D2D3E"/>
                </a:solidFill>
              </a:rPr>
              <a:t> libera a metadata extension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Anotações de </a:t>
            </a:r>
            <a:r>
              <a:rPr lang="en-US" sz="1350" b="1" dirty="0">
                <a:solidFill>
                  <a:srgbClr val="1D2D3E"/>
                </a:solidFill>
              </a:rPr>
              <a:t>runtime</a:t>
            </a:r>
            <a:r>
              <a:rPr lang="en-US" sz="1350" dirty="0">
                <a:solidFill>
                  <a:srgbClr val="1D2D3E"/>
                </a:solidFill>
              </a:rPr>
              <a:t>: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@ObjectModel.text.element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@Search</a:t>
            </a:r>
            <a:r>
              <a:rPr lang="en-US" sz="1350" dirty="0">
                <a:solidFill>
                  <a:srgbClr val="1D2D3E"/>
                </a:solidFill>
              </a:rPr>
              <a:t>, value helps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Campos e associações que o app vai usar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02847"/>
            <a:ext cx="5410048" cy="2680907"/>
          </a:xfrm>
          <a:prstGeom prst="roundRect">
            <a:avLst>
              <a:gd name="adj" fmla="val 341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02847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4771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477167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Metadata extension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117247"/>
            <a:ext cx="4952848" cy="162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Só anotações de </a:t>
            </a:r>
            <a:r>
              <a:rPr lang="en-US" sz="1350" b="1" dirty="0">
                <a:solidFill>
                  <a:srgbClr val="1D2D3E"/>
                </a:solidFill>
              </a:rPr>
              <a:t>UI</a:t>
            </a:r>
            <a:r>
              <a:rPr lang="en-US" sz="1350" dirty="0">
                <a:solidFill>
                  <a:srgbClr val="1D2D3E"/>
                </a:solidFill>
              </a:rPr>
              <a:t> (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@UI…</a:t>
            </a:r>
            <a:r>
              <a:rPr lang="en-US" sz="1350" dirty="0">
                <a:solidFill>
                  <a:srgbClr val="1D2D3E"/>
                </a:solidFill>
              </a:rPr>
              <a:t>), separadas do modelo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350" dirty="0">
                <a:solidFill>
                  <a:srgbClr val="1D2D3E"/>
                </a:solidFill>
              </a:rPr>
              <a:t> define a camada (#CORE, #CUSTOMER…)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Ativa independente da view: menos conflito, mais organização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48345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5048345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do curso  </a:t>
            </a:r>
            <a:r>
              <a:rPr lang="en-US" sz="1200" dirty="0">
                <a:solidFill>
                  <a:srgbClr val="1D2D3E"/>
                </a:solidFill>
              </a:rPr>
              <a:t>o que o runtime CDS precisa fica na projeção; o que só a UI usa vai para a metadata extension.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176361"/>
            <a:ext cx="310896" cy="31089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577751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57775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05.03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Preparando a projeção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projeção do pedido libera a extensão, traz o texto do status e o campo de </a:t>
            </a:r>
            <a:r>
              <a:rPr lang="en-US" sz="1600" b="1" dirty="0">
                <a:solidFill>
                  <a:srgbClr val="D1EFFF"/>
                </a:solidFill>
              </a:rPr>
              <a:t>criticality</a:t>
            </a:r>
            <a:r>
              <a:rPr lang="en-US" sz="1600" dirty="0">
                <a:solidFill>
                  <a:srgbClr val="D1EFFF"/>
                </a:solidFill>
              </a:rPr>
              <a:t> que a UI vai colorir.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allowExtensions</a:t>
            </a:r>
            <a:r>
              <a:rPr lang="en-US" sz="1000" dirty="0">
                <a:solidFill>
                  <a:srgbClr val="D1EFFF"/>
                </a:solidFill>
              </a:rPr>
              <a:t>  liberar MDE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text.element</a:t>
            </a:r>
            <a:r>
              <a:rPr lang="en-US" sz="1000" dirty="0">
                <a:solidFill>
                  <a:srgbClr val="D1EFFF"/>
                </a:solidFill>
              </a:rPr>
              <a:t>  texto do código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000" dirty="0">
                <a:solidFill>
                  <a:srgbClr val="D1EFFF"/>
                </a:solidFill>
              </a:rPr>
              <a:t>  campo calculado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Ctrl+Space</a:t>
            </a:r>
            <a:r>
              <a:rPr lang="en-US" sz="1000" dirty="0">
                <a:solidFill>
                  <a:srgbClr val="D1EFFF"/>
                </a:solidFill>
              </a:rPr>
              <a:t>  assistente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PROJEÇÃO · PROJECTION 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Textos e criticality preparados na projeção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542032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542032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zc_pc_pedido_app.ddls.asddls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ZC_PC_PEDIDO_APP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allowExtensions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searchable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ObjectModel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semanticKey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'NumeroPedido'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transactional_query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ZR_PC_PEDIDO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PedidoUUID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defaultSearchElement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ObjectModel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'NomeCliente'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_Cliente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NomeCliente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ObjectModel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'StatusPedidoTexto'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textArrangement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TEXT_ONLY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_StatusPedidoTxt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StatusPedidoTexto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_StatusPedidoTxt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StatusPedidoCriticality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allowExtensions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Sem ela, a metadata extension não pode anotar a view.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@ObjectModel.text.element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Liga o código ao texto; fica na projeção porque o runtime CDS precisa dela.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Texto via associação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_StatusPedidoTxt.Descricao</a:t>
            </a:r>
            <a:r>
              <a:rPr lang="en-US" sz="1050" dirty="0">
                <a:solidFill>
                  <a:srgbClr val="556B82"/>
                </a:solidFill>
              </a:rPr>
              <a:t> traz a descrição do status da lista de códigos.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Criticality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Valor de 0 a 3 guardado 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ZTA_PC_CODELIST</a:t>
            </a:r>
            <a:r>
              <a:rPr lang="en-US" sz="1050" dirty="0">
                <a:solidFill>
                  <a:srgbClr val="556B82"/>
                </a:solidFill>
              </a:rPr>
              <a:t> para cada status; a UI usa para cores e ícones.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PROJEÇÃO · NO ADT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Criando a metadata extension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65633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Nova MDE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Botão direito na projeção › </a:t>
            </a:r>
            <a:r>
              <a:rPr lang="en-US" sz="1150" i="1" dirty="0">
                <a:solidFill>
                  <a:srgbClr val="556B82"/>
                </a:solidFill>
              </a:rPr>
              <a:t>New Metadata Extension</a:t>
            </a:r>
            <a:r>
              <a:rPr lang="en-US" sz="1150" dirty="0">
                <a:solidFill>
                  <a:srgbClr val="556B82"/>
                </a:solidFill>
              </a:rPr>
              <a:t>, com o mesmo nome da view.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Camada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@Metadata.layer: #CORE</a:t>
            </a:r>
            <a:r>
              <a:rPr lang="en-US" sz="1150" dirty="0">
                <a:solidFill>
                  <a:srgbClr val="556B82"/>
                </a:solidFill>
              </a:rPr>
              <a:t> (como no projeto) com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Ctrl+Space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Copie os campos da projeção para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 entity … with { }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30886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30886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177540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360420"/>
            <a:ext cx="2256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Anotar e ativar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Adicione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150" dirty="0">
                <a:solidFill>
                  <a:srgbClr val="556B82"/>
                </a:solidFill>
              </a:rPr>
              <a:t>, ative e atualize o preview no navegador.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9423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49423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Camadas  </a:t>
            </a:r>
            <a:r>
              <a:rPr lang="en-US" sz="1200" dirty="0">
                <a:solidFill>
                  <a:srgbClr val="1D2D3E"/>
                </a:solidFill>
              </a:rPr>
              <a:t>#CORE &lt; #LOCALIZATION &lt; #INDUSTRY &lt; #PARTNER &lt; #CUSTOMER: a camada mais alta prevalece.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703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05.03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 List Report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headerInfo</a:t>
            </a:r>
            <a:r>
              <a:rPr lang="en-US" sz="1600" dirty="0">
                <a:solidFill>
                  <a:srgbClr val="D1EFFF"/>
                </a:solidFill>
              </a:rPr>
              <a:t> dá nome às coisas, </a:t>
            </a:r>
            <a:r>
              <a:rPr lang="en-US" sz="1600" b="1" dirty="0">
                <a:solidFill>
                  <a:srgbClr val="D1EFFF"/>
                </a:solidFill>
              </a:rPr>
              <a:t>lineItem</a:t>
            </a:r>
            <a:r>
              <a:rPr lang="en-US" sz="1600" dirty="0">
                <a:solidFill>
                  <a:srgbClr val="D1EFFF"/>
                </a:solidFill>
              </a:rPr>
              <a:t> cria colunas, </a:t>
            </a:r>
            <a:r>
              <a:rPr lang="en-US" sz="1600" b="1" dirty="0">
                <a:solidFill>
                  <a:srgbClr val="D1EFFF"/>
                </a:solidFill>
              </a:rPr>
              <a:t>selectionField</a:t>
            </a:r>
            <a:r>
              <a:rPr lang="en-US" sz="1600" dirty="0">
                <a:solidFill>
                  <a:srgbClr val="D1EFFF"/>
                </a:solidFill>
              </a:rPr>
              <a:t> cria filtros. Tudo com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600" dirty="0">
                <a:solidFill>
                  <a:srgbClr val="D1EFFF"/>
                </a:solidFill>
              </a:rPr>
              <a:t> para ordenar.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000" dirty="0">
                <a:solidFill>
                  <a:srgbClr val="D1EFFF"/>
                </a:solidFill>
              </a:rPr>
              <a:t>  títulos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00" dirty="0">
                <a:solidFill>
                  <a:srgbClr val="D1EFFF"/>
                </a:solidFill>
              </a:rPr>
              <a:t>  colunas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000" dirty="0">
                <a:solidFill>
                  <a:srgbClr val="D1EFFF"/>
                </a:solidFill>
              </a:rPr>
              <a:t>  filtros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textArrangement</a:t>
            </a:r>
            <a:r>
              <a:rPr lang="en-US" sz="1000" dirty="0">
                <a:solidFill>
                  <a:srgbClr val="D1EFFF"/>
                </a:solidFill>
              </a:rPr>
              <a:t>  código ou texto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LIST REPORT · METADATA EXTENSION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Colunas, filtros e cores no List Report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ZC_PC_PEDIDO_APP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headerInfo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 de compra'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typeNamePlural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 de compras'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'NumeroPedido'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'NomeCliente'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'CPF'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CpfCliente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 do pedido'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'StatusPedidoCriticality'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typeNamePlural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Título da tabela no List Report;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typeName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r>
              <a:rPr lang="en-US" sz="1050" dirty="0">
                <a:solidFill>
                  <a:srgbClr val="556B82"/>
                </a:solidFill>
              </a:rPr>
              <a:t> aparecem na Object Page.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Cada campo anotado vira uma coluna, na ordem de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Campos da barra de filtros; busca e status de edição vêm por padrão.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250" b="1" dirty="0">
                <a:solidFill>
                  <a:srgbClr val="1D2D3E"/>
                </a:solidFill>
              </a:rPr>
              <a:t> +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textArrangement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Status colorido com ícone;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#TEXT_ONLY</a:t>
            </a:r>
            <a:r>
              <a:rPr lang="en-US" sz="1050" dirty="0">
                <a:solidFill>
                  <a:srgbClr val="556B82"/>
                </a:solidFill>
              </a:rPr>
              <a:t> da projeção mostra só o texto.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LIST REPORT · PROPRIEDADES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configurar em cada coluna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930442"/>
                <a:gridCol w="788965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Propriedade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Efeito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Ordem da coluna (use 10, 20, 30 para sobrar espaço)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label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Rótulo próprio; sem ele, vale o rótulo do elemento de dados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importance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#HIGH continua visível em telas pequenas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criticality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Campo com 0–3: neutro, vermelho, amarelo, verde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type: #FOR_ACTION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Botão de ação na barra da tabela (com dataAction)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46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463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Aulas seguintes  </a:t>
            </a:r>
            <a:r>
              <a:rPr lang="en-US" sz="1200" dirty="0">
                <a:solidFill>
                  <a:srgbClr val="1D2D3E"/>
                </a:solidFill>
              </a:rPr>
              <a:t>cores e ações (05.07) e importância e ordenação (05.06) aprofundam estas propriedades.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743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05.03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Object Page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Campos com </a:t>
            </a:r>
            <a:r>
              <a:rPr lang="en-US" sz="1600" b="1" dirty="0">
                <a:solidFill>
                  <a:srgbClr val="D1EFFF"/>
                </a:solidFill>
              </a:rPr>
              <a:t>@UI.identification</a:t>
            </a:r>
            <a:r>
              <a:rPr lang="en-US" sz="1600" dirty="0">
                <a:solidFill>
                  <a:srgbClr val="D1EFFF"/>
                </a:solidFill>
              </a:rPr>
              <a:t> aparecem na Object Page quando um </a:t>
            </a:r>
            <a:r>
              <a:rPr lang="en-US" sz="1600" b="1" dirty="0">
                <a:solidFill>
                  <a:srgbClr val="D1EFFF"/>
                </a:solidFill>
              </a:rPr>
              <a:t>@UI.facet</a:t>
            </a:r>
            <a:r>
              <a:rPr lang="en-US" sz="1600" dirty="0">
                <a:solidFill>
                  <a:srgbClr val="D1EFFF"/>
                </a:solidFill>
              </a:rPr>
              <a:t> do tipo </a:t>
            </a:r>
            <a:r>
              <a:rPr lang="en-US" sz="1600" i="1" dirty="0">
                <a:solidFill>
                  <a:srgbClr val="D1EFFF"/>
                </a:solidFill>
              </a:rPr>
              <a:t>identification reference</a:t>
            </a:r>
            <a:r>
              <a:rPr lang="en-US" sz="1600" dirty="0">
                <a:solidFill>
                  <a:srgbClr val="D1EFFF"/>
                </a:solidFill>
              </a:rPr>
              <a:t> os referencia.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000" dirty="0">
                <a:solidFill>
                  <a:srgbClr val="D1EFFF"/>
                </a:solidFill>
              </a:rPr>
              <a:t>  seções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000" dirty="0">
                <a:solidFill>
                  <a:srgbClr val="D1EFFF"/>
                </a:solidFill>
              </a:rPr>
              <a:t>  campos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r>
              <a:rPr lang="en-US" sz="1000" dirty="0">
                <a:solidFill>
                  <a:srgbClr val="D1EFFF"/>
                </a:solidFill>
              </a:rPr>
              <a:t>  seção com subseções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1000" dirty="0">
                <a:solidFill>
                  <a:srgbClr val="D1EFFF"/>
                </a:solidFill>
              </a:rPr>
              <a:t>  hierarquia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PRIMEIRA SEÇÃO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seção com subseção de identificação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Variação de ZC_PC_PEDIDO_APP.ddlx com seção #COLLECTION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ZC_PC_PEDIDO_APP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'DadosGerais'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do 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'DadosGerais'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'Número do 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 do pedido'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Fica no primeiro elemento do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50" dirty="0">
                <a:solidFill>
                  <a:srgbClr val="556B82"/>
                </a:solidFill>
              </a:rPr>
              <a:t>; descreve seções e subseções.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#COLLECTION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seção vazia que agrupa subseções pelo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#IDENTIFICATION_REFERENCE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Subseção com os campos anotados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Liga a subseção à seção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DadosGerais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RESUMO VISUAL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De cada anotação a um pedaço da tela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381280"/>
                <a:gridCol w="3832117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Anotação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Página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Onde aparece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@UI.headerInfo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List Report · Object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Título da tabela e do 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@UI.selectionField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List Report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Barra de filtros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@UI.lineItem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List Report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Colunas da 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@UI.facet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Object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Seções, subseções e header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@UI.identification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Object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Campos da subseção de identificação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@UI.fieldGroup · dataPoint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Object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Grupos de campos e KPIs do header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035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3035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Conferir  </a:t>
            </a:r>
            <a:r>
              <a:rPr lang="en-US" sz="1200" dirty="0">
                <a:solidFill>
                  <a:srgbClr val="1D2D3E"/>
                </a:solidFill>
              </a:rPr>
              <a:t>a view </a:t>
            </a:r>
            <a:r>
              <a:rPr lang="en-US" sz="1200" b="1" dirty="0">
                <a:solidFill>
                  <a:srgbClr val="1D2D3E"/>
                </a:solidFill>
              </a:rPr>
              <a:t>Active Annotations</a:t>
            </a:r>
            <a:r>
              <a:rPr lang="en-US" sz="1200" dirty="0">
                <a:solidFill>
                  <a:srgbClr val="1D2D3E"/>
                </a:solidFill>
              </a:rPr>
              <a:t> do ADT mostra todas as anotações efetivas da projeção.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4315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Anotações de runtime ficam na </a:t>
            </a:r>
            <a:r>
              <a:rPr lang="en-US" sz="1400" b="1" dirty="0">
                <a:solidFill>
                  <a:srgbClr val="FFFFFF"/>
                </a:solidFill>
              </a:rPr>
              <a:t>projeção</a:t>
            </a:r>
            <a:r>
              <a:rPr lang="en-US" sz="1400" dirty="0">
                <a:solidFill>
                  <a:srgbClr val="FFFFFF"/>
                </a:solidFill>
              </a:rPr>
              <a:t>; as de UI, na </a:t>
            </a:r>
            <a:r>
              <a:rPr lang="en-US" sz="1400" b="1" dirty="0">
                <a:solidFill>
                  <a:srgbClr val="FFFFFF"/>
                </a:solidFill>
              </a:rPr>
              <a:t>metadata extension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</a:t>
            </a:r>
            <a:r>
              <a:rPr lang="en-US" sz="1400" dirty="0">
                <a:solidFill>
                  <a:srgbClr val="FFFFFF"/>
                </a:solidFill>
              </a:rPr>
              <a:t> libera a MDE;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400" dirty="0">
                <a:solidFill>
                  <a:srgbClr val="FFFFFF"/>
                </a:solidFill>
              </a:rPr>
              <a:t> define a camada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400" dirty="0">
                <a:solidFill>
                  <a:srgbClr val="FFFFFF"/>
                </a:solidFill>
              </a:rPr>
              <a:t> nomeia a tabela e o objeto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400" dirty="0">
                <a:solidFill>
                  <a:srgbClr val="FFFFFF"/>
                </a:solidFill>
              </a:rPr>
              <a:t> cria colunas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400" dirty="0">
                <a:solidFill>
                  <a:srgbClr val="FFFFFF"/>
                </a:solidFill>
              </a:rPr>
              <a:t> cria filtros, ordenados por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@UI.textArrangement</a:t>
            </a:r>
            <a:r>
              <a:rPr lang="en-US" sz="1400" dirty="0">
                <a:solidFill>
                  <a:srgbClr val="FFFFFF"/>
                </a:solidFill>
              </a:rPr>
              <a:t> deixam o status legível e colorido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400" dirty="0">
                <a:solidFill>
                  <a:srgbClr val="FFFFFF"/>
                </a:solidFill>
              </a:rPr>
              <a:t> monta as seções da </a:t>
            </a:r>
            <a:r>
              <a:rPr lang="en-US" sz="1400" b="1" dirty="0">
                <a:solidFill>
                  <a:srgbClr val="FFFFFF"/>
                </a:solidFill>
              </a:rPr>
              <a:t>Object Page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05.04  </a:t>
            </a:r>
            <a:r>
              <a:rPr lang="en-US" sz="1500" dirty="0">
                <a:solidFill>
                  <a:srgbClr val="FFFFFF"/>
                </a:solidFill>
              </a:rPr>
              <a:t>SAP Fiori Tools: Gerador, Page Map e Guided Development.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05.03 Anotações ABAP CDS para a UI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2026-10-29T13:45:05Z</dcterms:created>
  <dcterms:modified xsi:type="dcterms:W3CDTF">2026-10-29T13:45:05Z</dcterms:modified>
</cp:coreProperties>
</file>