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03 — SAP Fiori Elements com OData V4  ·  Aula 3 de 11 — Anotações de UI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03 — SAP Fiori Elements com OData V4  ·  Aula 3 de 11 — Anotações de UI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03 · AULA 03 DE 11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Anotações ABAP CDS para a UI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Metadata extensions com @UI.headerInfo, lineItem, selectionField e identification: a tela descrita no back-end.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487295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8790709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0" name="Shape 8"/>
          <p:cNvSpPr/>
          <p:nvPr/>
        </p:nvSpPr>
        <p:spPr>
          <a:xfrm>
            <a:off x="9094124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397538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9700953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04367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307782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11196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14611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18025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3 de 11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03 — SAP Fiori Elements com OData V4 · Design System SAP Horizon</a:t>
            </a:r>
            <a:endParaRPr lang="en-US" sz="11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03 em 11 aulas: Fiori Elements com OData V4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Fiori Elements e OData V4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Apps guiados por metadados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28189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2781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59278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592781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Exposição de serviços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592781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Service definition e service binding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07738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72330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47233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4472330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Anotações de UI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72330" y="2852928"/>
            <a:ext cx="1367485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472330" y="2852928"/>
            <a:ext cx="136748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187288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3" name="Text 21"/>
          <p:cNvSpPr txBox="1"/>
          <p:nvPr/>
        </p:nvSpPr>
        <p:spPr>
          <a:xfrm>
            <a:off x="6351880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SAP Fiori Tools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351880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Gerador, Page Map e Guided Development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66837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31429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3142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8" name="Text 26"/>
          <p:cNvSpPr txBox="1"/>
          <p:nvPr/>
        </p:nvSpPr>
        <p:spPr>
          <a:xfrm>
            <a:off x="8231429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Floorplans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31429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List Report, Object Page e facetas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946386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110978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11097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3" name="Text 31"/>
          <p:cNvSpPr txBox="1"/>
          <p:nvPr/>
        </p:nvSpPr>
        <p:spPr>
          <a:xfrm>
            <a:off x="10110978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List Report e Object Page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0110978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Ordenação, seções e field groups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8640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Tabelas: cores e ações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713232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Criticality, ações e importância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428189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92781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592781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3" name="Text 41"/>
          <p:cNvSpPr txBox="1"/>
          <p:nvPr/>
        </p:nvSpPr>
        <p:spPr>
          <a:xfrm>
            <a:off x="2592781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Navegação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2592781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Interna, externa e baseada em intenção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307738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7233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47233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9</a:t>
            </a:r>
            <a:endParaRPr lang="en-US" sz="1260" dirty="0"/>
          </a:p>
        </p:txBody>
      </p:sp>
      <p:sp>
        <p:nvSpPr>
          <p:cNvPr id="48" name="Text 46"/>
          <p:cNvSpPr txBox="1"/>
          <p:nvPr/>
        </p:nvSpPr>
        <p:spPr>
          <a:xfrm>
            <a:off x="4472330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Object Page avançada</a:t>
            </a:r>
            <a:endParaRPr lang="en-US" sz="1350" dirty="0"/>
          </a:p>
        </p:txBody>
      </p:sp>
      <p:sp>
        <p:nvSpPr>
          <p:cNvPr id="49" name="Text 47"/>
          <p:cNvSpPr txBox="1"/>
          <p:nvPr/>
        </p:nvSpPr>
        <p:spPr>
          <a:xfrm>
            <a:off x="4472330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Header facets, visibilidade e tabelas filhas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187288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10</a:t>
            </a:r>
            <a:endParaRPr lang="en-US" sz="1260" dirty="0"/>
          </a:p>
        </p:txBody>
      </p:sp>
      <p:sp>
        <p:nvSpPr>
          <p:cNvPr id="53" name="Text 51"/>
          <p:cNvSpPr txBox="1"/>
          <p:nvPr/>
        </p:nvSpPr>
        <p:spPr>
          <a:xfrm>
            <a:off x="6351880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Programação flexível</a:t>
            </a:r>
            <a:endParaRPr lang="en-US" sz="1350" dirty="0"/>
          </a:p>
        </p:txBody>
      </p:sp>
      <p:sp>
        <p:nvSpPr>
          <p:cNvPr id="54" name="Text 52"/>
          <p:cNvSpPr txBox="1"/>
          <p:nvPr/>
        </p:nvSpPr>
        <p:spPr>
          <a:xfrm>
            <a:off x="6351880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Flexible Programming Model e building blocks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066837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31429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231429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11</a:t>
            </a:r>
            <a:endParaRPr lang="en-US" sz="1260" dirty="0"/>
          </a:p>
        </p:txBody>
      </p:sp>
      <p:sp>
        <p:nvSpPr>
          <p:cNvPr id="58" name="Text 56"/>
          <p:cNvSpPr txBox="1"/>
          <p:nvPr/>
        </p:nvSpPr>
        <p:spPr>
          <a:xfrm>
            <a:off x="8231429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Deploy</a:t>
            </a:r>
            <a:endParaRPr lang="en-US" sz="1350" dirty="0"/>
          </a:p>
        </p:txBody>
      </p:sp>
      <p:sp>
        <p:nvSpPr>
          <p:cNvPr id="59" name="Text 57"/>
          <p:cNvSpPr txBox="1"/>
          <p:nvPr/>
        </p:nvSpPr>
        <p:spPr>
          <a:xfrm>
            <a:off x="8231429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Publicação, launchpad e acesso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transformamos o preview vazio em um List Report com colunas, filtros, textos e cores, e em uma Object Page com campos.</a:t>
            </a:r>
            <a:endParaRPr lang="en-US" sz="1400" dirty="0"/>
          </a:p>
        </p:txBody>
      </p:sp>
      <p:pic>
        <p:nvPicPr>
          <p:cNvPr id="6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6669" y="1847088"/>
            <a:ext cx="347472" cy="347472"/>
          </a:xfrm>
          <a:prstGeom prst="rect">
            <a:avLst/>
          </a:prstGeom>
        </p:spPr>
      </p:pic>
      <p:pic>
        <p:nvPicPr>
          <p:cNvPr id="6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218" y="1847088"/>
            <a:ext cx="347472" cy="347472"/>
          </a:xfrm>
          <a:prstGeom prst="rect">
            <a:avLst/>
          </a:prstGeom>
        </p:spPr>
      </p:pic>
      <p:pic>
        <p:nvPicPr>
          <p:cNvPr id="6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317" y="1847088"/>
            <a:ext cx="347472" cy="347472"/>
          </a:xfrm>
          <a:prstGeom prst="rect">
            <a:avLst/>
          </a:prstGeom>
        </p:spPr>
      </p:pic>
      <p:pic>
        <p:nvPicPr>
          <p:cNvPr id="6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6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4866" y="1847088"/>
            <a:ext cx="347472" cy="347472"/>
          </a:xfrm>
          <a:prstGeom prst="rect">
            <a:avLst/>
          </a:prstGeom>
        </p:spPr>
      </p:pic>
      <p:pic>
        <p:nvPicPr>
          <p:cNvPr id="6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6669" y="3858768"/>
            <a:ext cx="347472" cy="347472"/>
          </a:xfrm>
          <a:prstGeom prst="rect">
            <a:avLst/>
          </a:prstGeom>
        </p:spPr>
      </p:pic>
      <p:pic>
        <p:nvPicPr>
          <p:cNvPr id="6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76218" y="3858768"/>
            <a:ext cx="347472" cy="347472"/>
          </a:xfrm>
          <a:prstGeom prst="rect">
            <a:avLst/>
          </a:prstGeom>
        </p:spPr>
      </p:pic>
      <p:pic>
        <p:nvPicPr>
          <p:cNvPr id="7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35317" y="3858768"/>
            <a:ext cx="347472" cy="347472"/>
          </a:xfrm>
          <a:prstGeom prst="rect">
            <a:avLst/>
          </a:prstGeom>
        </p:spPr>
      </p:pic>
      <p:pic>
        <p:nvPicPr>
          <p:cNvPr id="7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4866" y="3858768"/>
            <a:ext cx="347472" cy="347472"/>
          </a:xfrm>
          <a:prstGeom prst="rect">
            <a:avLst/>
          </a:prstGeom>
        </p:spPr>
      </p:pic>
      <p:pic>
        <p:nvPicPr>
          <p:cNvPr id="7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Onde cada anotação mora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202847"/>
            <a:ext cx="5410048" cy="2680907"/>
          </a:xfrm>
          <a:prstGeom prst="roundRect">
            <a:avLst>
              <a:gd name="adj" fmla="val 341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202847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4771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477167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Projection view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17247"/>
            <a:ext cx="4952848" cy="162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@Metadata.allowExtensions: true</a:t>
            </a:r>
            <a:r>
              <a:rPr lang="en-US" sz="1350" dirty="0">
                <a:solidFill>
                  <a:srgbClr val="1D2D3E"/>
                </a:solidFill>
              </a:rPr>
              <a:t> libera a metadata extension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Anotações de </a:t>
            </a:r>
            <a:r>
              <a:rPr lang="en-US" sz="1350" b="1" dirty="0">
                <a:solidFill>
                  <a:srgbClr val="1D2D3E"/>
                </a:solidFill>
              </a:rPr>
              <a:t>runtime</a:t>
            </a:r>
            <a:r>
              <a:rPr lang="en-US" sz="1350" dirty="0">
                <a:solidFill>
                  <a:srgbClr val="1D2D3E"/>
                </a:solidFill>
              </a:rPr>
              <a:t>: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r>
              <a:rPr lang="en-US" sz="1350" dirty="0">
                <a:solidFill>
                  <a:srgbClr val="1D2D3E"/>
                </a:solidFill>
              </a:rPr>
              <a:t>,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</a:t>
            </a:r>
            <a:r>
              <a:rPr lang="en-US" sz="1350" dirty="0">
                <a:solidFill>
                  <a:srgbClr val="1D2D3E"/>
                </a:solidFill>
              </a:rPr>
              <a:t>, value helps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Campos e associações que o app vai usar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202847"/>
            <a:ext cx="5410048" cy="2680907"/>
          </a:xfrm>
          <a:prstGeom prst="roundRect">
            <a:avLst>
              <a:gd name="adj" fmla="val 341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202847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4771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477167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Metadata extension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117247"/>
            <a:ext cx="4952848" cy="162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Só anotações de </a:t>
            </a:r>
            <a:r>
              <a:rPr lang="en-US" sz="1350" b="1" dirty="0">
                <a:solidFill>
                  <a:srgbClr val="1D2D3E"/>
                </a:solidFill>
              </a:rPr>
              <a:t>UI</a:t>
            </a:r>
            <a:r>
              <a:rPr lang="en-US" sz="1350" dirty="0">
                <a:solidFill>
                  <a:srgbClr val="1D2D3E"/>
                </a:solidFill>
              </a:rPr>
              <a:t> (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@UI…</a:t>
            </a:r>
            <a:r>
              <a:rPr lang="en-US" sz="1350" dirty="0">
                <a:solidFill>
                  <a:srgbClr val="1D2D3E"/>
                </a:solidFill>
              </a:rPr>
              <a:t>), separadas do modelo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@Metadata.layer</a:t>
            </a:r>
            <a:r>
              <a:rPr lang="en-US" sz="1350" dirty="0">
                <a:solidFill>
                  <a:srgbClr val="1D2D3E"/>
                </a:solidFill>
              </a:rPr>
              <a:t> define a camada (#CORE, #CUSTOMER…)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Ativa independente da view: menos conflito, mais organização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5048345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5048345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Regra do curso  </a:t>
            </a:r>
            <a:r>
              <a:rPr lang="en-US" sz="1200" dirty="0">
                <a:solidFill>
                  <a:srgbClr val="1D2D3E"/>
                </a:solidFill>
              </a:rPr>
              <a:t>o que o runtime CDS precisa fica na projeção; o que só a UI usa vai para a metadata extension.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577751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2577751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176361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03.03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Preparando a projeção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 projeção do Travel libera a extensão, traz o texto do status e o campo de </a:t>
            </a:r>
            <a:r>
              <a:rPr lang="en-US" sz="1600" b="1" dirty="0">
                <a:solidFill>
                  <a:srgbClr val="D1EFFF"/>
                </a:solidFill>
              </a:rPr>
              <a:t>criticality</a:t>
            </a:r>
            <a:r>
              <a:rPr lang="en-US" sz="1600" dirty="0">
                <a:solidFill>
                  <a:srgbClr val="D1EFFF"/>
                </a:solidFill>
              </a:rPr>
              <a:t> que a UI vai colorir.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allowExtensions</a:t>
            </a:r>
            <a:r>
              <a:rPr lang="en-US" sz="1000" dirty="0">
                <a:solidFill>
                  <a:srgbClr val="D1EFFF"/>
                </a:solidFill>
              </a:rPr>
              <a:t>  liberar MDE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text.element</a:t>
            </a:r>
            <a:r>
              <a:rPr lang="en-US" sz="1000" dirty="0">
                <a:solidFill>
                  <a:srgbClr val="D1EFFF"/>
                </a:solidFill>
              </a:rPr>
              <a:t>  texto do código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r>
              <a:rPr lang="en-US" sz="1000" dirty="0">
                <a:solidFill>
                  <a:srgbClr val="D1EFFF"/>
                </a:solidFill>
              </a:rPr>
              <a:t>  campo calculado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Ctrl+Space</a:t>
            </a:r>
            <a:r>
              <a:rPr lang="en-US" sz="1000" dirty="0">
                <a:solidFill>
                  <a:srgbClr val="D1EFFF"/>
                </a:solidFill>
              </a:rPr>
              <a:t>  assistente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PROJEÇÃO · PROJECTION 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Textos e criticality preparados na projeção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77520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77520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5923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zc_fe_travel_######.ddls.asddls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ZFE_TRAVEL_###### › Data Definitions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allowExtensions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searchable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ZC_FE_TRAVEL_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ZI_FE_TRAVEL_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TravelUUID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defaultSearchElement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TravelID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AgencyID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CustomerID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BeginDate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EndDate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BookingFee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TotalPrice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ObjectModel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'TravelStatusText'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OverallStatus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_TravelStatus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TravelStatusText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TravelStatusText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OverallStatusCriticality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LastChangedAt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allowExtensions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Sem ela, a metadata extension não pode anotar a view.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Liga o código ao texto; fica na projeção porque o runtime CDS precisa dela.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Texto via associação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_TravelStatus.TravelStatusText</a:t>
            </a:r>
            <a:r>
              <a:rPr lang="en-US" sz="1050" dirty="0">
                <a:solidFill>
                  <a:srgbClr val="556B82"/>
                </a:solidFill>
              </a:rPr>
              <a:t> traz a descrição do status.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Criticality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Campo numérico (0 a 3) calculado no BO; a UI usa para cores e ícones.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PROJEÇÃO · NO ADT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Criando a metadata extension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60004" y="2656332"/>
            <a:ext cx="8471687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512532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12532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1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548640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Nova MDE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Botão direito na projeção › </a:t>
            </a:r>
            <a:r>
              <a:rPr lang="en-US" sz="1150" i="1" dirty="0">
                <a:solidFill>
                  <a:srgbClr val="556B82"/>
                </a:solidFill>
              </a:rPr>
              <a:t>New Metadata Extension</a:t>
            </a:r>
            <a:r>
              <a:rPr lang="en-US" sz="1150" dirty="0">
                <a:solidFill>
                  <a:srgbClr val="556B82"/>
                </a:solidFill>
              </a:rPr>
              <a:t>, com o mesmo nome da view.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6428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36428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2</a:t>
            </a:r>
            <a:endParaRPr lang="en-US" sz="2280" dirty="0"/>
          </a:p>
        </p:txBody>
      </p:sp>
      <p:sp>
        <p:nvSpPr>
          <p:cNvPr id="11" name="Shape 9"/>
          <p:cNvSpPr/>
          <p:nvPr/>
        </p:nvSpPr>
        <p:spPr>
          <a:xfrm>
            <a:off x="3372536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55416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Camada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@Metadata.layer: #CORE</a:t>
            </a:r>
            <a:r>
              <a:rPr lang="en-US" sz="1150" dirty="0">
                <a:solidFill>
                  <a:srgbClr val="556B82"/>
                </a:solidFill>
              </a:rPr>
              <a:t> (no curso) com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Ctrl+Space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60324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60324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3</a:t>
            </a:r>
            <a:endParaRPr lang="en-US" sz="2280" dirty="0"/>
          </a:p>
        </p:txBody>
      </p:sp>
      <p:sp>
        <p:nvSpPr>
          <p:cNvPr id="15" name="Shape 13"/>
          <p:cNvSpPr/>
          <p:nvPr/>
        </p:nvSpPr>
        <p:spPr>
          <a:xfrm>
            <a:off x="6196432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379312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Campos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Copie os campos da projeção para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 entity … with { }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84219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84219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4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9020327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203207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Anotar e ativar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Adicione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r>
              <a:rPr lang="en-US" sz="1150" dirty="0">
                <a:solidFill>
                  <a:srgbClr val="556B82"/>
                </a:solidFill>
              </a:rPr>
              <a:t>, ative e atualize o preview no navegador.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94233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07008" y="494233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Camadas  </a:t>
            </a:r>
            <a:r>
              <a:rPr lang="en-US" sz="1200" dirty="0">
                <a:solidFill>
                  <a:srgbClr val="1D2D3E"/>
                </a:solidFill>
              </a:rPr>
              <a:t>#CORE &lt; #LOCALIZATION &lt; #INDUSTRY &lt; #PARTNER &lt; #CUSTOMER: a camada mais alta prevalece.</a:t>
            </a:r>
            <a:endParaRPr lang="en-US" sz="1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07034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03.03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 List Report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1EFFF"/>
                </a:solidFill>
              </a:rPr>
              <a:t>headerInfo</a:t>
            </a:r>
            <a:r>
              <a:rPr lang="en-US" sz="1600" dirty="0">
                <a:solidFill>
                  <a:srgbClr val="D1EFFF"/>
                </a:solidFill>
              </a:rPr>
              <a:t> dá nome às coisas, </a:t>
            </a:r>
            <a:r>
              <a:rPr lang="en-US" sz="1600" b="1" dirty="0">
                <a:solidFill>
                  <a:srgbClr val="D1EFFF"/>
                </a:solidFill>
              </a:rPr>
              <a:t>lineItem</a:t>
            </a:r>
            <a:r>
              <a:rPr lang="en-US" sz="1600" dirty="0">
                <a:solidFill>
                  <a:srgbClr val="D1EFFF"/>
                </a:solidFill>
              </a:rPr>
              <a:t> cria colunas, </a:t>
            </a:r>
            <a:r>
              <a:rPr lang="en-US" sz="1600" b="1" dirty="0">
                <a:solidFill>
                  <a:srgbClr val="D1EFFF"/>
                </a:solidFill>
              </a:rPr>
              <a:t>selectionField</a:t>
            </a:r>
            <a:r>
              <a:rPr lang="en-US" sz="1600" dirty="0">
                <a:solidFill>
                  <a:srgbClr val="D1EFFF"/>
                </a:solidFill>
              </a:rPr>
              <a:t> cria filtros. Tudo com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600" dirty="0">
                <a:solidFill>
                  <a:srgbClr val="D1EFFF"/>
                </a:solidFill>
              </a:rPr>
              <a:t> para ordenar.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@UI.headerInfo</a:t>
            </a:r>
            <a:r>
              <a:rPr lang="en-US" sz="1000" dirty="0">
                <a:solidFill>
                  <a:srgbClr val="D1EFFF"/>
                </a:solidFill>
              </a:rPr>
              <a:t>  títulos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r>
              <a:rPr lang="en-US" sz="1000" dirty="0">
                <a:solidFill>
                  <a:srgbClr val="D1EFFF"/>
                </a:solidFill>
              </a:rPr>
              <a:t>  colunas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r>
              <a:rPr lang="en-US" sz="1000" dirty="0">
                <a:solidFill>
                  <a:srgbClr val="D1EFFF"/>
                </a:solidFill>
              </a:rPr>
              <a:t>  filtros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textArrangement</a:t>
            </a:r>
            <a:r>
              <a:rPr lang="en-US" sz="1000" dirty="0">
                <a:solidFill>
                  <a:srgbClr val="D1EFFF"/>
                </a:solidFill>
              </a:rPr>
              <a:t>  código ou texto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LIST REPORT · METADATA EXTENSION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Colunas, filtros e cores no List Report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85292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85292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zc_fe_travel_######.ddlx.asddlxs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ZFE_TRAVEL_###### › Metadata Extensions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headerInfo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typeName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'Travel'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typeNamePlural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'Travels'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'Description'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'TravelID'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ZC_FE_TRAVEL_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selectionField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TravelID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selectionField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AgencyID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'OverallStatusCriticality'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textArrangement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TEXT_ONLY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OverallStatus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typeNamePlural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Título da tabela no List Report;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typeName</a:t>
            </a:r>
            <a:r>
              <a:rPr lang="en-US" sz="1050" dirty="0">
                <a:solidFill>
                  <a:srgbClr val="556B82"/>
                </a:solidFill>
              </a:rPr>
              <a:t> 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r>
              <a:rPr lang="en-US" sz="1050" dirty="0">
                <a:solidFill>
                  <a:srgbClr val="556B82"/>
                </a:solidFill>
              </a:rPr>
              <a:t> aparecem na Object Page.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Cada campo anotado vira uma coluna, na ordem de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Campos da barra de filtros; busca e status de edição vêm por padrão.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r>
              <a:rPr lang="en-US" sz="1250" b="1" dirty="0">
                <a:solidFill>
                  <a:srgbClr val="1D2D3E"/>
                </a:solidFill>
              </a:rPr>
              <a:t> +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textArrangement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Status colorido com ícone, mostrando só o texto.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LIST REPORT · PROPRIEDADES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que configurar em cada coluna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2930442"/>
                <a:gridCol w="7889653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Propriedade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Efeito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position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Ordem da coluna (use 10, 20, 30 para sobrar espaço)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Rótulo próprio; sem ele, vale o rótulo do elemento de dados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importance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#HIGH continua visível em telas pequenas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criticality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Campo com 0–3: neutro, vermelho, amarelo, verde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type: #FOR_ACTION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Botão de ação na barra da tabela (com dataAction)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463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84632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Aulas seguintes  </a:t>
            </a:r>
            <a:r>
              <a:rPr lang="en-US" sz="1200" dirty="0">
                <a:solidFill>
                  <a:srgbClr val="1D2D3E"/>
                </a:solidFill>
              </a:rPr>
              <a:t>cores e ações (03.07) e importância e ordenação (03.06) aprofundam estas propriedades.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97433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03.03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 Object Page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Campos com </a:t>
            </a:r>
            <a:r>
              <a:rPr lang="en-US" sz="1600" b="1" dirty="0">
                <a:solidFill>
                  <a:srgbClr val="D1EFFF"/>
                </a:solidFill>
              </a:rPr>
              <a:t>@UI.identification</a:t>
            </a:r>
            <a:r>
              <a:rPr lang="en-US" sz="1600" dirty="0">
                <a:solidFill>
                  <a:srgbClr val="D1EFFF"/>
                </a:solidFill>
              </a:rPr>
              <a:t> aparecem na Object Page quando um </a:t>
            </a:r>
            <a:r>
              <a:rPr lang="en-US" sz="1600" b="1" dirty="0">
                <a:solidFill>
                  <a:srgbClr val="D1EFFF"/>
                </a:solidFill>
              </a:rPr>
              <a:t>@UI.facet</a:t>
            </a:r>
            <a:r>
              <a:rPr lang="en-US" sz="1600" dirty="0">
                <a:solidFill>
                  <a:srgbClr val="D1EFFF"/>
                </a:solidFill>
              </a:rPr>
              <a:t> do tipo </a:t>
            </a:r>
            <a:r>
              <a:rPr lang="en-US" sz="1600" i="1" dirty="0">
                <a:solidFill>
                  <a:srgbClr val="D1EFFF"/>
                </a:solidFill>
              </a:rPr>
              <a:t>identification reference</a:t>
            </a:r>
            <a:r>
              <a:rPr lang="en-US" sz="1600" dirty="0">
                <a:solidFill>
                  <a:srgbClr val="D1EFFF"/>
                </a:solidFill>
              </a:rPr>
              <a:t> os referencia.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@UI.facet</a:t>
            </a:r>
            <a:r>
              <a:rPr lang="en-US" sz="1000" dirty="0">
                <a:solidFill>
                  <a:srgbClr val="D1EFFF"/>
                </a:solidFill>
              </a:rPr>
              <a:t>  seções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@UI.identification</a:t>
            </a:r>
            <a:r>
              <a:rPr lang="en-US" sz="1000" dirty="0">
                <a:solidFill>
                  <a:srgbClr val="D1EFFF"/>
                </a:solidFill>
              </a:rPr>
              <a:t>  campos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#COLLECTION</a:t>
            </a:r>
            <a:r>
              <a:rPr lang="en-US" sz="1000" dirty="0">
                <a:solidFill>
                  <a:srgbClr val="D1EFFF"/>
                </a:solidFill>
              </a:rPr>
              <a:t>  seção com subseções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parentId</a:t>
            </a:r>
            <a:r>
              <a:rPr lang="en-US" sz="1000" dirty="0">
                <a:solidFill>
                  <a:srgbClr val="D1EFFF"/>
                </a:solidFill>
              </a:rPr>
              <a:t>  hierarquia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OBJECT PAGE · PRIMEIRA SEÇÃO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seção com subseção de identificação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85292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85292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zc_fe_travel_######.ddlx.asddlxs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ZFE_TRAVEL_###### › Metadata Extensions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ZC_FE_TRAVEL_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'GeneralInfo'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'General Information'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'General'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IDENTIFICATION_REFERENCE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'GeneralInfo'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AgencyID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@UI.facet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Fica no primeiro elemento do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r>
              <a:rPr lang="en-US" sz="1050" dirty="0">
                <a:solidFill>
                  <a:srgbClr val="556B82"/>
                </a:solidFill>
              </a:rPr>
              <a:t>; descreve seções e subseções.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#COLLECTION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Uma seção vazia que agrupa subseções pelo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#IDENTIFICATION_REFERENCE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Subseção com os campos anotados com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@UI.identification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parentId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Liga a subseção à seção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GeneralInfo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OBJECT PAGE · RESUMO VISUAL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De cada anotação a um pedaço da tela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381280"/>
                <a:gridCol w="383211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Anotação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Página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Onde aparece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@UI.headerInfo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List Report · Object Page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Título da tabela e do objeto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@UI.selectionField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List Report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Barra de filtros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@UI.lineItem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List Report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Colunas da tabela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@UI.facet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Object Page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Seções, subseções e header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@UI.identification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Object Page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Campos da subseção de identificação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@UI.fieldGroup · dataPoint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Object Page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Grupos de campos e KPIs do header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035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530352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Conferir  </a:t>
            </a:r>
            <a:r>
              <a:rPr lang="en-US" sz="1200" dirty="0">
                <a:solidFill>
                  <a:srgbClr val="1D2D3E"/>
                </a:solidFill>
              </a:rPr>
              <a:t>a view </a:t>
            </a:r>
            <a:r>
              <a:rPr lang="en-US" sz="1200" b="1" dirty="0">
                <a:solidFill>
                  <a:srgbClr val="1D2D3E"/>
                </a:solidFill>
              </a:rPr>
              <a:t>Active Annotations</a:t>
            </a:r>
            <a:r>
              <a:rPr lang="en-US" sz="1200" dirty="0">
                <a:solidFill>
                  <a:srgbClr val="1D2D3E"/>
                </a:solidFill>
              </a:rPr>
              <a:t> do ADT mostra todas as anotações efetivas da projeção.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43153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03.03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Anotações de runtime ficam na </a:t>
            </a:r>
            <a:r>
              <a:rPr lang="en-US" sz="1400" b="1" dirty="0">
                <a:solidFill>
                  <a:srgbClr val="FFFFFF"/>
                </a:solidFill>
              </a:rPr>
              <a:t>projeção</a:t>
            </a:r>
            <a:r>
              <a:rPr lang="en-US" sz="1400" dirty="0">
                <a:solidFill>
                  <a:srgbClr val="FFFFFF"/>
                </a:solidFill>
              </a:rPr>
              <a:t>; as de UI, na </a:t>
            </a:r>
            <a:r>
              <a:rPr lang="en-US" sz="1400" b="1" dirty="0">
                <a:solidFill>
                  <a:srgbClr val="FFFFFF"/>
                </a:solidFill>
              </a:rPr>
              <a:t>metadata extension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@Metadata.allowExtensions</a:t>
            </a:r>
            <a:r>
              <a:rPr lang="en-US" sz="1400" dirty="0">
                <a:solidFill>
                  <a:srgbClr val="FFFFFF"/>
                </a:solidFill>
              </a:rPr>
              <a:t> libera a MDE;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@Metadata.layer</a:t>
            </a:r>
            <a:r>
              <a:rPr lang="en-US" sz="1400" dirty="0">
                <a:solidFill>
                  <a:srgbClr val="FFFFFF"/>
                </a:solidFill>
              </a:rPr>
              <a:t> define a camada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@UI.headerInfo</a:t>
            </a:r>
            <a:r>
              <a:rPr lang="en-US" sz="1400" dirty="0">
                <a:solidFill>
                  <a:srgbClr val="FFFFFF"/>
                </a:solidFill>
              </a:rPr>
              <a:t> nomeia a tabela e o objeto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r>
              <a:rPr lang="en-US" sz="1400" dirty="0">
                <a:solidFill>
                  <a:srgbClr val="FFFFFF"/>
                </a:solidFill>
              </a:rPr>
              <a:t> cria colunas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r>
              <a:rPr lang="en-US" sz="1400" dirty="0">
                <a:solidFill>
                  <a:srgbClr val="FFFFFF"/>
                </a:solidFill>
              </a:rPr>
              <a:t> cria filtros, ordenados por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@UI.textArrangement</a:t>
            </a:r>
            <a:r>
              <a:rPr lang="en-US" sz="1400" dirty="0">
                <a:solidFill>
                  <a:srgbClr val="FFFFFF"/>
                </a:solidFill>
              </a:rPr>
              <a:t> deixam o status legível e colorido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@UI.facet</a:t>
            </a:r>
            <a:r>
              <a:rPr lang="en-US" sz="1400" dirty="0">
                <a:solidFill>
                  <a:srgbClr val="FFFFFF"/>
                </a:solidFill>
              </a:rPr>
              <a:t>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@UI.identification</a:t>
            </a:r>
            <a:r>
              <a:rPr lang="en-US" sz="1400" dirty="0">
                <a:solidFill>
                  <a:srgbClr val="FFFFFF"/>
                </a:solidFill>
              </a:rPr>
              <a:t> monta as seções da </a:t>
            </a:r>
            <a:r>
              <a:rPr lang="en-US" sz="1400" b="1" dirty="0">
                <a:solidFill>
                  <a:srgbClr val="FFFFFF"/>
                </a:solidFill>
              </a:rPr>
              <a:t>Object Page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03.04  </a:t>
            </a:r>
            <a:r>
              <a:rPr lang="en-US" sz="1500" dirty="0">
                <a:solidFill>
                  <a:srgbClr val="FFFFFF"/>
                </a:solidFill>
              </a:rPr>
              <a:t>SAP Fiori Tools: Gerador, Page Map e Guided Development.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03.03 Anotações ABAP CDS para a UI</dc:title>
  <dc:subject>ABAP Moderno – Módulo 03: SAP Fiori Elements com OData V4</dc:subject>
  <dc:creator>Adriano Bispo</dc:creator>
  <cp:lastModifiedBy>Adriano Bispo</cp:lastModifiedBy>
  <cp:revision>1</cp:revision>
  <dcterms:created xsi:type="dcterms:W3CDTF">2026-10-29T01:35:09Z</dcterms:created>
  <dcterms:modified xsi:type="dcterms:W3CDTF">2026-10-29T01:35:09Z</dcterms:modified>
</cp:coreProperties>
</file>