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05 — SAP Fiori Elements com OData V4  ·  Aula 8 de 11 — Navegação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05 — SAP Fiori Elements com OData V4  ·  Aula 8 de 11 — Navegação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05 · AULA 08 DE 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Navegação em apps Fiori elements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Navegação interna entre páginas do app e navegação externa entre apps com intents, semantic objects e links.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48729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790709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094124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397538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9700953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04367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07782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11196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14611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1802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8 de 11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05 — SAP Fiori Elements com OData V4 · Design System SAP Horizon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05 em 11 aulas: Fiori Elements com OData V4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Fiori Elements e OData V4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Apps guiados por metadados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8189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9278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9278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592781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Exposição de serviços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592781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Service definition e service binding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0773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7233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7233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447233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Anotações de UI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7233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headerInfo, lineItem, selectionField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728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635188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SAP Fiori Tools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35188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Gerador, Page Map e Guided Development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66837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3142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3142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8231429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Floorplans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231429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List Report, Object Page e facetas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946386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11097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11097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10110978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List Report e Object Page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10110978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Ordenação, seções e field groups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7" name="Text 35"/>
          <p:cNvSpPr txBox="1"/>
          <p:nvPr/>
        </p:nvSpPr>
        <p:spPr>
          <a:xfrm>
            <a:off x="713232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Tabelas: cores e ações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Criticality, ações e importância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428189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92781" y="384048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59278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8</a:t>
            </a:r>
            <a:endParaRPr lang="en-US" sz="1260" dirty="0"/>
          </a:p>
        </p:txBody>
      </p:sp>
      <p:sp>
        <p:nvSpPr>
          <p:cNvPr id="42" name="Text 40"/>
          <p:cNvSpPr txBox="1"/>
          <p:nvPr/>
        </p:nvSpPr>
        <p:spPr>
          <a:xfrm>
            <a:off x="2592781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Navegação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2592781" y="4864608"/>
            <a:ext cx="1367485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592781" y="4864608"/>
            <a:ext cx="13674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30773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7233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47233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8" name="Text 46"/>
          <p:cNvSpPr txBox="1"/>
          <p:nvPr/>
        </p:nvSpPr>
        <p:spPr>
          <a:xfrm>
            <a:off x="447233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Object Page avançada</a:t>
            </a:r>
            <a:endParaRPr lang="en-US" sz="1350" dirty="0"/>
          </a:p>
        </p:txBody>
      </p:sp>
      <p:sp>
        <p:nvSpPr>
          <p:cNvPr id="49" name="Text 47"/>
          <p:cNvSpPr txBox="1"/>
          <p:nvPr/>
        </p:nvSpPr>
        <p:spPr>
          <a:xfrm>
            <a:off x="447233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 facets, visibilidade e tabelas filhas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8728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10</a:t>
            </a:r>
            <a:endParaRPr lang="en-US" sz="1260" dirty="0"/>
          </a:p>
        </p:txBody>
      </p:sp>
      <p:sp>
        <p:nvSpPr>
          <p:cNvPr id="53" name="Text 51"/>
          <p:cNvSpPr txBox="1"/>
          <p:nvPr/>
        </p:nvSpPr>
        <p:spPr>
          <a:xfrm>
            <a:off x="635188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Programação flexível</a:t>
            </a:r>
            <a:endParaRPr lang="en-US" sz="1350" dirty="0"/>
          </a:p>
        </p:txBody>
      </p:sp>
      <p:sp>
        <p:nvSpPr>
          <p:cNvPr id="54" name="Text 52"/>
          <p:cNvSpPr txBox="1"/>
          <p:nvPr/>
        </p:nvSpPr>
        <p:spPr>
          <a:xfrm>
            <a:off x="635188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Flexible Programming Model e building blocks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066837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31429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23142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11</a:t>
            </a:r>
            <a:endParaRPr lang="en-US" sz="1260" dirty="0"/>
          </a:p>
        </p:txBody>
      </p:sp>
      <p:sp>
        <p:nvSpPr>
          <p:cNvPr id="58" name="Text 56"/>
          <p:cNvSpPr txBox="1"/>
          <p:nvPr/>
        </p:nvSpPr>
        <p:spPr>
          <a:xfrm>
            <a:off x="8231429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Deploy</a:t>
            </a:r>
            <a:endParaRPr lang="en-US" sz="1350" dirty="0"/>
          </a:p>
        </p:txBody>
      </p:sp>
      <p:sp>
        <p:nvSpPr>
          <p:cNvPr id="59" name="Text 57"/>
          <p:cNvSpPr txBox="1"/>
          <p:nvPr/>
        </p:nvSpPr>
        <p:spPr>
          <a:xfrm>
            <a:off x="8231429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Publicação, launchpad e acesso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levamos o usuário do pedido até o item dentro do app e, pelo launchpad, do pedido para o cliente na app Gestão de Clientes.</a:t>
            </a:r>
            <a:endParaRPr lang="en-US" sz="1400" dirty="0"/>
          </a:p>
        </p:txBody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669" y="1847088"/>
            <a:ext cx="347472" cy="347472"/>
          </a:xfrm>
          <a:prstGeom prst="rect">
            <a:avLst/>
          </a:prstGeom>
        </p:spPr>
      </p:pic>
      <p:pic>
        <p:nvPicPr>
          <p:cNvPr id="6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218" y="1847088"/>
            <a:ext cx="347472" cy="347472"/>
          </a:xfrm>
          <a:prstGeom prst="rect">
            <a:avLst/>
          </a:prstGeom>
        </p:spPr>
      </p:pic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6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4866" y="1847088"/>
            <a:ext cx="347472" cy="347472"/>
          </a:xfrm>
          <a:prstGeom prst="rect">
            <a:avLst/>
          </a:prstGeom>
        </p:spPr>
      </p:pic>
      <p:pic>
        <p:nvPicPr>
          <p:cNvPr id="6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5317" y="1847088"/>
            <a:ext cx="347472" cy="347472"/>
          </a:xfrm>
          <a:prstGeom prst="rect">
            <a:avLst/>
          </a:prstGeom>
        </p:spPr>
      </p:pic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6218" y="3858768"/>
            <a:ext cx="347472" cy="347472"/>
          </a:xfrm>
          <a:prstGeom prst="rect">
            <a:avLst/>
          </a:prstGeom>
        </p:spPr>
      </p:pic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6669" y="3858768"/>
            <a:ext cx="347472" cy="347472"/>
          </a:xfrm>
          <a:prstGeom prst="rect">
            <a:avLst/>
          </a:prstGeom>
        </p:spPr>
      </p:pic>
      <p:pic>
        <p:nvPicPr>
          <p:cNvPr id="7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14866" y="3858768"/>
            <a:ext cx="347472" cy="347472"/>
          </a:xfrm>
          <a:prstGeom prst="rect">
            <a:avLst/>
          </a:prstGeom>
        </p:spPr>
      </p:pic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5317" y="3858768"/>
            <a:ext cx="347472" cy="347472"/>
          </a:xfrm>
          <a:prstGeom prst="rect">
            <a:avLst/>
          </a:prstGeom>
        </p:spPr>
      </p:pic>
      <p:pic>
        <p:nvPicPr>
          <p:cNvPr id="7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Dentro do app ou entre apps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8291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78291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305723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305723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Navegação interna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9731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List Report → Object Page → subobject page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Configurada no </a:t>
            </a:r>
            <a:r>
              <a:rPr lang="en-US" sz="1350" b="1" dirty="0">
                <a:solidFill>
                  <a:srgbClr val="1D2D3E"/>
                </a:solidFill>
              </a:rPr>
              <a:t>Page Map</a:t>
            </a:r>
            <a:r>
              <a:rPr lang="en-US" sz="1350" dirty="0">
                <a:solidFill>
                  <a:srgbClr val="1D2D3E"/>
                </a:solidFill>
              </a:rPr>
              <a:t> e no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Funciona até no preview, sem launchpad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78291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78291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305723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305723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Navegação externa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69731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De um app para outro, como Pedido → Cliente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Baseada em </a:t>
            </a:r>
            <a:r>
              <a:rPr lang="en-US" sz="1350" b="1" dirty="0">
                <a:solidFill>
                  <a:srgbClr val="1D2D3E"/>
                </a:solidFill>
              </a:rPr>
              <a:t>intents</a:t>
            </a:r>
            <a:r>
              <a:rPr lang="en-US" sz="1350" dirty="0">
                <a:solidFill>
                  <a:srgbClr val="1D2D3E"/>
                </a:solidFill>
              </a:rPr>
              <a:t> (semantic object + action)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Exige o </a:t>
            </a:r>
            <a:r>
              <a:rPr lang="en-US" sz="1350" b="1" dirty="0">
                <a:solidFill>
                  <a:srgbClr val="1D2D3E"/>
                </a:solidFill>
              </a:rPr>
              <a:t>SAP Fiori launchpad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157823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3157823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05.08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Navegação interna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Cada página do app é uma </a:t>
            </a:r>
            <a:r>
              <a:rPr lang="en-US" sz="1600" b="1" dirty="0">
                <a:solidFill>
                  <a:srgbClr val="D1EFFF"/>
                </a:solidFill>
              </a:rPr>
              <a:t>rota</a:t>
            </a:r>
            <a:r>
              <a:rPr lang="en-US" sz="1600" dirty="0">
                <a:solidFill>
                  <a:srgbClr val="D1EFFF"/>
                </a:solidFill>
              </a:rPr>
              <a:t>. Clicar numa linha de tabela leva à página da entidade daquela linha.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Map</a:t>
            </a:r>
            <a:r>
              <a:rPr lang="en-US" sz="1000" dirty="0">
                <a:solidFill>
                  <a:srgbClr val="D1EFFF"/>
                </a:solidFill>
              </a:rPr>
              <a:t>  adicionar páginas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Rotas</a:t>
            </a:r>
            <a:r>
              <a:rPr lang="en-US" sz="1000" dirty="0">
                <a:solidFill>
                  <a:srgbClr val="D1EFFF"/>
                </a:solidFill>
              </a:rPr>
              <a:t>  manifest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Subobject page</a:t>
            </a:r>
            <a:r>
              <a:rPr lang="en-US" sz="1000" dirty="0">
                <a:solidFill>
                  <a:srgbClr val="D1EFFF"/>
                </a:solidFill>
              </a:rPr>
              <a:t>  ItemPedido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page</a:t>
            </a:r>
            <a:r>
              <a:rPr lang="en-US" sz="1000" dirty="0">
                <a:solidFill>
                  <a:srgbClr val="D1EFFF"/>
                </a:solidFill>
              </a:rPr>
              <a:t>  opcional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INTERNA · NO PROJETO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Da lista de pedidos ao detalhe do item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List Report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Pedidos de compras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4561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4383938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75378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Object Page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Pedido com a tabela de Itens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80909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0" name="Shape 8"/>
          <p:cNvSpPr/>
          <p:nvPr/>
        </p:nvSpPr>
        <p:spPr>
          <a:xfrm>
            <a:off x="8219237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10677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Subobject Page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Item: produto, quantidade e valor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No Page Map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Na tabela Itens, adicionar navegação para uma nova página do tipo </a:t>
            </a:r>
            <a:r>
              <a:rPr lang="en-US" sz="1200" b="1" dirty="0">
                <a:solidFill>
                  <a:srgbClr val="556B82"/>
                </a:solidFill>
              </a:rPr>
              <a:t>Object Page</a:t>
            </a:r>
            <a:r>
              <a:rPr lang="en-US" sz="1200" dirty="0">
                <a:solidFill>
                  <a:srgbClr val="556B82"/>
                </a:solidFill>
              </a:rPr>
              <a:t> da entidade ItemPedido.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22978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0585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05858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Com FCL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Com flexible column layout, a terceira página abre como </a:t>
            </a:r>
            <a:r>
              <a:rPr lang="en-US" sz="1200" b="1" dirty="0">
                <a:solidFill>
                  <a:srgbClr val="556B82"/>
                </a:solidFill>
              </a:rPr>
              <a:t>terceira coluna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97317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80197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80197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Outras opções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Navegar após uma ação, entre entidades e dentro da página (âncoras).</a:t>
            </a:r>
            <a:endParaRPr lang="en-US" sz="14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4372" y="3928994"/>
            <a:ext cx="225308" cy="225308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711" y="3928994"/>
            <a:ext cx="225308" cy="225308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669" y="2084832"/>
            <a:ext cx="365760" cy="365760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8266" y="2084832"/>
            <a:ext cx="365760" cy="365760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2968" y="2084832"/>
            <a:ext cx="365760" cy="365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INTERNA · MANIFEST.JSON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 navegação do pedido para o item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2024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2024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webapp/manifest.json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pedidos-compras › webapp (trecho)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"routes": [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"pattern": ":?query:", "name": "PedidoList", "target": "PedidoList" },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"pattern": "Pedido({key}):?query:", "name": "PedidoObjectPage",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"target": "PedidoObjectPage" },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"pattern": "Pedido({key})/_Itens({_ItensKey}):?query:",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"name": "Pedido__ItensObjectPage", "target": "Pedido__ItensObjectPage"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"PedidoObjectPage": { "options": { "settings":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"contextPath": "/Pedido",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"navigation":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"_Itens": { "detail": { "route": "Pedido__ItensObjectPage" }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Cada página tem um padrão de URL com as chaves do objeto.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_Itens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associação de composição que leva do pedido aos itens.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detail.route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Clique numa linha da tabela abre a rota indicada.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Gerado pelas tools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Page Map escreve rotas, targets e navegação por você.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05.08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Navegação externa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No launchpad, navega-se por </a:t>
            </a:r>
            <a:r>
              <a:rPr lang="en-US" sz="1600" b="1" dirty="0">
                <a:solidFill>
                  <a:srgbClr val="D1EFFF"/>
                </a:solidFill>
              </a:rPr>
              <a:t>intents</a:t>
            </a:r>
            <a:r>
              <a:rPr lang="en-US" sz="1600" dirty="0">
                <a:solidFill>
                  <a:srgbClr val="D1EFFF"/>
                </a:solidFill>
              </a:rPr>
              <a:t>: um </a:t>
            </a:r>
            <a:r>
              <a:rPr lang="en-US" sz="1600" b="1" dirty="0">
                <a:solidFill>
                  <a:srgbClr val="D1EFFF"/>
                </a:solidFill>
              </a:rPr>
              <a:t>semantic object</a:t>
            </a:r>
            <a:r>
              <a:rPr lang="en-US" sz="1600" dirty="0">
                <a:solidFill>
                  <a:srgbClr val="D1EFFF"/>
                </a:solidFill>
              </a:rPr>
              <a:t> e uma </a:t>
            </a:r>
            <a:r>
              <a:rPr lang="en-US" sz="1600" b="1" dirty="0">
                <a:solidFill>
                  <a:srgbClr val="D1EFFF"/>
                </a:solidFill>
              </a:rPr>
              <a:t>action</a:t>
            </a:r>
            <a:r>
              <a:rPr lang="en-US" sz="1600" dirty="0">
                <a:solidFill>
                  <a:srgbClr val="D1EFFF"/>
                </a:solidFill>
              </a:rPr>
              <a:t>, resolvidos em runtime conforme o papel do usuário.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 object</a:t>
            </a:r>
            <a:r>
              <a:rPr lang="en-US" sz="1000" dirty="0">
                <a:solidFill>
                  <a:srgbClr val="D1EFFF"/>
                </a:solidFill>
              </a:rPr>
              <a:t>  ZPCCliente, ZPCPedidoCompra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r>
              <a:rPr lang="en-US" sz="1000" dirty="0">
                <a:solidFill>
                  <a:srgbClr val="D1EFFF"/>
                </a:solidFill>
              </a:rPr>
              <a:t>  display, manage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Parâmetros</a:t>
            </a:r>
            <a:r>
              <a:rPr lang="en-US" sz="1000" dirty="0">
                <a:solidFill>
                  <a:srgbClr val="D1EFFF"/>
                </a:solidFill>
              </a:rPr>
              <a:t>  chaves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mapping</a:t>
            </a:r>
            <a:r>
              <a:rPr lang="en-US" sz="1000" dirty="0">
                <a:solidFill>
                  <a:srgbClr val="D1EFFF"/>
                </a:solidFill>
              </a:rPr>
              <a:t>  admin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EXTERNA · INTENTS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Como uma intent vira um 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574290"/>
            <a:ext cx="3545738" cy="1919732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77545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378962"/>
            <a:ext cx="3143402" cy="10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Semantic object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 entidade de negócio, como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ZPCCliente</a:t>
            </a:r>
            <a:r>
              <a:rPr lang="en-US" sz="1300" dirty="0">
                <a:solidFill>
                  <a:srgbClr val="556B82"/>
                </a:solidFill>
              </a:rPr>
              <a:t> ou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ZPCPedidoCompra</a:t>
            </a:r>
            <a:r>
              <a:rPr lang="en-US" sz="1300" dirty="0">
                <a:solidFill>
                  <a:srgbClr val="556B82"/>
                </a:solidFill>
              </a:rPr>
              <a:t> no projeto.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574290"/>
            <a:ext cx="3545738" cy="1919732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77545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378962"/>
            <a:ext cx="3143402" cy="10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Action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que fazer com ela, como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r>
              <a:rPr lang="en-US" sz="1300" dirty="0">
                <a:solidFill>
                  <a:srgbClr val="556B82"/>
                </a:solidFill>
              </a:rPr>
              <a:t> ou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</a:t>
            </a:r>
            <a:r>
              <a:rPr lang="en-US" sz="1300" dirty="0">
                <a:solidFill>
                  <a:srgbClr val="556B82"/>
                </a:solidFill>
              </a:rPr>
              <a:t>: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#ZPCPedidoCompra-manage</a:t>
            </a:r>
            <a:r>
              <a:rPr lang="en-US" sz="13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574290"/>
            <a:ext cx="3545738" cy="1919732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77545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378962"/>
            <a:ext cx="3143402" cy="10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Resolução por papel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launchpad acha o app pela </a:t>
            </a:r>
            <a:r>
              <a:rPr lang="en-US" sz="1300" b="1" dirty="0">
                <a:solidFill>
                  <a:srgbClr val="556B82"/>
                </a:solidFill>
              </a:rPr>
              <a:t>target mapping</a:t>
            </a:r>
            <a:r>
              <a:rPr lang="en-US" sz="1300" dirty="0">
                <a:solidFill>
                  <a:srgbClr val="556B82"/>
                </a:solidFill>
              </a:rPr>
              <a:t> dos catálogos do usuário.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7690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67690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Vantagem  </a:t>
            </a:r>
            <a:r>
              <a:rPr lang="en-US" sz="1200" dirty="0">
                <a:solidFill>
                  <a:srgbClr val="1D2D3E"/>
                </a:solidFill>
              </a:rPr>
              <a:t>o app de origem não conhece o app de destino; trocar o destino não exige mudar código.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4730" y="2876042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804918"/>
            <a:ext cx="310896" cy="310896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876042"/>
            <a:ext cx="256032" cy="25603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9069" y="2876042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EXTERNA · ANOTAÇÕES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Links e botões para outros apps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542032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542032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zc_pc_pedido_app.ddls.asddls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ZAVBS_PC_PEDIDOS › ZC_PC_PEDIDO_APP (trecho real) + botão ilustrativo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Na projeção: nome e CPF viram links para o cliente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Consumption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semanticObject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'ZPCCliente'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Consumption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semanticObjectMapping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additionalBinding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localElement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'CpfCliente'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'Cpf'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_Cliente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NomeCliente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Na metadata extension: um botão na toolbar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FOR_INTENT_BASED_NAVIGATION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semanticObject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'ZPCCliente'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semanticObjectAction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'manage'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'Abrir cliente'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#FOR_INTENT_BASED_NAVIGATION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Um </a:t>
            </a:r>
            <a:r>
              <a:rPr lang="en-US" sz="1050" b="1" dirty="0">
                <a:solidFill>
                  <a:srgbClr val="556B82"/>
                </a:solidFill>
              </a:rPr>
              <a:t>botão</a:t>
            </a:r>
            <a:r>
              <a:rPr lang="en-US" sz="1050" dirty="0">
                <a:solidFill>
                  <a:srgbClr val="556B82"/>
                </a:solidFill>
              </a:rPr>
              <a:t> na toolbar que navega para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#ZPCCliente-manage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@Consumption.semanticObject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Transforma o valor em </a:t>
            </a:r>
            <a:r>
              <a:rPr lang="en-US" sz="1050" b="1" dirty="0">
                <a:solidFill>
                  <a:srgbClr val="556B82"/>
                </a:solidFill>
              </a:rPr>
              <a:t>link</a:t>
            </a:r>
            <a:r>
              <a:rPr lang="en-US" sz="1050" dirty="0">
                <a:solidFill>
                  <a:srgbClr val="556B82"/>
                </a:solidFill>
              </a:rPr>
              <a:t> com os apps disponíveis para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ZPCCliente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Parâmetros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As chaves seguem como parâmetros;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additionalBinding</a:t>
            </a:r>
            <a:r>
              <a:rPr lang="en-US" sz="1050" dirty="0">
                <a:solidFill>
                  <a:srgbClr val="556B82"/>
                </a:solidFill>
              </a:rPr>
              <a:t> envia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CpfCliente</a:t>
            </a:r>
            <a:r>
              <a:rPr lang="en-US" sz="1050" dirty="0">
                <a:solidFill>
                  <a:srgbClr val="556B82"/>
                </a:solidFill>
              </a:rPr>
              <a:t> como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r>
              <a:rPr lang="en-US" sz="1050" dirty="0">
                <a:solidFill>
                  <a:srgbClr val="556B82"/>
                </a:solidFill>
              </a:rPr>
              <a:t>, a chave semântica do cliente.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Pela linha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navegação da linha também pode trocar a Object Page por outro app.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05.08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Interna</a:t>
            </a:r>
            <a:r>
              <a:rPr lang="en-US" sz="1400" dirty="0">
                <a:solidFill>
                  <a:srgbClr val="FFFFFF"/>
                </a:solidFill>
              </a:rPr>
              <a:t>: entre páginas do mesmo app; </a:t>
            </a:r>
            <a:r>
              <a:rPr lang="en-US" sz="1400" b="1" dirty="0">
                <a:solidFill>
                  <a:srgbClr val="FFFFFF"/>
                </a:solidFill>
              </a:rPr>
              <a:t>externa</a:t>
            </a:r>
            <a:r>
              <a:rPr lang="en-US" sz="1400" dirty="0">
                <a:solidFill>
                  <a:srgbClr val="FFFFFF"/>
                </a:solidFill>
              </a:rPr>
              <a:t>: entre apps no launchpad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Páginas são </a:t>
            </a:r>
            <a:r>
              <a:rPr lang="en-US" sz="1400" b="1" dirty="0">
                <a:solidFill>
                  <a:srgbClr val="FFFFFF"/>
                </a:solidFill>
              </a:rPr>
              <a:t>rotas</a:t>
            </a:r>
            <a:r>
              <a:rPr lang="en-US" sz="1400" dirty="0">
                <a:solidFill>
                  <a:srgbClr val="FFFFFF"/>
                </a:solidFill>
              </a:rPr>
              <a:t> no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r>
              <a:rPr lang="en-US" sz="1400" dirty="0">
                <a:solidFill>
                  <a:srgbClr val="FFFFFF"/>
                </a:solidFill>
              </a:rPr>
              <a:t>, geradas pelo </a:t>
            </a:r>
            <a:r>
              <a:rPr lang="en-US" sz="1400" b="1" dirty="0">
                <a:solidFill>
                  <a:srgbClr val="FFFFFF"/>
                </a:solidFill>
              </a:rPr>
              <a:t>Page Map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tabela de Itens navega para uma </a:t>
            </a:r>
            <a:r>
              <a:rPr lang="en-US" sz="1400" b="1" dirty="0">
                <a:solidFill>
                  <a:srgbClr val="FFFFFF"/>
                </a:solidFill>
              </a:rPr>
              <a:t>subobject page</a:t>
            </a:r>
            <a:r>
              <a:rPr lang="en-US" sz="1400" dirty="0">
                <a:solidFill>
                  <a:srgbClr val="FFFFFF"/>
                </a:solidFill>
              </a:rPr>
              <a:t> pela associação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_Itens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Uma </a:t>
            </a:r>
            <a:r>
              <a:rPr lang="en-US" sz="1400" b="1" dirty="0">
                <a:solidFill>
                  <a:srgbClr val="FFFFFF"/>
                </a:solidFill>
              </a:rPr>
              <a:t>intent</a:t>
            </a:r>
            <a:r>
              <a:rPr lang="en-US" sz="1400" dirty="0">
                <a:solidFill>
                  <a:srgbClr val="FFFFFF"/>
                </a:solidFill>
              </a:rPr>
              <a:t> é semantic object + action, resolvida pelo papel do usuário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#FOR_INTENT_BASED_NAVIGATION</a:t>
            </a:r>
            <a:r>
              <a:rPr lang="en-US" sz="1400" dirty="0">
                <a:solidFill>
                  <a:srgbClr val="FFFFFF"/>
                </a:solidFill>
              </a:rPr>
              <a:t> cria botões;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@Consumption.semanticObject</a:t>
            </a:r>
            <a:r>
              <a:rPr lang="en-US" sz="1400" dirty="0">
                <a:solidFill>
                  <a:srgbClr val="FFFFFF"/>
                </a:solidFill>
              </a:rPr>
              <a:t> cria links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Externa por </a:t>
            </a:r>
            <a:r>
              <a:rPr lang="en-US" sz="1400" b="1" dirty="0">
                <a:solidFill>
                  <a:srgbClr val="FFFFFF"/>
                </a:solidFill>
              </a:rPr>
              <a:t>links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linhas de tabela</a:t>
            </a:r>
            <a:r>
              <a:rPr lang="en-US" sz="1400" dirty="0">
                <a:solidFill>
                  <a:srgbClr val="FFFFFF"/>
                </a:solidFill>
              </a:rPr>
              <a:t> ou </a:t>
            </a:r>
            <a:r>
              <a:rPr lang="en-US" sz="1400" b="1" dirty="0">
                <a:solidFill>
                  <a:srgbClr val="FFFFFF"/>
                </a:solidFill>
              </a:rPr>
              <a:t>botões</a:t>
            </a:r>
            <a:r>
              <a:rPr lang="en-US" sz="1400" dirty="0">
                <a:solidFill>
                  <a:srgbClr val="FFFFFF"/>
                </a:solidFill>
              </a:rPr>
              <a:t>, sempre no launchpad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05.09  </a:t>
            </a:r>
            <a:r>
              <a:rPr lang="en-US" sz="1500" dirty="0">
                <a:solidFill>
                  <a:srgbClr val="FFFFFF"/>
                </a:solidFill>
              </a:rPr>
              <a:t>Object Page avançada: Header facets, visibilidade e tabelas filhas.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05.08 Navegação em apps Fiori elements</dc:title>
  <dc:subject>ABAP Moderno – Módulo 05: SAP Fiori Elements com OData V4</dc:subject>
  <dc:creator>Adriano Bispo</dc:creator>
  <cp:lastModifiedBy>Adriano Bispo</cp:lastModifiedBy>
  <cp:revision>1</cp:revision>
  <dcterms:created xsi:type="dcterms:W3CDTF">2026-10-29T13:45:30Z</dcterms:created>
  <dcterms:modified xsi:type="dcterms:W3CDTF">2026-10-29T13:45:30Z</dcterms:modified>
</cp:coreProperties>
</file>