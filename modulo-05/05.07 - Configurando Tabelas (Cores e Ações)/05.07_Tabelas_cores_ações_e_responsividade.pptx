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PA">
    <p:bg>
      <p:bgPr>
        <a:solidFill>
          <a:srgbClr val="0014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SCURO">
    <p:bg>
      <p:bgPr>
        <a:solidFill>
          <a:srgbClr val="0014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73952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C7"/>
                </a:solidFill>
              </a:rPr>
              <a:t>ABAP Moderno · Módulo 05 — SAP Fiori Elements com OData V4  ·  Aula 7 de 11 — Tabelas: cores e ações</a:t>
            </a:r>
            <a:endParaRPr lang="en-US" sz="9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UDO">
    <p:bg>
      <p:bgPr>
        <a:solidFill>
          <a:srgbClr val="F5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100" b="1" spc="150" kern="0" dirty="0">
                <a:solidFill>
                  <a:srgbClr val="0064D9"/>
                </a:solidFill>
              </a:defRPr>
            </a:lvl1pPr>
          </a:lstStyle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rgbClr val="1D2D3E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4" name="Text 0"/>
          <p:cNvSpPr/>
          <p:nvPr/>
        </p:nvSpPr>
        <p:spPr>
          <a:xfrm>
            <a:off x="548640" y="6473952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6B82"/>
                </a:solidFill>
              </a:rPr>
              <a:t>ABAP Moderno · Módulo 05 — SAP Fiori Elements com OData V4  ·  Aula 7 de 11 — Tabelas: cores e ações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image" Target="../media/image-2-10.png"/><Relationship Id="rId11" Type="http://schemas.openxmlformats.org/officeDocument/2006/relationships/image" Target="../media/image-2-11.png"/><Relationship Id="rId12" Type="http://schemas.openxmlformats.org/officeDocument/2006/relationships/image" Target="../media/image-2-12.png"/><Relationship Id="rId13" Type="http://schemas.openxmlformats.org/officeDocument/2006/relationships/slideLayout" Target="../slideLayouts/slideLayout4.xml"/><Relationship Id="rId1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image" Target="../media/image-12-7.png"/><Relationship Id="rId8" Type="http://schemas.openxmlformats.org/officeDocument/2006/relationships/slideLayout" Target="../slideLayouts/slideLayout3.xml"/><Relationship Id="rId9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417320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89D1FF"/>
                </a:solidFill>
              </a:rPr>
              <a:t>MÓDULO 05 · AULA 07 DE 11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828800"/>
            <a:ext cx="6949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Tabelas: cores, ações e responsividade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794760"/>
            <a:ext cx="6583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D1EFFF"/>
                </a:solidFill>
              </a:rPr>
              <a:t>Criticality para destacar o status, ações padrão e próprias na toolbar e tabelas que se adaptam a cada tela.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8183880" y="1325880"/>
            <a:ext cx="3246120" cy="3246120"/>
          </a:xfrm>
          <a:prstGeom prst="roundRect">
            <a:avLst>
              <a:gd name="adj" fmla="val 15493"/>
            </a:avLst>
          </a:prstGeom>
          <a:solidFill>
            <a:srgbClr val="1B3A7A"/>
          </a:solidFill>
          <a:ln/>
        </p:spPr>
      </p:sp>
      <p:sp>
        <p:nvSpPr>
          <p:cNvPr id="6" name="Shape 4"/>
          <p:cNvSpPr/>
          <p:nvPr/>
        </p:nvSpPr>
        <p:spPr>
          <a:xfrm>
            <a:off x="8732520" y="1874520"/>
            <a:ext cx="2148840" cy="2148840"/>
          </a:xfrm>
          <a:prstGeom prst="roundRect">
            <a:avLst>
              <a:gd name="adj" fmla="val 17021"/>
            </a:avLst>
          </a:prstGeom>
          <a:solidFill>
            <a:srgbClr val="0070F2"/>
          </a:solidFill>
          <a:ln/>
        </p:spPr>
      </p:sp>
      <p:sp>
        <p:nvSpPr>
          <p:cNvPr id="7" name="Shape 5"/>
          <p:cNvSpPr/>
          <p:nvPr/>
        </p:nvSpPr>
        <p:spPr>
          <a:xfrm>
            <a:off x="8183880" y="4937760"/>
            <a:ext cx="211975" cy="82296"/>
          </a:xfrm>
          <a:prstGeom prst="roundRect">
            <a:avLst>
              <a:gd name="adj" fmla="val 44444"/>
            </a:avLst>
          </a:prstGeom>
          <a:solidFill>
            <a:srgbClr val="2E5299"/>
          </a:solidFill>
          <a:ln/>
        </p:spPr>
      </p:sp>
      <p:sp>
        <p:nvSpPr>
          <p:cNvPr id="8" name="Shape 6"/>
          <p:cNvSpPr/>
          <p:nvPr/>
        </p:nvSpPr>
        <p:spPr>
          <a:xfrm>
            <a:off x="8487295" y="4937760"/>
            <a:ext cx="211975" cy="82296"/>
          </a:xfrm>
          <a:prstGeom prst="roundRect">
            <a:avLst>
              <a:gd name="adj" fmla="val 44444"/>
            </a:avLst>
          </a:prstGeom>
          <a:solidFill>
            <a:srgbClr val="2E5299"/>
          </a:solidFill>
          <a:ln/>
        </p:spPr>
      </p:sp>
      <p:sp>
        <p:nvSpPr>
          <p:cNvPr id="9" name="Shape 7"/>
          <p:cNvSpPr/>
          <p:nvPr/>
        </p:nvSpPr>
        <p:spPr>
          <a:xfrm>
            <a:off x="8790709" y="4937760"/>
            <a:ext cx="211975" cy="82296"/>
          </a:xfrm>
          <a:prstGeom prst="roundRect">
            <a:avLst>
              <a:gd name="adj" fmla="val 44444"/>
            </a:avLst>
          </a:prstGeom>
          <a:solidFill>
            <a:srgbClr val="2E5299"/>
          </a:solidFill>
          <a:ln/>
        </p:spPr>
      </p:sp>
      <p:sp>
        <p:nvSpPr>
          <p:cNvPr id="10" name="Shape 8"/>
          <p:cNvSpPr/>
          <p:nvPr/>
        </p:nvSpPr>
        <p:spPr>
          <a:xfrm>
            <a:off x="9094124" y="4937760"/>
            <a:ext cx="211975" cy="82296"/>
          </a:xfrm>
          <a:prstGeom prst="roundRect">
            <a:avLst>
              <a:gd name="adj" fmla="val 44444"/>
            </a:avLst>
          </a:prstGeom>
          <a:solidFill>
            <a:srgbClr val="2E5299"/>
          </a:solidFill>
          <a:ln/>
        </p:spPr>
      </p:sp>
      <p:sp>
        <p:nvSpPr>
          <p:cNvPr id="11" name="Shape 9"/>
          <p:cNvSpPr/>
          <p:nvPr/>
        </p:nvSpPr>
        <p:spPr>
          <a:xfrm>
            <a:off x="9397538" y="4937760"/>
            <a:ext cx="211975" cy="82296"/>
          </a:xfrm>
          <a:prstGeom prst="roundRect">
            <a:avLst>
              <a:gd name="adj" fmla="val 44444"/>
            </a:avLst>
          </a:prstGeom>
          <a:solidFill>
            <a:srgbClr val="2E5299"/>
          </a:solidFill>
          <a:ln/>
        </p:spPr>
      </p:sp>
      <p:sp>
        <p:nvSpPr>
          <p:cNvPr id="12" name="Shape 10"/>
          <p:cNvSpPr/>
          <p:nvPr/>
        </p:nvSpPr>
        <p:spPr>
          <a:xfrm>
            <a:off x="9700953" y="4937760"/>
            <a:ext cx="211975" cy="82296"/>
          </a:xfrm>
          <a:prstGeom prst="roundRect">
            <a:avLst>
              <a:gd name="adj" fmla="val 44444"/>
            </a:avLst>
          </a:prstGeom>
          <a:solidFill>
            <a:srgbClr val="2E5299"/>
          </a:solidFill>
          <a:ln/>
        </p:spPr>
      </p:sp>
      <p:sp>
        <p:nvSpPr>
          <p:cNvPr id="13" name="Shape 11"/>
          <p:cNvSpPr/>
          <p:nvPr/>
        </p:nvSpPr>
        <p:spPr>
          <a:xfrm>
            <a:off x="10004367" y="4937760"/>
            <a:ext cx="211975" cy="82296"/>
          </a:xfrm>
          <a:prstGeom prst="roundRect">
            <a:avLst>
              <a:gd name="adj" fmla="val 44444"/>
            </a:avLst>
          </a:prstGeom>
          <a:solidFill>
            <a:srgbClr val="89D1FF"/>
          </a:solidFill>
          <a:ln/>
        </p:spPr>
      </p:sp>
      <p:sp>
        <p:nvSpPr>
          <p:cNvPr id="14" name="Shape 12"/>
          <p:cNvSpPr/>
          <p:nvPr/>
        </p:nvSpPr>
        <p:spPr>
          <a:xfrm>
            <a:off x="10307782" y="4937760"/>
            <a:ext cx="211975" cy="82296"/>
          </a:xfrm>
          <a:prstGeom prst="roundRect">
            <a:avLst>
              <a:gd name="adj" fmla="val 44444"/>
            </a:avLst>
          </a:prstGeom>
          <a:solidFill>
            <a:srgbClr val="2E5299"/>
          </a:solidFill>
          <a:ln/>
        </p:spPr>
      </p:sp>
      <p:sp>
        <p:nvSpPr>
          <p:cNvPr id="15" name="Shape 13"/>
          <p:cNvSpPr/>
          <p:nvPr/>
        </p:nvSpPr>
        <p:spPr>
          <a:xfrm>
            <a:off x="10611196" y="4937760"/>
            <a:ext cx="211975" cy="82296"/>
          </a:xfrm>
          <a:prstGeom prst="roundRect">
            <a:avLst>
              <a:gd name="adj" fmla="val 44444"/>
            </a:avLst>
          </a:prstGeom>
          <a:solidFill>
            <a:srgbClr val="2E5299"/>
          </a:solidFill>
          <a:ln/>
        </p:spPr>
      </p:sp>
      <p:sp>
        <p:nvSpPr>
          <p:cNvPr id="16" name="Shape 14"/>
          <p:cNvSpPr/>
          <p:nvPr/>
        </p:nvSpPr>
        <p:spPr>
          <a:xfrm>
            <a:off x="10914611" y="4937760"/>
            <a:ext cx="211975" cy="82296"/>
          </a:xfrm>
          <a:prstGeom prst="roundRect">
            <a:avLst>
              <a:gd name="adj" fmla="val 44444"/>
            </a:avLst>
          </a:prstGeom>
          <a:solidFill>
            <a:srgbClr val="2E5299"/>
          </a:solidFill>
          <a:ln/>
        </p:spPr>
      </p:sp>
      <p:sp>
        <p:nvSpPr>
          <p:cNvPr id="17" name="Shape 15"/>
          <p:cNvSpPr/>
          <p:nvPr/>
        </p:nvSpPr>
        <p:spPr>
          <a:xfrm>
            <a:off x="11218025" y="4937760"/>
            <a:ext cx="211975" cy="82296"/>
          </a:xfrm>
          <a:prstGeom prst="roundRect">
            <a:avLst>
              <a:gd name="adj" fmla="val 44444"/>
            </a:avLst>
          </a:prstGeom>
          <a:solidFill>
            <a:srgbClr val="2E5299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183880" y="512064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1EFFF"/>
                </a:solidFill>
              </a:rPr>
              <a:t>Aula 7 de 11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731520" y="59893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FA3C7"/>
                </a:solidFill>
              </a:rPr>
              <a:t>ABAP Moderno · Módulo 05 — SAP Fiori Elements com OData V4 · Design System SAP Horizon</a:t>
            </a:r>
            <a:endParaRPr lang="en-US" sz="1100" dirty="0"/>
          </a:p>
        </p:txBody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6880" y="2468880"/>
            <a:ext cx="960120" cy="9601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64D9"/>
                </a:solidFill>
              </a:rPr>
              <a:t>A SÉRIE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D3E"/>
                </a:solidFill>
              </a:rPr>
              <a:t>Módulo 05 em 11 aulas: Fiori Elements com OData V4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1696669" cy="1828800"/>
          </a:xfrm>
          <a:prstGeom prst="roundRect">
            <a:avLst>
              <a:gd name="adj" fmla="val 5389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13232" y="1828800"/>
            <a:ext cx="384048" cy="384048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13232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0064D9"/>
                </a:solidFill>
              </a:rPr>
              <a:t>1</a:t>
            </a:r>
            <a:endParaRPr lang="en-US" sz="1260" dirty="0"/>
          </a:p>
        </p:txBody>
      </p:sp>
      <p:sp>
        <p:nvSpPr>
          <p:cNvPr id="7" name="Text 5"/>
          <p:cNvSpPr txBox="1"/>
          <p:nvPr/>
        </p:nvSpPr>
        <p:spPr>
          <a:xfrm>
            <a:off x="713232" y="2331720"/>
            <a:ext cx="136748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Fiori Elements e OData V4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713232" y="2788920"/>
            <a:ext cx="136748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Apps guiados por metadados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428189" y="1645920"/>
            <a:ext cx="1696669" cy="1828800"/>
          </a:xfrm>
          <a:prstGeom prst="roundRect">
            <a:avLst>
              <a:gd name="adj" fmla="val 5389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592781" y="1828800"/>
            <a:ext cx="384048" cy="384048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2592781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0064D9"/>
                </a:solidFill>
              </a:rPr>
              <a:t>2</a:t>
            </a:r>
            <a:endParaRPr lang="en-US" sz="1260" dirty="0"/>
          </a:p>
        </p:txBody>
      </p:sp>
      <p:sp>
        <p:nvSpPr>
          <p:cNvPr id="12" name="Text 10"/>
          <p:cNvSpPr txBox="1"/>
          <p:nvPr/>
        </p:nvSpPr>
        <p:spPr>
          <a:xfrm>
            <a:off x="2592781" y="2331720"/>
            <a:ext cx="136748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Exposição de serviços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2592781" y="2788920"/>
            <a:ext cx="136748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Service definition e service binding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307738" y="1645920"/>
            <a:ext cx="1696669" cy="1828800"/>
          </a:xfrm>
          <a:prstGeom prst="roundRect">
            <a:avLst>
              <a:gd name="adj" fmla="val 5389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472330" y="1828800"/>
            <a:ext cx="384048" cy="384048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4472330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0064D9"/>
                </a:solidFill>
              </a:rPr>
              <a:t>3</a:t>
            </a:r>
            <a:endParaRPr lang="en-US" sz="1260" dirty="0"/>
          </a:p>
        </p:txBody>
      </p:sp>
      <p:sp>
        <p:nvSpPr>
          <p:cNvPr id="17" name="Text 15"/>
          <p:cNvSpPr txBox="1"/>
          <p:nvPr/>
        </p:nvSpPr>
        <p:spPr>
          <a:xfrm>
            <a:off x="4472330" y="2331720"/>
            <a:ext cx="136748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Anotações de UI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4472330" y="2788920"/>
            <a:ext cx="136748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headerInfo, lineItem, selectionField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187288" y="1645920"/>
            <a:ext cx="1696669" cy="1828800"/>
          </a:xfrm>
          <a:prstGeom prst="roundRect">
            <a:avLst>
              <a:gd name="adj" fmla="val 5389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351880" y="1828800"/>
            <a:ext cx="384048" cy="384048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351880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0064D9"/>
                </a:solidFill>
              </a:rPr>
              <a:t>4</a:t>
            </a:r>
            <a:endParaRPr lang="en-US" sz="1260" dirty="0"/>
          </a:p>
        </p:txBody>
      </p:sp>
      <p:sp>
        <p:nvSpPr>
          <p:cNvPr id="22" name="Text 20"/>
          <p:cNvSpPr txBox="1"/>
          <p:nvPr/>
        </p:nvSpPr>
        <p:spPr>
          <a:xfrm>
            <a:off x="6351880" y="2331720"/>
            <a:ext cx="136748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SAP Fiori Tools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6351880" y="2788920"/>
            <a:ext cx="136748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Gerador, Page Map e Guided Development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8066837" y="1645920"/>
            <a:ext cx="1696669" cy="1828800"/>
          </a:xfrm>
          <a:prstGeom prst="roundRect">
            <a:avLst>
              <a:gd name="adj" fmla="val 5389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231429" y="1828800"/>
            <a:ext cx="384048" cy="384048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8231429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0064D9"/>
                </a:solidFill>
              </a:rPr>
              <a:t>5</a:t>
            </a:r>
            <a:endParaRPr lang="en-US" sz="1260" dirty="0"/>
          </a:p>
        </p:txBody>
      </p:sp>
      <p:sp>
        <p:nvSpPr>
          <p:cNvPr id="27" name="Text 25"/>
          <p:cNvSpPr txBox="1"/>
          <p:nvPr/>
        </p:nvSpPr>
        <p:spPr>
          <a:xfrm>
            <a:off x="8231429" y="2331720"/>
            <a:ext cx="136748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Floorplans</a:t>
            </a:r>
            <a:endParaRPr lang="en-US" sz="1350" dirty="0"/>
          </a:p>
        </p:txBody>
      </p:sp>
      <p:sp>
        <p:nvSpPr>
          <p:cNvPr id="28" name="Text 26"/>
          <p:cNvSpPr txBox="1"/>
          <p:nvPr/>
        </p:nvSpPr>
        <p:spPr>
          <a:xfrm>
            <a:off x="8231429" y="2788920"/>
            <a:ext cx="136748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List Report, Object Page e facetas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9946386" y="1645920"/>
            <a:ext cx="1696669" cy="1828800"/>
          </a:xfrm>
          <a:prstGeom prst="roundRect">
            <a:avLst>
              <a:gd name="adj" fmla="val 5389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10110978" y="1828800"/>
            <a:ext cx="384048" cy="384048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10110978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0064D9"/>
                </a:solidFill>
              </a:rPr>
              <a:t>6</a:t>
            </a:r>
            <a:endParaRPr lang="en-US" sz="1260" dirty="0"/>
          </a:p>
        </p:txBody>
      </p:sp>
      <p:sp>
        <p:nvSpPr>
          <p:cNvPr id="32" name="Text 30"/>
          <p:cNvSpPr txBox="1"/>
          <p:nvPr/>
        </p:nvSpPr>
        <p:spPr>
          <a:xfrm>
            <a:off x="10110978" y="2331720"/>
            <a:ext cx="136748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List Report e Object Page</a:t>
            </a:r>
            <a:endParaRPr lang="en-US" sz="1350" dirty="0"/>
          </a:p>
        </p:txBody>
      </p:sp>
      <p:sp>
        <p:nvSpPr>
          <p:cNvPr id="33" name="Text 31"/>
          <p:cNvSpPr txBox="1"/>
          <p:nvPr/>
        </p:nvSpPr>
        <p:spPr>
          <a:xfrm>
            <a:off x="10110978" y="2788920"/>
            <a:ext cx="136748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Ordenação, seções e field groups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3657600"/>
            <a:ext cx="1696669" cy="1828800"/>
          </a:xfrm>
          <a:prstGeom prst="roundRect">
            <a:avLst>
              <a:gd name="adj" fmla="val 5389"/>
            </a:avLst>
          </a:prstGeom>
          <a:solidFill>
            <a:srgbClr val="FFFFFF"/>
          </a:solidFill>
          <a:ln w="25400">
            <a:solidFill>
              <a:srgbClr val="0070F2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713232" y="3840480"/>
            <a:ext cx="384048" cy="384048"/>
          </a:xfrm>
          <a:prstGeom prst="ellipse">
            <a:avLst/>
          </a:prstGeom>
          <a:solidFill>
            <a:srgbClr val="0070F2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713232" y="3840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FFFFFF"/>
                </a:solidFill>
              </a:rPr>
              <a:t>7</a:t>
            </a:r>
            <a:endParaRPr lang="en-US" sz="1260" dirty="0"/>
          </a:p>
        </p:txBody>
      </p:sp>
      <p:sp>
        <p:nvSpPr>
          <p:cNvPr id="37" name="Text 35"/>
          <p:cNvSpPr txBox="1"/>
          <p:nvPr/>
        </p:nvSpPr>
        <p:spPr>
          <a:xfrm>
            <a:off x="713232" y="4343400"/>
            <a:ext cx="136748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Tabelas: cores e ações</a:t>
            </a:r>
            <a:endParaRPr lang="en-US" sz="1350" dirty="0"/>
          </a:p>
        </p:txBody>
      </p:sp>
      <p:sp>
        <p:nvSpPr>
          <p:cNvPr id="38" name="Shape 36"/>
          <p:cNvSpPr/>
          <p:nvPr/>
        </p:nvSpPr>
        <p:spPr>
          <a:xfrm>
            <a:off x="713232" y="4864608"/>
            <a:ext cx="1367485" cy="256032"/>
          </a:xfrm>
          <a:prstGeom prst="roundRect">
            <a:avLst>
              <a:gd name="adj" fmla="val 50000"/>
            </a:avLst>
          </a:prstGeom>
          <a:solidFill>
            <a:srgbClr val="E1F4FF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713232" y="4864608"/>
            <a:ext cx="136748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64D9"/>
                </a:solidFill>
              </a:rPr>
              <a:t>Você está aqui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2428189" y="3657600"/>
            <a:ext cx="1696669" cy="1828800"/>
          </a:xfrm>
          <a:prstGeom prst="roundRect">
            <a:avLst>
              <a:gd name="adj" fmla="val 5389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2592781" y="3840480"/>
            <a:ext cx="384048" cy="384048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2592781" y="3840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0064D9"/>
                </a:solidFill>
              </a:rPr>
              <a:t>8</a:t>
            </a:r>
            <a:endParaRPr lang="en-US" sz="1260" dirty="0"/>
          </a:p>
        </p:txBody>
      </p:sp>
      <p:sp>
        <p:nvSpPr>
          <p:cNvPr id="43" name="Text 41"/>
          <p:cNvSpPr txBox="1"/>
          <p:nvPr/>
        </p:nvSpPr>
        <p:spPr>
          <a:xfrm>
            <a:off x="2592781" y="4343400"/>
            <a:ext cx="136748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Navegação</a:t>
            </a:r>
            <a:endParaRPr lang="en-US" sz="1350" dirty="0"/>
          </a:p>
        </p:txBody>
      </p:sp>
      <p:sp>
        <p:nvSpPr>
          <p:cNvPr id="44" name="Text 42"/>
          <p:cNvSpPr txBox="1"/>
          <p:nvPr/>
        </p:nvSpPr>
        <p:spPr>
          <a:xfrm>
            <a:off x="2592781" y="4800600"/>
            <a:ext cx="136748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Interna, externa e baseada em intenção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4307738" y="3657600"/>
            <a:ext cx="1696669" cy="1828800"/>
          </a:xfrm>
          <a:prstGeom prst="roundRect">
            <a:avLst>
              <a:gd name="adj" fmla="val 5389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4472330" y="3840480"/>
            <a:ext cx="384048" cy="384048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47" name="Text 45"/>
          <p:cNvSpPr txBox="1"/>
          <p:nvPr/>
        </p:nvSpPr>
        <p:spPr>
          <a:xfrm>
            <a:off x="4472330" y="3840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0064D9"/>
                </a:solidFill>
              </a:rPr>
              <a:t>9</a:t>
            </a:r>
            <a:endParaRPr lang="en-US" sz="1260" dirty="0"/>
          </a:p>
        </p:txBody>
      </p:sp>
      <p:sp>
        <p:nvSpPr>
          <p:cNvPr id="48" name="Text 46"/>
          <p:cNvSpPr txBox="1"/>
          <p:nvPr/>
        </p:nvSpPr>
        <p:spPr>
          <a:xfrm>
            <a:off x="4472330" y="4343400"/>
            <a:ext cx="136748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Object Page avançada</a:t>
            </a:r>
            <a:endParaRPr lang="en-US" sz="1350" dirty="0"/>
          </a:p>
        </p:txBody>
      </p:sp>
      <p:sp>
        <p:nvSpPr>
          <p:cNvPr id="49" name="Text 47"/>
          <p:cNvSpPr txBox="1"/>
          <p:nvPr/>
        </p:nvSpPr>
        <p:spPr>
          <a:xfrm>
            <a:off x="4472330" y="4800600"/>
            <a:ext cx="136748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Header facets, visibilidade e tabelas filhas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6187288" y="3657600"/>
            <a:ext cx="1696669" cy="1828800"/>
          </a:xfrm>
          <a:prstGeom prst="roundRect">
            <a:avLst>
              <a:gd name="adj" fmla="val 5389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6351880" y="3840480"/>
            <a:ext cx="384048" cy="384048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52" name="Text 50"/>
          <p:cNvSpPr txBox="1"/>
          <p:nvPr/>
        </p:nvSpPr>
        <p:spPr>
          <a:xfrm>
            <a:off x="6351880" y="3840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0064D9"/>
                </a:solidFill>
              </a:rPr>
              <a:t>10</a:t>
            </a:r>
            <a:endParaRPr lang="en-US" sz="1260" dirty="0"/>
          </a:p>
        </p:txBody>
      </p:sp>
      <p:sp>
        <p:nvSpPr>
          <p:cNvPr id="53" name="Text 51"/>
          <p:cNvSpPr txBox="1"/>
          <p:nvPr/>
        </p:nvSpPr>
        <p:spPr>
          <a:xfrm>
            <a:off x="6351880" y="4343400"/>
            <a:ext cx="136748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Programação flexível</a:t>
            </a:r>
            <a:endParaRPr lang="en-US" sz="1350" dirty="0"/>
          </a:p>
        </p:txBody>
      </p:sp>
      <p:sp>
        <p:nvSpPr>
          <p:cNvPr id="54" name="Text 52"/>
          <p:cNvSpPr txBox="1"/>
          <p:nvPr/>
        </p:nvSpPr>
        <p:spPr>
          <a:xfrm>
            <a:off x="6351880" y="4800600"/>
            <a:ext cx="136748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Flexible Programming Model e building blocks</a:t>
            </a:r>
            <a:endParaRPr lang="en-US" sz="1050" dirty="0"/>
          </a:p>
        </p:txBody>
      </p:sp>
      <p:sp>
        <p:nvSpPr>
          <p:cNvPr id="55" name="Shape 53"/>
          <p:cNvSpPr/>
          <p:nvPr/>
        </p:nvSpPr>
        <p:spPr>
          <a:xfrm>
            <a:off x="8066837" y="3657600"/>
            <a:ext cx="1696669" cy="1828800"/>
          </a:xfrm>
          <a:prstGeom prst="roundRect">
            <a:avLst>
              <a:gd name="adj" fmla="val 5389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56" name="Shape 54"/>
          <p:cNvSpPr/>
          <p:nvPr/>
        </p:nvSpPr>
        <p:spPr>
          <a:xfrm>
            <a:off x="8231429" y="3840480"/>
            <a:ext cx="384048" cy="384048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57" name="Text 55"/>
          <p:cNvSpPr txBox="1"/>
          <p:nvPr/>
        </p:nvSpPr>
        <p:spPr>
          <a:xfrm>
            <a:off x="8231429" y="3840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0064D9"/>
                </a:solidFill>
              </a:rPr>
              <a:t>11</a:t>
            </a:r>
            <a:endParaRPr lang="en-US" sz="1260" dirty="0"/>
          </a:p>
        </p:txBody>
      </p:sp>
      <p:sp>
        <p:nvSpPr>
          <p:cNvPr id="58" name="Text 56"/>
          <p:cNvSpPr txBox="1"/>
          <p:nvPr/>
        </p:nvSpPr>
        <p:spPr>
          <a:xfrm>
            <a:off x="8231429" y="4343400"/>
            <a:ext cx="136748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Deploy</a:t>
            </a:r>
            <a:endParaRPr lang="en-US" sz="1350" dirty="0"/>
          </a:p>
        </p:txBody>
      </p:sp>
      <p:sp>
        <p:nvSpPr>
          <p:cNvPr id="59" name="Text 57"/>
          <p:cNvSpPr txBox="1"/>
          <p:nvPr/>
        </p:nvSpPr>
        <p:spPr>
          <a:xfrm>
            <a:off x="8231429" y="4800600"/>
            <a:ext cx="136748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Publicação, launchpad e acesso</a:t>
            </a:r>
            <a:endParaRPr lang="en-US" sz="1050" dirty="0"/>
          </a:p>
        </p:txBody>
      </p:sp>
      <p:sp>
        <p:nvSpPr>
          <p:cNvPr id="60" name="Shape 58"/>
          <p:cNvSpPr/>
          <p:nvPr/>
        </p:nvSpPr>
        <p:spPr>
          <a:xfrm>
            <a:off x="548640" y="5623560"/>
            <a:ext cx="11094415" cy="566928"/>
          </a:xfrm>
          <a:prstGeom prst="roundRect">
            <a:avLst>
              <a:gd name="adj" fmla="val 12903"/>
            </a:avLst>
          </a:prstGeom>
          <a:solidFill>
            <a:srgbClr val="E1F4FF"/>
          </a:solidFill>
          <a:ln/>
        </p:spPr>
      </p:sp>
      <p:sp>
        <p:nvSpPr>
          <p:cNvPr id="61" name="Text 59"/>
          <p:cNvSpPr txBox="1"/>
          <p:nvPr/>
        </p:nvSpPr>
        <p:spPr>
          <a:xfrm>
            <a:off x="1207008" y="5623560"/>
            <a:ext cx="102257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64D9"/>
                </a:solidFill>
              </a:rPr>
              <a:t>Nesta aula  </a:t>
            </a:r>
            <a:r>
              <a:rPr lang="en-US" sz="1200" dirty="0">
                <a:solidFill>
                  <a:srgbClr val="1D2D3E"/>
                </a:solidFill>
              </a:rPr>
              <a:t>pintamos o status dos pedidos, colocamos as ações Efetuar Pagamento, Aprovar e Cancelar na tabela e a ajustamos para telas pequenas.</a:t>
            </a:r>
            <a:endParaRPr lang="en-US" sz="1400" dirty="0"/>
          </a:p>
        </p:txBody>
      </p:sp>
      <p:pic>
        <p:nvPicPr>
          <p:cNvPr id="6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76218" y="1847088"/>
            <a:ext cx="347472" cy="347472"/>
          </a:xfrm>
          <a:prstGeom prst="rect">
            <a:avLst/>
          </a:prstGeom>
        </p:spPr>
      </p:pic>
      <p:pic>
        <p:nvPicPr>
          <p:cNvPr id="6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6669" y="1847088"/>
            <a:ext cx="347472" cy="347472"/>
          </a:xfrm>
          <a:prstGeom prst="rect">
            <a:avLst/>
          </a:prstGeom>
        </p:spPr>
      </p:pic>
      <p:pic>
        <p:nvPicPr>
          <p:cNvPr id="6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55768" y="1847088"/>
            <a:ext cx="347472" cy="347472"/>
          </a:xfrm>
          <a:prstGeom prst="rect">
            <a:avLst/>
          </a:prstGeom>
        </p:spPr>
      </p:pic>
      <p:pic>
        <p:nvPicPr>
          <p:cNvPr id="6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35317" y="1847088"/>
            <a:ext cx="347472" cy="347472"/>
          </a:xfrm>
          <a:prstGeom prst="rect">
            <a:avLst/>
          </a:prstGeom>
        </p:spPr>
      </p:pic>
      <p:pic>
        <p:nvPicPr>
          <p:cNvPr id="6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94415" y="1847088"/>
            <a:ext cx="347472" cy="347472"/>
          </a:xfrm>
          <a:prstGeom prst="rect">
            <a:avLst/>
          </a:prstGeom>
        </p:spPr>
      </p:pic>
      <p:pic>
        <p:nvPicPr>
          <p:cNvPr id="6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14866" y="1847088"/>
            <a:ext cx="347472" cy="347472"/>
          </a:xfrm>
          <a:prstGeom prst="rect">
            <a:avLst/>
          </a:prstGeom>
        </p:spPr>
      </p:pic>
      <p:pic>
        <p:nvPicPr>
          <p:cNvPr id="6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96669" y="3858768"/>
            <a:ext cx="347472" cy="347472"/>
          </a:xfrm>
          <a:prstGeom prst="rect">
            <a:avLst/>
          </a:prstGeom>
        </p:spPr>
      </p:pic>
      <p:pic>
        <p:nvPicPr>
          <p:cNvPr id="6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576218" y="3858768"/>
            <a:ext cx="347472" cy="347472"/>
          </a:xfrm>
          <a:prstGeom prst="rect">
            <a:avLst/>
          </a:prstGeom>
        </p:spPr>
      </p:pic>
      <p:pic>
        <p:nvPicPr>
          <p:cNvPr id="7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455768" y="3858768"/>
            <a:ext cx="347472" cy="347472"/>
          </a:xfrm>
          <a:prstGeom prst="rect">
            <a:avLst/>
          </a:prstGeom>
        </p:spPr>
      </p:pic>
      <p:pic>
        <p:nvPicPr>
          <p:cNvPr id="7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335317" y="3858768"/>
            <a:ext cx="347472" cy="347472"/>
          </a:xfrm>
          <a:prstGeom prst="rect">
            <a:avLst/>
          </a:prstGeom>
        </p:spPr>
      </p:pic>
      <p:pic>
        <p:nvPicPr>
          <p:cNvPr id="7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214866" y="3858768"/>
            <a:ext cx="347472" cy="347472"/>
          </a:xfrm>
          <a:prstGeom prst="rect">
            <a:avLst/>
          </a:prstGeom>
        </p:spPr>
      </p:pic>
      <p:pic>
        <p:nvPicPr>
          <p:cNvPr id="73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49808" y="5751576"/>
            <a:ext cx="310896" cy="310896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64D9"/>
                </a:solidFill>
              </a:rPr>
              <a:t>VISÃO GERAL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D3E"/>
                </a:solidFill>
              </a:rPr>
              <a:t>Uma tabela que ajuda a decidir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56B82"/>
                </a:solidFill>
              </a:rPr>
              <a:t>Uma tabela de pedidos bem configurada mostra </a:t>
            </a:r>
            <a:r>
              <a:rPr lang="en-US" sz="1500" b="1" dirty="0">
                <a:solidFill>
                  <a:srgbClr val="556B82"/>
                </a:solidFill>
              </a:rPr>
              <a:t>o que precisa de atenção</a:t>
            </a:r>
            <a:r>
              <a:rPr lang="en-US" sz="1500" dirty="0">
                <a:solidFill>
                  <a:srgbClr val="556B82"/>
                </a:solidFill>
              </a:rPr>
              <a:t>, permite </a:t>
            </a:r>
            <a:r>
              <a:rPr lang="en-US" sz="1500" b="1" dirty="0">
                <a:solidFill>
                  <a:srgbClr val="556B82"/>
                </a:solidFill>
              </a:rPr>
              <a:t>agir ali mesmo</a:t>
            </a:r>
            <a:r>
              <a:rPr lang="en-US" sz="1500" dirty="0">
                <a:solidFill>
                  <a:srgbClr val="556B82"/>
                </a:solidFill>
              </a:rPr>
              <a:t> e funciona em qualquer dispositivo.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3223514"/>
            <a:ext cx="3545738" cy="1919732"/>
          </a:xfrm>
          <a:prstGeom prst="roundRect">
            <a:avLst>
              <a:gd name="adj" fmla="val 4763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49808" y="3424682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1F4F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49808" y="4028186"/>
            <a:ext cx="3143402" cy="10053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1D2D3E"/>
                </a:solidFill>
              </a:rPr>
              <a:t>Cores com significado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556B82"/>
                </a:solidFill>
              </a:rPr>
              <a:t>Status verde, amarelo ou vermelho com ícone, sem o usuário ler código.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322978" y="3223514"/>
            <a:ext cx="3545738" cy="1919732"/>
          </a:xfrm>
          <a:prstGeom prst="roundRect">
            <a:avLst>
              <a:gd name="adj" fmla="val 4763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24146" y="3424682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1F4F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524146" y="4028186"/>
            <a:ext cx="3143402" cy="10053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1D2D3E"/>
                </a:solidFill>
              </a:rPr>
              <a:t>Ações na toolbar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556B82"/>
                </a:solidFill>
              </a:rPr>
              <a:t>Criar, excluir e ações de negócio sobre as linhas selecionadas.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097317" y="3223514"/>
            <a:ext cx="3545738" cy="1919732"/>
          </a:xfrm>
          <a:prstGeom prst="roundRect">
            <a:avLst>
              <a:gd name="adj" fmla="val 4763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8298485" y="3424682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1F4F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298485" y="4028186"/>
            <a:ext cx="3143402" cy="10053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1D2D3E"/>
                </a:solidFill>
              </a:rPr>
              <a:t>Responsiva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556B82"/>
                </a:solidFill>
              </a:rPr>
              <a:t>Colunas importantes ficam; as demais se escondem em telas pequenas.</a:t>
            </a:r>
            <a:endParaRPr lang="en-US" sz="1400" dirty="0"/>
          </a:p>
        </p:txBody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24730" y="3525266"/>
            <a:ext cx="256032" cy="256032"/>
          </a:xfrm>
          <a:prstGeom prst="rect">
            <a:avLst/>
          </a:prstGeom>
        </p:spPr>
      </p:pic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392" y="3525266"/>
            <a:ext cx="256032" cy="256032"/>
          </a:xfrm>
          <a:prstGeom prst="rect">
            <a:avLst/>
          </a:prstGeom>
        </p:spPr>
      </p:pic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9069" y="3525266"/>
            <a:ext cx="256032" cy="25603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548640"/>
            <a:ext cx="731520" cy="731520"/>
          </a:xfrm>
          <a:prstGeom prst="roundRect">
            <a:avLst>
              <a:gd name="adj" fmla="val 20000"/>
            </a:avLst>
          </a:prstGeom>
          <a:solidFill>
            <a:srgbClr val="1B3A7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31520" y="160020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9D1FF"/>
                </a:solidFill>
              </a:rPr>
              <a:t>AULA 05.07 · SEÇÃO 1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965960"/>
            <a:ext cx="67665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Cores com criticality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3703320"/>
            <a:ext cx="6583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1EFFF"/>
                </a:solidFill>
              </a:rPr>
              <a:t>A cor vem de um </a:t>
            </a:r>
            <a:r>
              <a:rPr lang="en-US" sz="1600" b="1" dirty="0">
                <a:solidFill>
                  <a:srgbClr val="D1EFFF"/>
                </a:solidFill>
              </a:rPr>
              <a:t>campo numérico</a:t>
            </a:r>
            <a:r>
              <a:rPr lang="en-US" sz="1600" dirty="0">
                <a:solidFill>
                  <a:srgbClr val="D1EFFF"/>
                </a:solidFill>
              </a:rPr>
              <a:t> calculado no back-end e referenciado pela anotação com a propriedade </a:t>
            </a:r>
            <a:r>
              <a:rPr lang="en-US" sz="1600" dirty="0">
                <a:solidFill>
                  <a:srgbClr val="89D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criticality</a:t>
            </a:r>
            <a:r>
              <a:rPr lang="en-US" sz="1600" dirty="0">
                <a:solidFill>
                  <a:srgbClr val="D1EFFF"/>
                </a:solidFill>
              </a:rPr>
              <a:t>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001000" y="1463040"/>
            <a:ext cx="3611880" cy="2221992"/>
          </a:xfrm>
          <a:prstGeom prst="roundRect">
            <a:avLst>
              <a:gd name="adj" fmla="val 4115"/>
            </a:avLst>
          </a:prstGeom>
          <a:solidFill>
            <a:srgbClr val="1B3A7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0" y="16459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89D1FF"/>
                </a:solidFill>
              </a:rPr>
              <a:t>NESTA SEÇÃO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8229600" y="2029968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Campo 0–3</a:t>
            </a:r>
            <a:r>
              <a:rPr lang="en-US" sz="1000" dirty="0">
                <a:solidFill>
                  <a:srgbClr val="D1EFFF"/>
                </a:solidFill>
              </a:rPr>
              <a:t>  no CDS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229600" y="2414016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criticality</a:t>
            </a:r>
            <a:r>
              <a:rPr lang="en-US" sz="1000" dirty="0">
                <a:solidFill>
                  <a:srgbClr val="D1EFFF"/>
                </a:solidFill>
              </a:rPr>
              <a:t>  na anotação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229600" y="2798064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Ícone</a:t>
            </a:r>
            <a:r>
              <a:rPr lang="en-US" sz="1000" dirty="0">
                <a:solidFill>
                  <a:srgbClr val="D1EFFF"/>
                </a:solidFill>
              </a:rPr>
              <a:t>  automático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8229600" y="3182112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Representation</a:t>
            </a:r>
            <a:r>
              <a:rPr lang="en-US" sz="1000" dirty="0">
                <a:solidFill>
                  <a:srgbClr val="D1EFFF"/>
                </a:solidFill>
              </a:rPr>
              <a:t>  com ou sem ícone</a:t>
            </a:r>
            <a:endParaRPr lang="en-US" sz="140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713232"/>
            <a:ext cx="402336" cy="40233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64D9"/>
                </a:solidFill>
              </a:rPr>
              <a:t>CRITICALITY · DOIS PASSOS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D3E"/>
                </a:solidFill>
              </a:rPr>
              <a:t>Calcular no CDS e referenciar na anotação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2377440" cy="274320"/>
          </a:xfrm>
          <a:prstGeom prst="roundRect">
            <a:avLst>
              <a:gd name="adj" fmla="val 50000"/>
            </a:avLst>
          </a:prstGeom>
          <a:solidFill>
            <a:srgbClr val="E1F4F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6459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64D9"/>
                </a:solidFill>
              </a:rPr>
              <a:t>1 · Valor vindo dos dados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2029968"/>
            <a:ext cx="5410048" cy="2002536"/>
          </a:xfrm>
          <a:prstGeom prst="roundRect">
            <a:avLst>
              <a:gd name="adj" fmla="val 3653"/>
            </a:avLst>
          </a:prstGeom>
          <a:solidFill>
            <a:srgbClr val="1F1F1F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66928" y="2048256"/>
            <a:ext cx="5373472" cy="329184"/>
          </a:xfrm>
          <a:prstGeom prst="rect">
            <a:avLst/>
          </a:prstGeom>
          <a:solidFill>
            <a:srgbClr val="2B2B2B"/>
          </a:solidFill>
          <a:ln/>
        </p:spPr>
      </p:sp>
      <p:sp>
        <p:nvSpPr>
          <p:cNvPr id="8" name="Shape 6"/>
          <p:cNvSpPr/>
          <p:nvPr/>
        </p:nvSpPr>
        <p:spPr>
          <a:xfrm>
            <a:off x="640080" y="2084832"/>
            <a:ext cx="2542032" cy="292608"/>
          </a:xfrm>
          <a:prstGeom prst="rect">
            <a:avLst/>
          </a:prstGeom>
          <a:solidFill>
            <a:srgbClr val="1F1F1F"/>
          </a:solidFill>
          <a:ln/>
        </p:spPr>
      </p:sp>
      <p:sp>
        <p:nvSpPr>
          <p:cNvPr id="9" name="Shape 7"/>
          <p:cNvSpPr/>
          <p:nvPr/>
        </p:nvSpPr>
        <p:spPr>
          <a:xfrm>
            <a:off x="640080" y="2084832"/>
            <a:ext cx="2542032" cy="27432"/>
          </a:xfrm>
          <a:prstGeom prst="rect">
            <a:avLst/>
          </a:prstGeom>
          <a:solidFill>
            <a:srgbClr val="0070F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31520" y="2103120"/>
            <a:ext cx="2359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zc_pc_pedido_app.ddls.asddls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2487168"/>
            <a:ext cx="320040" cy="1453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1051560" y="2487168"/>
            <a:ext cx="4769968" cy="1453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i="1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 ZTA_PC_CODELIST (lista STATUS_PEDIDO):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i="1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   ABERTO 0 · AGUARDANDO_APROVACAO 2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i="1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   CANCELADO 1 · FINALIZADO 3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_StatusPedidoTxt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Descricao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StatusPedidoTexto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_StatusPedidoTxt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Criticality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StatusPedidoCriticality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4151376"/>
            <a:ext cx="5410048" cy="2020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B82"/>
                </a:solidFill>
              </a:rPr>
              <a:t>No projeto, a cor de cada status fica na lista de códigos, e a projeção lê pela associação. Um </a:t>
            </a:r>
            <a:r>
              <a:rPr lang="en-US" sz="12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case</a:t>
            </a:r>
            <a:r>
              <a:rPr lang="en-US" sz="1200" dirty="0">
                <a:solidFill>
                  <a:srgbClr val="556B82"/>
                </a:solidFill>
              </a:rPr>
              <a:t> no CDS também serviria.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233008" y="1645920"/>
            <a:ext cx="1331366" cy="274320"/>
          </a:xfrm>
          <a:prstGeom prst="roundRect">
            <a:avLst>
              <a:gd name="adj" fmla="val 50000"/>
            </a:avLst>
          </a:prstGeom>
          <a:solidFill>
            <a:srgbClr val="E1F4FF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233008" y="1645920"/>
            <a:ext cx="133136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64D9"/>
                </a:solidFill>
              </a:rPr>
              <a:t>2 · Anotação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233008" y="2029968"/>
            <a:ext cx="5410048" cy="2002536"/>
          </a:xfrm>
          <a:prstGeom prst="roundRect">
            <a:avLst>
              <a:gd name="adj" fmla="val 3653"/>
            </a:avLst>
          </a:prstGeom>
          <a:solidFill>
            <a:srgbClr val="1F1F1F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251296" y="2048256"/>
            <a:ext cx="5373472" cy="329184"/>
          </a:xfrm>
          <a:prstGeom prst="rect">
            <a:avLst/>
          </a:prstGeom>
          <a:solidFill>
            <a:srgbClr val="2B2B2B"/>
          </a:solidFill>
          <a:ln/>
        </p:spPr>
      </p:sp>
      <p:sp>
        <p:nvSpPr>
          <p:cNvPr id="18" name="Shape 16"/>
          <p:cNvSpPr/>
          <p:nvPr/>
        </p:nvSpPr>
        <p:spPr>
          <a:xfrm>
            <a:off x="6324448" y="2084832"/>
            <a:ext cx="2619756" cy="292608"/>
          </a:xfrm>
          <a:prstGeom prst="rect">
            <a:avLst/>
          </a:prstGeom>
          <a:solidFill>
            <a:srgbClr val="1F1F1F"/>
          </a:solidFill>
          <a:ln/>
        </p:spPr>
      </p:sp>
      <p:sp>
        <p:nvSpPr>
          <p:cNvPr id="19" name="Shape 17"/>
          <p:cNvSpPr/>
          <p:nvPr/>
        </p:nvSpPr>
        <p:spPr>
          <a:xfrm>
            <a:off x="6324448" y="2084832"/>
            <a:ext cx="2619756" cy="27432"/>
          </a:xfrm>
          <a:prstGeom prst="rect">
            <a:avLst/>
          </a:prstGeom>
          <a:solidFill>
            <a:srgbClr val="0070F2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415888" y="2103120"/>
            <a:ext cx="24368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zc_pc_pedido_app.ddlx.asddlxs</a:t>
            </a:r>
            <a:endParaRPr lang="en-US" sz="950" dirty="0"/>
          </a:p>
        </p:txBody>
      </p:sp>
      <p:sp>
        <p:nvSpPr>
          <p:cNvPr id="21" name="Text 19"/>
          <p:cNvSpPr txBox="1"/>
          <p:nvPr/>
        </p:nvSpPr>
        <p:spPr>
          <a:xfrm>
            <a:off x="6370168" y="2487168"/>
            <a:ext cx="320040" cy="1453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6735928" y="2487168"/>
            <a:ext cx="4769968" cy="1453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UI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lineItem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position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label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'Status do pedido'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criticality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'StatusPedidoCriticality'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importance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HIGH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StatusPedido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6233008" y="4151376"/>
            <a:ext cx="5410048" cy="2020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B82"/>
                </a:solidFill>
              </a:rPr>
              <a:t>A coluna fica colorida e com ícone; </a:t>
            </a:r>
            <a:r>
              <a:rPr lang="en-US" sz="12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criticalityRepresentation: #WITHOUT_ICON</a:t>
            </a:r>
            <a:r>
              <a:rPr lang="en-US" sz="1200" dirty="0">
                <a:solidFill>
                  <a:srgbClr val="556B82"/>
                </a:solidFill>
              </a:rPr>
              <a:t> mostra só a cor.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64D9"/>
                </a:solidFill>
              </a:rPr>
              <a:t>CRITICALITY · VALORES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D3E"/>
                </a:solidFill>
              </a:rPr>
              <a:t>O que cada valor de criticality significa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11094415" cy="283464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783080"/>
          <a:ext cx="10820095" cy="914400"/>
        </p:xfrm>
        <a:graphic>
          <a:graphicData uri="http://schemas.openxmlformats.org/drawingml/2006/table">
            <a:tbl>
              <a:tblPr/>
              <a:tblGrid>
                <a:gridCol w="1577931"/>
                <a:gridCol w="2930442"/>
                <a:gridCol w="2930442"/>
                <a:gridCol w="3381280"/>
              </a:tblGrid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D2D3E"/>
                          </a:solidFill>
                        </a:rPr>
                        <a:t>Valor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D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D2D3E"/>
                          </a:solidFill>
                        </a:rPr>
                        <a:t>Semântica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D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D2D3E"/>
                          </a:solidFill>
                        </a:rPr>
                        <a:t>Cor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D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D2D3E"/>
                          </a:solidFill>
                        </a:rPr>
                        <a:t>Exemplo de status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D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0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Neutral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Cinza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Aberto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Negative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Vermelho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Cancelado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2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Critical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Amarelo/laranja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Aguardando aprovação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3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Positive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Verde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Finalizado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4663440"/>
            <a:ext cx="11094415" cy="566928"/>
          </a:xfrm>
          <a:prstGeom prst="roundRect">
            <a:avLst>
              <a:gd name="adj" fmla="val 12903"/>
            </a:avLst>
          </a:prstGeom>
          <a:solidFill>
            <a:srgbClr val="E1F4FF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1207008" y="4663440"/>
            <a:ext cx="102257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64D9"/>
                </a:solidFill>
              </a:rPr>
              <a:t>Também na Object Page  </a:t>
            </a:r>
            <a:r>
              <a:rPr lang="en-US" sz="12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@UI.dataPoint</a:t>
            </a:r>
            <a:r>
              <a:rPr lang="en-US" sz="1200" dirty="0">
                <a:solidFill>
                  <a:srgbClr val="1D2D3E"/>
                </a:solidFill>
              </a:rPr>
              <a:t> aceita </a:t>
            </a:r>
            <a:r>
              <a:rPr lang="en-US" sz="12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criticality</a:t>
            </a:r>
            <a:r>
              <a:rPr lang="en-US" sz="1200" dirty="0">
                <a:solidFill>
                  <a:srgbClr val="1D2D3E"/>
                </a:solidFill>
              </a:rPr>
              <a:t>, como os status de pedido e pagamento no header da Object Page do projeto.</a:t>
            </a:r>
            <a:endParaRPr lang="en-US" sz="14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4791456"/>
            <a:ext cx="310896" cy="310896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548640"/>
            <a:ext cx="731520" cy="731520"/>
          </a:xfrm>
          <a:prstGeom prst="roundRect">
            <a:avLst>
              <a:gd name="adj" fmla="val 20000"/>
            </a:avLst>
          </a:prstGeom>
          <a:solidFill>
            <a:srgbClr val="1B3A7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31520" y="160020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9D1FF"/>
                </a:solidFill>
              </a:rPr>
              <a:t>AULA 05.07 · SEÇÃO 2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965960"/>
            <a:ext cx="67665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Ações na tabela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3703320"/>
            <a:ext cx="6583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1EFFF"/>
                </a:solidFill>
              </a:rPr>
              <a:t>Botões padrão vêm do </a:t>
            </a:r>
            <a:r>
              <a:rPr lang="en-US" sz="1600" b="1" dirty="0">
                <a:solidFill>
                  <a:srgbClr val="D1EFFF"/>
                </a:solidFill>
              </a:rPr>
              <a:t>behavior</a:t>
            </a:r>
            <a:r>
              <a:rPr lang="en-US" sz="1600" dirty="0">
                <a:solidFill>
                  <a:srgbClr val="D1EFFF"/>
                </a:solidFill>
              </a:rPr>
              <a:t> do BO. Ações próprias são definidas no BDEF e colocadas na UI com </a:t>
            </a:r>
            <a:r>
              <a:rPr lang="en-US" sz="1600" dirty="0">
                <a:solidFill>
                  <a:srgbClr val="89D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#FOR_ACTION</a:t>
            </a:r>
            <a:r>
              <a:rPr lang="en-US" sz="1600" dirty="0">
                <a:solidFill>
                  <a:srgbClr val="D1EFFF"/>
                </a:solidFill>
              </a:rPr>
              <a:t>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001000" y="1463040"/>
            <a:ext cx="3611880" cy="2221992"/>
          </a:xfrm>
          <a:prstGeom prst="roundRect">
            <a:avLst>
              <a:gd name="adj" fmla="val 4115"/>
            </a:avLst>
          </a:prstGeom>
          <a:solidFill>
            <a:srgbClr val="1B3A7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0" y="16459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89D1FF"/>
                </a:solidFill>
              </a:rPr>
              <a:t>NESTA SEÇÃO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8229600" y="2029968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· delete</a:t>
            </a:r>
            <a:r>
              <a:rPr lang="en-US" sz="1000" dirty="0">
                <a:solidFill>
                  <a:srgbClr val="D1EFFF"/>
                </a:solidFill>
              </a:rPr>
              <a:t>  padrão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229600" y="2414016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action</a:t>
            </a:r>
            <a:r>
              <a:rPr lang="en-US" sz="1000" dirty="0">
                <a:solidFill>
                  <a:srgbClr val="D1EFFF"/>
                </a:solidFill>
              </a:rPr>
              <a:t>  BDEF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229600" y="2798064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action</a:t>
            </a:r>
            <a:r>
              <a:rPr lang="en-US" sz="1000" dirty="0">
                <a:solidFill>
                  <a:srgbClr val="D1EFFF"/>
                </a:solidFill>
              </a:rPr>
              <a:t>  projeção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8229600" y="3182112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#FOR_ACTION</a:t>
            </a:r>
            <a:r>
              <a:rPr lang="en-US" sz="1000" dirty="0">
                <a:solidFill>
                  <a:srgbClr val="D1EFFF"/>
                </a:solidFill>
              </a:rPr>
              <a:t>  botão</a:t>
            </a:r>
            <a:endParaRPr lang="en-US" sz="140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713232"/>
            <a:ext cx="402336" cy="40233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64D9"/>
                </a:solidFill>
              </a:rPr>
              <a:t>AÇÕES · DOIS TIPOS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D3E"/>
                </a:solidFill>
              </a:rPr>
              <a:t>Ações padrão e ações de negócio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2675763"/>
            <a:ext cx="5410048" cy="2466594"/>
          </a:xfrm>
          <a:prstGeom prst="roundRect">
            <a:avLst>
              <a:gd name="adj" fmla="val 3707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2675763"/>
            <a:ext cx="5410048" cy="73152"/>
          </a:xfrm>
          <a:prstGeom prst="rect">
            <a:avLst/>
          </a:prstGeom>
          <a:solidFill>
            <a:srgbClr val="556B82"/>
          </a:solidFill>
          <a:ln/>
        </p:spPr>
      </p:sp>
      <p:sp>
        <p:nvSpPr>
          <p:cNvPr id="6" name="Shape 4"/>
          <p:cNvSpPr/>
          <p:nvPr/>
        </p:nvSpPr>
        <p:spPr>
          <a:xfrm>
            <a:off x="777240" y="2950083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FF1F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371600" y="2950083"/>
            <a:ext cx="4404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3548"/>
                </a:solidFill>
              </a:rPr>
              <a:t>Padrão (CRUD)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590163"/>
            <a:ext cx="4952848" cy="14150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b="1" dirty="0">
                <a:solidFill>
                  <a:srgbClr val="1D2D3E"/>
                </a:solidFill>
              </a:rPr>
              <a:t>Create</a:t>
            </a:r>
            <a:r>
              <a:rPr lang="en-US" sz="1350" dirty="0">
                <a:solidFill>
                  <a:srgbClr val="1D2D3E"/>
                </a:solidFill>
              </a:rPr>
              <a:t> e </a:t>
            </a:r>
            <a:r>
              <a:rPr lang="en-US" sz="1350" b="1" dirty="0">
                <a:solidFill>
                  <a:srgbClr val="1D2D3E"/>
                </a:solidFill>
              </a:rPr>
              <a:t>Delete</a:t>
            </a:r>
            <a:r>
              <a:rPr lang="en-US" sz="1350" dirty="0">
                <a:solidFill>
                  <a:srgbClr val="1D2D3E"/>
                </a:solidFill>
              </a:rPr>
              <a:t> na tabela, </a:t>
            </a:r>
            <a:r>
              <a:rPr lang="en-US" sz="1350" b="1" dirty="0">
                <a:solidFill>
                  <a:srgbClr val="1D2D3E"/>
                </a:solidFill>
              </a:rPr>
              <a:t>Edit</a:t>
            </a:r>
            <a:r>
              <a:rPr lang="en-US" sz="1350" dirty="0">
                <a:solidFill>
                  <a:srgbClr val="1D2D3E"/>
                </a:solidFill>
              </a:rPr>
              <a:t> na Object Page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D2D3E"/>
                </a:solidFill>
              </a:rPr>
              <a:t>Aparecem sozinhos se o BO os permite (</a:t>
            </a:r>
            <a:r>
              <a:rPr lang="en-US" sz="13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create</a:t>
            </a:r>
            <a:r>
              <a:rPr lang="en-US" sz="1350" dirty="0">
                <a:solidFill>
                  <a:srgbClr val="1D2D3E"/>
                </a:solidFill>
              </a:rPr>
              <a:t>, </a:t>
            </a:r>
            <a:r>
              <a:rPr lang="en-US" sz="13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delete</a:t>
            </a:r>
            <a:r>
              <a:rPr lang="en-US" sz="1350" dirty="0">
                <a:solidFill>
                  <a:srgbClr val="1D2D3E"/>
                </a:solidFill>
              </a:rPr>
              <a:t>)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D2D3E"/>
                </a:solidFill>
              </a:rPr>
              <a:t>Nenhuma anotação de UI necessária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233008" y="2675763"/>
            <a:ext cx="5410048" cy="2466594"/>
          </a:xfrm>
          <a:prstGeom prst="roundRect">
            <a:avLst>
              <a:gd name="adj" fmla="val 3707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233008" y="2675763"/>
            <a:ext cx="5410048" cy="73152"/>
          </a:xfrm>
          <a:prstGeom prst="rect">
            <a:avLst/>
          </a:prstGeom>
          <a:solidFill>
            <a:srgbClr val="0070F2"/>
          </a:solidFill>
          <a:ln/>
        </p:spPr>
      </p:sp>
      <p:sp>
        <p:nvSpPr>
          <p:cNvPr id="11" name="Shape 9"/>
          <p:cNvSpPr/>
          <p:nvPr/>
        </p:nvSpPr>
        <p:spPr>
          <a:xfrm>
            <a:off x="6461608" y="2950083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1F4F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055968" y="2950083"/>
            <a:ext cx="4404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64D9"/>
                </a:solidFill>
              </a:rPr>
              <a:t>Ações próprias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6461608" y="3590163"/>
            <a:ext cx="4952848" cy="14150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D2D3E"/>
                </a:solidFill>
              </a:rPr>
              <a:t>Lógica de negócio, como </a:t>
            </a:r>
            <a:r>
              <a:rPr lang="en-US" sz="1350" b="1" dirty="0">
                <a:solidFill>
                  <a:srgbClr val="1D2D3E"/>
                </a:solidFill>
              </a:rPr>
              <a:t>aprovar</a:t>
            </a:r>
            <a:r>
              <a:rPr lang="en-US" sz="1350" dirty="0">
                <a:solidFill>
                  <a:srgbClr val="1D2D3E"/>
                </a:solidFill>
              </a:rPr>
              <a:t> ou </a:t>
            </a:r>
            <a:r>
              <a:rPr lang="en-US" sz="1350" b="1" dirty="0">
                <a:solidFill>
                  <a:srgbClr val="1D2D3E"/>
                </a:solidFill>
              </a:rPr>
              <a:t>cancelar</a:t>
            </a:r>
            <a:r>
              <a:rPr lang="en-US" sz="1350" dirty="0">
                <a:solidFill>
                  <a:srgbClr val="1D2D3E"/>
                </a:solidFill>
              </a:rPr>
              <a:t> um pedido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D2D3E"/>
                </a:solidFill>
              </a:rPr>
              <a:t>Implementadas no behavior pool (ABAP + EML)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D2D3E"/>
                </a:solidFill>
              </a:rPr>
              <a:t>Exibidas com </a:t>
            </a:r>
            <a:r>
              <a:rPr lang="en-US" sz="13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type: #FOR_ACTION</a:t>
            </a:r>
            <a:r>
              <a:rPr lang="en-US" sz="1350" dirty="0">
                <a:solidFill>
                  <a:srgbClr val="1D2D3E"/>
                </a:solidFill>
              </a:rPr>
              <a:t> e </a:t>
            </a:r>
            <a:r>
              <a:rPr lang="en-US" sz="13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dataAction</a:t>
            </a:r>
            <a:endParaRPr lang="en-US" sz="1400" dirty="0"/>
          </a:p>
        </p:txBody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" y="3050667"/>
            <a:ext cx="256032" cy="256032"/>
          </a:xfrm>
          <a:prstGeom prst="rect">
            <a:avLst/>
          </a:prstGeom>
        </p:spPr>
      </p:pic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2192" y="3050667"/>
            <a:ext cx="256032" cy="25603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64D9"/>
                </a:solidFill>
              </a:rPr>
              <a:t>AÇÕES · AÇÕES DO PEDIDO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D3E"/>
                </a:solidFill>
              </a:rPr>
              <a:t>Do behavior ao botão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1894637" cy="274320"/>
          </a:xfrm>
          <a:prstGeom prst="roundRect">
            <a:avLst>
              <a:gd name="adj" fmla="val 50000"/>
            </a:avLst>
          </a:prstGeom>
          <a:solidFill>
            <a:srgbClr val="E1F4F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645920"/>
            <a:ext cx="189463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64D9"/>
                </a:solidFill>
              </a:rPr>
              <a:t>Behavior (projeção)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2029968"/>
            <a:ext cx="5410048" cy="3291840"/>
          </a:xfrm>
          <a:prstGeom prst="roundRect">
            <a:avLst>
              <a:gd name="adj" fmla="val 2222"/>
            </a:avLst>
          </a:prstGeom>
          <a:solidFill>
            <a:srgbClr val="1F1F1F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66928" y="2048256"/>
            <a:ext cx="5373472" cy="329184"/>
          </a:xfrm>
          <a:prstGeom prst="rect">
            <a:avLst/>
          </a:prstGeom>
          <a:solidFill>
            <a:srgbClr val="2B2B2B"/>
          </a:solidFill>
          <a:ln/>
        </p:spPr>
      </p:sp>
      <p:sp>
        <p:nvSpPr>
          <p:cNvPr id="8" name="Shape 6"/>
          <p:cNvSpPr/>
          <p:nvPr/>
        </p:nvSpPr>
        <p:spPr>
          <a:xfrm>
            <a:off x="640080" y="2084832"/>
            <a:ext cx="2542032" cy="292608"/>
          </a:xfrm>
          <a:prstGeom prst="rect">
            <a:avLst/>
          </a:prstGeom>
          <a:solidFill>
            <a:srgbClr val="1F1F1F"/>
          </a:solidFill>
          <a:ln/>
        </p:spPr>
      </p:sp>
      <p:sp>
        <p:nvSpPr>
          <p:cNvPr id="9" name="Shape 7"/>
          <p:cNvSpPr/>
          <p:nvPr/>
        </p:nvSpPr>
        <p:spPr>
          <a:xfrm>
            <a:off x="640080" y="2084832"/>
            <a:ext cx="2542032" cy="27432"/>
          </a:xfrm>
          <a:prstGeom prst="rect">
            <a:avLst/>
          </a:prstGeom>
          <a:solidFill>
            <a:srgbClr val="0070F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31520" y="2103120"/>
            <a:ext cx="2359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zc_pc_pedido_app.bdef.asbdef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2487168"/>
            <a:ext cx="3200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1051560" y="2487168"/>
            <a:ext cx="4769968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projection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strict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draft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define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behavior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ZC_PC_PEDIDO_APP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alias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Pedido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update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delete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action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SimularPagamento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action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AprovarPedido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action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CancelarPedido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action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Edit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Activate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Discard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Resume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Prepare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5440680"/>
            <a:ext cx="54100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B82"/>
                </a:solidFill>
              </a:rPr>
              <a:t>As ações são definidas e implementadas no BO </a:t>
            </a:r>
            <a:r>
              <a:rPr lang="en-US" sz="12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ZR_PC_PEDIDO</a:t>
            </a:r>
            <a:r>
              <a:rPr lang="en-US" sz="1200" dirty="0">
                <a:solidFill>
                  <a:srgbClr val="556B82"/>
                </a:solidFill>
              </a:rPr>
              <a:t>; a projeção as expõe.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233008" y="1645920"/>
            <a:ext cx="1009498" cy="274320"/>
          </a:xfrm>
          <a:prstGeom prst="roundRect">
            <a:avLst>
              <a:gd name="adj" fmla="val 50000"/>
            </a:avLst>
          </a:prstGeom>
          <a:solidFill>
            <a:srgbClr val="E1F4FF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233008" y="1645920"/>
            <a:ext cx="10094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64D9"/>
                </a:solidFill>
              </a:rPr>
              <a:t>Anotação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233008" y="2029968"/>
            <a:ext cx="5410048" cy="3291840"/>
          </a:xfrm>
          <a:prstGeom prst="roundRect">
            <a:avLst>
              <a:gd name="adj" fmla="val 2222"/>
            </a:avLst>
          </a:prstGeom>
          <a:solidFill>
            <a:srgbClr val="1F1F1F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251296" y="2048256"/>
            <a:ext cx="5373472" cy="329184"/>
          </a:xfrm>
          <a:prstGeom prst="rect">
            <a:avLst/>
          </a:prstGeom>
          <a:solidFill>
            <a:srgbClr val="2B2B2B"/>
          </a:solidFill>
          <a:ln/>
        </p:spPr>
      </p:sp>
      <p:sp>
        <p:nvSpPr>
          <p:cNvPr id="18" name="Shape 16"/>
          <p:cNvSpPr/>
          <p:nvPr/>
        </p:nvSpPr>
        <p:spPr>
          <a:xfrm>
            <a:off x="6324448" y="2084832"/>
            <a:ext cx="2619756" cy="292608"/>
          </a:xfrm>
          <a:prstGeom prst="rect">
            <a:avLst/>
          </a:prstGeom>
          <a:solidFill>
            <a:srgbClr val="1F1F1F"/>
          </a:solidFill>
          <a:ln/>
        </p:spPr>
      </p:sp>
      <p:sp>
        <p:nvSpPr>
          <p:cNvPr id="19" name="Shape 17"/>
          <p:cNvSpPr/>
          <p:nvPr/>
        </p:nvSpPr>
        <p:spPr>
          <a:xfrm>
            <a:off x="6324448" y="2084832"/>
            <a:ext cx="2619756" cy="27432"/>
          </a:xfrm>
          <a:prstGeom prst="rect">
            <a:avLst/>
          </a:prstGeom>
          <a:solidFill>
            <a:srgbClr val="0070F2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415888" y="2103120"/>
            <a:ext cx="24368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zc_pc_pedido_app.ddlx.asddlxs</a:t>
            </a:r>
            <a:endParaRPr lang="en-US" sz="950" dirty="0"/>
          </a:p>
        </p:txBody>
      </p:sp>
      <p:sp>
        <p:nvSpPr>
          <p:cNvPr id="21" name="Text 19"/>
          <p:cNvSpPr txBox="1"/>
          <p:nvPr/>
        </p:nvSpPr>
        <p:spPr>
          <a:xfrm>
            <a:off x="6370168" y="2487168"/>
            <a:ext cx="3200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8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8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8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8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8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8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8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8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8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850" dirty="0"/>
          </a:p>
        </p:txBody>
      </p:sp>
      <p:sp>
        <p:nvSpPr>
          <p:cNvPr id="22" name="Text 20"/>
          <p:cNvSpPr txBox="1"/>
          <p:nvPr/>
        </p:nvSpPr>
        <p:spPr>
          <a:xfrm>
            <a:off x="6735928" y="2487168"/>
            <a:ext cx="4769968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UI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lineItem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endParaRPr lang="en-US" sz="8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position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85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label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8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'Pedido'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importance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HIGH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8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FOR_ACTION_GROUP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actionGroupId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8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'AcoesPedido'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8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label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8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'Ações'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position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85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8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FOR_ACTION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dataAction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8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'SimularPagamento'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8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label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8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'Efetuar Pagamento'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actionGroupId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8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'AcoesPedido'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8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FOR_ACTION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dataAction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8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'AprovarPedido'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8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label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8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'Aprovar pedido'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actionGroupId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8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'AcoesPedido'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8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NumeroPedido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850" dirty="0"/>
          </a:p>
        </p:txBody>
      </p:sp>
      <p:sp>
        <p:nvSpPr>
          <p:cNvPr id="23" name="Text 21"/>
          <p:cNvSpPr txBox="1"/>
          <p:nvPr/>
        </p:nvSpPr>
        <p:spPr>
          <a:xfrm>
            <a:off x="6233008" y="5440680"/>
            <a:ext cx="54100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B82"/>
                </a:solidFill>
              </a:rPr>
              <a:t>Cada </a:t>
            </a:r>
            <a:r>
              <a:rPr lang="en-US" sz="12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#FOR_ACTION</a:t>
            </a:r>
            <a:r>
              <a:rPr lang="en-US" sz="1200" dirty="0">
                <a:solidFill>
                  <a:srgbClr val="556B82"/>
                </a:solidFill>
              </a:rPr>
              <a:t> vira um botão; </a:t>
            </a:r>
            <a:r>
              <a:rPr lang="en-US" sz="12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#FOR_ACTION_GROUP</a:t>
            </a:r>
            <a:r>
              <a:rPr lang="en-US" sz="1200" dirty="0">
                <a:solidFill>
                  <a:srgbClr val="556B82"/>
                </a:solidFill>
              </a:rPr>
              <a:t> os reúne num menu </a:t>
            </a:r>
            <a:r>
              <a:rPr lang="en-US" sz="1200" b="1" dirty="0">
                <a:solidFill>
                  <a:srgbClr val="556B82"/>
                </a:solidFill>
              </a:rPr>
              <a:t>Ações</a:t>
            </a:r>
            <a:r>
              <a:rPr lang="en-US" sz="1200" dirty="0">
                <a:solidFill>
                  <a:srgbClr val="556B82"/>
                </a:solidFill>
              </a:rPr>
              <a:t>. Na Object Page, use </a:t>
            </a:r>
            <a:r>
              <a:rPr lang="en-US" sz="12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@UI.identification</a:t>
            </a:r>
            <a:r>
              <a:rPr lang="en-US" sz="1200" dirty="0">
                <a:solidFill>
                  <a:srgbClr val="556B82"/>
                </a:solidFill>
              </a:rPr>
              <a:t>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548640"/>
            <a:ext cx="731520" cy="731520"/>
          </a:xfrm>
          <a:prstGeom prst="roundRect">
            <a:avLst>
              <a:gd name="adj" fmla="val 20000"/>
            </a:avLst>
          </a:prstGeom>
          <a:solidFill>
            <a:srgbClr val="1B3A7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31520" y="160020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9D1FF"/>
                </a:solidFill>
              </a:rPr>
              <a:t>AULA 05.07 · SEÇÃO 3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965960"/>
            <a:ext cx="67665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Tabelas responsivas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3703320"/>
            <a:ext cx="6583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D1EFFF"/>
                </a:solidFill>
              </a:rPr>
              <a:t>importance</a:t>
            </a:r>
            <a:r>
              <a:rPr lang="en-US" sz="1600" dirty="0">
                <a:solidFill>
                  <a:srgbClr val="D1EFFF"/>
                </a:solidFill>
              </a:rPr>
              <a:t> decide o que some em telas pequenas; o </a:t>
            </a:r>
            <a:r>
              <a:rPr lang="en-US" sz="1600" dirty="0">
                <a:solidFill>
                  <a:srgbClr val="89D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manifest.json</a:t>
            </a:r>
            <a:r>
              <a:rPr lang="en-US" sz="1600" dirty="0">
                <a:solidFill>
                  <a:srgbClr val="D1EFFF"/>
                </a:solidFill>
              </a:rPr>
              <a:t> escolhe o </a:t>
            </a:r>
            <a:r>
              <a:rPr lang="en-US" sz="1600" b="1" dirty="0">
                <a:solidFill>
                  <a:srgbClr val="D1EFFF"/>
                </a:solidFill>
              </a:rPr>
              <a:t>tipo de tabela</a:t>
            </a:r>
            <a:r>
              <a:rPr lang="en-US" sz="1600" dirty="0">
                <a:solidFill>
                  <a:srgbClr val="D1EFFF"/>
                </a:solidFill>
              </a:rPr>
              <a:t> e a seleção.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001000" y="1463040"/>
            <a:ext cx="3611880" cy="2221992"/>
          </a:xfrm>
          <a:prstGeom prst="roundRect">
            <a:avLst>
              <a:gd name="adj" fmla="val 4115"/>
            </a:avLst>
          </a:prstGeom>
          <a:solidFill>
            <a:srgbClr val="1B3A7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0" y="16459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89D1FF"/>
                </a:solidFill>
              </a:rPr>
              <a:t>NESTA SEÇÃO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8229600" y="2029968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importance</a:t>
            </a:r>
            <a:r>
              <a:rPr lang="en-US" sz="1000" dirty="0">
                <a:solidFill>
                  <a:srgbClr val="D1EFFF"/>
                </a:solidFill>
              </a:rPr>
              <a:t>  #HIGH · #MEDIUM · #LOW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229600" y="2414016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ResponsiveTable</a:t>
            </a:r>
            <a:r>
              <a:rPr lang="en-US" sz="1000" dirty="0">
                <a:solidFill>
                  <a:srgbClr val="D1EFFF"/>
                </a:solidFill>
              </a:rPr>
              <a:t>  padrão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229600" y="2798064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GridTable</a:t>
            </a:r>
            <a:r>
              <a:rPr lang="en-US" sz="1000" dirty="0">
                <a:solidFill>
                  <a:srgbClr val="D1EFFF"/>
                </a:solidFill>
              </a:rPr>
              <a:t>  muitos dados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8229600" y="3182112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selectionMode</a:t>
            </a:r>
            <a:r>
              <a:rPr lang="en-US" sz="1000" dirty="0">
                <a:solidFill>
                  <a:srgbClr val="D1EFFF"/>
                </a:solidFill>
              </a:rPr>
              <a:t>  Multi</a:t>
            </a:r>
            <a:endParaRPr lang="en-US" sz="140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713232"/>
            <a:ext cx="402336" cy="40233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64D9"/>
                </a:solidFill>
              </a:rPr>
              <a:t>RESPONSIVIDADE · AJUSTES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D3E"/>
                </a:solidFill>
              </a:rPr>
              <a:t>Três ajustes para qualquer tela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2466975"/>
            <a:ext cx="3545738" cy="2134362"/>
          </a:xfrm>
          <a:prstGeom prst="roundRect">
            <a:avLst>
              <a:gd name="adj" fmla="val 4284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2668143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1F4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49808" y="3271647"/>
            <a:ext cx="3143402" cy="12199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1D2D3E"/>
                </a:solidFill>
              </a:rPr>
              <a:t>importance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#HIGH</a:t>
            </a:r>
            <a:r>
              <a:rPr lang="en-US" sz="1300" dirty="0">
                <a:solidFill>
                  <a:srgbClr val="556B82"/>
                </a:solidFill>
              </a:rPr>
              <a:t> sempre visível; </a:t>
            </a:r>
            <a:r>
              <a:rPr lang="en-US" sz="13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#MEDIUM</a:t>
            </a:r>
            <a:r>
              <a:rPr lang="en-US" sz="1300" dirty="0">
                <a:solidFill>
                  <a:srgbClr val="556B82"/>
                </a:solidFill>
              </a:rPr>
              <a:t> e </a:t>
            </a:r>
            <a:r>
              <a:rPr lang="en-US" sz="13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#LOW</a:t>
            </a:r>
            <a:r>
              <a:rPr lang="en-US" sz="1300" dirty="0">
                <a:solidFill>
                  <a:srgbClr val="556B82"/>
                </a:solidFill>
              </a:rPr>
              <a:t> saem primeiro em tablet e celular.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322978" y="2466975"/>
            <a:ext cx="3545738" cy="2134362"/>
          </a:xfrm>
          <a:prstGeom prst="roundRect">
            <a:avLst>
              <a:gd name="adj" fmla="val 4284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24146" y="2668143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1F4F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524146" y="3271647"/>
            <a:ext cx="3143402" cy="12199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1D2D3E"/>
                </a:solidFill>
              </a:rPr>
              <a:t>Tipo de tabela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ResponsiveTable</a:t>
            </a:r>
            <a:r>
              <a:rPr lang="en-US" sz="1300" dirty="0">
                <a:solidFill>
                  <a:srgbClr val="556B82"/>
                </a:solidFill>
              </a:rPr>
              <a:t> (padrão, mobile) ou </a:t>
            </a:r>
            <a:r>
              <a:rPr lang="en-US" sz="13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GridTable</a:t>
            </a:r>
            <a:r>
              <a:rPr lang="en-US" sz="1300" dirty="0">
                <a:solidFill>
                  <a:srgbClr val="556B82"/>
                </a:solidFill>
              </a:rPr>
              <a:t> (muitas linhas e colunas, desktop).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097317" y="2466975"/>
            <a:ext cx="3545738" cy="2134362"/>
          </a:xfrm>
          <a:prstGeom prst="roundRect">
            <a:avLst>
              <a:gd name="adj" fmla="val 4284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8298485" y="2668143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1F4F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298485" y="3271647"/>
            <a:ext cx="3143402" cy="12199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1D2D3E"/>
                </a:solidFill>
              </a:rPr>
              <a:t>Seleção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selectionMode: "Multi"</a:t>
            </a:r>
            <a:r>
              <a:rPr lang="en-US" sz="1300" dirty="0">
                <a:solidFill>
                  <a:srgbClr val="556B82"/>
                </a:solidFill>
              </a:rPr>
              <a:t> permite agir sobre várias linhas de uma vez.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4784217"/>
            <a:ext cx="11094415" cy="566928"/>
          </a:xfrm>
          <a:prstGeom prst="roundRect">
            <a:avLst>
              <a:gd name="adj" fmla="val 12903"/>
            </a:avLst>
          </a:prstGeom>
          <a:solidFill>
            <a:srgbClr val="E1F4F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207008" y="4784217"/>
            <a:ext cx="102257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64D9"/>
                </a:solidFill>
              </a:rPr>
              <a:t>Onde  </a:t>
            </a:r>
            <a:r>
              <a:rPr lang="en-US" sz="1200" dirty="0">
                <a:solidFill>
                  <a:srgbClr val="1D2D3E"/>
                </a:solidFill>
              </a:rPr>
              <a:t>tipo de tabela e seleção ficam em </a:t>
            </a:r>
            <a:r>
              <a:rPr lang="en-US" sz="12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controlConfiguration › @com.sap.vocabularies.UI.v1.LineItem › tableSettings</a:t>
            </a:r>
            <a:r>
              <a:rPr lang="en-US" sz="1200" dirty="0">
                <a:solidFill>
                  <a:srgbClr val="1D2D3E"/>
                </a:solidFill>
              </a:rPr>
              <a:t> no manifest.</a:t>
            </a:r>
            <a:endParaRPr lang="en-US" sz="1400" dirty="0"/>
          </a:p>
        </p:txBody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392" y="2768727"/>
            <a:ext cx="256032" cy="256032"/>
          </a:xfrm>
          <a:prstGeom prst="rect">
            <a:avLst/>
          </a:prstGeom>
        </p:spPr>
      </p:pic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99069" y="2768727"/>
            <a:ext cx="256032" cy="256032"/>
          </a:xfrm>
          <a:prstGeom prst="rect">
            <a:avLst/>
          </a:prstGeom>
        </p:spPr>
      </p:pic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24730" y="2768727"/>
            <a:ext cx="256032" cy="256032"/>
          </a:xfrm>
          <a:prstGeom prst="rect">
            <a:avLst/>
          </a:prstGeom>
        </p:spPr>
      </p:pic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808" y="4912233"/>
            <a:ext cx="310896" cy="310896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9D1FF"/>
                </a:solidFill>
              </a:rPr>
              <a:t>RESUMO DA AULA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86868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O que aprendemos na aula 05.07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1874520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0070F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353312" y="1819656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Criticality</a:t>
            </a:r>
            <a:r>
              <a:rPr lang="en-US" sz="1400" dirty="0">
                <a:solidFill>
                  <a:srgbClr val="FFFFFF"/>
                </a:solidFill>
              </a:rPr>
              <a:t> usa um campo 0–3 calculado no CDS e referenciado na anotação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263640" y="1874520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0070F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885432" y="1819656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0 neutro, 1 negativo, 2 crítico, 3 positivo; com ou sem ícone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31520" y="2834640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0070F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353312" y="2779776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Botões </a:t>
            </a:r>
            <a:r>
              <a:rPr lang="en-US" sz="1400" b="1" dirty="0">
                <a:solidFill>
                  <a:srgbClr val="FFFFFF"/>
                </a:solidFill>
              </a:rPr>
              <a:t>Create</a:t>
            </a:r>
            <a:r>
              <a:rPr lang="en-US" sz="1400" dirty="0">
                <a:solidFill>
                  <a:srgbClr val="FFFFFF"/>
                </a:solidFill>
              </a:rPr>
              <a:t>, </a:t>
            </a:r>
            <a:r>
              <a:rPr lang="en-US" sz="1400" b="1" dirty="0">
                <a:solidFill>
                  <a:srgbClr val="FFFFFF"/>
                </a:solidFill>
              </a:rPr>
              <a:t>Delete</a:t>
            </a:r>
            <a:r>
              <a:rPr lang="en-US" sz="1400" dirty="0">
                <a:solidFill>
                  <a:srgbClr val="FFFFFF"/>
                </a:solidFill>
              </a:rPr>
              <a:t> e </a:t>
            </a:r>
            <a:r>
              <a:rPr lang="en-US" sz="1400" b="1" dirty="0">
                <a:solidFill>
                  <a:srgbClr val="FFFFFF"/>
                </a:solidFill>
              </a:rPr>
              <a:t>Edit</a:t>
            </a:r>
            <a:r>
              <a:rPr lang="en-US" sz="1400" dirty="0">
                <a:solidFill>
                  <a:srgbClr val="FFFFFF"/>
                </a:solidFill>
              </a:rPr>
              <a:t> vêm do behavior, sem anotação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263640" y="2834640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0070F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885432" y="2779776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Ações próprias: definir no BDEF, expor com </a:t>
            </a:r>
            <a:r>
              <a:rPr lang="en-US" sz="1400" dirty="0">
                <a:solidFill>
                  <a:srgbClr val="89D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action</a:t>
            </a:r>
            <a:r>
              <a:rPr lang="en-US" sz="1400" dirty="0">
                <a:solidFill>
                  <a:srgbClr val="FFFFFF"/>
                </a:solidFill>
              </a:rPr>
              <a:t> e anotar com </a:t>
            </a:r>
            <a:r>
              <a:rPr lang="en-US" sz="1400" dirty="0">
                <a:solidFill>
                  <a:srgbClr val="89D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#FOR_ACTION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31520" y="3794760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0070F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353312" y="3739896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89D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importance</a:t>
            </a:r>
            <a:r>
              <a:rPr lang="en-US" sz="1400" dirty="0">
                <a:solidFill>
                  <a:srgbClr val="FFFFFF"/>
                </a:solidFill>
              </a:rPr>
              <a:t> controla o que aparece em telas pequenas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263640" y="3794760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0070F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885432" y="3739896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Tipo de tabela e seleção múltipla são configurados no </a:t>
            </a:r>
            <a:r>
              <a:rPr lang="en-US" sz="1400" dirty="0">
                <a:solidFill>
                  <a:srgbClr val="89D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manifest.json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31520" y="5349240"/>
            <a:ext cx="10698480" cy="749808"/>
          </a:xfrm>
          <a:prstGeom prst="roundRect">
            <a:avLst>
              <a:gd name="adj" fmla="val 12195"/>
            </a:avLst>
          </a:prstGeom>
          <a:solidFill>
            <a:srgbClr val="1B3A7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1508760" y="5349240"/>
            <a:ext cx="9692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9D1FF"/>
                </a:solidFill>
              </a:rPr>
              <a:t>Próxima aula · 05.08  </a:t>
            </a:r>
            <a:r>
              <a:rPr lang="en-US" sz="1500" dirty="0">
                <a:solidFill>
                  <a:srgbClr val="FFFFFF"/>
                </a:solidFill>
              </a:rPr>
              <a:t>Navegação: Interna, externa e baseada em intenção.</a:t>
            </a:r>
            <a:endParaRPr lang="en-US" sz="1500" dirty="0"/>
          </a:p>
        </p:txBody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965960"/>
            <a:ext cx="256032" cy="256032"/>
          </a:xfrm>
          <a:prstGeom prst="rect">
            <a:avLst/>
          </a:prstGeom>
        </p:spPr>
      </p:pic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1965960"/>
            <a:ext cx="256032" cy="256032"/>
          </a:xfrm>
          <a:prstGeom prst="rect">
            <a:avLst/>
          </a:prstGeom>
        </p:spPr>
      </p:pic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2926080"/>
            <a:ext cx="256032" cy="256032"/>
          </a:xfrm>
          <a:prstGeom prst="rect">
            <a:avLst/>
          </a:prstGeom>
        </p:spPr>
      </p:pic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2926080"/>
            <a:ext cx="256032" cy="256032"/>
          </a:xfrm>
          <a:prstGeom prst="rect">
            <a:avLst/>
          </a:prstGeom>
        </p:spPr>
      </p:pic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" y="3886200"/>
            <a:ext cx="256032" cy="256032"/>
          </a:xfrm>
          <a:prstGeom prst="rect">
            <a:avLst/>
          </a:prstGeom>
        </p:spPr>
      </p:pic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5080" y="3886200"/>
            <a:ext cx="256032" cy="256032"/>
          </a:xfrm>
          <a:prstGeom prst="rect">
            <a:avLst/>
          </a:prstGeom>
        </p:spPr>
      </p:pic>
      <p:pic>
        <p:nvPicPr>
          <p:cNvPr id="2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0120" y="5541264"/>
            <a:ext cx="365760" cy="3657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ABAP Moderno">
  <a:themeElements>
    <a:clrScheme name="ABAP Moderno">
      <a:dk1>
        <a:srgbClr val="1D2D3E"/>
      </a:dk1>
      <a:lt1>
        <a:srgbClr val="FFFFFF"/>
      </a:lt1>
      <a:dk2>
        <a:srgbClr val="556B82"/>
      </a:dk2>
      <a:lt2>
        <a:srgbClr val="F5F6F7"/>
      </a:lt2>
      <a:accent1>
        <a:srgbClr val="0070F2"/>
      </a:accent1>
      <a:accent2>
        <a:srgbClr val="30914C"/>
      </a:accent2>
      <a:accent3>
        <a:srgbClr val="E76500"/>
      </a:accent3>
      <a:accent4>
        <a:srgbClr val="D20A0A"/>
      </a:accent4>
      <a:accent5>
        <a:srgbClr val="1B3A7A"/>
      </a:accent5>
      <a:accent6>
        <a:srgbClr val="89D1FF"/>
      </a:accent6>
      <a:hlink>
        <a:srgbClr val="0064D9"/>
      </a:hlink>
      <a:folHlink>
        <a:srgbClr val="1B3A7A"/>
      </a:folHlink>
    </a:clrScheme>
    <a:fontScheme name="ABAP Moderno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05.07 Tabelas: cores, ações e responsividade</dc:title>
  <dc:subject>ABAP Moderno – Módulo 05: SAP Fiori Elements com OData V4</dc:subject>
  <dc:creator>Adriano Bispo</dc:creator>
  <cp:lastModifiedBy>Adriano Bispo</cp:lastModifiedBy>
  <cp:revision>1</cp:revision>
  <dcterms:created xsi:type="dcterms:W3CDTF">2026-10-29T13:46:06Z</dcterms:created>
  <dcterms:modified xsi:type="dcterms:W3CDTF">2026-10-29T13:46:06Z</dcterms:modified>
</cp:coreProperties>
</file>