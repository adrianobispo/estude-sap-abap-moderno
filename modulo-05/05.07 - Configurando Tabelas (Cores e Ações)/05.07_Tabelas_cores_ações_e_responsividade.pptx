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03 — SAP Fiori Elements com OData V4  ·  Aula 7 de 11 — Tabelas: cores e ações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03 — SAP Fiori Elements com OData V4  ·  Aula 7 de 11 — Tabelas: cores e ações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03 · AULA 07 DE 11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Tabelas: cores, ações e responsividade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Criticality para destacar o status, ações padrão e próprias na toolbar e tabelas que se adaptam a cada tela.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487295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8790709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094124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397538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9700953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04367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307782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11196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14611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18025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7 de 11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03 — SAP Fiori Elements com OData V4 · Design System SAP Horizon</a:t>
            </a:r>
            <a:endParaRPr lang="en-US" sz="11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03 em 11 aulas: Fiori Elements com OData V4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Fiori Elements e OData V4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Apps guiados por metadados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28189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2781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592781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2592781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Exposição de serviços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592781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Service definition e service binding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07738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7233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47233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4472330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Anotações de UI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472330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headerInfo, lineItem, selectionField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87288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6351880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SAP Fiori Tools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351880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Gerador, Page Map e Guided Development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66837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31429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31429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7" name="Text 25"/>
          <p:cNvSpPr txBox="1"/>
          <p:nvPr/>
        </p:nvSpPr>
        <p:spPr>
          <a:xfrm>
            <a:off x="8231429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Floorplans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8231429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List Report, Object Page e facetas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946386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110978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11097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2" name="Text 30"/>
          <p:cNvSpPr txBox="1"/>
          <p:nvPr/>
        </p:nvSpPr>
        <p:spPr>
          <a:xfrm>
            <a:off x="10110978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List Report e Object Page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10110978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Ordenação, seções e field groups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7</a:t>
            </a:r>
            <a:endParaRPr lang="en-US" sz="1260" dirty="0"/>
          </a:p>
        </p:txBody>
      </p:sp>
      <p:sp>
        <p:nvSpPr>
          <p:cNvPr id="37" name="Text 35"/>
          <p:cNvSpPr txBox="1"/>
          <p:nvPr/>
        </p:nvSpPr>
        <p:spPr>
          <a:xfrm>
            <a:off x="713232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Tabelas: cores e ações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713232" y="4864608"/>
            <a:ext cx="1367485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13232" y="4864608"/>
            <a:ext cx="136748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428189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592781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592781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3" name="Text 41"/>
          <p:cNvSpPr txBox="1"/>
          <p:nvPr/>
        </p:nvSpPr>
        <p:spPr>
          <a:xfrm>
            <a:off x="2592781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Navegação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2592781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Interna, externa e baseada em intenção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307738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7233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47233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9</a:t>
            </a:r>
            <a:endParaRPr lang="en-US" sz="1260" dirty="0"/>
          </a:p>
        </p:txBody>
      </p:sp>
      <p:sp>
        <p:nvSpPr>
          <p:cNvPr id="48" name="Text 46"/>
          <p:cNvSpPr txBox="1"/>
          <p:nvPr/>
        </p:nvSpPr>
        <p:spPr>
          <a:xfrm>
            <a:off x="4472330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Object Page avançada</a:t>
            </a:r>
            <a:endParaRPr lang="en-US" sz="1350" dirty="0"/>
          </a:p>
        </p:txBody>
      </p:sp>
      <p:sp>
        <p:nvSpPr>
          <p:cNvPr id="49" name="Text 47"/>
          <p:cNvSpPr txBox="1"/>
          <p:nvPr/>
        </p:nvSpPr>
        <p:spPr>
          <a:xfrm>
            <a:off x="4472330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Header facets, visibilidade e tabelas filhas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187288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10</a:t>
            </a:r>
            <a:endParaRPr lang="en-US" sz="1260" dirty="0"/>
          </a:p>
        </p:txBody>
      </p:sp>
      <p:sp>
        <p:nvSpPr>
          <p:cNvPr id="53" name="Text 51"/>
          <p:cNvSpPr txBox="1"/>
          <p:nvPr/>
        </p:nvSpPr>
        <p:spPr>
          <a:xfrm>
            <a:off x="6351880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Programação flexível</a:t>
            </a:r>
            <a:endParaRPr lang="en-US" sz="1350" dirty="0"/>
          </a:p>
        </p:txBody>
      </p:sp>
      <p:sp>
        <p:nvSpPr>
          <p:cNvPr id="54" name="Text 52"/>
          <p:cNvSpPr txBox="1"/>
          <p:nvPr/>
        </p:nvSpPr>
        <p:spPr>
          <a:xfrm>
            <a:off x="6351880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Flexible Programming Model e building blocks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066837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31429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231429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11</a:t>
            </a:r>
            <a:endParaRPr lang="en-US" sz="1260" dirty="0"/>
          </a:p>
        </p:txBody>
      </p:sp>
      <p:sp>
        <p:nvSpPr>
          <p:cNvPr id="58" name="Text 56"/>
          <p:cNvSpPr txBox="1"/>
          <p:nvPr/>
        </p:nvSpPr>
        <p:spPr>
          <a:xfrm>
            <a:off x="8231429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Deploy</a:t>
            </a:r>
            <a:endParaRPr lang="en-US" sz="1350" dirty="0"/>
          </a:p>
        </p:txBody>
      </p:sp>
      <p:sp>
        <p:nvSpPr>
          <p:cNvPr id="59" name="Text 57"/>
          <p:cNvSpPr txBox="1"/>
          <p:nvPr/>
        </p:nvSpPr>
        <p:spPr>
          <a:xfrm>
            <a:off x="8231429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Publicação, launchpad e acesso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pintamos o status das viagens, colocamos um botão Accept Travel na tabela e ajustamos a tabela para telas pequenas.</a:t>
            </a:r>
            <a:endParaRPr lang="en-US" sz="1400" dirty="0"/>
          </a:p>
        </p:txBody>
      </p:sp>
      <p:pic>
        <p:nvPicPr>
          <p:cNvPr id="6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6669" y="1847088"/>
            <a:ext cx="347472" cy="347472"/>
          </a:xfrm>
          <a:prstGeom prst="rect">
            <a:avLst/>
          </a:prstGeom>
        </p:spPr>
      </p:pic>
      <p:pic>
        <p:nvPicPr>
          <p:cNvPr id="6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218" y="1847088"/>
            <a:ext cx="347472" cy="347472"/>
          </a:xfrm>
          <a:prstGeom prst="rect">
            <a:avLst/>
          </a:prstGeom>
        </p:spPr>
      </p:pic>
      <p:pic>
        <p:nvPicPr>
          <p:cNvPr id="6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5317" y="1847088"/>
            <a:ext cx="347472" cy="347472"/>
          </a:xfrm>
          <a:prstGeom prst="rect">
            <a:avLst/>
          </a:prstGeom>
        </p:spPr>
      </p:pic>
      <p:pic>
        <p:nvPicPr>
          <p:cNvPr id="6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6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4866" y="1847088"/>
            <a:ext cx="347472" cy="347472"/>
          </a:xfrm>
          <a:prstGeom prst="rect">
            <a:avLst/>
          </a:prstGeom>
        </p:spPr>
      </p:pic>
      <p:pic>
        <p:nvPicPr>
          <p:cNvPr id="6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96669" y="3858768"/>
            <a:ext cx="347472" cy="347472"/>
          </a:xfrm>
          <a:prstGeom prst="rect">
            <a:avLst/>
          </a:prstGeom>
        </p:spPr>
      </p:pic>
      <p:pic>
        <p:nvPicPr>
          <p:cNvPr id="6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76218" y="3858768"/>
            <a:ext cx="347472" cy="347472"/>
          </a:xfrm>
          <a:prstGeom prst="rect">
            <a:avLst/>
          </a:prstGeom>
        </p:spPr>
      </p:pic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7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35317" y="3858768"/>
            <a:ext cx="347472" cy="347472"/>
          </a:xfrm>
          <a:prstGeom prst="rect">
            <a:avLst/>
          </a:prstGeom>
        </p:spPr>
      </p:pic>
      <p:pic>
        <p:nvPicPr>
          <p:cNvPr id="7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4866" y="3858768"/>
            <a:ext cx="347472" cy="347472"/>
          </a:xfrm>
          <a:prstGeom prst="rect">
            <a:avLst/>
          </a:prstGeom>
        </p:spPr>
      </p:pic>
      <p:pic>
        <p:nvPicPr>
          <p:cNvPr id="7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Uma tabela que ajuda a decidir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Uma tabela de viagens bem configurada mostra </a:t>
            </a:r>
            <a:r>
              <a:rPr lang="en-US" sz="1500" b="1" dirty="0">
                <a:solidFill>
                  <a:srgbClr val="556B82"/>
                </a:solidFill>
              </a:rPr>
              <a:t>o que precisa de atenção</a:t>
            </a:r>
            <a:r>
              <a:rPr lang="en-US" sz="1500" dirty="0">
                <a:solidFill>
                  <a:srgbClr val="556B82"/>
                </a:solidFill>
              </a:rPr>
              <a:t>, permite </a:t>
            </a:r>
            <a:r>
              <a:rPr lang="en-US" sz="1500" b="1" dirty="0">
                <a:solidFill>
                  <a:srgbClr val="556B82"/>
                </a:solidFill>
              </a:rPr>
              <a:t>agir ali mesmo</a:t>
            </a:r>
            <a:r>
              <a:rPr lang="en-US" sz="1500" dirty="0">
                <a:solidFill>
                  <a:srgbClr val="556B82"/>
                </a:solidFill>
              </a:rPr>
              <a:t> e funciona em qualquer dispositivo.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223514"/>
            <a:ext cx="354573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342468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4028186"/>
            <a:ext cx="314340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Cores com significado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Status verde, amarelo ou vermelho com ícone, sem o usuário ler código.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2978" y="3223514"/>
            <a:ext cx="354573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4146" y="342468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4146" y="4028186"/>
            <a:ext cx="314340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Ações na toolbar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Criar, excluir e ações de negócio sobre as linhas selecionadas.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97317" y="3223514"/>
            <a:ext cx="354573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98485" y="342468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98485" y="4028186"/>
            <a:ext cx="314340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Responsiva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Colunas importantes ficam; as demais se escondem em telas pequenas.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4730" y="3525266"/>
            <a:ext cx="256032" cy="25603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9069" y="3525266"/>
            <a:ext cx="256032" cy="256032"/>
          </a:xfrm>
          <a:prstGeom prst="rect">
            <a:avLst/>
          </a:prstGeom>
        </p:spPr>
      </p:pic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3525266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03.07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Cores com criticality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A cor vem de um </a:t>
            </a:r>
            <a:r>
              <a:rPr lang="en-US" sz="1600" b="1" dirty="0">
                <a:solidFill>
                  <a:srgbClr val="D1EFFF"/>
                </a:solidFill>
              </a:rPr>
              <a:t>campo numérico</a:t>
            </a:r>
            <a:r>
              <a:rPr lang="en-US" sz="1600" dirty="0">
                <a:solidFill>
                  <a:srgbClr val="D1EFFF"/>
                </a:solidFill>
              </a:rPr>
              <a:t> calculado no back-end e referenciado pela anotação com a propriedade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Campo 0–3</a:t>
            </a:r>
            <a:r>
              <a:rPr lang="en-US" sz="1000" dirty="0">
                <a:solidFill>
                  <a:srgbClr val="D1EFFF"/>
                </a:solidFill>
              </a:rPr>
              <a:t>  no CDS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r>
              <a:rPr lang="en-US" sz="1000" dirty="0">
                <a:solidFill>
                  <a:srgbClr val="D1EFFF"/>
                </a:solidFill>
              </a:rPr>
              <a:t>  na anotação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Ícone</a:t>
            </a:r>
            <a:r>
              <a:rPr lang="en-US" sz="1000" dirty="0">
                <a:solidFill>
                  <a:srgbClr val="D1EFFF"/>
                </a:solidFill>
              </a:rPr>
              <a:t>  automático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Representation</a:t>
            </a:r>
            <a:r>
              <a:rPr lang="en-US" sz="1000" dirty="0">
                <a:solidFill>
                  <a:srgbClr val="D1EFFF"/>
                </a:solidFill>
              </a:rPr>
              <a:t>  com ou sem ícone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CRITICALITY · DOIS PASSOS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Calcular no CDS e referenciar na anotação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894637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18946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1 · Campo calculado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2221992"/>
          </a:xfrm>
          <a:prstGeom prst="roundRect">
            <a:avLst>
              <a:gd name="adj" fmla="val 3292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277520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277520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25923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zi_fe_travel_######.ddls.asddls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OverallStatus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aceita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rejeitada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OverallStatusCriticality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70832"/>
            <a:ext cx="5410048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No curso, o campo entra na view do BO e na </a:t>
            </a:r>
            <a:r>
              <a:rPr lang="en-US" sz="1200" b="1" dirty="0">
                <a:solidFill>
                  <a:srgbClr val="556B82"/>
                </a:solidFill>
              </a:rPr>
              <a:t>draft table</a:t>
            </a:r>
            <a:r>
              <a:rPr lang="en-US" sz="1200" dirty="0">
                <a:solidFill>
                  <a:srgbClr val="556B82"/>
                </a:solidFill>
              </a:rPr>
              <a:t>; a projeção o repassa.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133136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13313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2 · Anotação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2221992"/>
          </a:xfrm>
          <a:prstGeom prst="roundRect">
            <a:avLst>
              <a:gd name="adj" fmla="val 3292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285292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285292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zc_fe_travel_######.ddlx.asddlxs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'OverallStatusCriticality'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criticalityRepresentation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WITH_ICON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textArrangement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TEXT_ONLY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OverallStatus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4370832"/>
            <a:ext cx="5410048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 coluna fica colorida e com ícone;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#WITHOUT_ICON</a:t>
            </a:r>
            <a:r>
              <a:rPr lang="en-US" sz="1200" dirty="0">
                <a:solidFill>
                  <a:srgbClr val="556B82"/>
                </a:solidFill>
              </a:rPr>
              <a:t> mostra só a cor.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CRITICALITY · VALORES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que cada valor de criticality significa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1577931"/>
                <a:gridCol w="2930442"/>
                <a:gridCol w="2930442"/>
                <a:gridCol w="33812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Valor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Semântica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Cor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Exemplo de status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Neutral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Cinza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Sem avaliação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Negative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Vermelho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Rejeitada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Critical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Amarelo/laranja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Aberta, aguardando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Positive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Verde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Aceita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66344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66344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Também na Object Page 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@UI.dataPoint</a:t>
            </a:r>
            <a:r>
              <a:rPr lang="en-US" sz="1200" dirty="0">
                <a:solidFill>
                  <a:srgbClr val="1D2D3E"/>
                </a:solidFill>
              </a:rPr>
              <a:t> aceita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r>
              <a:rPr lang="en-US" sz="1200" dirty="0">
                <a:solidFill>
                  <a:srgbClr val="1D2D3E"/>
                </a:solidFill>
              </a:rPr>
              <a:t>, como o status colorido no header do curso.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79145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03.07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Ações na tabela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Botões padrão vêm do </a:t>
            </a:r>
            <a:r>
              <a:rPr lang="en-US" sz="1600" b="1" dirty="0">
                <a:solidFill>
                  <a:srgbClr val="D1EFFF"/>
                </a:solidFill>
              </a:rPr>
              <a:t>behavior</a:t>
            </a:r>
            <a:r>
              <a:rPr lang="en-US" sz="1600" dirty="0">
                <a:solidFill>
                  <a:srgbClr val="D1EFFF"/>
                </a:solidFill>
              </a:rPr>
              <a:t> do BO. Ações próprias são definidas no BDEF e colocadas na UI com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· delete</a:t>
            </a:r>
            <a:r>
              <a:rPr lang="en-US" sz="1000" dirty="0">
                <a:solidFill>
                  <a:srgbClr val="D1EFFF"/>
                </a:solidFill>
              </a:rPr>
              <a:t>  padrão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r>
              <a:rPr lang="en-US" sz="1000" dirty="0">
                <a:solidFill>
                  <a:srgbClr val="D1EFFF"/>
                </a:solidFill>
              </a:rPr>
              <a:t>  BDEF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action</a:t>
            </a:r>
            <a:r>
              <a:rPr lang="en-US" sz="1000" dirty="0">
                <a:solidFill>
                  <a:srgbClr val="D1EFFF"/>
                </a:solidFill>
              </a:rPr>
              <a:t>  projeção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</a:t>
            </a:r>
            <a:r>
              <a:rPr lang="en-US" sz="1000" dirty="0">
                <a:solidFill>
                  <a:srgbClr val="D1EFFF"/>
                </a:solidFill>
              </a:rPr>
              <a:t>  botão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AÇÕES · DOIS TIPOS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Ações padrão e ações de negócio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675763"/>
            <a:ext cx="5410048" cy="2466594"/>
          </a:xfrm>
          <a:prstGeom prst="roundRect">
            <a:avLst>
              <a:gd name="adj" fmla="val 370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675763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95008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950083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Padrão (CRUD)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90163"/>
            <a:ext cx="4952848" cy="141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1D2D3E"/>
                </a:solidFill>
              </a:rPr>
              <a:t>Create</a:t>
            </a:r>
            <a:r>
              <a:rPr lang="en-US" sz="1350" dirty="0">
                <a:solidFill>
                  <a:srgbClr val="1D2D3E"/>
                </a:solidFill>
              </a:rPr>
              <a:t> e </a:t>
            </a:r>
            <a:r>
              <a:rPr lang="en-US" sz="1350" b="1" dirty="0">
                <a:solidFill>
                  <a:srgbClr val="1D2D3E"/>
                </a:solidFill>
              </a:rPr>
              <a:t>Delete</a:t>
            </a:r>
            <a:r>
              <a:rPr lang="en-US" sz="1350" dirty="0">
                <a:solidFill>
                  <a:srgbClr val="1D2D3E"/>
                </a:solidFill>
              </a:rPr>
              <a:t> na tabela, </a:t>
            </a:r>
            <a:r>
              <a:rPr lang="en-US" sz="1350" b="1" dirty="0">
                <a:solidFill>
                  <a:srgbClr val="1D2D3E"/>
                </a:solidFill>
              </a:rPr>
              <a:t>Edit</a:t>
            </a:r>
            <a:r>
              <a:rPr lang="en-US" sz="1350" dirty="0">
                <a:solidFill>
                  <a:srgbClr val="1D2D3E"/>
                </a:solidFill>
              </a:rPr>
              <a:t> na Object Page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Aparecem sozinhos se o BO os permite (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create</a:t>
            </a:r>
            <a:r>
              <a:rPr lang="en-US" sz="1350" dirty="0">
                <a:solidFill>
                  <a:srgbClr val="1D2D3E"/>
                </a:solidFill>
              </a:rPr>
              <a:t>,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delete</a:t>
            </a:r>
            <a:r>
              <a:rPr lang="en-US" sz="1350" dirty="0">
                <a:solidFill>
                  <a:srgbClr val="1D2D3E"/>
                </a:solidFill>
              </a:rPr>
              <a:t>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Nenhuma anotação de UI necessária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675763"/>
            <a:ext cx="5410048" cy="2466594"/>
          </a:xfrm>
          <a:prstGeom prst="roundRect">
            <a:avLst>
              <a:gd name="adj" fmla="val 370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675763"/>
            <a:ext cx="5410048" cy="7315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95008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950083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Ações próprias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590163"/>
            <a:ext cx="4952848" cy="141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Lógica de negócio, como </a:t>
            </a:r>
            <a:r>
              <a:rPr lang="en-US" sz="1350" b="1" dirty="0">
                <a:solidFill>
                  <a:srgbClr val="1D2D3E"/>
                </a:solidFill>
              </a:rPr>
              <a:t>aceitar</a:t>
            </a:r>
            <a:r>
              <a:rPr lang="en-US" sz="1350" dirty="0">
                <a:solidFill>
                  <a:srgbClr val="1D2D3E"/>
                </a:solidFill>
              </a:rPr>
              <a:t> ou </a:t>
            </a:r>
            <a:r>
              <a:rPr lang="en-US" sz="1350" b="1" dirty="0">
                <a:solidFill>
                  <a:srgbClr val="1D2D3E"/>
                </a:solidFill>
              </a:rPr>
              <a:t>rejeitar</a:t>
            </a:r>
            <a:r>
              <a:rPr lang="en-US" sz="1350" dirty="0">
                <a:solidFill>
                  <a:srgbClr val="1D2D3E"/>
                </a:solidFill>
              </a:rPr>
              <a:t> uma viagem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Implementadas no behavior pool (ABAP + EML)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Exibidas com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 #FOR_ACTION</a:t>
            </a:r>
            <a:r>
              <a:rPr lang="en-US" sz="1350" dirty="0">
                <a:solidFill>
                  <a:srgbClr val="1D2D3E"/>
                </a:solidFill>
              </a:rPr>
              <a:t> e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dataAction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2192" y="3050667"/>
            <a:ext cx="256032" cy="25603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3050667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AÇÕES · AÇÃO ACCEPT TRAVEL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behavior ao botão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894637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18946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Behavior (projeção)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3291840"/>
          </a:xfrm>
          <a:prstGeom prst="roundRect">
            <a:avLst>
              <a:gd name="adj" fmla="val 2222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277520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277520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25923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zc_fe_travel_######.bdef.asbdef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ZC_FE_TRAVEL_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acceptTravel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40680"/>
            <a:ext cx="541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 ação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acceptTravel</a:t>
            </a:r>
            <a:r>
              <a:rPr lang="en-US" sz="1200" dirty="0">
                <a:solidFill>
                  <a:srgbClr val="556B82"/>
                </a:solidFill>
              </a:rPr>
              <a:t> é definida e implementada no BO; a projeção a expõe.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1009498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100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Anotação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3291840"/>
          </a:xfrm>
          <a:prstGeom prst="roundRect">
            <a:avLst>
              <a:gd name="adj" fmla="val 2222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285292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285292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zc_fe_travel_######.ddlx.asddlxs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importance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FOR_ACTION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dataAction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'acceptTravel'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'Accept Travel'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5440680"/>
            <a:ext cx="541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registro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</a:t>
            </a:r>
            <a:r>
              <a:rPr lang="en-US" sz="1200" dirty="0">
                <a:solidFill>
                  <a:srgbClr val="556B82"/>
                </a:solidFill>
              </a:rPr>
              <a:t> vira um botão na toolbar; na Object Page, use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@UI.identification</a:t>
            </a:r>
            <a:r>
              <a:rPr lang="en-US" sz="12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03.07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Tabelas responsivas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1EFFF"/>
                </a:solidFill>
              </a:rPr>
              <a:t>importance</a:t>
            </a:r>
            <a:r>
              <a:rPr lang="en-US" sz="1600" dirty="0">
                <a:solidFill>
                  <a:srgbClr val="D1EFFF"/>
                </a:solidFill>
              </a:rPr>
              <a:t> decide o que some em telas pequenas; o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r>
              <a:rPr lang="en-US" sz="1600" dirty="0">
                <a:solidFill>
                  <a:srgbClr val="D1EFFF"/>
                </a:solidFill>
              </a:rPr>
              <a:t> escolhe o </a:t>
            </a:r>
            <a:r>
              <a:rPr lang="en-US" sz="1600" b="1" dirty="0">
                <a:solidFill>
                  <a:srgbClr val="D1EFFF"/>
                </a:solidFill>
              </a:rPr>
              <a:t>tipo de tabela</a:t>
            </a:r>
            <a:r>
              <a:rPr lang="en-US" sz="1600" dirty="0">
                <a:solidFill>
                  <a:srgbClr val="D1EFFF"/>
                </a:solidFill>
              </a:rPr>
              <a:t> e a seleção.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importance</a:t>
            </a:r>
            <a:r>
              <a:rPr lang="en-US" sz="1000" dirty="0">
                <a:solidFill>
                  <a:srgbClr val="D1EFFF"/>
                </a:solidFill>
              </a:rPr>
              <a:t>  #HIGH · #MEDIUM · #LOW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ResponsiveTable</a:t>
            </a:r>
            <a:r>
              <a:rPr lang="en-US" sz="1000" dirty="0">
                <a:solidFill>
                  <a:srgbClr val="D1EFFF"/>
                </a:solidFill>
              </a:rPr>
              <a:t>  padrão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GridTable</a:t>
            </a:r>
            <a:r>
              <a:rPr lang="en-US" sz="1000" dirty="0">
                <a:solidFill>
                  <a:srgbClr val="D1EFFF"/>
                </a:solidFill>
              </a:rPr>
              <a:t>  muitos dados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selectionMode</a:t>
            </a:r>
            <a:r>
              <a:rPr lang="en-US" sz="1000" dirty="0">
                <a:solidFill>
                  <a:srgbClr val="D1EFFF"/>
                </a:solidFill>
              </a:rPr>
              <a:t>  Multi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RESPONSIVIDADE · AJUSTES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Três ajustes para qualquer tela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466975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66814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271647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importance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#HIGH</a:t>
            </a:r>
            <a:r>
              <a:rPr lang="en-US" sz="1300" dirty="0">
                <a:solidFill>
                  <a:srgbClr val="556B82"/>
                </a:solidFill>
              </a:rPr>
              <a:t> sempre visível;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#MEDIUM</a:t>
            </a:r>
            <a:r>
              <a:rPr lang="en-US" sz="1300" dirty="0">
                <a:solidFill>
                  <a:srgbClr val="556B82"/>
                </a:solidFill>
              </a:rPr>
              <a:t> e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#LOW</a:t>
            </a:r>
            <a:r>
              <a:rPr lang="en-US" sz="1300" dirty="0">
                <a:solidFill>
                  <a:srgbClr val="556B82"/>
                </a:solidFill>
              </a:rPr>
              <a:t> saem primeiro em tablet e celular.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2466975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266814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3271647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Tipo de tabela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ResponsiveTable</a:t>
            </a:r>
            <a:r>
              <a:rPr lang="en-US" sz="1300" dirty="0">
                <a:solidFill>
                  <a:srgbClr val="556B82"/>
                </a:solidFill>
              </a:rPr>
              <a:t> (padrão, mobile) ou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GridTable</a:t>
            </a:r>
            <a:r>
              <a:rPr lang="en-US" sz="1300" dirty="0">
                <a:solidFill>
                  <a:srgbClr val="556B82"/>
                </a:solidFill>
              </a:rPr>
              <a:t> (muitas linhas e colunas, desktop).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2466975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266814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3271647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Seleção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selectionMode: "Multi"</a:t>
            </a:r>
            <a:r>
              <a:rPr lang="en-US" sz="1300" dirty="0">
                <a:solidFill>
                  <a:srgbClr val="556B82"/>
                </a:solidFill>
              </a:rPr>
              <a:t> permite agir sobre várias linhas de uma vez.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784217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784217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Onde  </a:t>
            </a:r>
            <a:r>
              <a:rPr lang="en-US" sz="1200" dirty="0">
                <a:solidFill>
                  <a:srgbClr val="1D2D3E"/>
                </a:solidFill>
              </a:rPr>
              <a:t>tipo de tabela e seleção ficam em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controlConfiguration › @com.sap.vocabularies.UI.v1.LineItem › tableSettings</a:t>
            </a:r>
            <a:r>
              <a:rPr lang="en-US" sz="1200" dirty="0">
                <a:solidFill>
                  <a:srgbClr val="1D2D3E"/>
                </a:solidFill>
              </a:rPr>
              <a:t> no manifest.</a:t>
            </a:r>
            <a:endParaRPr lang="en-US" sz="14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768727"/>
            <a:ext cx="256032" cy="256032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2768727"/>
            <a:ext cx="256032" cy="256032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2768727"/>
            <a:ext cx="256032" cy="256032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912233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03.07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Criticality</a:t>
            </a:r>
            <a:r>
              <a:rPr lang="en-US" sz="1400" dirty="0">
                <a:solidFill>
                  <a:srgbClr val="FFFFFF"/>
                </a:solidFill>
              </a:rPr>
              <a:t> usa um campo 0–3 calculado no CDS e referenciado na anotação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0 neutro, 1 negativo, 2 crítico, 3 positivo; com ou sem ícone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Botões </a:t>
            </a:r>
            <a:r>
              <a:rPr lang="en-US" sz="1400" b="1" dirty="0">
                <a:solidFill>
                  <a:srgbClr val="FFFFFF"/>
                </a:solidFill>
              </a:rPr>
              <a:t>Create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b="1" dirty="0">
                <a:solidFill>
                  <a:srgbClr val="FFFFFF"/>
                </a:solidFill>
              </a:rPr>
              <a:t>Delete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b="1" dirty="0">
                <a:solidFill>
                  <a:srgbClr val="FFFFFF"/>
                </a:solidFill>
              </a:rPr>
              <a:t>Edit</a:t>
            </a:r>
            <a:r>
              <a:rPr lang="en-US" sz="1400" dirty="0">
                <a:solidFill>
                  <a:srgbClr val="FFFFFF"/>
                </a:solidFill>
              </a:rPr>
              <a:t> vêm do behavior, sem anotação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Ações próprias: definir no BDEF, expor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action</a:t>
            </a:r>
            <a:r>
              <a:rPr lang="en-US" sz="1400" dirty="0">
                <a:solidFill>
                  <a:srgbClr val="FFFFFF"/>
                </a:solidFill>
              </a:rPr>
              <a:t> e anotar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importance</a:t>
            </a:r>
            <a:r>
              <a:rPr lang="en-US" sz="1400" dirty="0">
                <a:solidFill>
                  <a:srgbClr val="FFFFFF"/>
                </a:solidFill>
              </a:rPr>
              <a:t> controla o que aparece em telas pequenas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Tipo de tabela e seleção múltipla são configurados no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03.08  </a:t>
            </a:r>
            <a:r>
              <a:rPr lang="en-US" sz="1500" dirty="0">
                <a:solidFill>
                  <a:srgbClr val="FFFFFF"/>
                </a:solidFill>
              </a:rPr>
              <a:t>Navegação: Interna, externa e baseada em intenção.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03.07 Tabelas: cores, ações e responsividade</dc:title>
  <dc:subject>ABAP Moderno – Módulo 03: SAP Fiori Elements com OData V4</dc:subject>
  <dc:creator>Adriano Bispo</dc:creator>
  <cp:lastModifiedBy>Adriano Bispo</cp:lastModifiedBy>
  <cp:revision>1</cp:revision>
  <dcterms:created xsi:type="dcterms:W3CDTF">2026-10-29T01:38:22Z</dcterms:created>
  <dcterms:modified xsi:type="dcterms:W3CDTF">2026-10-29T01:38:22Z</dcterms:modified>
</cp:coreProperties>
</file>