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9 de 11 — Object Page avançada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9 de 11 — Object Page avançada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09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Object Page avançada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Header com data points, tabela filha de itens, a subobject page configurada e comportamento dinâmico com feature control.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9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9</a:t>
            </a:r>
            <a:endParaRPr lang="en-US" sz="1260" dirty="0"/>
          </a:p>
        </p:txBody>
      </p:sp>
      <p:sp>
        <p:nvSpPr>
          <p:cNvPr id="47" name="Text 45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4472330" y="486460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472330" y="486460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deixamos a Object Page do pedido rica: status e total no header, itens em tabela, seções e botões que reagem ao status.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Da página simples à página completa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Uma Object Page boa mostra </a:t>
            </a:r>
            <a:r>
              <a:rPr lang="en-US" sz="1500" b="1" dirty="0">
                <a:solidFill>
                  <a:srgbClr val="556B82"/>
                </a:solidFill>
              </a:rPr>
              <a:t>o essencial no topo</a:t>
            </a:r>
            <a:r>
              <a:rPr lang="en-US" sz="1500" dirty="0">
                <a:solidFill>
                  <a:srgbClr val="556B82"/>
                </a:solidFill>
              </a:rPr>
              <a:t>, os </a:t>
            </a:r>
            <a:r>
              <a:rPr lang="en-US" sz="1500" b="1" dirty="0">
                <a:solidFill>
                  <a:srgbClr val="556B82"/>
                </a:solidFill>
              </a:rPr>
              <a:t>filhos em tabela</a:t>
            </a:r>
            <a:r>
              <a:rPr lang="en-US" sz="1500" dirty="0">
                <a:solidFill>
                  <a:srgbClr val="556B82"/>
                </a:solidFill>
              </a:rPr>
              <a:t> e </a:t>
            </a:r>
            <a:r>
              <a:rPr lang="en-US" sz="1500" b="1" dirty="0">
                <a:solidFill>
                  <a:srgbClr val="556B82"/>
                </a:solidFill>
              </a:rPr>
              <a:t>só as ações possíveis</a:t>
            </a:r>
            <a:r>
              <a:rPr lang="en-US" sz="1500" dirty="0">
                <a:solidFill>
                  <a:srgbClr val="556B82"/>
                </a:solidFill>
              </a:rPr>
              <a:t> naquele momento.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23514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42468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4028186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Header facets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Status do pedido, pagamento e valor total em destaque, com cor.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223514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42468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4028186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Tabelas filhas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Itens do pedido, com navegação para o detalhe.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3223514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42468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4028186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Comportamento dinâmico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Ações e campos habilitados conforme os dados.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525266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525266"/>
            <a:ext cx="256032" cy="25603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52526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05.09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Header facets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b="1" dirty="0">
                <a:solidFill>
                  <a:srgbClr val="D1EFFF"/>
                </a:solidFill>
              </a:rPr>
              <a:t>data point</a:t>
            </a:r>
            <a:r>
              <a:rPr lang="en-US" sz="1600" dirty="0">
                <a:solidFill>
                  <a:srgbClr val="D1EFFF"/>
                </a:solidFill>
              </a:rPr>
              <a:t> destaca um valor; uma faceta com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r>
              <a:rPr lang="en-US" sz="1600" dirty="0">
                <a:solidFill>
                  <a:srgbClr val="D1EFFF"/>
                </a:solidFill>
              </a:rPr>
              <a:t> o coloca no header da Object Page.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@UI.dataPoint</a:t>
            </a:r>
            <a:r>
              <a:rPr lang="en-US" sz="1000" dirty="0">
                <a:solidFill>
                  <a:srgbClr val="D1EFFF"/>
                </a:solidFill>
              </a:rPr>
              <a:t>  valor em destaque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1000" dirty="0">
                <a:solidFill>
                  <a:srgbClr val="D1EFFF"/>
                </a:solidFill>
              </a:rPr>
              <a:t>  nome do data point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#DATAPOINT_REFERENCE</a:t>
            </a:r>
            <a:r>
              <a:rPr lang="en-US" sz="1000" dirty="0">
                <a:solidFill>
                  <a:srgbClr val="D1EFFF"/>
                </a:solidFill>
              </a:rPr>
              <a:t>  faceta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000" dirty="0">
                <a:solidFill>
                  <a:srgbClr val="D1EFFF"/>
                </a:solidFill>
              </a:rPr>
              <a:t>  cor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HEADER · NO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Status e total no header do pedido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ZC_PC_PEDIDO_APP (trecho)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'HeaderStatus'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DATAPOINT_REFERENCE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'HeaderTotal'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DATAPOINT_REFERENCE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'ValorTotal'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dataPoint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 do 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'StatusPedidoCriticality'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dataPoint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'ValorTotal'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 total'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faceta vai para o header content, não para o corpo.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#DATAPOINT_REFERENCE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Referencia um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@UI.dataPoint</a:t>
            </a:r>
            <a:r>
              <a:rPr lang="en-US" sz="1050" dirty="0">
                <a:solidFill>
                  <a:srgbClr val="556B82"/>
                </a:solidFill>
              </a:rPr>
              <a:t> pelo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Rótulo exibido acima do valor no header.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mesmo campo 0–3 da tabela colore o status.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HEADER · SUBOBJECT PAGE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Configurando o header do item no Page Editor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Título</a:t>
            </a:r>
            <a:endParaRPr lang="en-US" sz="1400" dirty="0"/>
          </a:p>
          <a:p>
            <a:pPr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Item</a:t>
            </a:r>
            <a:r>
              <a:rPr lang="en-US" sz="1150" dirty="0">
                <a:solidFill>
                  <a:srgbClr val="556B82"/>
                </a:solidFill>
              </a:rPr>
              <a:t> (nome do produto) como título e </a:t>
            </a:r>
            <a:r>
              <a:rPr lang="en-US" sz="1150" i="1" dirty="0">
                <a:solidFill>
                  <a:srgbClr val="556B82"/>
                </a:solidFill>
              </a:rPr>
              <a:t>Item do pedido</a:t>
            </a:r>
            <a:r>
              <a:rPr lang="en-US" sz="1150" dirty="0">
                <a:solidFill>
                  <a:srgbClr val="556B82"/>
                </a:solidFill>
              </a:rPr>
              <a:t> como type name.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Imagem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 foto do item de estoque ao lado do título.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Data points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SKU, quantidade, preço unitário e total do item.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Conferir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editor gera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UI.HeaderInfo</a:t>
            </a:r>
            <a:r>
              <a:rPr lang="en-US" sz="1150" dirty="0">
                <a:solidFill>
                  <a:srgbClr val="556B82"/>
                </a:solidFill>
              </a:rPr>
              <a:t>,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UI.HeaderFacets</a:t>
            </a:r>
            <a:r>
              <a:rPr lang="en-US" sz="1150" dirty="0">
                <a:solidFill>
                  <a:srgbClr val="556B82"/>
                </a:solidFill>
              </a:rPr>
              <a:t> 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UI.DataPoint</a:t>
            </a:r>
            <a:r>
              <a:rPr lang="en-US" sz="1150" dirty="0">
                <a:solidFill>
                  <a:srgbClr val="556B82"/>
                </a:solidFill>
              </a:rPr>
              <a:t> locais.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Duas vias  </a:t>
            </a:r>
            <a:r>
              <a:rPr lang="en-US" sz="1200" dirty="0">
                <a:solidFill>
                  <a:srgbClr val="1D2D3E"/>
                </a:solidFill>
              </a:rPr>
              <a:t>o mesmo resultado sai com anotações CDS no back-end, como no slide anterior.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05.09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Tabelas filhas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faceta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600" dirty="0">
                <a:solidFill>
                  <a:srgbClr val="D1EFFF"/>
                </a:solidFill>
              </a:rPr>
              <a:t> mostra 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600" dirty="0">
                <a:solidFill>
                  <a:srgbClr val="D1EFFF"/>
                </a:solidFill>
              </a:rPr>
              <a:t> da </a:t>
            </a:r>
            <a:r>
              <a:rPr lang="en-US" sz="1600" b="1" dirty="0">
                <a:solidFill>
                  <a:srgbClr val="D1EFFF"/>
                </a:solidFill>
              </a:rPr>
              <a:t>entidade filha</a:t>
            </a:r>
            <a:r>
              <a:rPr lang="en-US" sz="1600" dirty="0">
                <a:solidFill>
                  <a:srgbClr val="D1EFFF"/>
                </a:solidFill>
              </a:rPr>
              <a:t>, alcançada por uma associação.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000" dirty="0">
                <a:solidFill>
                  <a:srgbClr val="D1EFFF"/>
                </a:solidFill>
              </a:rPr>
              <a:t>  seção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r>
              <a:rPr lang="en-US" sz="1000" dirty="0">
                <a:solidFill>
                  <a:srgbClr val="D1EFFF"/>
                </a:solidFill>
              </a:rPr>
              <a:t>  _Itens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 do item</a:t>
            </a:r>
            <a:r>
              <a:rPr lang="en-US" sz="1000" dirty="0">
                <a:solidFill>
                  <a:srgbClr val="D1EFFF"/>
                </a:solidFill>
              </a:rPr>
              <a:t>  colunas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e foto</a:t>
            </a:r>
            <a:r>
              <a:rPr lang="en-US" sz="1000" dirty="0">
                <a:solidFill>
                  <a:srgbClr val="D1EFFF"/>
                </a:solidFill>
              </a:rPr>
              <a:t>  Page Editor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TABELAS · ITENS DO PEDIDO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seção no pai, as colunas no filho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48563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Pedido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441448"/>
          </a:xfrm>
          <a:prstGeom prst="roundRect">
            <a:avLst>
              <a:gd name="adj" fmla="val 299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'_Itens'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PedidoEncerrado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90288"/>
            <a:ext cx="541004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seção aponta para a associação; o conteúdo vem da entidade ItemPedido.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ItemPedido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441448"/>
          </a:xfrm>
          <a:prstGeom prst="roundRect">
            <a:avLst>
              <a:gd name="adj" fmla="val 299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300837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300837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zc_pc_item_pedido_app.ddlx.asddlxs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'Quantidade'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QtdeItemPedido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'Preço unitário'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PrecoUnitarioSnapshot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'Total'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590288"/>
            <a:ext cx="541004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No projeto: Item, SKU, disponível agora, quantidade, preço unitário e total.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TABELAS · ACABAMENTO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Deixando a tabela legível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Rótulos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300" dirty="0">
                <a:solidFill>
                  <a:srgbClr val="556B82"/>
                </a:solidFill>
              </a:rPr>
              <a:t> troca o nome técnico: </a:t>
            </a:r>
            <a:r>
              <a:rPr lang="en-US" sz="1300" i="1" dirty="0">
                <a:solidFill>
                  <a:srgbClr val="556B82"/>
                </a:solidFill>
              </a:rPr>
              <a:t>PrecoUnitarioSnapshot</a:t>
            </a:r>
            <a:r>
              <a:rPr lang="en-US" sz="1300" dirty="0">
                <a:solidFill>
                  <a:srgbClr val="556B82"/>
                </a:solidFill>
              </a:rPr>
              <a:t> vira </a:t>
            </a:r>
            <a:r>
              <a:rPr lang="en-US" sz="1300" b="1" dirty="0">
                <a:solidFill>
                  <a:srgbClr val="556B82"/>
                </a:solidFill>
              </a:rPr>
              <a:t>Preço unitário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Texto no lugar da chave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UUID do item aparece como o nome do produto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#TEXT_ONLY</a:t>
            </a:r>
            <a:r>
              <a:rPr lang="en-US" sz="130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574290"/>
            <a:ext cx="354573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378962"/>
            <a:ext cx="314340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Foto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No app de estoque,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FotoItem</a:t>
            </a:r>
            <a:r>
              <a:rPr lang="en-US" sz="1300" dirty="0">
                <a:solidFill>
                  <a:srgbClr val="556B82"/>
                </a:solidFill>
              </a:rPr>
              <a:t> vira uma coluna de imagem.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6769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6769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Linha clicável  </a:t>
            </a:r>
            <a:r>
              <a:rPr lang="en-US" sz="1200" dirty="0">
                <a:solidFill>
                  <a:srgbClr val="1D2D3E"/>
                </a:solidFill>
              </a:rPr>
              <a:t>com a subobject page da aula 05.08, clicar no item abre seus detalhes.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4730" y="287604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2876042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87604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80491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05.09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Comportamento dinâmico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que pode ser feito depende dos dados. No RAP, isso é </a:t>
            </a:r>
            <a:r>
              <a:rPr lang="en-US" sz="1600" b="1" dirty="0">
                <a:solidFill>
                  <a:srgbClr val="D1EFFF"/>
                </a:solidFill>
              </a:rPr>
              <a:t>feature control</a:t>
            </a:r>
            <a:r>
              <a:rPr lang="en-US" sz="1600" dirty="0">
                <a:solidFill>
                  <a:srgbClr val="D1EFFF"/>
                </a:solidFill>
              </a:rPr>
              <a:t>: o BO diz à UI o que habilitar.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features: instance</a:t>
            </a:r>
            <a:r>
              <a:rPr lang="en-US" sz="1000" dirty="0">
                <a:solidFill>
                  <a:srgbClr val="D1EFFF"/>
                </a:solidFill>
              </a:rPr>
              <a:t>  BDEF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get_instance_features</a:t>
            </a:r>
            <a:r>
              <a:rPr lang="en-US" sz="1000" dirty="0">
                <a:solidFill>
                  <a:srgbClr val="D1EFFF"/>
                </a:solidFill>
              </a:rPr>
              <a:t>  método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fc-o-enabled</a:t>
            </a:r>
            <a:r>
              <a:rPr lang="en-US" sz="1000" dirty="0">
                <a:solidFill>
                  <a:srgbClr val="D1EFFF"/>
                </a:solidFill>
              </a:rPr>
              <a:t>  ação ativa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fc-f-read_only</a:t>
            </a:r>
            <a:r>
              <a:rPr lang="en-US" sz="1000" dirty="0">
                <a:solidFill>
                  <a:srgbClr val="D1EFFF"/>
                </a:solidFill>
              </a:rPr>
              <a:t>  campo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DINÂMICO · FEATURE CONTROL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Aprovar só pedidos aguardando aprovação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16382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16382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zbp_r_pc_pedido.clas.locals_imp.abap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ZBP_R_PC_PEDIDO › lhc_pedido (simplificado)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BDEF: action ( features : instance ) AprovarPedido result [1] $self;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get_instance_features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lt_pedidos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lt_pedidos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action-AprovarPedido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is_draft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mk-off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p-StatusPedido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zif_pc_constants=&gt;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c_status_pedido-aguardando_aprovacao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fc-o-enabled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fc-o-disabled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: instance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BDEF: a disponibilidade depende de cada instância.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EML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LOCAL MODE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Lê o status sem checagens de autorização e feature control.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%action-…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Habilita ou desabilita o botão linha a linha.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Também para campos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( features : instance )</a:t>
            </a:r>
            <a:r>
              <a:rPr lang="en-US" sz="1050" dirty="0">
                <a:solidFill>
                  <a:srgbClr val="556B82"/>
                </a:solidFill>
              </a:rPr>
              <a:t>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fc-f-read_only</a:t>
            </a:r>
            <a:r>
              <a:rPr lang="en-US" sz="1050" dirty="0">
                <a:solidFill>
                  <a:srgbClr val="556B82"/>
                </a:solidFill>
              </a:rPr>
              <a:t> ou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fc-f-mandatory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DINÂMICO · ONDE DECIDIR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Feature control ou anotação de UI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10003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Feature control (BO)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Vale para </a:t>
            </a:r>
            <a:r>
              <a:rPr lang="en-US" sz="1350" b="1" dirty="0">
                <a:solidFill>
                  <a:srgbClr val="1D2D3E"/>
                </a:solidFill>
              </a:rPr>
              <a:t>todo</a:t>
            </a:r>
            <a:r>
              <a:rPr lang="en-US" sz="1350" dirty="0">
                <a:solidFill>
                  <a:srgbClr val="1D2D3E"/>
                </a:solidFill>
              </a:rPr>
              <a:t> consumidor: UI, Web API e EML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Bloqueia de verdade: a ação não executa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Ações, campos e operações como update e delete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31000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31000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8432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8432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Esconder na UI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22440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r>
              <a:rPr lang="en-US" sz="1350" dirty="0">
                <a:solidFill>
                  <a:srgbClr val="1D2D3E"/>
                </a:solidFill>
              </a:rPr>
              <a:t> esconde campos de forma estática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Facetas usam um campo booleano para esconder seções, como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hidden: #(PedidoEncerrado)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visual: não protege a regra de negócio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41189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41189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 </a:t>
            </a:r>
            <a:r>
              <a:rPr lang="en-US" sz="1200" dirty="0">
                <a:solidFill>
                  <a:srgbClr val="1D2D3E"/>
                </a:solidFill>
              </a:rPr>
              <a:t>regra de negócio no BO com feature control; a UI só reflete o que o BO permite.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684907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69205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68490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05.09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@UI.dataPoint</a:t>
            </a:r>
            <a:r>
              <a:rPr lang="en-US" sz="1400" dirty="0">
                <a:solidFill>
                  <a:srgbClr val="FFFFFF"/>
                </a:solidFill>
              </a:rPr>
              <a:t> + faceta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</a:t>
            </a:r>
            <a:r>
              <a:rPr lang="en-US" sz="1400" dirty="0">
                <a:solidFill>
                  <a:srgbClr val="FFFFFF"/>
                </a:solidFill>
              </a:rPr>
              <a:t> destacam status e valor total no header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Page Editor configura o header da subobject page com título, foto e data 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r>
              <a:rPr lang="en-US" sz="1400" dirty="0">
                <a:solidFill>
                  <a:srgbClr val="FFFFFF"/>
                </a:solidFill>
              </a:rPr>
              <a:t> mostra os itens do pedido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As colunas da tabela filha vêm do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400" dirty="0">
                <a:solidFill>
                  <a:srgbClr val="FFFFFF"/>
                </a:solidFill>
              </a:rPr>
              <a:t> da entidade ItemPedido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control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: instance</a:t>
            </a:r>
            <a:r>
              <a:rPr lang="en-US" sz="1400" dirty="0">
                <a:solidFill>
                  <a:srgbClr val="FFFFFF"/>
                </a:solidFill>
              </a:rPr>
              <a:t>) habilita ações e campos por instância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Regras ficam no BO; esconder na UI é só apresentação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05.10  </a:t>
            </a:r>
            <a:r>
              <a:rPr lang="en-US" sz="1500" dirty="0">
                <a:solidFill>
                  <a:srgbClr val="FFFFFF"/>
                </a:solidFill>
              </a:rPr>
              <a:t>Programação flexível: Flexible Programming Model e building blocks.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05.09 Object Page avançada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2026-10-29T13:45:35Z</dcterms:created>
  <dcterms:modified xsi:type="dcterms:W3CDTF">2026-10-29T13:45:35Z</dcterms:modified>
</cp:coreProperties>
</file>