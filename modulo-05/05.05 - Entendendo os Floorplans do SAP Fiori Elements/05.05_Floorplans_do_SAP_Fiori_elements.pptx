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SAP Fiori Elements com OData V4  ·  Aula 5 de 11 — Floorplans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SAP Fiori Elements com OData V4  ·  Aula 5 de 11 — Floorplans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4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05 DE 11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Floorplans do SAP Fiori elements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Os templates prontos, a anatomia do List Report e da Object Page e o conceito de facetas que organiza as páginas.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8" name="Shape 6"/>
          <p:cNvSpPr/>
          <p:nvPr/>
        </p:nvSpPr>
        <p:spPr>
          <a:xfrm>
            <a:off x="848729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8790709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9094124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9397538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12" name="Shape 10"/>
          <p:cNvSpPr/>
          <p:nvPr/>
        </p:nvSpPr>
        <p:spPr>
          <a:xfrm>
            <a:off x="9700953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3" name="Shape 11"/>
          <p:cNvSpPr/>
          <p:nvPr/>
        </p:nvSpPr>
        <p:spPr>
          <a:xfrm>
            <a:off x="10004367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307782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11196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914611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7" name="Shape 15"/>
          <p:cNvSpPr/>
          <p:nvPr/>
        </p:nvSpPr>
        <p:spPr>
          <a:xfrm>
            <a:off x="11218025" y="4937760"/>
            <a:ext cx="211975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5 de 11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SAP Fiori Elements com OData V4 · Design System SAP Horizon</a:t>
            </a:r>
            <a:endParaRPr lang="en-US" sz="11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11 aulas: Fiori Elements com OData V4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Fiori Elements e OData V4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Apps guiados por metadados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28189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9278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59278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2" name="Text 10"/>
          <p:cNvSpPr txBox="1"/>
          <p:nvPr/>
        </p:nvSpPr>
        <p:spPr>
          <a:xfrm>
            <a:off x="2592781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Exposição de serviços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2592781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Service definition e service binding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0773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47233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47233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7" name="Text 15"/>
          <p:cNvSpPr txBox="1"/>
          <p:nvPr/>
        </p:nvSpPr>
        <p:spPr>
          <a:xfrm>
            <a:off x="447233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Anotações de UI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7233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headerInfo, lineItem, selectionField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87288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5188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5188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2" name="Text 20"/>
          <p:cNvSpPr txBox="1"/>
          <p:nvPr/>
        </p:nvSpPr>
        <p:spPr>
          <a:xfrm>
            <a:off x="6351880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SAP Fiori Tools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351880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Gerador, Page Map e Guided Development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066837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31429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3142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5</a:t>
            </a:r>
            <a:endParaRPr lang="en-US" sz="1260" dirty="0"/>
          </a:p>
        </p:txBody>
      </p:sp>
      <p:sp>
        <p:nvSpPr>
          <p:cNvPr id="27" name="Text 25"/>
          <p:cNvSpPr txBox="1"/>
          <p:nvPr/>
        </p:nvSpPr>
        <p:spPr>
          <a:xfrm>
            <a:off x="8231429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Floorplans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231429" y="2852928"/>
            <a:ext cx="1367485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231429" y="2852928"/>
            <a:ext cx="136748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946386" y="164592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11097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011097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6</a:t>
            </a:r>
            <a:endParaRPr lang="en-US" sz="1260" dirty="0"/>
          </a:p>
        </p:txBody>
      </p:sp>
      <p:sp>
        <p:nvSpPr>
          <p:cNvPr id="33" name="Text 31"/>
          <p:cNvSpPr txBox="1"/>
          <p:nvPr/>
        </p:nvSpPr>
        <p:spPr>
          <a:xfrm>
            <a:off x="10110978" y="233172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List Report e Object Page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10110978" y="278892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Ordenação, seções e field groups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8640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13232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713232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7</a:t>
            </a:r>
            <a:endParaRPr lang="en-US" sz="1260" dirty="0"/>
          </a:p>
        </p:txBody>
      </p:sp>
      <p:sp>
        <p:nvSpPr>
          <p:cNvPr id="38" name="Text 36"/>
          <p:cNvSpPr txBox="1"/>
          <p:nvPr/>
        </p:nvSpPr>
        <p:spPr>
          <a:xfrm>
            <a:off x="713232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Tabelas: cores e ações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13232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Criticality, ações e importância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428189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2592781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2592781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8</a:t>
            </a:r>
            <a:endParaRPr lang="en-US" sz="1260" dirty="0"/>
          </a:p>
        </p:txBody>
      </p:sp>
      <p:sp>
        <p:nvSpPr>
          <p:cNvPr id="43" name="Text 41"/>
          <p:cNvSpPr txBox="1"/>
          <p:nvPr/>
        </p:nvSpPr>
        <p:spPr>
          <a:xfrm>
            <a:off x="2592781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Navegação</a:t>
            </a:r>
            <a:endParaRPr lang="en-US" sz="1350" dirty="0"/>
          </a:p>
        </p:txBody>
      </p:sp>
      <p:sp>
        <p:nvSpPr>
          <p:cNvPr id="44" name="Text 42"/>
          <p:cNvSpPr txBox="1"/>
          <p:nvPr/>
        </p:nvSpPr>
        <p:spPr>
          <a:xfrm>
            <a:off x="2592781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Interna, externa e baseada em intenção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30773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47233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447233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9</a:t>
            </a:r>
            <a:endParaRPr lang="en-US" sz="1260" dirty="0"/>
          </a:p>
        </p:txBody>
      </p:sp>
      <p:sp>
        <p:nvSpPr>
          <p:cNvPr id="48" name="Text 46"/>
          <p:cNvSpPr txBox="1"/>
          <p:nvPr/>
        </p:nvSpPr>
        <p:spPr>
          <a:xfrm>
            <a:off x="447233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Object Page avançada</a:t>
            </a:r>
            <a:endParaRPr lang="en-US" sz="1350" dirty="0"/>
          </a:p>
        </p:txBody>
      </p:sp>
      <p:sp>
        <p:nvSpPr>
          <p:cNvPr id="49" name="Text 47"/>
          <p:cNvSpPr txBox="1"/>
          <p:nvPr/>
        </p:nvSpPr>
        <p:spPr>
          <a:xfrm>
            <a:off x="447233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Header facets, visibilidade e tabelas filhas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6187288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6351880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3518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10</a:t>
            </a:r>
            <a:endParaRPr lang="en-US" sz="1260" dirty="0"/>
          </a:p>
        </p:txBody>
      </p:sp>
      <p:sp>
        <p:nvSpPr>
          <p:cNvPr id="53" name="Text 51"/>
          <p:cNvSpPr txBox="1"/>
          <p:nvPr/>
        </p:nvSpPr>
        <p:spPr>
          <a:xfrm>
            <a:off x="6351880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Programação flexível</a:t>
            </a:r>
            <a:endParaRPr lang="en-US" sz="1350" dirty="0"/>
          </a:p>
        </p:txBody>
      </p:sp>
      <p:sp>
        <p:nvSpPr>
          <p:cNvPr id="54" name="Text 52"/>
          <p:cNvSpPr txBox="1"/>
          <p:nvPr/>
        </p:nvSpPr>
        <p:spPr>
          <a:xfrm>
            <a:off x="6351880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Flexible Programming Model e building blocks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8066837" y="3657600"/>
            <a:ext cx="1696669" cy="1828800"/>
          </a:xfrm>
          <a:prstGeom prst="roundRect">
            <a:avLst>
              <a:gd name="adj" fmla="val 538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31429" y="384048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8231429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11</a:t>
            </a:r>
            <a:endParaRPr lang="en-US" sz="1260" dirty="0"/>
          </a:p>
        </p:txBody>
      </p:sp>
      <p:sp>
        <p:nvSpPr>
          <p:cNvPr id="58" name="Text 56"/>
          <p:cNvSpPr txBox="1"/>
          <p:nvPr/>
        </p:nvSpPr>
        <p:spPr>
          <a:xfrm>
            <a:off x="8231429" y="4343400"/>
            <a:ext cx="136748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Deploy</a:t>
            </a:r>
            <a:endParaRPr lang="en-US" sz="1350" dirty="0"/>
          </a:p>
        </p:txBody>
      </p:sp>
      <p:sp>
        <p:nvSpPr>
          <p:cNvPr id="59" name="Text 57"/>
          <p:cNvSpPr txBox="1"/>
          <p:nvPr/>
        </p:nvSpPr>
        <p:spPr>
          <a:xfrm>
            <a:off x="8231429" y="4800600"/>
            <a:ext cx="136748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Publicação, launchpad e acesso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escolhemos o floorplan certo para cada caso e entendemos cada região das páginas do app Pedidos de Compras.</a:t>
            </a:r>
            <a:endParaRPr lang="en-US" sz="14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76218" y="1847088"/>
            <a:ext cx="347472" cy="347472"/>
          </a:xfrm>
          <a:prstGeom prst="rect">
            <a:avLst/>
          </a:prstGeom>
        </p:spPr>
      </p:pic>
      <p:pic>
        <p:nvPicPr>
          <p:cNvPr id="6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669" y="1847088"/>
            <a:ext cx="347472" cy="347472"/>
          </a:xfrm>
          <a:prstGeom prst="rect">
            <a:avLst/>
          </a:prstGeom>
        </p:spPr>
      </p:pic>
      <p:pic>
        <p:nvPicPr>
          <p:cNvPr id="6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5768" y="1847088"/>
            <a:ext cx="347472" cy="347472"/>
          </a:xfrm>
          <a:prstGeom prst="rect">
            <a:avLst/>
          </a:prstGeom>
        </p:spPr>
      </p:pic>
      <p:pic>
        <p:nvPicPr>
          <p:cNvPr id="6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4866" y="1847088"/>
            <a:ext cx="347472" cy="347472"/>
          </a:xfrm>
          <a:prstGeom prst="rect">
            <a:avLst/>
          </a:prstGeom>
        </p:spPr>
      </p:pic>
      <p:pic>
        <p:nvPicPr>
          <p:cNvPr id="6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5317" y="1847088"/>
            <a:ext cx="347472" cy="347472"/>
          </a:xfrm>
          <a:prstGeom prst="rect">
            <a:avLst/>
          </a:prstGeom>
        </p:spPr>
      </p:pic>
      <p:pic>
        <p:nvPicPr>
          <p:cNvPr id="6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6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96669" y="3858768"/>
            <a:ext cx="347472" cy="347472"/>
          </a:xfrm>
          <a:prstGeom prst="rect">
            <a:avLst/>
          </a:prstGeom>
        </p:spPr>
      </p:pic>
      <p:pic>
        <p:nvPicPr>
          <p:cNvPr id="6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76218" y="3858768"/>
            <a:ext cx="347472" cy="347472"/>
          </a:xfrm>
          <a:prstGeom prst="rect">
            <a:avLst/>
          </a:prstGeom>
        </p:spPr>
      </p:pic>
      <p:pic>
        <p:nvPicPr>
          <p:cNvPr id="7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55768" y="3858768"/>
            <a:ext cx="347472" cy="347472"/>
          </a:xfrm>
          <a:prstGeom prst="rect">
            <a:avLst/>
          </a:prstGeom>
        </p:spPr>
      </p:pic>
      <p:pic>
        <p:nvPicPr>
          <p:cNvPr id="7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14866" y="3858768"/>
            <a:ext cx="347472" cy="347472"/>
          </a:xfrm>
          <a:prstGeom prst="rect">
            <a:avLst/>
          </a:prstGeom>
        </p:spPr>
      </p:pic>
      <p:pic>
        <p:nvPicPr>
          <p:cNvPr id="7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35317" y="3858768"/>
            <a:ext cx="347472" cy="347472"/>
          </a:xfrm>
          <a:prstGeom prst="rect">
            <a:avLst/>
          </a:prstGeom>
        </p:spPr>
      </p:pic>
      <p:pic>
        <p:nvPicPr>
          <p:cNvPr id="7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Quem decide o quê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417159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O app decide o quê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Metadados do serviço: entidades, campos, associações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Anotações OData: colunas, filtros, seções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Configurações do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manifest.json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417159"/>
            <a:ext cx="5410048" cy="2252282"/>
          </a:xfrm>
          <a:prstGeom prst="roundRect">
            <a:avLst>
              <a:gd name="adj" fmla="val 406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417159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69147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69147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O template decide o como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331559"/>
            <a:ext cx="4952848" cy="1200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Layout, navegação, busca e filtros padronizados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Segue sempre as diretrizes de design mais recentes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Mesma experiência em todos os apps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83403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83403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Feature Map  </a:t>
            </a:r>
            <a:r>
              <a:rPr lang="en-US" sz="1200" dirty="0">
                <a:solidFill>
                  <a:srgbClr val="1D2D3E"/>
                </a:solidFill>
              </a:rPr>
              <a:t>a documentação do Fiori elements lista os recursos disponíveis por floorplan e versão do OData.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79206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279206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96204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05.05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Os templates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A maioria dos cenários de negócio é </a:t>
            </a:r>
            <a:r>
              <a:rPr lang="en-US" sz="1600" b="1" dirty="0">
                <a:solidFill>
                  <a:srgbClr val="D1EFFF"/>
                </a:solidFill>
              </a:rPr>
              <a:t>visão geral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lista de objetos</a:t>
            </a:r>
            <a:r>
              <a:rPr lang="en-US" sz="1600" dirty="0">
                <a:solidFill>
                  <a:srgbClr val="D1EFFF"/>
                </a:solidFill>
              </a:rPr>
              <a:t> ou </a:t>
            </a:r>
            <a:r>
              <a:rPr lang="en-US" sz="1600" b="1" dirty="0">
                <a:solidFill>
                  <a:srgbClr val="D1EFFF"/>
                </a:solidFill>
              </a:rPr>
              <a:t>gestão de um objeto</a:t>
            </a:r>
            <a:r>
              <a:rPr lang="en-US" sz="1600" dirty="0">
                <a:solidFill>
                  <a:srgbClr val="D1EFFF"/>
                </a:solidFill>
              </a:rPr>
              <a:t>. Cada um tem um floorplan.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Overview Page</a:t>
            </a:r>
            <a:r>
              <a:rPr lang="en-US" sz="1000" dirty="0">
                <a:solidFill>
                  <a:srgbClr val="D1EFFF"/>
                </a:solidFill>
              </a:rPr>
              <a:t>  cards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Report</a:t>
            </a:r>
            <a:r>
              <a:rPr lang="en-US" sz="1000" dirty="0">
                <a:solidFill>
                  <a:srgbClr val="D1EFFF"/>
                </a:solidFill>
              </a:rPr>
              <a:t>  o mais usado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Worklist · ALP</a:t>
            </a:r>
            <a:r>
              <a:rPr lang="en-US" sz="1000" dirty="0">
                <a:solidFill>
                  <a:srgbClr val="D1EFFF"/>
                </a:solidFill>
              </a:rPr>
              <a:t>  variações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Object Page</a:t>
            </a:r>
            <a:r>
              <a:rPr lang="en-US" sz="1000" dirty="0">
                <a:solidFill>
                  <a:srgbClr val="D1EFFF"/>
                </a:solidFill>
              </a:rPr>
              <a:t>  detalhes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TEMPLATES · ESCOLHA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Qual floorplan para qual cenário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2930442"/>
                <a:gridCol w="4733792"/>
                <a:gridCol w="3155861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Floorplan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Cenário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Destaque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List Report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Filtrar e ordenar muitos itens e abrir os detalhes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Quase sempre com Object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Worklist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Processar uma lista de tarefas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Sem barra de filtros complexa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Analytical List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Analisar e agir sobre dados transacionais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Gráficos e filtros visuais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Overview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Visão de uma área ou papel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Cards como ponto de entrada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Object Page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Ver, organizar e editar um 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Header dinâmico e seções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755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7550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No projeto  </a:t>
            </a:r>
            <a:r>
              <a:rPr lang="en-US" sz="1200" dirty="0">
                <a:solidFill>
                  <a:srgbClr val="1D2D3E"/>
                </a:solidFill>
              </a:rPr>
              <a:t>o template </a:t>
            </a:r>
            <a:r>
              <a:rPr lang="en-US" sz="1200" b="1" dirty="0">
                <a:solidFill>
                  <a:srgbClr val="1D2D3E"/>
                </a:solidFill>
              </a:rPr>
              <a:t>List Report Page</a:t>
            </a:r>
            <a:r>
              <a:rPr lang="en-US" sz="1200" dirty="0">
                <a:solidFill>
                  <a:srgbClr val="1D2D3E"/>
                </a:solidFill>
              </a:rPr>
              <a:t> gera o par List Report + Object Page de cada app de gestão: clientes, estoque, pedidos e reembolsos.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035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05.05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Anatomia do List Report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Uma página com </a:t>
            </a:r>
            <a:r>
              <a:rPr lang="en-US" sz="1600" b="1" dirty="0">
                <a:solidFill>
                  <a:srgbClr val="D1EFFF"/>
                </a:solidFill>
              </a:rPr>
              <a:t>cabeçalho e filtros</a:t>
            </a:r>
            <a:r>
              <a:rPr lang="en-US" sz="1600" dirty="0">
                <a:solidFill>
                  <a:srgbClr val="D1EFFF"/>
                </a:solidFill>
              </a:rPr>
              <a:t> em cima e </a:t>
            </a:r>
            <a:r>
              <a:rPr lang="en-US" sz="1600" b="1" dirty="0">
                <a:solidFill>
                  <a:srgbClr val="D1EFFF"/>
                </a:solidFill>
              </a:rPr>
              <a:t>área de conteúdo</a:t>
            </a:r>
            <a:r>
              <a:rPr lang="en-US" sz="1600" dirty="0">
                <a:solidFill>
                  <a:srgbClr val="D1EFFF"/>
                </a:solidFill>
              </a:rPr>
              <a:t> embaixo, ligada à Object Page.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Variant management</a:t>
            </a:r>
            <a:r>
              <a:rPr lang="en-US" sz="1000" dirty="0">
                <a:solidFill>
                  <a:srgbClr val="D1EFFF"/>
                </a:solidFill>
              </a:rPr>
              <a:t>  visões salvas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 bar</a:t>
            </a:r>
            <a:r>
              <a:rPr lang="en-US" sz="1000" dirty="0">
                <a:solidFill>
                  <a:srgbClr val="D1EFFF"/>
                </a:solidFill>
              </a:rPr>
              <a:t>  selectionField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Tabela</a:t>
            </a:r>
            <a:r>
              <a:rPr lang="en-US" sz="1000" dirty="0">
                <a:solidFill>
                  <a:srgbClr val="D1EFFF"/>
                </a:solidFill>
              </a:rPr>
              <a:t>  lineItem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Toolbar</a:t>
            </a:r>
            <a:r>
              <a:rPr lang="en-US" sz="1000" dirty="0">
                <a:solidFill>
                  <a:srgbClr val="D1EFFF"/>
                </a:solidFill>
              </a:rPr>
              <a:t>  criar, excluir, ações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LIST REPORT · REGIÕES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Cada região e o que a controla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3346704"/>
          </a:xfrm>
          <a:prstGeom prst="roundRect">
            <a:avLst>
              <a:gd name="adj" fmla="val 273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155861"/>
                <a:gridCol w="4508373"/>
                <a:gridCol w="3155861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Região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O que mostra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Controlado por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Título e variantes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Nome do app e visões salvas pelo usuário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headerInfo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manifest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Barra de filtros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Busca, filtros e status de edição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@UI.selectionField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,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@Search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Toolbar da 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Criar, excluir e ações próprias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Behavior e 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#FOR_ACTION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Tabela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Os registros, com colunas e cores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@UI.lineItem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Navegação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Clique na linha abre o objeto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manifest (</a:t>
                      </a:r>
                      <a:r>
                        <a:rPr lang="en-US" sz="1100" dirty="0">
                          <a:solidFill>
                            <a:srgbClr val="0064D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navigation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1755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5175504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Variações  </a:t>
            </a:r>
            <a:r>
              <a:rPr lang="en-US" sz="1200" dirty="0">
                <a:solidFill>
                  <a:srgbClr val="1D2D3E"/>
                </a:solidFill>
              </a:rPr>
              <a:t>a área de conteúdo pode ter várias visões (tabelas ou gráficos) em abas, e a tabela pode ser responsive, grid ou analytical.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5303520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05.05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Anatomia da Object Page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Header title</a:t>
            </a:r>
            <a:r>
              <a:rPr lang="en-US" sz="1600" dirty="0">
                <a:solidFill>
                  <a:srgbClr val="D1EFFF"/>
                </a:solidFill>
              </a:rPr>
              <a:t>, </a:t>
            </a:r>
            <a:r>
              <a:rPr lang="en-US" sz="1600" b="1" dirty="0">
                <a:solidFill>
                  <a:srgbClr val="D1EFFF"/>
                </a:solidFill>
              </a:rPr>
              <a:t>header content</a:t>
            </a:r>
            <a:r>
              <a:rPr lang="en-US" sz="1600" dirty="0">
                <a:solidFill>
                  <a:srgbClr val="D1EFFF"/>
                </a:solidFill>
              </a:rPr>
              <a:t> e </a:t>
            </a:r>
            <a:r>
              <a:rPr lang="en-US" sz="1600" b="1" dirty="0">
                <a:solidFill>
                  <a:srgbClr val="D1EFFF"/>
                </a:solidFill>
              </a:rPr>
              <a:t>page body</a:t>
            </a:r>
            <a:r>
              <a:rPr lang="en-US" sz="1600" dirty="0">
                <a:solidFill>
                  <a:srgbClr val="D1EFFF"/>
                </a:solidFill>
              </a:rPr>
              <a:t>. O corpo é organizado em </a:t>
            </a:r>
            <a:r>
              <a:rPr lang="en-US" sz="1600" b="1" dirty="0">
                <a:solidFill>
                  <a:srgbClr val="D1EFFF"/>
                </a:solidFill>
              </a:rPr>
              <a:t>facetas</a:t>
            </a:r>
            <a:r>
              <a:rPr lang="en-US" sz="1600" dirty="0">
                <a:solidFill>
                  <a:srgbClr val="D1EFFF"/>
                </a:solidFill>
              </a:rPr>
              <a:t>: seções, subseções e referências.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title</a:t>
            </a:r>
            <a:r>
              <a:rPr lang="en-US" sz="1000" dirty="0">
                <a:solidFill>
                  <a:srgbClr val="D1EFFF"/>
                </a:solidFill>
              </a:rPr>
              <a:t>  headerInfo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 content</a:t>
            </a:r>
            <a:r>
              <a:rPr lang="en-US" sz="1000" dirty="0">
                <a:solidFill>
                  <a:srgbClr val="D1EFFF"/>
                </a:solidFill>
              </a:rPr>
              <a:t>  #HEADER facets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r>
              <a:rPr lang="en-US" sz="1000" dirty="0">
                <a:solidFill>
                  <a:srgbClr val="D1EFFF"/>
                </a:solidFill>
              </a:rPr>
              <a:t>  seções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Facetas</a:t>
            </a:r>
            <a:r>
              <a:rPr lang="en-US" sz="1000" dirty="0">
                <a:solidFill>
                  <a:srgbClr val="D1EFFF"/>
                </a:solidFill>
              </a:rPr>
              <a:t>  reference · collection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REGIÕES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As três partes de uma Object Page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84187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304304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64655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Header title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Tipo e título do objeto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headerInfo</a:t>
            </a:r>
            <a:r>
              <a:rPr lang="en-US" sz="1300" dirty="0">
                <a:solidFill>
                  <a:srgbClr val="556B82"/>
                </a:solidFill>
              </a:rPr>
              <a:t>), com ações como Editar e Excluir.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84187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304304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64655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Header content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KPIs e campos-chave via facetas com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#HEADER</a:t>
            </a:r>
            <a:r>
              <a:rPr lang="en-US" sz="1300" dirty="0">
                <a:solidFill>
                  <a:srgbClr val="556B82"/>
                </a:solidFill>
              </a:rPr>
              <a:t>, como preço e status.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841879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3043047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646551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Page body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Seções e subseções com navegação por âncora ou abas; modo de edição com draft.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143631"/>
            <a:ext cx="256032" cy="256032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143631"/>
            <a:ext cx="256032" cy="256032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143631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FACETAS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Reference facet e collection facet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675763"/>
            <a:ext cx="5410048" cy="73152"/>
          </a:xfrm>
          <a:prstGeom prst="rect">
            <a:avLst/>
          </a:prstGeom>
          <a:solidFill>
            <a:srgbClr val="556B82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FF1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23548"/>
                </a:solidFill>
              </a:rPr>
              <a:t>Reference facet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Aponta para um </a:t>
            </a:r>
            <a:r>
              <a:rPr lang="en-US" sz="1350" b="1" dirty="0">
                <a:solidFill>
                  <a:srgbClr val="1D2D3E"/>
                </a:solidFill>
              </a:rPr>
              <a:t>conteúdo</a:t>
            </a:r>
            <a:r>
              <a:rPr lang="en-US" sz="1350" dirty="0">
                <a:solidFill>
                  <a:srgbClr val="1D2D3E"/>
                </a:solidFill>
              </a:rPr>
              <a:t>: identification, field group, data point ou line item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#FIELDGROUP_REFERENCE</a:t>
            </a:r>
            <a:r>
              <a:rPr lang="en-US" sz="1350" dirty="0">
                <a:solidFill>
                  <a:srgbClr val="1D2D3E"/>
                </a:solidFill>
              </a:rPr>
              <a:t>,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r>
              <a:rPr lang="en-US" sz="1350" dirty="0">
                <a:solidFill>
                  <a:srgbClr val="1D2D3E"/>
                </a:solidFill>
              </a:rPr>
              <a:t>…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Vira uma subseção (ou seção, se não tiver pai)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675763"/>
            <a:ext cx="5410048" cy="2466594"/>
          </a:xfrm>
          <a:prstGeom prst="roundRect">
            <a:avLst>
              <a:gd name="adj" fmla="val 370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675763"/>
            <a:ext cx="5410048" cy="7315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95008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950083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Collection facet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590163"/>
            <a:ext cx="4952848" cy="14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Um </a:t>
            </a:r>
            <a:r>
              <a:rPr lang="en-US" sz="1350" b="1" dirty="0">
                <a:solidFill>
                  <a:srgbClr val="1D2D3E"/>
                </a:solidFill>
              </a:rPr>
              <a:t>contêiner</a:t>
            </a:r>
            <a:r>
              <a:rPr lang="en-US" sz="1350" dirty="0">
                <a:solidFill>
                  <a:srgbClr val="1D2D3E"/>
                </a:solidFill>
              </a:rPr>
              <a:t> sem conteúdo próprio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type: #COLLECTION</a:t>
            </a:r>
            <a:r>
              <a:rPr lang="en-US" sz="1350" dirty="0">
                <a:solidFill>
                  <a:srgbClr val="1D2D3E"/>
                </a:solidFill>
              </a:rPr>
              <a:t> com um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Agrupa reference facets que usam </a:t>
            </a:r>
            <a:r>
              <a:rPr lang="en-US" sz="13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parentId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050667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3050667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OBJECT PAGE · NA PRÁTICA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Header, seção e tabela filha em uma anotação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6675120" cy="4526280"/>
          </a:xfrm>
          <a:prstGeom prst="roundRect">
            <a:avLst>
              <a:gd name="adj" fmla="val 1616"/>
            </a:avLst>
          </a:prstGeom>
          <a:solidFill>
            <a:srgbClr val="1F1F1F"/>
          </a:solidFill>
          <a:ln/>
          <a:effectLst>
            <a:outerShdw sx="100000" sy="100000" kx="0" ky="0" algn="bl" rotWithShape="0" blurRad="762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664208"/>
            <a:ext cx="6638544" cy="329184"/>
          </a:xfrm>
          <a:prstGeom prst="rect">
            <a:avLst/>
          </a:prstGeom>
          <a:solidFill>
            <a:srgbClr val="2B2B2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700784"/>
            <a:ext cx="2619756" cy="292608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700784"/>
            <a:ext cx="2619756" cy="27432"/>
          </a:xfrm>
          <a:prstGeom prst="rect">
            <a:avLst/>
          </a:prstGeom>
          <a:solidFill>
            <a:srgbClr val="0070F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1719072"/>
            <a:ext cx="24368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zc_pc_pedido_app.ddlx.asddlxs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103120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A5B4"/>
                </a:solidFill>
              </a:rPr>
              <a:t>ZAVBS_PC_PEDIDOS › ZC_PC_PEDIDO_APP (facetas, simplificadas)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395728"/>
            <a:ext cx="320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050" dirty="0"/>
          </a:p>
          <a:p>
            <a:pPr algn="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E76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1051560" y="2395728"/>
            <a:ext cx="6035040" cy="368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UI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'HeaderTotal'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DATAPOINT_REFERENCE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'ValorTotal'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'DadosCliente'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FIELDGROUP_REFERENCE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'Dados do Cliente'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targetQualifier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'Cliente'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'Itens'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'Itens'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B5CE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LINEITEM_REFERENCE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E91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'_Itens'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CCCCC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452360" y="1645920"/>
            <a:ext cx="4190695" cy="452628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653528" y="187452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653528" y="18745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1</a:t>
            </a:r>
            <a:endParaRPr lang="en-US" sz="1020" dirty="0"/>
          </a:p>
        </p:txBody>
      </p:sp>
      <p:sp>
        <p:nvSpPr>
          <p:cNvPr id="15" name="Text 13"/>
          <p:cNvSpPr txBox="1"/>
          <p:nvPr/>
        </p:nvSpPr>
        <p:spPr>
          <a:xfrm>
            <a:off x="8092440" y="185623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purpose: #HEADER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faceta vai para o header content: aqui, o valor total do pedido.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653528" y="291465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653528" y="291465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2</a:t>
            </a:r>
            <a:endParaRPr lang="en-US" sz="102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89636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#FIELDGROUP_REFERENCE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Seção </a:t>
            </a:r>
            <a:r>
              <a:rPr lang="en-US" sz="1050" i="1" dirty="0">
                <a:solidFill>
                  <a:srgbClr val="556B82"/>
                </a:solidFill>
              </a:rPr>
              <a:t>Dados do Cliente</a:t>
            </a:r>
            <a:r>
              <a:rPr lang="en-US" sz="1050" dirty="0">
                <a:solidFill>
                  <a:srgbClr val="556B82"/>
                </a:solidFill>
              </a:rPr>
              <a:t> com os campos do field group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</a:t>
            </a:r>
            <a:r>
              <a:rPr lang="en-US" sz="105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53528" y="395478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653528" y="39547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3</a:t>
            </a:r>
            <a:endParaRPr lang="en-US" sz="1020" dirty="0"/>
          </a:p>
        </p:txBody>
      </p:sp>
      <p:sp>
        <p:nvSpPr>
          <p:cNvPr id="21" name="Text 19"/>
          <p:cNvSpPr txBox="1"/>
          <p:nvPr/>
        </p:nvSpPr>
        <p:spPr>
          <a:xfrm>
            <a:off x="8092440" y="393649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Uma tabela filha com o </a:t>
            </a:r>
            <a:r>
              <a:rPr lang="en-US" sz="10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050" dirty="0">
                <a:solidFill>
                  <a:srgbClr val="556B82"/>
                </a:solidFill>
              </a:rPr>
              <a:t> da entidade ItemPedido.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7653528" y="4994910"/>
            <a:ext cx="310896" cy="310896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653528" y="499491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0064D9"/>
                </a:solidFill>
              </a:rPr>
              <a:t>4</a:t>
            </a:r>
            <a:endParaRPr lang="en-US" sz="102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4976622"/>
            <a:ext cx="3367735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5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targetElement</a:t>
            </a:r>
            <a:endParaRPr lang="en-US" sz="1400" dirty="0"/>
          </a:p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A associação de composição que leva aos itens.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05.05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app define </a:t>
            </a:r>
            <a:r>
              <a:rPr lang="en-US" sz="1400" b="1" dirty="0">
                <a:solidFill>
                  <a:srgbClr val="FFFFFF"/>
                </a:solidFill>
              </a:rPr>
              <a:t>o quê</a:t>
            </a:r>
            <a:r>
              <a:rPr lang="en-US" sz="1400" dirty="0">
                <a:solidFill>
                  <a:srgbClr val="FFFFFF"/>
                </a:solidFill>
              </a:rPr>
              <a:t> (metadados, anotações, manifest); o template define </a:t>
            </a:r>
            <a:r>
              <a:rPr lang="en-US" sz="1400" b="1" dirty="0">
                <a:solidFill>
                  <a:srgbClr val="FFFFFF"/>
                </a:solidFill>
              </a:rPr>
              <a:t>o como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Floorplans: </a:t>
            </a:r>
            <a:r>
              <a:rPr lang="en-US" sz="1400" b="1" dirty="0">
                <a:solidFill>
                  <a:srgbClr val="FFFFFF"/>
                </a:solidFill>
              </a:rPr>
              <a:t>List Report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Worklist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Analytical List Page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Overview Page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Object Page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List Report: variantes, barra de filtros, toolbar e tabela, cada um com sua anotação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Object Page: </a:t>
            </a:r>
            <a:r>
              <a:rPr lang="en-US" sz="1400" b="1" dirty="0">
                <a:solidFill>
                  <a:srgbClr val="FFFFFF"/>
                </a:solidFill>
              </a:rPr>
              <a:t>header title</a:t>
            </a:r>
            <a:r>
              <a:rPr lang="en-US" sz="1400" dirty="0">
                <a:solidFill>
                  <a:srgbClr val="FFFFFF"/>
                </a:solidFill>
              </a:rPr>
              <a:t>, </a:t>
            </a:r>
            <a:r>
              <a:rPr lang="en-US" sz="1400" b="1" dirty="0">
                <a:solidFill>
                  <a:srgbClr val="FFFFFF"/>
                </a:solidFill>
              </a:rPr>
              <a:t>header content</a:t>
            </a:r>
            <a:r>
              <a:rPr lang="en-US" sz="1400" dirty="0">
                <a:solidFill>
                  <a:srgbClr val="FFFFFF"/>
                </a:solidFill>
              </a:rPr>
              <a:t> e </a:t>
            </a:r>
            <a:r>
              <a:rPr lang="en-US" sz="1400" b="1" dirty="0">
                <a:solidFill>
                  <a:srgbClr val="FFFFFF"/>
                </a:solidFill>
              </a:rPr>
              <a:t>page body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Reference facets</a:t>
            </a:r>
            <a:r>
              <a:rPr lang="en-US" sz="1400" dirty="0">
                <a:solidFill>
                  <a:srgbClr val="FFFFFF"/>
                </a:solidFill>
              </a:rPr>
              <a:t> apontam para conteúdo; </a:t>
            </a:r>
            <a:r>
              <a:rPr lang="en-US" sz="1400" b="1" dirty="0">
                <a:solidFill>
                  <a:srgbClr val="FFFFFF"/>
                </a:solidFill>
              </a:rPr>
              <a:t>collection facets</a:t>
            </a:r>
            <a:r>
              <a:rPr lang="en-US" sz="1400" dirty="0">
                <a:solidFill>
                  <a:srgbClr val="FFFFFF"/>
                </a:solidFill>
              </a:rPr>
              <a:t> agrupam subseções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Header facets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#HEADER</a:t>
            </a:r>
            <a:r>
              <a:rPr lang="en-US" sz="1400" dirty="0">
                <a:solidFill>
                  <a:srgbClr val="FFFFFF"/>
                </a:solidFill>
              </a:rPr>
              <a:t> e tabelas filhas com 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#LINEITEM_REFERENCE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05.06  </a:t>
            </a:r>
            <a:r>
              <a:rPr lang="en-US" sz="1500" dirty="0">
                <a:solidFill>
                  <a:srgbClr val="FFFFFF"/>
                </a:solidFill>
              </a:rPr>
              <a:t>List Report e Object Page: Ordenação, seções e field groups.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05.05 Floorplans do SAP Fiori elements</dc:title>
  <dc:subject>ABAP Moderno – Módulo 05: SAP Fiori Elements com OData V4</dc:subject>
  <dc:creator>Adriano Bispo</dc:creator>
  <cp:lastModifiedBy>Adriano Bispo</cp:lastModifiedBy>
  <cp:revision>1</cp:revision>
  <dcterms:created xsi:type="dcterms:W3CDTF">2026-10-29T13:45:15Z</dcterms:created>
  <dcterms:modified xsi:type="dcterms:W3CDTF">2026-10-29T13:45:15Z</dcterms:modified>
</cp:coreProperties>
</file>