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Aula 2 de 11 — Exposição de serviços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Aula 2 de 11 — Exposição de serviços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02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Exposição de serviços no RAP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Service definition escolhe o que expor, service binding escolhe como: protocolo, tipo de uso, publicação e preview.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2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592781" y="285292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92781" y="285292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publicamos o serviço OData V4 de pedidos do projeto Pedidos de Compras e abrimos o primeiro preview Fiori elements.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Onde a exposição entra no RAP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No RAP, a camada de </a:t>
            </a:r>
            <a:r>
              <a:rPr lang="en-US" sz="1400" b="1" dirty="0">
                <a:solidFill>
                  <a:srgbClr val="556B82"/>
                </a:solidFill>
              </a:rPr>
              <a:t>business services</a:t>
            </a:r>
            <a:r>
              <a:rPr lang="en-US" sz="1400" dirty="0">
                <a:solidFill>
                  <a:srgbClr val="556B82"/>
                </a:solidFill>
              </a:rPr>
              <a:t> é a ponte entre o BO e quem o consome.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Data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CDS view entities e projeção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Behavior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Definition e implementação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Service definition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 que expor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Service binding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Como expor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Apps Fiori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UI services para Fiori elements ou SAPUI5 freestyle.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Web APIs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Integração entre sistemas, sem metadados de UI.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Local APIs e eventos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mesmo BO serve consumo local via EML e business events.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05.02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Service definition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lista explícita das entidades do serviço. O mesmo modelo pode ter várias definitions, uma para cada caso de uso.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service</a:t>
            </a:r>
            <a:r>
              <a:rPr lang="en-US" sz="1000" dirty="0">
                <a:solidFill>
                  <a:srgbClr val="D1EFFF"/>
                </a:solidFill>
              </a:rPr>
              <a:t>  artefato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… as</a:t>
            </a:r>
            <a:r>
              <a:rPr lang="en-US" sz="1000" dirty="0">
                <a:solidFill>
                  <a:srgbClr val="D1EFFF"/>
                </a:solidFill>
              </a:rPr>
              <a:t>  alias público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helps</a:t>
            </a:r>
            <a:r>
              <a:rPr lang="en-US" sz="1000" dirty="0">
                <a:solidFill>
                  <a:srgbClr val="D1EFFF"/>
                </a:solidFill>
              </a:rPr>
              <a:t>  também expostos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Escopo</a:t>
            </a:r>
            <a:r>
              <a:rPr lang="en-US" sz="1000" dirty="0">
                <a:solidFill>
                  <a:srgbClr val="D1EFFF"/>
                </a:solidFill>
              </a:rPr>
              <a:t>  um por caso de uso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 QUE EXPOR · NO PROJETO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service definition do app de pedidos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93065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93065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747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zui_pc_pedidos_compras.srvd.asrvd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ZAVBS_PC_PEDIDOS › Business Services (reconstruída do $metadata do app)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EndUserText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 de Compras'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ZUI_PC_PEDIDOS_COMPRAS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ZC_PC_ITEM_PEDIDO_APP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ZC_PC_PAGAMENTO_APP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usados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pela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ZC_PC_CLIENTE_VH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ClienteVH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ZC_PC_ITEM_VH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ItemVH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ZC_PC_STATUSPED_VH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StatusPedidoVH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demais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Projeções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Exponha as </a:t>
            </a:r>
            <a:r>
              <a:rPr lang="en-US" sz="1050" b="1" dirty="0">
                <a:solidFill>
                  <a:srgbClr val="556B82"/>
                </a:solidFill>
              </a:rPr>
              <a:t>projection views</a:t>
            </a:r>
            <a:r>
              <a:rPr lang="en-US" sz="1050" dirty="0">
                <a:solidFill>
                  <a:srgbClr val="556B82"/>
                </a:solidFill>
              </a:rPr>
              <a:t> (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</a:t>
            </a:r>
            <a:r>
              <a:rPr lang="en-US" sz="1050" dirty="0">
                <a:solidFill>
                  <a:srgbClr val="556B82"/>
                </a:solidFill>
              </a:rPr>
              <a:t>), feitas para este consumo, e não o BO base.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Alias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Pedido</a:t>
            </a:r>
            <a:r>
              <a:rPr lang="en-US" sz="1050" dirty="0">
                <a:solidFill>
                  <a:srgbClr val="556B82"/>
                </a:solidFill>
              </a:rPr>
              <a:t> vira o nome do entity set; o nome técnico pode mudar sem quebrar a URL.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Associações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entidades expostas podem ser navegadas, como Pedido → ItemPedido.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Value helps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Entidades usadas em ajudas de pesquisa também precisam estar no serviço.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05.02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Service binding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binding liga a definition a um </a:t>
            </a:r>
            <a:r>
              <a:rPr lang="en-US" sz="1600" b="1" dirty="0">
                <a:solidFill>
                  <a:srgbClr val="D1EFFF"/>
                </a:solidFill>
              </a:rPr>
              <a:t>protocolo</a:t>
            </a:r>
            <a:r>
              <a:rPr lang="en-US" sz="1600" dirty="0">
                <a:solidFill>
                  <a:srgbClr val="D1EFFF"/>
                </a:solidFill>
              </a:rPr>
              <a:t> e a um </a:t>
            </a:r>
            <a:r>
              <a:rPr lang="en-US" sz="1600" b="1" dirty="0">
                <a:solidFill>
                  <a:srgbClr val="D1EFFF"/>
                </a:solidFill>
              </a:rPr>
              <a:t>tipo de uso</a:t>
            </a:r>
            <a:r>
              <a:rPr lang="en-US" sz="1600" dirty="0">
                <a:solidFill>
                  <a:srgbClr val="D1EFFF"/>
                </a:solidFill>
              </a:rPr>
              <a:t>. Uma definition pode ter vários bindings.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OData V4 · UI</a:t>
            </a:r>
            <a:r>
              <a:rPr lang="en-US" sz="1000" dirty="0">
                <a:solidFill>
                  <a:srgbClr val="D1EFFF"/>
                </a:solidFill>
              </a:rPr>
              <a:t>  Fiori elements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OData V4 · Web API</a:t>
            </a:r>
            <a:r>
              <a:rPr lang="en-US" sz="1000" dirty="0">
                <a:solidFill>
                  <a:srgbClr val="D1EFFF"/>
                </a:solidFill>
              </a:rPr>
              <a:t>  integração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OData V2</a:t>
            </a:r>
            <a:r>
              <a:rPr lang="en-US" sz="1000" dirty="0">
                <a:solidFill>
                  <a:srgbClr val="D1EFFF"/>
                </a:solidFill>
              </a:rPr>
              <a:t>  compatibilidade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InA · SQL</a:t>
            </a:r>
            <a:r>
              <a:rPr lang="en-US" sz="1000" dirty="0">
                <a:solidFill>
                  <a:srgbClr val="D1EFFF"/>
                </a:solidFill>
              </a:rPr>
              <a:t>  analítico e ODBC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COMO EXPOR · BINDING TYPES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Escolha protocolo e tipo de uso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043152"/>
                <a:gridCol w="3606698"/>
                <a:gridCol w="417024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Binding type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Consumidor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Observação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OData V4 - UI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Fiori elements, SAPUI5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Recomendado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para apps novos; inclui anotações de UI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OData V4 - Web API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Outros sistemas, terceiros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Metadados de UI são ignorados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OData V2 - UI / Web API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Apps e integrações legadas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Use só por compatibilidade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InA - UI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SAP Analytics Cloud, Analysis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Para queries analíticas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SQL - Web API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Clientes ODBC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Acesso SQL a views expostas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755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7550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Convenção  </a:t>
            </a:r>
            <a:r>
              <a:rPr lang="en-US" sz="1200" dirty="0">
                <a:solidFill>
                  <a:srgbClr val="1D2D3E"/>
                </a:solidFill>
              </a:rPr>
              <a:t>o binding do projeto é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ZUI_PC_PEDIDOS_COMPRAS_O4</a:t>
            </a:r>
            <a:r>
              <a:rPr lang="en-US" sz="1200" dirty="0">
                <a:solidFill>
                  <a:srgbClr val="1D2D3E"/>
                </a:solidFill>
              </a:rPr>
              <a:t>: prefixo </a:t>
            </a:r>
            <a:r>
              <a:rPr lang="en-US" sz="1200" b="1" dirty="0">
                <a:solidFill>
                  <a:srgbClr val="1D2D3E"/>
                </a:solidFill>
              </a:rPr>
              <a:t>UI</a:t>
            </a:r>
            <a:r>
              <a:rPr lang="en-US" sz="1200" dirty="0">
                <a:solidFill>
                  <a:srgbClr val="1D2D3E"/>
                </a:solidFill>
              </a:rPr>
              <a:t>, sufixo </a:t>
            </a:r>
            <a:r>
              <a:rPr lang="en-US" sz="1200" b="1" dirty="0">
                <a:solidFill>
                  <a:srgbClr val="1D2D3E"/>
                </a:solidFill>
              </a:rPr>
              <a:t>O4</a:t>
            </a:r>
            <a:r>
              <a:rPr lang="en-US" sz="1200" dirty="0">
                <a:solidFill>
                  <a:srgbClr val="1D2D3E"/>
                </a:solidFill>
              </a:rPr>
              <a:t> para OData V4.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035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COMO EXPOR · UI OU WEB API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Mesmo serviço, dois contratos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UI service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$metadata</a:t>
            </a:r>
            <a:r>
              <a:rPr lang="en-US" sz="1350" dirty="0">
                <a:solidFill>
                  <a:srgbClr val="1D2D3E"/>
                </a:solidFill>
              </a:rPr>
              <a:t> traz anotações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350" dirty="0">
                <a:solidFill>
                  <a:srgbClr val="1D2D3E"/>
                </a:solidFill>
              </a:rPr>
              <a:t>, textos e value helps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Feito para a tela, com </a:t>
            </a:r>
            <a:r>
              <a:rPr lang="en-US" sz="1350" b="1" dirty="0">
                <a:solidFill>
                  <a:srgbClr val="1D2D3E"/>
                </a:solidFill>
              </a:rPr>
              <a:t>draft</a:t>
            </a:r>
            <a:r>
              <a:rPr lang="en-US" sz="1350" dirty="0">
                <a:solidFill>
                  <a:srgbClr val="1D2D3E"/>
                </a:solidFill>
              </a:rPr>
              <a:t> e side effects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Contrato pensado para um app específico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Web API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Sem anotações de UI no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$metadata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Contrato estável para outros sistemas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Pode ser liberado como </a:t>
            </a:r>
            <a:r>
              <a:rPr lang="en-US" sz="1350" b="1" dirty="0">
                <a:solidFill>
                  <a:srgbClr val="1D2D3E"/>
                </a:solidFill>
              </a:rPr>
              <a:t>API remota</a:t>
            </a:r>
            <a:r>
              <a:rPr lang="en-US" sz="1350" dirty="0">
                <a:solidFill>
                  <a:srgbClr val="1D2D3E"/>
                </a:solidFill>
              </a:rPr>
              <a:t> (C2)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15782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15782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05.02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Publicar e testar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Ao publicar, o serviço ganha um endpoint. O </a:t>
            </a:r>
            <a:r>
              <a:rPr lang="en-US" sz="1600" b="1" dirty="0">
                <a:solidFill>
                  <a:srgbClr val="D1EFFF"/>
                </a:solidFill>
              </a:rPr>
              <a:t>preview</a:t>
            </a:r>
            <a:r>
              <a:rPr lang="en-US" sz="1600" dirty="0">
                <a:solidFill>
                  <a:srgbClr val="D1EFFF"/>
                </a:solidFill>
              </a:rPr>
              <a:t> do ADT abre um app Fiori elements sem gerar nenhum projeto.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000" dirty="0">
                <a:solidFill>
                  <a:srgbClr val="D1EFFF"/>
                </a:solidFill>
              </a:rPr>
              <a:t>  endpoint local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URL</a:t>
            </a:r>
            <a:r>
              <a:rPr lang="en-US" sz="1000" dirty="0">
                <a:solidFill>
                  <a:srgbClr val="D1EFFF"/>
                </a:solidFill>
              </a:rPr>
              <a:t>  e entity sets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</a:t>
            </a:r>
            <a:r>
              <a:rPr lang="en-US" sz="1000" dirty="0">
                <a:solidFill>
                  <a:srgbClr val="D1EFFF"/>
                </a:solidFill>
              </a:rPr>
              <a:t>  Fiori elements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$metadata</a:t>
            </a:r>
            <a:r>
              <a:rPr lang="en-US" sz="1000" dirty="0">
                <a:solidFill>
                  <a:srgbClr val="D1EFFF"/>
                </a:solidFill>
              </a:rPr>
              <a:t>  conferir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PUBLISH · NO PROJETO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 ativação ao primeiro preview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56489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268980"/>
            <a:ext cx="22569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Ativar e popular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Ativar os objetos na ordem do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abap/README.md</a:t>
            </a:r>
            <a:r>
              <a:rPr lang="en-US" sz="1150" dirty="0">
                <a:solidFill>
                  <a:srgbClr val="556B82"/>
                </a:solidFill>
              </a:rPr>
              <a:t> (seção 8.2) e rodar a classe de setup com dados de demonstração.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268980"/>
            <a:ext cx="22569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Abrir o binding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ZUI_PC_PEDIDOS_COMPRAS_O4</a:t>
            </a:r>
            <a:r>
              <a:rPr lang="en-US" sz="1150" dirty="0">
                <a:solidFill>
                  <a:srgbClr val="556B82"/>
                </a:solidFill>
              </a:rPr>
              <a:t>, em </a:t>
            </a:r>
            <a:r>
              <a:rPr lang="en-US" sz="1150" i="1" dirty="0">
                <a:solidFill>
                  <a:srgbClr val="556B82"/>
                </a:solidFill>
              </a:rPr>
              <a:t>Business Services › Service Bindings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268980"/>
            <a:ext cx="22569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Publish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 endpoint local é ativado; aparecem Service URL, entidades e associações.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268980"/>
            <a:ext cx="22569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Preview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Selecionar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r>
              <a:rPr lang="en-US" sz="1150" dirty="0">
                <a:solidFill>
                  <a:srgbClr val="556B82"/>
                </a:solidFill>
              </a:rPr>
              <a:t> e </a:t>
            </a:r>
            <a:r>
              <a:rPr lang="en-US" sz="1150" b="1" dirty="0">
                <a:solidFill>
                  <a:srgbClr val="556B82"/>
                </a:solidFill>
              </a:rPr>
              <a:t>Preview</a:t>
            </a:r>
            <a:r>
              <a:rPr lang="en-US" sz="1150" dirty="0">
                <a:solidFill>
                  <a:srgbClr val="556B82"/>
                </a:solidFill>
              </a:rPr>
              <a:t>: abre um List Report no navegador.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337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503377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Tabela vazia?  </a:t>
            </a:r>
            <a:r>
              <a:rPr lang="en-US" sz="1200" dirty="0">
                <a:solidFill>
                  <a:srgbClr val="1D2D3E"/>
                </a:solidFill>
              </a:rPr>
              <a:t>é o esperado: sem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200" dirty="0">
                <a:solidFill>
                  <a:srgbClr val="1D2D3E"/>
                </a:solidFill>
              </a:rPr>
              <a:t> não há colunas. As anotações vêm na próxima aula.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16178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camada de serviço do RAP liga o BO a apps Fiori, Web APIs e outros consumidores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Service definition</a:t>
            </a:r>
            <a:r>
              <a:rPr lang="en-US" sz="1400" dirty="0">
                <a:solidFill>
                  <a:srgbClr val="FFFFFF"/>
                </a:solidFill>
              </a:rPr>
              <a:t> lista as entidades expostas, com </a:t>
            </a:r>
            <a:r>
              <a:rPr lang="en-US" sz="1400" b="1" dirty="0">
                <a:solidFill>
                  <a:srgbClr val="FFFFFF"/>
                </a:solidFill>
              </a:rPr>
              <a:t>alias</a:t>
            </a:r>
            <a:r>
              <a:rPr lang="en-US" sz="1400" dirty="0">
                <a:solidFill>
                  <a:srgbClr val="FFFFFF"/>
                </a:solidFill>
              </a:rPr>
              <a:t> públicos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Exponha projeções, entidades navegáveis e as usadas em </a:t>
            </a:r>
            <a:r>
              <a:rPr lang="en-US" sz="1400" b="1" dirty="0">
                <a:solidFill>
                  <a:srgbClr val="FFFFFF"/>
                </a:solidFill>
              </a:rPr>
              <a:t>value helps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Service binding</a:t>
            </a:r>
            <a:r>
              <a:rPr lang="en-US" sz="1400" dirty="0">
                <a:solidFill>
                  <a:srgbClr val="FFFFFF"/>
                </a:solidFill>
              </a:rPr>
              <a:t> escolhe protocolo e uso: </a:t>
            </a:r>
            <a:r>
              <a:rPr lang="en-US" sz="1400" b="1" dirty="0">
                <a:solidFill>
                  <a:srgbClr val="FFFFFF"/>
                </a:solidFill>
              </a:rPr>
              <a:t>OData V4 - UI</a:t>
            </a:r>
            <a:r>
              <a:rPr lang="en-US" sz="1400" dirty="0">
                <a:solidFill>
                  <a:srgbClr val="FFFFFF"/>
                </a:solidFill>
              </a:rPr>
              <a:t> para Fiori elements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Web API omite metadados de UI e serve integrações entre sistemas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Publish</a:t>
            </a:r>
            <a:r>
              <a:rPr lang="en-US" sz="1400" dirty="0">
                <a:solidFill>
                  <a:srgbClr val="FFFFFF"/>
                </a:solidFill>
              </a:rPr>
              <a:t> ativa o endpoint; o </a:t>
            </a:r>
            <a:r>
              <a:rPr lang="en-US" sz="1400" b="1" dirty="0">
                <a:solidFill>
                  <a:srgbClr val="FFFFFF"/>
                </a:solidFill>
              </a:rPr>
              <a:t>Preview</a:t>
            </a:r>
            <a:r>
              <a:rPr lang="en-US" sz="1400" dirty="0">
                <a:solidFill>
                  <a:srgbClr val="FFFFFF"/>
                </a:solidFill>
              </a:rPr>
              <a:t> do ADT mostra o app sem projeto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05.03  </a:t>
            </a:r>
            <a:r>
              <a:rPr lang="en-US" sz="1500" dirty="0">
                <a:solidFill>
                  <a:srgbClr val="FFFFFF"/>
                </a:solidFill>
              </a:rPr>
              <a:t>Anotações de UI: headerInfo, lineItem, selectionField.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05.02 Exposição de serviços no RAP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2026-10-29T13:45:00Z</dcterms:created>
  <dcterms:modified xsi:type="dcterms:W3CDTF">2026-10-29T13:45:00Z</dcterms:modified>
</cp:coreProperties>
</file>