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10 de 11 — Programação flexível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10 de 11 — Programação flexível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10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Flexible Programming Model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Extension points, building blocks e controller extensions: código próprio dentro do Fiori elements, sem perder os recursos do framework.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10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10</a:t>
            </a:r>
            <a:endParaRPr lang="en-US" sz="1260" dirty="0"/>
          </a:p>
        </p:txBody>
      </p:sp>
      <p:sp>
        <p:nvSpPr>
          <p:cNvPr id="52" name="Text 50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351880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51880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propomos ao app Pedidos de Compras uma seção Entrega com o mapa do endereço e uma mensagem montada com building blocks (o projeto ainda não usa extensões).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Quando o padrão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Até aqui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anotações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Nenhuma linha de código de UI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Cobre a maioria dos cenários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Flexible Programming Model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Código próprio em pontos </a:t>
            </a:r>
            <a:r>
              <a:rPr lang="en-US" sz="1350" b="1" dirty="0">
                <a:solidFill>
                  <a:srgbClr val="1D2D3E"/>
                </a:solidFill>
              </a:rPr>
              <a:t>oficiais</a:t>
            </a:r>
            <a:r>
              <a:rPr lang="en-US" sz="1350" dirty="0">
                <a:solidFill>
                  <a:srgbClr val="1D2D3E"/>
                </a:solidFill>
              </a:rPr>
              <a:t> do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Disponível desde o SAPUI5 </a:t>
            </a:r>
            <a:r>
              <a:rPr lang="en-US" sz="1350" b="1" dirty="0">
                <a:solidFill>
                  <a:srgbClr val="1D2D3E"/>
                </a:solidFill>
              </a:rPr>
              <a:t>1.94</a:t>
            </a:r>
            <a:r>
              <a:rPr lang="en-US" sz="1350" dirty="0">
                <a:solidFill>
                  <a:srgbClr val="1D2D3E"/>
                </a:solidFill>
              </a:rPr>
              <a:t> (OData V4)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estáveis enquanto o Fiori elements evolui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Último recurso  </a:t>
            </a:r>
            <a:r>
              <a:rPr lang="en-US" sz="1200" dirty="0">
                <a:solidFill>
                  <a:srgbClr val="1D2D3E"/>
                </a:solidFill>
              </a:rPr>
              <a:t>prefira recursos padrão; extensões aumentam esforço, manutenção e risco de inconsistência visual.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05.10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 três ferramentas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Extension points recebem sua UI, building blocks trazem peças prontas e controller extensions mudam o comportamento.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 points</a:t>
            </a:r>
            <a:r>
              <a:rPr lang="en-US" sz="1000" dirty="0">
                <a:solidFill>
                  <a:srgbClr val="D1EFFF"/>
                </a:solidFill>
              </a:rPr>
              <a:t>  onde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blocks</a:t>
            </a:r>
            <a:r>
              <a:rPr lang="en-US" sz="1000" dirty="0">
                <a:solidFill>
                  <a:srgbClr val="D1EFFF"/>
                </a:solidFill>
              </a:rPr>
              <a:t>  com o quê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 extensions</a:t>
            </a:r>
            <a:r>
              <a:rPr lang="en-US" sz="1000" dirty="0">
                <a:solidFill>
                  <a:srgbClr val="D1EFFF"/>
                </a:solidFill>
              </a:rPr>
              <a:t>  como se comporta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portal</a:t>
            </a:r>
            <a:r>
              <a:rPr lang="en-US" sz="1000" dirty="0">
                <a:solidFill>
                  <a:srgbClr val="D1EFFF"/>
                </a:solidFill>
              </a:rPr>
              <a:t>  explorar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CAPACIDADES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formas de estender um app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Extension points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"Ganchos" do framework: custom sections, colunas, ações, filtros e até páginas inteiras.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Building blocks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Peças reutilizáveis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r>
              <a:rPr lang="en-US" sz="1300" dirty="0">
                <a:solidFill>
                  <a:srgbClr val="556B82"/>
                </a:solidFill>
              </a:rPr>
              <a:t>) como Field, Table, Chart e FilterBar, guiadas por metadados.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Controller extensions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Sobrescrevem ou complementam a lógica padrão: eventos, ciclo de vida, edit flow, navegação.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Explorar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SAP Fiori development portal</a:t>
            </a:r>
            <a:r>
              <a:rPr lang="en-US" sz="1200" dirty="0">
                <a:solidFill>
                  <a:srgbClr val="1D2D3E"/>
                </a:solidFill>
              </a:rPr>
              <a:t> (antes </a:t>
            </a:r>
            <a:r>
              <a:rPr lang="en-US" sz="1200" i="1" dirty="0">
                <a:solidFill>
                  <a:srgbClr val="1D2D3E"/>
                </a:solidFill>
              </a:rPr>
              <a:t>flexible programming model explorer</a:t>
            </a:r>
            <a:r>
              <a:rPr lang="en-US" sz="1200" dirty="0">
                <a:solidFill>
                  <a:srgbClr val="1D2D3E"/>
                </a:solidFill>
              </a:rPr>
              <a:t>) mostra building blocks, padrões, floorplans e custom pages com edição ao vivo.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05.10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Extension points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fragmento XML</a:t>
            </a:r>
            <a:r>
              <a:rPr lang="en-US" sz="1600" dirty="0">
                <a:solidFill>
                  <a:srgbClr val="D1EFFF"/>
                </a:solidFill>
              </a:rPr>
              <a:t> 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600" dirty="0">
                <a:solidFill>
                  <a:srgbClr val="D1EFFF"/>
                </a:solidFill>
              </a:rPr>
              <a:t>, opcionalmente com controller, registrado no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600" dirty="0">
                <a:solidFill>
                  <a:srgbClr val="D1EFFF"/>
                </a:solidFill>
              </a:rPr>
              <a:t>. O </a:t>
            </a:r>
            <a:r>
              <a:rPr lang="en-US" sz="1600" b="1" dirty="0">
                <a:solidFill>
                  <a:srgbClr val="D1EFFF"/>
                </a:solidFill>
              </a:rPr>
              <a:t>Page Editor</a:t>
            </a:r>
            <a:r>
              <a:rPr lang="en-US" sz="1600" dirty="0">
                <a:solidFill>
                  <a:srgbClr val="D1EFFF"/>
                </a:solidFill>
              </a:rPr>
              <a:t> gera tudo.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section</a:t>
            </a:r>
            <a:r>
              <a:rPr lang="en-US" sz="1000" dirty="0">
                <a:solidFill>
                  <a:srgbClr val="D1EFFF"/>
                </a:solidFill>
              </a:rPr>
              <a:t>  Object Page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column · action</a:t>
            </a:r>
            <a:r>
              <a:rPr lang="en-US" sz="1000" dirty="0">
                <a:solidFill>
                  <a:srgbClr val="D1EFFF"/>
                </a:solidFill>
              </a:rPr>
              <a:t>  tabelas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000" dirty="0">
                <a:solidFill>
                  <a:srgbClr val="D1EFFF"/>
                </a:solidFill>
              </a:rPr>
              <a:t>  fragmento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Editor</a:t>
            </a:r>
            <a:r>
              <a:rPr lang="en-US" sz="1000" dirty="0">
                <a:solidFill>
                  <a:srgbClr val="D1EFFF"/>
                </a:solidFill>
              </a:rPr>
              <a:t>  gera os arquivos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EXTENSÕES · EXERCÍCIO PROPOSTO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seção Entrega com mapa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411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manifest.json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"content": { "body": { "sections":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"Entrega":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"template": "pedidoscompras.ext.fragment.Entrega",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"title": "Entrega",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"position":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"placement": "After",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"anchor": "Itens"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541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Registrado nas settings da Object Page do Pedido; o Page Editor escreve isto.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08996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089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Fragmento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webapp/ext/fragment/Entrega.fragment.xml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"sap.ui.core" xmlns="sap.m"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"sap.ui.vbm"&gt;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VBox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AnalyticMap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"mapaEntrega"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"100%" height="600px"&gt;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AnalyticMap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/VBox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029200"/>
            <a:ext cx="541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SAPUI5 comum dentro do Fiori elements: aqui, um mapa, recurso que o padrão não oferece.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05.10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Building blocks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Não são controles SAPUI5: são </a:t>
            </a:r>
            <a:r>
              <a:rPr lang="en-US" sz="1600" b="1" dirty="0">
                <a:solidFill>
                  <a:srgbClr val="D1EFFF"/>
                </a:solidFill>
              </a:rPr>
              <a:t>instruções de template</a:t>
            </a:r>
            <a:r>
              <a:rPr lang="en-US" sz="1600" dirty="0">
                <a:solidFill>
                  <a:srgbClr val="D1EFFF"/>
                </a:solidFill>
              </a:rPr>
              <a:t> que geram controles a partir dos metadados, com draft e side effects inclusos.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macros:Field</a:t>
            </a:r>
            <a:r>
              <a:rPr lang="en-US" sz="1000" dirty="0">
                <a:solidFill>
                  <a:srgbClr val="D1EFFF"/>
                </a:solidFill>
              </a:rPr>
              <a:t>  campo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macros:Table</a:t>
            </a:r>
            <a:r>
              <a:rPr lang="en-US" sz="1000" dirty="0">
                <a:solidFill>
                  <a:srgbClr val="D1EFFF"/>
                </a:solidFill>
              </a:rPr>
              <a:t>  tabela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metaPath</a:t>
            </a:r>
            <a:r>
              <a:rPr lang="en-US" sz="1000" dirty="0">
                <a:solidFill>
                  <a:srgbClr val="D1EFFF"/>
                </a:solidFill>
              </a:rPr>
              <a:t>  ligação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page</a:t>
            </a:r>
            <a:r>
              <a:rPr lang="en-US" sz="1000" dirty="0">
                <a:solidFill>
                  <a:srgbClr val="D1EFFF"/>
                </a:solidFill>
              </a:rPr>
              <a:t>  só building blocks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BUILDING BLOCKS · EXERCÍCIO PROPOSTO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mensagem com campos do próprio objeto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webapp/ext/fragment/Entrega.fragment.xml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pedidos-compras › webapp › ext (proposta)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"sap.ui.core" xmlns="sap.m"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"sap.fe.macros"&gt;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 registrado em" class="sapUiTinyMarginEnd"/&gt;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"custom-criado" metaPath="CreatedAt" readOnly="true"/&gt;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"para" class="sapUiTinyMarginBeginEnd"/&gt;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"custom-cliente" metaPath="NomeCliente" readOnly="true"/&gt;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abaixo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/VBox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biblioteca de building blocks do Fiori elements.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metaPath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Aponta para a propriedade; formato, rótulo e texto vêm dos metadados.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IDs estáveis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Exigidos pelas tools; um quick fix gera os que faltam.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Mesmo comportamento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campo respeita draft, edição e formatação como os campos padrão.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05.10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Controller extensions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mudar </a:t>
            </a:r>
            <a:r>
              <a:rPr lang="en-US" sz="1600" b="1" dirty="0">
                <a:solidFill>
                  <a:srgbClr val="D1EFFF"/>
                </a:solidFill>
              </a:rPr>
              <a:t>comportamento</a:t>
            </a:r>
            <a:r>
              <a:rPr lang="en-US" sz="1600" dirty="0">
                <a:solidFill>
                  <a:srgbClr val="D1EFFF"/>
                </a:solidFill>
              </a:rPr>
              <a:t>, um controller extension sobrescreve métodos via </a:t>
            </a:r>
            <a:r>
              <a:rPr lang="en-US" sz="1600" b="1" dirty="0">
                <a:solidFill>
                  <a:srgbClr val="D1EFFF"/>
                </a:solidFill>
              </a:rPr>
              <a:t>Extension API</a:t>
            </a:r>
            <a:r>
              <a:rPr lang="en-US" sz="1600" dirty="0">
                <a:solidFill>
                  <a:srgbClr val="D1EFFF"/>
                </a:solidFill>
              </a:rPr>
              <a:t>, a única interface suportada.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r>
              <a:rPr lang="en-US" sz="1000" dirty="0">
                <a:solidFill>
                  <a:srgbClr val="D1EFFF"/>
                </a:solidFill>
              </a:rPr>
              <a:t>  ciclo de vida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1000" dirty="0">
                <a:solidFill>
                  <a:srgbClr val="D1EFFF"/>
                </a:solidFill>
              </a:rPr>
              <a:t>  salvar, editar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</a:t>
            </a:r>
            <a:r>
              <a:rPr lang="en-US" sz="1000" dirty="0">
                <a:solidFill>
                  <a:srgbClr val="D1EFFF"/>
                </a:solidFill>
              </a:rPr>
              <a:t>  API pública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internos</a:t>
            </a:r>
            <a:r>
              <a:rPr lang="en-US" sz="1000" dirty="0">
                <a:solidFill>
                  <a:srgbClr val="D1EFFF"/>
                </a:solidFill>
              </a:rPr>
              <a:t>  upgrade-safe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LÓGICA · EXEMPLO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Validar antes de salvar o pedido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7856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7856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webapp/ext/controller/PedidoOP.controller.js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pedidos-compras › webapp › ext (proposta)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"sap/ui/core/mvc/ControllerExtension"],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strict";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"pedidoscompras.ext.controller.PedidoOP",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onInit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onBeforeSave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checagem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ControllerExtension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Registrado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sap.ui.controllerExtensions</a:t>
            </a:r>
            <a:r>
              <a:rPr lang="en-US" sz="1050" dirty="0">
                <a:solidFill>
                  <a:srgbClr val="556B82"/>
                </a:solidFill>
              </a:rPr>
              <a:t> no manifest para a página.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Pontos oficiais: ciclo de vida,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intentBasedNavigation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Extension API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getExtensionAPI()</a:t>
            </a:r>
            <a:r>
              <a:rPr lang="en-US" sz="1050" dirty="0">
                <a:solidFill>
                  <a:srgbClr val="556B82"/>
                </a:solidFill>
              </a:rPr>
              <a:t> é a única porta suportada; não mexa em controles internos.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Divisão de papéis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Validações de negócio continuam no BO RAP,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ValidarRegistro</a:t>
            </a:r>
            <a:r>
              <a:rPr lang="en-US" sz="1050" dirty="0">
                <a:solidFill>
                  <a:srgbClr val="556B82"/>
                </a:solidFill>
              </a:rPr>
              <a:t> no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Flexible Programming Model</a:t>
            </a:r>
            <a:r>
              <a:rPr lang="en-US" sz="1400" dirty="0">
                <a:solidFill>
                  <a:srgbClr val="FFFFFF"/>
                </a:solidFill>
              </a:rPr>
              <a:t> estende apps OData V4 em pontos oficiais (SAPUI5 1.94+)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extensões só quando o padrão não atende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Extension points</a:t>
            </a:r>
            <a:r>
              <a:rPr lang="en-US" sz="1400" dirty="0">
                <a:solidFill>
                  <a:srgbClr val="FFFFFF"/>
                </a:solidFill>
              </a:rPr>
              <a:t>: fragmentos em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webapp/ext</a:t>
            </a:r>
            <a:r>
              <a:rPr lang="en-US" sz="1400" dirty="0">
                <a:solidFill>
                  <a:srgbClr val="FFFFFF"/>
                </a:solidFill>
              </a:rPr>
              <a:t> para seções, colunas, ações e páginas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Building blocks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r>
              <a:rPr lang="en-US" sz="1400" dirty="0">
                <a:solidFill>
                  <a:srgbClr val="FFFFFF"/>
                </a:solidFill>
              </a:rPr>
              <a:t>) geram controles a partir dos metadados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Controller extensions</a:t>
            </a:r>
            <a:r>
              <a:rPr lang="en-US" sz="1400" dirty="0">
                <a:solidFill>
                  <a:srgbClr val="FFFFFF"/>
                </a:solidFill>
              </a:rPr>
              <a:t> mudam o comportamento via </a:t>
            </a:r>
            <a:r>
              <a:rPr lang="en-US" sz="1400" b="1" dirty="0">
                <a:solidFill>
                  <a:srgbClr val="FFFFFF"/>
                </a:solidFill>
              </a:rPr>
              <a:t>Extension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SAP Fiori development portal</a:t>
            </a:r>
            <a:r>
              <a:rPr lang="en-US" sz="1400" dirty="0">
                <a:solidFill>
                  <a:srgbClr val="FFFFFF"/>
                </a:solidFill>
              </a:rPr>
              <a:t> permite explorar tudo com edição ao vivo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05.11  </a:t>
            </a:r>
            <a:r>
              <a:rPr lang="en-US" sz="1500" dirty="0">
                <a:solidFill>
                  <a:srgbClr val="FFFFFF"/>
                </a:solidFill>
              </a:rPr>
              <a:t>Deploy: Publicação, launchpad e acesso.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05.10 Flexible Programming Model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2026-10-29T13:45:40Z</dcterms:created>
  <dcterms:modified xsi:type="dcterms:W3CDTF">2026-10-29T13:45:40Z</dcterms:modified>
</cp:coreProperties>
</file>