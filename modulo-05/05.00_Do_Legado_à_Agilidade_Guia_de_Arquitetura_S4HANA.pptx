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05  ·  05.00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05  ·  05.00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05  ·  05.00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05  ·  Guia Essencial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Do Legado à Agilidade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Um guia de arquitetura para extensibilidade Clean Core em SAP S/4HANA — para desenvolvedores e arquitetos SAP.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6002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0" y="1600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Modificações · SPDD/SPAU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732520" y="2167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732520" y="2350008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0" y="23500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Tier 1 · Key User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32520" y="3099816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0" y="309981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Tier 2 · ABAP Cloud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32520" y="3849624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0" y="38496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Tier 3 · BTP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32520" y="4599432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0" y="45994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Cloud BAdIs · Wrappers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3236976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737360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“Spaghetti” do Passado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Por Que os Upgrades se Tornaram Pesadelos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No mundo ECC, a flexibilidade sem governança nos levou a uma enorme dívida técnica. Modificações diretas no código standard e o uso de APIs internas instáveis entrelaçaram o nosso código com o da SAP, tornando cada upgrade um projeto arriscado, demorado e caro.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A0808"/>
                </a:solidFill>
              </a:rPr>
              <a:t>Más práticas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39136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Modificação do Core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 Keys</a:t>
            </a:r>
            <a:r>
              <a:rPr lang="en-US" sz="1300" dirty="0">
                <a:solidFill>
                  <a:srgbClr val="556B82"/>
                </a:solidFill>
              </a:rPr>
              <a:t> em programas como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MV45AFZZ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681728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46634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Estruturas invasivas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 STRUCTURE</a:t>
            </a:r>
            <a:r>
              <a:rPr lang="en-US" sz="1300" dirty="0">
                <a:solidFill>
                  <a:srgbClr val="556B82"/>
                </a:solidFill>
              </a:rPr>
              <a:t> em tabelas críticas como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VBAK</a:t>
            </a:r>
            <a:r>
              <a:rPr lang="en-US" sz="1300" dirty="0">
                <a:solidFill>
                  <a:srgbClr val="556B82"/>
                </a:solidFill>
              </a:rPr>
              <a:t> 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MARA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5431536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541324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APIs instáveis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Chamadas a módulos de função internos 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556B82"/>
                </a:solidFill>
              </a:rPr>
              <a:t>s em tabelas de sistema.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0" y="1783080"/>
            <a:ext cx="4114800" cy="4114800"/>
          </a:xfrm>
          <a:prstGeom prst="ellipse">
            <a:avLst/>
          </a:prstGeom>
          <a:solidFill>
            <a:srgbClr val="EEF1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6500"/>
                </a:solidFill>
              </a:rPr>
              <a:t>SPDD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6500"/>
                </a:solidFill>
              </a:rPr>
              <a:t>SPAU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892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6500"/>
                </a:solidFill>
              </a:rPr>
              <a:t>SPAU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0" y="4526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6500"/>
                </a:solidFill>
              </a:rPr>
              <a:t>SPDD</a:t>
            </a:r>
            <a:endParaRPr lang="en-US" sz="1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4030675"/>
            <a:ext cx="213970" cy="21397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" y="4780483"/>
            <a:ext cx="213970" cy="213970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5530291"/>
            <a:ext cx="213970" cy="213970"/>
          </a:xfrm>
          <a:prstGeom prst="rect">
            <a:avLst/>
          </a:prstGeom>
        </p:spPr>
      </p:pic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423160"/>
            <a:ext cx="2377440" cy="2377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Promessa do Clean Core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Inovação Segura e Upgrades Contínuos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princípio é simples: </a:t>
            </a:r>
            <a:r>
              <a:rPr lang="en-US" sz="1600" b="1" dirty="0">
                <a:solidFill>
                  <a:srgbClr val="1D2D3E"/>
                </a:solidFill>
              </a:rPr>
              <a:t>o código padrão da SAP (o Core) deve permanecer intocado</a:t>
            </a:r>
            <a:r>
              <a:rPr lang="en-US" sz="1600" dirty="0">
                <a:solidFill>
                  <a:srgbClr val="1D2D3E"/>
                </a:solidFill>
              </a:rPr>
              <a:t>, como uma ‘caixa preta’ selada. Toda a nossa lógica de negócio interage com ele apenas através de portas de conexão estáveis e públicas.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48" y="2848356"/>
            <a:ext cx="0" cy="1312164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28920" y="2665476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28920" y="2665476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Released API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 flipV="1">
            <a:off x="6095848" y="3504438"/>
            <a:ext cx="1385814" cy="656082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14733" y="3321558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14733" y="332155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Released 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95848" y="4160520"/>
            <a:ext cx="1385814" cy="656082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14733" y="4633722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14733" y="4633722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Released API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95848" y="4160520"/>
            <a:ext cx="0" cy="1312164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28920" y="5289804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28920" y="5289804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Released API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flipV="1">
            <a:off x="4710034" y="4160520"/>
            <a:ext cx="1385814" cy="656082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43106" y="4633722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43106" y="4633722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Released API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10034" y="3504438"/>
            <a:ext cx="1385814" cy="656082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43106" y="3321558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43106" y="332155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Released API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27168" y="3291840"/>
            <a:ext cx="1737360" cy="1737360"/>
          </a:xfrm>
          <a:prstGeom prst="ellipse">
            <a:avLst/>
          </a:prstGeom>
          <a:solidFill>
            <a:srgbClr val="1D2D3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318608" y="329184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SAP S/4HANA Standard Core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2697480"/>
            <a:ext cx="32918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31520" y="26974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1. Nenhuma modificação direta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Objetos standard são intocáveis.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32918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31520" y="461772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2. Uso exclusivo de APIs públicas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Interaja apenas através de ‘Released APIs’ (whitelisted).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51215" y="3657600"/>
            <a:ext cx="32918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534095" y="36576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3. Separação lógica/física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Customizações vivem em um ambiente isolado, não misturadas ao standard.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Experiência do Usuário Deixa de Ser Técnica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 revolução não é apenas no código: é na tela. Saímos de um sistema focado em funções (SAP GUI) para um focado na intenção do usuário (Fiori). O objetivo é a “Consumer-Grade UX”: tão intuitivo quanto os apps do seu celular.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999427" cy="3520440"/>
          </a:xfrm>
          <a:prstGeom prst="roundRect">
            <a:avLst>
              <a:gd name="adj" fmla="val 640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907792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3666744"/>
            <a:ext cx="1487363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Role-Based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Apps para </a:t>
            </a:r>
            <a:r>
              <a:rPr lang="en-US" sz="1400" b="1" dirty="0">
                <a:solidFill>
                  <a:srgbClr val="556B82"/>
                </a:solidFill>
              </a:rPr>
              <a:t>quem</a:t>
            </a:r>
            <a:r>
              <a:rPr lang="en-US" sz="1400" dirty="0">
                <a:solidFill>
                  <a:srgbClr val="556B82"/>
                </a:solidFill>
              </a:rPr>
              <a:t> usa, não para </a:t>
            </a:r>
            <a:r>
              <a:rPr lang="en-US" sz="1400" b="1" dirty="0">
                <a:solidFill>
                  <a:srgbClr val="556B82"/>
                </a:solidFill>
              </a:rPr>
              <a:t>o que</a:t>
            </a:r>
            <a:r>
              <a:rPr lang="en-US" sz="1400" dirty="0">
                <a:solidFill>
                  <a:srgbClr val="556B82"/>
                </a:solidFill>
              </a:rPr>
              <a:t> o sistema faz.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22387" y="2651760"/>
            <a:ext cx="1999427" cy="3520440"/>
          </a:xfrm>
          <a:prstGeom prst="roundRect">
            <a:avLst>
              <a:gd name="adj" fmla="val 640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078419" y="2907792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78419" y="3666744"/>
            <a:ext cx="1487363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Adaptive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Experiência fluida em qualquer dispositivo: desktop, tablet, mobile.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96134" y="2651760"/>
            <a:ext cx="1999427" cy="3520440"/>
          </a:xfrm>
          <a:prstGeom prst="roundRect">
            <a:avLst>
              <a:gd name="adj" fmla="val 640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52166" y="2907792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52166" y="3666744"/>
            <a:ext cx="1487363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Simple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Foco no essencial. Regra 1-1-3: um usuário, um caso de uso, três telas.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69881" y="2651760"/>
            <a:ext cx="1999427" cy="3520440"/>
          </a:xfrm>
          <a:prstGeom prst="roundRect">
            <a:avLst>
              <a:gd name="adj" fmla="val 640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25913" y="2907792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25913" y="3666744"/>
            <a:ext cx="1487363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Coherent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Mesma linguagem visual e comportamental em todos os apps.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43628" y="2651760"/>
            <a:ext cx="1999427" cy="3520440"/>
          </a:xfrm>
          <a:prstGeom prst="roundRect">
            <a:avLst>
              <a:gd name="adj" fmla="val 640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899660" y="2907792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899660" y="3666744"/>
            <a:ext cx="1487363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Delightful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Interações que fazem o usuário se sentir eficiente e inteligente.</a:t>
            </a:r>
            <a:endParaRPr lang="en-US" sz="1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3050438"/>
            <a:ext cx="309067" cy="309067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065" y="3050438"/>
            <a:ext cx="309067" cy="309067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812" y="3050438"/>
            <a:ext cx="309067" cy="309067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560" y="3050438"/>
            <a:ext cx="309067" cy="309067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2307" y="3050438"/>
            <a:ext cx="309067" cy="309067"/>
          </a:xfrm>
          <a:prstGeom prst="rect">
            <a:avLst/>
          </a:prstGeom>
        </p:spPr>
      </p:pic>
      <p:sp>
        <p:nvSpPr>
          <p:cNvPr id="24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Novo Mapa do Desenvolvedor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As 3 Camadas de Extensibilidade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325880"/>
          </a:xfrm>
          <a:prstGeom prst="roundRect">
            <a:avLst>
              <a:gd name="adj" fmla="val 8276"/>
            </a:avLst>
          </a:prstGeom>
          <a:solidFill>
            <a:srgbClr val="F5FAE5"/>
          </a:solidFill>
          <a:ln w="15875">
            <a:solidFill>
              <a:srgbClr val="3091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1600200"/>
            <a:ext cx="94484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56F3A"/>
                </a:solidFill>
              </a:rPr>
              <a:t>Tier 1: Key User Extensibility (In-App)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Quem: </a:t>
            </a:r>
            <a:r>
              <a:rPr lang="en-US" sz="1400" dirty="0">
                <a:solidFill>
                  <a:srgbClr val="1D2D3E"/>
                </a:solidFill>
              </a:rPr>
              <a:t>Consultor funcional, ‘cidadão desenvolvedor’.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O quê: </a:t>
            </a:r>
            <a:r>
              <a:rPr lang="en-US" sz="1400" dirty="0">
                <a:solidFill>
                  <a:srgbClr val="1D2D3E"/>
                </a:solidFill>
              </a:rPr>
              <a:t>Adicionar campos, alterar layouts, lógicas simples. Low-code/no-code.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Ferramenta: </a:t>
            </a:r>
            <a:r>
              <a:rPr lang="en-US" sz="1400" dirty="0">
                <a:solidFill>
                  <a:srgbClr val="1D2D3E"/>
                </a:solidFill>
              </a:rPr>
              <a:t>Apps Fiori como ‘Custom Fields and Logic’.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1094415" cy="1325880"/>
          </a:xfrm>
          <a:prstGeom prst="roundRect">
            <a:avLst>
              <a:gd name="adj" fmla="val 8276"/>
            </a:avLst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0240" y="3108960"/>
            <a:ext cx="94484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64D9"/>
                </a:solidFill>
              </a:rPr>
              <a:t>Tier 2: On-Stack Developer Extensibility (Embedded)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Quem: </a:t>
            </a:r>
            <a:r>
              <a:rPr lang="en-US" sz="1400" dirty="0">
                <a:solidFill>
                  <a:srgbClr val="1D2D3E"/>
                </a:solidFill>
              </a:rPr>
              <a:t>Desenvolvedor ABAP profissional.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O quê: </a:t>
            </a:r>
            <a:r>
              <a:rPr lang="en-US" sz="1400" dirty="0">
                <a:solidFill>
                  <a:srgbClr val="1D2D3E"/>
                </a:solidFill>
              </a:rPr>
              <a:t>Lógica complexa e de alta performance dentro do S/4HANA.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Restrição: </a:t>
            </a:r>
            <a:r>
              <a:rPr lang="en-US" sz="1400" dirty="0">
                <a:solidFill>
                  <a:srgbClr val="1D2D3E"/>
                </a:solidFill>
              </a:rPr>
              <a:t>Governado pelo modelo ABAP Cloud.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94415" cy="1325880"/>
          </a:xfrm>
          <a:prstGeom prst="roundRect">
            <a:avLst>
              <a:gd name="adj" fmla="val 8276"/>
            </a:avLst>
          </a:prstGeom>
          <a:solidFill>
            <a:srgbClr val="F1EDFF"/>
          </a:solidFill>
          <a:ln w="15875">
            <a:solidFill>
              <a:srgbClr val="7858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20240" y="4617720"/>
            <a:ext cx="94484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5D36FF"/>
                </a:solidFill>
              </a:rPr>
              <a:t>Tier 3: Side-by-Side Extensibility (BTP)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Quem: </a:t>
            </a:r>
            <a:r>
              <a:rPr lang="en-US" sz="1400" dirty="0">
                <a:solidFill>
                  <a:srgbClr val="1D2D3E"/>
                </a:solidFill>
              </a:rPr>
              <a:t>Desenvolvedor full-stack, arquiteto de soluções.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O quê: </a:t>
            </a:r>
            <a:r>
              <a:rPr lang="en-US" sz="1400" dirty="0">
                <a:solidFill>
                  <a:srgbClr val="1D2D3E"/>
                </a:solidFill>
              </a:rPr>
              <a:t>Apps desacoplados na BTP, integrações, portais externos, IA/ML.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Comunicação: </a:t>
            </a:r>
            <a:r>
              <a:rPr lang="en-US" sz="1400" dirty="0">
                <a:solidFill>
                  <a:srgbClr val="1D2D3E"/>
                </a:solidFill>
              </a:rPr>
              <a:t>Apenas via APIs públicas e eventos.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97380"/>
            <a:ext cx="731520" cy="73152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406140"/>
            <a:ext cx="731520" cy="73152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914900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ABAP Cloud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Novo Contrato de Confiança Entre Você e a SAP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ABAP Cloud não é um produto: é um modelo de desenvolvimento. Um conjunto de regras que garante que seu código será sempre seguro para upgrades (upgrade-safe) e pronto para a nuvem (cloud-ready), mesmo que hoje você esteja on-premise.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364328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6207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81328" y="286207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Pilar 1: Linguagem Restrita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481568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ABAP Language Version 5</a:t>
            </a:r>
            <a:r>
              <a:rPr lang="en-US" sz="1500" dirty="0">
                <a:solidFill>
                  <a:srgbClr val="1D2D3E"/>
                </a:solidFill>
              </a:rPr>
              <a:t> (Strict Mode).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O compilador proíbe ativamente comandos legados e inseguros: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SCREEN</a:t>
            </a:r>
            <a:r>
              <a:rPr lang="en-US" sz="1500" dirty="0">
                <a:solidFill>
                  <a:srgbClr val="1D2D3E"/>
                </a:solidFill>
              </a:rPr>
              <a:t>, acesso ao SO,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SUBROUTINE POOL</a:t>
            </a:r>
            <a:r>
              <a:rPr lang="en-US" sz="1500" dirty="0">
                <a:solidFill>
                  <a:srgbClr val="1D2D3E"/>
                </a:solidFill>
              </a:rPr>
              <a:t>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Apenas a sintaxe moderna e segura é permitida.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78728" y="2606040"/>
            <a:ext cx="5364328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3048" y="286207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11416" y="286207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F3A"/>
                </a:solidFill>
              </a:rPr>
              <a:t>Pilar 2: Acesso Controlado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566160"/>
            <a:ext cx="481568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Released Objects</a:t>
            </a:r>
            <a:r>
              <a:rPr lang="en-US" sz="1500" dirty="0">
                <a:solidFill>
                  <a:srgbClr val="1D2D3E"/>
                </a:solidFill>
              </a:rPr>
              <a:t> (whitelist).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Seu código só pode interagir com objetos (CDS Views, classes, BAdIs) que a SAP marcou como estáveis (C1 contract).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Essa é a sua garantia de que as interfaces não quebrarão.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2984967"/>
            <a:ext cx="266273" cy="266273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43" y="2984967"/>
            <a:ext cx="266273" cy="2662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Traduzindo a Teoria em Prática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“De/Para” do Desenvolvimento Moderno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07992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Tema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O Jeito Antigo (Legado)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O Jeito Novo (Clean Core)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Extensão de lógica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Código procedural dentro da User Exit 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MV45AFZZ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Implementação de classe ABAP OO para um </a:t>
                      </a:r>
                      <a:r>
                        <a:rPr lang="en-US" sz="1500" b="1" dirty="0">
                          <a:solidFill>
                            <a:srgbClr val="256F3A"/>
                          </a:solidFill>
                        </a:rPr>
                        <a:t>Cloud BAdI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 liberado.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Acesso a dados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* FROM VBAK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. Acesso direto à tabela física.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FROM I_SalesOrder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. Acesso via CDS View pública (Released API).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Interface do usuário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Transação 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VA01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 no SAP GUI. Uma tela, centenas de campos.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App Fiori ‘Criar Pedido de Venda’. Focado na tarefa, responsivo.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Dados do sistema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Leitura direta de 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sy-uname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Chamada ao método da classe 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CL_ABAP_CONTEXT_INFO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Adeus, User Exits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Cloud BAdIs São os Novos Pontos de Extensão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BAdIs são a evolução segura e orientada a objetos para injetar lógica customizada. Ao contrário das frágeis User Exits, eles são APIs liberadas e estáveis.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2404872"/>
            <a:ext cx="6217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Contrato claro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Definido por uma interface ABAP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IF_...</a:t>
            </a:r>
            <a:r>
              <a:rPr lang="en-US" sz="1400" dirty="0">
                <a:solidFill>
                  <a:srgbClr val="556B82"/>
                </a:solidFill>
              </a:rPr>
              <a:t>). Você sabe exatamente o que entra e o que sai.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36499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3346704"/>
            <a:ext cx="6217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Estabilidade garantida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SAP se compromete a não quebrar a assinatura do método em futuros upgrades.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306824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4288536"/>
            <a:ext cx="6217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Múltiplas implementações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Várias soluções (suas e de parceiros) podem coexistir no mesmo ponto de extensão sem conflitos.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4865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5230368"/>
            <a:ext cx="6217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Descoberta no ADT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busca por BAdIs liberados acontece na árvore de ‘Released Objects’ no Eclipse, não mais na SE18.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63840" y="2423160"/>
            <a:ext cx="3779215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0" y="251460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56B82"/>
                </a:solidFill>
              </a:rPr>
              <a:t>Project Explorer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92608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▾ MyCloudProject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333756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▾ Released Objects 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37490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▾ Enhancements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416052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▾ Business Add-ins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457200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IF_SD_ORDER_CREATE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498348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IF_MM_PURCHASE_ORDER_PROCESS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539496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IF_SD_ORDER_CHANGE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2543861"/>
            <a:ext cx="261518" cy="261518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3485693"/>
            <a:ext cx="261518" cy="26151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427525"/>
            <a:ext cx="261518" cy="261518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5369357"/>
            <a:ext cx="261518" cy="2615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Regra de Ouro do BAdI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NUNCA Use COMMIT 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WORK</a:t>
            </a:r>
            <a:r>
              <a:rPr lang="en-US" sz="2400" b="1" dirty="0">
                <a:solidFill>
                  <a:srgbClr val="1D2D3E"/>
                </a:solidFill>
              </a:rPr>
              <a:t> é estritamente proibido dentro de um BAdI.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O porquê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53643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Seu código BAdI roda </a:t>
            </a:r>
            <a:r>
              <a:rPr lang="en-US" sz="1500" b="1" dirty="0">
                <a:solidFill>
                  <a:srgbClr val="1D2D3E"/>
                </a:solidFill>
              </a:rPr>
              <a:t>dentro</a:t>
            </a:r>
            <a:r>
              <a:rPr lang="en-US" sz="1500" dirty="0">
                <a:solidFill>
                  <a:srgbClr val="1D2D3E"/>
                </a:solidFill>
              </a:rPr>
              <a:t> da transação do processo standard da SAP.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A transação inteira é uma </a:t>
            </a:r>
            <a:r>
              <a:rPr lang="en-US" sz="1500" b="1" dirty="0">
                <a:solidFill>
                  <a:srgbClr val="1D2D3E"/>
                </a:solidFill>
              </a:rPr>
              <a:t>Unidade Lógica de Trabalho (LUW)</a:t>
            </a:r>
            <a:r>
              <a:rPr lang="en-US" sz="1500" dirty="0">
                <a:solidFill>
                  <a:srgbClr val="1D2D3E"/>
                </a:solidFill>
              </a:rPr>
              <a:t>: ou tudo é gravado com sucesso no final, ou nada é.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78728" y="4206240"/>
            <a:ext cx="53643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Usar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WORK</a:t>
            </a:r>
            <a:r>
              <a:rPr lang="en-US" sz="1500" dirty="0">
                <a:solidFill>
                  <a:srgbClr val="1D2D3E"/>
                </a:solidFill>
              </a:rPr>
              <a:t> força uma gravação prematura no banco de dados. Se o processo standard falhar um passo depois, você deixa o sistema em um estado inconsistente e corrompido.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O processo standard é o único responsável por gerenciar a LUW.</a:t>
            </a:r>
            <a:r>
              <a:rPr lang="en-US" sz="1500" dirty="0">
                <a:solidFill>
                  <a:srgbClr val="1D2D3E"/>
                </a:solidFill>
              </a:rPr>
              <a:t> Confie nele.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600200"/>
            <a:ext cx="128016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Sua Realidade Operacional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Disciplina Varia Entre Public e Private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37360" y="1828800"/>
            <a:ext cx="3901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S/4HANA Cloud Public Edition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4815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Modelo: </a:t>
            </a:r>
            <a:r>
              <a:rPr lang="en-US" sz="1500" dirty="0">
                <a:solidFill>
                  <a:srgbClr val="1D2D3E"/>
                </a:solidFill>
              </a:rPr>
              <a:t>SaaS puro, multi-tenant.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Governança: </a:t>
            </a:r>
            <a:r>
              <a:rPr lang="en-US" sz="1500" b="1" dirty="0">
                <a:solidFill>
                  <a:srgbClr val="256F3A"/>
                </a:solidFill>
              </a:rPr>
              <a:t>Clean Core é tecnicamente IMPOSTO.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48156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compilador não permite código legado. Não há acesso ao SAP GUI ou SE38. Você é forçado a seguir as melhores práticas. O dilema não existe.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3048" y="187452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67448" y="1828800"/>
            <a:ext cx="3901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S/4HANA Cloud Private Edition (e On-Premise)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2834640"/>
            <a:ext cx="4815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Modelo: </a:t>
            </a:r>
            <a:r>
              <a:rPr lang="en-US" sz="1500" dirty="0">
                <a:solidFill>
                  <a:srgbClr val="1D2D3E"/>
                </a:solidFill>
              </a:rPr>
              <a:t>Single-tenant, controle total.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Governança: </a:t>
            </a:r>
            <a:r>
              <a:rPr lang="en-US" sz="1500" b="1" dirty="0">
                <a:solidFill>
                  <a:srgbClr val="0064D9"/>
                </a:solidFill>
              </a:rPr>
              <a:t>Clean Core é uma ESCOLHA ESTRATÉGICA.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3977640"/>
            <a:ext cx="48156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A liberdade técnica existe: você PODE escrever código legado (Tier 3), mas isso gera dívida técnica. A disciplina de adotar voluntariamente o Tier 2 em novos projetos é o que garante sua agilidade futura.</a:t>
            </a:r>
            <a:endParaRPr lang="en-US" sz="15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050085"/>
            <a:ext cx="380390" cy="38039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2050085"/>
            <a:ext cx="380390" cy="3803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Desafio Brownfield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Como Lidar com 20 Anos de Código Legado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Numa conversão de sistema (Brownfield), você herda milhões de linhas de código Z. Reescrever tudo é inviável: a estratégia inteligente é híbrida.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6432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3347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81328" y="263347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6B82"/>
                </a:solidFill>
              </a:rPr>
              <a:t>Legacy Zone (Tier 3 Classic)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Código antigo que funciona.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Isolado e mantido, não refatorado sem necessidade.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78728" y="2377440"/>
            <a:ext cx="536432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3048" y="263347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11416" y="263347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Modern Zone (Tier 2 Cloud)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337560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Novos apps e novas APIs.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Nascem seguindo os princípios do Clean Core.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A Estratégia Híbrida em 3 Passos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54880"/>
            <a:ext cx="110944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D2D3E"/>
                </a:solidFill>
              </a:rPr>
              <a:t>1. </a:t>
            </a:r>
            <a:r>
              <a:rPr lang="en-US" sz="1400" b="1" dirty="0">
                <a:solidFill>
                  <a:srgbClr val="1D2D3E"/>
                </a:solidFill>
              </a:rPr>
              <a:t>Audite o legado:</a:t>
            </a:r>
            <a:r>
              <a:rPr lang="en-US" sz="1400" dirty="0">
                <a:solidFill>
                  <a:srgbClr val="1D2D3E"/>
                </a:solidFill>
              </a:rPr>
              <a:t> use o ABAP Test Cockpit (ATC) para identificar incompatibilidades críticas com o S/4HANA.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D2D3E"/>
                </a:solidFill>
              </a:rPr>
              <a:t>2. </a:t>
            </a:r>
            <a:r>
              <a:rPr lang="en-US" sz="1400" b="1" dirty="0">
                <a:solidFill>
                  <a:srgbClr val="1D2D3E"/>
                </a:solidFill>
              </a:rPr>
              <a:t>Isole e mantenha:</a:t>
            </a:r>
            <a:r>
              <a:rPr lang="en-US" sz="1400" dirty="0">
                <a:solidFill>
                  <a:srgbClr val="1D2D3E"/>
                </a:solidFill>
              </a:rPr>
              <a:t> deixe o código antigo que funciona no ‘Tier 3 Classic’. Não refatore o que não precisa ser mudado.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D2D3E"/>
                </a:solidFill>
              </a:rPr>
              <a:t>3. </a:t>
            </a:r>
            <a:r>
              <a:rPr lang="en-US" sz="1400" b="1" dirty="0">
                <a:solidFill>
                  <a:srgbClr val="1D2D3E"/>
                </a:solidFill>
              </a:rPr>
              <a:t>Construa o novo corretamente:</a:t>
            </a:r>
            <a:r>
              <a:rPr lang="en-US" sz="1400" dirty="0">
                <a:solidFill>
                  <a:srgbClr val="1D2D3E"/>
                </a:solidFill>
              </a:rPr>
              <a:t> todos os novos desenvolvimentos (apps, APIs) devem nascer no Tier 2 (ABAP Cloud).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943" y="2756367"/>
            <a:ext cx="266273" cy="266273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55" y="2756367"/>
            <a:ext cx="266273" cy="2662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Padrão Wrapper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Sua Ponte Segura Entre o Novo e o Legado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Cenário: </a:t>
            </a:r>
            <a:r>
              <a:rPr lang="en-US" sz="1600" dirty="0">
                <a:solidFill>
                  <a:srgbClr val="1D2D3E"/>
                </a:solidFill>
              </a:rPr>
              <a:t>seu novo app Fiori (Tier 2) precisa usar uma função Z antiga e complexa que não pode ser reescrita e não é ‘Cloud-Ready’.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14949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42032"/>
            <a:ext cx="296661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App Fiori / RAP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Tier 2 · ABAP Cloud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71290" y="2971800"/>
            <a:ext cx="67665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8" name="Shape 6"/>
          <p:cNvSpPr/>
          <p:nvPr/>
        </p:nvSpPr>
        <p:spPr>
          <a:xfrm>
            <a:off x="4521098" y="2468880"/>
            <a:ext cx="314949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6500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2538" y="2542032"/>
            <a:ext cx="296661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4F00"/>
                </a:solidFill>
              </a:rPr>
              <a:t>ZCL_WRAPPER_CLASS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Tier 3, mas liberada com ‘C1’ · a fachada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43749" y="2971800"/>
            <a:ext cx="67665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8493557" y="2468880"/>
            <a:ext cx="314949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56B8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584997" y="2542032"/>
            <a:ext cx="296661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B82"/>
                </a:solidFill>
              </a:rPr>
              <a:t>Z_FUNCAO_LEGADA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Tier 3 · código clássico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A Receita do Wrapper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11094415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4489704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4489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389120"/>
            <a:ext cx="103171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No Tier 3:</a:t>
            </a:r>
            <a:r>
              <a:rPr lang="en-US" sz="1300" dirty="0">
                <a:solidFill>
                  <a:srgbClr val="1D2D3E"/>
                </a:solidFill>
              </a:rPr>
              <a:t> crie uma classe global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ZCL_...</a:t>
            </a:r>
            <a:r>
              <a:rPr lang="en-US" sz="1300" dirty="0">
                <a:solidFill>
                  <a:srgbClr val="1D2D3E"/>
                </a:solidFill>
              </a:rPr>
              <a:t>) em ABAP Clássico. Ela tem ‘superpoderes’ para chamar a função Z antiga.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992624"/>
            <a:ext cx="11094415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509320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5093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992624"/>
            <a:ext cx="103171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A mágica:</a:t>
            </a:r>
            <a:r>
              <a:rPr lang="en-US" sz="1300" dirty="0">
                <a:solidFill>
                  <a:srgbClr val="1D2D3E"/>
                </a:solidFill>
              </a:rPr>
              <a:t> marque essa classe wrapper como ‘Released for Cloud Development’ (contrato C1). Você está criando sua própria API estável.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596128"/>
            <a:ext cx="11094415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5696712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5696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596128"/>
            <a:ext cx="103171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No Tier 2:</a:t>
            </a:r>
            <a:r>
              <a:rPr lang="en-US" sz="1300" dirty="0">
                <a:solidFill>
                  <a:srgbClr val="1D2D3E"/>
                </a:solidFill>
              </a:rPr>
              <a:t> agora seu código ABAP Cloud pode legalmente chamar a classe wrapper, que esconde a complexidade do legado.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Medindo Sua ‘Cloud Readiness’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ABAP Test Cockpit (ATC) Como Seu Aliado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A análise manual de milhões de linhas de código é impossível. O ATC é sua ferramenta de auditoria automatizada para avaliar a conformidade do código legado e guiar a refatoração.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Variantes de verificação essenciais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S4HANA_READINESS</a:t>
            </a:r>
            <a:r>
              <a:rPr lang="en-US" sz="1300" dirty="0">
                <a:solidFill>
                  <a:srgbClr val="1D2D3E"/>
                </a:solidFill>
              </a:rPr>
              <a:t>: encontra incompatibilidades funcionais e de banco de dados (ex.: uso de tabelas obsoletas). Correção geralmente mandatória.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SAP_CP_READINESS_REMOTE</a:t>
            </a:r>
            <a:r>
              <a:rPr lang="en-US" sz="1300" dirty="0">
                <a:solidFill>
                  <a:srgbClr val="1D2D3E"/>
                </a:solidFill>
              </a:rPr>
              <a:t>: encontra violações das regras do ABAP Cloud (ex.: uso de objetos não liberados). Ajuda a decidir se um código pode ir para o Tier 2 ou se precisa de um wrapper.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120640"/>
            <a:ext cx="12115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5193792"/>
            <a:ext cx="10287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Auditar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33372" y="5463540"/>
            <a:ext cx="12801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0" name="Shape 8"/>
          <p:cNvSpPr/>
          <p:nvPr/>
        </p:nvSpPr>
        <p:spPr>
          <a:xfrm>
            <a:off x="2034540" y="5120640"/>
            <a:ext cx="12115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125980" y="5193792"/>
            <a:ext cx="10287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Triar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19272" y="5463540"/>
            <a:ext cx="12801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3" name="Shape 11"/>
          <p:cNvSpPr/>
          <p:nvPr/>
        </p:nvSpPr>
        <p:spPr>
          <a:xfrm>
            <a:off x="3520440" y="5120640"/>
            <a:ext cx="12115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11880" y="5193792"/>
            <a:ext cx="10287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Corrigir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Quick Fixes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05172" y="5463540"/>
            <a:ext cx="12801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6" name="Shape 14"/>
          <p:cNvSpPr/>
          <p:nvPr/>
        </p:nvSpPr>
        <p:spPr>
          <a:xfrm>
            <a:off x="5006340" y="5120640"/>
            <a:ext cx="12115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097780" y="5193792"/>
            <a:ext cx="10287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Decidir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manter ou refatorar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377440"/>
          <a:ext cx="505937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240280"/>
                <a:gridCol w="941832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56B82"/>
                          </a:solidFill>
                        </a:rPr>
                        <a:t>Object Name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56B82"/>
                          </a:solidFill>
                        </a:rPr>
                        <a:t>Check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56B82"/>
                          </a:solidFill>
                        </a:rPr>
                        <a:t>Priority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A0808"/>
                          </a:solidFill>
                        </a:rPr>
                        <a:t>ZCL_SALES_ORDER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A0808"/>
                          </a:solidFill>
                        </a:rPr>
                        <a:t>S4HANA_READINESS: access to obsolete table VTAK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A0808"/>
                          </a:solidFill>
                        </a:rPr>
                        <a:t>1 (High)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44F00"/>
                          </a:solidFill>
                        </a:rPr>
                        <a:t>ZCL_INVOICE_PROC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44F00"/>
                          </a:solidFill>
                        </a:rPr>
                        <a:t>SAP_CP_READINESS_REMOTE: use of non-released API CL_GUI_ALV_GRID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44F00"/>
                          </a:solidFill>
                        </a:rPr>
                        <a:t>2 (Medium)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ZCL_PRODUCT_DATA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SAP_CP_READINESS_REMOTE: syntax check OK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3 (Low)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6583680" y="5486400"/>
            <a:ext cx="5059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B82"/>
                </a:solidFill>
              </a:rPr>
              <a:t>Prioridade 1: incompatibilidade obrigatória, deve ser corrigida. Prioridade 2: viola regra de cloud — decidir entre wrapper ou refatoração.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O Mapa de Decisão do Desenvolvedor Moderno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Onde Construir Sua Extensão?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1024128"/>
          </a:xfrm>
          <a:prstGeom prst="roundRect">
            <a:avLst>
              <a:gd name="adj" fmla="val 125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</a:rPr>
              <a:t>É uma mudança simples de campo, layout ou texto, sem lógica complexa?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20840" y="2130552"/>
            <a:ext cx="640080" cy="329184"/>
          </a:xfrm>
          <a:prstGeom prst="rightArrow">
            <a:avLst/>
          </a:prstGeom>
          <a:solidFill>
            <a:srgbClr val="7EE2A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20840" y="1783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E2A8"/>
                </a:solidFill>
              </a:rPr>
              <a:t>Sim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0" y="1783080"/>
            <a:ext cx="4144975" cy="1024128"/>
          </a:xfrm>
          <a:prstGeom prst="roundRect">
            <a:avLst>
              <a:gd name="adj" fmla="val 12500"/>
            </a:avLst>
          </a:prstGeom>
          <a:solidFill>
            <a:srgbClr val="1D2D3E"/>
          </a:solidFill>
          <a:ln w="9525">
            <a:solidFill>
              <a:srgbClr val="7EE2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0" y="1783080"/>
            <a:ext cx="37792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2A8"/>
                </a:solidFill>
              </a:rPr>
              <a:t>Tier 1: Key User Extensibility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Rápido, sem código, governado pelo funcional.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6035040" cy="1024128"/>
          </a:xfrm>
          <a:prstGeom prst="roundRect">
            <a:avLst>
              <a:gd name="adj" fmla="val 125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990088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</a:rPr>
              <a:t>A lógica exige acesso intensivo a dados do ERP, alta performance e precisa rodar dentro da mesma transação?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3337560"/>
            <a:ext cx="640080" cy="329184"/>
          </a:xfrm>
          <a:prstGeom prst="rightArrow">
            <a:avLst/>
          </a:prstGeom>
          <a:solidFill>
            <a:srgbClr val="4DB1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20840" y="2990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B1FF"/>
                </a:solidFill>
              </a:rPr>
              <a:t>Sim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0" y="2990088"/>
            <a:ext cx="4144975" cy="1024128"/>
          </a:xfrm>
          <a:prstGeom prst="roundRect">
            <a:avLst>
              <a:gd name="adj" fmla="val 12500"/>
            </a:avLst>
          </a:prstGeom>
          <a:solidFill>
            <a:srgbClr val="1D2D3E"/>
          </a:solidFill>
          <a:ln w="9525">
            <a:solidFill>
              <a:srgbClr val="4DB1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2990088"/>
            <a:ext cx="37792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Tier 2: On-Stack ABAP Cloud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escolha padrão para lógica de negócio customizada. Performance máxima com segurança Clean Core.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97096"/>
            <a:ext cx="6035040" cy="1024128"/>
          </a:xfrm>
          <a:prstGeom prst="roundRect">
            <a:avLst>
              <a:gd name="adj" fmla="val 125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197096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</a:rPr>
              <a:t>A solução precisa de escalabilidade independente, integra serviços externos (IA/ML), expõe um portal ou usa tecnologias não-ABAP?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4544568"/>
            <a:ext cx="640080" cy="329184"/>
          </a:xfrm>
          <a:prstGeom prst="rightArrow">
            <a:avLst/>
          </a:prstGeom>
          <a:solidFill>
            <a:srgbClr val="B9A6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419709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A6FF"/>
                </a:solidFill>
              </a:rPr>
              <a:t>Sim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0" y="4197096"/>
            <a:ext cx="4144975" cy="1024128"/>
          </a:xfrm>
          <a:prstGeom prst="roundRect">
            <a:avLst>
              <a:gd name="adj" fmla="val 12500"/>
            </a:avLst>
          </a:prstGeom>
          <a:solidFill>
            <a:srgbClr val="1D2D3E"/>
          </a:solidFill>
          <a:ln w="9525">
            <a:solidFill>
              <a:srgbClr val="B9A6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0" y="4197096"/>
            <a:ext cx="37792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A6FF"/>
                </a:solidFill>
              </a:rPr>
              <a:t>Tier 3: Side-by-Side BTP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Inovação desacoplada, ciclo de vida independente do ERP.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15C"/>
                </a:solidFill>
              </a:rPr>
              <a:t>E o código legado? </a:t>
            </a:r>
            <a:r>
              <a:rPr lang="en-US" sz="1500" dirty="0">
                <a:solidFill>
                  <a:srgbClr val="FFFFFF"/>
                </a:solidFill>
              </a:rPr>
              <a:t>Ele vive no Tier 3 Classic (Private Cloud). Acesse-o através de wrappers, mas evite criar novas lógicas nele.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Legado à Agilidade: Guia de Arquitetura S/4HANA</dc:title>
  <dc:subject>ABAP Moderno – Módulo 05</dc:subject>
  <dc:creator>Adriano Bispo</dc:creator>
  <cp:lastModifiedBy>Adriano Bispo</cp:lastModifiedBy>
  <cp:revision>1</cp:revision>
  <dcterms:created xsi:type="dcterms:W3CDTF">2026-10-28T00:32:20Z</dcterms:created>
  <dcterms:modified xsi:type="dcterms:W3CDTF">2026-10-28T00:32:20Z</dcterms:modified>
</cp:coreProperties>
</file>