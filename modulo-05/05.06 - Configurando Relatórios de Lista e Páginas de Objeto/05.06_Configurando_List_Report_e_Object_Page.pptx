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6 de 11 — List Report e Object Page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6 de 11 — List Report e Object Page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06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Configurando List Report e Object Page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Configurações gerais do app, ordenação padrão, colunas pelo Page Editor e seções da Object Page com identification e field groups.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6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110978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110978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deixamos o app Pedidos de Compras com cara de produto: layout em colunas, carga inicial, ordenação, colunas ajustadas e seções organizadas.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Dois lugares para configurar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Anotações CDS no back-end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@UI.fieldGroup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Valem para todo app sobre o serviço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Editadas no ADT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Page Editor no app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Gera anotações locais e ajustes no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Valem só para este app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Editado no BAS ou VS Code, pelo Page 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Mesmo resultado  </a:t>
            </a:r>
            <a:r>
              <a:rPr lang="en-US" sz="1200" dirty="0">
                <a:solidFill>
                  <a:srgbClr val="1D2D3E"/>
                </a:solidFill>
              </a:rPr>
              <a:t>o curso mostra as duas vias; o importante é saber </a:t>
            </a:r>
            <a:r>
              <a:rPr lang="en-US" sz="1200" b="1" dirty="0">
                <a:solidFill>
                  <a:srgbClr val="1D2D3E"/>
                </a:solidFill>
              </a:rPr>
              <a:t>onde</a:t>
            </a:r>
            <a:r>
              <a:rPr lang="en-US" sz="1200" dirty="0">
                <a:solidFill>
                  <a:srgbClr val="1D2D3E"/>
                </a:solidFill>
              </a:rPr>
              <a:t> cada ajuste foi parar.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05.06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Configurações gerais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Ajustes do app inteiro ficam no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600" dirty="0">
                <a:solidFill>
                  <a:srgbClr val="D1EFFF"/>
                </a:solidFill>
              </a:rPr>
              <a:t>: </a:t>
            </a:r>
            <a:r>
              <a:rPr lang="en-US" sz="1600" b="1" dirty="0">
                <a:solidFill>
                  <a:srgbClr val="D1EFFF"/>
                </a:solidFill>
              </a:rPr>
              <a:t>flexible column layout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carga inicial</a:t>
            </a:r>
            <a:r>
              <a:rPr lang="en-US" sz="1600" dirty="0">
                <a:solidFill>
                  <a:srgbClr val="D1EFFF"/>
                </a:solidFill>
              </a:rPr>
              <a:t> da tabela.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Flexible column layout</a:t>
            </a:r>
            <a:r>
              <a:rPr lang="en-US" sz="1000" dirty="0">
                <a:solidFill>
                  <a:srgbClr val="D1EFFF"/>
                </a:solidFill>
              </a:rPr>
              <a:t>  lista + detalhe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r>
              <a:rPr lang="en-US" sz="1000" dirty="0">
                <a:solidFill>
                  <a:srgbClr val="D1EFFF"/>
                </a:solidFill>
              </a:rPr>
              <a:t>  sem clicar em Go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Map</a:t>
            </a:r>
            <a:r>
              <a:rPr lang="en-US" sz="1000" dirty="0">
                <a:solidFill>
                  <a:srgbClr val="D1EFFF"/>
                </a:solidFill>
              </a:rPr>
              <a:t>  edita o manifest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 management</a:t>
            </a:r>
            <a:r>
              <a:rPr lang="en-US" sz="1000" dirty="0">
                <a:solidFill>
                  <a:srgbClr val="D1EFFF"/>
                </a:solidFill>
              </a:rPr>
              <a:t>  visões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APP · MANIFEST.JSON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Layout em colunas e carga inicial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pedidos-compras › webapp (FCL ilustrativo)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"routing":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"routerClass": "sap.f.routing.Router",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"flexibleColumnLayout":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"defaultTwoColumnLayoutType": "TwoColumnsMidExpanded",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"defaultThreeColumnLayoutType": "ThreeColumnsEndExpanded"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"targets":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"PedidoList":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"sap.fe.templates.ListReport",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"options": { "settings":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"contextPath": "/Pedido",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"initialLoad": "Enabled"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Flexible column layout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 e Object Page lado a lado; com subobjeto, três colunas.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Mid / End expanded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Qual coluna ganha mais espaço em 2 e em 3 colunas.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tabela carrega ao abrir o app, sem clicar em </a:t>
            </a:r>
            <a:r>
              <a:rPr lang="en-US" sz="1050" b="1" dirty="0">
                <a:solidFill>
                  <a:srgbClr val="556B82"/>
                </a:solidFill>
              </a:rPr>
              <a:t>Go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No projeto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r>
              <a:rPr lang="en-US" sz="1050" dirty="0">
                <a:solidFill>
                  <a:srgbClr val="556B82"/>
                </a:solidFill>
              </a:rPr>
              <a:t> está ativo; as páginas abrem em tela cheia, sem o FCL.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05.06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Refinando o List Report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ordenação padrão</a:t>
            </a:r>
            <a:r>
              <a:rPr lang="en-US" sz="1600" dirty="0">
                <a:solidFill>
                  <a:srgbClr val="D1EFFF"/>
                </a:solidFill>
              </a:rPr>
              <a:t> com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600" dirty="0">
                <a:solidFill>
                  <a:srgbClr val="D1EFFF"/>
                </a:solidFill>
              </a:rPr>
              <a:t> e colunas ajustadas no </a:t>
            </a:r>
            <a:r>
              <a:rPr lang="en-US" sz="1600" b="1" dirty="0">
                <a:solidFill>
                  <a:srgbClr val="D1EFFF"/>
                </a:solidFill>
              </a:rPr>
              <a:t>Page Editor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r>
              <a:rPr lang="en-US" sz="1000" dirty="0">
                <a:solidFill>
                  <a:srgbClr val="D1EFFF"/>
                </a:solidFill>
              </a:rPr>
              <a:t>  ordenação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Editor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Mover · remover</a:t>
            </a:r>
            <a:r>
              <a:rPr lang="en-US" sz="1000" dirty="0">
                <a:solidFill>
                  <a:srgbClr val="D1EFFF"/>
                </a:solidFill>
              </a:rPr>
              <a:t>  ordem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Rótulos</a:t>
            </a:r>
            <a:r>
              <a:rPr lang="en-US" sz="1000" dirty="0">
                <a:solidFill>
                  <a:srgbClr val="D1EFFF"/>
                </a:solidFill>
              </a:rPr>
              <a:t>  i18n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ORDENAÇÃO PADRÃO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mais recentes primeiro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sortOrder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'CreatedAt'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nível da entidade: define a ordenação inicial da tabela.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Diz que a variante se aplica ao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 telas pequenas, só colunas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050" dirty="0">
                <a:solidFill>
                  <a:srgbClr val="556B82"/>
                </a:solidFill>
              </a:rPr>
              <a:t> continuam visíveis.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Usuário no controle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Ele ainda pode mudar a ordenação e salvar como variante.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PARA PRATICAR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Editando colunas pelo Page Editor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Abrir o editor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em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</a:t>
            </a:r>
            <a:r>
              <a:rPr lang="en-US" sz="1150" dirty="0">
                <a:solidFill>
                  <a:srgbClr val="556B82"/>
                </a:solidFill>
              </a:rPr>
              <a:t> › </a:t>
            </a:r>
            <a:r>
              <a:rPr lang="en-US" sz="1150" i="1" dirty="0">
                <a:solidFill>
                  <a:srgbClr val="556B82"/>
                </a:solidFill>
              </a:rPr>
              <a:t>Show Page Map</a:t>
            </a:r>
            <a:r>
              <a:rPr lang="en-US" sz="1150" dirty="0">
                <a:solidFill>
                  <a:srgbClr val="556B82"/>
                </a:solidFill>
              </a:rPr>
              <a:t> › editar a página </a:t>
            </a:r>
            <a:r>
              <a:rPr lang="en-US" sz="1150" b="1" dirty="0">
                <a:solidFill>
                  <a:srgbClr val="556B82"/>
                </a:solidFill>
              </a:rPr>
              <a:t>List Report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Remover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Tirar a coluna </a:t>
            </a:r>
            <a:r>
              <a:rPr lang="en-US" sz="1150" b="1" dirty="0">
                <a:solidFill>
                  <a:srgbClr val="556B82"/>
                </a:solidFill>
              </a:rPr>
              <a:t>Data de finalização</a:t>
            </a:r>
            <a:r>
              <a:rPr lang="en-US" sz="1150" dirty="0">
                <a:solidFill>
                  <a:srgbClr val="556B82"/>
                </a:solidFill>
              </a:rPr>
              <a:t> da tabela.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Reordenar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Mover </a:t>
            </a:r>
            <a:r>
              <a:rPr lang="en-US" sz="1150" b="1" dirty="0">
                <a:solidFill>
                  <a:srgbClr val="556B82"/>
                </a:solidFill>
              </a:rPr>
              <a:t>Status do pedido</a:t>
            </a:r>
            <a:r>
              <a:rPr lang="en-US" sz="1150" dirty="0">
                <a:solidFill>
                  <a:srgbClr val="556B82"/>
                </a:solidFill>
              </a:rPr>
              <a:t> para antes de </a:t>
            </a:r>
            <a:r>
              <a:rPr lang="en-US" sz="1150" b="1" dirty="0">
                <a:solidFill>
                  <a:srgbClr val="556B82"/>
                </a:solidFill>
              </a:rPr>
              <a:t>CPF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Adicionar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Nova coluna </a:t>
            </a:r>
            <a:r>
              <a:rPr lang="en-US" sz="1150" b="1" dirty="0">
                <a:solidFill>
                  <a:srgbClr val="556B82"/>
                </a:solidFill>
              </a:rPr>
              <a:t>Observação</a:t>
            </a:r>
            <a:r>
              <a:rPr lang="en-US" sz="1150" dirty="0">
                <a:solidFill>
                  <a:srgbClr val="556B82"/>
                </a:solidFill>
              </a:rPr>
              <a:t> logo após </a:t>
            </a:r>
            <a:r>
              <a:rPr lang="en-US" sz="1150" b="1" dirty="0">
                <a:solidFill>
                  <a:srgbClr val="556B82"/>
                </a:solidFill>
              </a:rPr>
              <a:t>Pedido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Alternativa  </a:t>
            </a:r>
            <a:r>
              <a:rPr lang="en-US" sz="1200" dirty="0">
                <a:solidFill>
                  <a:srgbClr val="1D2D3E"/>
                </a:solidFill>
              </a:rPr>
              <a:t>o guia </a:t>
            </a:r>
            <a:r>
              <a:rPr lang="en-US" sz="1200" i="1" dirty="0">
                <a:solidFill>
                  <a:srgbClr val="1D2D3E"/>
                </a:solidFill>
              </a:rPr>
              <a:t>Add and Edit Table Columns</a:t>
            </a:r>
            <a:r>
              <a:rPr lang="en-US" sz="1200" dirty="0">
                <a:solidFill>
                  <a:srgbClr val="1D2D3E"/>
                </a:solidFill>
              </a:rPr>
              <a:t> do Guided Development faz o mesmo passo a passo.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05.06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Seções da Object Page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seção </a:t>
            </a:r>
            <a:r>
              <a:rPr lang="en-US" sz="1600" b="1" dirty="0">
                <a:solidFill>
                  <a:srgbClr val="D1EFFF"/>
                </a:solidFill>
              </a:rPr>
              <a:t>Dados do Pedido</a:t>
            </a:r>
            <a:r>
              <a:rPr lang="en-US" sz="1600" dirty="0">
                <a:solidFill>
                  <a:srgbClr val="D1EFFF"/>
                </a:solidFill>
              </a:rPr>
              <a:t> com subseções </a:t>
            </a:r>
            <a:r>
              <a:rPr lang="en-US" sz="1600" b="1" dirty="0">
                <a:solidFill>
                  <a:srgbClr val="D1EFFF"/>
                </a:solidFill>
              </a:rPr>
              <a:t>Pedido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Finalização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Cancelamento</a:t>
            </a:r>
            <a:r>
              <a:rPr lang="en-US" sz="1600" dirty="0">
                <a:solidFill>
                  <a:srgbClr val="D1EFFF"/>
                </a:solidFill>
              </a:rPr>
              <a:t>, e outra seção com a tabela de </a:t>
            </a:r>
            <a:r>
              <a:rPr lang="en-US" sz="1600" b="1" dirty="0">
                <a:solidFill>
                  <a:srgbClr val="D1EFFF"/>
                </a:solidFill>
              </a:rPr>
              <a:t>Itens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00" dirty="0">
                <a:solidFill>
                  <a:srgbClr val="D1EFFF"/>
                </a:solidFill>
              </a:rPr>
              <a:t>  um conjunto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1000" dirty="0">
                <a:solidFill>
                  <a:srgbClr val="D1EFFF"/>
                </a:solidFill>
              </a:rPr>
              <a:t>  vários, com qualifier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000" dirty="0">
                <a:solidFill>
                  <a:srgbClr val="D1EFFF"/>
                </a:solidFill>
              </a:rPr>
              <a:t>  seção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000" dirty="0">
                <a:solidFill>
                  <a:srgbClr val="D1EFFF"/>
                </a:solidFill>
              </a:rPr>
              <a:t>  tabela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ESCOLHA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Identification ou field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@UI.identification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único conjunto de campos por entidade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Bom para os dados principais do objeto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Faceta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@UI.fieldGroup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Quantos grupos quiser, cada um com um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Ideal para separar cliente, finalização e cancelamento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Faceta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r>
              <a:rPr lang="en-US" sz="1350" dirty="0">
                <a:solidFill>
                  <a:srgbClr val="1D2D3E"/>
                </a:solidFill>
              </a:rPr>
              <a:t>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Subseções Finalização e Cancelamento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ZC_PC_PEDIDO_APP (field groups reais, reunidos numa #COLLECTION)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IDENTIFICATION_REFERENCE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'Finalização'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FIELDGROUP_REFERENCE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'Finalizacao'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FIELDGROUP_REFERENCE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'Finalizacao'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DataFinalizacao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MotivoCancelamento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DataCancelamento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CanceladoPor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Dá nome ao grupo; campos com o mesmo qualifier ficam juntos.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faceta escolhe qual grupo mostrar.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três subseções ficam dentro de </a:t>
            </a:r>
            <a:r>
              <a:rPr lang="en-US" sz="1050" i="1" dirty="0">
                <a:solidFill>
                  <a:srgbClr val="556B82"/>
                </a:solidFill>
              </a:rPr>
              <a:t>Dados do Pedido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Tabela de itens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Outra seção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050" dirty="0">
                <a:solidFill>
                  <a:srgbClr val="556B82"/>
                </a:solidFill>
              </a:rPr>
              <a:t> sobre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Configure no </a:t>
            </a:r>
            <a:r>
              <a:rPr lang="en-US" sz="1400" b="1" dirty="0">
                <a:solidFill>
                  <a:srgbClr val="FFFFFF"/>
                </a:solidFill>
              </a:rPr>
              <a:t>CDS</a:t>
            </a:r>
            <a:r>
              <a:rPr lang="en-US" sz="1400" dirty="0">
                <a:solidFill>
                  <a:srgbClr val="FFFFFF"/>
                </a:solidFill>
              </a:rPr>
              <a:t> (todos os apps) ou no </a:t>
            </a:r>
            <a:r>
              <a:rPr lang="en-US" sz="1400" b="1" dirty="0">
                <a:solidFill>
                  <a:srgbClr val="FFFFFF"/>
                </a:solidFill>
              </a:rPr>
              <a:t>Page Editor</a:t>
            </a:r>
            <a:r>
              <a:rPr lang="en-US" sz="1400" dirty="0">
                <a:solidFill>
                  <a:srgbClr val="FFFFFF"/>
                </a:solidFill>
              </a:rPr>
              <a:t> (só este app)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Flexible column layout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initialLoad</a:t>
            </a:r>
            <a:r>
              <a:rPr lang="en-US" sz="1400" dirty="0">
                <a:solidFill>
                  <a:srgbClr val="FFFFFF"/>
                </a:solidFill>
              </a:rPr>
              <a:t> ficam no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400" dirty="0">
                <a:solidFill>
                  <a:srgbClr val="FFFFFF"/>
                </a:solidFill>
              </a:rPr>
              <a:t> define a </a:t>
            </a:r>
            <a:r>
              <a:rPr lang="en-US" sz="1400" b="1" dirty="0">
                <a:solidFill>
                  <a:srgbClr val="FFFFFF"/>
                </a:solidFill>
              </a:rPr>
              <a:t>ordenação padrão</a:t>
            </a:r>
            <a:r>
              <a:rPr lang="en-US" sz="1400" dirty="0">
                <a:solidFill>
                  <a:srgbClr val="FFFFFF"/>
                </a:solidFill>
              </a:rPr>
              <a:t> da tabela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Page Editor remove, reordena e adiciona colunas sem código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400" dirty="0">
                <a:solidFill>
                  <a:srgbClr val="FFFFFF"/>
                </a:solidFill>
              </a:rPr>
              <a:t> para os dados principais;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@UI.fieldGroup</a:t>
            </a:r>
            <a:r>
              <a:rPr lang="en-US" sz="1400" dirty="0">
                <a:solidFill>
                  <a:srgbClr val="FFFFFF"/>
                </a:solidFill>
              </a:rPr>
              <a:t> para vários grupos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Seções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400" dirty="0">
                <a:solidFill>
                  <a:srgbClr val="FFFFFF"/>
                </a:solidFill>
              </a:rPr>
              <a:t> com subseções e uma seção de tabela para os itens do pedido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05.07  </a:t>
            </a:r>
            <a:r>
              <a:rPr lang="en-US" sz="1500" dirty="0">
                <a:solidFill>
                  <a:srgbClr val="FFFFFF"/>
                </a:solidFill>
              </a:rPr>
              <a:t>Tabelas: cores e ações: Criticality, ações e importância.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05.06 Configurando List Report e Object Page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2026-10-29T13:45:20Z</dcterms:created>
  <dcterms:modified xsi:type="dcterms:W3CDTF">2026-10-29T13:45:20Z</dcterms:modified>
</cp:coreProperties>
</file>