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Vendas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76500"/>
              </a:solidFill>
              <a:effectLst/>
            </c:spPr>
          </c:dPt>
          <c:dPt>
            <c:idx val="1"/>
            <c:bubble3D val="0"/>
            <c:spPr>
              <a:solidFill>
                <a:srgbClr val="0070F2"/>
              </a:solidFill>
              <a:effectLst/>
            </c:spPr>
          </c:dPt>
          <c:dPt>
            <c:idx val="2"/>
            <c:bubble3D val="0"/>
            <c:spPr>
              <a:solidFill>
                <a:srgbClr val="C0399F"/>
              </a:solidFill>
              <a:effectLst/>
            </c:spPr>
          </c:dPt>
          <c:dPt>
            <c:idx val="3"/>
            <c:bubble3D val="0"/>
            <c:spPr>
              <a:solidFill>
                <a:srgbClr val="7858FF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Sul</c:v>
                </c:pt>
                <c:pt idx="1">
                  <c:v>Sudeste</c:v>
                </c:pt>
                <c:pt idx="2">
                  <c:v>Norte</c:v>
                </c:pt>
                <c:pt idx="3">
                  <c:v>Centro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16</c:v>
                </c:pt>
                <c:pt idx="1">
                  <c:v>28</c:v>
                </c:pt>
                <c:pt idx="2">
                  <c:v>27</c:v>
                </c:pt>
                <c:pt idx="3">
                  <c:v>29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Meta</c:v>
                </c:pt>
              </c:strCache>
            </c:strRef>
          </c:tx>
          <c:spPr>
            <a:solidFill>
              <a:srgbClr val="E765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Fev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Mai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4.3</c:v>
                </c:pt>
                <c:pt idx="1">
                  <c:v>4.3</c:v>
                </c:pt>
                <c:pt idx="2">
                  <c:v>6.4</c:v>
                </c:pt>
                <c:pt idx="3">
                  <c:v>3.4</c:v>
                </c:pt>
                <c:pt idx="4">
                  <c:v>4.1</c:v>
                </c:pt>
                <c:pt idx="5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Real</c:v>
                </c:pt>
              </c:strCache>
            </c:strRef>
          </c:tx>
          <c:spPr>
            <a:solidFill>
              <a:srgbClr val="0070F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Fev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Mai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3.9</c:v>
                </c:pt>
                <c:pt idx="1">
                  <c:v>4.8</c:v>
                </c:pt>
                <c:pt idx="2">
                  <c:v>5.1</c:v>
                </c:pt>
                <c:pt idx="3">
                  <c:v>4.6</c:v>
                </c:pt>
                <c:pt idx="4">
                  <c:v>6.8</c:v>
                </c:pt>
                <c:pt idx="5">
                  <c:v>8.2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Title">
    <p:bg>
      <p:bgPr>
        <a:solidFill>
          <a:srgbClr val="1D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554480"/>
            <a:ext cx="786384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4DB1FF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2057400"/>
            <a:ext cx="81381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548640" y="4206240"/>
            <a:ext cx="76809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D3DE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96A8"/>
                </a:solidFill>
              </a:rPr>
              <a:t>ABAP Moderno  ·  Módulo 05  ·  05.02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Content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0070F2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ABAP Moderno  ·  Módulo 05  ·  05.02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Closing">
    <p:bg>
      <p:bgPr>
        <a:solidFill>
          <a:srgbClr val="1D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dirty="0">
                <a:solidFill>
                  <a:srgbClr val="4DB1FF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96A8"/>
                </a:solidFill>
              </a:rPr>
              <a:t>ABAP Moderno  ·  Módulo 05  ·  05.02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396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image" Target="../media/image-10-1.png"/><Relationship Id="rId4" Type="http://schemas.openxmlformats.org/officeDocument/2006/relationships/image" Target="../media/image-10-2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slideLayout" Target="../slideLayouts/slideLayout3.xml"/><Relationship Id="rId1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554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DB1FF"/>
                </a:solidFill>
              </a:rPr>
              <a:t>Módulo 05  ·  05.02</a:t>
            </a:r>
            <a:endParaRPr lang="en-US" sz="1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2057400"/>
            <a:ext cx="8138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 Grande Virada: Da Função à Experiência</a:t>
            </a: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548640" y="42062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3DE"/>
                </a:solidFill>
              </a:rPr>
              <a:t>Como a filosofia SAP Fiori redefine o papel do desenvolvedor no S/4HANA.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915400" y="1600200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33302B"/>
          </a:solidFill>
          <a:ln w="9525">
            <a:solidFill>
              <a:srgbClr val="6B5E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0" y="160020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SAP GUI clássico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21671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B1FF"/>
                </a:solidFill>
              </a:rPr>
              <a:t>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915400" y="2350008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509760" y="2350008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Role-Based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915400" y="3099816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509760" y="3099816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Adaptive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915400" y="3849624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509760" y="3849624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Simple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15400" y="4599432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509760" y="4599432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Coherent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915400" y="5349240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509760" y="534924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Delightful</a:t>
            </a:r>
            <a:endParaRPr lang="en-US" sz="13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3986784"/>
            <a:ext cx="292608" cy="292608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1737360"/>
            <a:ext cx="292608" cy="292608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3236976"/>
            <a:ext cx="292608" cy="292608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0" y="2487168"/>
            <a:ext cx="292608" cy="292608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8280" y="5486400"/>
            <a:ext cx="292608" cy="292608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8280" y="4736592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A Pergunta que Mudou Tudo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645920" y="1965960"/>
            <a:ext cx="963137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D2D3E"/>
                </a:solidFill>
              </a:rPr>
              <a:t>“Por que eu consigo reservar um hotel na Ásia em </a:t>
            </a:r>
            <a:r>
              <a:rPr lang="en-US" sz="3000" b="1" dirty="0">
                <a:solidFill>
                  <a:srgbClr val="1D2D3E"/>
                </a:solidFill>
              </a:rPr>
              <a:t>3 cliques</a:t>
            </a:r>
            <a:r>
              <a:rPr lang="en-US" sz="3000" dirty="0">
                <a:solidFill>
                  <a:srgbClr val="1D2D3E"/>
                </a:solidFill>
              </a:rPr>
              <a:t> no meu celular, mas preciso de </a:t>
            </a:r>
            <a:r>
              <a:rPr lang="en-US" sz="3000" b="1" dirty="0">
                <a:solidFill>
                  <a:srgbClr val="1D2D3E"/>
                </a:solidFill>
              </a:rPr>
              <a:t>15 cliques e 4 abas</a:t>
            </a:r>
            <a:r>
              <a:rPr lang="en-US" sz="3000" dirty="0">
                <a:solidFill>
                  <a:srgbClr val="1D2D3E"/>
                </a:solidFill>
              </a:rPr>
              <a:t> para pedir uma caneta no sistema da empresa?”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709160"/>
            <a:ext cx="9631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i="1" dirty="0">
                <a:solidFill>
                  <a:srgbClr val="556B82"/>
                </a:solidFill>
              </a:rPr>
              <a:t>— O Usuário Corporativo Moderno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822960" cy="822960"/>
          </a:xfrm>
          <a:prstGeom prst="rect">
            <a:avLst/>
          </a:prstGeom>
        </p:spPr>
      </p:pic>
      <p:sp>
        <p:nvSpPr>
          <p:cNvPr id="6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 Mundo Antes do Fiori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Foco na Funcionalidade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1206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D2D3E"/>
                </a:solidFill>
              </a:rPr>
              <a:t>Durante décadas, o design foi guiado por uma pergunta: “Como colocamos </a:t>
            </a:r>
            <a:r>
              <a:rPr lang="en-US" sz="1700" b="1" dirty="0">
                <a:solidFill>
                  <a:srgbClr val="1D2D3E"/>
                </a:solidFill>
              </a:rPr>
              <a:t>todos os campos possíveis</a:t>
            </a:r>
            <a:r>
              <a:rPr lang="en-US" sz="1700" dirty="0">
                <a:solidFill>
                  <a:srgbClr val="1D2D3E"/>
                </a:solidFill>
              </a:rPr>
              <a:t> em uma única tela?”.</a:t>
            </a:r>
            <a:endParaRPr lang="en-US" sz="16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D2D3E"/>
                </a:solidFill>
              </a:rPr>
              <a:t>Isso resultou em telas cinzentas, densas e complexas, e em transações “monstro” como </a:t>
            </a:r>
            <a:r>
              <a:rPr lang="en-US" sz="17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VA01</a:t>
            </a:r>
            <a:r>
              <a:rPr lang="en-US" sz="1700" dirty="0">
                <a:solidFill>
                  <a:srgbClr val="1D2D3E"/>
                </a:solidFill>
              </a:rPr>
              <a:t> ou </a:t>
            </a:r>
            <a:r>
              <a:rPr lang="en-US" sz="17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ME21N</a:t>
            </a:r>
            <a:r>
              <a:rPr lang="en-US" sz="1700" dirty="0">
                <a:solidFill>
                  <a:srgbClr val="1D2D3E"/>
                </a:solidFill>
              </a:rPr>
              <a:t>.</a:t>
            </a:r>
            <a:endParaRPr lang="en-US" sz="16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D2D3E"/>
                </a:solidFill>
              </a:rPr>
              <a:t>O domínio do sistema exigia meses de treinamento e a memorização de dezenas de T-Codes. A eficiência era para a máquina, não para a pessoa.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675120" y="2148840"/>
            <a:ext cx="4967935" cy="3840480"/>
          </a:xfrm>
          <a:prstGeom prst="roundRect">
            <a:avLst>
              <a:gd name="adj" fmla="val 952"/>
            </a:avLst>
          </a:prstGeom>
          <a:solidFill>
            <a:srgbClr val="E8EBEE"/>
          </a:solidFill>
          <a:ln w="9525">
            <a:solidFill>
              <a:srgbClr val="A9B4BE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675120" y="2148840"/>
            <a:ext cx="4967935" cy="274320"/>
          </a:xfrm>
          <a:prstGeom prst="rect">
            <a:avLst/>
          </a:prstGeom>
          <a:solidFill>
            <a:srgbClr val="C5CCD3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0" y="2203704"/>
            <a:ext cx="914400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8396A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84848" y="220370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ME21N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6766560" y="2468880"/>
            <a:ext cx="47850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56B82"/>
                </a:solidFill>
              </a:rPr>
              <a:t>Create Purchase Order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766560" y="2770632"/>
            <a:ext cx="561556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A9B4B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64692" y="2770632"/>
            <a:ext cx="561556" cy="164592"/>
          </a:xfrm>
          <a:prstGeom prst="rect">
            <a:avLst/>
          </a:prstGeom>
          <a:solidFill>
            <a:srgbClr val="D3D9DF"/>
          </a:solidFill>
          <a:ln w="6350">
            <a:solidFill>
              <a:srgbClr val="A9B4B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62824" y="2770632"/>
            <a:ext cx="561556" cy="164592"/>
          </a:xfrm>
          <a:prstGeom prst="rect">
            <a:avLst/>
          </a:prstGeom>
          <a:solidFill>
            <a:srgbClr val="D3D9DF"/>
          </a:solidFill>
          <a:ln w="6350">
            <a:solidFill>
              <a:srgbClr val="A9B4B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60956" y="2770632"/>
            <a:ext cx="561556" cy="164592"/>
          </a:xfrm>
          <a:prstGeom prst="rect">
            <a:avLst/>
          </a:prstGeom>
          <a:solidFill>
            <a:srgbClr val="D3D9DF"/>
          </a:solidFill>
          <a:ln w="6350">
            <a:solidFill>
              <a:srgbClr val="A9B4B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59088" y="2770632"/>
            <a:ext cx="561556" cy="164592"/>
          </a:xfrm>
          <a:prstGeom prst="rect">
            <a:avLst/>
          </a:prstGeom>
          <a:solidFill>
            <a:srgbClr val="D3D9DF"/>
          </a:solidFill>
          <a:ln w="6350">
            <a:solidFill>
              <a:srgbClr val="A9B4B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757220" y="2770632"/>
            <a:ext cx="561556" cy="164592"/>
          </a:xfrm>
          <a:prstGeom prst="rect">
            <a:avLst/>
          </a:prstGeom>
          <a:solidFill>
            <a:srgbClr val="D3D9DF"/>
          </a:solidFill>
          <a:ln w="6350">
            <a:solidFill>
              <a:srgbClr val="A9B4B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355351" y="2770632"/>
            <a:ext cx="561556" cy="164592"/>
          </a:xfrm>
          <a:prstGeom prst="rect">
            <a:avLst/>
          </a:prstGeom>
          <a:solidFill>
            <a:srgbClr val="D3D9DF"/>
          </a:solidFill>
          <a:ln w="6350">
            <a:solidFill>
              <a:srgbClr val="A9B4B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53483" y="2770632"/>
            <a:ext cx="561556" cy="164592"/>
          </a:xfrm>
          <a:prstGeom prst="rect">
            <a:avLst/>
          </a:prstGeom>
          <a:solidFill>
            <a:srgbClr val="D3D9DF"/>
          </a:solidFill>
          <a:ln w="6350">
            <a:solidFill>
              <a:srgbClr val="A9B4B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12280" y="3063240"/>
            <a:ext cx="822960" cy="91440"/>
          </a:xfrm>
          <a:prstGeom prst="rect">
            <a:avLst/>
          </a:prstGeom>
          <a:solidFill>
            <a:srgbClr val="B7C0C9"/>
          </a:solidFill>
          <a:ln/>
        </p:spPr>
      </p:sp>
      <p:sp>
        <p:nvSpPr>
          <p:cNvPr id="19" name="Shape 17"/>
          <p:cNvSpPr/>
          <p:nvPr/>
        </p:nvSpPr>
        <p:spPr>
          <a:xfrm>
            <a:off x="7726680" y="3035808"/>
            <a:ext cx="129524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A9B4B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96248" y="3063240"/>
            <a:ext cx="822960" cy="91440"/>
          </a:xfrm>
          <a:prstGeom prst="rect">
            <a:avLst/>
          </a:prstGeom>
          <a:solidFill>
            <a:srgbClr val="B7C0C9"/>
          </a:solidFill>
          <a:ln/>
        </p:spPr>
      </p:sp>
      <p:sp>
        <p:nvSpPr>
          <p:cNvPr id="21" name="Shape 19"/>
          <p:cNvSpPr/>
          <p:nvPr/>
        </p:nvSpPr>
        <p:spPr>
          <a:xfrm>
            <a:off x="10210648" y="3035808"/>
            <a:ext cx="129524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A9B4B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12280" y="3282696"/>
            <a:ext cx="822960" cy="91440"/>
          </a:xfrm>
          <a:prstGeom prst="rect">
            <a:avLst/>
          </a:prstGeom>
          <a:solidFill>
            <a:srgbClr val="B7C0C9"/>
          </a:solidFill>
          <a:ln/>
        </p:spPr>
      </p:sp>
      <p:sp>
        <p:nvSpPr>
          <p:cNvPr id="23" name="Shape 21"/>
          <p:cNvSpPr/>
          <p:nvPr/>
        </p:nvSpPr>
        <p:spPr>
          <a:xfrm>
            <a:off x="7726680" y="3255264"/>
            <a:ext cx="129524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A9B4B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96248" y="3282696"/>
            <a:ext cx="822960" cy="91440"/>
          </a:xfrm>
          <a:prstGeom prst="rect">
            <a:avLst/>
          </a:prstGeom>
          <a:solidFill>
            <a:srgbClr val="B7C0C9"/>
          </a:solidFill>
          <a:ln/>
        </p:spPr>
      </p:sp>
      <p:sp>
        <p:nvSpPr>
          <p:cNvPr id="25" name="Shape 23"/>
          <p:cNvSpPr/>
          <p:nvPr/>
        </p:nvSpPr>
        <p:spPr>
          <a:xfrm>
            <a:off x="10210648" y="3255264"/>
            <a:ext cx="129524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A9B4B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12280" y="3502152"/>
            <a:ext cx="822960" cy="91440"/>
          </a:xfrm>
          <a:prstGeom prst="rect">
            <a:avLst/>
          </a:prstGeom>
          <a:solidFill>
            <a:srgbClr val="B7C0C9"/>
          </a:solidFill>
          <a:ln/>
        </p:spPr>
      </p:sp>
      <p:sp>
        <p:nvSpPr>
          <p:cNvPr id="27" name="Shape 25"/>
          <p:cNvSpPr/>
          <p:nvPr/>
        </p:nvSpPr>
        <p:spPr>
          <a:xfrm>
            <a:off x="7726680" y="3474720"/>
            <a:ext cx="129524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A9B4B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296248" y="3502152"/>
            <a:ext cx="822960" cy="91440"/>
          </a:xfrm>
          <a:prstGeom prst="rect">
            <a:avLst/>
          </a:prstGeom>
          <a:solidFill>
            <a:srgbClr val="B7C0C9"/>
          </a:solidFill>
          <a:ln/>
        </p:spPr>
      </p:sp>
      <p:sp>
        <p:nvSpPr>
          <p:cNvPr id="29" name="Shape 27"/>
          <p:cNvSpPr/>
          <p:nvPr/>
        </p:nvSpPr>
        <p:spPr>
          <a:xfrm>
            <a:off x="10210648" y="3474720"/>
            <a:ext cx="129524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A9B4B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12280" y="3721608"/>
            <a:ext cx="822960" cy="91440"/>
          </a:xfrm>
          <a:prstGeom prst="rect">
            <a:avLst/>
          </a:prstGeom>
          <a:solidFill>
            <a:srgbClr val="B7C0C9"/>
          </a:solidFill>
          <a:ln/>
        </p:spPr>
      </p:sp>
      <p:sp>
        <p:nvSpPr>
          <p:cNvPr id="31" name="Shape 29"/>
          <p:cNvSpPr/>
          <p:nvPr/>
        </p:nvSpPr>
        <p:spPr>
          <a:xfrm>
            <a:off x="7726680" y="3694176"/>
            <a:ext cx="129524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A9B4B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296248" y="3721608"/>
            <a:ext cx="822960" cy="91440"/>
          </a:xfrm>
          <a:prstGeom prst="rect">
            <a:avLst/>
          </a:prstGeom>
          <a:solidFill>
            <a:srgbClr val="B7C0C9"/>
          </a:solidFill>
          <a:ln/>
        </p:spPr>
      </p:sp>
      <p:sp>
        <p:nvSpPr>
          <p:cNvPr id="33" name="Shape 31"/>
          <p:cNvSpPr/>
          <p:nvPr/>
        </p:nvSpPr>
        <p:spPr>
          <a:xfrm>
            <a:off x="10210648" y="3694176"/>
            <a:ext cx="129524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A9B4B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12280" y="3941064"/>
            <a:ext cx="822960" cy="91440"/>
          </a:xfrm>
          <a:prstGeom prst="rect">
            <a:avLst/>
          </a:prstGeom>
          <a:solidFill>
            <a:srgbClr val="B7C0C9"/>
          </a:solidFill>
          <a:ln/>
        </p:spPr>
      </p:sp>
      <p:sp>
        <p:nvSpPr>
          <p:cNvPr id="35" name="Shape 33"/>
          <p:cNvSpPr/>
          <p:nvPr/>
        </p:nvSpPr>
        <p:spPr>
          <a:xfrm>
            <a:off x="7726680" y="3913632"/>
            <a:ext cx="129524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A9B4B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296248" y="3941064"/>
            <a:ext cx="822960" cy="91440"/>
          </a:xfrm>
          <a:prstGeom prst="rect">
            <a:avLst/>
          </a:prstGeom>
          <a:solidFill>
            <a:srgbClr val="B7C0C9"/>
          </a:solidFill>
          <a:ln/>
        </p:spPr>
      </p:sp>
      <p:sp>
        <p:nvSpPr>
          <p:cNvPr id="37" name="Shape 35"/>
          <p:cNvSpPr/>
          <p:nvPr/>
        </p:nvSpPr>
        <p:spPr>
          <a:xfrm>
            <a:off x="10210648" y="3913632"/>
            <a:ext cx="129524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A9B4B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12280" y="4160520"/>
            <a:ext cx="822960" cy="91440"/>
          </a:xfrm>
          <a:prstGeom prst="rect">
            <a:avLst/>
          </a:prstGeom>
          <a:solidFill>
            <a:srgbClr val="B7C0C9"/>
          </a:solidFill>
          <a:ln/>
        </p:spPr>
      </p:sp>
      <p:sp>
        <p:nvSpPr>
          <p:cNvPr id="39" name="Shape 37"/>
          <p:cNvSpPr/>
          <p:nvPr/>
        </p:nvSpPr>
        <p:spPr>
          <a:xfrm>
            <a:off x="7726680" y="4133088"/>
            <a:ext cx="129524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A9B4B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296248" y="4160520"/>
            <a:ext cx="822960" cy="91440"/>
          </a:xfrm>
          <a:prstGeom prst="rect">
            <a:avLst/>
          </a:prstGeom>
          <a:solidFill>
            <a:srgbClr val="B7C0C9"/>
          </a:solidFill>
          <a:ln/>
        </p:spPr>
      </p:sp>
      <p:sp>
        <p:nvSpPr>
          <p:cNvPr id="41" name="Shape 39"/>
          <p:cNvSpPr/>
          <p:nvPr/>
        </p:nvSpPr>
        <p:spPr>
          <a:xfrm>
            <a:off x="10210648" y="4133088"/>
            <a:ext cx="129524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A9B4B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12280" y="4379976"/>
            <a:ext cx="822960" cy="91440"/>
          </a:xfrm>
          <a:prstGeom prst="rect">
            <a:avLst/>
          </a:prstGeom>
          <a:solidFill>
            <a:srgbClr val="B7C0C9"/>
          </a:solidFill>
          <a:ln/>
        </p:spPr>
      </p:sp>
      <p:sp>
        <p:nvSpPr>
          <p:cNvPr id="43" name="Shape 41"/>
          <p:cNvSpPr/>
          <p:nvPr/>
        </p:nvSpPr>
        <p:spPr>
          <a:xfrm>
            <a:off x="7726680" y="4352544"/>
            <a:ext cx="129524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A9B4B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296248" y="4379976"/>
            <a:ext cx="822960" cy="91440"/>
          </a:xfrm>
          <a:prstGeom prst="rect">
            <a:avLst/>
          </a:prstGeom>
          <a:solidFill>
            <a:srgbClr val="B7C0C9"/>
          </a:solidFill>
          <a:ln/>
        </p:spPr>
      </p:sp>
      <p:sp>
        <p:nvSpPr>
          <p:cNvPr id="45" name="Shape 43"/>
          <p:cNvSpPr/>
          <p:nvPr/>
        </p:nvSpPr>
        <p:spPr>
          <a:xfrm>
            <a:off x="10210648" y="4352544"/>
            <a:ext cx="129524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A9B4B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766560" y="4709160"/>
            <a:ext cx="4785055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A9B4B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766560" y="4892040"/>
            <a:ext cx="4785055" cy="0"/>
          </a:xfrm>
          <a:prstGeom prst="line">
            <a:avLst/>
          </a:prstGeom>
          <a:noFill/>
          <a:ln w="6350">
            <a:solidFill>
              <a:srgbClr val="D3D9D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766560" y="5084064"/>
            <a:ext cx="4785055" cy="0"/>
          </a:xfrm>
          <a:prstGeom prst="line">
            <a:avLst/>
          </a:prstGeom>
          <a:noFill/>
          <a:ln w="6350">
            <a:solidFill>
              <a:srgbClr val="D3D9D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766560" y="5276088"/>
            <a:ext cx="4785055" cy="0"/>
          </a:xfrm>
          <a:prstGeom prst="line">
            <a:avLst/>
          </a:prstGeom>
          <a:noFill/>
          <a:ln w="6350">
            <a:solidFill>
              <a:srgbClr val="D3D9D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766560" y="5468112"/>
            <a:ext cx="4785055" cy="0"/>
          </a:xfrm>
          <a:prstGeom prst="line">
            <a:avLst/>
          </a:prstGeom>
          <a:noFill/>
          <a:ln w="6350">
            <a:solidFill>
              <a:srgbClr val="D3D9D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766560" y="5660136"/>
            <a:ext cx="4785055" cy="0"/>
          </a:xfrm>
          <a:prstGeom prst="line">
            <a:avLst/>
          </a:prstGeom>
          <a:noFill/>
          <a:ln w="6350">
            <a:solidFill>
              <a:srgbClr val="D3D9DF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492240" y="1554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AA0808"/>
                </a:solidFill>
              </a:rPr>
              <a:t>T-Code obrigatório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7132320" y="1874520"/>
            <a:ext cx="0" cy="329184"/>
          </a:xfrm>
          <a:prstGeom prst="line">
            <a:avLst/>
          </a:prstGeom>
          <a:noFill/>
          <a:ln w="12700">
            <a:solidFill>
              <a:srgbClr val="D20A0A"/>
            </a:solidFill>
            <a:prstDash val="solid"/>
            <a:tailEnd type="triangle"/>
          </a:ln>
        </p:spPr>
      </p:sp>
      <p:sp>
        <p:nvSpPr>
          <p:cNvPr id="54" name="Text 52"/>
          <p:cNvSpPr txBox="1"/>
          <p:nvPr/>
        </p:nvSpPr>
        <p:spPr>
          <a:xfrm>
            <a:off x="9052560" y="1554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AA0808"/>
                </a:solidFill>
              </a:rPr>
              <a:t>Navegação por abas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9601200" y="1874520"/>
            <a:ext cx="0" cy="896112"/>
          </a:xfrm>
          <a:prstGeom prst="line">
            <a:avLst/>
          </a:prstGeom>
          <a:noFill/>
          <a:ln w="12700">
            <a:solidFill>
              <a:srgbClr val="D20A0A"/>
            </a:solidFill>
            <a:prstDash val="solid"/>
            <a:tailEnd type="triangle"/>
          </a:ln>
        </p:spPr>
      </p:sp>
      <p:sp>
        <p:nvSpPr>
          <p:cNvPr id="56" name="Text 54"/>
          <p:cNvSpPr txBox="1"/>
          <p:nvPr/>
        </p:nvSpPr>
        <p:spPr>
          <a:xfrm>
            <a:off x="5349240" y="35661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A0808"/>
                </a:solidFill>
              </a:rPr>
              <a:t>Dezenas de campos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492240" y="3840480"/>
            <a:ext cx="274320" cy="0"/>
          </a:xfrm>
          <a:prstGeom prst="line">
            <a:avLst/>
          </a:prstGeom>
          <a:noFill/>
          <a:ln w="12700">
            <a:solidFill>
              <a:srgbClr val="D20A0A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 Nova Expectativa · Consumer-Grade UX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Experiência de Nível de Consumidor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D2D3E"/>
                </a:solidFill>
              </a:rPr>
              <a:t>A ascensão dos smartphones e dos apps de consumo mudou o padrão. O software corporativo precisava evoluir. Os novos pilares são: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3515258" cy="3566160"/>
          </a:xfrm>
          <a:prstGeom prst="roundRect">
            <a:avLst>
              <a:gd name="adj" fmla="val 364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679192"/>
            <a:ext cx="822960" cy="82296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4672" y="3666744"/>
            <a:ext cx="3003194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D2D3E"/>
                </a:solidFill>
              </a:rPr>
              <a:t>Zero Training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556B82"/>
                </a:solidFill>
              </a:rPr>
              <a:t>O software deve ser tão intuitivo que não exija manuais.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38218" y="2423160"/>
            <a:ext cx="3515258" cy="3566160"/>
          </a:xfrm>
          <a:prstGeom prst="roundRect">
            <a:avLst>
              <a:gd name="adj" fmla="val 364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94250" y="2679192"/>
            <a:ext cx="822960" cy="82296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94250" y="3666744"/>
            <a:ext cx="3003194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D2D3E"/>
                </a:solidFill>
              </a:rPr>
              <a:t>Foco na Tarefa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556B82"/>
                </a:solidFill>
              </a:rPr>
              <a:t>Expor apenas o necessário para a tarefa atual, sem ruído.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27797" y="2423160"/>
            <a:ext cx="3515258" cy="3566160"/>
          </a:xfrm>
          <a:prstGeom prst="roundRect">
            <a:avLst>
              <a:gd name="adj" fmla="val 364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383829" y="2679192"/>
            <a:ext cx="822960" cy="82296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83829" y="3666744"/>
            <a:ext cx="3003194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D2D3E"/>
                </a:solidFill>
              </a:rPr>
              <a:t>Estética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556B82"/>
                </a:solidFill>
              </a:rPr>
              <a:t>Um visual agradável reduz a fadiga e aumenta a satisfação no trabalho.</a:t>
            </a:r>
            <a:endParaRPr lang="en-US" sz="16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182" y="2876702"/>
            <a:ext cx="427939" cy="427939"/>
          </a:xfrm>
          <a:prstGeom prst="rect">
            <a:avLst/>
          </a:prstGeom>
        </p:spPr>
      </p:pic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761" y="2876702"/>
            <a:ext cx="427939" cy="427939"/>
          </a:xfrm>
          <a:prstGeom prst="rect">
            <a:avLst/>
          </a:prstGeom>
        </p:spPr>
      </p:pic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1339" y="2876702"/>
            <a:ext cx="427939" cy="42793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 Resposta Estruturada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Os 5 Princípios do Design SAP Fiori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 flipH="1" flipV="1">
            <a:off x="2529688" y="2148840"/>
            <a:ext cx="3566160" cy="1051560"/>
          </a:xfrm>
          <a:prstGeom prst="line">
            <a:avLst/>
          </a:prstGeom>
          <a:noFill/>
          <a:ln w="31750">
            <a:solidFill>
              <a:srgbClr val="BDE6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6095848" y="2148840"/>
            <a:ext cx="3566160" cy="1051560"/>
          </a:xfrm>
          <a:prstGeom prst="line">
            <a:avLst/>
          </a:prstGeom>
          <a:noFill/>
          <a:ln w="31750">
            <a:solidFill>
              <a:srgbClr val="BDE6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2529688" y="3200400"/>
            <a:ext cx="3566160" cy="1051560"/>
          </a:xfrm>
          <a:prstGeom prst="line">
            <a:avLst/>
          </a:prstGeom>
          <a:noFill/>
          <a:ln w="31750">
            <a:solidFill>
              <a:srgbClr val="BDE6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95848" y="3200400"/>
            <a:ext cx="3566160" cy="1051560"/>
          </a:xfrm>
          <a:prstGeom prst="line">
            <a:avLst/>
          </a:prstGeom>
          <a:noFill/>
          <a:ln w="31750">
            <a:solidFill>
              <a:srgbClr val="BDE6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5848" y="3200400"/>
            <a:ext cx="0" cy="1783080"/>
          </a:xfrm>
          <a:prstGeom prst="line">
            <a:avLst/>
          </a:prstGeom>
          <a:noFill/>
          <a:ln w="31750">
            <a:solidFill>
              <a:srgbClr val="BDE6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81448" y="2286000"/>
            <a:ext cx="1828800" cy="1828800"/>
          </a:xfrm>
          <a:prstGeom prst="ellipse">
            <a:avLst/>
          </a:prstGeom>
          <a:solidFill>
            <a:srgbClr val="0070F2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81448" y="22860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SAP Fiori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432408" y="1801368"/>
            <a:ext cx="2194560" cy="694944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BDE6FF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2072488" y="1801368"/>
            <a:ext cx="1508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Role-Based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564728" y="1801368"/>
            <a:ext cx="2194560" cy="694944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BDE6FF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204808" y="1801368"/>
            <a:ext cx="1508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Adaptive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432408" y="3904488"/>
            <a:ext cx="2194560" cy="694944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BDE6FF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2072488" y="3904488"/>
            <a:ext cx="1508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Simple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564728" y="3904488"/>
            <a:ext cx="2194560" cy="694944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BDE6FF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204808" y="3904488"/>
            <a:ext cx="1508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Coherent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998568" y="4636008"/>
            <a:ext cx="2194560" cy="694944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BDE6FF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5638648" y="4636008"/>
            <a:ext cx="1508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Delightful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5321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Para garantir qualidade e consistência, a SAP definiu uma filosofia de design rigorosa. Todo aplicativo S/4HANA, seja padrão ou customizado, deve seguir estes 5 princípios fundamentais.</a:t>
            </a:r>
            <a:endParaRPr lang="en-US" sz="15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9568" y="1947672"/>
            <a:ext cx="402336" cy="402336"/>
          </a:xfrm>
          <a:prstGeom prst="rect">
            <a:avLst/>
          </a:prstGeom>
        </p:spPr>
      </p:pic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1888" y="1947672"/>
            <a:ext cx="402336" cy="402336"/>
          </a:xfrm>
          <a:prstGeom prst="rect">
            <a:avLst/>
          </a:prstGeom>
        </p:spPr>
      </p:pic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9568" y="4050792"/>
            <a:ext cx="402336" cy="402336"/>
          </a:xfrm>
          <a:prstGeom prst="rect">
            <a:avLst/>
          </a:prstGeom>
        </p:spPr>
      </p:pic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1888" y="4050792"/>
            <a:ext cx="402336" cy="402336"/>
          </a:xfrm>
          <a:prstGeom prst="rect">
            <a:avLst/>
          </a:prstGeom>
        </p:spPr>
      </p:pic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5728" y="4782312"/>
            <a:ext cx="402336" cy="40233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Princípio 1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Role-Based (Baseado em Papéis)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3749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D2D3E"/>
                </a:solidFill>
              </a:rPr>
              <a:t>O aplicativo é desenhado para </a:t>
            </a:r>
            <a:r>
              <a:rPr lang="en-US" sz="1700" b="1" dirty="0">
                <a:solidFill>
                  <a:srgbClr val="1D2D3E"/>
                </a:solidFill>
              </a:rPr>
              <a:t>quem</a:t>
            </a:r>
            <a:r>
              <a:rPr lang="en-US" sz="1700" dirty="0">
                <a:solidFill>
                  <a:srgbClr val="1D2D3E"/>
                </a:solidFill>
              </a:rPr>
              <a:t> vai usá-lo, não para </a:t>
            </a:r>
            <a:r>
              <a:rPr lang="en-US" sz="1700" b="1" dirty="0">
                <a:solidFill>
                  <a:srgbClr val="1D2D3E"/>
                </a:solidFill>
              </a:rPr>
              <a:t>o que</a:t>
            </a:r>
            <a:r>
              <a:rPr lang="en-US" sz="1700" dirty="0">
                <a:solidFill>
                  <a:srgbClr val="1D2D3E"/>
                </a:solidFill>
              </a:rPr>
              <a:t> ele faz tecnicamente. Decompomos transações monolíticas em apps focados.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4343400"/>
            <a:ext cx="3749040" cy="1280160"/>
          </a:xfrm>
          <a:prstGeom prst="roundRect">
            <a:avLst>
              <a:gd name="adj" fmla="val 8571"/>
            </a:avLst>
          </a:prstGeom>
          <a:solidFill>
            <a:srgbClr val="EBF8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43434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O usuário vê apenas o que é relevante, reduzindo o ruído cognitivo.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663440" y="1783080"/>
            <a:ext cx="1828800" cy="3840480"/>
          </a:xfrm>
          <a:prstGeom prst="rect">
            <a:avLst/>
          </a:prstGeom>
          <a:solidFill>
            <a:srgbClr val="C5CCD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709160" y="1783080"/>
            <a:ext cx="17373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2D3E"/>
                </a:solidFill>
              </a:rPr>
              <a:t>VA01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D2D3E"/>
                </a:solidFill>
              </a:rPr>
              <a:t>(todos os campos para todos)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629400" y="3200400"/>
            <a:ext cx="822960" cy="1005840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10" name="Shape 8"/>
          <p:cNvSpPr/>
          <p:nvPr/>
        </p:nvSpPr>
        <p:spPr>
          <a:xfrm>
            <a:off x="7635240" y="1783080"/>
            <a:ext cx="4007815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635240" y="1783080"/>
            <a:ext cx="4007815" cy="64008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549640" y="1892808"/>
            <a:ext cx="29562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Aprovar Pedidos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App simples para o Gerente.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35240" y="3108960"/>
            <a:ext cx="4007815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635240" y="3108960"/>
            <a:ext cx="4007815" cy="64008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549640" y="3218688"/>
            <a:ext cx="29562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Monitorar Atendimento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App analítico para o Logístico.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35240" y="4434840"/>
            <a:ext cx="4007815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35240" y="4434840"/>
            <a:ext cx="4007815" cy="64008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549640" y="4544568"/>
            <a:ext cx="29562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Criar Pedido Rápido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App mobile para o Vendedor de Campo.</a:t>
            </a:r>
            <a:endParaRPr lang="en-US" sz="16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809744"/>
            <a:ext cx="347472" cy="347472"/>
          </a:xfrm>
          <a:prstGeom prst="rect">
            <a:avLst/>
          </a:prstGeom>
        </p:spPr>
      </p:pic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2103120"/>
            <a:ext cx="548640" cy="548640"/>
          </a:xfrm>
          <a:prstGeom prst="rect">
            <a:avLst/>
          </a:prstGeom>
        </p:spPr>
      </p:pic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3429000"/>
            <a:ext cx="548640" cy="548640"/>
          </a:xfrm>
          <a:prstGeom prst="rect">
            <a:avLst/>
          </a:prstGeom>
        </p:spPr>
      </p:pic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4754880"/>
            <a:ext cx="548640" cy="5486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Princípio 2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Adaptive (Adaptável)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1206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Conceito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O aplicativo deve se adaptar ao dispositivo, não o contrário. A experiência precisa ser fluida e consistente em um monitor 4K, um tablet ou um smartphone.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1D2D3E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Técnica-chave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Layouts responsivos (SAPUI5/Fiori Elements) que reorganizam o conteúdo seguindo a abordagem “Mobile First”. Tabelas se tornam listas, colunas são reorganizadas e detalhes menos importantes são ocultados conforme a tela diminui.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852160" y="1691640"/>
            <a:ext cx="4206240" cy="2651760"/>
          </a:xfrm>
          <a:prstGeom prst="roundRect">
            <a:avLst>
              <a:gd name="adj" fmla="val 2759"/>
            </a:avLst>
          </a:prstGeom>
          <a:solidFill>
            <a:srgbClr val="1D2D3E"/>
          </a:solidFill>
          <a:ln/>
        </p:spPr>
      </p:sp>
      <p:sp>
        <p:nvSpPr>
          <p:cNvPr id="6" name="Shape 4"/>
          <p:cNvSpPr/>
          <p:nvPr/>
        </p:nvSpPr>
        <p:spPr>
          <a:xfrm>
            <a:off x="5961888" y="1801368"/>
            <a:ext cx="3986784" cy="2432304"/>
          </a:xfrm>
          <a:prstGeom prst="roundRect">
            <a:avLst>
              <a:gd name="adj" fmla="val 2256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71032" y="1810512"/>
            <a:ext cx="3968496" cy="292608"/>
          </a:xfrm>
          <a:prstGeom prst="rect">
            <a:avLst/>
          </a:prstGeom>
          <a:solidFill>
            <a:srgbClr val="1D2D3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071616" y="181051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SAP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099048" y="2167128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D2D3E"/>
                </a:solidFill>
              </a:rPr>
              <a:t>List Report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99048" y="2514600"/>
            <a:ext cx="914400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04888" y="2514600"/>
            <a:ext cx="731520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99048" y="2788920"/>
            <a:ext cx="3712464" cy="132588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13" name="Shape 11"/>
          <p:cNvSpPr/>
          <p:nvPr/>
        </p:nvSpPr>
        <p:spPr>
          <a:xfrm>
            <a:off x="6163056" y="2967914"/>
            <a:ext cx="433121" cy="39776"/>
          </a:xfrm>
          <a:prstGeom prst="rect">
            <a:avLst/>
          </a:prstGeom>
          <a:solidFill>
            <a:srgbClr val="BDE6FF"/>
          </a:solidFill>
          <a:ln/>
        </p:spPr>
      </p:sp>
      <p:sp>
        <p:nvSpPr>
          <p:cNvPr id="14" name="Shape 12"/>
          <p:cNvSpPr/>
          <p:nvPr/>
        </p:nvSpPr>
        <p:spPr>
          <a:xfrm>
            <a:off x="6781800" y="2967914"/>
            <a:ext cx="309372" cy="3977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5" name="Shape 13"/>
          <p:cNvSpPr/>
          <p:nvPr/>
        </p:nvSpPr>
        <p:spPr>
          <a:xfrm>
            <a:off x="7400544" y="2967914"/>
            <a:ext cx="309372" cy="3977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6" name="Shape 14"/>
          <p:cNvSpPr/>
          <p:nvPr/>
        </p:nvSpPr>
        <p:spPr>
          <a:xfrm>
            <a:off x="8019288" y="2967914"/>
            <a:ext cx="309372" cy="3977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7" name="Shape 15"/>
          <p:cNvSpPr/>
          <p:nvPr/>
        </p:nvSpPr>
        <p:spPr>
          <a:xfrm>
            <a:off x="8638032" y="2967914"/>
            <a:ext cx="309372" cy="3977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8" name="Shape 16"/>
          <p:cNvSpPr/>
          <p:nvPr/>
        </p:nvSpPr>
        <p:spPr>
          <a:xfrm>
            <a:off x="9256776" y="2967914"/>
            <a:ext cx="309372" cy="3977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9" name="Shape 17"/>
          <p:cNvSpPr/>
          <p:nvPr/>
        </p:nvSpPr>
        <p:spPr>
          <a:xfrm>
            <a:off x="6163056" y="3100502"/>
            <a:ext cx="433121" cy="39776"/>
          </a:xfrm>
          <a:prstGeom prst="rect">
            <a:avLst/>
          </a:prstGeom>
          <a:solidFill>
            <a:srgbClr val="BDE6FF"/>
          </a:solidFill>
          <a:ln/>
        </p:spPr>
      </p:sp>
      <p:sp>
        <p:nvSpPr>
          <p:cNvPr id="20" name="Shape 18"/>
          <p:cNvSpPr/>
          <p:nvPr/>
        </p:nvSpPr>
        <p:spPr>
          <a:xfrm>
            <a:off x="6781800" y="3100502"/>
            <a:ext cx="309372" cy="3977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21" name="Shape 19"/>
          <p:cNvSpPr/>
          <p:nvPr/>
        </p:nvSpPr>
        <p:spPr>
          <a:xfrm>
            <a:off x="7400544" y="3100502"/>
            <a:ext cx="309372" cy="3977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22" name="Shape 20"/>
          <p:cNvSpPr/>
          <p:nvPr/>
        </p:nvSpPr>
        <p:spPr>
          <a:xfrm>
            <a:off x="8019288" y="3100502"/>
            <a:ext cx="309372" cy="3977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23" name="Shape 21"/>
          <p:cNvSpPr/>
          <p:nvPr/>
        </p:nvSpPr>
        <p:spPr>
          <a:xfrm>
            <a:off x="8638032" y="3100502"/>
            <a:ext cx="309372" cy="3977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24" name="Shape 22"/>
          <p:cNvSpPr/>
          <p:nvPr/>
        </p:nvSpPr>
        <p:spPr>
          <a:xfrm>
            <a:off x="9256776" y="3100502"/>
            <a:ext cx="309372" cy="3977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25" name="Shape 23"/>
          <p:cNvSpPr/>
          <p:nvPr/>
        </p:nvSpPr>
        <p:spPr>
          <a:xfrm>
            <a:off x="6163056" y="3233090"/>
            <a:ext cx="433121" cy="39776"/>
          </a:xfrm>
          <a:prstGeom prst="rect">
            <a:avLst/>
          </a:prstGeom>
          <a:solidFill>
            <a:srgbClr val="BDE6FF"/>
          </a:solidFill>
          <a:ln/>
        </p:spPr>
      </p:sp>
      <p:sp>
        <p:nvSpPr>
          <p:cNvPr id="26" name="Shape 24"/>
          <p:cNvSpPr/>
          <p:nvPr/>
        </p:nvSpPr>
        <p:spPr>
          <a:xfrm>
            <a:off x="6781800" y="3233090"/>
            <a:ext cx="309372" cy="3977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27" name="Shape 25"/>
          <p:cNvSpPr/>
          <p:nvPr/>
        </p:nvSpPr>
        <p:spPr>
          <a:xfrm>
            <a:off x="7400544" y="3233090"/>
            <a:ext cx="309372" cy="3977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28" name="Shape 26"/>
          <p:cNvSpPr/>
          <p:nvPr/>
        </p:nvSpPr>
        <p:spPr>
          <a:xfrm>
            <a:off x="8019288" y="3233090"/>
            <a:ext cx="309372" cy="3977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29" name="Shape 27"/>
          <p:cNvSpPr/>
          <p:nvPr/>
        </p:nvSpPr>
        <p:spPr>
          <a:xfrm>
            <a:off x="8638032" y="3233090"/>
            <a:ext cx="309372" cy="3977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30" name="Shape 28"/>
          <p:cNvSpPr/>
          <p:nvPr/>
        </p:nvSpPr>
        <p:spPr>
          <a:xfrm>
            <a:off x="9256776" y="3233090"/>
            <a:ext cx="309372" cy="3977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31" name="Shape 29"/>
          <p:cNvSpPr/>
          <p:nvPr/>
        </p:nvSpPr>
        <p:spPr>
          <a:xfrm>
            <a:off x="6163056" y="3365678"/>
            <a:ext cx="433121" cy="39776"/>
          </a:xfrm>
          <a:prstGeom prst="rect">
            <a:avLst/>
          </a:prstGeom>
          <a:solidFill>
            <a:srgbClr val="BDE6FF"/>
          </a:solidFill>
          <a:ln/>
        </p:spPr>
      </p:sp>
      <p:sp>
        <p:nvSpPr>
          <p:cNvPr id="32" name="Shape 30"/>
          <p:cNvSpPr/>
          <p:nvPr/>
        </p:nvSpPr>
        <p:spPr>
          <a:xfrm>
            <a:off x="6781800" y="3365678"/>
            <a:ext cx="309372" cy="3977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33" name="Shape 31"/>
          <p:cNvSpPr/>
          <p:nvPr/>
        </p:nvSpPr>
        <p:spPr>
          <a:xfrm>
            <a:off x="7400544" y="3365678"/>
            <a:ext cx="309372" cy="3977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34" name="Shape 32"/>
          <p:cNvSpPr/>
          <p:nvPr/>
        </p:nvSpPr>
        <p:spPr>
          <a:xfrm>
            <a:off x="8019288" y="3365678"/>
            <a:ext cx="309372" cy="3977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35" name="Shape 33"/>
          <p:cNvSpPr/>
          <p:nvPr/>
        </p:nvSpPr>
        <p:spPr>
          <a:xfrm>
            <a:off x="8638032" y="3365678"/>
            <a:ext cx="309372" cy="3977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36" name="Shape 34"/>
          <p:cNvSpPr/>
          <p:nvPr/>
        </p:nvSpPr>
        <p:spPr>
          <a:xfrm>
            <a:off x="9256776" y="3365678"/>
            <a:ext cx="309372" cy="3977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37" name="Shape 35"/>
          <p:cNvSpPr/>
          <p:nvPr/>
        </p:nvSpPr>
        <p:spPr>
          <a:xfrm>
            <a:off x="6163056" y="3498266"/>
            <a:ext cx="433121" cy="39776"/>
          </a:xfrm>
          <a:prstGeom prst="rect">
            <a:avLst/>
          </a:prstGeom>
          <a:solidFill>
            <a:srgbClr val="BDE6FF"/>
          </a:solidFill>
          <a:ln/>
        </p:spPr>
      </p:sp>
      <p:sp>
        <p:nvSpPr>
          <p:cNvPr id="38" name="Shape 36"/>
          <p:cNvSpPr/>
          <p:nvPr/>
        </p:nvSpPr>
        <p:spPr>
          <a:xfrm>
            <a:off x="6781800" y="3498266"/>
            <a:ext cx="309372" cy="3977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39" name="Shape 37"/>
          <p:cNvSpPr/>
          <p:nvPr/>
        </p:nvSpPr>
        <p:spPr>
          <a:xfrm>
            <a:off x="7400544" y="3498266"/>
            <a:ext cx="309372" cy="3977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40" name="Shape 38"/>
          <p:cNvSpPr/>
          <p:nvPr/>
        </p:nvSpPr>
        <p:spPr>
          <a:xfrm>
            <a:off x="8019288" y="3498266"/>
            <a:ext cx="309372" cy="3977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41" name="Shape 39"/>
          <p:cNvSpPr/>
          <p:nvPr/>
        </p:nvSpPr>
        <p:spPr>
          <a:xfrm>
            <a:off x="8638032" y="3498266"/>
            <a:ext cx="309372" cy="3977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42" name="Shape 40"/>
          <p:cNvSpPr/>
          <p:nvPr/>
        </p:nvSpPr>
        <p:spPr>
          <a:xfrm>
            <a:off x="9256776" y="3498266"/>
            <a:ext cx="309372" cy="3977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43" name="Shape 41"/>
          <p:cNvSpPr/>
          <p:nvPr/>
        </p:nvSpPr>
        <p:spPr>
          <a:xfrm>
            <a:off x="6163056" y="3630854"/>
            <a:ext cx="433121" cy="39776"/>
          </a:xfrm>
          <a:prstGeom prst="rect">
            <a:avLst/>
          </a:prstGeom>
          <a:solidFill>
            <a:srgbClr val="BDE6FF"/>
          </a:solidFill>
          <a:ln/>
        </p:spPr>
      </p:sp>
      <p:sp>
        <p:nvSpPr>
          <p:cNvPr id="44" name="Shape 42"/>
          <p:cNvSpPr/>
          <p:nvPr/>
        </p:nvSpPr>
        <p:spPr>
          <a:xfrm>
            <a:off x="6781800" y="3630854"/>
            <a:ext cx="309372" cy="3977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45" name="Shape 43"/>
          <p:cNvSpPr/>
          <p:nvPr/>
        </p:nvSpPr>
        <p:spPr>
          <a:xfrm>
            <a:off x="7400544" y="3630854"/>
            <a:ext cx="309372" cy="3977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46" name="Shape 44"/>
          <p:cNvSpPr/>
          <p:nvPr/>
        </p:nvSpPr>
        <p:spPr>
          <a:xfrm>
            <a:off x="8019288" y="3630854"/>
            <a:ext cx="309372" cy="3977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47" name="Shape 45"/>
          <p:cNvSpPr/>
          <p:nvPr/>
        </p:nvSpPr>
        <p:spPr>
          <a:xfrm>
            <a:off x="8638032" y="3630854"/>
            <a:ext cx="309372" cy="3977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48" name="Shape 46"/>
          <p:cNvSpPr/>
          <p:nvPr/>
        </p:nvSpPr>
        <p:spPr>
          <a:xfrm>
            <a:off x="9256776" y="3630854"/>
            <a:ext cx="309372" cy="3977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49" name="Shape 47"/>
          <p:cNvSpPr/>
          <p:nvPr/>
        </p:nvSpPr>
        <p:spPr>
          <a:xfrm>
            <a:off x="6163056" y="3763442"/>
            <a:ext cx="433121" cy="39776"/>
          </a:xfrm>
          <a:prstGeom prst="rect">
            <a:avLst/>
          </a:prstGeom>
          <a:solidFill>
            <a:srgbClr val="BDE6FF"/>
          </a:solidFill>
          <a:ln/>
        </p:spPr>
      </p:sp>
      <p:sp>
        <p:nvSpPr>
          <p:cNvPr id="50" name="Shape 48"/>
          <p:cNvSpPr/>
          <p:nvPr/>
        </p:nvSpPr>
        <p:spPr>
          <a:xfrm>
            <a:off x="6781800" y="3763442"/>
            <a:ext cx="309372" cy="3977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51" name="Shape 49"/>
          <p:cNvSpPr/>
          <p:nvPr/>
        </p:nvSpPr>
        <p:spPr>
          <a:xfrm>
            <a:off x="7400544" y="3763442"/>
            <a:ext cx="309372" cy="3977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52" name="Shape 50"/>
          <p:cNvSpPr/>
          <p:nvPr/>
        </p:nvSpPr>
        <p:spPr>
          <a:xfrm>
            <a:off x="8019288" y="3763442"/>
            <a:ext cx="309372" cy="3977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53" name="Shape 51"/>
          <p:cNvSpPr/>
          <p:nvPr/>
        </p:nvSpPr>
        <p:spPr>
          <a:xfrm>
            <a:off x="8638032" y="3763442"/>
            <a:ext cx="309372" cy="3977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54" name="Shape 52"/>
          <p:cNvSpPr/>
          <p:nvPr/>
        </p:nvSpPr>
        <p:spPr>
          <a:xfrm>
            <a:off x="9256776" y="3763442"/>
            <a:ext cx="309372" cy="3977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55" name="Shape 53"/>
          <p:cNvSpPr/>
          <p:nvPr/>
        </p:nvSpPr>
        <p:spPr>
          <a:xfrm>
            <a:off x="7680960" y="4343400"/>
            <a:ext cx="548640" cy="320040"/>
          </a:xfrm>
          <a:prstGeom prst="rect">
            <a:avLst/>
          </a:prstGeom>
          <a:solidFill>
            <a:srgbClr val="A9B4BE"/>
          </a:solidFill>
          <a:ln/>
        </p:spPr>
      </p:sp>
      <p:sp>
        <p:nvSpPr>
          <p:cNvPr id="56" name="Shape 54"/>
          <p:cNvSpPr/>
          <p:nvPr/>
        </p:nvSpPr>
        <p:spPr>
          <a:xfrm>
            <a:off x="7223760" y="4663440"/>
            <a:ext cx="1463040" cy="91440"/>
          </a:xfrm>
          <a:prstGeom prst="roundRect">
            <a:avLst>
              <a:gd name="adj" fmla="val 40000"/>
            </a:avLst>
          </a:prstGeom>
          <a:solidFill>
            <a:srgbClr val="A9B4BE"/>
          </a:solidFill>
          <a:ln/>
        </p:spPr>
      </p:sp>
      <p:sp>
        <p:nvSpPr>
          <p:cNvPr id="57" name="Shape 55"/>
          <p:cNvSpPr/>
          <p:nvPr/>
        </p:nvSpPr>
        <p:spPr>
          <a:xfrm>
            <a:off x="9006840" y="3063240"/>
            <a:ext cx="1737360" cy="2377440"/>
          </a:xfrm>
          <a:prstGeom prst="roundRect">
            <a:avLst>
              <a:gd name="adj" fmla="val 6316"/>
            </a:avLst>
          </a:prstGeom>
          <a:solidFill>
            <a:srgbClr val="1D2D3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098280" y="3172968"/>
            <a:ext cx="1554480" cy="2157984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9107424" y="3182112"/>
            <a:ext cx="1536192" cy="292608"/>
          </a:xfrm>
          <a:prstGeom prst="rect">
            <a:avLst/>
          </a:prstGeom>
          <a:solidFill>
            <a:srgbClr val="1D2D3E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9208008" y="318211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SAP</a:t>
            </a:r>
            <a:endParaRPr lang="en-US" sz="900" dirty="0"/>
          </a:p>
        </p:txBody>
      </p:sp>
      <p:sp>
        <p:nvSpPr>
          <p:cNvPr id="61" name="Text 59"/>
          <p:cNvSpPr txBox="1"/>
          <p:nvPr/>
        </p:nvSpPr>
        <p:spPr>
          <a:xfrm>
            <a:off x="9235440" y="35387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D2D3E"/>
                </a:solidFill>
              </a:rPr>
              <a:t>List Report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9235440" y="3886200"/>
            <a:ext cx="914400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241280" y="3886200"/>
            <a:ext cx="731520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235440" y="4160520"/>
            <a:ext cx="1280160" cy="98298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65" name="Shape 63"/>
          <p:cNvSpPr/>
          <p:nvPr/>
        </p:nvSpPr>
        <p:spPr>
          <a:xfrm>
            <a:off x="9299448" y="4293222"/>
            <a:ext cx="298704" cy="29489"/>
          </a:xfrm>
          <a:prstGeom prst="rect">
            <a:avLst/>
          </a:prstGeom>
          <a:solidFill>
            <a:srgbClr val="BDE6FF"/>
          </a:solidFill>
          <a:ln/>
        </p:spPr>
      </p:sp>
      <p:sp>
        <p:nvSpPr>
          <p:cNvPr id="66" name="Shape 64"/>
          <p:cNvSpPr/>
          <p:nvPr/>
        </p:nvSpPr>
        <p:spPr>
          <a:xfrm>
            <a:off x="9726168" y="4293222"/>
            <a:ext cx="213360" cy="29489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67" name="Shape 65"/>
          <p:cNvSpPr/>
          <p:nvPr/>
        </p:nvSpPr>
        <p:spPr>
          <a:xfrm>
            <a:off x="10152888" y="4293222"/>
            <a:ext cx="213360" cy="29489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68" name="Shape 66"/>
          <p:cNvSpPr/>
          <p:nvPr/>
        </p:nvSpPr>
        <p:spPr>
          <a:xfrm>
            <a:off x="9299448" y="4391520"/>
            <a:ext cx="298704" cy="29489"/>
          </a:xfrm>
          <a:prstGeom prst="rect">
            <a:avLst/>
          </a:prstGeom>
          <a:solidFill>
            <a:srgbClr val="BDE6FF"/>
          </a:solidFill>
          <a:ln/>
        </p:spPr>
      </p:sp>
      <p:sp>
        <p:nvSpPr>
          <p:cNvPr id="69" name="Shape 67"/>
          <p:cNvSpPr/>
          <p:nvPr/>
        </p:nvSpPr>
        <p:spPr>
          <a:xfrm>
            <a:off x="9726168" y="4391520"/>
            <a:ext cx="213360" cy="29489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70" name="Shape 68"/>
          <p:cNvSpPr/>
          <p:nvPr/>
        </p:nvSpPr>
        <p:spPr>
          <a:xfrm>
            <a:off x="10152888" y="4391520"/>
            <a:ext cx="213360" cy="29489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71" name="Shape 69"/>
          <p:cNvSpPr/>
          <p:nvPr/>
        </p:nvSpPr>
        <p:spPr>
          <a:xfrm>
            <a:off x="9299448" y="4489818"/>
            <a:ext cx="298704" cy="29489"/>
          </a:xfrm>
          <a:prstGeom prst="rect">
            <a:avLst/>
          </a:prstGeom>
          <a:solidFill>
            <a:srgbClr val="BDE6FF"/>
          </a:solidFill>
          <a:ln/>
        </p:spPr>
      </p:sp>
      <p:sp>
        <p:nvSpPr>
          <p:cNvPr id="72" name="Shape 70"/>
          <p:cNvSpPr/>
          <p:nvPr/>
        </p:nvSpPr>
        <p:spPr>
          <a:xfrm>
            <a:off x="9726168" y="4489818"/>
            <a:ext cx="213360" cy="29489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73" name="Shape 71"/>
          <p:cNvSpPr/>
          <p:nvPr/>
        </p:nvSpPr>
        <p:spPr>
          <a:xfrm>
            <a:off x="10152888" y="4489818"/>
            <a:ext cx="213360" cy="29489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74" name="Shape 72"/>
          <p:cNvSpPr/>
          <p:nvPr/>
        </p:nvSpPr>
        <p:spPr>
          <a:xfrm>
            <a:off x="9299448" y="4588116"/>
            <a:ext cx="298704" cy="29489"/>
          </a:xfrm>
          <a:prstGeom prst="rect">
            <a:avLst/>
          </a:prstGeom>
          <a:solidFill>
            <a:srgbClr val="BDE6FF"/>
          </a:solidFill>
          <a:ln/>
        </p:spPr>
      </p:sp>
      <p:sp>
        <p:nvSpPr>
          <p:cNvPr id="75" name="Shape 73"/>
          <p:cNvSpPr/>
          <p:nvPr/>
        </p:nvSpPr>
        <p:spPr>
          <a:xfrm>
            <a:off x="9726168" y="4588116"/>
            <a:ext cx="213360" cy="29489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76" name="Shape 74"/>
          <p:cNvSpPr/>
          <p:nvPr/>
        </p:nvSpPr>
        <p:spPr>
          <a:xfrm>
            <a:off x="10152888" y="4588116"/>
            <a:ext cx="213360" cy="29489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77" name="Shape 75"/>
          <p:cNvSpPr/>
          <p:nvPr/>
        </p:nvSpPr>
        <p:spPr>
          <a:xfrm>
            <a:off x="9299448" y="4686414"/>
            <a:ext cx="298704" cy="29489"/>
          </a:xfrm>
          <a:prstGeom prst="rect">
            <a:avLst/>
          </a:prstGeom>
          <a:solidFill>
            <a:srgbClr val="BDE6FF"/>
          </a:solidFill>
          <a:ln/>
        </p:spPr>
      </p:sp>
      <p:sp>
        <p:nvSpPr>
          <p:cNvPr id="78" name="Shape 76"/>
          <p:cNvSpPr/>
          <p:nvPr/>
        </p:nvSpPr>
        <p:spPr>
          <a:xfrm>
            <a:off x="9726168" y="4686414"/>
            <a:ext cx="213360" cy="29489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79" name="Shape 77"/>
          <p:cNvSpPr/>
          <p:nvPr/>
        </p:nvSpPr>
        <p:spPr>
          <a:xfrm>
            <a:off x="10152888" y="4686414"/>
            <a:ext cx="213360" cy="29489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80" name="Shape 78"/>
          <p:cNvSpPr/>
          <p:nvPr/>
        </p:nvSpPr>
        <p:spPr>
          <a:xfrm>
            <a:off x="9299448" y="4784712"/>
            <a:ext cx="298704" cy="29489"/>
          </a:xfrm>
          <a:prstGeom prst="rect">
            <a:avLst/>
          </a:prstGeom>
          <a:solidFill>
            <a:srgbClr val="BDE6FF"/>
          </a:solidFill>
          <a:ln/>
        </p:spPr>
      </p:sp>
      <p:sp>
        <p:nvSpPr>
          <p:cNvPr id="81" name="Shape 79"/>
          <p:cNvSpPr/>
          <p:nvPr/>
        </p:nvSpPr>
        <p:spPr>
          <a:xfrm>
            <a:off x="9726168" y="4784712"/>
            <a:ext cx="213360" cy="29489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82" name="Shape 80"/>
          <p:cNvSpPr/>
          <p:nvPr/>
        </p:nvSpPr>
        <p:spPr>
          <a:xfrm>
            <a:off x="10152888" y="4784712"/>
            <a:ext cx="213360" cy="29489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83" name="Shape 81"/>
          <p:cNvSpPr/>
          <p:nvPr/>
        </p:nvSpPr>
        <p:spPr>
          <a:xfrm>
            <a:off x="9299448" y="4883010"/>
            <a:ext cx="298704" cy="29489"/>
          </a:xfrm>
          <a:prstGeom prst="rect">
            <a:avLst/>
          </a:prstGeom>
          <a:solidFill>
            <a:srgbClr val="BDE6FF"/>
          </a:solidFill>
          <a:ln/>
        </p:spPr>
      </p:sp>
      <p:sp>
        <p:nvSpPr>
          <p:cNvPr id="84" name="Shape 82"/>
          <p:cNvSpPr/>
          <p:nvPr/>
        </p:nvSpPr>
        <p:spPr>
          <a:xfrm>
            <a:off x="9726168" y="4883010"/>
            <a:ext cx="213360" cy="29489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85" name="Shape 83"/>
          <p:cNvSpPr/>
          <p:nvPr/>
        </p:nvSpPr>
        <p:spPr>
          <a:xfrm>
            <a:off x="10152888" y="4883010"/>
            <a:ext cx="213360" cy="29489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86" name="Shape 84"/>
          <p:cNvSpPr/>
          <p:nvPr/>
        </p:nvSpPr>
        <p:spPr>
          <a:xfrm>
            <a:off x="10698480" y="3886200"/>
            <a:ext cx="868680" cy="1737360"/>
          </a:xfrm>
          <a:prstGeom prst="roundRect">
            <a:avLst>
              <a:gd name="adj" fmla="val 12632"/>
            </a:avLst>
          </a:prstGeom>
          <a:solidFill>
            <a:srgbClr val="1D2D3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0762488" y="4023360"/>
            <a:ext cx="740664" cy="1463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8" name="Shape 86"/>
          <p:cNvSpPr/>
          <p:nvPr/>
        </p:nvSpPr>
        <p:spPr>
          <a:xfrm>
            <a:off x="10808208" y="4114800"/>
            <a:ext cx="457200" cy="45720"/>
          </a:xfrm>
          <a:prstGeom prst="rect">
            <a:avLst/>
          </a:prstGeom>
          <a:solidFill>
            <a:srgbClr val="BDE6FF"/>
          </a:solidFill>
          <a:ln/>
        </p:spPr>
      </p:sp>
      <p:sp>
        <p:nvSpPr>
          <p:cNvPr id="89" name="Shape 87"/>
          <p:cNvSpPr/>
          <p:nvPr/>
        </p:nvSpPr>
        <p:spPr>
          <a:xfrm>
            <a:off x="10808208" y="4197096"/>
            <a:ext cx="320040" cy="3657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90" name="Shape 88"/>
          <p:cNvSpPr/>
          <p:nvPr/>
        </p:nvSpPr>
        <p:spPr>
          <a:xfrm>
            <a:off x="10808208" y="4343400"/>
            <a:ext cx="457200" cy="45720"/>
          </a:xfrm>
          <a:prstGeom prst="rect">
            <a:avLst/>
          </a:prstGeom>
          <a:solidFill>
            <a:srgbClr val="BDE6FF"/>
          </a:solidFill>
          <a:ln/>
        </p:spPr>
      </p:sp>
      <p:sp>
        <p:nvSpPr>
          <p:cNvPr id="91" name="Shape 89"/>
          <p:cNvSpPr/>
          <p:nvPr/>
        </p:nvSpPr>
        <p:spPr>
          <a:xfrm>
            <a:off x="10808208" y="4425696"/>
            <a:ext cx="320040" cy="3657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92" name="Shape 90"/>
          <p:cNvSpPr/>
          <p:nvPr/>
        </p:nvSpPr>
        <p:spPr>
          <a:xfrm>
            <a:off x="10808208" y="4572000"/>
            <a:ext cx="457200" cy="45720"/>
          </a:xfrm>
          <a:prstGeom prst="rect">
            <a:avLst/>
          </a:prstGeom>
          <a:solidFill>
            <a:srgbClr val="BDE6FF"/>
          </a:solidFill>
          <a:ln/>
        </p:spPr>
      </p:sp>
      <p:sp>
        <p:nvSpPr>
          <p:cNvPr id="93" name="Shape 91"/>
          <p:cNvSpPr/>
          <p:nvPr/>
        </p:nvSpPr>
        <p:spPr>
          <a:xfrm>
            <a:off x="10808208" y="4654296"/>
            <a:ext cx="320040" cy="3657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94" name="Shape 92"/>
          <p:cNvSpPr/>
          <p:nvPr/>
        </p:nvSpPr>
        <p:spPr>
          <a:xfrm>
            <a:off x="10808208" y="4800600"/>
            <a:ext cx="457200" cy="45720"/>
          </a:xfrm>
          <a:prstGeom prst="rect">
            <a:avLst/>
          </a:prstGeom>
          <a:solidFill>
            <a:srgbClr val="BDE6FF"/>
          </a:solidFill>
          <a:ln/>
        </p:spPr>
      </p:sp>
      <p:sp>
        <p:nvSpPr>
          <p:cNvPr id="95" name="Shape 93"/>
          <p:cNvSpPr/>
          <p:nvPr/>
        </p:nvSpPr>
        <p:spPr>
          <a:xfrm>
            <a:off x="10808208" y="4882896"/>
            <a:ext cx="320040" cy="3657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96" name="Shape 94"/>
          <p:cNvSpPr/>
          <p:nvPr/>
        </p:nvSpPr>
        <p:spPr>
          <a:xfrm>
            <a:off x="10808208" y="5029200"/>
            <a:ext cx="457200" cy="45720"/>
          </a:xfrm>
          <a:prstGeom prst="rect">
            <a:avLst/>
          </a:prstGeom>
          <a:solidFill>
            <a:srgbClr val="BDE6FF"/>
          </a:solidFill>
          <a:ln/>
        </p:spPr>
      </p:sp>
      <p:sp>
        <p:nvSpPr>
          <p:cNvPr id="97" name="Shape 95"/>
          <p:cNvSpPr/>
          <p:nvPr/>
        </p:nvSpPr>
        <p:spPr>
          <a:xfrm>
            <a:off x="10808208" y="5111496"/>
            <a:ext cx="320040" cy="3657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98" name="Shape 96"/>
          <p:cNvSpPr/>
          <p:nvPr/>
        </p:nvSpPr>
        <p:spPr>
          <a:xfrm>
            <a:off x="10808208" y="5257800"/>
            <a:ext cx="457200" cy="45720"/>
          </a:xfrm>
          <a:prstGeom prst="rect">
            <a:avLst/>
          </a:prstGeom>
          <a:solidFill>
            <a:srgbClr val="BDE6FF"/>
          </a:solidFill>
          <a:ln/>
        </p:spPr>
      </p:sp>
      <p:sp>
        <p:nvSpPr>
          <p:cNvPr id="99" name="Shape 97"/>
          <p:cNvSpPr/>
          <p:nvPr/>
        </p:nvSpPr>
        <p:spPr>
          <a:xfrm>
            <a:off x="10808208" y="5340096"/>
            <a:ext cx="320040" cy="3657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00" name="Text 98"/>
          <p:cNvSpPr txBox="1"/>
          <p:nvPr/>
        </p:nvSpPr>
        <p:spPr>
          <a:xfrm>
            <a:off x="5852160" y="5760720"/>
            <a:ext cx="5790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Desktop: tabela completa  ·  Tablet: colunas reduzidas  ·  Phone: lista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Princípio 3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Simple (Simples)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Conceito:</a:t>
            </a:r>
            <a:r>
              <a:rPr lang="en-US" sz="1600" dirty="0">
                <a:solidFill>
                  <a:srgbClr val="1D2D3E"/>
                </a:solidFill>
              </a:rPr>
              <a:t> Simples não é “básico”. Significa “livre de complexidade desnecessária”. O foco é priorizar o “Caminho Feliz” (Happy Path), tornando as tarefas rotineiras extremamente rápidas.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317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Prática:</a:t>
            </a:r>
            <a:r>
              <a:rPr lang="en-US" sz="1600" dirty="0">
                <a:solidFill>
                  <a:srgbClr val="1D2D3E"/>
                </a:solidFill>
              </a:rPr>
              <a:t> se um campo é usado em apenas 1% dos casos, ele não pertence à tela principal.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11094415" cy="3154680"/>
          </a:xfrm>
          <a:prstGeom prst="roundRect">
            <a:avLst>
              <a:gd name="adj" fmla="val 405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48640" y="31089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2D3E"/>
                </a:solidFill>
              </a:rPr>
              <a:t>A Regra de Ouro: 1-1-3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8006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2D3E"/>
                </a:solidFill>
              </a:rPr>
              <a:t>1 </a:t>
            </a:r>
            <a:r>
              <a:rPr lang="en-US" sz="1500" dirty="0">
                <a:solidFill>
                  <a:srgbClr val="1D2D3E"/>
                </a:solidFill>
              </a:rPr>
              <a:t>Usuário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286000" y="36576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2D3E"/>
                </a:solidFill>
              </a:rPr>
              <a:t>1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Caso de Uso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194560" y="4389120"/>
            <a:ext cx="1920240" cy="0"/>
          </a:xfrm>
          <a:prstGeom prst="line">
            <a:avLst/>
          </a:prstGeom>
          <a:noFill/>
          <a:ln w="38100">
            <a:solidFill>
              <a:srgbClr val="0070F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343400" y="3749040"/>
            <a:ext cx="1828800" cy="1325880"/>
          </a:xfrm>
          <a:prstGeom prst="rect">
            <a:avLst/>
          </a:prstGeom>
          <a:solidFill>
            <a:srgbClr val="F2F4F6"/>
          </a:solidFill>
          <a:ln w="12700">
            <a:solidFill>
              <a:srgbClr val="A9B4B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16552" y="37764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4069080"/>
            <a:ext cx="1188720" cy="868680"/>
          </a:xfrm>
          <a:prstGeom prst="line">
            <a:avLst/>
          </a:prstGeom>
          <a:noFill/>
          <a:ln w="12700">
            <a:solidFill>
              <a:srgbClr val="C5CCD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H="1">
            <a:off x="4663440" y="4069080"/>
            <a:ext cx="1188720" cy="868680"/>
          </a:xfrm>
          <a:prstGeom prst="line">
            <a:avLst/>
          </a:prstGeom>
          <a:noFill/>
          <a:ln w="12700">
            <a:solidFill>
              <a:srgbClr val="C5CCD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81928" y="4407408"/>
            <a:ext cx="466344" cy="0"/>
          </a:xfrm>
          <a:prstGeom prst="line">
            <a:avLst/>
          </a:prstGeom>
          <a:noFill/>
          <a:ln w="38100">
            <a:solidFill>
              <a:srgbClr val="0070F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858000" y="3749040"/>
            <a:ext cx="1828800" cy="1325880"/>
          </a:xfrm>
          <a:prstGeom prst="rect">
            <a:avLst/>
          </a:prstGeom>
          <a:solidFill>
            <a:srgbClr val="F2F4F6"/>
          </a:solidFill>
          <a:ln w="12700">
            <a:solidFill>
              <a:srgbClr val="A9B4B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31152" y="37764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178040" y="4069080"/>
            <a:ext cx="1188720" cy="868680"/>
          </a:xfrm>
          <a:prstGeom prst="line">
            <a:avLst/>
          </a:prstGeom>
          <a:noFill/>
          <a:ln w="12700">
            <a:solidFill>
              <a:srgbClr val="C5CCD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H="1">
            <a:off x="7178040" y="4069080"/>
            <a:ext cx="1188720" cy="868680"/>
          </a:xfrm>
          <a:prstGeom prst="line">
            <a:avLst/>
          </a:prstGeom>
          <a:noFill/>
          <a:ln w="12700">
            <a:solidFill>
              <a:srgbClr val="C5CCD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96528" y="4407408"/>
            <a:ext cx="466344" cy="0"/>
          </a:xfrm>
          <a:prstGeom prst="line">
            <a:avLst/>
          </a:prstGeom>
          <a:noFill/>
          <a:ln w="38100">
            <a:solidFill>
              <a:srgbClr val="0070F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372600" y="3749040"/>
            <a:ext cx="1828800" cy="1325880"/>
          </a:xfrm>
          <a:prstGeom prst="rect">
            <a:avLst/>
          </a:prstGeom>
          <a:solidFill>
            <a:srgbClr val="F2F4F6"/>
          </a:solidFill>
          <a:ln w="12700">
            <a:solidFill>
              <a:srgbClr val="A9B4B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445752" y="37764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43400" y="5394960"/>
            <a:ext cx="6858000" cy="0"/>
          </a:xfrm>
          <a:prstGeom prst="line">
            <a:avLst/>
          </a:prstGeom>
          <a:noFill/>
          <a:ln w="19050">
            <a:solidFill>
              <a:srgbClr val="0070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43400" y="5257800"/>
            <a:ext cx="0" cy="137160"/>
          </a:xfrm>
          <a:prstGeom prst="line">
            <a:avLst/>
          </a:prstGeom>
          <a:noFill/>
          <a:ln w="19050">
            <a:solidFill>
              <a:srgbClr val="0070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201400" y="5257800"/>
            <a:ext cx="0" cy="137160"/>
          </a:xfrm>
          <a:prstGeom prst="line">
            <a:avLst/>
          </a:prstGeom>
          <a:noFill/>
          <a:ln w="19050">
            <a:solidFill>
              <a:srgbClr val="0070F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343400" y="54864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2D3E"/>
                </a:solidFill>
              </a:rPr>
              <a:t>3 </a:t>
            </a:r>
            <a:r>
              <a:rPr lang="en-US" sz="1500" dirty="0">
                <a:solidFill>
                  <a:srgbClr val="1D2D3E"/>
                </a:solidFill>
              </a:rPr>
              <a:t>Telas no Máximo</a:t>
            </a:r>
            <a:endParaRPr lang="en-US" sz="15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3931920"/>
            <a:ext cx="822960" cy="822960"/>
          </a:xfrm>
          <a:prstGeom prst="rect">
            <a:avLst/>
          </a:prstGeom>
        </p:spPr>
      </p:pic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4069080"/>
            <a:ext cx="731520" cy="7315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Princípio 4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Coherent (Coerente)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Conceito:</a:t>
            </a:r>
            <a:r>
              <a:rPr lang="en-US" sz="1500" dirty="0">
                <a:solidFill>
                  <a:srgbClr val="1D2D3E"/>
                </a:solidFill>
              </a:rPr>
              <a:t> a incoerência é a maior causa de erros de usuário e frustração. Todos os aplicativos devem falar a mesma língua visual e comportamental.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Padrões na prática:</a:t>
            </a:r>
            <a:r>
              <a:rPr lang="en-US" sz="1500" dirty="0">
                <a:solidFill>
                  <a:srgbClr val="1D2D3E"/>
                </a:solidFill>
              </a:rPr>
              <a:t> o botão de ‘Ação Principal’ (Salvar) fica sempre no canto inferior direito. A barra de busca fica sempre no topo. O filtro funciona da mesma forma em todos os relatórios.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Resultado:</a:t>
            </a:r>
            <a:r>
              <a:rPr lang="en-US" sz="1500" dirty="0">
                <a:solidFill>
                  <a:srgbClr val="1D2D3E"/>
                </a:solidFill>
              </a:rPr>
              <a:t> o sistema cria </a:t>
            </a:r>
            <a:r>
              <a:rPr lang="en-US" sz="1500" b="1" dirty="0">
                <a:solidFill>
                  <a:srgbClr val="1D2D3E"/>
                </a:solidFill>
              </a:rPr>
              <a:t>memória muscular digital</a:t>
            </a:r>
            <a:r>
              <a:rPr lang="en-US" sz="1500" dirty="0">
                <a:solidFill>
                  <a:srgbClr val="1D2D3E"/>
                </a:solidFill>
              </a:rPr>
              <a:t>, e os usuários operam com confiança e sem hesitação.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611880"/>
            <a:ext cx="4023360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57784" y="3621024"/>
            <a:ext cx="4005072" cy="292608"/>
          </a:xfrm>
          <a:prstGeom prst="rect">
            <a:avLst/>
          </a:prstGeom>
          <a:solidFill>
            <a:srgbClr val="1D2D3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8368" y="362102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SAP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977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D2D3E"/>
                </a:solidFill>
              </a:rPr>
              <a:t>Relatório de Vendas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4325112"/>
            <a:ext cx="914400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91640" y="4325112"/>
            <a:ext cx="731520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4599432"/>
            <a:ext cx="3749040" cy="163286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12" name="Shape 10"/>
          <p:cNvSpPr/>
          <p:nvPr/>
        </p:nvSpPr>
        <p:spPr>
          <a:xfrm>
            <a:off x="749808" y="4819868"/>
            <a:ext cx="524866" cy="4898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3" name="Shape 11"/>
          <p:cNvSpPr/>
          <p:nvPr/>
        </p:nvSpPr>
        <p:spPr>
          <a:xfrm>
            <a:off x="1499616" y="4819868"/>
            <a:ext cx="374904" cy="4898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4" name="Shape 12"/>
          <p:cNvSpPr/>
          <p:nvPr/>
        </p:nvSpPr>
        <p:spPr>
          <a:xfrm>
            <a:off x="2249424" y="4819868"/>
            <a:ext cx="374904" cy="4898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5" name="Shape 13"/>
          <p:cNvSpPr/>
          <p:nvPr/>
        </p:nvSpPr>
        <p:spPr>
          <a:xfrm>
            <a:off x="2999232" y="4819868"/>
            <a:ext cx="374904" cy="4898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6" name="Shape 14"/>
          <p:cNvSpPr/>
          <p:nvPr/>
        </p:nvSpPr>
        <p:spPr>
          <a:xfrm>
            <a:off x="3749040" y="4819868"/>
            <a:ext cx="374904" cy="4898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4983153"/>
            <a:ext cx="524866" cy="4898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8" name="Shape 16"/>
          <p:cNvSpPr/>
          <p:nvPr/>
        </p:nvSpPr>
        <p:spPr>
          <a:xfrm>
            <a:off x="1499616" y="4983153"/>
            <a:ext cx="374904" cy="4898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9" name="Shape 17"/>
          <p:cNvSpPr/>
          <p:nvPr/>
        </p:nvSpPr>
        <p:spPr>
          <a:xfrm>
            <a:off x="2249424" y="4983153"/>
            <a:ext cx="374904" cy="4898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20" name="Shape 18"/>
          <p:cNvSpPr/>
          <p:nvPr/>
        </p:nvSpPr>
        <p:spPr>
          <a:xfrm>
            <a:off x="2999232" y="4983153"/>
            <a:ext cx="374904" cy="4898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21" name="Shape 19"/>
          <p:cNvSpPr/>
          <p:nvPr/>
        </p:nvSpPr>
        <p:spPr>
          <a:xfrm>
            <a:off x="3749040" y="4983153"/>
            <a:ext cx="374904" cy="4898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22" name="Shape 20"/>
          <p:cNvSpPr/>
          <p:nvPr/>
        </p:nvSpPr>
        <p:spPr>
          <a:xfrm>
            <a:off x="749808" y="5146439"/>
            <a:ext cx="524866" cy="4898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23" name="Shape 21"/>
          <p:cNvSpPr/>
          <p:nvPr/>
        </p:nvSpPr>
        <p:spPr>
          <a:xfrm>
            <a:off x="1499616" y="5146439"/>
            <a:ext cx="374904" cy="4898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24" name="Shape 22"/>
          <p:cNvSpPr/>
          <p:nvPr/>
        </p:nvSpPr>
        <p:spPr>
          <a:xfrm>
            <a:off x="2249424" y="5146439"/>
            <a:ext cx="374904" cy="4898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25" name="Shape 23"/>
          <p:cNvSpPr/>
          <p:nvPr/>
        </p:nvSpPr>
        <p:spPr>
          <a:xfrm>
            <a:off x="2999232" y="5146439"/>
            <a:ext cx="374904" cy="4898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26" name="Shape 24"/>
          <p:cNvSpPr/>
          <p:nvPr/>
        </p:nvSpPr>
        <p:spPr>
          <a:xfrm>
            <a:off x="3749040" y="5146439"/>
            <a:ext cx="374904" cy="4898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27" name="Shape 25"/>
          <p:cNvSpPr/>
          <p:nvPr/>
        </p:nvSpPr>
        <p:spPr>
          <a:xfrm>
            <a:off x="749808" y="5309725"/>
            <a:ext cx="524866" cy="4898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28" name="Shape 26"/>
          <p:cNvSpPr/>
          <p:nvPr/>
        </p:nvSpPr>
        <p:spPr>
          <a:xfrm>
            <a:off x="1499616" y="5309725"/>
            <a:ext cx="374904" cy="4898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29" name="Shape 27"/>
          <p:cNvSpPr/>
          <p:nvPr/>
        </p:nvSpPr>
        <p:spPr>
          <a:xfrm>
            <a:off x="2249424" y="5309725"/>
            <a:ext cx="374904" cy="4898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30" name="Shape 28"/>
          <p:cNvSpPr/>
          <p:nvPr/>
        </p:nvSpPr>
        <p:spPr>
          <a:xfrm>
            <a:off x="2999232" y="5309725"/>
            <a:ext cx="374904" cy="4898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31" name="Shape 29"/>
          <p:cNvSpPr/>
          <p:nvPr/>
        </p:nvSpPr>
        <p:spPr>
          <a:xfrm>
            <a:off x="3749040" y="5309725"/>
            <a:ext cx="374904" cy="4898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32" name="Shape 30"/>
          <p:cNvSpPr/>
          <p:nvPr/>
        </p:nvSpPr>
        <p:spPr>
          <a:xfrm>
            <a:off x="749808" y="5473011"/>
            <a:ext cx="524866" cy="4898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33" name="Shape 31"/>
          <p:cNvSpPr/>
          <p:nvPr/>
        </p:nvSpPr>
        <p:spPr>
          <a:xfrm>
            <a:off x="1499616" y="5473011"/>
            <a:ext cx="374904" cy="4898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34" name="Shape 32"/>
          <p:cNvSpPr/>
          <p:nvPr/>
        </p:nvSpPr>
        <p:spPr>
          <a:xfrm>
            <a:off x="2249424" y="5473011"/>
            <a:ext cx="374904" cy="4898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35" name="Shape 33"/>
          <p:cNvSpPr/>
          <p:nvPr/>
        </p:nvSpPr>
        <p:spPr>
          <a:xfrm>
            <a:off x="2999232" y="5473011"/>
            <a:ext cx="374904" cy="4898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36" name="Shape 34"/>
          <p:cNvSpPr/>
          <p:nvPr/>
        </p:nvSpPr>
        <p:spPr>
          <a:xfrm>
            <a:off x="3749040" y="5473011"/>
            <a:ext cx="374904" cy="4898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37" name="Shape 35"/>
          <p:cNvSpPr/>
          <p:nvPr/>
        </p:nvSpPr>
        <p:spPr>
          <a:xfrm>
            <a:off x="749808" y="5636296"/>
            <a:ext cx="524866" cy="4898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38" name="Shape 36"/>
          <p:cNvSpPr/>
          <p:nvPr/>
        </p:nvSpPr>
        <p:spPr>
          <a:xfrm>
            <a:off x="1499616" y="5636296"/>
            <a:ext cx="374904" cy="4898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39" name="Shape 37"/>
          <p:cNvSpPr/>
          <p:nvPr/>
        </p:nvSpPr>
        <p:spPr>
          <a:xfrm>
            <a:off x="2249424" y="5636296"/>
            <a:ext cx="374904" cy="4898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40" name="Shape 38"/>
          <p:cNvSpPr/>
          <p:nvPr/>
        </p:nvSpPr>
        <p:spPr>
          <a:xfrm>
            <a:off x="2999232" y="5636296"/>
            <a:ext cx="374904" cy="4898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41" name="Shape 39"/>
          <p:cNvSpPr/>
          <p:nvPr/>
        </p:nvSpPr>
        <p:spPr>
          <a:xfrm>
            <a:off x="3749040" y="5636296"/>
            <a:ext cx="374904" cy="4898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42" name="Shape 40"/>
          <p:cNvSpPr/>
          <p:nvPr/>
        </p:nvSpPr>
        <p:spPr>
          <a:xfrm>
            <a:off x="557784" y="5852160"/>
            <a:ext cx="4005072" cy="265176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43" name="Shape 41"/>
          <p:cNvSpPr/>
          <p:nvPr/>
        </p:nvSpPr>
        <p:spPr>
          <a:xfrm>
            <a:off x="3794760" y="5888736"/>
            <a:ext cx="640080" cy="192024"/>
          </a:xfrm>
          <a:prstGeom prst="roundRect">
            <a:avLst>
              <a:gd name="adj" fmla="val 19048"/>
            </a:avLst>
          </a:prstGeom>
          <a:solidFill>
            <a:srgbClr val="0070F2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3794760" y="5888736"/>
            <a:ext cx="640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Exportar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619695" y="3611880"/>
            <a:ext cx="4023360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628839" y="3621024"/>
            <a:ext cx="4005072" cy="292608"/>
          </a:xfrm>
          <a:prstGeom prst="rect">
            <a:avLst/>
          </a:prstGeom>
          <a:solidFill>
            <a:srgbClr val="1D2D3E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7729423" y="362102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SAP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7756855" y="3977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D2D3E"/>
                </a:solidFill>
              </a:rPr>
              <a:t>Análise de Estoque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756855" y="4325112"/>
            <a:ext cx="914400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762695" y="4325112"/>
            <a:ext cx="731520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756855" y="4599432"/>
            <a:ext cx="3749040" cy="163286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52" name="Shape 50"/>
          <p:cNvSpPr/>
          <p:nvPr/>
        </p:nvSpPr>
        <p:spPr>
          <a:xfrm>
            <a:off x="7820863" y="4819868"/>
            <a:ext cx="524866" cy="4898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53" name="Shape 51"/>
          <p:cNvSpPr/>
          <p:nvPr/>
        </p:nvSpPr>
        <p:spPr>
          <a:xfrm>
            <a:off x="8570671" y="4819868"/>
            <a:ext cx="374904" cy="4898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54" name="Shape 52"/>
          <p:cNvSpPr/>
          <p:nvPr/>
        </p:nvSpPr>
        <p:spPr>
          <a:xfrm>
            <a:off x="9320479" y="4819868"/>
            <a:ext cx="374904" cy="4898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55" name="Shape 53"/>
          <p:cNvSpPr/>
          <p:nvPr/>
        </p:nvSpPr>
        <p:spPr>
          <a:xfrm>
            <a:off x="10070287" y="4819868"/>
            <a:ext cx="374904" cy="4898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56" name="Shape 54"/>
          <p:cNvSpPr/>
          <p:nvPr/>
        </p:nvSpPr>
        <p:spPr>
          <a:xfrm>
            <a:off x="10820095" y="4819868"/>
            <a:ext cx="374904" cy="4898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57" name="Shape 55"/>
          <p:cNvSpPr/>
          <p:nvPr/>
        </p:nvSpPr>
        <p:spPr>
          <a:xfrm>
            <a:off x="7820863" y="4983153"/>
            <a:ext cx="524866" cy="4898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58" name="Shape 56"/>
          <p:cNvSpPr/>
          <p:nvPr/>
        </p:nvSpPr>
        <p:spPr>
          <a:xfrm>
            <a:off x="8570671" y="4983153"/>
            <a:ext cx="374904" cy="4898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59" name="Shape 57"/>
          <p:cNvSpPr/>
          <p:nvPr/>
        </p:nvSpPr>
        <p:spPr>
          <a:xfrm>
            <a:off x="9320479" y="4983153"/>
            <a:ext cx="374904" cy="4898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60" name="Shape 58"/>
          <p:cNvSpPr/>
          <p:nvPr/>
        </p:nvSpPr>
        <p:spPr>
          <a:xfrm>
            <a:off x="10070287" y="4983153"/>
            <a:ext cx="374904" cy="4898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61" name="Shape 59"/>
          <p:cNvSpPr/>
          <p:nvPr/>
        </p:nvSpPr>
        <p:spPr>
          <a:xfrm>
            <a:off x="10820095" y="4983153"/>
            <a:ext cx="374904" cy="4898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62" name="Shape 60"/>
          <p:cNvSpPr/>
          <p:nvPr/>
        </p:nvSpPr>
        <p:spPr>
          <a:xfrm>
            <a:off x="7820863" y="5146439"/>
            <a:ext cx="524866" cy="4898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63" name="Shape 61"/>
          <p:cNvSpPr/>
          <p:nvPr/>
        </p:nvSpPr>
        <p:spPr>
          <a:xfrm>
            <a:off x="8570671" y="5146439"/>
            <a:ext cx="374904" cy="4898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64" name="Shape 62"/>
          <p:cNvSpPr/>
          <p:nvPr/>
        </p:nvSpPr>
        <p:spPr>
          <a:xfrm>
            <a:off x="9320479" y="5146439"/>
            <a:ext cx="374904" cy="4898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65" name="Shape 63"/>
          <p:cNvSpPr/>
          <p:nvPr/>
        </p:nvSpPr>
        <p:spPr>
          <a:xfrm>
            <a:off x="10070287" y="5146439"/>
            <a:ext cx="374904" cy="4898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66" name="Shape 64"/>
          <p:cNvSpPr/>
          <p:nvPr/>
        </p:nvSpPr>
        <p:spPr>
          <a:xfrm>
            <a:off x="10820095" y="5146439"/>
            <a:ext cx="374904" cy="4898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67" name="Shape 65"/>
          <p:cNvSpPr/>
          <p:nvPr/>
        </p:nvSpPr>
        <p:spPr>
          <a:xfrm>
            <a:off x="7820863" y="5309725"/>
            <a:ext cx="524866" cy="4898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68" name="Shape 66"/>
          <p:cNvSpPr/>
          <p:nvPr/>
        </p:nvSpPr>
        <p:spPr>
          <a:xfrm>
            <a:off x="8570671" y="5309725"/>
            <a:ext cx="374904" cy="4898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69" name="Shape 67"/>
          <p:cNvSpPr/>
          <p:nvPr/>
        </p:nvSpPr>
        <p:spPr>
          <a:xfrm>
            <a:off x="9320479" y="5309725"/>
            <a:ext cx="374904" cy="4898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70" name="Shape 68"/>
          <p:cNvSpPr/>
          <p:nvPr/>
        </p:nvSpPr>
        <p:spPr>
          <a:xfrm>
            <a:off x="10070287" y="5309725"/>
            <a:ext cx="374904" cy="4898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71" name="Shape 69"/>
          <p:cNvSpPr/>
          <p:nvPr/>
        </p:nvSpPr>
        <p:spPr>
          <a:xfrm>
            <a:off x="10820095" y="5309725"/>
            <a:ext cx="374904" cy="4898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72" name="Shape 70"/>
          <p:cNvSpPr/>
          <p:nvPr/>
        </p:nvSpPr>
        <p:spPr>
          <a:xfrm>
            <a:off x="7820863" y="5473011"/>
            <a:ext cx="524866" cy="4898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73" name="Shape 71"/>
          <p:cNvSpPr/>
          <p:nvPr/>
        </p:nvSpPr>
        <p:spPr>
          <a:xfrm>
            <a:off x="8570671" y="5473011"/>
            <a:ext cx="374904" cy="4898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74" name="Shape 72"/>
          <p:cNvSpPr/>
          <p:nvPr/>
        </p:nvSpPr>
        <p:spPr>
          <a:xfrm>
            <a:off x="9320479" y="5473011"/>
            <a:ext cx="374904" cy="4898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75" name="Shape 73"/>
          <p:cNvSpPr/>
          <p:nvPr/>
        </p:nvSpPr>
        <p:spPr>
          <a:xfrm>
            <a:off x="10070287" y="5473011"/>
            <a:ext cx="374904" cy="4898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76" name="Shape 74"/>
          <p:cNvSpPr/>
          <p:nvPr/>
        </p:nvSpPr>
        <p:spPr>
          <a:xfrm>
            <a:off x="10820095" y="5473011"/>
            <a:ext cx="374904" cy="4898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77" name="Shape 75"/>
          <p:cNvSpPr/>
          <p:nvPr/>
        </p:nvSpPr>
        <p:spPr>
          <a:xfrm>
            <a:off x="7820863" y="5636296"/>
            <a:ext cx="524866" cy="4898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78" name="Shape 76"/>
          <p:cNvSpPr/>
          <p:nvPr/>
        </p:nvSpPr>
        <p:spPr>
          <a:xfrm>
            <a:off x="8570671" y="5636296"/>
            <a:ext cx="374904" cy="4898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79" name="Shape 77"/>
          <p:cNvSpPr/>
          <p:nvPr/>
        </p:nvSpPr>
        <p:spPr>
          <a:xfrm>
            <a:off x="9320479" y="5636296"/>
            <a:ext cx="374904" cy="4898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80" name="Shape 78"/>
          <p:cNvSpPr/>
          <p:nvPr/>
        </p:nvSpPr>
        <p:spPr>
          <a:xfrm>
            <a:off x="10070287" y="5636296"/>
            <a:ext cx="374904" cy="4898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81" name="Shape 79"/>
          <p:cNvSpPr/>
          <p:nvPr/>
        </p:nvSpPr>
        <p:spPr>
          <a:xfrm>
            <a:off x="10820095" y="5636296"/>
            <a:ext cx="374904" cy="4898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82" name="Shape 80"/>
          <p:cNvSpPr/>
          <p:nvPr/>
        </p:nvSpPr>
        <p:spPr>
          <a:xfrm>
            <a:off x="7628839" y="5852160"/>
            <a:ext cx="4005072" cy="265176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83" name="Shape 81"/>
          <p:cNvSpPr/>
          <p:nvPr/>
        </p:nvSpPr>
        <p:spPr>
          <a:xfrm>
            <a:off x="10865815" y="5888736"/>
            <a:ext cx="640080" cy="192024"/>
          </a:xfrm>
          <a:prstGeom prst="roundRect">
            <a:avLst>
              <a:gd name="adj" fmla="val 19048"/>
            </a:avLst>
          </a:prstGeom>
          <a:solidFill>
            <a:srgbClr val="0070F2"/>
          </a:solidFill>
          <a:ln/>
        </p:spPr>
      </p:sp>
      <p:sp>
        <p:nvSpPr>
          <p:cNvPr id="84" name="Text 82"/>
          <p:cNvSpPr txBox="1"/>
          <p:nvPr/>
        </p:nvSpPr>
        <p:spPr>
          <a:xfrm>
            <a:off x="10865815" y="5888736"/>
            <a:ext cx="640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Atualizar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3200400" y="3648456"/>
            <a:ext cx="128016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0070F2"/>
            </a:solidFill>
            <a:prstDash val="dash"/>
          </a:ln>
        </p:spPr>
      </p:sp>
      <p:sp>
        <p:nvSpPr>
          <p:cNvPr id="86" name="Shape 84"/>
          <p:cNvSpPr/>
          <p:nvPr/>
        </p:nvSpPr>
        <p:spPr>
          <a:xfrm>
            <a:off x="621792" y="3941064"/>
            <a:ext cx="3877056" cy="603504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0070F2"/>
            </a:solidFill>
            <a:prstDash val="dash"/>
          </a:ln>
        </p:spPr>
      </p:sp>
      <p:sp>
        <p:nvSpPr>
          <p:cNvPr id="87" name="Shape 85"/>
          <p:cNvSpPr/>
          <p:nvPr/>
        </p:nvSpPr>
        <p:spPr>
          <a:xfrm>
            <a:off x="3749040" y="5861304"/>
            <a:ext cx="731520" cy="246888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0070F2"/>
            </a:solidFill>
            <a:prstDash val="dash"/>
          </a:ln>
        </p:spPr>
      </p:sp>
      <p:sp>
        <p:nvSpPr>
          <p:cNvPr id="88" name="Shape 86"/>
          <p:cNvSpPr/>
          <p:nvPr/>
        </p:nvSpPr>
        <p:spPr>
          <a:xfrm>
            <a:off x="10271455" y="3648456"/>
            <a:ext cx="128016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0070F2"/>
            </a:solidFill>
            <a:prstDash val="dash"/>
          </a:ln>
        </p:spPr>
      </p:sp>
      <p:sp>
        <p:nvSpPr>
          <p:cNvPr id="89" name="Shape 87"/>
          <p:cNvSpPr/>
          <p:nvPr/>
        </p:nvSpPr>
        <p:spPr>
          <a:xfrm>
            <a:off x="7692847" y="3941064"/>
            <a:ext cx="3877056" cy="603504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0070F2"/>
            </a:solidFill>
            <a:prstDash val="dash"/>
          </a:ln>
        </p:spPr>
      </p:sp>
      <p:sp>
        <p:nvSpPr>
          <p:cNvPr id="90" name="Shape 88"/>
          <p:cNvSpPr/>
          <p:nvPr/>
        </p:nvSpPr>
        <p:spPr>
          <a:xfrm>
            <a:off x="10820095" y="5861304"/>
            <a:ext cx="731520" cy="246888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0070F2"/>
            </a:solidFill>
            <a:prstDash val="dash"/>
          </a:ln>
        </p:spPr>
      </p:sp>
      <p:sp>
        <p:nvSpPr>
          <p:cNvPr id="91" name="Shape 89"/>
          <p:cNvSpPr/>
          <p:nvPr/>
        </p:nvSpPr>
        <p:spPr>
          <a:xfrm>
            <a:off x="4846320" y="3566160"/>
            <a:ext cx="2499055" cy="548640"/>
          </a:xfrm>
          <a:prstGeom prst="roundRect">
            <a:avLst>
              <a:gd name="adj" fmla="val 13333"/>
            </a:avLst>
          </a:prstGeom>
          <a:solidFill>
            <a:srgbClr val="EBF8FF"/>
          </a:solidFill>
          <a:ln w="12700">
            <a:solidFill>
              <a:srgbClr val="BDE6FF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4846320" y="3566160"/>
            <a:ext cx="24990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4D9"/>
                </a:solidFill>
              </a:rPr>
              <a:t>Busca sempre no topo</a:t>
            </a:r>
            <a:endParaRPr lang="en-US" sz="1300" dirty="0"/>
          </a:p>
        </p:txBody>
      </p:sp>
      <p:sp>
        <p:nvSpPr>
          <p:cNvPr id="93" name="Shape 91"/>
          <p:cNvSpPr/>
          <p:nvPr/>
        </p:nvSpPr>
        <p:spPr>
          <a:xfrm>
            <a:off x="4846320" y="4297680"/>
            <a:ext cx="2499055" cy="548640"/>
          </a:xfrm>
          <a:prstGeom prst="roundRect">
            <a:avLst>
              <a:gd name="adj" fmla="val 13333"/>
            </a:avLst>
          </a:prstGeom>
          <a:solidFill>
            <a:srgbClr val="EBF8FF"/>
          </a:solidFill>
          <a:ln w="12700">
            <a:solidFill>
              <a:srgbClr val="BDE6FF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4846320" y="4297680"/>
            <a:ext cx="24990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4D9"/>
                </a:solidFill>
              </a:rPr>
              <a:t>Estrutura de cabeçalho idêntica</a:t>
            </a:r>
            <a:endParaRPr lang="en-US" sz="1300" dirty="0"/>
          </a:p>
        </p:txBody>
      </p:sp>
      <p:sp>
        <p:nvSpPr>
          <p:cNvPr id="95" name="Shape 93"/>
          <p:cNvSpPr/>
          <p:nvPr/>
        </p:nvSpPr>
        <p:spPr>
          <a:xfrm>
            <a:off x="4846320" y="5440680"/>
            <a:ext cx="2499055" cy="548640"/>
          </a:xfrm>
          <a:prstGeom prst="roundRect">
            <a:avLst>
              <a:gd name="adj" fmla="val 13333"/>
            </a:avLst>
          </a:prstGeom>
          <a:solidFill>
            <a:srgbClr val="EBF8FF"/>
          </a:solidFill>
          <a:ln w="12700">
            <a:solidFill>
              <a:srgbClr val="BDE6FF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4846320" y="5440680"/>
            <a:ext cx="24990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4D9"/>
                </a:solidFill>
              </a:rPr>
              <a:t>Ação principal sempre no mesmo lugar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Princípio 5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Delightful (Agradável)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Conceito:</a:t>
            </a:r>
            <a:r>
              <a:rPr lang="en-US" sz="1500" dirty="0">
                <a:solidFill>
                  <a:srgbClr val="1D2D3E"/>
                </a:solidFill>
              </a:rPr>
              <a:t> software corporativo não precisa ser chato. Uma experiência prazerosa aumenta a produtividade, a adoção e cria uma conexão emocional com o usuário.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432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Elementos-chave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0896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D2D3E"/>
                </a:solidFill>
              </a:rPr>
              <a:t>Animações suaves para feedback de transição.</a:t>
            </a:r>
            <a:endParaRPr lang="en-US" sz="16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D2D3E"/>
                </a:solidFill>
              </a:rPr>
              <a:t>Gráficos visualmente atraentes e informativos.</a:t>
            </a:r>
            <a:endParaRPr lang="en-US" sz="16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D2D3E"/>
                </a:solidFill>
              </a:rPr>
              <a:t>Tipografia clara e legível.</a:t>
            </a:r>
            <a:endParaRPr lang="en-US" sz="16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D2D3E"/>
                </a:solidFill>
              </a:rPr>
              <a:t>Feedback instantâneo e amigável (ex.: mensagens de sucesso).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5029200"/>
            <a:ext cx="5394960" cy="822960"/>
          </a:xfrm>
          <a:prstGeom prst="roundRect">
            <a:avLst>
              <a:gd name="adj" fmla="val 13333"/>
            </a:avLst>
          </a:prstGeom>
          <a:solidFill>
            <a:srgbClr val="F5FAE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80160" y="50292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Objetivo:</a:t>
            </a:r>
            <a:r>
              <a:rPr lang="en-US" sz="1500" dirty="0">
                <a:solidFill>
                  <a:srgbClr val="1D2D3E"/>
                </a:solidFill>
              </a:rPr>
              <a:t> fazer o usuário se sentir inteligente e eficiente.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0" y="2057400"/>
            <a:ext cx="5242255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9944" y="2066544"/>
            <a:ext cx="5223967" cy="320040"/>
          </a:xfrm>
          <a:prstGeom prst="rect">
            <a:avLst/>
          </a:prstGeom>
          <a:solidFill>
            <a:srgbClr val="1D2D3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37960" y="206654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SAP   Analítica corporativa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2514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D2D3E"/>
                </a:solidFill>
              </a:rPr>
              <a:t>Vendas por Região</a:t>
            </a:r>
            <a:endParaRPr lang="en-US" sz="11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6492240" y="2788920"/>
          <a:ext cx="237744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9052560" y="2514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D2D3E"/>
                </a:solidFill>
              </a:rPr>
              <a:t>Desempenho Mensal</a:t>
            </a:r>
            <a:endParaRPr lang="en-US" sz="1100" dirty="0"/>
          </a:p>
        </p:txBody>
      </p:sp>
      <p:graphicFrame>
        <p:nvGraphicFramePr>
          <p:cNvPr id="15" name="Chart 1" descr=""/>
          <p:cNvGraphicFramePr/>
          <p:nvPr/>
        </p:nvGraphicFramePr>
        <p:xfrm>
          <a:off x="8961120" y="2788920"/>
          <a:ext cx="2544775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Shape 12"/>
          <p:cNvSpPr/>
          <p:nvPr/>
        </p:nvSpPr>
        <p:spPr>
          <a:xfrm>
            <a:off x="8625535" y="1417320"/>
            <a:ext cx="3017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30914C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9265615" y="14173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D3E"/>
                </a:solidFill>
              </a:rPr>
              <a:t>Pedido 45001234 criado com sucesso!</a:t>
            </a:r>
            <a:endParaRPr lang="en-US" sz="12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266944"/>
            <a:ext cx="347472" cy="34747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2695" y="1572768"/>
            <a:ext cx="384048" cy="38404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Resumo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Os 5 Pilares da Experiência Fiori (RASCD)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036003" cy="4023360"/>
          </a:xfrm>
          <a:prstGeom prst="roundRect">
            <a:avLst>
              <a:gd name="adj" fmla="val 628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130552"/>
            <a:ext cx="777240" cy="7772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3072384"/>
            <a:ext cx="1523939" cy="2642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D2D3E"/>
                </a:solidFill>
              </a:rPr>
              <a:t>Role-Based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556B82"/>
                </a:solidFill>
              </a:rPr>
              <a:t>Decompor a complexidade em apps focados na função do usuário.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813243" y="1874520"/>
            <a:ext cx="2036003" cy="4023360"/>
          </a:xfrm>
          <a:prstGeom prst="roundRect">
            <a:avLst>
              <a:gd name="adj" fmla="val 628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069275" y="2130552"/>
            <a:ext cx="777240" cy="7772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069275" y="3072384"/>
            <a:ext cx="1523939" cy="2642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D2D3E"/>
                </a:solidFill>
              </a:rPr>
              <a:t>Adaptive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556B82"/>
                </a:solidFill>
              </a:rPr>
              <a:t>Responsividade total (desktop, tablet, mobile).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77846" y="1874520"/>
            <a:ext cx="2036003" cy="4023360"/>
          </a:xfrm>
          <a:prstGeom prst="roundRect">
            <a:avLst>
              <a:gd name="adj" fmla="val 628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33878" y="2130552"/>
            <a:ext cx="777240" cy="7772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333878" y="3072384"/>
            <a:ext cx="1523939" cy="2642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D2D3E"/>
                </a:solidFill>
              </a:rPr>
              <a:t>Simple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556B82"/>
                </a:solidFill>
              </a:rPr>
              <a:t>Foco no essencial, seguindo a regra 1-1-3.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42449" y="1874520"/>
            <a:ext cx="2036003" cy="4023360"/>
          </a:xfrm>
          <a:prstGeom prst="roundRect">
            <a:avLst>
              <a:gd name="adj" fmla="val 628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598481" y="2130552"/>
            <a:ext cx="777240" cy="7772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598481" y="3072384"/>
            <a:ext cx="1523939" cy="2642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D2D3E"/>
                </a:solidFill>
              </a:rPr>
              <a:t>Coherent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556B82"/>
                </a:solidFill>
              </a:rPr>
              <a:t>Mesma aparência e comportamento em todo o sistema.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607052" y="1874520"/>
            <a:ext cx="2036003" cy="4023360"/>
          </a:xfrm>
          <a:prstGeom prst="roundRect">
            <a:avLst>
              <a:gd name="adj" fmla="val 628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863084" y="2130552"/>
            <a:ext cx="777240" cy="7772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863084" y="3072384"/>
            <a:ext cx="1523939" cy="2642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D2D3E"/>
                </a:solidFill>
              </a:rPr>
              <a:t>Delightful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556B82"/>
                </a:solidFill>
              </a:rPr>
              <a:t>Conexão emocional, feedback visual e performance.</a:t>
            </a:r>
            <a:endParaRPr lang="en-US" sz="16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10" y="2317090"/>
            <a:ext cx="404165" cy="404165"/>
          </a:xfrm>
          <a:prstGeom prst="rect">
            <a:avLst/>
          </a:prstGeom>
        </p:spPr>
      </p:pic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5813" y="2317090"/>
            <a:ext cx="404165" cy="404165"/>
          </a:xfrm>
          <a:prstGeom prst="rect">
            <a:avLst/>
          </a:prstGeom>
        </p:spPr>
      </p:pic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0416" y="2317090"/>
            <a:ext cx="404165" cy="404165"/>
          </a:xfrm>
          <a:prstGeom prst="rect">
            <a:avLst/>
          </a:prstGeom>
        </p:spPr>
      </p:pic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5019" y="2317090"/>
            <a:ext cx="404165" cy="404165"/>
          </a:xfrm>
          <a:prstGeom prst="rect">
            <a:avLst/>
          </a:prstGeom>
        </p:spPr>
      </p:pic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622" y="2317090"/>
            <a:ext cx="404165" cy="40416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 Ponto Único de Entrada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SAP Fiori Launchpad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56B82"/>
                </a:solidFill>
              </a:rPr>
              <a:t>Antes: área de trabalho fragmentada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508760" cy="548640"/>
          </a:xfrm>
          <a:prstGeom prst="roundRect">
            <a:avLst>
              <a:gd name="adj" fmla="val 23333"/>
            </a:avLst>
          </a:prstGeom>
          <a:solidFill>
            <a:srgbClr val="EEF1F4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19659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SAP Logon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94560" y="1965960"/>
            <a:ext cx="1508760" cy="548640"/>
          </a:xfrm>
          <a:prstGeom prst="roundRect">
            <a:avLst>
              <a:gd name="adj" fmla="val 23333"/>
            </a:avLst>
          </a:prstGeom>
          <a:solidFill>
            <a:srgbClr val="EEF1F4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51760" y="19659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Portal RH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40480" y="1965960"/>
            <a:ext cx="1508760" cy="548640"/>
          </a:xfrm>
          <a:prstGeom prst="roundRect">
            <a:avLst>
              <a:gd name="adj" fmla="val 23333"/>
            </a:avLst>
          </a:prstGeom>
          <a:solidFill>
            <a:srgbClr val="EEF1F4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97680" y="19659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CRM Web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83464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D2D3E"/>
                </a:solidFill>
              </a:rPr>
              <a:t>No S/4HANA, o </a:t>
            </a:r>
            <a:r>
              <a:rPr lang="en-US" sz="1700" b="1" dirty="0">
                <a:solidFill>
                  <a:srgbClr val="1D2D3E"/>
                </a:solidFill>
              </a:rPr>
              <a:t>Launchpad unifica tudo</a:t>
            </a:r>
            <a:r>
              <a:rPr lang="en-US" sz="1700" dirty="0">
                <a:solidFill>
                  <a:srgbClr val="1D2D3E"/>
                </a:solidFill>
              </a:rPr>
              <a:t>. Ele não é apenas um menu: é um </a:t>
            </a:r>
            <a:r>
              <a:rPr lang="en-US" sz="1700" b="1" dirty="0">
                <a:solidFill>
                  <a:srgbClr val="1D2D3E"/>
                </a:solidFill>
              </a:rPr>
              <a:t>‘Shell’ inteligente</a:t>
            </a:r>
            <a:r>
              <a:rPr lang="en-US" sz="1700" dirty="0">
                <a:solidFill>
                  <a:srgbClr val="1D2D3E"/>
                </a:solidFill>
              </a:rPr>
              <a:t> que hospeda todos os aplicativos e fornece serviços essenciais.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8920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64D9"/>
                </a:solidFill>
              </a:rPr>
              <a:t>É o novo cockpit do usuário.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0" y="2240280"/>
            <a:ext cx="640080" cy="0"/>
          </a:xfrm>
          <a:prstGeom prst="line">
            <a:avLst/>
          </a:prstGeom>
          <a:noFill/>
          <a:ln w="25400">
            <a:solidFill>
              <a:srgbClr val="0070F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217920" y="1965960"/>
            <a:ext cx="5425135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27064" y="1975104"/>
            <a:ext cx="5406847" cy="365760"/>
          </a:xfrm>
          <a:prstGeom prst="rect">
            <a:avLst/>
          </a:prstGeom>
          <a:solidFill>
            <a:srgbClr val="1D2D3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55080" y="197510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SAP  Fiori Launchpad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107528" y="2048256"/>
            <a:ext cx="1645920" cy="201168"/>
          </a:xfrm>
          <a:prstGeom prst="roundRect">
            <a:avLst>
              <a:gd name="adj" fmla="val 45455"/>
            </a:avLst>
          </a:prstGeom>
          <a:solidFill>
            <a:srgbClr val="3D506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198968" y="204825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3DE"/>
                </a:solidFill>
              </a:rPr>
              <a:t>Buscar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2423160"/>
            <a:ext cx="5059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Vendas</a:t>
            </a:r>
            <a:r>
              <a:rPr lang="en-US" sz="1000" dirty="0">
                <a:solidFill>
                  <a:srgbClr val="556B82"/>
                </a:solidFill>
              </a:rPr>
              <a:t>     Estoque     Finanças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0" y="2697480"/>
            <a:ext cx="502920" cy="0"/>
          </a:xfrm>
          <a:prstGeom prst="line">
            <a:avLst/>
          </a:prstGeom>
          <a:noFill/>
          <a:ln w="25400">
            <a:solidFill>
              <a:srgbClr val="0070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2834640"/>
            <a:ext cx="1161974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73952" y="2889504"/>
            <a:ext cx="1015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D2D3E"/>
                </a:solidFill>
              </a:rPr>
              <a:t>Meus Pedidos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473952" y="3337560"/>
            <a:ext cx="7047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dirty="0">
                <a:solidFill>
                  <a:srgbClr val="0064D9"/>
                </a:solidFill>
              </a:rPr>
              <a:t>72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699934" y="2834640"/>
            <a:ext cx="1161974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3086" y="2889504"/>
            <a:ext cx="1015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D2D3E"/>
                </a:solidFill>
              </a:rPr>
              <a:t>Gerenciar Ordens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7773086" y="3337560"/>
            <a:ext cx="7047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dirty="0">
                <a:solidFill>
                  <a:srgbClr val="0064D9"/>
                </a:solidFill>
              </a:rPr>
              <a:t>1,2 M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999068" y="2834640"/>
            <a:ext cx="1161974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072220" y="2889504"/>
            <a:ext cx="1015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D2D3E"/>
                </a:solidFill>
              </a:rPr>
              <a:t>Rastrear Entregas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9072220" y="3337560"/>
            <a:ext cx="7047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dirty="0">
                <a:solidFill>
                  <a:srgbClr val="B44F00"/>
                </a:solidFill>
              </a:rPr>
              <a:t>10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0298201" y="2834640"/>
            <a:ext cx="1161974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371353" y="2889504"/>
            <a:ext cx="1015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D2D3E"/>
                </a:solidFill>
              </a:rPr>
              <a:t>No Prazo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0371353" y="3337560"/>
            <a:ext cx="7047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dirty="0">
                <a:solidFill>
                  <a:srgbClr val="256F3A"/>
                </a:solidFill>
              </a:rPr>
              <a:t>95%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6400800" y="3931920"/>
            <a:ext cx="1161974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73952" y="3986784"/>
            <a:ext cx="1015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D2D3E"/>
                </a:solidFill>
              </a:rPr>
              <a:t>Volume de Vendas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6473952" y="4434840"/>
            <a:ext cx="7047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dirty="0">
                <a:solidFill>
                  <a:srgbClr val="0064D9"/>
                </a:solidFill>
              </a:rPr>
              <a:t>348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7699934" y="3931920"/>
            <a:ext cx="1161974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773086" y="3986784"/>
            <a:ext cx="1015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D2D3E"/>
                </a:solidFill>
              </a:rPr>
              <a:t>Disponibilidade (ATP)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7773086" y="4434840"/>
            <a:ext cx="7047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dirty="0">
                <a:solidFill>
                  <a:srgbClr val="256F3A"/>
                </a:solidFill>
              </a:rPr>
              <a:t>98%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8999068" y="3931920"/>
            <a:ext cx="1161974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072220" y="3986784"/>
            <a:ext cx="1015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D2D3E"/>
                </a:solidFill>
              </a:rPr>
              <a:t>Cliente 360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0298201" y="3931920"/>
            <a:ext cx="1161974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0371353" y="3986784"/>
            <a:ext cx="1015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D2D3E"/>
                </a:solidFill>
              </a:rPr>
              <a:t>Aprovações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10371353" y="4434840"/>
            <a:ext cx="7047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dirty="0">
                <a:solidFill>
                  <a:srgbClr val="B44F00"/>
                </a:solidFill>
              </a:rPr>
              <a:t>5</a:t>
            </a:r>
            <a:endParaRPr lang="en-US" sz="1800" dirty="0"/>
          </a:p>
        </p:txBody>
      </p:sp>
      <p:pic>
        <p:nvPicPr>
          <p:cNvPr id="4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103120"/>
            <a:ext cx="274320" cy="274320"/>
          </a:xfrm>
          <a:prstGeom prst="rect">
            <a:avLst/>
          </a:prstGeom>
        </p:spPr>
      </p:pic>
      <p:pic>
        <p:nvPicPr>
          <p:cNvPr id="4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288" y="2103120"/>
            <a:ext cx="274320" cy="274320"/>
          </a:xfrm>
          <a:prstGeom prst="rect">
            <a:avLst/>
          </a:prstGeom>
        </p:spPr>
      </p:pic>
      <p:pic>
        <p:nvPicPr>
          <p:cNvPr id="4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0208" y="2103120"/>
            <a:ext cx="274320" cy="274320"/>
          </a:xfrm>
          <a:prstGeom prst="rect">
            <a:avLst/>
          </a:prstGeom>
        </p:spPr>
      </p:pic>
      <p:pic>
        <p:nvPicPr>
          <p:cNvPr id="4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7014" y="3429000"/>
            <a:ext cx="274320" cy="274320"/>
          </a:xfrm>
          <a:prstGeom prst="rect">
            <a:avLst/>
          </a:prstGeom>
        </p:spPr>
      </p:pic>
      <p:pic>
        <p:nvPicPr>
          <p:cNvPr id="4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6148" y="3429000"/>
            <a:ext cx="274320" cy="274320"/>
          </a:xfrm>
          <a:prstGeom prst="rect">
            <a:avLst/>
          </a:prstGeom>
        </p:spPr>
      </p:pic>
      <p:pic>
        <p:nvPicPr>
          <p:cNvPr id="4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95281" y="3429000"/>
            <a:ext cx="274320" cy="274320"/>
          </a:xfrm>
          <a:prstGeom prst="rect">
            <a:avLst/>
          </a:prstGeom>
        </p:spPr>
      </p:pic>
      <p:pic>
        <p:nvPicPr>
          <p:cNvPr id="5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94415" y="3429000"/>
            <a:ext cx="274320" cy="274320"/>
          </a:xfrm>
          <a:prstGeom prst="rect">
            <a:avLst/>
          </a:prstGeom>
        </p:spPr>
      </p:pic>
      <p:pic>
        <p:nvPicPr>
          <p:cNvPr id="5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97014" y="4526280"/>
            <a:ext cx="274320" cy="274320"/>
          </a:xfrm>
          <a:prstGeom prst="rect">
            <a:avLst/>
          </a:prstGeom>
        </p:spPr>
      </p:pic>
      <p:pic>
        <p:nvPicPr>
          <p:cNvPr id="5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96148" y="4526280"/>
            <a:ext cx="274320" cy="274320"/>
          </a:xfrm>
          <a:prstGeom prst="rect">
            <a:avLst/>
          </a:prstGeom>
        </p:spPr>
      </p:pic>
      <p:pic>
        <p:nvPicPr>
          <p:cNvPr id="5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95281" y="4526280"/>
            <a:ext cx="274320" cy="274320"/>
          </a:xfrm>
          <a:prstGeom prst="rect">
            <a:avLst/>
          </a:prstGeom>
        </p:spPr>
      </p:pic>
      <p:pic>
        <p:nvPicPr>
          <p:cNvPr id="5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094415" y="4526280"/>
            <a:ext cx="274320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Mais do que Apenas Ícones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Superpoderes do Launchpad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O Launchpad fornece serviços integrados que eliminam a navegação por menus complexos: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D2D3E"/>
                </a:solidFill>
              </a:rPr>
              <a:t>Tiles (blocos dinâmicos):</a:t>
            </a:r>
            <a:r>
              <a:rPr lang="en-US" sz="1500" dirty="0">
                <a:solidFill>
                  <a:srgbClr val="1D2D3E"/>
                </a:solidFill>
              </a:rPr>
              <a:t> exibem KPIs e informações em tempo real (ex.: ‘5 aprovações pendentes’).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D2D3E"/>
                </a:solidFill>
              </a:rPr>
              <a:t>Enterprise Search:</a:t>
            </a:r>
            <a:r>
              <a:rPr lang="en-US" sz="1500" dirty="0">
                <a:solidFill>
                  <a:srgbClr val="1D2D3E"/>
                </a:solidFill>
              </a:rPr>
              <a:t> busca global que encontra qualquer objeto de negócio (materiais, pedidos, faturas) indexado no HANA.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D2D3E"/>
                </a:solidFill>
              </a:rPr>
              <a:t>Notificações:</a:t>
            </a:r>
            <a:r>
              <a:rPr lang="en-US" sz="1500" dirty="0">
                <a:solidFill>
                  <a:srgbClr val="1D2D3E"/>
                </a:solidFill>
              </a:rPr>
              <a:t> centro centralizado que avisa sobre tarefas e alertas.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D2D3E"/>
                </a:solidFill>
              </a:rPr>
              <a:t>Spaces and Pages:</a:t>
            </a:r>
            <a:r>
              <a:rPr lang="en-US" sz="1500" dirty="0">
                <a:solidFill>
                  <a:srgbClr val="1D2D3E"/>
                </a:solidFill>
              </a:rPr>
              <a:t> organização por área de negócio (Vendas, Estoque) que substituiu a página infinita de ícones.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2560320"/>
            <a:ext cx="5333695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318504" y="2569464"/>
            <a:ext cx="5315407" cy="365760"/>
          </a:xfrm>
          <a:prstGeom prst="rect">
            <a:avLst/>
          </a:prstGeom>
          <a:solidFill>
            <a:srgbClr val="1D2D3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46520" y="256946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SAP  Fiori Launchpad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153248" y="2642616"/>
            <a:ext cx="1645920" cy="201168"/>
          </a:xfrm>
          <a:prstGeom prst="roundRect">
            <a:avLst>
              <a:gd name="adj" fmla="val 45455"/>
            </a:avLst>
          </a:prstGeom>
          <a:solidFill>
            <a:srgbClr val="3D506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44688" y="264261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3DE"/>
                </a:solidFill>
              </a:rPr>
              <a:t>Buscar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3017520"/>
            <a:ext cx="4967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Vendas</a:t>
            </a:r>
            <a:r>
              <a:rPr lang="en-US" sz="1000" dirty="0">
                <a:solidFill>
                  <a:srgbClr val="556B82"/>
                </a:solidFill>
              </a:rPr>
              <a:t>     Estoque     Finanças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92240" y="3291840"/>
            <a:ext cx="502920" cy="0"/>
          </a:xfrm>
          <a:prstGeom prst="line">
            <a:avLst/>
          </a:prstGeom>
          <a:noFill/>
          <a:ln w="25400">
            <a:solidFill>
              <a:srgbClr val="0070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3429000"/>
            <a:ext cx="1139114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65392" y="3483864"/>
            <a:ext cx="9928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D2D3E"/>
                </a:solidFill>
              </a:rPr>
              <a:t>Aprovações Pendentes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6565392" y="3931920"/>
            <a:ext cx="6819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dirty="0">
                <a:solidFill>
                  <a:srgbClr val="B44F00"/>
                </a:solidFill>
              </a:rPr>
              <a:t>5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768514" y="3429000"/>
            <a:ext cx="1139114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841666" y="3483864"/>
            <a:ext cx="9928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D2D3E"/>
                </a:solidFill>
              </a:rPr>
              <a:t>Pedidos Abertos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7841666" y="3931920"/>
            <a:ext cx="6819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dirty="0">
                <a:solidFill>
                  <a:srgbClr val="0064D9"/>
                </a:solidFill>
              </a:rPr>
              <a:t>30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044788" y="3429000"/>
            <a:ext cx="1139114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17940" y="3483864"/>
            <a:ext cx="9928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D2D3E"/>
                </a:solidFill>
              </a:rPr>
              <a:t>Entregas Hoje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9117940" y="3931920"/>
            <a:ext cx="6819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dirty="0">
                <a:solidFill>
                  <a:srgbClr val="0064D9"/>
                </a:solidFill>
              </a:rPr>
              <a:t>120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321061" y="3429000"/>
            <a:ext cx="1139114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394213" y="3483864"/>
            <a:ext cx="9928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D2D3E"/>
                </a:solidFill>
              </a:rPr>
              <a:t>Estoque Crítico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0394213" y="3931920"/>
            <a:ext cx="6819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dirty="0">
                <a:solidFill>
                  <a:srgbClr val="AA0808"/>
                </a:solidFill>
              </a:rPr>
              <a:t>8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5715000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SAP Fiori AI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629400" y="2075688"/>
            <a:ext cx="0" cy="502920"/>
          </a:xfrm>
          <a:prstGeom prst="line">
            <a:avLst/>
          </a:prstGeom>
          <a:noFill/>
          <a:ln w="15875">
            <a:solidFill>
              <a:srgbClr val="0070F2"/>
            </a:solidFill>
            <a:prstDash val="solid"/>
            <a:tailEnd type="oval"/>
          </a:ln>
        </p:spPr>
      </p:sp>
      <p:sp>
        <p:nvSpPr>
          <p:cNvPr id="27" name="Text 25"/>
          <p:cNvSpPr txBox="1"/>
          <p:nvPr/>
        </p:nvSpPr>
        <p:spPr>
          <a:xfrm>
            <a:off x="8061808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Enterprise Search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976208" y="2075688"/>
            <a:ext cx="0" cy="502920"/>
          </a:xfrm>
          <a:prstGeom prst="line">
            <a:avLst/>
          </a:prstGeom>
          <a:noFill/>
          <a:ln w="15875">
            <a:solidFill>
              <a:srgbClr val="0070F2"/>
            </a:solidFill>
            <a:prstDash val="solid"/>
            <a:tailEnd type="oval"/>
          </a:ln>
        </p:spPr>
      </p:sp>
      <p:sp>
        <p:nvSpPr>
          <p:cNvPr id="29" name="Text 27"/>
          <p:cNvSpPr txBox="1"/>
          <p:nvPr/>
        </p:nvSpPr>
        <p:spPr>
          <a:xfrm>
            <a:off x="10308031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Notificações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222431" y="2075688"/>
            <a:ext cx="0" cy="502920"/>
          </a:xfrm>
          <a:prstGeom prst="line">
            <a:avLst/>
          </a:prstGeom>
          <a:noFill/>
          <a:ln w="15875">
            <a:solidFill>
              <a:srgbClr val="0070F2"/>
            </a:solidFill>
            <a:prstDash val="solid"/>
            <a:tailEnd type="oval"/>
          </a:ln>
        </p:spPr>
      </p:sp>
      <p:sp>
        <p:nvSpPr>
          <p:cNvPr id="31" name="Shape 29"/>
          <p:cNvSpPr/>
          <p:nvPr/>
        </p:nvSpPr>
        <p:spPr>
          <a:xfrm>
            <a:off x="11140135" y="2670048"/>
            <a:ext cx="164592" cy="164592"/>
          </a:xfrm>
          <a:prstGeom prst="ellipse">
            <a:avLst/>
          </a:prstGeom>
          <a:solidFill>
            <a:srgbClr val="E76500"/>
          </a:solidFill>
          <a:ln/>
        </p:spPr>
      </p:sp>
      <p:sp>
        <p:nvSpPr>
          <p:cNvPr id="32" name="Shape 30"/>
          <p:cNvSpPr/>
          <p:nvPr/>
        </p:nvSpPr>
        <p:spPr>
          <a:xfrm>
            <a:off x="6419088" y="2980944"/>
            <a:ext cx="2240280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0070F2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 flipH="1">
            <a:off x="8705088" y="3154680"/>
            <a:ext cx="804672" cy="0"/>
          </a:xfrm>
          <a:prstGeom prst="line">
            <a:avLst/>
          </a:prstGeom>
          <a:noFill/>
          <a:ln w="15875">
            <a:solidFill>
              <a:srgbClr val="0070F2"/>
            </a:solidFill>
            <a:prstDash val="solid"/>
            <a:tailEnd type="triangle"/>
          </a:ln>
        </p:spPr>
      </p:sp>
      <p:sp>
        <p:nvSpPr>
          <p:cNvPr id="34" name="Text 32"/>
          <p:cNvSpPr txBox="1"/>
          <p:nvPr/>
        </p:nvSpPr>
        <p:spPr>
          <a:xfrm>
            <a:off x="9601200" y="29900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Spaces and Pages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492240" y="5715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Tiles dinâmicos com KPIs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 flipV="1">
            <a:off x="7223760" y="4389120"/>
            <a:ext cx="0" cy="1298448"/>
          </a:xfrm>
          <a:prstGeom prst="line">
            <a:avLst/>
          </a:prstGeom>
          <a:noFill/>
          <a:ln w="15875">
            <a:solidFill>
              <a:srgbClr val="0070F2"/>
            </a:solidFill>
            <a:prstDash val="solid"/>
            <a:tailEnd type="oval"/>
          </a:ln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1868" y="4023360"/>
            <a:ext cx="274320" cy="274320"/>
          </a:xfrm>
          <a:prstGeom prst="rect">
            <a:avLst/>
          </a:prstGeom>
        </p:spPr>
      </p:pic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5594" y="4023360"/>
            <a:ext cx="274320" cy="274320"/>
          </a:xfrm>
          <a:prstGeom prst="rect">
            <a:avLst/>
          </a:prstGeom>
        </p:spPr>
      </p:pic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8141" y="4023360"/>
            <a:ext cx="274320" cy="274320"/>
          </a:xfrm>
          <a:prstGeom prst="rect">
            <a:avLst/>
          </a:prstGeom>
        </p:spPr>
      </p:pic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4415" y="4023360"/>
            <a:ext cx="274320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Um Erro Estratégico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“Eu sou backend, a UI não é problema meu.”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937760" cy="237744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72821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56B82"/>
                </a:solidFill>
              </a:rPr>
              <a:t>Seu código…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12264"/>
            <a:ext cx="493776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240280"/>
            <a:ext cx="448056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Behavior Definition (RAP)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behavior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ZI_Product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mandatory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determination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setDefaults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modify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15000" y="2514600"/>
            <a:ext cx="731520" cy="640080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0" y="1600200"/>
            <a:ext cx="4967935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84264" y="1609344"/>
            <a:ext cx="4949647" cy="320040"/>
          </a:xfrm>
          <a:prstGeom prst="rect">
            <a:avLst/>
          </a:prstGeom>
          <a:solidFill>
            <a:srgbClr val="1D2D3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12280" y="160934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SAP   Product Management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1984248"/>
            <a:ext cx="4602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…é a experiência do usuário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949440" y="23500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Product ID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321040" y="2377440"/>
            <a:ext cx="2956255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49440" y="26791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Description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321040" y="2706624"/>
            <a:ext cx="2956255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49440" y="30083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Category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321040" y="3035808"/>
            <a:ext cx="2956255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49440" y="3337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Price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321040" y="3364992"/>
            <a:ext cx="2956255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37215" y="3593592"/>
            <a:ext cx="777240" cy="274320"/>
          </a:xfrm>
          <a:prstGeom prst="roundRect">
            <a:avLst>
              <a:gd name="adj" fmla="val 16667"/>
            </a:avLst>
          </a:prstGeom>
          <a:solidFill>
            <a:srgbClr val="0070F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637215" y="3593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Create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251960"/>
            <a:ext cx="1109441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2D3E"/>
                </a:solidFill>
              </a:rPr>
              <a:t>No mundo Clean Core, o desenvolvedor é responsável pela entrega da funcionalidade </a:t>
            </a:r>
            <a:r>
              <a:rPr lang="en-US" sz="1600" b="1" dirty="0">
                <a:solidFill>
                  <a:srgbClr val="1D2D3E"/>
                </a:solidFill>
              </a:rPr>
              <a:t>ponta a ponta</a:t>
            </a:r>
            <a:r>
              <a:rPr lang="en-US" sz="1600" dirty="0">
                <a:solidFill>
                  <a:srgbClr val="1D2D3E"/>
                </a:solidFill>
              </a:rPr>
              <a:t>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2D3E"/>
                </a:solidFill>
              </a:rPr>
              <a:t>Criar um aplicativo customizado (Z) que ignora os padrões do Fiori (cores, posição de botões, terminologia) quebra o princípio da </a:t>
            </a:r>
            <a:r>
              <a:rPr lang="en-US" sz="1600" b="1" dirty="0">
                <a:solidFill>
                  <a:srgbClr val="1D2D3E"/>
                </a:solidFill>
              </a:rPr>
              <a:t>Coerência</a:t>
            </a:r>
            <a:r>
              <a:rPr lang="en-US" sz="1600" dirty="0">
                <a:solidFill>
                  <a:srgbClr val="1D2D3E"/>
                </a:solidFill>
              </a:rPr>
              <a:t>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2D3E"/>
                </a:solidFill>
              </a:rPr>
              <a:t>Sua decisão de design impacta diretamente o negócio, o usuário e o custo total da solução. </a:t>
            </a:r>
            <a:r>
              <a:rPr lang="en-US" sz="1600" b="1" dirty="0">
                <a:solidFill>
                  <a:srgbClr val="1D2D3E"/>
                </a:solidFill>
              </a:rPr>
              <a:t>Seu código é a experiência do usuário.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 Custo Real da Inconsistência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Impacto no TCO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606040"/>
            <a:ext cx="4206240" cy="2697480"/>
          </a:xfrm>
          <a:prstGeom prst="rect">
            <a:avLst/>
          </a:prstGeom>
          <a:solidFill>
            <a:srgbClr val="0A4C8C"/>
          </a:solidFill>
          <a:ln/>
        </p:spPr>
      </p:sp>
      <p:sp>
        <p:nvSpPr>
          <p:cNvPr id="5" name="Shape 3"/>
          <p:cNvSpPr/>
          <p:nvPr/>
        </p:nvSpPr>
        <p:spPr>
          <a:xfrm>
            <a:off x="2148840" y="1645920"/>
            <a:ext cx="1554480" cy="960120"/>
          </a:xfrm>
          <a:prstGeom prst="triangle">
            <a:avLst/>
          </a:prstGeom>
          <a:solidFill>
            <a:srgbClr val="E3EEF8"/>
          </a:solidFill>
          <a:ln w="12700">
            <a:solidFill>
              <a:srgbClr val="9FC3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325880" y="2606040"/>
            <a:ext cx="3200400" cy="2468880"/>
          </a:xfrm>
          <a:prstGeom prst="triangle">
            <a:avLst/>
          </a:prstGeom>
          <a:solidFill>
            <a:srgbClr val="6FA8DC">
              <a:alpha val="75000"/>
            </a:srgbClr>
          </a:solidFill>
          <a:ln w="12700">
            <a:solidFill>
              <a:srgbClr val="BDE6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2103120"/>
            <a:ext cx="2834640" cy="0"/>
          </a:xfrm>
          <a:prstGeom prst="line">
            <a:avLst/>
          </a:prstGeom>
          <a:noFill/>
          <a:ln w="19050">
            <a:solidFill>
              <a:srgbClr val="0070F2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6629400" y="17373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D2D3E"/>
                </a:solidFill>
              </a:rPr>
              <a:t>Custos Visíveis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56B82"/>
                </a:solidFill>
              </a:rPr>
              <a:t>Desenvolvimento do app.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931920" y="3291840"/>
            <a:ext cx="2560320" cy="0"/>
          </a:xfrm>
          <a:prstGeom prst="line">
            <a:avLst/>
          </a:prstGeom>
          <a:noFill/>
          <a:ln w="19050">
            <a:solidFill>
              <a:srgbClr val="D20A0A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6629400" y="30632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A0808"/>
                </a:solidFill>
              </a:rPr>
              <a:t>Custos Ocultos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3520440"/>
            <a:ext cx="501365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D2D3E"/>
                </a:solidFill>
              </a:rPr>
              <a:t>Treinamento:</a:t>
            </a:r>
            <a:r>
              <a:rPr lang="en-US" sz="1400" dirty="0">
                <a:solidFill>
                  <a:srgbClr val="1D2D3E"/>
                </a:solidFill>
              </a:rPr>
              <a:t> usuários precisam aprender seu app ‘diferente’.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D2D3E"/>
                </a:solidFill>
              </a:rPr>
              <a:t>Erros de usuário:</a:t>
            </a:r>
            <a:r>
              <a:rPr lang="en-US" sz="1400" dirty="0">
                <a:solidFill>
                  <a:srgbClr val="1D2D3E"/>
                </a:solidFill>
              </a:rPr>
              <a:t> a confusão leva a erros operacionais e retrabalho.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D2D3E"/>
                </a:solidFill>
              </a:rPr>
              <a:t>Suporte e manutenção:</a:t>
            </a:r>
            <a:r>
              <a:rPr lang="en-US" sz="1400" dirty="0">
                <a:solidFill>
                  <a:srgbClr val="1D2D3E"/>
                </a:solidFill>
              </a:rPr>
              <a:t> apps fora do padrão são mais caros para manter e adaptar.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544068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BF8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280160" y="5440680"/>
            <a:ext cx="100885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Uma UI inconsistente gera custos ocultos que superam em muito a economia inicial de desenvolvimento. Usar frameworks como </a:t>
            </a:r>
            <a:r>
              <a:rPr lang="en-US" sz="1400" b="1" dirty="0">
                <a:solidFill>
                  <a:srgbClr val="1D2D3E"/>
                </a:solidFill>
              </a:rPr>
              <a:t>SAP Fiori Elements</a:t>
            </a:r>
            <a:r>
              <a:rPr lang="en-US" sz="1400" dirty="0">
                <a:solidFill>
                  <a:srgbClr val="1D2D3E"/>
                </a:solidFill>
              </a:rPr>
              <a:t> é a estratégia mais segura para proteger o investimento da empresa.</a:t>
            </a:r>
            <a:endParaRPr lang="en-US" sz="16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701284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P Horizon">
  <a:themeElements>
    <a:clrScheme name="SAP Horizon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7858FF"/>
      </a:accent5>
      <a:accent6>
        <a:srgbClr val="07838F"/>
      </a:accent6>
      <a:hlink>
        <a:srgbClr val="0064D9"/>
      </a:hlink>
      <a:folHlink>
        <a:srgbClr val="5D36FF"/>
      </a:folHlink>
    </a:clrScheme>
    <a:fontScheme name="SAP Horizo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Grande Virada: Da Função à Experiência</dc:title>
  <dc:subject>ABAP Moderno – Módulo 05</dc:subject>
  <dc:creator>Adriano Bispo</dc:creator>
  <cp:lastModifiedBy>Adriano Bispo</cp:lastModifiedBy>
  <cp:revision>1</cp:revision>
  <dcterms:created xsi:type="dcterms:W3CDTF">2026-10-28T02:47:40Z</dcterms:created>
  <dcterms:modified xsi:type="dcterms:W3CDTF">2026-10-28T02:47:40Z</dcterms:modified>
</cp:coreProperties>
</file>