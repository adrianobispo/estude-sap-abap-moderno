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05  ·  05.01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05  ·  05.01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05  ·  05.01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05  ·  05.01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Nova Era da Extensibilidade SAP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Dominando o Clean Core para um S/4HANA ágil e à prova de futuro.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Dívida técnica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Clean Core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Key User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On-Stack · ABAP Cloud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Side-by-Side · BTP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Nossa Jornada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Do Caos à Clareza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58082" y="2857500"/>
            <a:ext cx="8875532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2302" y="2331720"/>
            <a:ext cx="1051560" cy="10515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32302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0070F2"/>
                </a:solidFill>
              </a:rPr>
              <a:t>1</a:t>
            </a:r>
            <a:endParaRPr lang="en-US" sz="3450" dirty="0"/>
          </a:p>
        </p:txBody>
      </p:sp>
      <p:sp>
        <p:nvSpPr>
          <p:cNvPr id="7" name="Text 5"/>
          <p:cNvSpPr txBox="1"/>
          <p:nvPr/>
        </p:nvSpPr>
        <p:spPr>
          <a:xfrm>
            <a:off x="621792" y="3611880"/>
            <a:ext cx="207257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O Problema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A dívida técnica do passado.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51185" y="2331720"/>
            <a:ext cx="1051560" cy="10515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351185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0070F2"/>
                </a:solidFill>
              </a:rPr>
              <a:t>2</a:t>
            </a:r>
            <a:endParaRPr lang="en-US" sz="3450" dirty="0"/>
          </a:p>
        </p:txBody>
      </p:sp>
      <p:sp>
        <p:nvSpPr>
          <p:cNvPr id="10" name="Text 8"/>
          <p:cNvSpPr txBox="1"/>
          <p:nvPr/>
        </p:nvSpPr>
        <p:spPr>
          <a:xfrm>
            <a:off x="2840675" y="3611880"/>
            <a:ext cx="207257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A Consequência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O custo da complexidade.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570068" y="2331720"/>
            <a:ext cx="1051560" cy="10515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570068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0070F2"/>
                </a:solidFill>
              </a:rPr>
              <a:t>3</a:t>
            </a:r>
            <a:endParaRPr lang="en-US" sz="3450" dirty="0"/>
          </a:p>
        </p:txBody>
      </p:sp>
      <p:sp>
        <p:nvSpPr>
          <p:cNvPr id="13" name="Text 11"/>
          <p:cNvSpPr txBox="1"/>
          <p:nvPr/>
        </p:nvSpPr>
        <p:spPr>
          <a:xfrm>
            <a:off x="5059558" y="3611880"/>
            <a:ext cx="207257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A Solução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A estratégia Clean Core.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788951" y="2331720"/>
            <a:ext cx="1051560" cy="10515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788951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0070F2"/>
                </a:solidFill>
              </a:rPr>
              <a:t>4</a:t>
            </a:r>
            <a:endParaRPr lang="en-US" sz="3450" dirty="0"/>
          </a:p>
        </p:txBody>
      </p:sp>
      <p:sp>
        <p:nvSpPr>
          <p:cNvPr id="16" name="Text 14"/>
          <p:cNvSpPr txBox="1"/>
          <p:nvPr/>
        </p:nvSpPr>
        <p:spPr>
          <a:xfrm>
            <a:off x="7278441" y="3611880"/>
            <a:ext cx="207257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As Ferramentas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As 3 camadas de extensibilidade.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007834" y="2331720"/>
            <a:ext cx="1051560" cy="105156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070F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007834" y="2331720"/>
            <a:ext cx="1051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0070F2"/>
                </a:solidFill>
              </a:rPr>
              <a:t>5</a:t>
            </a:r>
            <a:endParaRPr lang="en-US" sz="3450" dirty="0"/>
          </a:p>
        </p:txBody>
      </p:sp>
      <p:sp>
        <p:nvSpPr>
          <p:cNvPr id="19" name="Text 17"/>
          <p:cNvSpPr txBox="1"/>
          <p:nvPr/>
        </p:nvSpPr>
        <p:spPr>
          <a:xfrm>
            <a:off x="9497324" y="3611880"/>
            <a:ext cx="2072579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D2D3E"/>
                </a:solidFill>
              </a:rPr>
              <a:t>A Prática</a:t>
            </a:r>
            <a:endParaRPr lang="en-US" sz="16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Onde e como desenvolver no novo padrão.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Problema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‘Spaghetti’ do Legado SAP ECC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A flexibilidade do passado gerou uma enorme e insustentável dívida técnica.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11094415" cy="1371600"/>
          </a:xfrm>
          <a:prstGeom prst="roundRect">
            <a:avLst>
              <a:gd name="adj" fmla="val 8000"/>
            </a:avLst>
          </a:prstGeom>
          <a:solidFill>
            <a:srgbClr val="EEF1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"MV45AFZZ"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"SELECT * FROM VBAK"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21208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"MARA"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28346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"MV45ATZZ"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601200" y="228600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"MV60AFZZ"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351525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" y="39593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4581144"/>
            <a:ext cx="300319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Modificações no Core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Uso de </a:t>
            </a:r>
            <a:r>
              <a:rPr lang="en-US" sz="1400" b="1" dirty="0">
                <a:solidFill>
                  <a:srgbClr val="556B82"/>
                </a:solidFill>
              </a:rPr>
              <a:t>Access Keys</a:t>
            </a:r>
            <a:r>
              <a:rPr lang="en-US" sz="1400" dirty="0">
                <a:solidFill>
                  <a:srgbClr val="556B82"/>
                </a:solidFill>
              </a:rPr>
              <a:t> para alterar o código-fonte standard (ex.: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MV45AFZZ</a:t>
            </a:r>
            <a:r>
              <a:rPr lang="en-US" sz="1400" dirty="0">
                <a:solidFill>
                  <a:srgbClr val="556B82"/>
                </a:solidFill>
              </a:rPr>
              <a:t>). A lógica do cliente e da SAP se tornaram entrelaçadas.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38218" y="3703320"/>
            <a:ext cx="351525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94250" y="39593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94250" y="4581144"/>
            <a:ext cx="300319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Estruturas Invasivas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APPEND STRUCTURE</a:t>
            </a:r>
            <a:r>
              <a:rPr lang="en-US" sz="1400" dirty="0">
                <a:solidFill>
                  <a:srgbClr val="556B82"/>
                </a:solidFill>
              </a:rPr>
              <a:t> indiscriminado em tabelas críticas como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VBAK</a:t>
            </a:r>
            <a:r>
              <a:rPr lang="en-US" sz="1400" dirty="0">
                <a:solidFill>
                  <a:srgbClr val="556B82"/>
                </a:solidFill>
              </a:rPr>
              <a:t> ou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MARA</a:t>
            </a:r>
            <a:r>
              <a:rPr lang="en-US" sz="1400" dirty="0">
                <a:solidFill>
                  <a:srgbClr val="556B82"/>
                </a:solidFill>
              </a:rPr>
              <a:t>, causando conflitos em atualizações.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127797" y="3703320"/>
            <a:ext cx="3515258" cy="246888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3829" y="39593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83829" y="4581144"/>
            <a:ext cx="3003194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1D2D3E"/>
                </a:solidFill>
              </a:rPr>
              <a:t>Uso de APIs Não Estáveis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556B82"/>
                </a:solidFill>
              </a:rPr>
              <a:t>Chamadas diretas a módulos de função internos e não oficiais que quebravam após um upgrade.</a:t>
            </a:r>
            <a:endParaRPr lang="en-US" sz="1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069080"/>
            <a:ext cx="237744" cy="237744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3978" y="4069080"/>
            <a:ext cx="237744" cy="237744"/>
          </a:xfrm>
          <a:prstGeom prst="rect">
            <a:avLst/>
          </a:prstGeom>
        </p:spPr>
      </p:pic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208" y="2286000"/>
            <a:ext cx="1097280" cy="1097280"/>
          </a:xfrm>
          <a:prstGeom prst="rect">
            <a:avLst/>
          </a:prstGeom>
        </p:spPr>
      </p:pic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3557" y="4069080"/>
            <a:ext cx="237744" cy="2377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Consequência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Pesadelo do Upgrade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D2D3E"/>
                </a:solidFill>
              </a:rPr>
              <a:t>O medo de atualizar paralisou a inovação e tornou o modelo incompatível com a nuvem.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463040" y="3749040"/>
            <a:ext cx="9722815" cy="0"/>
          </a:xfrm>
          <a:prstGeom prst="line">
            <a:avLst/>
          </a:prstGeom>
          <a:noFill/>
          <a:ln w="5080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548640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Projeto de Upgrade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645920" y="3657600"/>
            <a:ext cx="182880" cy="182880"/>
          </a:xfrm>
          <a:prstGeom prst="ellipse">
            <a:avLst/>
          </a:prstGeom>
          <a:solidFill>
            <a:srgbClr val="1D2D3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88720" y="38587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Mês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0" y="3657600"/>
            <a:ext cx="182880" cy="182880"/>
          </a:xfrm>
          <a:prstGeom prst="ellipse">
            <a:avLst/>
          </a:prstGeom>
          <a:solidFill>
            <a:srgbClr val="1D2D3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0" y="38587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Mês 6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498080" y="3657600"/>
            <a:ext cx="182880" cy="182880"/>
          </a:xfrm>
          <a:prstGeom prst="ellipse">
            <a:avLst/>
          </a:prstGeom>
          <a:solidFill>
            <a:srgbClr val="1D2D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0880" y="38587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Mês 12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424160" y="3657600"/>
            <a:ext cx="182880" cy="182880"/>
          </a:xfrm>
          <a:prstGeom prst="ellipse">
            <a:avLst/>
          </a:prstGeom>
          <a:solidFill>
            <a:srgbClr val="1D2D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966960" y="385876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Mês 18+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22860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600200" y="22402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Tempo: </a:t>
            </a:r>
            <a:r>
              <a:rPr lang="en-US" sz="1400" dirty="0">
                <a:solidFill>
                  <a:srgbClr val="1D2D3E"/>
                </a:solidFill>
              </a:rPr>
              <a:t>Projetos de upgrade que duravam meses ou até anos.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217920" y="22860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995160" y="224028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Resultado: </a:t>
            </a:r>
            <a:r>
              <a:rPr lang="en-US" sz="1400" dirty="0">
                <a:solidFill>
                  <a:srgbClr val="1D2D3E"/>
                </a:solidFill>
              </a:rPr>
              <a:t>Empresas presas em versões obsoletas, perdendo inovações.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474720" y="443484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251960" y="4389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Custo: </a:t>
            </a:r>
            <a:r>
              <a:rPr lang="en-US" sz="1400" dirty="0">
                <a:solidFill>
                  <a:srgbClr val="1D2D3E"/>
                </a:solidFill>
              </a:rPr>
              <a:t>‘Exércitos’ de consultores para fases de SPDD (dicionário) e SPAU (repositório).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29600" y="443484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006840" y="4389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 Realidade da Nuvem: </a:t>
            </a:r>
            <a:r>
              <a:rPr lang="en-US" sz="1400" dirty="0">
                <a:solidFill>
                  <a:srgbClr val="1D2D3E"/>
                </a:solidFill>
              </a:rPr>
              <a:t>Modelo antigo insustentável para atualizações trimestrais.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2439619"/>
            <a:ext cx="332842" cy="332842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539" y="2439619"/>
            <a:ext cx="332842" cy="332842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8339" y="4588459"/>
            <a:ext cx="332842" cy="332842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3219" y="4588459"/>
            <a:ext cx="332842" cy="33284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Virada de Jogo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Estratégia Clean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06240" y="2423160"/>
            <a:ext cx="3291840" cy="73152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206240" y="2697480"/>
            <a:ext cx="3291840" cy="54864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06240" y="2971800"/>
            <a:ext cx="3291840" cy="36576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06240" y="3246120"/>
            <a:ext cx="3291840" cy="18288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0" y="3520440"/>
            <a:ext cx="3291840" cy="0"/>
          </a:xfrm>
          <a:prstGeom prst="line">
            <a:avLst/>
          </a:prstGeom>
          <a:noFill/>
          <a:ln w="38100">
            <a:solidFill>
              <a:srgbClr val="0070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0" y="1783080"/>
            <a:ext cx="2377440" cy="2377440"/>
          </a:xfrm>
          <a:prstGeom prst="roundRect">
            <a:avLst>
              <a:gd name="adj" fmla="val 7692"/>
            </a:avLst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8096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Clean Core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461772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1D2D3E"/>
                </a:solidFill>
              </a:rPr>
              <a:t>O código padrão da SAP deve ser tratado como uma </a:t>
            </a:r>
            <a:r>
              <a:rPr lang="en-US" sz="2100" b="1" dirty="0">
                <a:solidFill>
                  <a:srgbClr val="1D2D3E"/>
                </a:solidFill>
              </a:rPr>
              <a:t>‘Caixa Preta’</a:t>
            </a:r>
            <a:r>
              <a:rPr lang="en-US" sz="2100" dirty="0">
                <a:solidFill>
                  <a:srgbClr val="1D2D3E"/>
                </a:solidFill>
              </a:rPr>
              <a:t> selada e intocável. A estabilidade do núcleo permite a agilidade na inovação.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965960"/>
            <a:ext cx="2011680" cy="2011680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48840"/>
            <a:ext cx="1005840" cy="10058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Os 3 Mandamentos do Clean Core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515258" cy="420624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04672" y="2039112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04672" y="3118104"/>
            <a:ext cx="300319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1. Nenhuma Modificação Direta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O código standard é intocável. Extensões ocorrem apenas em pontos formais e estáveis (ex.: BAdIs).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38218" y="1783080"/>
            <a:ext cx="3515258" cy="420624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94250" y="2039112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594250" y="3118104"/>
            <a:ext cx="300319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2. Uso Exclusivo de APIs Públicas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A interação com o Core só pode ser feita através de ‘Released APIs’ (whitelisted), como CDS Views e classes com contrato C1.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27797" y="1783080"/>
            <a:ext cx="3515258" cy="420624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383829" y="2039112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383829" y="3118104"/>
            <a:ext cx="300319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900" b="1" dirty="0">
                <a:solidFill>
                  <a:srgbClr val="1D2D3E"/>
                </a:solidFill>
              </a:rPr>
              <a:t>3. Separação Clara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rgbClr val="556B82"/>
                </a:solidFill>
              </a:rPr>
              <a:t>As customizações residem em um ambiente lógico ou físico separado do código standard.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2258568"/>
            <a:ext cx="475488" cy="475488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3706" y="2258568"/>
            <a:ext cx="475488" cy="475488"/>
          </a:xfrm>
          <a:prstGeom prst="rect">
            <a:avLst/>
          </a:prstGeom>
        </p:spPr>
      </p:pic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3285" y="2258568"/>
            <a:ext cx="475488" cy="475488"/>
          </a:xfrm>
          <a:prstGeom prst="rect">
            <a:avLst/>
          </a:prstGeom>
        </p:spPr>
      </p:pic>
      <p:sp>
        <p:nvSpPr>
          <p:cNvPr id="15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Modelo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As 3 Camadas de Extensibilidade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Um framework para estender o S/4HANA de forma segura, atendendo a diferentes necessidades de negócio.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057400" y="2057400"/>
            <a:ext cx="4114800" cy="41148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7858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14600" y="2514600"/>
            <a:ext cx="3200400" cy="32004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7838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2971800"/>
            <a:ext cx="2286000" cy="22860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D4A0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83280" y="3383280"/>
            <a:ext cx="1463040" cy="1463040"/>
          </a:xfrm>
          <a:prstGeom prst="ellipse">
            <a:avLst/>
          </a:prstGeom>
          <a:solidFill>
            <a:srgbClr val="1D2D3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29000" y="338328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S/4HANA Clean Core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0" y="2788920"/>
            <a:ext cx="3962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017"/>
                </a:solidFill>
              </a:rPr>
              <a:t>Camada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Key User Extensibility (In-App)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680960" y="3840480"/>
            <a:ext cx="3962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7838F"/>
                </a:solidFill>
              </a:rPr>
              <a:t>Camada 2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Developer Extensibility (On-Stack)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680960" y="4892040"/>
            <a:ext cx="39620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858FF"/>
                </a:solidFill>
              </a:rPr>
              <a:t>Camada 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Side-by-Side Extensibility (BTP)</a:t>
            </a:r>
            <a:endParaRPr lang="en-US" sz="16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880360"/>
            <a:ext cx="548640" cy="54864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3931920"/>
            <a:ext cx="548640" cy="54864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98348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Camada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Key User Extensibility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44F00"/>
                </a:solidFill>
              </a:rPr>
              <a:t>Adaptações rápidas, sem código (low-code/no-code)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Público-alvo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Consultores funcionais, key users, cidadãos desenvolvedores.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 que permite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6583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Adicionar campos personalizados em telas e relatórios.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Alterar layouts de formulários e e-mails.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Criar lógicas de validação simples.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FFF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0160" y="512064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Ferramenta principal:</a:t>
            </a:r>
            <a:r>
              <a:rPr lang="en-US" sz="1400" dirty="0">
                <a:solidFill>
                  <a:srgbClr val="1D2D3E"/>
                </a:solidFill>
              </a:rPr>
              <a:t> app Fiori ‘Custom Fields and Logic’.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0" y="1600200"/>
            <a:ext cx="4053535" cy="347472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607808" y="1600200"/>
            <a:ext cx="4016959" cy="365760"/>
          </a:xfrm>
          <a:prstGeom prst="rect">
            <a:avLst/>
          </a:prstGeom>
          <a:solidFill>
            <a:srgbClr val="1D2D3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Custom Fields and Logic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0" y="2148840"/>
            <a:ext cx="1097280" cy="320040"/>
          </a:xfrm>
          <a:prstGeom prst="rect">
            <a:avLst/>
          </a:prstGeom>
          <a:solidFill>
            <a:srgbClr val="EEF1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0" y="2651760"/>
            <a:ext cx="1097280" cy="320040"/>
          </a:xfrm>
          <a:prstGeom prst="rect">
            <a:avLst/>
          </a:prstGeom>
          <a:solidFill>
            <a:srgbClr val="FFF8D6"/>
          </a:solidFill>
          <a:ln w="12700">
            <a:solidFill>
              <a:srgbClr val="E765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3154680"/>
            <a:ext cx="1097280" cy="320040"/>
          </a:xfrm>
          <a:prstGeom prst="rect">
            <a:avLst/>
          </a:prstGeom>
          <a:solidFill>
            <a:srgbClr val="EEF1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0" y="3657600"/>
            <a:ext cx="1097280" cy="320040"/>
          </a:xfrm>
          <a:prstGeom prst="rect">
            <a:avLst/>
          </a:prstGeom>
          <a:solidFill>
            <a:srgbClr val="EEF1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0" y="4160520"/>
            <a:ext cx="1097280" cy="320040"/>
          </a:xfrm>
          <a:prstGeom prst="rect">
            <a:avLst/>
          </a:prstGeom>
          <a:solidFill>
            <a:srgbClr val="EEF1F4"/>
          </a:solidFill>
          <a:ln w="12700">
            <a:solidFill>
              <a:srgbClr val="E5E5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52560" y="2286000"/>
            <a:ext cx="2407615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52560" y="2834640"/>
            <a:ext cx="2407615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052560" y="3383280"/>
            <a:ext cx="2407615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52560" y="4023360"/>
            <a:ext cx="2407615" cy="365760"/>
          </a:xfrm>
          <a:prstGeom prst="rect">
            <a:avLst/>
          </a:prstGeom>
          <a:solidFill>
            <a:srgbClr val="FFF8D6"/>
          </a:solidFill>
          <a:ln w="19050">
            <a:solidFill>
              <a:srgbClr val="E76500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9098280" y="40233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4F00"/>
                </a:solidFill>
              </a:rPr>
              <a:t>+ Região de Entrega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728655" y="525780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49824"/>
            <a:ext cx="347472" cy="347472"/>
          </a:xfrm>
          <a:prstGeom prst="rect">
            <a:avLst/>
          </a:prstGeom>
        </p:spPr>
      </p:pic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166" y="5455310"/>
            <a:ext cx="427939" cy="427939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Camada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On-Stack Developer Extensibility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46C76"/>
                </a:solidFill>
              </a:rPr>
              <a:t>Lógica complexa com máxima performance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Público-alvo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Desenvolvedores ABAP profissionais (‘Embedded Steampunk’).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O que permite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6583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Aplicações complexas e lógica pesada.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Criação de tabelas Z, CDS Views, serviços OData (RAP).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Implementação de BAdIs de negócio.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E0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0160" y="512064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A restrição fundamental:</a:t>
            </a:r>
            <a:r>
              <a:rPr lang="en-US" sz="1400" dirty="0">
                <a:solidFill>
                  <a:srgbClr val="1D2D3E"/>
                </a:solidFill>
              </a:rPr>
              <a:t> o desenvolvimento é restrito ao modelo </a:t>
            </a:r>
            <a:r>
              <a:rPr lang="en-US" sz="1400" b="1" dirty="0">
                <a:solidFill>
                  <a:srgbClr val="1D2D3E"/>
                </a:solidFill>
              </a:rPr>
              <a:t>ABAP Cloud</a:t>
            </a:r>
            <a:r>
              <a:rPr lang="en-US" sz="1400" dirty="0">
                <a:solidFill>
                  <a:srgbClr val="1D2D3E"/>
                </a:solidFill>
              </a:rPr>
              <a:t>. Acesso ao SAP GUI e a objetos não liberados é proibido.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89520" y="1783080"/>
            <a:ext cx="4053535" cy="3657600"/>
          </a:xfrm>
          <a:prstGeom prst="roundRect">
            <a:avLst>
              <a:gd name="adj" fmla="val 3500"/>
            </a:avLst>
          </a:prstGeom>
          <a:solidFill>
            <a:srgbClr val="E0F7F7"/>
          </a:solidFill>
          <a:ln w="19050">
            <a:solidFill>
              <a:srgbClr val="07838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0" y="1920240"/>
            <a:ext cx="4053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46C76"/>
                </a:solidFill>
              </a:rPr>
              <a:t>S/4HANA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098280" y="2514600"/>
            <a:ext cx="914400" cy="914400"/>
          </a:xfrm>
          <a:prstGeom prst="roundRect">
            <a:avLst>
              <a:gd name="adj" fmla="val 22000"/>
            </a:avLst>
          </a:prstGeom>
          <a:solidFill>
            <a:srgbClr val="E0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046720" y="3794760"/>
            <a:ext cx="3139135" cy="1280160"/>
          </a:xfrm>
          <a:prstGeom prst="roundRect">
            <a:avLst>
              <a:gd name="adj" fmla="val 7143"/>
            </a:avLst>
          </a:prstGeom>
          <a:solidFill>
            <a:srgbClr val="1D2D3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046720" y="3794760"/>
            <a:ext cx="31391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HANA Database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49824"/>
            <a:ext cx="347472" cy="34747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7736" y="2734056"/>
            <a:ext cx="475488" cy="47548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Camada 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Side-by-Side Extensibility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D36FF"/>
                </a:solidFill>
              </a:rPr>
              <a:t>Inovação desacoplada na SAP BTP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Público-alvo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Desenvolvedores full-stack (Java, Node.js), arquitetos de solução.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01752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Cenários ideais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83280"/>
            <a:ext cx="65836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Aplicações com inteligência artificial e machine learning.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Apps móveis nativos e portais externos (B2B/B2C).</a:t>
            </a:r>
            <a:endParaRPr lang="en-US" sz="1600" dirty="0"/>
          </a:p>
          <a:p>
            <a:pPr marL="203200" indent="-203200">
              <a:spcAft>
                <a:spcPts val="500"/>
              </a:spcAft>
              <a:buSzPct val="100000"/>
              <a:buChar char="•"/>
            </a:pPr>
            <a:r>
              <a:rPr lang="en-US" sz="1500" dirty="0">
                <a:solidFill>
                  <a:srgbClr val="1D2D3E"/>
                </a:solidFill>
              </a:rPr>
              <a:t>Integração com sistemas de terceiros.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512064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F1ED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280160" y="512064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Como se comunica:</a:t>
            </a:r>
            <a:r>
              <a:rPr lang="en-US" sz="1400" dirty="0">
                <a:solidFill>
                  <a:srgbClr val="1D2D3E"/>
                </a:solidFill>
              </a:rPr>
              <a:t> exclusivamente via APIs públicas (OData, SOAP) e eventos (Event Mesh).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0" y="2606040"/>
            <a:ext cx="1737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25400">
            <a:solidFill>
              <a:srgbClr val="1D2D3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0" y="2606040"/>
            <a:ext cx="1737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S/4HANA Clean Core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98280" y="3337560"/>
            <a:ext cx="685800" cy="0"/>
          </a:xfrm>
          <a:prstGeom prst="line">
            <a:avLst/>
          </a:prstGeom>
          <a:noFill/>
          <a:ln w="31750">
            <a:solidFill>
              <a:srgbClr val="7858FF"/>
            </a:solidFill>
            <a:prstDash val="solid"/>
            <a:headEnd type="triangle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8778240" y="42976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56B82"/>
                </a:solidFill>
              </a:rPr>
              <a:t>Released APIs &amp; Events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29800" y="2468880"/>
            <a:ext cx="1828800" cy="1737360"/>
          </a:xfrm>
          <a:prstGeom prst="ellipse">
            <a:avLst/>
          </a:prstGeom>
          <a:solidFill>
            <a:srgbClr val="F1EDFF"/>
          </a:solidFill>
          <a:ln w="31750">
            <a:solidFill>
              <a:srgbClr val="7858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921240" y="2468880"/>
            <a:ext cx="1645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D36FF"/>
                </a:solidFill>
              </a:rPr>
              <a:t>SAP Business Technology Platform (BTP)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4498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Novo Padrão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Entendendo o ABAP Cloud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Não é um produto: é um </a:t>
            </a:r>
            <a:r>
              <a:rPr lang="en-US" sz="1700" b="1" dirty="0">
                <a:solidFill>
                  <a:srgbClr val="1D2D3E"/>
                </a:solidFill>
              </a:rPr>
              <a:t>modelo de desenvolvimento</a:t>
            </a:r>
            <a:r>
              <a:rPr lang="en-US" sz="1700" dirty="0">
                <a:solidFill>
                  <a:srgbClr val="1D2D3E"/>
                </a:solidFill>
              </a:rPr>
              <a:t> que impõe as regras do Clean Core.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109441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114800"/>
                <a:gridCol w="4416552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Tema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ANTES (ABAP Clássico)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556B82"/>
                          </a:solidFill>
                        </a:rPr>
                        <a:t>AGORA (ABAP Cloud)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4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Ferramenta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✗ SAP GUI (SE80)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✓ </a:t>
                      </a: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Eclipse ADT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Modelo de dados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✗ SE11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✓ </a:t>
                      </a: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Core Data Services (CDS)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Modelo transacional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✗ Dynpro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✓ </a:t>
                      </a: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RESTful ABAP Prog. (RAP)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Acesso a objetos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✗ Direto (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* FROM MARA</a:t>
                      </a: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✓ </a:t>
                      </a: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Apenas APIs liberadas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 (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SELECT * FROM I_Product</a:t>
                      </a: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D2D3E"/>
                          </a:solidFill>
                        </a:rPr>
                        <a:t>Sintaxe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AA0808"/>
                          </a:solidFill>
                        </a:rPr>
                        <a:t>✗ ABAP Clássico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56F3A"/>
                          </a:solidFill>
                        </a:rPr>
                        <a:t>✓ </a:t>
                      </a:r>
                      <a:r>
                        <a:rPr lang="en-US" sz="1500" b="1" dirty="0">
                          <a:solidFill>
                            <a:srgbClr val="256F3A"/>
                          </a:solidFill>
                        </a:rPr>
                        <a:t>Language Version 5 (restrita)</a:t>
                      </a:r>
                      <a:endParaRPr lang="en-US" sz="1200" dirty="0"/>
                    </a:p>
                  </a:txBody>
                  <a:tcPr marL="101600" marR="1016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Cenário · A aplicação do Clean Core varia em rigidez, mas não em princípio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Public vs. Private Edition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481328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64D9"/>
                </a:solidFill>
              </a:rPr>
              <a:t>S/4HANA Cloud Public Edition (SaaS)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Governança SAP, upgrades automáticos.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Clean Core é </a:t>
            </a:r>
            <a:r>
              <a:rPr lang="en-US" sz="1600" b="1" dirty="0">
                <a:solidFill>
                  <a:srgbClr val="1D2D3E"/>
                </a:solidFill>
              </a:rPr>
              <a:t>TECNICAMENTE IMPOSTO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Não é possível usar ABAP clássico.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Extensibilidade: camadas 1, 2 (ABAP Cloud) e 3.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1856232"/>
            <a:ext cx="512064" cy="512064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11416" y="1856232"/>
            <a:ext cx="4157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56B82"/>
                </a:solidFill>
              </a:rPr>
              <a:t>S/4HANA Cloud Private Edition (flexível)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560320"/>
            <a:ext cx="4815688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Governança do cliente, controle de upgrades.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Clean Core é </a:t>
            </a:r>
            <a:r>
              <a:rPr lang="en-US" sz="1600" b="1" dirty="0">
                <a:solidFill>
                  <a:srgbClr val="1D2D3E"/>
                </a:solidFill>
              </a:rPr>
              <a:t>FORTEMENTE RECOMENDADO</a:t>
            </a:r>
            <a:r>
              <a:rPr lang="en-US" sz="1600" dirty="0">
                <a:solidFill>
                  <a:srgbClr val="1D2D3E"/>
                </a:solidFill>
              </a:rPr>
              <a:t>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Permite código legado (Tier 3 Clássico) para facilitar migrações.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D2D3E"/>
                </a:solidFill>
              </a:rPr>
              <a:t>O desafio é evitar a criação de nova dívida técnica.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855" y="1979127"/>
            <a:ext cx="266273" cy="266273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943" y="1979127"/>
            <a:ext cx="266273" cy="2662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Guia de Decisão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Onde Devo Construir Minha Extensão?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937760" cy="11887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D2D3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71600" y="16916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É uma mudança simples de campo, layout ou texto na UI?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017520" y="2880360"/>
            <a:ext cx="0" cy="274320"/>
          </a:xfrm>
          <a:prstGeom prst="line">
            <a:avLst/>
          </a:prstGeom>
          <a:noFill/>
          <a:ln w="1905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7" name="Text 5"/>
          <p:cNvSpPr txBox="1"/>
          <p:nvPr/>
        </p:nvSpPr>
        <p:spPr>
          <a:xfrm>
            <a:off x="3108960" y="28529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Não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2286000"/>
            <a:ext cx="914400" cy="0"/>
          </a:xfrm>
          <a:prstGeom prst="line">
            <a:avLst/>
          </a:prstGeom>
          <a:noFill/>
          <a:ln w="1905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9" name="Text 7"/>
          <p:cNvSpPr txBox="1"/>
          <p:nvPr/>
        </p:nvSpPr>
        <p:spPr>
          <a:xfrm>
            <a:off x="5577840" y="192024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Sim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0" y="1783080"/>
            <a:ext cx="5059375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76500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498080" y="1783080"/>
            <a:ext cx="3962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Camada 1: Key User Extensibility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Rápido, sem código.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154680"/>
            <a:ext cx="4937760" cy="11887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D2D3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71600" y="315468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A lógica exige acesso intensivo e performático a dados do ERP?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017520" y="4343400"/>
            <a:ext cx="0" cy="274320"/>
          </a:xfrm>
          <a:prstGeom prst="line">
            <a:avLst/>
          </a:prstGeom>
          <a:noFill/>
          <a:ln w="1905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3108960" y="43159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Não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3749040"/>
            <a:ext cx="914400" cy="0"/>
          </a:xfrm>
          <a:prstGeom prst="line">
            <a:avLst/>
          </a:prstGeom>
          <a:noFill/>
          <a:ln w="1905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Sim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3246120"/>
            <a:ext cx="5059375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07838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7498080" y="3246120"/>
            <a:ext cx="3962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Camada 2: On-Stack (ABAP Cloud)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Evita latência, mantém dados locais.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4937760" cy="118872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D2D3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371600" y="461772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D2D3E"/>
                </a:solidFill>
              </a:rPr>
              <a:t>Preciso integrar com IA, mobile ou criar um portal externo desacoplado?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0" y="5212080"/>
            <a:ext cx="914400" cy="0"/>
          </a:xfrm>
          <a:prstGeom prst="line">
            <a:avLst/>
          </a:prstGeom>
          <a:noFill/>
          <a:ln w="19050">
            <a:solidFill>
              <a:srgbClr val="1D2D3E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577840" y="4846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D2D3E"/>
                </a:solidFill>
              </a:rPr>
              <a:t>Sim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83680" y="4709160"/>
            <a:ext cx="5059375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7858FF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7498080" y="4709160"/>
            <a:ext cx="39620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Camada 3: Side-by-Side (BTP)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Usa tecnologias abertas, ciclo de vida independente.</a:t>
            </a:r>
            <a:endParaRPr lang="en-US" sz="15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2011680"/>
            <a:ext cx="548640" cy="548640"/>
          </a:xfrm>
          <a:prstGeom prst="rect">
            <a:avLst/>
          </a:prstGeom>
        </p:spPr>
      </p:pic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3474720"/>
            <a:ext cx="548640" cy="548640"/>
          </a:xfrm>
          <a:prstGeom prst="rect">
            <a:avLst/>
          </a:prstGeom>
        </p:spPr>
      </p:pic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493776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Seus Takeaways Essenciais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4206240"/>
          </a:xfrm>
          <a:prstGeom prst="roundRect">
            <a:avLst>
              <a:gd name="adj" fmla="val 3642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01752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 Fim do Legado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886200"/>
            <a:ext cx="2875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E"/>
                </a:solidFill>
              </a:rPr>
              <a:t>Modificar o core da SAP é uma prática obsoleta que bloqueia a inovação e torna os upgrades insustentáveis.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38218" y="1783080"/>
            <a:ext cx="3515258" cy="4206240"/>
          </a:xfrm>
          <a:prstGeom prst="roundRect">
            <a:avLst>
              <a:gd name="adj" fmla="val 3642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58258" y="301752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Clean Core é o Pilar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58258" y="3886200"/>
            <a:ext cx="2875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E"/>
                </a:solidFill>
              </a:rPr>
              <a:t>Manter o núcleo limpo e interagir apenas por APIs públicas é o único caminho para a agilidade e a segurança na nuvem.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127797" y="1783080"/>
            <a:ext cx="3515258" cy="4206240"/>
          </a:xfrm>
          <a:prstGeom prst="roundRect">
            <a:avLst>
              <a:gd name="adj" fmla="val 3642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47837" y="3017520"/>
            <a:ext cx="287517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Escolha a Ferramenta Certa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447837" y="3886200"/>
            <a:ext cx="287517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3DE"/>
                </a:solidFill>
              </a:rPr>
              <a:t>Use o modelo de 3 camadas para decidir a estratégia de extensão ideal para cada necessidade, garantindo um sistema robusto e sempre atualizado.</a:t>
            </a:r>
            <a:endParaRPr lang="en-US" sz="15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7837" y="2057400"/>
            <a:ext cx="777240" cy="777240"/>
          </a:xfrm>
          <a:prstGeom prst="rect">
            <a:avLst/>
          </a:prstGeom>
        </p:spPr>
      </p:pic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8258" y="2057400"/>
            <a:ext cx="777240" cy="777240"/>
          </a:xfrm>
          <a:prstGeom prst="rect">
            <a:avLst/>
          </a:prstGeom>
        </p:spPr>
      </p:pic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057400"/>
            <a:ext cx="777240" cy="777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SAP Clean Core: A Nova Extensibilidade</dc:title>
  <dc:subject>ABAP Moderno – Módulo 05</dc:subject>
  <dc:creator>Adriano Bispo</dc:creator>
  <cp:lastModifiedBy>Adriano Bispo</cp:lastModifiedBy>
  <cp:revision>1</cp:revision>
  <dcterms:created xsi:type="dcterms:W3CDTF">2026-10-28T02:42:37Z</dcterms:created>
  <dcterms:modified xsi:type="dcterms:W3CDTF">2026-10-28T02:42:37Z</dcterms:modified>
</cp:coreProperties>
</file>