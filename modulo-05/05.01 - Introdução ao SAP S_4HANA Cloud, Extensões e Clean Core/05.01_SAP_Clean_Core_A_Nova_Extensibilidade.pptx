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0014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3C7"/>
                </a:solidFill>
              </a:rPr>
              <a:t>ABAP Moderno · Módulo 05 — Extensibilidade Clean Core  ·  Aula 1 de 5 — Clean Core</a:t>
            </a:r>
            <a:endParaRPr lang="en-US" sz="9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5F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100" b="1" spc="150" kern="0" dirty="0">
                <a:solidFill>
                  <a:srgbClr val="0064D9"/>
                </a:solidFill>
              </a:defRPr>
            </a:lvl1pPr>
          </a:lstStyle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rgbClr val="1D2D3E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473952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6B82"/>
                </a:solidFill>
              </a:rPr>
              <a:t>ABAP Moderno · Módulo 05 — Extensibilidade Clean Core  ·  Aula 1 de 5 — Clean Core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89D1FF"/>
                </a:solidFill>
              </a:rPr>
              <a:t>MÓDULO 05 · AULA 01 DE 05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828800"/>
            <a:ext cx="6949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SAP S/4HANA Cloud, extensões e Clean Core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94760"/>
            <a:ext cx="6583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D1EFFF"/>
                </a:solidFill>
              </a:rPr>
              <a:t>Por que extensões existem, como o modelo clássico gerou dívida técnica e como o Clean Core muda a jornada para o S/4HANA.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83880" y="1325880"/>
            <a:ext cx="3246120" cy="3246120"/>
          </a:xfrm>
          <a:prstGeom prst="roundRect">
            <a:avLst>
              <a:gd name="adj" fmla="val 15493"/>
            </a:avLst>
          </a:prstGeom>
          <a:solidFill>
            <a:srgbClr val="1B3A7A"/>
          </a:solidFill>
          <a:ln/>
        </p:spPr>
      </p:sp>
      <p:sp>
        <p:nvSpPr>
          <p:cNvPr id="6" name="Shape 4"/>
          <p:cNvSpPr/>
          <p:nvPr/>
        </p:nvSpPr>
        <p:spPr>
          <a:xfrm>
            <a:off x="8732520" y="1874520"/>
            <a:ext cx="2148840" cy="2148840"/>
          </a:xfrm>
          <a:prstGeom prst="roundRect">
            <a:avLst>
              <a:gd name="adj" fmla="val 17021"/>
            </a:avLst>
          </a:prstGeom>
          <a:solidFill>
            <a:srgbClr val="0070F2"/>
          </a:solidFill>
          <a:ln/>
        </p:spPr>
      </p:sp>
      <p:sp>
        <p:nvSpPr>
          <p:cNvPr id="7" name="Shape 5"/>
          <p:cNvSpPr/>
          <p:nvPr/>
        </p:nvSpPr>
        <p:spPr>
          <a:xfrm>
            <a:off x="8183880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89D1FF"/>
          </a:solidFill>
          <a:ln/>
        </p:spPr>
      </p:sp>
      <p:sp>
        <p:nvSpPr>
          <p:cNvPr id="8" name="Shape 6"/>
          <p:cNvSpPr/>
          <p:nvPr/>
        </p:nvSpPr>
        <p:spPr>
          <a:xfrm>
            <a:off x="8851392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9" name="Shape 7"/>
          <p:cNvSpPr/>
          <p:nvPr/>
        </p:nvSpPr>
        <p:spPr>
          <a:xfrm>
            <a:off x="9518904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0" name="Shape 8"/>
          <p:cNvSpPr/>
          <p:nvPr/>
        </p:nvSpPr>
        <p:spPr>
          <a:xfrm>
            <a:off x="10186416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1" name="Shape 9"/>
          <p:cNvSpPr/>
          <p:nvPr/>
        </p:nvSpPr>
        <p:spPr>
          <a:xfrm>
            <a:off x="10853928" y="4937760"/>
            <a:ext cx="576072" cy="82296"/>
          </a:xfrm>
          <a:prstGeom prst="roundRect">
            <a:avLst>
              <a:gd name="adj" fmla="val 44444"/>
            </a:avLst>
          </a:prstGeom>
          <a:solidFill>
            <a:srgbClr val="2E529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183880" y="512064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EFFF"/>
                </a:solidFill>
              </a:rPr>
              <a:t>Aula 1 de 5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31520" y="59893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FA3C7"/>
                </a:solidFill>
              </a:rPr>
              <a:t>ABAP Moderno · Módulo 05 — Extensibilidade Clean Core · Design System SAP Horizon</a:t>
            </a:r>
            <a:endParaRPr lang="en-US" sz="11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0" y="2468880"/>
            <a:ext cx="960120" cy="96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A SÉRIE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Módulo 05 em 5 aulas: Clean Core e extensibilidade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25400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828800"/>
            <a:ext cx="384048" cy="384048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FFFFFF"/>
                </a:solidFill>
              </a:rPr>
              <a:t>1</a:t>
            </a:r>
            <a:endParaRPr lang="en-US" sz="1260" dirty="0"/>
          </a:p>
        </p:txBody>
      </p:sp>
      <p:sp>
        <p:nvSpPr>
          <p:cNvPr id="7" name="Text 5"/>
          <p:cNvSpPr txBox="1"/>
          <p:nvPr/>
        </p:nvSpPr>
        <p:spPr>
          <a:xfrm>
            <a:off x="713232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Clean Core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713232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Extensões, núcleo limpo e transição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188720" y="1892808"/>
            <a:ext cx="792419" cy="256032"/>
          </a:xfrm>
          <a:prstGeom prst="roundRect">
            <a:avLst>
              <a:gd name="adj" fmla="val 50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188720" y="1892808"/>
            <a:ext cx="7924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64D9"/>
                </a:solidFill>
              </a:rPr>
              <a:t>Você está aqui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804099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68691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968691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2</a:t>
            </a:r>
            <a:endParaRPr lang="en-US" sz="1260" dirty="0"/>
          </a:p>
        </p:txBody>
      </p:sp>
      <p:sp>
        <p:nvSpPr>
          <p:cNvPr id="14" name="Text 12"/>
          <p:cNvSpPr txBox="1"/>
          <p:nvPr/>
        </p:nvSpPr>
        <p:spPr>
          <a:xfrm>
            <a:off x="2968691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UX de consumidor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2968691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Princípios Fiori, launchpad e SAP Build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59558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224150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224150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3</a:t>
            </a:r>
            <a:endParaRPr lang="en-US" sz="1260" dirty="0"/>
          </a:p>
        </p:txBody>
      </p:sp>
      <p:sp>
        <p:nvSpPr>
          <p:cNvPr id="19" name="Text 17"/>
          <p:cNvSpPr txBox="1"/>
          <p:nvPr/>
        </p:nvSpPr>
        <p:spPr>
          <a:xfrm>
            <a:off x="5224150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ABAP Cloud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5224150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Language version 5, released APIs e wrappers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15017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479609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79609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4</a:t>
            </a:r>
            <a:endParaRPr lang="en-US" sz="1260" dirty="0"/>
          </a:p>
        </p:txBody>
      </p:sp>
      <p:sp>
        <p:nvSpPr>
          <p:cNvPr id="24" name="Text 22"/>
          <p:cNvSpPr txBox="1"/>
          <p:nvPr/>
        </p:nvSpPr>
        <p:spPr>
          <a:xfrm>
            <a:off x="7479609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Modelo de extensibilidade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7479609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Key user, developer e side-by-side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9570476" y="1645920"/>
            <a:ext cx="2072579" cy="3840480"/>
          </a:xfrm>
          <a:prstGeom prst="roundRect">
            <a:avLst>
              <a:gd name="adj" fmla="val 441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5068" y="1828800"/>
            <a:ext cx="384048" cy="384048"/>
          </a:xfrm>
          <a:prstGeom prst="ellipse">
            <a:avLst/>
          </a:prstGeom>
          <a:solidFill>
            <a:srgbClr val="E1F4FF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9735068" y="1828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60" b="1" dirty="0">
                <a:solidFill>
                  <a:srgbClr val="0064D9"/>
                </a:solidFill>
              </a:rPr>
              <a:t>5</a:t>
            </a:r>
            <a:endParaRPr lang="en-US" sz="1260" dirty="0"/>
          </a:p>
        </p:txBody>
      </p:sp>
      <p:sp>
        <p:nvSpPr>
          <p:cNvPr id="29" name="Text 27"/>
          <p:cNvSpPr txBox="1"/>
          <p:nvPr/>
        </p:nvSpPr>
        <p:spPr>
          <a:xfrm>
            <a:off x="9735068" y="2331720"/>
            <a:ext cx="17433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D2D3E"/>
                </a:solidFill>
              </a:rPr>
              <a:t>Private Edition e On-Premise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9735068" y="2788920"/>
            <a:ext cx="1743395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56B82"/>
                </a:solidFill>
              </a:rPr>
              <a:t>Níveis A–D, ATC e coexistência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207008" y="5623560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Nesta aula  </a:t>
            </a:r>
            <a:r>
              <a:rPr lang="en-US" sz="1200" dirty="0">
                <a:solidFill>
                  <a:srgbClr val="1D2D3E"/>
                </a:solidFill>
              </a:rPr>
              <a:t>entendemos o problema que o Clean Core resolve e o que acontece com o código customizado na migração para o S/4HANA.</a:t>
            </a:r>
            <a:endParaRPr lang="en-US" sz="1400" dirty="0"/>
          </a:p>
        </p:txBody>
      </p:sp>
      <p:pic>
        <p:nvPicPr>
          <p:cNvPr id="3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2579" y="1847088"/>
            <a:ext cx="347472" cy="347472"/>
          </a:xfrm>
          <a:prstGeom prst="rect">
            <a:avLst/>
          </a:prstGeom>
        </p:spPr>
      </p:pic>
      <p:pic>
        <p:nvPicPr>
          <p:cNvPr id="3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038" y="1847088"/>
            <a:ext cx="347472" cy="347472"/>
          </a:xfrm>
          <a:prstGeom prst="rect">
            <a:avLst/>
          </a:prstGeom>
        </p:spPr>
      </p:pic>
      <p:pic>
        <p:nvPicPr>
          <p:cNvPr id="3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497" y="1847088"/>
            <a:ext cx="347472" cy="347472"/>
          </a:xfrm>
          <a:prstGeom prst="rect">
            <a:avLst/>
          </a:prstGeom>
        </p:spPr>
      </p:pic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1847088"/>
            <a:ext cx="347472" cy="347472"/>
          </a:xfrm>
          <a:prstGeom prst="rect">
            <a:avLst/>
          </a:prstGeom>
        </p:spPr>
      </p:pic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8956" y="1847088"/>
            <a:ext cx="347472" cy="347472"/>
          </a:xfrm>
          <a:prstGeom prst="rect">
            <a:avLst/>
          </a:prstGeom>
        </p:spPr>
      </p:pic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5751576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VISÃO GERAL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Escopo e flexibilidade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56B82"/>
                </a:solidFill>
              </a:rPr>
              <a:t>Todo software é desenhado para um </a:t>
            </a:r>
            <a:r>
              <a:rPr lang="en-US" sz="1500" b="1" dirty="0">
                <a:solidFill>
                  <a:srgbClr val="556B82"/>
                </a:solidFill>
              </a:rPr>
              <a:t>escopo</a:t>
            </a:r>
            <a:r>
              <a:rPr lang="en-US" sz="1500" dirty="0">
                <a:solidFill>
                  <a:srgbClr val="556B82"/>
                </a:solidFill>
              </a:rPr>
              <a:t>. O valor do SAP sempre esteve em cobrir quase todos os processos e, ainda assim, deixar cada cliente </a:t>
            </a:r>
            <a:r>
              <a:rPr lang="en-US" sz="1500" b="1" dirty="0">
                <a:solidFill>
                  <a:srgbClr val="556B82"/>
                </a:solidFill>
              </a:rPr>
              <a:t>adaptá-los</a:t>
            </a:r>
            <a:r>
              <a:rPr lang="en-US" sz="1500" dirty="0">
                <a:solidFill>
                  <a:srgbClr val="556B82"/>
                </a:solidFill>
              </a:rPr>
              <a:t>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0888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32100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381355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Escopo amplo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Logística, finanças e RH para mais de 30 indústrias, cada uma com seus processos.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322978" y="300888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4146" y="32100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524146" y="381355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Flexibilidade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Cada empresa executa os processos do seu jeito: extensões ajustam o escopo entregue.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97317" y="3008884"/>
            <a:ext cx="3545738" cy="2348992"/>
          </a:xfrm>
          <a:prstGeom prst="roundRect">
            <a:avLst>
              <a:gd name="adj" fmla="val 3893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298485" y="321005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98485" y="3813556"/>
            <a:ext cx="3143402" cy="143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O dilema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Um sistema "congelado" é fácil de atualizar; um sistema livremente alterável é difícil. O Clean Core busca o meio-termo.</a:t>
            </a:r>
            <a:endParaRPr lang="en-US" sz="14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3310636"/>
            <a:ext cx="256032" cy="256032"/>
          </a:xfrm>
          <a:prstGeom prst="rect">
            <a:avLst/>
          </a:prstGeom>
        </p:spPr>
      </p:pic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3310636"/>
            <a:ext cx="256032" cy="256032"/>
          </a:xfrm>
          <a:prstGeom prst="rect">
            <a:avLst/>
          </a:prstGeom>
        </p:spPr>
      </p:pic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3310636"/>
            <a:ext cx="256032" cy="2560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05.01 · SEÇÃO 1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Como chegamos aqui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No ERP clássico, a SAP oferecia </a:t>
            </a:r>
            <a:r>
              <a:rPr lang="en-US" sz="1600" b="1" dirty="0">
                <a:solidFill>
                  <a:srgbClr val="D1EFFF"/>
                </a:solidFill>
              </a:rPr>
              <a:t>exits</a:t>
            </a:r>
            <a:r>
              <a:rPr lang="en-US" sz="1600" dirty="0">
                <a:solidFill>
                  <a:srgbClr val="D1EFFF"/>
                </a:solidFill>
              </a:rPr>
              <a:t> em cada camada, e clientes também </a:t>
            </a:r>
            <a:r>
              <a:rPr lang="en-US" sz="1600" b="1" dirty="0">
                <a:solidFill>
                  <a:srgbClr val="D1EFFF"/>
                </a:solidFill>
              </a:rPr>
              <a:t>modificavam</a:t>
            </a:r>
            <a:r>
              <a:rPr lang="en-US" sz="1600" dirty="0">
                <a:solidFill>
                  <a:srgbClr val="D1EFFF"/>
                </a:solidFill>
              </a:rPr>
              <a:t> o código standard. Funcionava, mas com um custo.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Table append</a:t>
            </a:r>
            <a:r>
              <a:rPr lang="en-US" sz="1000" dirty="0">
                <a:solidFill>
                  <a:srgbClr val="D1EFFF"/>
                </a:solidFill>
              </a:rPr>
              <a:t>  dados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Screen · menu exits</a:t>
            </a:r>
            <a:r>
              <a:rPr lang="en-US" sz="1000" dirty="0">
                <a:solidFill>
                  <a:srgbClr val="D1EFFF"/>
                </a:solidFill>
              </a:rPr>
              <a:t>  interface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 exits</a:t>
            </a:r>
            <a:r>
              <a:rPr lang="en-US" sz="1000" dirty="0">
                <a:solidFill>
                  <a:srgbClr val="D1EFFF"/>
                </a:solidFill>
              </a:rPr>
              <a:t>  lógica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Modificações</a:t>
            </a:r>
            <a:r>
              <a:rPr lang="en-US" sz="1000" dirty="0">
                <a:solidFill>
                  <a:srgbClr val="D1EFFF"/>
                </a:solidFill>
              </a:rPr>
              <a:t>  SPDD · SPAU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LEGADO · EXITS EM CAMADAS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Um campo de lucro, três tipos de exit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56B82"/>
                </a:solidFill>
              </a:rPr>
              <a:t>Exemplo oficial: exibir um </a:t>
            </a:r>
            <a:r>
              <a:rPr lang="en-US" sz="1400" b="1" dirty="0">
                <a:solidFill>
                  <a:srgbClr val="556B82"/>
                </a:solidFill>
              </a:rPr>
              <a:t>lucro</a:t>
            </a:r>
            <a:r>
              <a:rPr lang="en-US" sz="1400" dirty="0">
                <a:solidFill>
                  <a:srgbClr val="556B82"/>
                </a:solidFill>
              </a:rPr>
              <a:t> calculado com receita, custo e um fator próprio do cliente.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Camada de dados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Table append com o fator do cliente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045610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8" name="Shape 6"/>
          <p:cNvSpPr/>
          <p:nvPr/>
        </p:nvSpPr>
        <p:spPr>
          <a:xfrm>
            <a:off x="4383938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0070F2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4475378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0064D9"/>
                </a:solidFill>
              </a:rPr>
              <a:t>Camada de código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Code exit (user/customer exit, BAdI) que calcula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880909" y="2532888"/>
            <a:ext cx="265176" cy="237744"/>
          </a:xfrm>
          <a:prstGeom prst="rightArrow">
            <a:avLst/>
          </a:prstGeom>
          <a:solidFill>
            <a:srgbClr val="0070F2"/>
          </a:solidFill>
          <a:ln/>
        </p:spPr>
      </p:sp>
      <p:sp>
        <p:nvSpPr>
          <p:cNvPr id="11" name="Shape 9"/>
          <p:cNvSpPr/>
          <p:nvPr/>
        </p:nvSpPr>
        <p:spPr>
          <a:xfrm>
            <a:off x="8219237" y="1920240"/>
            <a:ext cx="3423818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E76500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10677" y="2514600"/>
            <a:ext cx="32409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B44F00"/>
                </a:solidFill>
              </a:rPr>
              <a:t>Camada visual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556B82"/>
                </a:solidFill>
              </a:rPr>
              <a:t>Screen e menu exits mostram o campo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31520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31520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Acoplamento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O código do cliente lia tabelas internas e dependia de detalhes que a SAP podia mudar.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22978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05858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505858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Upgrades caros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 cada versão,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SPDD</a:t>
            </a:r>
            <a:r>
              <a:rPr lang="en-US" sz="1200" dirty="0">
                <a:solidFill>
                  <a:srgbClr val="556B82"/>
                </a:solidFill>
              </a:rPr>
              <a:t> e </a:t>
            </a:r>
            <a:r>
              <a:rPr lang="en-US" sz="12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SPAU</a:t>
            </a:r>
            <a:r>
              <a:rPr lang="en-US" sz="1200" dirty="0">
                <a:solidFill>
                  <a:srgbClr val="556B82"/>
                </a:solidFill>
              </a:rPr>
              <a:t> ajustavam modificações: projetos longos e arriscados.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8097317" y="3657600"/>
            <a:ext cx="3545738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80197" y="3840480"/>
            <a:ext cx="402336" cy="402336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280197" y="4343400"/>
            <a:ext cx="317997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D2D3E"/>
                </a:solidFill>
              </a:rPr>
              <a:t>Incompatível com a nuvem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56B82"/>
                </a:solidFill>
              </a:rPr>
              <a:t>Atualizações frequentes e automáticas não convivem com núcleo modificado.</a:t>
            </a:r>
            <a:endParaRPr lang="en-US" sz="14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7669" y="2084832"/>
            <a:ext cx="365760" cy="365760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2968" y="2084832"/>
            <a:ext cx="365760" cy="365760"/>
          </a:xfrm>
          <a:prstGeom prst="rect">
            <a:avLst/>
          </a:prstGeom>
        </p:spPr>
      </p:pic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8266" y="2084832"/>
            <a:ext cx="365760" cy="365760"/>
          </a:xfrm>
          <a:prstGeom prst="rect">
            <a:avLst/>
          </a:prstGeom>
        </p:spPr>
      </p:pic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034" y="3928994"/>
            <a:ext cx="225308" cy="225308"/>
          </a:xfrm>
          <a:prstGeom prst="rect">
            <a:avLst/>
          </a:prstGeom>
        </p:spPr>
      </p:pic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94372" y="3928994"/>
            <a:ext cx="225308" cy="225308"/>
          </a:xfrm>
          <a:prstGeom prst="rect">
            <a:avLst/>
          </a:prstGeom>
        </p:spPr>
      </p:pic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8711" y="3928994"/>
            <a:ext cx="225308" cy="22530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LEGADO · O QUE AVALIAR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Modificações, cópias e enhancements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49808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Modificação direta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Alteração em um objeto SAP, às vezes por instrução de uma SAP Note.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22978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24146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F8D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24146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Cópias e indiretas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556B82"/>
                </a:solidFill>
              </a:rPr>
              <a:t>Clones de objetos SAP, enhancements implícitos e explícitos que dependem de internos.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097317" y="2466975"/>
            <a:ext cx="3545738" cy="2134362"/>
          </a:xfrm>
          <a:prstGeom prst="roundRect">
            <a:avLst>
              <a:gd name="adj" fmla="val 4284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98485" y="2668143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E1F4FF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98485" y="3271647"/>
            <a:ext cx="3143402" cy="12199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b="1" dirty="0">
                <a:solidFill>
                  <a:srgbClr val="1D2D3E"/>
                </a:solidFill>
              </a:rPr>
              <a:t>Como achar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SPDD</a:t>
            </a:r>
            <a:r>
              <a:rPr lang="en-US" sz="1300" dirty="0">
                <a:solidFill>
                  <a:srgbClr val="556B82"/>
                </a:solidFill>
              </a:rPr>
              <a:t>, 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SPAU</a:t>
            </a:r>
            <a:r>
              <a:rPr lang="en-US" sz="1300" dirty="0">
                <a:solidFill>
                  <a:srgbClr val="556B82"/>
                </a:solidFill>
              </a:rPr>
              <a:t>/</a:t>
            </a:r>
            <a:r>
              <a:rPr lang="en-US" sz="130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SPAU_ENH</a:t>
            </a:r>
            <a:r>
              <a:rPr lang="en-US" sz="1300" dirty="0">
                <a:solidFill>
                  <a:srgbClr val="556B82"/>
                </a:solidFill>
              </a:rPr>
              <a:t> e o </a:t>
            </a:r>
            <a:r>
              <a:rPr lang="en-US" sz="1300" i="1" dirty="0">
                <a:solidFill>
                  <a:srgbClr val="556B82"/>
                </a:solidFill>
              </a:rPr>
              <a:t>clone finder</a:t>
            </a:r>
            <a:r>
              <a:rPr lang="en-US" sz="1300" dirty="0">
                <a:solidFill>
                  <a:srgbClr val="556B82"/>
                </a:solidFill>
              </a:rPr>
              <a:t> mostram o que existe.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4784217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207008" y="4784217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Princípio  </a:t>
            </a:r>
            <a:r>
              <a:rPr lang="en-US" sz="1200" b="1" dirty="0">
                <a:solidFill>
                  <a:srgbClr val="1D2D3E"/>
                </a:solidFill>
              </a:rPr>
              <a:t>zero modificação</a:t>
            </a:r>
            <a:r>
              <a:rPr lang="en-US" sz="1200" dirty="0">
                <a:solidFill>
                  <a:srgbClr val="1D2D3E"/>
                </a:solidFill>
              </a:rPr>
              <a:t>. Na análise, quase sempre a modificação é obsoleta, não usada, irrelevante ou substituível por uma extensão in-app.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2768727"/>
            <a:ext cx="256032" cy="256032"/>
          </a:xfrm>
          <a:prstGeom prst="rect">
            <a:avLst/>
          </a:prstGeom>
        </p:spPr>
      </p:pic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4730" y="2768727"/>
            <a:ext cx="256032" cy="256032"/>
          </a:xfrm>
          <a:prstGeom prst="rect">
            <a:avLst/>
          </a:prstGeom>
        </p:spPr>
      </p:pic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9069" y="2768727"/>
            <a:ext cx="256032" cy="256032"/>
          </a:xfrm>
          <a:prstGeom prst="rect">
            <a:avLst/>
          </a:prstGeom>
        </p:spPr>
      </p:pic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4912233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05.01 · SEÇÃO 2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abordagem Clean Core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EFFF"/>
                </a:solidFill>
              </a:rPr>
              <a:t>Clean Core</a:t>
            </a:r>
            <a:r>
              <a:rPr lang="en-US" sz="1600" dirty="0">
                <a:solidFill>
                  <a:srgbClr val="D1EFFF"/>
                </a:solidFill>
              </a:rPr>
              <a:t> separa o núcleo SAP das extensões, que passam a usar só </a:t>
            </a:r>
            <a:r>
              <a:rPr lang="en-US" sz="1600" b="1" dirty="0">
                <a:solidFill>
                  <a:srgbClr val="D1EFFF"/>
                </a:solidFill>
              </a:rPr>
              <a:t>APIs liberadas</a:t>
            </a:r>
            <a:r>
              <a:rPr lang="en-US" sz="1600" dirty="0">
                <a:solidFill>
                  <a:srgbClr val="D1EFFF"/>
                </a:solidFill>
              </a:rPr>
              <a:t> e pontos de extensão oficiais.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Núcleo intocado</a:t>
            </a:r>
            <a:r>
              <a:rPr lang="en-US" sz="1000" dirty="0">
                <a:solidFill>
                  <a:srgbClr val="D1EFFF"/>
                </a:solidFill>
              </a:rPr>
              <a:t>  zero modificação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Released APIs</a:t>
            </a:r>
            <a:r>
              <a:rPr lang="en-US" sz="1000" dirty="0">
                <a:solidFill>
                  <a:srgbClr val="D1EFFF"/>
                </a:solidFill>
              </a:rPr>
              <a:t>  contrato estável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Extensões separadas</a:t>
            </a:r>
            <a:r>
              <a:rPr lang="en-US" sz="1000" dirty="0">
                <a:solidFill>
                  <a:srgbClr val="D1EFFF"/>
                </a:solidFill>
              </a:rPr>
              <a:t>  on-stack ou BTP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Upgrades</a:t>
            </a:r>
            <a:r>
              <a:rPr lang="en-US" sz="1000" dirty="0">
                <a:solidFill>
                  <a:srgbClr val="D1EFFF"/>
                </a:solidFill>
              </a:rPr>
              <a:t>  sem retrabalho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CLEAN CORE · ANTES E DEPOIS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Do núcleo modificado ao núcleo limpo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2255139"/>
            <a:ext cx="5410048" cy="73152"/>
          </a:xfrm>
          <a:prstGeom prst="rect">
            <a:avLst/>
          </a:prstGeom>
          <a:solidFill>
            <a:srgbClr val="D20A0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FEAF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371600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A0808"/>
                </a:solidFill>
              </a:rPr>
              <a:t>Núcleo modificado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Lógica do cliente misturada ao código SAP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Leitura e escrita direta em tabelas internas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Cada upgrade exige análise e retrabalho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Inovações da SAP chegam devagar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33008" y="2255139"/>
            <a:ext cx="5410048" cy="2576322"/>
          </a:xfrm>
          <a:prstGeom prst="roundRect">
            <a:avLst>
              <a:gd name="adj" fmla="val 3549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33008" y="2255139"/>
            <a:ext cx="5410048" cy="73152"/>
          </a:xfrm>
          <a:prstGeom prst="rect">
            <a:avLst/>
          </a:prstGeom>
          <a:solidFill>
            <a:srgbClr val="30914C"/>
          </a:solidFill>
          <a:ln/>
        </p:spPr>
      </p:sp>
      <p:sp>
        <p:nvSpPr>
          <p:cNvPr id="11" name="Shape 9"/>
          <p:cNvSpPr/>
          <p:nvPr/>
        </p:nvSpPr>
        <p:spPr>
          <a:xfrm>
            <a:off x="6461608" y="2529459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5FAE5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55968" y="2529459"/>
            <a:ext cx="44042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F3A"/>
                </a:solidFill>
              </a:rPr>
              <a:t>Clean Core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461608" y="3169539"/>
            <a:ext cx="4952848" cy="1524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Extensões fora do núcleo, em pontos oficiais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Acesso só por </a:t>
            </a:r>
            <a:r>
              <a:rPr lang="en-US" sz="1350" b="1" dirty="0">
                <a:solidFill>
                  <a:srgbClr val="1D2D3E"/>
                </a:solidFill>
              </a:rPr>
              <a:t>APIs liberadas</a:t>
            </a:r>
            <a:r>
              <a:rPr lang="en-US" sz="1350" dirty="0">
                <a:solidFill>
                  <a:srgbClr val="1D2D3E"/>
                </a:solidFill>
              </a:rPr>
              <a:t> e estáveis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Upgrades previsíveis e frequentes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D2D3E"/>
                </a:solidFill>
              </a:rPr>
              <a:t>Base pronta para nuvem, IA e novos processos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996053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207008" y="4996053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Níveis A–D  </a:t>
            </a:r>
            <a:r>
              <a:rPr lang="en-US" sz="1200" dirty="0">
                <a:solidFill>
                  <a:srgbClr val="1D2D3E"/>
                </a:solidFill>
              </a:rPr>
              <a:t>a SAP classifica extensões de </a:t>
            </a:r>
            <a:r>
              <a:rPr lang="en-US" sz="1200" b="1" dirty="0">
                <a:solidFill>
                  <a:srgbClr val="1D2D3E"/>
                </a:solidFill>
              </a:rPr>
              <a:t>A</a:t>
            </a:r>
            <a:r>
              <a:rPr lang="en-US" sz="1200" dirty="0">
                <a:solidFill>
                  <a:srgbClr val="1D2D3E"/>
                </a:solidFill>
              </a:rPr>
              <a:t> (APIs liberadas) a </a:t>
            </a:r>
            <a:r>
              <a:rPr lang="en-US" sz="1200" b="1" dirty="0">
                <a:solidFill>
                  <a:srgbClr val="1D2D3E"/>
                </a:solidFill>
              </a:rPr>
              <a:t>D</a:t>
            </a:r>
            <a:r>
              <a:rPr lang="en-US" sz="1200" dirty="0">
                <a:solidFill>
                  <a:srgbClr val="1D2D3E"/>
                </a:solidFill>
              </a:rPr>
              <a:t> (não recomendado). Detalhes na aula 05.05.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2192" y="2630043"/>
            <a:ext cx="256032" cy="256032"/>
          </a:xfrm>
          <a:prstGeom prst="rect">
            <a:avLst/>
          </a:prstGeom>
        </p:spPr>
      </p:pic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630043"/>
            <a:ext cx="256032" cy="256032"/>
          </a:xfrm>
          <a:prstGeom prst="rect">
            <a:avLst/>
          </a:prstGeom>
        </p:spPr>
      </p:pic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5124069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48640"/>
            <a:ext cx="731520" cy="731520"/>
          </a:xfrm>
          <a:prstGeom prst="roundRect">
            <a:avLst>
              <a:gd name="adj" fmla="val 20000"/>
            </a:avLst>
          </a:prstGeom>
          <a:solidFill>
            <a:srgbClr val="1B3A7A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731520" y="16002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AULA 05.01 · SEÇÃO 3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1965960"/>
            <a:ext cx="67665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A jornada para o S/4HANA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370332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EFFF"/>
                </a:solidFill>
              </a:rPr>
              <a:t>O caminho escolhido define quanto código legado vem junto e quanto trabalho de limpeza é necessário.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001000" y="1463040"/>
            <a:ext cx="3611880" cy="2221992"/>
          </a:xfrm>
          <a:prstGeom prst="roundRect">
            <a:avLst>
              <a:gd name="adj" fmla="val 4115"/>
            </a:avLst>
          </a:prstGeom>
          <a:solidFill>
            <a:srgbClr val="1B3A7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0" y="16459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9D1FF"/>
                </a:solidFill>
              </a:rPr>
              <a:t>NESTA SEÇÃO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8229600" y="2029968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conversion</a:t>
            </a:r>
            <a:r>
              <a:rPr lang="en-US" sz="1000" dirty="0">
                <a:solidFill>
                  <a:srgbClr val="D1EFFF"/>
                </a:solidFill>
              </a:rPr>
              <a:t>  brownfield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229600" y="2414016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implementation</a:t>
            </a:r>
            <a:r>
              <a:rPr lang="en-US" sz="1000" dirty="0">
                <a:solidFill>
                  <a:srgbClr val="D1EFFF"/>
                </a:solidFill>
              </a:rPr>
              <a:t>  greenfield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0" y="2798064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Landscape transformation</a:t>
            </a:r>
            <a:r>
              <a:rPr lang="en-US" sz="1000" dirty="0">
                <a:solidFill>
                  <a:srgbClr val="D1EFFF"/>
                </a:solidFill>
              </a:rPr>
              <a:t>  consolidação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0" y="3182112"/>
            <a:ext cx="3246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SCMON · SUSG</a:t>
            </a:r>
            <a:r>
              <a:rPr lang="en-US" sz="1000" dirty="0">
                <a:solidFill>
                  <a:srgbClr val="D1EFFF"/>
                </a:solidFill>
              </a:rPr>
              <a:t>  uso real</a:t>
            </a:r>
            <a:endParaRPr lang="en-US" sz="14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713232"/>
            <a:ext cx="402336" cy="40233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TRANSIÇÃO · TRÊS CAMINHOS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Conversão, nova implementação ou transformação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94415" cy="2542032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783080"/>
          <a:ext cx="10820095" cy="914400"/>
        </p:xfrm>
        <a:graphic>
          <a:graphicData uri="http://schemas.openxmlformats.org/drawingml/2006/table">
            <a:tbl>
              <a:tblPr/>
              <a:tblGrid>
                <a:gridCol w="3155861"/>
                <a:gridCol w="3832117"/>
                <a:gridCol w="3832117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Caminho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Ponto de partida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D2D3E"/>
                          </a:solidFill>
                        </a:rPr>
                        <a:t>Meta de Clean Core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D2D3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System conversion (brownfield)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O ERP atual vira o novo sistema, com o código Z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Limpar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o núcleo após a conversão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New implementation (greenfield)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Sistema novo, sem legado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2D3E"/>
                          </a:solidFill>
                        </a:rPr>
                        <a:t>Manter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 o núcleo limpo desde o início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Landscape transformation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Vários ERPs consolidados (</a:t>
                      </a:r>
                      <a:r>
                        <a:rPr lang="en-US" sz="1100" i="1" dirty="0">
                          <a:solidFill>
                            <a:srgbClr val="1D2D3E"/>
                          </a:solidFill>
                        </a:rPr>
                        <a:t>Selective Data Transition</a:t>
                      </a: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)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2D3E"/>
                          </a:solidFill>
                        </a:rPr>
                        <a:t>Limpar ao consolidar</a:t>
                      </a:r>
                      <a:endParaRPr lang="en-US" sz="1200" dirty="0"/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5E5E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37083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E1F4FF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207008" y="437083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64D9"/>
                </a:solidFill>
              </a:rPr>
              <a:t>Public Edition  </a:t>
            </a:r>
            <a:r>
              <a:rPr lang="en-US" sz="1200" dirty="0">
                <a:solidFill>
                  <a:srgbClr val="1D2D3E"/>
                </a:solidFill>
              </a:rPr>
              <a:t>só aceita nova implementação. Private Edition e on-premise aceitam os três caminhos. Na prática, metade dos clientes converte e metade reimplementa.</a:t>
            </a:r>
            <a:endParaRPr lang="en-US" sz="14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449884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41148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064D9"/>
                </a:solidFill>
              </a:rPr>
              <a:t>TRANSIÇÃO · CÓDIGO CUSTOMIZADO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73152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D2D3E"/>
                </a:solidFill>
              </a:rPr>
              <a:t>O que fazer com o código Z na conversão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60004" y="2564892"/>
            <a:ext cx="8471687" cy="0"/>
          </a:xfrm>
          <a:prstGeom prst="line">
            <a:avLst/>
          </a:prstGeom>
          <a:noFill/>
          <a:ln w="25400">
            <a:solidFill>
              <a:srgbClr val="0070F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512532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512532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1</a:t>
            </a:r>
            <a:endParaRPr lang="en-US" sz="2280" dirty="0"/>
          </a:p>
        </p:txBody>
      </p:sp>
      <p:sp>
        <p:nvSpPr>
          <p:cNvPr id="7" name="Shape 5"/>
          <p:cNvSpPr/>
          <p:nvPr/>
        </p:nvSpPr>
        <p:spPr>
          <a:xfrm>
            <a:off x="548640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31520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Medir o uso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SCMON</a:t>
            </a:r>
            <a:r>
              <a:rPr lang="en-US" sz="1150" dirty="0">
                <a:solidFill>
                  <a:srgbClr val="556B82"/>
                </a:solidFill>
              </a:rPr>
              <a:t> ou UPL </a:t>
            </a:r>
            <a:r>
              <a:rPr lang="en-US" sz="1150" b="1" dirty="0">
                <a:solidFill>
                  <a:srgbClr val="556B82"/>
                </a:solidFill>
              </a:rPr>
              <a:t>na produção</a:t>
            </a:r>
            <a:r>
              <a:rPr lang="en-US" sz="1150" dirty="0">
                <a:solidFill>
                  <a:srgbClr val="556B82"/>
                </a:solidFill>
              </a:rPr>
              <a:t>, por 6 a 18 meses, incluindo um fechamento anual. </a:t>
            </a:r>
            <a:r>
              <a:rPr lang="en-US" sz="1150" dirty="0">
                <a:solidFill>
                  <a:srgbClr val="0064D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SUSG</a:t>
            </a:r>
            <a:r>
              <a:rPr lang="en-US" sz="1150" dirty="0">
                <a:solidFill>
                  <a:srgbClr val="556B82"/>
                </a:solidFill>
              </a:rPr>
              <a:t> agrega os dados.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336428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36428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2</a:t>
            </a:r>
            <a:endParaRPr lang="en-US" sz="2280" dirty="0"/>
          </a:p>
        </p:txBody>
      </p:sp>
      <p:sp>
        <p:nvSpPr>
          <p:cNvPr id="11" name="Shape 9"/>
          <p:cNvSpPr/>
          <p:nvPr/>
        </p:nvSpPr>
        <p:spPr>
          <a:xfrm>
            <a:off x="3372536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3555416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Analisar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App </a:t>
            </a:r>
            <a:r>
              <a:rPr lang="en-US" sz="1150" b="1" dirty="0">
                <a:solidFill>
                  <a:srgbClr val="556B82"/>
                </a:solidFill>
              </a:rPr>
              <a:t>Custom Code Migration</a:t>
            </a:r>
            <a:r>
              <a:rPr lang="en-US" sz="1150" dirty="0">
                <a:solidFill>
                  <a:srgbClr val="556B82"/>
                </a:solidFill>
              </a:rPr>
              <a:t> ou ATC cruzam código e uso e mostram o que não é usado.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160324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160324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3</a:t>
            </a:r>
            <a:endParaRPr lang="en-US" sz="2280" dirty="0"/>
          </a:p>
        </p:txBody>
      </p:sp>
      <p:sp>
        <p:nvSpPr>
          <p:cNvPr id="15" name="Shape 13"/>
          <p:cNvSpPr/>
          <p:nvPr/>
        </p:nvSpPr>
        <p:spPr>
          <a:xfrm>
            <a:off x="6196432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379312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Guardar e remover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Backup (ex.: gCTS) e remoção do código não usado durante a conversão.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984219" y="2217420"/>
            <a:ext cx="694944" cy="694944"/>
          </a:xfrm>
          <a:prstGeom prst="ellipse">
            <a:avLst/>
          </a:prstGeom>
          <a:solidFill>
            <a:srgbClr val="0070F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984219" y="2217420"/>
            <a:ext cx="69494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80" b="1" dirty="0">
                <a:solidFill>
                  <a:srgbClr val="FFFFFF"/>
                </a:solidFill>
              </a:rPr>
              <a:t>4</a:t>
            </a:r>
            <a:endParaRPr lang="en-US" sz="2280" dirty="0"/>
          </a:p>
        </p:txBody>
      </p:sp>
      <p:sp>
        <p:nvSpPr>
          <p:cNvPr id="19" name="Shape 17"/>
          <p:cNvSpPr/>
          <p:nvPr/>
        </p:nvSpPr>
        <p:spPr>
          <a:xfrm>
            <a:off x="9020327" y="3086100"/>
            <a:ext cx="2622728" cy="1764792"/>
          </a:xfrm>
          <a:prstGeom prst="roundRect">
            <a:avLst>
              <a:gd name="adj" fmla="val 5181"/>
            </a:avLst>
          </a:prstGeom>
          <a:solidFill>
            <a:srgbClr val="FFFFFF"/>
          </a:solidFill>
          <a:ln w="9525">
            <a:solidFill>
              <a:srgbClr val="E5E5E5"/>
            </a:solidFill>
            <a:prstDash val="solid"/>
          </a:ln>
          <a:effectLst>
            <a:outerShdw sx="100000" sy="100000" kx="0" ky="0" algn="bl" rotWithShape="0" blurRad="63500" dist="12700" dir="5400000">
              <a:srgbClr val="1D2D3E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203207" y="3268980"/>
            <a:ext cx="1845488" cy="1444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D2D3E"/>
                </a:solidFill>
              </a:rPr>
              <a:t>Adaptar</a:t>
            </a:r>
            <a:endParaRPr lang="en-US" sz="1400" dirty="0"/>
          </a:p>
          <a:p>
            <a:pPr indent="0" marL="0">
              <a:buNone/>
            </a:pPr>
            <a:r>
              <a:rPr lang="en-US" sz="1150" dirty="0">
                <a:solidFill>
                  <a:srgbClr val="556B82"/>
                </a:solidFill>
              </a:rPr>
              <a:t>Quick fixes do ATC para o automático; SAP Notes do </a:t>
            </a:r>
            <a:r>
              <a:rPr lang="en-US" sz="1150" i="1" dirty="0">
                <a:solidFill>
                  <a:srgbClr val="556B82"/>
                </a:solidFill>
              </a:rPr>
              <a:t>Readiness Check</a:t>
            </a:r>
            <a:r>
              <a:rPr lang="en-US" sz="1150" dirty="0">
                <a:solidFill>
                  <a:srgbClr val="556B82"/>
                </a:solidFill>
              </a:rPr>
              <a:t> para o manual.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0337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FFF8D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1207008" y="5033772"/>
            <a:ext cx="102257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44F00"/>
                </a:solidFill>
              </a:rPr>
              <a:t>Evite lift and shift  </a:t>
            </a:r>
            <a:r>
              <a:rPr lang="en-US" sz="1200" dirty="0">
                <a:solidFill>
                  <a:srgbClr val="1D2D3E"/>
                </a:solidFill>
              </a:rPr>
              <a:t>levar todo o código para um sistema novo sem limpar encarece a migração e mantém a dívida técnica.</a:t>
            </a:r>
            <a:endParaRPr lang="en-US" sz="1400" dirty="0"/>
          </a:p>
        </p:txBody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2728" y="3241548"/>
            <a:ext cx="329184" cy="329184"/>
          </a:xfrm>
          <a:prstGeom prst="rect">
            <a:avLst/>
          </a:prstGeom>
        </p:spPr>
      </p:pic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624" y="3241548"/>
            <a:ext cx="329184" cy="329184"/>
          </a:xfrm>
          <a:prstGeom prst="rect">
            <a:avLst/>
          </a:prstGeom>
        </p:spPr>
      </p:pic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0519" y="3241548"/>
            <a:ext cx="329184" cy="329184"/>
          </a:xfrm>
          <a:prstGeom prst="rect">
            <a:avLst/>
          </a:prstGeom>
        </p:spPr>
      </p:pic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4415" y="3241548"/>
            <a:ext cx="329184" cy="329184"/>
          </a:xfrm>
          <a:prstGeom prst="rect">
            <a:avLst/>
          </a:prstGeom>
        </p:spPr>
      </p:pic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5161788"/>
            <a:ext cx="310896" cy="310896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73952"/>
            <a:ext cx="54864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900">
                <a:solidFill>
                  <a:srgbClr val="556B8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89D1FF"/>
                </a:solidFill>
              </a:rPr>
              <a:t>RESUMO DA AULA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86868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O que aprendemos na aula 05.01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73152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135331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Extensões existem porque cada empresa precisa ajustar o </a:t>
            </a:r>
            <a:r>
              <a:rPr lang="en-US" sz="1400" b="1" dirty="0">
                <a:solidFill>
                  <a:srgbClr val="FFFFFF"/>
                </a:solidFill>
              </a:rPr>
              <a:t>escopo</a:t>
            </a:r>
            <a:r>
              <a:rPr lang="en-US" sz="1400" dirty="0">
                <a:solidFill>
                  <a:srgbClr val="FFFFFF"/>
                </a:solidFill>
              </a:rPr>
              <a:t> entregue pela SAP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63640" y="187452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85432" y="181965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Exits e modificações do ERP clássico geraram </a:t>
            </a:r>
            <a:r>
              <a:rPr lang="en-US" sz="1400" b="1" dirty="0">
                <a:solidFill>
                  <a:srgbClr val="FFFFFF"/>
                </a:solidFill>
              </a:rPr>
              <a:t>dívida técnica</a:t>
            </a:r>
            <a:r>
              <a:rPr lang="en-US" sz="1400" dirty="0">
                <a:solidFill>
                  <a:srgbClr val="FFFFFF"/>
                </a:solidFill>
              </a:rPr>
              <a:t> e upgrades caros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35331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Clean Core</a:t>
            </a:r>
            <a:r>
              <a:rPr lang="en-US" sz="1400" dirty="0">
                <a:solidFill>
                  <a:srgbClr val="FFFFFF"/>
                </a:solidFill>
              </a:rPr>
              <a:t>: núcleo intocado, extensões separadas e só </a:t>
            </a:r>
            <a:r>
              <a:rPr lang="en-US" sz="1400" b="1" dirty="0">
                <a:solidFill>
                  <a:srgbClr val="FFFFFF"/>
                </a:solidFill>
              </a:rPr>
              <a:t>APIs liberadas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283464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85432" y="277977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Conversão, nova implementação e transformação de landscape levam ao S/4HANA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35331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Na conversão, </a:t>
            </a:r>
            <a:r>
              <a:rPr lang="en-US" sz="1400" b="1" dirty="0">
                <a:solidFill>
                  <a:srgbClr val="FFFFFF"/>
                </a:solidFill>
              </a:rPr>
              <a:t>medir uso</a:t>
            </a:r>
            <a:r>
              <a:rPr lang="en-US" sz="1400" dirty="0">
                <a:solidFill>
                  <a:srgbClr val="FFFFFF"/>
                </a:solidFill>
              </a:rPr>
              <a:t> (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SCMON</a:t>
            </a:r>
            <a:r>
              <a:rPr lang="en-US" sz="1400" dirty="0">
                <a:solidFill>
                  <a:srgbClr val="FFFFFF"/>
                </a:solidFill>
              </a:rPr>
              <a:t>/</a:t>
            </a:r>
            <a:r>
              <a:rPr lang="en-US" sz="1400" dirty="0">
                <a:solidFill>
                  <a:srgbClr val="89D1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SUSG</a:t>
            </a:r>
            <a:r>
              <a:rPr lang="en-US" sz="1400" dirty="0">
                <a:solidFill>
                  <a:srgbClr val="FFFFFF"/>
                </a:solidFill>
              </a:rPr>
              <a:t>), remover o não usado e adaptar o resto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3794760"/>
            <a:ext cx="438912" cy="438912"/>
          </a:xfrm>
          <a:prstGeom prst="roundRect">
            <a:avLst>
              <a:gd name="adj" fmla="val 20833"/>
            </a:avLst>
          </a:prstGeom>
          <a:solidFill>
            <a:srgbClr val="0070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85432" y="3739896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Modificações tendem a ser eliminadas ou redesenhadas como extensões oficiais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10698480" cy="749808"/>
          </a:xfrm>
          <a:prstGeom prst="roundRect">
            <a:avLst>
              <a:gd name="adj" fmla="val 12195"/>
            </a:avLst>
          </a:prstGeom>
          <a:solidFill>
            <a:srgbClr val="1B3A7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508760" y="534924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9D1FF"/>
                </a:solidFill>
              </a:rPr>
              <a:t>Próxima aula · 05.02  </a:t>
            </a:r>
            <a:r>
              <a:rPr lang="en-US" sz="1500" dirty="0">
                <a:solidFill>
                  <a:srgbClr val="FFFFFF"/>
                </a:solidFill>
              </a:rPr>
              <a:t>UX de consumidor: Princípios Fiori, launchpad e SAP Build.</a:t>
            </a:r>
            <a:endParaRPr lang="en-US" sz="15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965960"/>
            <a:ext cx="256032" cy="25603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256032" cy="256032"/>
          </a:xfrm>
          <a:prstGeom prst="rect">
            <a:avLst/>
          </a:prstGeom>
        </p:spPr>
      </p:pic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26080"/>
            <a:ext cx="256032" cy="256032"/>
          </a:xfrm>
          <a:prstGeom prst="rect">
            <a:avLst/>
          </a:prstGeom>
        </p:spPr>
      </p:pic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926080"/>
            <a:ext cx="256032" cy="256032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3886200"/>
            <a:ext cx="256032" cy="256032"/>
          </a:xfrm>
          <a:prstGeom prst="rect">
            <a:avLst/>
          </a:prstGeom>
        </p:spPr>
      </p:pic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886200"/>
            <a:ext cx="256032" cy="256032"/>
          </a:xfrm>
          <a:prstGeom prst="rect">
            <a:avLst/>
          </a:prstGeom>
        </p:spPr>
      </p:pic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" y="5541264"/>
            <a:ext cx="365760" cy="365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ABAP Moderno">
  <a:themeElements>
    <a:clrScheme name="ABAP Moderno">
      <a:dk1>
        <a:srgbClr val="1D2D3E"/>
      </a:dk1>
      <a:lt1>
        <a:srgbClr val="FFFFFF"/>
      </a:lt1>
      <a:dk2>
        <a:srgbClr val="556B82"/>
      </a:dk2>
      <a:lt2>
        <a:srgbClr val="F5F6F7"/>
      </a:lt2>
      <a:accent1>
        <a:srgbClr val="0070F2"/>
      </a:accent1>
      <a:accent2>
        <a:srgbClr val="30914C"/>
      </a:accent2>
      <a:accent3>
        <a:srgbClr val="E76500"/>
      </a:accent3>
      <a:accent4>
        <a:srgbClr val="D20A0A"/>
      </a:accent4>
      <a:accent5>
        <a:srgbClr val="1B3A7A"/>
      </a:accent5>
      <a:accent6>
        <a:srgbClr val="89D1FF"/>
      </a:accent6>
      <a:hlink>
        <a:srgbClr val="0064D9"/>
      </a:hlink>
      <a:folHlink>
        <a:srgbClr val="1B3A7A"/>
      </a:folHlink>
    </a:clrScheme>
    <a:fontScheme name="ABAP Modern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05.01 SAP S/4HANA Cloud, extensões e Clean Core</dc:title>
  <dc:subject>ABAP Moderno – Módulo 05: Extensibilidade Clean Core</dc:subject>
  <dc:creator>Adriano Bispo</dc:creator>
  <cp:lastModifiedBy>Adriano Bispo</cp:lastModifiedBy>
  <cp:revision>1</cp:revision>
  <dcterms:created xsi:type="dcterms:W3CDTF">2026-10-29T01:24:53Z</dcterms:created>
  <dcterms:modified xsi:type="dcterms:W3CDTF">2026-10-29T01:24:53Z</dcterms:modified>
</cp:coreProperties>
</file>