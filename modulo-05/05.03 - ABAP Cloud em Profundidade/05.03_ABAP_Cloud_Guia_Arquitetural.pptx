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Title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D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05  ·  05.03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ontent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0070F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Moderno  ·  Módulo 05  ·  05.03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losing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05  ·  05.03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DB1FF"/>
                </a:solidFill>
              </a:rPr>
              <a:t>Módulo 05  ·  05.03</a:t>
            </a: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Desmistificando o ABAP Cloud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Um guia arquitetural para o desenvolvedor S/4HANA moderno.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15400" y="16002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33302B"/>
          </a:solidFill>
          <a:ln w="9525">
            <a:solidFill>
              <a:srgbClr val="6B5E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160020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Clássico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21671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B1FF"/>
                </a:solidFill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915400" y="2350008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235000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Language Version 5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15400" y="309981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0" y="309981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Released Objects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3849624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0" y="384962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Padrão Wrapper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5400" y="459943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459943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Clean Core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737360"/>
            <a:ext cx="292608" cy="292608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487168"/>
            <a:ext cx="292608" cy="292608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236976"/>
            <a:ext cx="292608" cy="292608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3986784"/>
            <a:ext cx="292608" cy="292608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47365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“ABAP Cloud”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Não é um Produto. É um Modelo de Desenvolvimento.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81328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A0808"/>
                </a:solidFill>
              </a:rPr>
              <a:t>Mito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48156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D3E"/>
                </a:solidFill>
              </a:rPr>
              <a:t>É um produto que eu compro.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D3E"/>
                </a:solidFill>
              </a:rPr>
              <a:t>É apenas para o S/4HANA Public Cloud ou a BTP.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32918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53048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211416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F3A"/>
                </a:solidFill>
              </a:rPr>
              <a:t>Fato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60320"/>
            <a:ext cx="48156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D3E"/>
                </a:solidFill>
              </a:rPr>
              <a:t>É um </a:t>
            </a:r>
            <a:r>
              <a:rPr lang="en-US" sz="1700" b="1" dirty="0">
                <a:solidFill>
                  <a:srgbClr val="1D2D3E"/>
                </a:solidFill>
              </a:rPr>
              <a:t>Modelo de Desenvolvimento</a:t>
            </a:r>
            <a:r>
              <a:rPr lang="en-US" sz="1700" dirty="0">
                <a:solidFill>
                  <a:srgbClr val="1D2D3E"/>
                </a:solidFill>
              </a:rPr>
              <a:t> para criar extensões ‘Clean Core’.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D3E"/>
                </a:solidFill>
              </a:rPr>
              <a:t>É um conjunto de regras, restrições e boas práticas.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D2D3E"/>
                </a:solidFill>
              </a:rPr>
              <a:t>Aplica-se em </a:t>
            </a:r>
            <a:r>
              <a:rPr lang="en-US" sz="1700" b="1" dirty="0">
                <a:solidFill>
                  <a:srgbClr val="1D2D3E"/>
                </a:solidFill>
              </a:rPr>
              <a:t>Public Cloud</a:t>
            </a:r>
            <a:r>
              <a:rPr lang="en-US" sz="1700" dirty="0">
                <a:solidFill>
                  <a:srgbClr val="1D2D3E"/>
                </a:solidFill>
              </a:rPr>
              <a:t>, </a:t>
            </a:r>
            <a:r>
              <a:rPr lang="en-US" sz="1700" b="1" dirty="0">
                <a:solidFill>
                  <a:srgbClr val="1D2D3E"/>
                </a:solidFill>
              </a:rPr>
              <a:t>Private Cloud</a:t>
            </a:r>
            <a:r>
              <a:rPr lang="en-US" sz="1700" dirty="0">
                <a:solidFill>
                  <a:srgbClr val="1D2D3E"/>
                </a:solidFill>
              </a:rPr>
              <a:t> e </a:t>
            </a:r>
            <a:r>
              <a:rPr lang="en-US" sz="1700" b="1" dirty="0">
                <a:solidFill>
                  <a:srgbClr val="1D2D3E"/>
                </a:solidFill>
              </a:rPr>
              <a:t>On-Premise</a:t>
            </a:r>
            <a:r>
              <a:rPr lang="en-US" sz="1700" dirty="0">
                <a:solidFill>
                  <a:srgbClr val="1D2D3E"/>
                </a:solidFill>
              </a:rPr>
              <a:t> (a partir do 2022).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BF8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80160" y="5166360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O objetivo:</a:t>
            </a:r>
            <a:r>
              <a:rPr lang="en-US" sz="1600" dirty="0">
                <a:solidFill>
                  <a:srgbClr val="1D2D3E"/>
                </a:solidFill>
              </a:rPr>
              <a:t> escrever código que é </a:t>
            </a:r>
            <a:r>
              <a:rPr lang="en-US" sz="1600" b="1" dirty="0">
                <a:solidFill>
                  <a:srgbClr val="1D2D3E"/>
                </a:solidFill>
              </a:rPr>
              <a:t>Upgrade-Safe</a:t>
            </a:r>
            <a:r>
              <a:rPr lang="en-US" sz="1600" dirty="0">
                <a:solidFill>
                  <a:srgbClr val="1D2D3E"/>
                </a:solidFill>
              </a:rPr>
              <a:t> e </a:t>
            </a:r>
            <a:r>
              <a:rPr lang="en-US" sz="1600" b="1" dirty="0">
                <a:solidFill>
                  <a:srgbClr val="1D2D3E"/>
                </a:solidFill>
              </a:rPr>
              <a:t>Cloud-Ready</a:t>
            </a:r>
            <a:r>
              <a:rPr lang="en-US" sz="1600" dirty="0">
                <a:solidFill>
                  <a:srgbClr val="1D2D3E"/>
                </a:solidFill>
              </a:rPr>
              <a:t>, mesmo que seu servidor esteja hoje no seu data center.</a:t>
            </a:r>
            <a:endParaRPr lang="en-US" sz="16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855" y="1979127"/>
            <a:ext cx="266273" cy="266273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943" y="1979127"/>
            <a:ext cx="266273" cy="266273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42696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Objetivo Estratégico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Fim da Dívida Técnica com o ‘Clean Core’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43484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78728" y="1600200"/>
            <a:ext cx="5364328" cy="443484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723699" y="3391755"/>
            <a:ext cx="627321" cy="127164"/>
          </a:xfrm>
          <a:prstGeom prst="line">
            <a:avLst/>
          </a:prstGeom>
          <a:noFill/>
          <a:ln w="25400">
            <a:solidFill>
              <a:srgbClr val="8396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631536" y="3595719"/>
            <a:ext cx="655743" cy="497257"/>
          </a:xfrm>
          <a:prstGeom prst="line">
            <a:avLst/>
          </a:prstGeom>
          <a:noFill/>
          <a:ln w="25400">
            <a:solidFill>
              <a:srgbClr val="D20A0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60002" y="3739497"/>
            <a:ext cx="458397" cy="895313"/>
          </a:xfrm>
          <a:prstGeom prst="line">
            <a:avLst/>
          </a:prstGeom>
          <a:noFill/>
          <a:ln w="25400">
            <a:solidFill>
              <a:srgbClr val="8396A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43074" y="3794610"/>
            <a:ext cx="15616" cy="639889"/>
          </a:xfrm>
          <a:prstGeom prst="line">
            <a:avLst/>
          </a:prstGeom>
          <a:noFill/>
          <a:ln w="25400">
            <a:solidFill>
              <a:srgbClr val="D20A0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>
            <a:off x="2684841" y="3750144"/>
            <a:ext cx="338873" cy="749952"/>
          </a:xfrm>
          <a:prstGeom prst="line">
            <a:avLst/>
          </a:prstGeom>
          <a:noFill/>
          <a:ln w="25400">
            <a:solidFill>
              <a:srgbClr val="8396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H="1">
            <a:off x="2074509" y="3614905"/>
            <a:ext cx="770863" cy="646130"/>
          </a:xfrm>
          <a:prstGeom prst="line">
            <a:avLst/>
          </a:prstGeom>
          <a:noFill/>
          <a:ln w="25400">
            <a:solidFill>
              <a:srgbClr val="D20A0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2122998" y="3415679"/>
            <a:ext cx="620371" cy="157613"/>
          </a:xfrm>
          <a:prstGeom prst="line">
            <a:avLst/>
          </a:prstGeom>
          <a:noFill/>
          <a:ln w="25400">
            <a:solidFill>
              <a:srgbClr val="8396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 flipV="1">
            <a:off x="1931353" y="3028428"/>
            <a:ext cx="806556" cy="163497"/>
          </a:xfrm>
          <a:prstGeom prst="line">
            <a:avLst/>
          </a:prstGeom>
          <a:noFill/>
          <a:ln w="25400">
            <a:solidFill>
              <a:srgbClr val="D20A0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H="1" flipV="1">
            <a:off x="2028609" y="2380202"/>
            <a:ext cx="801463" cy="607759"/>
          </a:xfrm>
          <a:prstGeom prst="line">
            <a:avLst/>
          </a:prstGeom>
          <a:noFill/>
          <a:ln w="25400">
            <a:solidFill>
              <a:srgbClr val="8396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 flipV="1">
            <a:off x="2709898" y="2274438"/>
            <a:ext cx="291707" cy="569745"/>
          </a:xfrm>
          <a:prstGeom prst="line">
            <a:avLst/>
          </a:prstGeom>
          <a:noFill/>
          <a:ln w="25400">
            <a:solidFill>
              <a:srgbClr val="D20A0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 flipV="1">
            <a:off x="3198456" y="1966355"/>
            <a:ext cx="20078" cy="822715"/>
          </a:xfrm>
          <a:prstGeom prst="line">
            <a:avLst/>
          </a:prstGeom>
          <a:noFill/>
          <a:ln w="25400">
            <a:solidFill>
              <a:srgbClr val="8396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3437893" y="1916928"/>
            <a:ext cx="414178" cy="916608"/>
          </a:xfrm>
          <a:prstGeom prst="line">
            <a:avLst/>
          </a:prstGeom>
          <a:noFill/>
          <a:ln w="25400">
            <a:solidFill>
              <a:srgbClr val="D20A0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616235" y="2557601"/>
            <a:ext cx="490549" cy="411174"/>
          </a:xfrm>
          <a:prstGeom prst="line">
            <a:avLst/>
          </a:prstGeom>
          <a:noFill/>
          <a:ln w="25400">
            <a:solidFill>
              <a:srgbClr val="8396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V="1">
            <a:off x="3718238" y="2965355"/>
            <a:ext cx="797620" cy="202646"/>
          </a:xfrm>
          <a:prstGeom prst="line">
            <a:avLst/>
          </a:prstGeom>
          <a:noFill/>
          <a:ln w="25400">
            <a:solidFill>
              <a:srgbClr val="D20A0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362124" y="2423160"/>
            <a:ext cx="1737360" cy="1737360"/>
          </a:xfrm>
          <a:prstGeom prst="ellipse">
            <a:avLst/>
          </a:prstGeom>
          <a:solidFill>
            <a:srgbClr val="6A7B8C"/>
          </a:solidFill>
          <a:ln w="25400">
            <a:solidFill>
              <a:srgbClr val="D20A0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2407844" y="242316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Core SAP modificado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029200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D2D3E"/>
                </a:solidFill>
              </a:rPr>
              <a:t>Cenário </a:t>
            </a:r>
            <a:r>
              <a:rPr lang="en-US" sz="2000" b="1" dirty="0">
                <a:solidFill>
                  <a:srgbClr val="1D2D3E"/>
                </a:solidFill>
              </a:rPr>
              <a:t>Legado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AA0808"/>
                </a:solidFill>
              </a:rPr>
              <a:t>Frágil, alto custo de upgrade, risco elevado.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 flipH="1" flipV="1">
            <a:off x="7543571" y="2331720"/>
            <a:ext cx="850392" cy="39319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>
            <a:off x="6583451" y="2331720"/>
            <a:ext cx="96012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291" y="198424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Custom Code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V="1">
            <a:off x="9527819" y="2331720"/>
            <a:ext cx="850392" cy="39319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78211" y="2331720"/>
            <a:ext cx="96012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86771" y="198424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Custom Code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flipH="1">
            <a:off x="7543571" y="3858768"/>
            <a:ext cx="850392" cy="39319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6583451" y="4251960"/>
            <a:ext cx="96012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6291" y="4297680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Custom Code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527819" y="3858768"/>
            <a:ext cx="850392" cy="39319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78211" y="4251960"/>
            <a:ext cx="96012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286771" y="4297680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Custom Code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092211" y="2423160"/>
            <a:ext cx="1737360" cy="1737360"/>
          </a:xfrm>
          <a:prstGeom prst="ellipse">
            <a:avLst/>
          </a:prstGeom>
          <a:solidFill>
            <a:srgbClr val="1D2D3E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84235" y="2615184"/>
            <a:ext cx="219456" cy="219456"/>
          </a:xfrm>
          <a:prstGeom prst="ellipse">
            <a:avLst/>
          </a:prstGeom>
          <a:solidFill>
            <a:srgbClr val="4DB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418091" y="2615184"/>
            <a:ext cx="219456" cy="219456"/>
          </a:xfrm>
          <a:prstGeom prst="ellipse">
            <a:avLst/>
          </a:prstGeom>
          <a:solidFill>
            <a:srgbClr val="4DB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84235" y="3749040"/>
            <a:ext cx="219456" cy="219456"/>
          </a:xfrm>
          <a:prstGeom prst="ellipse">
            <a:avLst/>
          </a:prstGeom>
          <a:solidFill>
            <a:srgbClr val="4DB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418091" y="3749040"/>
            <a:ext cx="219456" cy="219456"/>
          </a:xfrm>
          <a:prstGeom prst="ellipse">
            <a:avLst/>
          </a:prstGeom>
          <a:solidFill>
            <a:srgbClr val="4DB1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37931" y="30175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Clean Core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6461608" y="5029200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D2D3E"/>
                </a:solidFill>
              </a:rPr>
              <a:t>Cenário </a:t>
            </a:r>
            <a:r>
              <a:rPr lang="en-US" sz="2000" b="1" dirty="0">
                <a:solidFill>
                  <a:srgbClr val="1D2D3E"/>
                </a:solidFill>
              </a:rPr>
              <a:t>Clean Core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56F3A"/>
                </a:solidFill>
              </a:rPr>
              <a:t>Robusto, Upgrade-Safe, Cloud-Ready.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Pilar 1 · Language Version 5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Compilador como Guardião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D2D3E"/>
                </a:solidFill>
              </a:rPr>
              <a:t>Para programar neste modelo, a propriedade </a:t>
            </a:r>
            <a:r>
              <a:rPr lang="en-US" sz="1800" b="1" dirty="0">
                <a:solidFill>
                  <a:srgbClr val="1D2D3E"/>
                </a:solidFill>
              </a:rPr>
              <a:t>ABAP Language Version</a:t>
            </a:r>
            <a:r>
              <a:rPr lang="en-US" sz="1800" dirty="0">
                <a:solidFill>
                  <a:srgbClr val="1D2D3E"/>
                </a:solidFill>
              </a:rPr>
              <a:t> do seu objeto deve ser definida como </a:t>
            </a:r>
            <a:r>
              <a:rPr lang="en-US" sz="1800" b="1" dirty="0">
                <a:solidFill>
                  <a:srgbClr val="1D2D3E"/>
                </a:solidFill>
              </a:rPr>
              <a:t>ABAP for Cloud Development (5)</a:t>
            </a:r>
            <a:r>
              <a:rPr lang="en-US" sz="1800" dirty="0">
                <a:solidFill>
                  <a:srgbClr val="1D2D3E"/>
                </a:solidFill>
              </a:rPr>
              <a:t>.</a:t>
            </a:r>
            <a:endParaRPr lang="en-US" sz="1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D2D3E"/>
                </a:solidFill>
              </a:rPr>
              <a:t>Isso instrui o compilador a ativar o </a:t>
            </a:r>
            <a:r>
              <a:rPr lang="en-US" sz="1800" b="1" dirty="0">
                <a:solidFill>
                  <a:srgbClr val="1D2D3E"/>
                </a:solidFill>
              </a:rPr>
              <a:t>Strict Mode</a:t>
            </a:r>
            <a:r>
              <a:rPr lang="en-US" sz="1800" dirty="0">
                <a:solidFill>
                  <a:srgbClr val="1D2D3E"/>
                </a:solidFill>
              </a:rPr>
              <a:t> (Modo Estrito), agindo como um “porteiro” que bloqueia comandos que violam os princípios da nuvem.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26480" y="1600200"/>
            <a:ext cx="4693615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35624" y="1609344"/>
            <a:ext cx="4675327" cy="320040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7" name="Shape 5"/>
          <p:cNvSpPr/>
          <p:nvPr/>
        </p:nvSpPr>
        <p:spPr>
          <a:xfrm>
            <a:off x="6263640" y="1700784"/>
            <a:ext cx="118872" cy="11887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6"/>
          <p:cNvSpPr/>
          <p:nvPr/>
        </p:nvSpPr>
        <p:spPr>
          <a:xfrm>
            <a:off x="6446520" y="1700784"/>
            <a:ext cx="118872" cy="118872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1700784"/>
            <a:ext cx="118872" cy="11887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609344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Eclipse ADT  ·  Properties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Name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ZCL_SALES_HELPER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4871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Description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487168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Helper de vendas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87121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Package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871216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ZSALES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2552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Original Language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255264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602736"/>
            <a:ext cx="4510735" cy="347472"/>
          </a:xfrm>
          <a:prstGeom prst="roundRect">
            <a:avLst>
              <a:gd name="adj" fmla="val 15789"/>
            </a:avLst>
          </a:prstGeom>
          <a:solidFill>
            <a:srgbClr val="EBF8FF"/>
          </a:solidFill>
          <a:ln w="19050">
            <a:solidFill>
              <a:srgbClr val="0070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ABAP Language Version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639312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for Cloud Development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949440" y="3977640"/>
            <a:ext cx="0" cy="59436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9440" y="4572000"/>
            <a:ext cx="118872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275320" y="4114800"/>
            <a:ext cx="2361895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412480" y="4224528"/>
            <a:ext cx="21332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</a:rPr>
              <a:t>Standard ABAP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626864"/>
            <a:ext cx="21332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</a:rPr>
              <a:t>ABAP for Key Users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321040" y="5029200"/>
            <a:ext cx="2270455" cy="34747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12480" y="5029200"/>
            <a:ext cx="21332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ABAP for Cloud Development</a:t>
            </a:r>
            <a:endParaRPr lang="en-US" sz="10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1535" y="169164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Adeus ao Legado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Comandos Banidos para um Futuro Seguro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443484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Telas Clássicas (Dynpro/Web Dynpro)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A0808"/>
                </a:solidFill>
              </a:rPr>
              <a:t>Proibido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SCREEN</a:t>
            </a:r>
            <a:r>
              <a:rPr lang="en-US" sz="1400" dirty="0">
                <a:solidFill>
                  <a:srgbClr val="1D2D3E"/>
                </a:solidFill>
              </a:rPr>
              <a:t>, </a:t>
            </a:r>
            <a:r>
              <a:rPr lang="en-US" sz="1400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r>
              <a:rPr lang="en-US" sz="1400" dirty="0">
                <a:solidFill>
                  <a:srgbClr val="1D2D3E"/>
                </a:solidFill>
              </a:rPr>
              <a:t> etc.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4348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Motivo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0916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Desacoplamento total entre backend e frontend. A única interface permitida é via protocolos web (HTTP/OData) para o Fiori.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38218" y="1600200"/>
            <a:ext cx="3515258" cy="443484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2538" y="187452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12538" y="274320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Acesso ao Sistema Operacional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5204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A0808"/>
                </a:solidFill>
              </a:rPr>
              <a:t>Proibido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12538" y="379476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DATASET</a:t>
            </a:r>
            <a:r>
              <a:rPr lang="en-US" sz="1400" dirty="0">
                <a:solidFill>
                  <a:srgbClr val="1D2D3E"/>
                </a:solidFill>
              </a:rPr>
              <a:t>, </a:t>
            </a:r>
            <a:r>
              <a:rPr lang="en-US" sz="1400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'SYSTEM'</a:t>
            </a:r>
            <a:r>
              <a:rPr lang="en-US" sz="14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2538" y="44348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Motivo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12538" y="470916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Falha de segurança crítica em um ambiente multitenant. Impede o acesso ao sistema de arquivos do servidor.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27797" y="1600200"/>
            <a:ext cx="3515258" cy="443484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02117" y="187452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02117" y="274320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Acesso Direto a Tabelas SAP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402117" y="35204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A0808"/>
                </a:solidFill>
              </a:rPr>
              <a:t>Proibido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402117" y="379476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400" dirty="0">
                <a:solidFill>
                  <a:srgbClr val="1D2D3E"/>
                </a:solidFill>
              </a:rPr>
              <a:t> em tabelas como </a:t>
            </a:r>
            <a:r>
              <a:rPr lang="en-US" sz="1400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MARA</a:t>
            </a:r>
            <a:r>
              <a:rPr lang="en-US" sz="1400" dirty="0">
                <a:solidFill>
                  <a:srgbClr val="1D2D3E"/>
                </a:solidFill>
              </a:rPr>
              <a:t>, </a:t>
            </a:r>
            <a:r>
              <a:rPr lang="en-US" sz="1400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VBAK</a:t>
            </a:r>
            <a:r>
              <a:rPr lang="en-US" sz="1400" dirty="0">
                <a:solidFill>
                  <a:srgbClr val="1D2D3E"/>
                </a:solidFill>
              </a:rPr>
              <a:t>, </a:t>
            </a:r>
            <a:r>
              <a:rPr lang="en-US" sz="1400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T001</a:t>
            </a:r>
            <a:r>
              <a:rPr lang="en-US" sz="14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402117" y="44348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Motivo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402117" y="470916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Previne que o código quebre se a SAP mudar a estrutura interna do banco de dados em um futuro upgrade.</a:t>
            </a:r>
            <a:endParaRPr lang="en-US" sz="14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050085"/>
            <a:ext cx="380390" cy="380390"/>
          </a:xfrm>
          <a:prstGeom prst="rect">
            <a:avLst/>
          </a:prstGeom>
        </p:spPr>
      </p:pic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03" y="2050085"/>
            <a:ext cx="380390" cy="380390"/>
          </a:xfrm>
          <a:prstGeom prst="rect">
            <a:avLst/>
          </a:prstGeom>
        </p:spPr>
      </p:pic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682" y="2050085"/>
            <a:ext cx="380390" cy="3803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Pilar 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“Lista Branca” da SAP (Released Objects)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760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2D3E"/>
                </a:solidFill>
              </a:rPr>
              <a:t>No paradigma Clean Core, o acesso ao código da SAP deixa de ser uma “porta aberta” e passa a ser controlado por uma </a:t>
            </a:r>
            <a:r>
              <a:rPr lang="en-US" sz="1800" b="1" dirty="0">
                <a:solidFill>
                  <a:srgbClr val="1D2D3E"/>
                </a:solidFill>
              </a:rPr>
              <a:t>Whitelist</a:t>
            </a:r>
            <a:r>
              <a:rPr lang="en-US" sz="1800" dirty="0">
                <a:solidFill>
                  <a:srgbClr val="1D2D3E"/>
                </a:solidFill>
              </a:rPr>
              <a:t>. Você só pode utilizar objetos que a SAP garantiu contratualmente que são estáveis e não mudarão em futuros upgrades. Estes são os </a:t>
            </a:r>
            <a:r>
              <a:rPr lang="en-US" sz="1800" b="1" dirty="0">
                <a:solidFill>
                  <a:srgbClr val="1D2D3E"/>
                </a:solidFill>
              </a:rPr>
              <a:t>Released Objects</a:t>
            </a:r>
            <a:r>
              <a:rPr lang="en-US" sz="1800" dirty="0">
                <a:solidFill>
                  <a:srgbClr val="1D2D3E"/>
                </a:solidFill>
              </a:rPr>
              <a:t> (Objetos Liberados).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269480" y="1737360"/>
            <a:ext cx="274320" cy="274320"/>
          </a:xfrm>
          <a:prstGeom prst="ellipse">
            <a:avLst/>
          </a:prstGeom>
          <a:solidFill>
            <a:srgbClr val="A9B4BE"/>
          </a:solidFill>
          <a:ln/>
        </p:spPr>
      </p:sp>
      <p:sp>
        <p:nvSpPr>
          <p:cNvPr id="6" name="Shape 4"/>
          <p:cNvSpPr/>
          <p:nvPr/>
        </p:nvSpPr>
        <p:spPr>
          <a:xfrm rot="1380000">
            <a:off x="7671816" y="1783080"/>
            <a:ext cx="274320" cy="274320"/>
          </a:xfrm>
          <a:prstGeom prst="rect">
            <a:avLst/>
          </a:prstGeom>
          <a:solidFill>
            <a:srgbClr val="D20A0A"/>
          </a:solidFill>
          <a:ln/>
        </p:spPr>
      </p:sp>
      <p:sp>
        <p:nvSpPr>
          <p:cNvPr id="7" name="Shape 5"/>
          <p:cNvSpPr/>
          <p:nvPr/>
        </p:nvSpPr>
        <p:spPr>
          <a:xfrm rot="60000">
            <a:off x="8074152" y="1828800"/>
            <a:ext cx="274320" cy="274320"/>
          </a:xfrm>
          <a:prstGeom prst="rect">
            <a:avLst/>
          </a:prstGeom>
          <a:solidFill>
            <a:srgbClr val="6A7B8C"/>
          </a:solidFill>
          <a:ln/>
        </p:spPr>
      </p:sp>
      <p:sp>
        <p:nvSpPr>
          <p:cNvPr id="8" name="Shape 6"/>
          <p:cNvSpPr/>
          <p:nvPr/>
        </p:nvSpPr>
        <p:spPr>
          <a:xfrm rot="1440000">
            <a:off x="8476488" y="1737360"/>
            <a:ext cx="274320" cy="274320"/>
          </a:xfrm>
          <a:prstGeom prst="ellipse">
            <a:avLst/>
          </a:prstGeom>
          <a:solidFill>
            <a:srgbClr val="30914C"/>
          </a:solidFill>
          <a:ln/>
        </p:spPr>
      </p:sp>
      <p:sp>
        <p:nvSpPr>
          <p:cNvPr id="9" name="Shape 7"/>
          <p:cNvSpPr/>
          <p:nvPr/>
        </p:nvSpPr>
        <p:spPr>
          <a:xfrm rot="120000">
            <a:off x="8878824" y="1783080"/>
            <a:ext cx="274320" cy="274320"/>
          </a:xfrm>
          <a:prstGeom prst="rect">
            <a:avLst/>
          </a:prstGeom>
          <a:solidFill>
            <a:srgbClr val="C5CCD3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9281160" y="1828800"/>
            <a:ext cx="274320" cy="274320"/>
          </a:xfrm>
          <a:prstGeom prst="rect">
            <a:avLst/>
          </a:prstGeom>
          <a:solidFill>
            <a:srgbClr val="1D2D3E"/>
          </a:solidFill>
          <a:ln/>
        </p:spPr>
      </p:sp>
      <p:sp>
        <p:nvSpPr>
          <p:cNvPr id="11" name="Shape 9"/>
          <p:cNvSpPr/>
          <p:nvPr/>
        </p:nvSpPr>
        <p:spPr>
          <a:xfrm rot="180000">
            <a:off x="9683496" y="1737360"/>
            <a:ext cx="274320" cy="274320"/>
          </a:xfrm>
          <a:prstGeom prst="ellipse">
            <a:avLst/>
          </a:prstGeom>
          <a:solidFill>
            <a:srgbClr val="A9B4BE"/>
          </a:solidFill>
          <a:ln/>
        </p:spPr>
      </p:sp>
      <p:sp>
        <p:nvSpPr>
          <p:cNvPr id="12" name="Shape 10"/>
          <p:cNvSpPr/>
          <p:nvPr/>
        </p:nvSpPr>
        <p:spPr>
          <a:xfrm rot="1560000">
            <a:off x="10085832" y="1783080"/>
            <a:ext cx="274320" cy="274320"/>
          </a:xfrm>
          <a:prstGeom prst="rect">
            <a:avLst/>
          </a:prstGeom>
          <a:solidFill>
            <a:srgbClr val="D20A0A"/>
          </a:solidFill>
          <a:ln/>
        </p:spPr>
      </p:sp>
      <p:sp>
        <p:nvSpPr>
          <p:cNvPr id="13" name="Shape 11"/>
          <p:cNvSpPr/>
          <p:nvPr/>
        </p:nvSpPr>
        <p:spPr>
          <a:xfrm rot="240000">
            <a:off x="10488168" y="1828800"/>
            <a:ext cx="274320" cy="274320"/>
          </a:xfrm>
          <a:prstGeom prst="rect">
            <a:avLst/>
          </a:prstGeom>
          <a:solidFill>
            <a:srgbClr val="6A7B8C"/>
          </a:solidFill>
          <a:ln/>
        </p:spPr>
      </p:sp>
      <p:sp>
        <p:nvSpPr>
          <p:cNvPr id="14" name="Shape 12"/>
          <p:cNvSpPr/>
          <p:nvPr/>
        </p:nvSpPr>
        <p:spPr>
          <a:xfrm rot="1620000">
            <a:off x="7269480" y="2121408"/>
            <a:ext cx="274320" cy="274320"/>
          </a:xfrm>
          <a:prstGeom prst="ellipse">
            <a:avLst/>
          </a:prstGeom>
          <a:solidFill>
            <a:srgbClr val="30914C"/>
          </a:solidFill>
          <a:ln/>
        </p:spPr>
      </p:sp>
      <p:sp>
        <p:nvSpPr>
          <p:cNvPr id="15" name="Shape 13"/>
          <p:cNvSpPr/>
          <p:nvPr/>
        </p:nvSpPr>
        <p:spPr>
          <a:xfrm rot="300000">
            <a:off x="7671816" y="2167128"/>
            <a:ext cx="274320" cy="274320"/>
          </a:xfrm>
          <a:prstGeom prst="rect">
            <a:avLst/>
          </a:prstGeom>
          <a:solidFill>
            <a:srgbClr val="C5CCD3"/>
          </a:solidFill>
          <a:ln/>
        </p:spPr>
      </p:sp>
      <p:sp>
        <p:nvSpPr>
          <p:cNvPr id="16" name="Shape 14"/>
          <p:cNvSpPr/>
          <p:nvPr/>
        </p:nvSpPr>
        <p:spPr>
          <a:xfrm rot="1680000">
            <a:off x="8074152" y="2212848"/>
            <a:ext cx="274320" cy="274320"/>
          </a:xfrm>
          <a:prstGeom prst="rect">
            <a:avLst/>
          </a:prstGeom>
          <a:solidFill>
            <a:srgbClr val="1D2D3E"/>
          </a:solidFill>
          <a:ln/>
        </p:spPr>
      </p:sp>
      <p:sp>
        <p:nvSpPr>
          <p:cNvPr id="17" name="Shape 15"/>
          <p:cNvSpPr/>
          <p:nvPr/>
        </p:nvSpPr>
        <p:spPr>
          <a:xfrm rot="360000">
            <a:off x="8476488" y="2121408"/>
            <a:ext cx="274320" cy="274320"/>
          </a:xfrm>
          <a:prstGeom prst="ellipse">
            <a:avLst/>
          </a:prstGeom>
          <a:solidFill>
            <a:srgbClr val="A9B4BE"/>
          </a:solidFill>
          <a:ln/>
        </p:spPr>
      </p:sp>
      <p:sp>
        <p:nvSpPr>
          <p:cNvPr id="18" name="Shape 16"/>
          <p:cNvSpPr/>
          <p:nvPr/>
        </p:nvSpPr>
        <p:spPr>
          <a:xfrm rot="1740000">
            <a:off x="8878824" y="2167128"/>
            <a:ext cx="274320" cy="274320"/>
          </a:xfrm>
          <a:prstGeom prst="rect">
            <a:avLst/>
          </a:prstGeom>
          <a:solidFill>
            <a:srgbClr val="D20A0A"/>
          </a:solidFill>
          <a:ln/>
        </p:spPr>
      </p:sp>
      <p:sp>
        <p:nvSpPr>
          <p:cNvPr id="19" name="Shape 17"/>
          <p:cNvSpPr/>
          <p:nvPr/>
        </p:nvSpPr>
        <p:spPr>
          <a:xfrm rot="420000">
            <a:off x="9281160" y="2212848"/>
            <a:ext cx="274320" cy="274320"/>
          </a:xfrm>
          <a:prstGeom prst="rect">
            <a:avLst/>
          </a:prstGeom>
          <a:solidFill>
            <a:srgbClr val="6A7B8C"/>
          </a:solidFill>
          <a:ln/>
        </p:spPr>
      </p:sp>
      <p:sp>
        <p:nvSpPr>
          <p:cNvPr id="20" name="Shape 18"/>
          <p:cNvSpPr/>
          <p:nvPr/>
        </p:nvSpPr>
        <p:spPr>
          <a:xfrm rot="1800000">
            <a:off x="9683496" y="2121408"/>
            <a:ext cx="274320" cy="274320"/>
          </a:xfrm>
          <a:prstGeom prst="ellipse">
            <a:avLst/>
          </a:prstGeom>
          <a:solidFill>
            <a:srgbClr val="30914C"/>
          </a:solidFill>
          <a:ln/>
        </p:spPr>
      </p:sp>
      <p:sp>
        <p:nvSpPr>
          <p:cNvPr id="21" name="Shape 19"/>
          <p:cNvSpPr/>
          <p:nvPr/>
        </p:nvSpPr>
        <p:spPr>
          <a:xfrm rot="480000">
            <a:off x="10085832" y="2167128"/>
            <a:ext cx="274320" cy="274320"/>
          </a:xfrm>
          <a:prstGeom prst="rect">
            <a:avLst/>
          </a:prstGeom>
          <a:solidFill>
            <a:srgbClr val="C5CCD3"/>
          </a:solidFill>
          <a:ln/>
        </p:spPr>
      </p:sp>
      <p:sp>
        <p:nvSpPr>
          <p:cNvPr id="22" name="Shape 20"/>
          <p:cNvSpPr/>
          <p:nvPr/>
        </p:nvSpPr>
        <p:spPr>
          <a:xfrm rot="1860000">
            <a:off x="10488168" y="2212848"/>
            <a:ext cx="274320" cy="274320"/>
          </a:xfrm>
          <a:prstGeom prst="rect">
            <a:avLst/>
          </a:prstGeom>
          <a:solidFill>
            <a:srgbClr val="1D2D3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49440" y="26060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Objetos SAP (internos)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 flipV="1">
            <a:off x="6949440" y="2926080"/>
            <a:ext cx="4206240" cy="1280160"/>
          </a:xfrm>
          <a:prstGeom prst="trapezoid">
            <a:avLst/>
          </a:prstGeom>
          <a:solidFill>
            <a:srgbClr val="EBF8FF"/>
          </a:solidFill>
          <a:ln w="19050">
            <a:solidFill>
              <a:srgbClr val="BDE6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32520" y="4206240"/>
            <a:ext cx="640080" cy="548640"/>
          </a:xfrm>
          <a:prstGeom prst="rect">
            <a:avLst/>
          </a:prstGeom>
          <a:solidFill>
            <a:srgbClr val="EBF8FF"/>
          </a:solidFill>
          <a:ln w="19050">
            <a:solidFill>
              <a:srgbClr val="BDE6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49440" y="3154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Whitelist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635240" y="4937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091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29600" y="4937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0914C"/>
          </a:solidFill>
          <a:ln/>
        </p:spPr>
      </p:sp>
      <p:sp>
        <p:nvSpPr>
          <p:cNvPr id="29" name="Shape 27"/>
          <p:cNvSpPr/>
          <p:nvPr/>
        </p:nvSpPr>
        <p:spPr>
          <a:xfrm>
            <a:off x="8823960" y="4937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0914C"/>
          </a:solidFill>
          <a:ln/>
        </p:spPr>
      </p:sp>
      <p:sp>
        <p:nvSpPr>
          <p:cNvPr id="30" name="Shape 28"/>
          <p:cNvSpPr/>
          <p:nvPr/>
        </p:nvSpPr>
        <p:spPr>
          <a:xfrm>
            <a:off x="9418320" y="4937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0914C"/>
          </a:solidFill>
          <a:ln/>
        </p:spPr>
      </p:sp>
      <p:sp>
        <p:nvSpPr>
          <p:cNvPr id="31" name="Shape 29"/>
          <p:cNvSpPr/>
          <p:nvPr/>
        </p:nvSpPr>
        <p:spPr>
          <a:xfrm>
            <a:off x="10012680" y="4937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0914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49440" y="5440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F3A"/>
                </a:solidFill>
              </a:rPr>
              <a:t>Released Objects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052560" y="5760720"/>
            <a:ext cx="0" cy="22860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49440" y="59618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Seu Custom Code</a:t>
            </a:r>
            <a:endParaRPr lang="en-US" sz="12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5029200"/>
            <a:ext cx="274320" cy="274320"/>
          </a:xfrm>
          <a:prstGeom prst="rect">
            <a:avLst/>
          </a:prstGeom>
        </p:spPr>
      </p:pic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5029200"/>
            <a:ext cx="274320" cy="274320"/>
          </a:xfrm>
          <a:prstGeom prst="rect">
            <a:avLst/>
          </a:prstGeom>
        </p:spPr>
      </p:pic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29200"/>
            <a:ext cx="274320" cy="274320"/>
          </a:xfrm>
          <a:prstGeom prst="rect">
            <a:avLst/>
          </a:prstGeom>
        </p:spPr>
      </p:pic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5029200"/>
            <a:ext cx="274320" cy="274320"/>
          </a:xfrm>
          <a:prstGeom prst="rect">
            <a:avLst/>
          </a:prstGeom>
        </p:spPr>
      </p:pic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0" y="502920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ADT é Seu Mapa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Como Identificar e Verificar APIs Liberadas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91840" y="1600200"/>
            <a:ext cx="55778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300984" y="1609344"/>
            <a:ext cx="5559552" cy="292608"/>
          </a:xfrm>
          <a:prstGeom prst="rect">
            <a:avLst/>
          </a:prstGeom>
          <a:solidFill>
            <a:srgbClr val="EEF1F4"/>
          </a:solidFill>
          <a:ln/>
        </p:spPr>
      </p:sp>
      <p:sp>
        <p:nvSpPr>
          <p:cNvPr id="6" name="Shape 4"/>
          <p:cNvSpPr/>
          <p:nvPr/>
        </p:nvSpPr>
        <p:spPr>
          <a:xfrm>
            <a:off x="3429000" y="1691640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3611880" y="1691640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3794760" y="1691640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Shape 7"/>
          <p:cNvSpPr/>
          <p:nvPr/>
        </p:nvSpPr>
        <p:spPr>
          <a:xfrm>
            <a:off x="6080760" y="1901952"/>
            <a:ext cx="0" cy="4133088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9476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</a:rPr>
              <a:t>Project Explorer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9476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</a:rPr>
              <a:t>Properties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2860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</a:rPr>
              <a:t>▾ S4D_100 [pt]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2560320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</a:rPr>
              <a:t>▸ Favorite Packages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675888" y="2834640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</a:rPr>
              <a:t>▸ Local Objects ($TMP)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75888" y="3108960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</a:rPr>
              <a:t>▾ Released Objects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877056" y="338328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</a:rPr>
              <a:t>▾ Core Data Services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078224" y="3657600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I_PRODUCT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078224" y="3931920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I_SALESORDER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877056" y="420624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</a:rPr>
              <a:t>▾ Classes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078224" y="4480560"/>
            <a:ext cx="181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675888" y="4754880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</a:rPr>
              <a:t>▸ System Library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20440" y="3081528"/>
            <a:ext cx="2423160" cy="1645920"/>
          </a:xfrm>
          <a:prstGeom prst="roundRect">
            <a:avLst>
              <a:gd name="adj" fmla="val 3333"/>
            </a:avLst>
          </a:prstGeom>
          <a:solidFill>
            <a:srgbClr val="FFFFFF">
              <a:alpha val="0"/>
            </a:srgbClr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22860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260604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General   API State   Environment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748272" y="2862072"/>
            <a:ext cx="5486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3063240"/>
            <a:ext cx="2514600" cy="1234440"/>
          </a:xfrm>
          <a:prstGeom prst="roundRect">
            <a:avLst>
              <a:gd name="adj" fmla="val 4444"/>
            </a:avLst>
          </a:prstGeom>
          <a:solidFill>
            <a:srgbClr val="F5FAE5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36792" y="3108960"/>
            <a:ext cx="2331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3E"/>
                </a:solidFill>
              </a:rPr>
              <a:t>Use System-Internally (Contract C1)</a:t>
            </a:r>
            <a:endParaRPr lang="en-US" sz="16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56F3A"/>
                </a:solidFill>
              </a:rPr>
              <a:t>Released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rgbClr val="256F3A"/>
                </a:solidFill>
              </a:rPr>
              <a:t>✓ Use in Cloud Development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2788920"/>
            <a:ext cx="2423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</a:rPr>
              <a:t>Painel 1 · Navegação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Navegue pela árvore de objetos liberados para descobrir APIs por tipo (classes, CDS Views etc.).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017520" y="3886200"/>
            <a:ext cx="50292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  <a:headEnd type="oval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144000" y="2788920"/>
            <a:ext cx="249905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</a:rPr>
              <a:t>Painel 2 · Verificação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Verifique o status. Se estiver </a:t>
            </a:r>
            <a:r>
              <a:rPr lang="en-US" sz="1400" b="1" dirty="0">
                <a:solidFill>
                  <a:srgbClr val="1D2D3E"/>
                </a:solidFill>
              </a:rPr>
              <a:t>Released</a:t>
            </a:r>
            <a:r>
              <a:rPr lang="en-US" sz="1400" dirty="0">
                <a:solidFill>
                  <a:srgbClr val="1D2D3E"/>
                </a:solidFill>
              </a:rPr>
              <a:t>, seu uso é seguro. Se </a:t>
            </a:r>
            <a:r>
              <a:rPr lang="en-US" sz="1400" b="1" dirty="0">
                <a:solidFill>
                  <a:srgbClr val="1D2D3E"/>
                </a:solidFill>
              </a:rPr>
              <a:t>Not Released</a:t>
            </a:r>
            <a:r>
              <a:rPr lang="en-US" sz="1400" dirty="0">
                <a:solidFill>
                  <a:srgbClr val="1D2D3E"/>
                </a:solidFill>
              </a:rPr>
              <a:t>, gerará um erro de sintaxe.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 flipH="1">
            <a:off x="8732520" y="3703320"/>
            <a:ext cx="36576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  <a:headEnd type="oval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Nem Toda Liberação é Igual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Entendendo os Contratos de Estabilidade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515258" cy="393192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130552"/>
            <a:ext cx="777240" cy="7772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Shape 4"/>
          <p:cNvSpPr/>
          <p:nvPr/>
        </p:nvSpPr>
        <p:spPr>
          <a:xfrm>
            <a:off x="3259226" y="214884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59226" y="21488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C1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072384"/>
            <a:ext cx="3003194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Contract for System-Internal Use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56B82"/>
                </a:solidFill>
              </a:rPr>
              <a:t>A API pública mais comum. Para ser chamada pelo seu código ABAP customizado dentro do mesmo sistema (ex.: usar uma classe, selecionar de uma CDS View).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38218" y="1874520"/>
            <a:ext cx="3515258" cy="393192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4250" y="2130552"/>
            <a:ext cx="777240" cy="7772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Shape 9"/>
          <p:cNvSpPr/>
          <p:nvPr/>
        </p:nvSpPr>
        <p:spPr>
          <a:xfrm>
            <a:off x="7048805" y="214884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8805" y="21488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C2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4250" y="3072384"/>
            <a:ext cx="3003194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Contract for Remote Use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56B82"/>
                </a:solidFill>
              </a:rPr>
              <a:t>Para ser consumido por </a:t>
            </a:r>
            <a:r>
              <a:rPr lang="en-US" sz="1600" b="1" dirty="0">
                <a:solidFill>
                  <a:srgbClr val="556B82"/>
                </a:solidFill>
              </a:rPr>
              <a:t>sistemas externos</a:t>
            </a:r>
            <a:r>
              <a:rPr lang="en-US" sz="1600" dirty="0">
                <a:solidFill>
                  <a:srgbClr val="556B82"/>
                </a:solidFill>
              </a:rPr>
              <a:t> (BTP, apps side-by-side) via OData ou RFC.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27797" y="1874520"/>
            <a:ext cx="3515258" cy="393192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83829" y="2130552"/>
            <a:ext cx="777240" cy="7772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838383" y="2148840"/>
            <a:ext cx="548640" cy="292608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838383" y="21488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C0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383829" y="3072384"/>
            <a:ext cx="3003194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Contract for Extensibility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56B82"/>
                </a:solidFill>
              </a:rPr>
              <a:t>Permite </a:t>
            </a:r>
            <a:r>
              <a:rPr lang="en-US" sz="1600" b="1" dirty="0">
                <a:solidFill>
                  <a:srgbClr val="556B82"/>
                </a:solidFill>
              </a:rPr>
              <a:t>adicionar campos customizados</a:t>
            </a:r>
            <a:r>
              <a:rPr lang="en-US" sz="1600" dirty="0">
                <a:solidFill>
                  <a:srgbClr val="556B82"/>
                </a:solidFill>
              </a:rPr>
              <a:t> ao objeto (ex.: Extension Includes em uma tabela ou CDS View).</a:t>
            </a:r>
            <a:endParaRPr lang="en-US" sz="16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80788" y="2317090"/>
            <a:ext cx="404165" cy="404165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210" y="2317090"/>
            <a:ext cx="404165" cy="404165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0366" y="2317090"/>
            <a:ext cx="404165" cy="40416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 Grande Questão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 o Meu Código Legado Crítico?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8463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rgbClr val="1D2D3E"/>
                </a:solidFill>
              </a:rPr>
              <a:t>Em ambientes Brownfield (Private Cloud/On-Prem), frequentemente você precisará de uma funcionalidade antiga — </a:t>
            </a:r>
            <a:r>
              <a:rPr lang="en-US" sz="1800" b="1" dirty="0">
                <a:solidFill>
                  <a:srgbClr val="1D2D3E"/>
                </a:solidFill>
              </a:rPr>
              <a:t>uma BAPI complexa, uma Função Z crítica</a:t>
            </a:r>
            <a:r>
              <a:rPr lang="en-US" sz="1800" dirty="0">
                <a:solidFill>
                  <a:srgbClr val="1D2D3E"/>
                </a:solidFill>
              </a:rPr>
              <a:t> — que a SAP ainda não liberou para o modelo Cloud.</a:t>
            </a:r>
            <a:endParaRPr lang="en-US" sz="16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rgbClr val="1D2D3E"/>
                </a:solidFill>
              </a:rPr>
              <a:t>Tentar chamá-la diretamente do seu novo código gerará um </a:t>
            </a:r>
            <a:r>
              <a:rPr lang="en-US" sz="1800" b="1" dirty="0">
                <a:solidFill>
                  <a:srgbClr val="1D2D3E"/>
                </a:solidFill>
              </a:rPr>
              <a:t>erro de sintaxe</a:t>
            </a:r>
            <a:r>
              <a:rPr lang="en-US" sz="18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852160" y="1783080"/>
            <a:ext cx="5790895" cy="402336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26480" y="260604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EBF8FF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26480" y="2011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Tier 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258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64D9"/>
                </a:solidFill>
              </a:rPr>
              <a:t>ABAP Cloud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4160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Seu código novo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265615" y="2606040"/>
            <a:ext cx="2103120" cy="2377440"/>
          </a:xfrm>
          <a:prstGeom prst="roundRect">
            <a:avLst>
              <a:gd name="adj" fmla="val 4348"/>
            </a:avLst>
          </a:prstGeom>
          <a:solidFill>
            <a:srgbClr val="E8EBEE"/>
          </a:solidFill>
          <a:ln w="25400">
            <a:solidFill>
              <a:srgbClr val="8396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65615" y="2011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Tier 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265615" y="2258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Legado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265615" y="4160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BAPI / Função Z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21040" y="3794760"/>
            <a:ext cx="853135" cy="0"/>
          </a:xfrm>
          <a:prstGeom prst="line">
            <a:avLst/>
          </a:prstGeom>
          <a:noFill/>
          <a:ln w="31750">
            <a:solidFill>
              <a:srgbClr val="D20A0A"/>
            </a:solidFill>
            <a:prstDash val="dash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8290408" y="260604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D20A0A"/>
                </a:solidFill>
              </a:rPr>
              <a:t>?</a:t>
            </a:r>
            <a:endParaRPr lang="en-US" sz="6000" dirty="0"/>
          </a:p>
        </p:txBody>
      </p:sp>
      <p:sp>
        <p:nvSpPr>
          <p:cNvPr id="16" name="Shape 14"/>
          <p:cNvSpPr/>
          <p:nvPr/>
        </p:nvSpPr>
        <p:spPr>
          <a:xfrm>
            <a:off x="6126480" y="5166360"/>
            <a:ext cx="5242255" cy="457200"/>
          </a:xfrm>
          <a:prstGeom prst="roundRect">
            <a:avLst>
              <a:gd name="adj" fmla="val 16000"/>
            </a:avLst>
          </a:prstGeom>
          <a:solidFill>
            <a:srgbClr val="FFEA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5166360"/>
            <a:ext cx="5059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Syntax error: object is not released for cloud development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3246120"/>
            <a:ext cx="731520" cy="731520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1415" y="324612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Pilar 3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 Ponte para o Legado: o Padrão “Wrapper”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D2D3E"/>
                </a:solidFill>
              </a:rPr>
              <a:t>A solução é criar uma camada de isolamento. Como no Private Cloud/On-Prem temos acesso ao </a:t>
            </a:r>
            <a:r>
              <a:rPr lang="en-US" sz="1700" b="1" dirty="0">
                <a:solidFill>
                  <a:srgbClr val="1D2D3E"/>
                </a:solidFill>
              </a:rPr>
              <a:t>ABAP Clássico</a:t>
            </a:r>
            <a:r>
              <a:rPr lang="en-US" sz="1700" dirty="0">
                <a:solidFill>
                  <a:srgbClr val="1D2D3E"/>
                </a:solidFill>
              </a:rPr>
              <a:t>, criamos uma </a:t>
            </a:r>
            <a:r>
              <a:rPr lang="en-US" sz="1700" b="1" dirty="0">
                <a:solidFill>
                  <a:srgbClr val="1D2D3E"/>
                </a:solidFill>
              </a:rPr>
              <a:t>“fachada” estável</a:t>
            </a:r>
            <a:r>
              <a:rPr lang="en-US" sz="1700" dirty="0">
                <a:solidFill>
                  <a:srgbClr val="1D2D3E"/>
                </a:solidFill>
              </a:rPr>
              <a:t> para encapsular o código não liberado.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6035040" cy="3383280"/>
          </a:xfrm>
          <a:prstGeom prst="roundRect">
            <a:avLst>
              <a:gd name="adj" fmla="val 3243"/>
            </a:avLst>
          </a:prstGeom>
          <a:solidFill>
            <a:srgbClr val="EBF8FF"/>
          </a:solidFill>
          <a:ln w="25400">
            <a:solidFill>
              <a:srgbClr val="0070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0" y="2606040"/>
            <a:ext cx="5059375" cy="3383280"/>
          </a:xfrm>
          <a:prstGeom prst="roundRect">
            <a:avLst>
              <a:gd name="adj" fmla="val 3243"/>
            </a:avLst>
          </a:prstGeom>
          <a:solidFill>
            <a:srgbClr val="E8EBEE"/>
          </a:solidFill>
          <a:ln w="25400">
            <a:solidFill>
              <a:srgbClr val="8396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D9"/>
                </a:solidFill>
              </a:rPr>
              <a:t>Tier 1 · ABAP Cloud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56855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Tier 3 · ABAP Clássico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05840" y="3520440"/>
            <a:ext cx="21945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005840" y="4617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Seu App RAP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91840" y="4480560"/>
            <a:ext cx="1280160" cy="0"/>
          </a:xfrm>
          <a:prstGeom prst="line">
            <a:avLst/>
          </a:prstGeom>
          <a:noFill/>
          <a:ln w="381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09160" y="3337560"/>
            <a:ext cx="374904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9525">
            <a:solidFill>
              <a:srgbClr val="30914C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09160" y="3474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Classe Wrapper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257800" y="4069080"/>
            <a:ext cx="2651760" cy="685800"/>
          </a:xfrm>
          <a:prstGeom prst="roundRect">
            <a:avLst>
              <a:gd name="adj" fmla="val 49333"/>
            </a:avLst>
          </a:prstGeom>
          <a:solidFill>
            <a:srgbClr val="F5FAE5"/>
          </a:solidFill>
          <a:ln w="25400">
            <a:solidFill>
              <a:srgbClr val="30914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97880" y="406908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F3A"/>
                </a:solidFill>
              </a:rPr>
              <a:t>Released by you (C1)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709160" y="4892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Tier 2 · Cloud API Enablement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549640" y="4480560"/>
            <a:ext cx="487375" cy="0"/>
          </a:xfrm>
          <a:prstGeom prst="line">
            <a:avLst/>
          </a:prstGeom>
          <a:noFill/>
          <a:ln w="31750">
            <a:solidFill>
              <a:srgbClr val="D20A0A"/>
            </a:solidFill>
            <a:prstDash val="dash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174175" y="3520440"/>
            <a:ext cx="2194560" cy="1920240"/>
          </a:xfrm>
          <a:prstGeom prst="roundRect">
            <a:avLst>
              <a:gd name="adj" fmla="val 6667"/>
            </a:avLst>
          </a:prstGeom>
          <a:solidFill>
            <a:srgbClr val="D3D9DF"/>
          </a:solidFill>
          <a:ln w="9525">
            <a:solidFill>
              <a:srgbClr val="8396A8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74175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Código Legado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BAPI, Função Z</a:t>
            </a:r>
            <a:endParaRPr lang="en-US" sz="15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3794760"/>
            <a:ext cx="640080" cy="640080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187952"/>
            <a:ext cx="457200" cy="457200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794760"/>
            <a:ext cx="640080" cy="640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Construindo a Ponte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Passo a Passo do Wrapper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397709" y="2240280"/>
            <a:ext cx="7396277" cy="0"/>
          </a:xfrm>
          <a:prstGeom prst="line">
            <a:avLst/>
          </a:prstGeom>
          <a:noFill/>
          <a:ln w="38100">
            <a:solidFill>
              <a:srgbClr val="0070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40509" y="1783080"/>
            <a:ext cx="914400" cy="914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40509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926080"/>
            <a:ext cx="355183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Crie no Modo Clássico</a:t>
            </a:r>
            <a:endParaRPr lang="en-US" sz="16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Crie uma classe global com Language Version </a:t>
            </a:r>
            <a:r>
              <a:rPr lang="en-US" sz="1500" b="1" dirty="0">
                <a:solidFill>
                  <a:srgbClr val="556B82"/>
                </a:solidFill>
              </a:rPr>
              <a:t>Standard ABAP</a:t>
            </a:r>
            <a:r>
              <a:rPr lang="en-US" sz="1500" dirty="0">
                <a:solidFill>
                  <a:srgbClr val="556B82"/>
                </a:solidFill>
              </a:rPr>
              <a:t> (sem restrição de Cloud). Dentro dela, chame a BAPI ou use qualquer código legado necessário. Exponha uma interface limpa, com tipos de dados simples ou liberados.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38648" y="1783080"/>
            <a:ext cx="914400" cy="914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38648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319930" y="2926080"/>
            <a:ext cx="355183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Libere para a Nuvem</a:t>
            </a:r>
            <a:endParaRPr lang="en-US" sz="16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O ‘pulo do gato’: marque sua própria classe Wrapper como </a:t>
            </a:r>
            <a:r>
              <a:rPr lang="en-US" sz="1500" b="1" dirty="0">
                <a:solidFill>
                  <a:srgbClr val="556B82"/>
                </a:solidFill>
              </a:rPr>
              <a:t>Released for Cloud Development</a:t>
            </a:r>
            <a:r>
              <a:rPr lang="en-US" sz="1500" dirty="0">
                <a:solidFill>
                  <a:srgbClr val="556B82"/>
                </a:solidFill>
              </a:rPr>
              <a:t> com o contrato </a:t>
            </a:r>
            <a:r>
              <a:rPr lang="en-US" sz="1500" b="1" dirty="0">
                <a:solidFill>
                  <a:srgbClr val="556B82"/>
                </a:solidFill>
              </a:rPr>
              <a:t>C1</a:t>
            </a:r>
            <a:r>
              <a:rPr lang="en-US" sz="1500" dirty="0">
                <a:solidFill>
                  <a:srgbClr val="556B82"/>
                </a:solidFill>
              </a:rPr>
              <a:t>. Você está atestando que a interface dela é estável.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336786" y="1783080"/>
            <a:ext cx="914400" cy="914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07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36786" y="1783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018069" y="2926080"/>
            <a:ext cx="355183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Consuma no Modo Cloud</a:t>
            </a:r>
            <a:endParaRPr lang="en-US" sz="16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Agora seu código ABAP Cloud (Tier 1), como o seu app Fiori moderno, pode instanciar e chamar a classe Wrapper de forma segura e sem erros de sintaxe.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Antes e Depois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Na Prática: Lendo Dados de Material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28216"/>
            <a:ext cx="4907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0808"/>
                </a:solidFill>
              </a:rPr>
              <a:t>✗  PROIBIDO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12264"/>
            <a:ext cx="536432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40280"/>
            <a:ext cx="49071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matnr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matkl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mara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@lt_data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07328" y="1728216"/>
            <a:ext cx="4907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F3A"/>
                </a:solidFill>
              </a:rPr>
              <a:t>✓  CORRETO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2112264"/>
            <a:ext cx="5364328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240280"/>
            <a:ext cx="49071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ProductGroup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I_Product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@lt_data</a:t>
            </a:r>
            <a:r>
              <a:rPr lang="en-US" sz="18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5364328" cy="1371600"/>
          </a:xfrm>
          <a:prstGeom prst="roundRect">
            <a:avLst>
              <a:gd name="adj" fmla="val 8000"/>
            </a:avLst>
          </a:prstGeom>
          <a:solidFill>
            <a:srgbClr val="FFEA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80160" y="4069080"/>
            <a:ext cx="4358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Erro de sintaxe:</a:t>
            </a:r>
            <a:r>
              <a:rPr lang="en-US" sz="1600" dirty="0">
                <a:solidFill>
                  <a:srgbClr val="1D2D3E"/>
                </a:solidFill>
              </a:rPr>
              <a:t> o objeto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MARA</a:t>
            </a:r>
            <a:r>
              <a:rPr lang="en-US" sz="1600" dirty="0">
                <a:solidFill>
                  <a:srgbClr val="1D2D3E"/>
                </a:solidFill>
              </a:rPr>
              <a:t> não é liberado para cloud development. É um detalhe de implementação.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78728" y="4069080"/>
            <a:ext cx="5364328" cy="1371600"/>
          </a:xfrm>
          <a:prstGeom prst="roundRect">
            <a:avLst>
              <a:gd name="adj" fmla="val 8000"/>
            </a:avLst>
          </a:prstGeom>
          <a:solidFill>
            <a:srgbClr val="F5FAE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10248" y="4069080"/>
            <a:ext cx="4358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Correto:</a:t>
            </a:r>
            <a:r>
              <a:rPr lang="en-US" sz="1600" dirty="0">
                <a:solidFill>
                  <a:srgbClr val="1D2D3E"/>
                </a:solidFill>
              </a:rPr>
              <a:t>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I_Product</a:t>
            </a:r>
            <a:r>
              <a:rPr lang="en-US" sz="1600" dirty="0">
                <a:solidFill>
                  <a:srgbClr val="1D2D3E"/>
                </a:solidFill>
              </a:rPr>
              <a:t> é a CDS View liberada (contrato C1), a ‘fachada pública’ garantida pela SAP para dados de produtos.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581144"/>
            <a:ext cx="347472" cy="34747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328" y="458114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Sua Referência Rápida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Tabela de Conversão: Legado vs. Cloud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56B82"/>
                </a:solidFill>
              </a:rPr>
              <a:t>Pense em conceitos de negócio, não em tabelas de banco de dados.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657600"/>
                <a:gridCol w="45079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Conceito de Negócio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Objeto Legado (evitar/proibido)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Objeto Liberado (recomendado/Cloud)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Mestre de Clientes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Tabelas 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KNA1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 / 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KNB1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56F3A"/>
                          </a:solidFill>
                        </a:rPr>
                        <a:t>CDS View </a:t>
                      </a:r>
                      <a:r>
                        <a:rPr lang="en-US" sz="15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I_Customer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Mestre de Materiais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Tabelas 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MARA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 / 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MARC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56F3A"/>
                          </a:solidFill>
                        </a:rPr>
                        <a:t>CDS View </a:t>
                      </a:r>
                      <a:r>
                        <a:rPr lang="en-US" sz="15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I_Product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Cabeçalho de Pedido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Tabela 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VBAK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56F3A"/>
                          </a:solidFill>
                        </a:rPr>
                        <a:t>CDS View </a:t>
                      </a:r>
                      <a:r>
                        <a:rPr lang="en-US" sz="15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I_SalesOrder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Dados do Usuário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Tabela 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USR02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 / 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sy-uname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56F3A"/>
                          </a:solidFill>
                        </a:rPr>
                        <a:t>Classe </a:t>
                      </a:r>
                      <a:r>
                        <a:rPr lang="en-US" sz="15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CL_ABAP_CONTEXT_INFO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Data e Hora do Sistema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sy-datum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</a:rPr>
                        <a:t> / </a:t>
                      </a: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sy-uzeit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56F3A"/>
                          </a:solidFill>
                        </a:rPr>
                        <a:t>Classe </a:t>
                      </a:r>
                      <a:r>
                        <a:rPr lang="en-US" sz="15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CL_ABAP_CONTEXT_INFO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D2D3E"/>
                          </a:solidFill>
                        </a:rPr>
                        <a:t>Mensagens de Erro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MESSAGE ... TYPE 'E'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56F3A"/>
                          </a:solidFill>
                        </a:rPr>
                        <a:t>Classes de exceção com </a:t>
                      </a:r>
                      <a:r>
                        <a:rPr lang="en-US" sz="15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IF_T100_MESSAGE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Seus 4 Princípios para o Sucesso com ABAP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410048" cy="20802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2660904"/>
            <a:ext cx="4897984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1. É um Modelo, não um Produto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Lembre-se: o objetivo é governança para um ‘Clean Core’ em qualquer S/4HANA moderno.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33008" y="1691640"/>
            <a:ext cx="5410048" cy="20802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890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89040" y="2660904"/>
            <a:ext cx="4897984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2. O Compilador é seu Aliado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Ative a </a:t>
            </a:r>
            <a:r>
              <a:rPr lang="en-US" sz="1500" b="1" dirty="0">
                <a:solidFill>
                  <a:srgbClr val="556B82"/>
                </a:solidFill>
              </a:rPr>
              <a:t>Language Version 5</a:t>
            </a:r>
            <a:r>
              <a:rPr lang="en-US" sz="1500" dirty="0">
                <a:solidFill>
                  <a:srgbClr val="556B82"/>
                </a:solidFill>
              </a:rPr>
              <a:t> e confie nas checagens de sintaxe para mantê-lo seguro.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046220"/>
            <a:ext cx="5410048" cy="20802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" y="430225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4672" y="5015484"/>
            <a:ext cx="4897984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3. Pense em APIs, não em Tabelas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Use apenas </a:t>
            </a:r>
            <a:r>
              <a:rPr lang="en-US" sz="1500" b="1" dirty="0">
                <a:solidFill>
                  <a:srgbClr val="556B82"/>
                </a:solidFill>
              </a:rPr>
              <a:t>Released Objects</a:t>
            </a:r>
            <a:r>
              <a:rPr lang="en-US" sz="1500" dirty="0">
                <a:solidFill>
                  <a:srgbClr val="556B82"/>
                </a:solidFill>
              </a:rPr>
              <a:t>. Consulte sempre o </a:t>
            </a:r>
            <a:r>
              <a:rPr lang="en-US" sz="1500" b="1" dirty="0">
                <a:solidFill>
                  <a:srgbClr val="556B82"/>
                </a:solidFill>
              </a:rPr>
              <a:t>API State</a:t>
            </a:r>
            <a:r>
              <a:rPr lang="en-US" sz="1500" dirty="0">
                <a:solidFill>
                  <a:srgbClr val="556B82"/>
                </a:solidFill>
              </a:rPr>
              <a:t> no ADT.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33008" y="4046220"/>
            <a:ext cx="5410048" cy="20802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89040" y="430225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89040" y="5015484"/>
            <a:ext cx="4897984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D2D3E"/>
                </a:solidFill>
              </a:rPr>
              <a:t>4. Use Wrappers como Ponte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Isole o legado de forma inteligente em ambientes Private Cloud e On-Premise para permitir a modernização.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079346"/>
            <a:ext cx="285293" cy="285293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713" y="2079346"/>
            <a:ext cx="285293" cy="285293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346" y="4433926"/>
            <a:ext cx="285293" cy="285293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0713" y="4433926"/>
            <a:ext cx="285293" cy="285293"/>
          </a:xfrm>
          <a:prstGeom prst="rect">
            <a:avLst/>
          </a:prstGeom>
        </p:spPr>
      </p:pic>
      <p:sp>
        <p:nvSpPr>
          <p:cNvPr id="19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Pronto para Construir o Futuro?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O ABAP Cloud não é uma limitação, mas uma </a:t>
            </a:r>
            <a:r>
              <a:rPr lang="en-US" sz="2200" b="1" dirty="0">
                <a:solidFill>
                  <a:srgbClr val="FFFFFF"/>
                </a:solidFill>
              </a:rPr>
              <a:t>disciplina</a:t>
            </a:r>
            <a:r>
              <a:rPr lang="en-US" sz="2200" dirty="0">
                <a:solidFill>
                  <a:srgbClr val="FFFFFF"/>
                </a:solidFill>
              </a:rPr>
              <a:t>. Adotá-lo é garantir que suas soluções sejam robustas, seguras e prontas para qualquer evolução da plataforma SAP.</a:t>
            </a: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4328" y="2011680"/>
            <a:ext cx="1463040" cy="1463040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7858FF"/>
      </a:accent5>
      <a:accent6>
        <a:srgbClr val="07838F"/>
      </a:accent6>
      <a:hlink>
        <a:srgbClr val="0064D9"/>
      </a:hlink>
      <a:folHlink>
        <a:srgbClr val="5D36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Desmistificando o ABAP Cloud</dc:title>
  <dc:subject>ABAP Moderno – Módulo 05</dc:subject>
  <dc:creator>Adriano Bispo</dc:creator>
  <cp:lastModifiedBy>Adriano Bispo</cp:lastModifiedBy>
  <cp:revision>1</cp:revision>
  <dcterms:created xsi:type="dcterms:W3CDTF">2026-10-28T03:25:43Z</dcterms:created>
  <dcterms:modified xsi:type="dcterms:W3CDTF">2026-10-28T03:25:43Z</dcterms:modified>
</cp:coreProperties>
</file>