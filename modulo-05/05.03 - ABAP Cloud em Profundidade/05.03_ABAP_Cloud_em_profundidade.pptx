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Extensibilidade Clean Core  ·  Aula 3 de 5 — ABAP Cloud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Extensibilidade Clean Core  ·  Aula 3 de 5 — ABAP Cloud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03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ABAP Cloud em profundidade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 modelo de desenvolvimento para a nuvem: linguagem restrita, RAP e analytics, conectividade liberada, APIs estáveis e serviços de reuso.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9638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9638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abrimos o ABAP Cloud por dentro: o que muda na linguagem, como o RAP se encaixa e como achar a API liberada certa.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Evolução, não revolução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Como na chegada da orientação a objetos, o ABAP evolui </a:t>
            </a:r>
            <a:r>
              <a:rPr lang="en-US" sz="1500" b="1" dirty="0">
                <a:solidFill>
                  <a:srgbClr val="556B82"/>
                </a:solidFill>
              </a:rPr>
              <a:t>sem quebrar o código existente</a:t>
            </a:r>
            <a:r>
              <a:rPr lang="en-US" sz="1500" dirty="0">
                <a:solidFill>
                  <a:srgbClr val="556B82"/>
                </a:solidFill>
              </a:rPr>
              <a:t>: o novo modelo vale para o que você cria daqui em diante.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Shape 5"/>
          <p:cNvSpPr/>
          <p:nvPr/>
        </p:nvSpPr>
        <p:spPr>
          <a:xfrm>
            <a:off x="2020595" y="3514344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20595" y="3514344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anos 80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R/2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Linguagem de 4ª geração focada em relatórios.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79394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0562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51349" y="3514344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1349" y="3514344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anos 90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80562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R/3 e OO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 criam programas e extensões; ABAP Objects.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1316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62570" y="3514344"/>
            <a:ext cx="84856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62570" y="3514344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2012 →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ADT e CDS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Eclipse como IDE e modelos de dados declarativos.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40901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2069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54258" y="3514344"/>
            <a:ext cx="687629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54258" y="3514344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hoje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42069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Tudo integrado em um modelo cloud native.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541776"/>
            <a:ext cx="256032" cy="256032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3541776"/>
            <a:ext cx="256032" cy="256032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3541776"/>
            <a:ext cx="256032" cy="256032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354177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modelo ABAP Cloud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ABAP Cloud</a:t>
            </a:r>
            <a:r>
              <a:rPr lang="en-US" sz="1600" dirty="0">
                <a:solidFill>
                  <a:srgbClr val="D1EFFF"/>
                </a:solidFill>
              </a:rPr>
              <a:t> é o modelo de desenvolvimento completo: linguagem, programming models, serviços, APIs, ferramentas e regras para extensões.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Linguagem</a:t>
            </a:r>
            <a:r>
              <a:rPr lang="en-US" sz="1000" dirty="0">
                <a:solidFill>
                  <a:srgbClr val="D1EFFF"/>
                </a:solidFill>
              </a:rPr>
              <a:t>  ABAP for Cloud Development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r>
              <a:rPr lang="en-US" sz="1000" dirty="0">
                <a:solidFill>
                  <a:srgbClr val="D1EFFF"/>
                </a:solidFill>
              </a:rPr>
              <a:t>  RAP · ABAP analytics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r>
              <a:rPr lang="en-US" sz="1000" dirty="0">
                <a:solidFill>
                  <a:srgbClr val="D1EFFF"/>
                </a:solidFill>
              </a:rPr>
              <a:t>  reuso · IAM · conectividade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</a:t>
            </a:r>
            <a:r>
              <a:rPr lang="en-US" sz="1000" dirty="0">
                <a:solidFill>
                  <a:srgbClr val="D1EFFF"/>
                </a:solidFill>
              </a:rPr>
              <a:t>  ADT (Eclipse)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 · BLOCOS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compõe o ABAP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Linguagem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ABAP for Cloud Development</a:t>
            </a:r>
            <a:r>
              <a:rPr lang="en-US" sz="1100" dirty="0">
                <a:solidFill>
                  <a:srgbClr val="556B82"/>
                </a:solidFill>
              </a:rPr>
              <a:t>, versão otimizada para a nuvem.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3243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14411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4411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Programming models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RAP</a:t>
            </a:r>
            <a:r>
              <a:rPr lang="en-US" sz="1100" dirty="0">
                <a:solidFill>
                  <a:srgbClr val="556B82"/>
                </a:solidFill>
              </a:rPr>
              <a:t> para transações e </a:t>
            </a:r>
            <a:r>
              <a:rPr lang="en-US" sz="1100" b="1" dirty="0">
                <a:solidFill>
                  <a:srgbClr val="556B82"/>
                </a:solidFill>
              </a:rPr>
              <a:t>ABAP analytics</a:t>
            </a:r>
            <a:r>
              <a:rPr lang="en-US" sz="1100" dirty="0">
                <a:solidFill>
                  <a:srgbClr val="556B82"/>
                </a:solidFill>
              </a:rPr>
              <a:t> para análise.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7846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79014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79014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Plataforma (PaaS)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Serviços de reuso, identidade e acesso, conectividade.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42449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617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617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S/4HANA Cloud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Business APIs, pontos de extensão e eventos.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7052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08220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08220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Ferramentas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ADT</a:t>
            </a:r>
            <a:r>
              <a:rPr lang="en-US" sz="1100" dirty="0">
                <a:solidFill>
                  <a:srgbClr val="556B82"/>
                </a:solidFill>
              </a:rPr>
              <a:t> no Eclipse, exclusivo para ABAP Cloud.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3468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473468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Não confunda  </a:t>
            </a:r>
            <a:r>
              <a:rPr lang="en-US" sz="1200" dirty="0">
                <a:solidFill>
                  <a:srgbClr val="1D2D3E"/>
                </a:solidFill>
              </a:rPr>
              <a:t>o </a:t>
            </a:r>
            <a:r>
              <a:rPr lang="en-US" sz="1200" b="1" dirty="0">
                <a:solidFill>
                  <a:srgbClr val="1D2D3E"/>
                </a:solidFill>
              </a:rPr>
              <a:t>RAP</a:t>
            </a:r>
            <a:r>
              <a:rPr lang="en-US" sz="1200" dirty="0">
                <a:solidFill>
                  <a:srgbClr val="1D2D3E"/>
                </a:solidFill>
              </a:rPr>
              <a:t> é um programming model </a:t>
            </a:r>
            <a:r>
              <a:rPr lang="en-US" sz="1200" b="1" dirty="0">
                <a:solidFill>
                  <a:srgbClr val="1D2D3E"/>
                </a:solidFill>
              </a:rPr>
              <a:t>dentro</a:t>
            </a:r>
            <a:r>
              <a:rPr lang="en-US" sz="1200" dirty="0">
                <a:solidFill>
                  <a:srgbClr val="1D2D3E"/>
                </a:solidFill>
              </a:rPr>
              <a:t> do ABAP Cloud, que é bem mais amplo: ciclo de vida, APIs, IAM e regras de extensão.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818257"/>
            <a:ext cx="256032" cy="256032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95" y="2818257"/>
            <a:ext cx="256032" cy="256032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804" y="2818257"/>
            <a:ext cx="256032" cy="256032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98" y="2818257"/>
            <a:ext cx="256032" cy="256032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201" y="2818257"/>
            <a:ext cx="256032" cy="256032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86270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 · ONDE ESTÁ DISPONÍVEL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ABAP Cloud por produto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057536"/>
                <a:gridCol w="2705024"/>
                <a:gridCol w="405753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Produto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 Cloud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 Classic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SAP BTP, ABAP environment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Único 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Não 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S/4HANA Cloud Public Edition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Único 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Não 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S/4HANA Cloud Private Edition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Coexiste; o cliente escolhe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S/4HANA (on-premise)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Coexiste; o cliente escolhe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463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Mesmo code line  </a:t>
            </a:r>
            <a:r>
              <a:rPr lang="en-US" sz="1200" dirty="0">
                <a:solidFill>
                  <a:srgbClr val="1D2D3E"/>
                </a:solidFill>
              </a:rPr>
              <a:t>BTP ABAP environment e S/4HANA Cloud compartilham o ABAP platform cloud: um objeto liberado existe nos dois.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743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linguagem restrita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objeto recebe uma </a:t>
            </a:r>
            <a:r>
              <a:rPr lang="en-US" sz="1600" b="1" dirty="0">
                <a:solidFill>
                  <a:srgbClr val="D1EFFF"/>
                </a:solidFill>
              </a:rPr>
              <a:t>ABAP language version</a:t>
            </a:r>
            <a:r>
              <a:rPr lang="en-US" sz="1600" dirty="0">
                <a:solidFill>
                  <a:srgbClr val="D1EFFF"/>
                </a:solidFill>
              </a:rPr>
              <a:t>. Em </a:t>
            </a:r>
            <a:r>
              <a:rPr lang="en-US" sz="1600" i="1" dirty="0">
                <a:solidFill>
                  <a:srgbClr val="D1EFFF"/>
                </a:solidFill>
              </a:rPr>
              <a:t>ABAP for Cloud Development</a:t>
            </a:r>
            <a:r>
              <a:rPr lang="en-US" sz="1600" dirty="0">
                <a:solidFill>
                  <a:srgbClr val="D1EFFF"/>
                </a:solidFill>
              </a:rPr>
              <a:t>, compilador, runtime e ATC só aceitam o subconjunto cloud.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ABAP</a:t>
            </a:r>
            <a:r>
              <a:rPr lang="en-US" sz="1000" dirty="0">
                <a:solidFill>
                  <a:srgbClr val="D1EFFF"/>
                </a:solidFill>
              </a:rPr>
              <a:t>  clássico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for Cloud Development</a:t>
            </a:r>
            <a:r>
              <a:rPr lang="en-US" sz="1000" dirty="0">
                <a:solidFill>
                  <a:srgbClr val="D1EFFF"/>
                </a:solidFill>
              </a:rPr>
              <a:t>  developer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for Key Users</a:t>
            </a:r>
            <a:r>
              <a:rPr lang="en-US" sz="1000" dirty="0">
                <a:solidFill>
                  <a:srgbClr val="D1EFFF"/>
                </a:solidFill>
              </a:rPr>
              <a:t>  key user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objects</a:t>
            </a:r>
            <a:r>
              <a:rPr lang="en-US" sz="1000" dirty="0">
                <a:solidFill>
                  <a:srgbClr val="D1EFFF"/>
                </a:solidFill>
              </a:rPr>
              <a:t>  lista permitida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LINGUAGEM · O QUE MUDA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Proibido e permitido no ABAP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5513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Proibido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Palavras-chave obsoletas, como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Dynpros e Web Dynpro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1D2D3E"/>
                </a:solidFill>
              </a:rPr>
              <a:t> direto em tabelas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Objetos SAP </a:t>
            </a:r>
            <a:r>
              <a:rPr lang="en-US" sz="1350" b="1" dirty="0">
                <a:solidFill>
                  <a:srgbClr val="1D2D3E"/>
                </a:solidFill>
              </a:rPr>
              <a:t>não liberados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5513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Use no lugar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Sintaxe moderna e orientada a objetos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Apps </a:t>
            </a:r>
            <a:r>
              <a:rPr lang="en-US" sz="1350" b="1" dirty="0">
                <a:solidFill>
                  <a:srgbClr val="1D2D3E"/>
                </a:solidFill>
              </a:rPr>
              <a:t>SAP Fiori</a:t>
            </a:r>
            <a:r>
              <a:rPr lang="en-US" sz="1350" dirty="0">
                <a:solidFill>
                  <a:srgbClr val="1D2D3E"/>
                </a:solidFill>
              </a:rPr>
              <a:t> sobre serviços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CDS views</a:t>
            </a:r>
            <a:r>
              <a:rPr lang="en-US" sz="1350" dirty="0">
                <a:solidFill>
                  <a:srgbClr val="1D2D3E"/>
                </a:solidFill>
              </a:rPr>
              <a:t> liberadas, como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Released APIs</a:t>
            </a:r>
            <a:r>
              <a:rPr lang="en-US" sz="1350" dirty="0">
                <a:solidFill>
                  <a:srgbClr val="1D2D3E"/>
                </a:solidFill>
              </a:rPr>
              <a:t> com contrato de estabilidade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9605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9605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Versões  </a:t>
            </a:r>
            <a:r>
              <a:rPr lang="en-US" sz="1200" i="1" dirty="0">
                <a:solidFill>
                  <a:srgbClr val="1D2D3E"/>
                </a:solidFill>
              </a:rPr>
              <a:t>Standard ABAP</a:t>
            </a:r>
            <a:r>
              <a:rPr lang="en-US" sz="1200" dirty="0">
                <a:solidFill>
                  <a:srgbClr val="1D2D3E"/>
                </a:solidFill>
              </a:rPr>
              <a:t> (clássico), </a:t>
            </a:r>
            <a:r>
              <a:rPr lang="en-US" sz="1200" i="1" dirty="0">
                <a:solidFill>
                  <a:srgbClr val="1D2D3E"/>
                </a:solidFill>
              </a:rPr>
              <a:t>ABAP for Cloud Development</a:t>
            </a:r>
            <a:r>
              <a:rPr lang="en-US" sz="1200" dirty="0">
                <a:solidFill>
                  <a:srgbClr val="1D2D3E"/>
                </a:solidFill>
              </a:rPr>
              <a:t> (developer) e </a:t>
            </a:r>
            <a:r>
              <a:rPr lang="en-US" sz="1200" i="1" dirty="0">
                <a:solidFill>
                  <a:srgbClr val="1D2D3E"/>
                </a:solidFill>
              </a:rPr>
              <a:t>ABAP for Key Users</a:t>
            </a:r>
            <a:r>
              <a:rPr lang="en-US" sz="1200" dirty="0">
                <a:solidFill>
                  <a:srgbClr val="1D2D3E"/>
                </a:solidFill>
              </a:rPr>
              <a:t> (extensões de key user).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3004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3004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2406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LINGUAGEM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compilador aponta o substituto liberado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Erro de sintaxe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zcl_countries.clas.abap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intca3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The use of table T005 is not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permitted. Use CDS Entity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I_COUNTRY instead.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T005</a:t>
            </a:r>
            <a:r>
              <a:rPr lang="en-US" sz="1200" dirty="0">
                <a:solidFill>
                  <a:srgbClr val="556B82"/>
                </a:solidFill>
              </a:rPr>
              <a:t> é um detalhe interno do ERP, não uma API. Em ABAP for Cloud Development, o acesso não compila.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zcl_countries.clas.abap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CountryThreeLetterISOCode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CDS view liberada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200" dirty="0">
                <a:solidFill>
                  <a:srgbClr val="556B82"/>
                </a:solidFill>
              </a:rPr>
              <a:t> é a fachada estável para o mesmo dado, garantida entre releases.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LINGUAGEM · CONTRATOS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Release contracts: como um objeto pode ser usado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465221"/>
                <a:gridCol w="3606698"/>
                <a:gridCol w="574817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Contrato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Nome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garante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Extend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Pontos de extensão estáveis (ex.: campos e BAdIs)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Use System-Internally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Uso local em ABAP Cloud e em extensões de key user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Use as Remote API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Uso remoto estável (ex.: OData, SOAP)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Manage Configuration Content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Acesso a conteúdo de configuração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63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Onde ver  </a:t>
            </a:r>
            <a:r>
              <a:rPr lang="en-US" sz="1200" dirty="0">
                <a:solidFill>
                  <a:srgbClr val="1D2D3E"/>
                </a:solidFill>
              </a:rPr>
              <a:t>nas </a:t>
            </a:r>
            <a:r>
              <a:rPr lang="en-US" sz="1200" b="1" dirty="0">
                <a:solidFill>
                  <a:srgbClr val="1D2D3E"/>
                </a:solidFill>
              </a:rPr>
              <a:t>Properties › API State</a:t>
            </a:r>
            <a:r>
              <a:rPr lang="en-US" sz="1200" dirty="0">
                <a:solidFill>
                  <a:srgbClr val="1D2D3E"/>
                </a:solidFill>
              </a:rPr>
              <a:t> do objeto no ADT e na árvore </a:t>
            </a:r>
            <a:r>
              <a:rPr lang="en-US" sz="1200" b="1" dirty="0">
                <a:solidFill>
                  <a:srgbClr val="1D2D3E"/>
                </a:solidFill>
              </a:rPr>
              <a:t>Released Objects</a:t>
            </a:r>
            <a:r>
              <a:rPr lang="en-US" sz="1200" dirty="0">
                <a:solidFill>
                  <a:srgbClr val="1D2D3E"/>
                </a:solidFill>
              </a:rPr>
              <a:t> do Project Explorer.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9145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Programming models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programming model define a arquitetura de design e runtime de tudo que se constrói: </a:t>
            </a:r>
            <a:r>
              <a:rPr lang="en-US" sz="1600" b="1" dirty="0">
                <a:solidFill>
                  <a:srgbClr val="D1EFFF"/>
                </a:solidFill>
              </a:rPr>
              <a:t>transacional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analítico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integração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</a:t>
            </a:r>
            <a:r>
              <a:rPr lang="en-US" sz="1000" dirty="0">
                <a:solidFill>
                  <a:srgbClr val="D1EFFF"/>
                </a:solidFill>
              </a:rPr>
              <a:t>  RAP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OLAP</a:t>
            </a:r>
            <a:r>
              <a:rPr lang="en-US" sz="1000" dirty="0">
                <a:solidFill>
                  <a:srgbClr val="D1EFFF"/>
                </a:solidFill>
              </a:rPr>
              <a:t>  ABAP analytics · InA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r>
              <a:rPr lang="en-US" sz="1000" dirty="0">
                <a:solidFill>
                  <a:srgbClr val="D1EFFF"/>
                </a:solidFill>
              </a:rPr>
              <a:t>  frameworks liberados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EML</a:t>
            </a:r>
            <a:r>
              <a:rPr lang="en-US" sz="1000" dirty="0">
                <a:solidFill>
                  <a:srgbClr val="D1EFFF"/>
                </a:solidFill>
              </a:rPr>
              <a:t>  comportamento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MODELOS · RAP EM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dado ao consumidor com o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Data 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Tabelas no SAP HANA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Domain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CDS, behavior definition, ABAP e EML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Service exposure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Service definition e binding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Consumption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Fiori, Web API e eventos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Transacional (OLTP)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Business objects com create, read, update e delete, como um pedido de venda.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Analítico (OLAP)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Cubos, dimensões e hierarquias em CDS, expostos via </a:t>
            </a:r>
            <a:r>
              <a:rPr lang="en-US" sz="1200" b="1" dirty="0">
                <a:solidFill>
                  <a:srgbClr val="556B82"/>
                </a:solidFill>
              </a:rPr>
              <a:t>InA</a:t>
            </a:r>
            <a:r>
              <a:rPr lang="en-US" sz="1200" dirty="0">
                <a:solidFill>
                  <a:srgbClr val="556B82"/>
                </a:solidFill>
              </a:rPr>
              <a:t> para SAP Analytics Cloud.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Eventos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BO RAP pode publicar ou consumir eventos pelo </a:t>
            </a:r>
            <a:r>
              <a:rPr lang="en-US" sz="1200" b="1" dirty="0">
                <a:solidFill>
                  <a:srgbClr val="556B82"/>
                </a:solidFill>
              </a:rPr>
              <a:t>SAP Event Mesh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MODELOS · CONECTIVIDADE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Só frameworks liberados para integração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832117"/>
                <a:gridCol w="69879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OData services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Apps Fiori e integração app a app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Business Events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Comunicação assíncrona via Event Mesh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HTTP services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Endpoints HTTP próprios e chamadas externas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RFC via WebSocket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RFC habilitado para a nuvem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SOAP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Consumo de serviços SOAP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SQL service · InA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Clientes ODBC externos e ferramentas analíticas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9145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79145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Fora do ABAP Cloud  </a:t>
            </a:r>
            <a:r>
              <a:rPr lang="en-US" sz="1200" dirty="0">
                <a:solidFill>
                  <a:srgbClr val="1D2D3E"/>
                </a:solidFill>
              </a:rPr>
              <a:t>IDoc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SM59</a:t>
            </a:r>
            <a:r>
              <a:rPr lang="en-US" sz="1200" dirty="0">
                <a:solidFill>
                  <a:srgbClr val="1D2D3E"/>
                </a:solidFill>
              </a:rPr>
              <a:t>/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SOAMANAGER</a:t>
            </a:r>
            <a:r>
              <a:rPr lang="en-US" sz="1200" dirty="0">
                <a:solidFill>
                  <a:srgbClr val="1D2D3E"/>
                </a:solidFill>
              </a:rPr>
              <a:t> diretos. A configuração usa os apps de </a:t>
            </a:r>
            <a:r>
              <a:rPr lang="en-US" sz="1200" i="1" dirty="0">
                <a:solidFill>
                  <a:srgbClr val="1D2D3E"/>
                </a:solidFill>
              </a:rPr>
              <a:t>Communication Management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194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Released APIs e serviços de reuso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SAP garante a estabilidade das </a:t>
            </a:r>
            <a:r>
              <a:rPr lang="en-US" sz="1600" b="1" dirty="0">
                <a:solidFill>
                  <a:srgbClr val="D1EFFF"/>
                </a:solidFill>
              </a:rPr>
              <a:t>interfaces públicas liberadas</a:t>
            </a:r>
            <a:r>
              <a:rPr lang="en-US" sz="1600" dirty="0">
                <a:solidFill>
                  <a:srgbClr val="D1EFFF"/>
                </a:solidFill>
              </a:rPr>
              <a:t>; o cliente se compromete a usar só elas. Syntax check e ATC fazem a regra valer.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APIs</a:t>
            </a:r>
            <a:r>
              <a:rPr lang="en-US" sz="1000" dirty="0">
                <a:solidFill>
                  <a:srgbClr val="D1EFFF"/>
                </a:solidFill>
              </a:rPr>
              <a:t>  classes · CDS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APIs</a:t>
            </a:r>
            <a:r>
              <a:rPr lang="en-US" sz="1000" dirty="0">
                <a:solidFill>
                  <a:srgbClr val="D1EFFF"/>
                </a:solidFill>
              </a:rPr>
              <a:t>  OData · SOAP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 points</a:t>
            </a:r>
            <a:r>
              <a:rPr lang="en-US" sz="1000" dirty="0">
                <a:solidFill>
                  <a:srgbClr val="D1EFFF"/>
                </a:solidFill>
              </a:rPr>
              <a:t>  BAdIs · RAP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Accelerator Hub</a:t>
            </a:r>
            <a:r>
              <a:rPr lang="en-US" sz="1000" dirty="0">
                <a:solidFill>
                  <a:srgbClr val="D1EFFF"/>
                </a:solidFill>
              </a:rPr>
              <a:t>  descoberta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APIS · TIPOS DE INTERFACE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propósitos para as APIs liberadas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Local APIs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Classes e CDS views usadas </a:t>
            </a:r>
            <a:r>
              <a:rPr lang="en-US" sz="1300" b="1" dirty="0">
                <a:solidFill>
                  <a:srgbClr val="556B82"/>
                </a:solidFill>
              </a:rPr>
              <a:t>dentro</a:t>
            </a:r>
            <a:r>
              <a:rPr lang="en-US" sz="1300" dirty="0">
                <a:solidFill>
                  <a:srgbClr val="556B82"/>
                </a:solidFill>
              </a:rPr>
              <a:t> do S/4HANA,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300" dirty="0">
                <a:solidFill>
                  <a:srgbClr val="556B82"/>
                </a:solidFill>
              </a:rPr>
              <a:t>, em apps RAP ou BAdIs.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Remote APIs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OData e SOAP para apps no BTP, Cloud Integration (assíncrono) e eventos.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Extension points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BAdIs e extensibilidade de BOs RAP, implementados no próprio sistema.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Descoberta  </a:t>
            </a:r>
            <a:r>
              <a:rPr lang="en-US" sz="1200" dirty="0">
                <a:solidFill>
                  <a:srgbClr val="1D2D3E"/>
                </a:solidFill>
              </a:rPr>
              <a:t>o </a:t>
            </a:r>
            <a:r>
              <a:rPr lang="en-US" sz="1200" b="1" dirty="0">
                <a:solidFill>
                  <a:srgbClr val="1D2D3E"/>
                </a:solidFill>
              </a:rPr>
              <a:t>SAP Business Accelerator Hub</a:t>
            </a:r>
            <a:r>
              <a:rPr lang="en-US" sz="1200" dirty="0">
                <a:solidFill>
                  <a:srgbClr val="1D2D3E"/>
                </a:solidFill>
              </a:rPr>
              <a:t> lista APIs, eventos e BAdIs; a view </a:t>
            </a:r>
            <a:r>
              <a:rPr lang="en-US" sz="1200" b="1" dirty="0">
                <a:solidFill>
                  <a:srgbClr val="1D2D3E"/>
                </a:solidFill>
              </a:rPr>
              <a:t>Released Objects</a:t>
            </a:r>
            <a:r>
              <a:rPr lang="en-US" sz="1200" dirty="0">
                <a:solidFill>
                  <a:srgbClr val="1D2D3E"/>
                </a:solidFill>
              </a:rPr>
              <a:t> do ADT também mostra elementos de dados, objetos de autorização e mais.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APIS · QUEM VÊ O QUÊ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Local APIs só existem dentro do S/4HANA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S/4HANA Cloud, ABAP environment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 </a:t>
            </a:r>
            <a:r>
              <a:rPr lang="en-US" sz="1350" b="1" dirty="0">
                <a:solidFill>
                  <a:srgbClr val="1D2D3E"/>
                </a:solidFill>
              </a:rPr>
              <a:t>local APIs</a:t>
            </a:r>
            <a:r>
              <a:rPr lang="en-US" sz="1350" dirty="0">
                <a:solidFill>
                  <a:srgbClr val="1D2D3E"/>
                </a:solidFill>
              </a:rPr>
              <a:t> do S/4HANA e da plataforma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Implementa extensões de </a:t>
            </a:r>
            <a:r>
              <a:rPr lang="en-US" sz="1350" b="1" dirty="0">
                <a:solidFill>
                  <a:srgbClr val="1D2D3E"/>
                </a:solidFill>
              </a:rPr>
              <a:t>key user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b="1" dirty="0">
                <a:solidFill>
                  <a:srgbClr val="1D2D3E"/>
                </a:solidFill>
              </a:rPr>
              <a:t>developer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Extensão </a:t>
            </a:r>
            <a:r>
              <a:rPr lang="en-US" sz="1350" b="1" dirty="0">
                <a:solidFill>
                  <a:srgbClr val="1D2D3E"/>
                </a:solidFill>
              </a:rPr>
              <a:t>on-stack</a:t>
            </a:r>
            <a:r>
              <a:rPr lang="en-US" sz="1350" dirty="0">
                <a:solidFill>
                  <a:srgbClr val="1D2D3E"/>
                </a:solidFill>
              </a:rPr>
              <a:t>, perto dos 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SAP BTP, ABAP environment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 local APIs </a:t>
            </a:r>
            <a:r>
              <a:rPr lang="en-US" sz="1350" b="1" dirty="0">
                <a:solidFill>
                  <a:srgbClr val="1D2D3E"/>
                </a:solidFill>
              </a:rPr>
              <a:t>só da plataforma</a:t>
            </a:r>
            <a:r>
              <a:rPr lang="en-US" sz="1350" dirty="0">
                <a:solidFill>
                  <a:srgbClr val="1D2D3E"/>
                </a:solidFill>
              </a:rPr>
              <a:t> ABAP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Acessa o S/4HANA por </a:t>
            </a:r>
            <a:r>
              <a:rPr lang="en-US" sz="1350" b="1" dirty="0">
                <a:solidFill>
                  <a:srgbClr val="1D2D3E"/>
                </a:solidFill>
              </a:rPr>
              <a:t>remote APIs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Extensão </a:t>
            </a:r>
            <a:r>
              <a:rPr lang="en-US" sz="1350" b="1" dirty="0">
                <a:solidFill>
                  <a:srgbClr val="1D2D3E"/>
                </a:solidFill>
              </a:rPr>
              <a:t>side-by-side</a:t>
            </a:r>
            <a:r>
              <a:rPr lang="en-US" sz="1350" dirty="0">
                <a:solidFill>
                  <a:srgbClr val="1D2D3E"/>
                </a:solidFill>
              </a:rPr>
              <a:t>, desacoplada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APIS · REUSO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Serviços técnicos que continuam disponíveis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ABAP platform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614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Email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Number ranges e change documents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Fila de impressão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Application jobs e logs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Tradução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Unidades, fusos e câmbio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645920"/>
            <a:ext cx="5410048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7328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SAP BTP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331720"/>
            <a:ext cx="48614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Forms by Adobe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Document Management Service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Workflow Management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Business Rules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6052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56052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Wrappers  </a:t>
            </a:r>
            <a:r>
              <a:rPr lang="en-US" sz="1200" dirty="0">
                <a:solidFill>
                  <a:srgbClr val="1D2D3E"/>
                </a:solidFill>
              </a:rPr>
              <a:t>quando falta uma API liberada no Private Edition ou on-premise, um </a:t>
            </a:r>
            <a:r>
              <a:rPr lang="en-US" sz="1200" b="1" dirty="0">
                <a:solidFill>
                  <a:srgbClr val="1D2D3E"/>
                </a:solidFill>
              </a:rPr>
              <a:t>wrapper</a:t>
            </a:r>
            <a:r>
              <a:rPr lang="en-US" sz="1200" dirty="0">
                <a:solidFill>
                  <a:srgbClr val="1D2D3E"/>
                </a:solidFill>
              </a:rPr>
              <a:t> (Tier 2) a expõe. Detalhes na aula 05.05.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332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r>
              <a:rPr lang="en-US" sz="1400" dirty="0">
                <a:solidFill>
                  <a:srgbClr val="FFFFFF"/>
                </a:solidFill>
              </a:rPr>
              <a:t> é o modelo completo; o </a:t>
            </a:r>
            <a:r>
              <a:rPr lang="en-US" sz="1400" b="1" dirty="0">
                <a:solidFill>
                  <a:srgbClr val="FFFFFF"/>
                </a:solidFill>
              </a:rPr>
              <a:t>RAP</a:t>
            </a:r>
            <a:r>
              <a:rPr lang="en-US" sz="1400" dirty="0">
                <a:solidFill>
                  <a:srgbClr val="FFFFFF"/>
                </a:solidFill>
              </a:rPr>
              <a:t> é um de seus programming models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Só modelo no BTP ABAP environment e no Public Edition; coexiste no Private e on-premise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for Cloud Development</a:t>
            </a:r>
            <a:r>
              <a:rPr lang="en-US" sz="1400" dirty="0">
                <a:solidFill>
                  <a:srgbClr val="FFFFFF"/>
                </a:solidFill>
              </a:rPr>
              <a:t> proíbe obsoletos, Dynpro e acesso a objetos não liberados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compilador sugere o substituto liberado, como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400" dirty="0">
                <a:solidFill>
                  <a:srgbClr val="FFFFFF"/>
                </a:solidFill>
              </a:rPr>
              <a:t> no lugar de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RAP, ABAP analytics e frameworks liberados cobrem transação, análise e integração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Released APIs</a:t>
            </a:r>
            <a:r>
              <a:rPr lang="en-US" sz="1400" dirty="0">
                <a:solidFill>
                  <a:srgbClr val="FFFFFF"/>
                </a:solidFill>
              </a:rPr>
              <a:t> (local, remote, extension points) e serviços de reuso dão estabilidade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05.04  </a:t>
            </a:r>
            <a:r>
              <a:rPr lang="en-US" sz="1500" dirty="0">
                <a:solidFill>
                  <a:srgbClr val="FFFFFF"/>
                </a:solidFill>
              </a:rPr>
              <a:t>Modelo de extensibilidade: Key user, developer e side-by-side.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05.03 ABAP Cloud em profundidade</dc:title>
  <dc:subject>ABAP Moderno – Módulo 05: Extensibilidade Clean Core</dc:subject>
  <dc:creator>Adriano Bispo</dc:creator>
  <cp:lastModifiedBy>Adriano Bispo</cp:lastModifiedBy>
  <cp:revision>1</cp:revision>
  <dcterms:created xsi:type="dcterms:W3CDTF">2026-10-29T01:27:22Z</dcterms:created>
  <dcterms:modified xsi:type="dcterms:W3CDTF">2026-10-29T01:27:22Z</dcterms:modified>
</cp:coreProperties>
</file>