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Visão geral do módulo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Visão geral do módulo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VISÃO GERAL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RAP e Fiori elements: a jornada completa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Visão geral do módulo 03: do serviço OData V4 do RAP ao app Manage Travels publicado, configurado com anotações e SAP Fiori tools.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11 aulas neste módulo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Onze aulas, do serviço ao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92781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Service definition e service binding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7233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headerInfo, lineItem, selectionField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35188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Gerador, Page Map e Guided Development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Criticality, ações e importância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2" name="Text 40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7" name="Text 45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447233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 facets, visibilidade e tabelas filhas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2" name="Text 50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7" name="Text 55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Base oficial  </a:t>
            </a:r>
            <a:r>
              <a:rPr lang="en-US" sz="1200" dirty="0">
                <a:solidFill>
                  <a:srgbClr val="1D2D3E"/>
                </a:solidFill>
              </a:rPr>
              <a:t>o módulo segue o curso </a:t>
            </a:r>
            <a:r>
              <a:rPr lang="en-US" sz="1200" b="1" dirty="0">
                <a:solidFill>
                  <a:srgbClr val="1D2D3E"/>
                </a:solidFill>
              </a:rPr>
              <a:t>Getting Started with Creating an SAP Fiori Elements App Based on an OData V4 RAP Service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6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módulo em números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0F2"/>
                </a:solidFill>
              </a:rPr>
              <a:t>11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Aulas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serviço, anotações, tools e deploy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2536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73704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1 app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73704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Manage Travels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construído ao longo do módulo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6432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7600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OData V4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97600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Protocolo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recomendado pela SAP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20327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21495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Linhas de UI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até a aula de extensões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31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0876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Onde ele entra na jornada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72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Módulo </a:t>
            </a:r>
            <a:r>
              <a:rPr lang="en-US" sz="1200" b="1" dirty="0">
                <a:solidFill>
                  <a:srgbClr val="556B82"/>
                </a:solidFill>
              </a:rPr>
              <a:t>complementar</a:t>
            </a:r>
            <a:r>
              <a:rPr lang="en-US" sz="1200" dirty="0">
                <a:solidFill>
                  <a:srgbClr val="556B82"/>
                </a:solidFill>
              </a:rPr>
              <a:t> à trilha </a:t>
            </a:r>
            <a:r>
              <a:rPr lang="en-US" sz="1200" b="1" dirty="0">
                <a:solidFill>
                  <a:srgbClr val="556B82"/>
                </a:solidFill>
              </a:rPr>
              <a:t>01 → 04 → 02 → 05</a:t>
            </a:r>
            <a:r>
              <a:rPr lang="en-US" sz="1200" dirty="0">
                <a:solidFill>
                  <a:srgbClr val="556B82"/>
                </a:solidFill>
              </a:rPr>
              <a:t>. Faça depois do módulo 01 (RAP básico) para ver o mesmo modelo virar um app Fiori completo.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977640"/>
            <a:ext cx="698602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0" y="3977640"/>
            <a:ext cx="6986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RAP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693762" y="3977640"/>
            <a:ext cx="1100938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93762" y="3977640"/>
            <a:ext cx="110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OData V4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31859" y="3977640"/>
            <a:ext cx="150327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31859" y="397764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Anotações @UI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58000" y="4416552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0" y="441655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SAP Fiori tools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659368" y="4416552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59368" y="4416552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List 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0" y="4855464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0" y="4855464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Object Page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37499" y="4855464"/>
            <a:ext cx="69860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37499" y="4855464"/>
            <a:ext cx="6986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FPM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73261" y="4855464"/>
            <a:ext cx="940003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73261" y="4855464"/>
            <a:ext cx="9400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Deploy</a:t>
            </a:r>
            <a:endParaRPr lang="en-US" sz="10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04256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MÓDULO 03 · VISÃO GERAL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caminho do app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Quatro etapas: </a:t>
            </a:r>
            <a:r>
              <a:rPr lang="en-US" sz="1600" b="1" dirty="0">
                <a:solidFill>
                  <a:srgbClr val="D1EFFF"/>
                </a:solidFill>
              </a:rPr>
              <a:t>expor</a:t>
            </a:r>
            <a:r>
              <a:rPr lang="en-US" sz="1600" dirty="0">
                <a:solidFill>
                  <a:srgbClr val="D1EFFF"/>
                </a:solidFill>
              </a:rPr>
              <a:t> o serviço, </a:t>
            </a:r>
            <a:r>
              <a:rPr lang="en-US" sz="1600" b="1" dirty="0">
                <a:solidFill>
                  <a:srgbClr val="D1EFFF"/>
                </a:solidFill>
              </a:rPr>
              <a:t>descrever</a:t>
            </a:r>
            <a:r>
              <a:rPr lang="en-US" sz="1600" dirty="0">
                <a:solidFill>
                  <a:srgbClr val="D1EFFF"/>
                </a:solidFill>
              </a:rPr>
              <a:t> a UI no back-end, </a:t>
            </a:r>
            <a:r>
              <a:rPr lang="en-US" sz="1600" b="1" dirty="0">
                <a:solidFill>
                  <a:srgbClr val="D1EFFF"/>
                </a:solidFill>
              </a:rPr>
              <a:t>configurar</a:t>
            </a:r>
            <a:r>
              <a:rPr lang="en-US" sz="1600" dirty="0">
                <a:solidFill>
                  <a:srgbClr val="D1EFFF"/>
                </a:solidFill>
              </a:rPr>
              <a:t> o app no front-end e </a:t>
            </a:r>
            <a:r>
              <a:rPr lang="en-US" sz="1600" b="1" dirty="0">
                <a:solidFill>
                  <a:srgbClr val="D1EFFF"/>
                </a:solidFill>
              </a:rPr>
              <a:t>publicar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</a:t>
            </a:r>
            <a:r>
              <a:rPr lang="en-US" sz="1000" dirty="0">
                <a:solidFill>
                  <a:srgbClr val="D1EFFF"/>
                </a:solidFill>
              </a:rPr>
              <a:t>  03.01 · 03.02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Descrever</a:t>
            </a:r>
            <a:r>
              <a:rPr lang="en-US" sz="1000" dirty="0">
                <a:solidFill>
                  <a:srgbClr val="D1EFFF"/>
                </a:solidFill>
              </a:rPr>
              <a:t>  03.03 · 03.05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Configurar</a:t>
            </a:r>
            <a:r>
              <a:rPr lang="en-US" sz="1000" dirty="0">
                <a:solidFill>
                  <a:srgbClr val="D1EFFF"/>
                </a:solidFill>
              </a:rPr>
              <a:t>  03.04 · 03.06–03.10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Publicar</a:t>
            </a:r>
            <a:r>
              <a:rPr lang="en-US" sz="1000" dirty="0">
                <a:solidFill>
                  <a:srgbClr val="D1EFFF"/>
                </a:solidFill>
              </a:rPr>
              <a:t>  03.11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· ETAPAS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serviço RAP ao usuário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Expor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Service definition e binding OData V4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Descrever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Anotações @UI no CDS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Configurar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Fiori tools, manifest e extensões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Publicar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Deploy, launchpad e acesso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Back-end no ADT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BTP ABAP environment: RAP, CDS, metadata extensions e behavior.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Front-end no BAS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SAP Fiori tools: gerador, Page Map, Page Editor e Guided Development.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Um cenário só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Viagens, bookings e o app Manage Travels do começo ao fim.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· AS AULAS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cada grupo de aulas entrega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71344"/>
            <a:ext cx="2602154" cy="3075432"/>
          </a:xfrm>
          <a:prstGeom prst="roundRect">
            <a:avLst>
              <a:gd name="adj" fmla="val 351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725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76016"/>
            <a:ext cx="2199818" cy="2161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Fundamentos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Fiori elements e OData V4 (03.01)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Exposição de serviços (03.02)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371344"/>
            <a:ext cx="2602154" cy="3075432"/>
          </a:xfrm>
          <a:prstGeom prst="roundRect">
            <a:avLst>
              <a:gd name="adj" fmla="val 351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25725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176016"/>
            <a:ext cx="2199818" cy="2161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Anotações e páginas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Anotações de UI (03.03)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Floorplans e facetas (03.05)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List Report e Object Page (03.06)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371344"/>
            <a:ext cx="2602154" cy="3075432"/>
          </a:xfrm>
          <a:prstGeom prst="roundRect">
            <a:avLst>
              <a:gd name="adj" fmla="val 351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25725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176016"/>
            <a:ext cx="2199818" cy="2161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Recursos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Fiori tools (03.04)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Cores e ações (03.07)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Navegação (03.08)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Object Page avançada (03.09)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371344"/>
            <a:ext cx="2602154" cy="3075432"/>
          </a:xfrm>
          <a:prstGeom prst="roundRect">
            <a:avLst>
              <a:gd name="adj" fmla="val 351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25725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176016"/>
            <a:ext cx="2199818" cy="2161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Além do padrão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Flexible Programming Model (03.10)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56B82"/>
                </a:solidFill>
              </a:rPr>
              <a:t>Deploy e acesso (03.11)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73096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2653" y="2673096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00" y="2673096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1146" y="267309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DO MÓDULO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este módulo vai ensinar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Como o </a:t>
            </a:r>
            <a:r>
              <a:rPr lang="en-US" sz="1400" b="1" dirty="0">
                <a:solidFill>
                  <a:srgbClr val="FFFFFF"/>
                </a:solidFill>
              </a:rPr>
              <a:t>Fiori elements</a:t>
            </a:r>
            <a:r>
              <a:rPr lang="en-US" sz="1400" dirty="0">
                <a:solidFill>
                  <a:srgbClr val="FFFFFF"/>
                </a:solidFill>
              </a:rPr>
              <a:t> gera apps a partir de metadados e anotações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Expor um BO RAP como serviço </a:t>
            </a:r>
            <a:r>
              <a:rPr lang="en-US" sz="1400" b="1" dirty="0">
                <a:solidFill>
                  <a:srgbClr val="FFFFFF"/>
                </a:solidFill>
              </a:rPr>
              <a:t>OData V4 - 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Descrever List Report e Object Page com anotações </a:t>
            </a:r>
            <a:r>
              <a:rPr lang="en-US" sz="1400" b="1" dirty="0">
                <a:solidFill>
                  <a:srgbClr val="FFFFFF"/>
                </a:solidFill>
              </a:rPr>
              <a:t>@UI</a:t>
            </a:r>
            <a:r>
              <a:rPr lang="en-US" sz="1400" dirty="0">
                <a:solidFill>
                  <a:srgbClr val="FFFFFF"/>
                </a:solidFill>
              </a:rPr>
              <a:t> no CDS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Configurar o app com </a:t>
            </a:r>
            <a:r>
              <a:rPr lang="en-US" sz="1400" b="1" dirty="0">
                <a:solidFill>
                  <a:srgbClr val="FFFFFF"/>
                </a:solidFill>
              </a:rPr>
              <a:t>SAP Fiori tools</a:t>
            </a:r>
            <a:r>
              <a:rPr lang="en-US" sz="1400" dirty="0">
                <a:solidFill>
                  <a:srgbClr val="FFFFFF"/>
                </a:solidFill>
              </a:rPr>
              <a:t>, Page Map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Cores, ações, navegação, header facets e </a:t>
            </a:r>
            <a:r>
              <a:rPr lang="en-US" sz="1400" b="1" dirty="0">
                <a:solidFill>
                  <a:srgbClr val="FFFFFF"/>
                </a:solidFill>
              </a:rPr>
              <a:t>feature control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Estender com o </a:t>
            </a:r>
            <a:r>
              <a:rPr lang="en-US" sz="1400" b="1" dirty="0">
                <a:solidFill>
                  <a:srgbClr val="FFFFFF"/>
                </a:solidFill>
              </a:rPr>
              <a:t>Flexible Programming Model</a:t>
            </a:r>
            <a:r>
              <a:rPr lang="en-US" sz="1400" dirty="0">
                <a:solidFill>
                  <a:srgbClr val="FFFFFF"/>
                </a:solidFill>
              </a:rPr>
              <a:t> e fazer o </a:t>
            </a: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03.01  </a:t>
            </a:r>
            <a:r>
              <a:rPr lang="en-US" sz="1500" dirty="0">
                <a:solidFill>
                  <a:srgbClr val="FFFFFF"/>
                </a:solidFill>
              </a:rPr>
              <a:t>Fiori Elements e OData V4: Apps guiados por metadados.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03.00 RAP e Fiori elements: a jornada completa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2026-10-29T01:42:27Z</dcterms:created>
  <dcterms:modified xsi:type="dcterms:W3CDTF">2026-10-29T01:42:27Z</dcterms:modified>
</cp:coreProperties>
</file>