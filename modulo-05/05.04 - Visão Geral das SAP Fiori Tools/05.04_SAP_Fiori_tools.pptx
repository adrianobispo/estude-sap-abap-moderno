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SCURO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3C7"/>
                </a:solidFill>
              </a:rPr>
              <a:t>ABAP Moderno · Módulo 03 — SAP Fiori Elements com OData V4  ·  Aula 4 de 11 — SAP Fiori Tools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50" kern="0" dirty="0">
                <a:solidFill>
                  <a:srgbClr val="0064D9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D2D3E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473952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</a:rPr>
              <a:t>ABAP Moderno · Módulo 03 — SAP Fiori Elements com OData V4  ·  Aula 4 de 11 — SAP Fiori Tools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slideLayout" Target="../slideLayouts/slideLayout4.xml"/><Relationship Id="rId1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MÓDULO 03 · AULA 04 DE 11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SAP Fiori tools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94760"/>
            <a:ext cx="6583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D1EFFF"/>
                </a:solidFill>
              </a:rPr>
              <a:t>Extensões para gerar, configurar, testar e publicar apps Fiori elements no Business Application Studio ou no VS Code.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8183880" y="1325880"/>
            <a:ext cx="3246120" cy="3246120"/>
          </a:xfrm>
          <a:prstGeom prst="roundRect">
            <a:avLst>
              <a:gd name="adj" fmla="val 15493"/>
            </a:avLst>
          </a:prstGeom>
          <a:solidFill>
            <a:srgbClr val="1B3A7A"/>
          </a:solidFill>
          <a:ln/>
        </p:spPr>
      </p:sp>
      <p:sp>
        <p:nvSpPr>
          <p:cNvPr id="6" name="Shape 4"/>
          <p:cNvSpPr/>
          <p:nvPr/>
        </p:nvSpPr>
        <p:spPr>
          <a:xfrm>
            <a:off x="8732520" y="1874520"/>
            <a:ext cx="2148840" cy="2148840"/>
          </a:xfrm>
          <a:prstGeom prst="roundRect">
            <a:avLst>
              <a:gd name="adj" fmla="val 17021"/>
            </a:avLst>
          </a:prstGeom>
          <a:solidFill>
            <a:srgbClr val="0070F2"/>
          </a:solidFill>
          <a:ln/>
        </p:spPr>
      </p:sp>
      <p:sp>
        <p:nvSpPr>
          <p:cNvPr id="7" name="Shape 5"/>
          <p:cNvSpPr/>
          <p:nvPr/>
        </p:nvSpPr>
        <p:spPr>
          <a:xfrm>
            <a:off x="8183880" y="4937760"/>
            <a:ext cx="211975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8" name="Shape 6"/>
          <p:cNvSpPr/>
          <p:nvPr/>
        </p:nvSpPr>
        <p:spPr>
          <a:xfrm>
            <a:off x="8487295" y="4937760"/>
            <a:ext cx="211975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9" name="Shape 7"/>
          <p:cNvSpPr/>
          <p:nvPr/>
        </p:nvSpPr>
        <p:spPr>
          <a:xfrm>
            <a:off x="8790709" y="4937760"/>
            <a:ext cx="211975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0" name="Shape 8"/>
          <p:cNvSpPr/>
          <p:nvPr/>
        </p:nvSpPr>
        <p:spPr>
          <a:xfrm>
            <a:off x="9094124" y="4937760"/>
            <a:ext cx="211975" cy="82296"/>
          </a:xfrm>
          <a:prstGeom prst="roundRect">
            <a:avLst>
              <a:gd name="adj" fmla="val 44444"/>
            </a:avLst>
          </a:prstGeom>
          <a:solidFill>
            <a:srgbClr val="89D1FF"/>
          </a:solidFill>
          <a:ln/>
        </p:spPr>
      </p:sp>
      <p:sp>
        <p:nvSpPr>
          <p:cNvPr id="11" name="Shape 9"/>
          <p:cNvSpPr/>
          <p:nvPr/>
        </p:nvSpPr>
        <p:spPr>
          <a:xfrm>
            <a:off x="9397538" y="4937760"/>
            <a:ext cx="211975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2" name="Shape 10"/>
          <p:cNvSpPr/>
          <p:nvPr/>
        </p:nvSpPr>
        <p:spPr>
          <a:xfrm>
            <a:off x="9700953" y="4937760"/>
            <a:ext cx="211975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3" name="Shape 11"/>
          <p:cNvSpPr/>
          <p:nvPr/>
        </p:nvSpPr>
        <p:spPr>
          <a:xfrm>
            <a:off x="10004367" y="4937760"/>
            <a:ext cx="211975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4" name="Shape 12"/>
          <p:cNvSpPr/>
          <p:nvPr/>
        </p:nvSpPr>
        <p:spPr>
          <a:xfrm>
            <a:off x="10307782" y="4937760"/>
            <a:ext cx="211975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11196" y="4937760"/>
            <a:ext cx="211975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6" name="Shape 14"/>
          <p:cNvSpPr/>
          <p:nvPr/>
        </p:nvSpPr>
        <p:spPr>
          <a:xfrm>
            <a:off x="10914611" y="4937760"/>
            <a:ext cx="211975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7" name="Shape 15"/>
          <p:cNvSpPr/>
          <p:nvPr/>
        </p:nvSpPr>
        <p:spPr>
          <a:xfrm>
            <a:off x="11218025" y="4937760"/>
            <a:ext cx="211975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183880" y="512064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Aula 4 de 11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" y="59893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FA3C7"/>
                </a:solidFill>
              </a:rPr>
              <a:t>ABAP Moderno · Módulo 03 — SAP Fiori Elements com OData V4 · Design System SAP Horizon</a:t>
            </a:r>
            <a:endParaRPr lang="en-US" sz="1100" dirty="0"/>
          </a:p>
        </p:txBody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0" y="2468880"/>
            <a:ext cx="960120" cy="9601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A SÉRIE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Módulo 03 em 11 aulas: Fiori Elements com OData V4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696669" cy="182880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1</a:t>
            </a:r>
            <a:endParaRPr lang="en-US" sz="126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31720"/>
            <a:ext cx="13674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Fiori Elements e OData V4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788920"/>
            <a:ext cx="136748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Apps guiados por metadados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428189" y="1645920"/>
            <a:ext cx="1696669" cy="182880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92781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592781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2</a:t>
            </a:r>
            <a:endParaRPr lang="en-US" sz="1260" dirty="0"/>
          </a:p>
        </p:txBody>
      </p:sp>
      <p:sp>
        <p:nvSpPr>
          <p:cNvPr id="12" name="Text 10"/>
          <p:cNvSpPr txBox="1"/>
          <p:nvPr/>
        </p:nvSpPr>
        <p:spPr>
          <a:xfrm>
            <a:off x="2592781" y="2331720"/>
            <a:ext cx="13674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Exposição de serviços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2592781" y="2788920"/>
            <a:ext cx="136748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Service definition e service binding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307738" y="1645920"/>
            <a:ext cx="1696669" cy="182880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472330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47233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3</a:t>
            </a:r>
            <a:endParaRPr lang="en-US" sz="1260" dirty="0"/>
          </a:p>
        </p:txBody>
      </p:sp>
      <p:sp>
        <p:nvSpPr>
          <p:cNvPr id="17" name="Text 15"/>
          <p:cNvSpPr txBox="1"/>
          <p:nvPr/>
        </p:nvSpPr>
        <p:spPr>
          <a:xfrm>
            <a:off x="4472330" y="2331720"/>
            <a:ext cx="13674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Anotações de UI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4472330" y="2788920"/>
            <a:ext cx="136748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headerInfo, lineItem, selectionField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187288" y="1645920"/>
            <a:ext cx="1696669" cy="182880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 w="25400">
            <a:solidFill>
              <a:srgbClr val="0070F2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351880" y="1828800"/>
            <a:ext cx="384048" cy="384048"/>
          </a:xfrm>
          <a:prstGeom prst="ellipse">
            <a:avLst/>
          </a:prstGeom>
          <a:solidFill>
            <a:srgbClr val="0070F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35188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FFFFFF"/>
                </a:solidFill>
              </a:rPr>
              <a:t>4</a:t>
            </a:r>
            <a:endParaRPr lang="en-US" sz="1260" dirty="0"/>
          </a:p>
        </p:txBody>
      </p:sp>
      <p:sp>
        <p:nvSpPr>
          <p:cNvPr id="22" name="Text 20"/>
          <p:cNvSpPr txBox="1"/>
          <p:nvPr/>
        </p:nvSpPr>
        <p:spPr>
          <a:xfrm>
            <a:off x="6351880" y="2331720"/>
            <a:ext cx="13674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SAP Fiori Tools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6351880" y="2852928"/>
            <a:ext cx="1367485" cy="256032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351880" y="2852928"/>
            <a:ext cx="136748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64D9"/>
                </a:solidFill>
              </a:rPr>
              <a:t>Você está aqui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8066837" y="1645920"/>
            <a:ext cx="1696669" cy="182880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231429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231429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5</a:t>
            </a:r>
            <a:endParaRPr lang="en-US" sz="1260" dirty="0"/>
          </a:p>
        </p:txBody>
      </p:sp>
      <p:sp>
        <p:nvSpPr>
          <p:cNvPr id="28" name="Text 26"/>
          <p:cNvSpPr txBox="1"/>
          <p:nvPr/>
        </p:nvSpPr>
        <p:spPr>
          <a:xfrm>
            <a:off x="8231429" y="2331720"/>
            <a:ext cx="13674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Floorplans</a:t>
            </a:r>
            <a:endParaRPr lang="en-US" sz="1350" dirty="0"/>
          </a:p>
        </p:txBody>
      </p:sp>
      <p:sp>
        <p:nvSpPr>
          <p:cNvPr id="29" name="Text 27"/>
          <p:cNvSpPr txBox="1"/>
          <p:nvPr/>
        </p:nvSpPr>
        <p:spPr>
          <a:xfrm>
            <a:off x="8231429" y="2788920"/>
            <a:ext cx="136748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List Report, Object Page e facetas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9946386" y="1645920"/>
            <a:ext cx="1696669" cy="182880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10110978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10110978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6</a:t>
            </a:r>
            <a:endParaRPr lang="en-US" sz="1260" dirty="0"/>
          </a:p>
        </p:txBody>
      </p:sp>
      <p:sp>
        <p:nvSpPr>
          <p:cNvPr id="33" name="Text 31"/>
          <p:cNvSpPr txBox="1"/>
          <p:nvPr/>
        </p:nvSpPr>
        <p:spPr>
          <a:xfrm>
            <a:off x="10110978" y="2331720"/>
            <a:ext cx="13674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List Report e Object Page</a:t>
            </a:r>
            <a:endParaRPr lang="en-US" sz="1350" dirty="0"/>
          </a:p>
        </p:txBody>
      </p:sp>
      <p:sp>
        <p:nvSpPr>
          <p:cNvPr id="34" name="Text 32"/>
          <p:cNvSpPr txBox="1"/>
          <p:nvPr/>
        </p:nvSpPr>
        <p:spPr>
          <a:xfrm>
            <a:off x="10110978" y="2788920"/>
            <a:ext cx="136748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Ordenação, seções e field groups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548640" y="3657600"/>
            <a:ext cx="1696669" cy="182880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713232" y="384048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713232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7</a:t>
            </a:r>
            <a:endParaRPr lang="en-US" sz="1260" dirty="0"/>
          </a:p>
        </p:txBody>
      </p:sp>
      <p:sp>
        <p:nvSpPr>
          <p:cNvPr id="38" name="Text 36"/>
          <p:cNvSpPr txBox="1"/>
          <p:nvPr/>
        </p:nvSpPr>
        <p:spPr>
          <a:xfrm>
            <a:off x="713232" y="4343400"/>
            <a:ext cx="13674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Tabelas: cores e ações</a:t>
            </a:r>
            <a:endParaRPr lang="en-US" sz="1350" dirty="0"/>
          </a:p>
        </p:txBody>
      </p:sp>
      <p:sp>
        <p:nvSpPr>
          <p:cNvPr id="39" name="Text 37"/>
          <p:cNvSpPr txBox="1"/>
          <p:nvPr/>
        </p:nvSpPr>
        <p:spPr>
          <a:xfrm>
            <a:off x="713232" y="4800600"/>
            <a:ext cx="136748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Criticality, ações e importância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2428189" y="3657600"/>
            <a:ext cx="1696669" cy="182880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2592781" y="384048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2592781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8</a:t>
            </a:r>
            <a:endParaRPr lang="en-US" sz="1260" dirty="0"/>
          </a:p>
        </p:txBody>
      </p:sp>
      <p:sp>
        <p:nvSpPr>
          <p:cNvPr id="43" name="Text 41"/>
          <p:cNvSpPr txBox="1"/>
          <p:nvPr/>
        </p:nvSpPr>
        <p:spPr>
          <a:xfrm>
            <a:off x="2592781" y="4343400"/>
            <a:ext cx="13674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Navegação</a:t>
            </a:r>
            <a:endParaRPr lang="en-US" sz="1350" dirty="0"/>
          </a:p>
        </p:txBody>
      </p:sp>
      <p:sp>
        <p:nvSpPr>
          <p:cNvPr id="44" name="Text 42"/>
          <p:cNvSpPr txBox="1"/>
          <p:nvPr/>
        </p:nvSpPr>
        <p:spPr>
          <a:xfrm>
            <a:off x="2592781" y="4800600"/>
            <a:ext cx="136748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Interna, externa e baseada em intenção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4307738" y="3657600"/>
            <a:ext cx="1696669" cy="182880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4472330" y="384048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4472330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9</a:t>
            </a:r>
            <a:endParaRPr lang="en-US" sz="1260" dirty="0"/>
          </a:p>
        </p:txBody>
      </p:sp>
      <p:sp>
        <p:nvSpPr>
          <p:cNvPr id="48" name="Text 46"/>
          <p:cNvSpPr txBox="1"/>
          <p:nvPr/>
        </p:nvSpPr>
        <p:spPr>
          <a:xfrm>
            <a:off x="4472330" y="4343400"/>
            <a:ext cx="13674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Object Page avançada</a:t>
            </a:r>
            <a:endParaRPr lang="en-US" sz="1350" dirty="0"/>
          </a:p>
        </p:txBody>
      </p:sp>
      <p:sp>
        <p:nvSpPr>
          <p:cNvPr id="49" name="Text 47"/>
          <p:cNvSpPr txBox="1"/>
          <p:nvPr/>
        </p:nvSpPr>
        <p:spPr>
          <a:xfrm>
            <a:off x="4472330" y="4800600"/>
            <a:ext cx="136748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Header facets, visibilidade e tabelas filhas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6187288" y="3657600"/>
            <a:ext cx="1696669" cy="182880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6351880" y="384048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6351880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10</a:t>
            </a:r>
            <a:endParaRPr lang="en-US" sz="1260" dirty="0"/>
          </a:p>
        </p:txBody>
      </p:sp>
      <p:sp>
        <p:nvSpPr>
          <p:cNvPr id="53" name="Text 51"/>
          <p:cNvSpPr txBox="1"/>
          <p:nvPr/>
        </p:nvSpPr>
        <p:spPr>
          <a:xfrm>
            <a:off x="6351880" y="4343400"/>
            <a:ext cx="13674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Programação flexível</a:t>
            </a:r>
            <a:endParaRPr lang="en-US" sz="1350" dirty="0"/>
          </a:p>
        </p:txBody>
      </p:sp>
      <p:sp>
        <p:nvSpPr>
          <p:cNvPr id="54" name="Text 52"/>
          <p:cNvSpPr txBox="1"/>
          <p:nvPr/>
        </p:nvSpPr>
        <p:spPr>
          <a:xfrm>
            <a:off x="6351880" y="4800600"/>
            <a:ext cx="136748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Flexible Programming Model e building blocks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8066837" y="3657600"/>
            <a:ext cx="1696669" cy="182880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56" name="Shape 54"/>
          <p:cNvSpPr/>
          <p:nvPr/>
        </p:nvSpPr>
        <p:spPr>
          <a:xfrm>
            <a:off x="8231429" y="384048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8231429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11</a:t>
            </a:r>
            <a:endParaRPr lang="en-US" sz="1260" dirty="0"/>
          </a:p>
        </p:txBody>
      </p:sp>
      <p:sp>
        <p:nvSpPr>
          <p:cNvPr id="58" name="Text 56"/>
          <p:cNvSpPr txBox="1"/>
          <p:nvPr/>
        </p:nvSpPr>
        <p:spPr>
          <a:xfrm>
            <a:off x="8231429" y="4343400"/>
            <a:ext cx="13674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Deploy</a:t>
            </a:r>
            <a:endParaRPr lang="en-US" sz="1350" dirty="0"/>
          </a:p>
        </p:txBody>
      </p:sp>
      <p:sp>
        <p:nvSpPr>
          <p:cNvPr id="59" name="Text 57"/>
          <p:cNvSpPr txBox="1"/>
          <p:nvPr/>
        </p:nvSpPr>
        <p:spPr>
          <a:xfrm>
            <a:off x="8231429" y="4800600"/>
            <a:ext cx="136748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Publicação, launchpad e acesso</a:t>
            </a:r>
            <a:endParaRPr lang="en-US" sz="1050" dirty="0"/>
          </a:p>
        </p:txBody>
      </p:sp>
      <p:sp>
        <p:nvSpPr>
          <p:cNvPr id="60" name="Shape 58"/>
          <p:cNvSpPr/>
          <p:nvPr/>
        </p:nvSpPr>
        <p:spPr>
          <a:xfrm>
            <a:off x="548640" y="5623560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E1F4FF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1207008" y="5623560"/>
            <a:ext cx="102257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Nesta aula  </a:t>
            </a:r>
            <a:r>
              <a:rPr lang="en-US" sz="1200" dirty="0">
                <a:solidFill>
                  <a:srgbClr val="1D2D3E"/>
                </a:solidFill>
              </a:rPr>
              <a:t>geramos o app Manage Travels sobre o serviço OData V4 e conhecemos as ferramentas que configuram o app sem escrever código.</a:t>
            </a:r>
            <a:endParaRPr lang="en-US" sz="1400" dirty="0"/>
          </a:p>
        </p:txBody>
      </p:sp>
      <p:pic>
        <p:nvPicPr>
          <p:cNvPr id="6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6669" y="1847088"/>
            <a:ext cx="347472" cy="347472"/>
          </a:xfrm>
          <a:prstGeom prst="rect">
            <a:avLst/>
          </a:prstGeom>
        </p:spPr>
      </p:pic>
      <p:pic>
        <p:nvPicPr>
          <p:cNvPr id="6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6218" y="1847088"/>
            <a:ext cx="347472" cy="347472"/>
          </a:xfrm>
          <a:prstGeom prst="rect">
            <a:avLst/>
          </a:prstGeom>
        </p:spPr>
      </p:pic>
      <p:pic>
        <p:nvPicPr>
          <p:cNvPr id="6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5768" y="1847088"/>
            <a:ext cx="347472" cy="347472"/>
          </a:xfrm>
          <a:prstGeom prst="rect">
            <a:avLst/>
          </a:prstGeom>
        </p:spPr>
      </p:pic>
      <p:pic>
        <p:nvPicPr>
          <p:cNvPr id="6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35317" y="1847088"/>
            <a:ext cx="347472" cy="347472"/>
          </a:xfrm>
          <a:prstGeom prst="rect">
            <a:avLst/>
          </a:prstGeom>
        </p:spPr>
      </p:pic>
      <p:pic>
        <p:nvPicPr>
          <p:cNvPr id="6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14866" y="1847088"/>
            <a:ext cx="347472" cy="347472"/>
          </a:xfrm>
          <a:prstGeom prst="rect">
            <a:avLst/>
          </a:prstGeom>
        </p:spPr>
      </p:pic>
      <p:pic>
        <p:nvPicPr>
          <p:cNvPr id="6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94415" y="1847088"/>
            <a:ext cx="347472" cy="347472"/>
          </a:xfrm>
          <a:prstGeom prst="rect">
            <a:avLst/>
          </a:prstGeom>
        </p:spPr>
      </p:pic>
      <p:pic>
        <p:nvPicPr>
          <p:cNvPr id="6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96669" y="3858768"/>
            <a:ext cx="347472" cy="347472"/>
          </a:xfrm>
          <a:prstGeom prst="rect">
            <a:avLst/>
          </a:prstGeom>
        </p:spPr>
      </p:pic>
      <p:pic>
        <p:nvPicPr>
          <p:cNvPr id="69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576218" y="3858768"/>
            <a:ext cx="347472" cy="347472"/>
          </a:xfrm>
          <a:prstGeom prst="rect">
            <a:avLst/>
          </a:prstGeom>
        </p:spPr>
      </p:pic>
      <p:pic>
        <p:nvPicPr>
          <p:cNvPr id="7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55768" y="3858768"/>
            <a:ext cx="347472" cy="347472"/>
          </a:xfrm>
          <a:prstGeom prst="rect">
            <a:avLst/>
          </a:prstGeom>
        </p:spPr>
      </p:pic>
      <p:pic>
        <p:nvPicPr>
          <p:cNvPr id="71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335317" y="3858768"/>
            <a:ext cx="347472" cy="347472"/>
          </a:xfrm>
          <a:prstGeom prst="rect">
            <a:avLst/>
          </a:prstGeom>
        </p:spPr>
      </p:pic>
      <p:pic>
        <p:nvPicPr>
          <p:cNvPr id="72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214866" y="3858768"/>
            <a:ext cx="347472" cy="347472"/>
          </a:xfrm>
          <a:prstGeom prst="rect">
            <a:avLst/>
          </a:prstGeom>
        </p:spPr>
      </p:pic>
      <p:pic>
        <p:nvPicPr>
          <p:cNvPr id="73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49808" y="5751576"/>
            <a:ext cx="310896" cy="3108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VISÃO GERAL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Um ciclo de desenvolvimento guiado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56B82"/>
                </a:solidFill>
              </a:rPr>
              <a:t>O </a:t>
            </a:r>
            <a:r>
              <a:rPr lang="en-US" sz="1500" b="1" dirty="0">
                <a:solidFill>
                  <a:srgbClr val="556B82"/>
                </a:solidFill>
              </a:rPr>
              <a:t>SAP Fiori tools extension pack</a:t>
            </a:r>
            <a:r>
              <a:rPr lang="en-US" sz="1500" dirty="0">
                <a:solidFill>
                  <a:srgbClr val="556B82"/>
                </a:solidFill>
              </a:rPr>
              <a:t> acompanha o app do início ao fim: gerar, visualizar, configurar e publicar.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3028569"/>
            <a:ext cx="2036003" cy="2309622"/>
          </a:xfrm>
          <a:prstGeom prst="roundRect">
            <a:avLst>
              <a:gd name="adj" fmla="val 4491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49808" y="3229737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49808" y="3833241"/>
            <a:ext cx="1633667" cy="1395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Application Generator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Cria o projeto a partir de um serviço e um template.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813243" y="3028569"/>
            <a:ext cx="2036003" cy="2309622"/>
          </a:xfrm>
          <a:prstGeom prst="roundRect">
            <a:avLst>
              <a:gd name="adj" fmla="val 4491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014411" y="3229737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014411" y="3833241"/>
            <a:ext cx="1633667" cy="1395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Page Map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Mostra páginas e navegação; abre o editor de cada página.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077846" y="3028569"/>
            <a:ext cx="2036003" cy="2309622"/>
          </a:xfrm>
          <a:prstGeom prst="roundRect">
            <a:avLst>
              <a:gd name="adj" fmla="val 4491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279014" y="3229737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279014" y="3833241"/>
            <a:ext cx="1633667" cy="1395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Guided Development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Passo a passo que gera o código de um recurso.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342449" y="3028569"/>
            <a:ext cx="2036003" cy="2309622"/>
          </a:xfrm>
          <a:prstGeom prst="roundRect">
            <a:avLst>
              <a:gd name="adj" fmla="val 4491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543617" y="3229737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543617" y="3833241"/>
            <a:ext cx="1633667" cy="1395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Annotation support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Autocomplete e validação de anotações locais.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9607052" y="3028569"/>
            <a:ext cx="2036003" cy="2309622"/>
          </a:xfrm>
          <a:prstGeom prst="roundRect">
            <a:avLst>
              <a:gd name="adj" fmla="val 4491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9808220" y="3229737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808220" y="3833241"/>
            <a:ext cx="1633667" cy="1395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Preview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Roda o app com dados reais ou mock data.</a:t>
            </a:r>
            <a:endParaRPr lang="en-US" sz="1400" dirty="0"/>
          </a:p>
        </p:txBody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" y="3330321"/>
            <a:ext cx="256032" cy="256032"/>
          </a:xfrm>
          <a:prstGeom prst="rect">
            <a:avLst/>
          </a:prstGeom>
        </p:spPr>
      </p:pic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4995" y="3330321"/>
            <a:ext cx="256032" cy="256032"/>
          </a:xfrm>
          <a:prstGeom prst="rect">
            <a:avLst/>
          </a:prstGeom>
        </p:spPr>
      </p:pic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9598" y="3330321"/>
            <a:ext cx="256032" cy="256032"/>
          </a:xfrm>
          <a:prstGeom prst="rect">
            <a:avLst/>
          </a:prstGeom>
        </p:spPr>
      </p:pic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4201" y="3330321"/>
            <a:ext cx="256032" cy="256032"/>
          </a:xfrm>
          <a:prstGeom prst="rect">
            <a:avLst/>
          </a:prstGeom>
        </p:spPr>
      </p:pic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08804" y="3330321"/>
            <a:ext cx="256032" cy="25603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1B3A7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1600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AULA 03.04 · SEÇÃO 1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965960"/>
            <a:ext cx="6766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Ambiente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70332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1EFFF"/>
                </a:solidFill>
              </a:rPr>
              <a:t>As mesmas extensões funcionam no </a:t>
            </a:r>
            <a:r>
              <a:rPr lang="en-US" sz="1600" b="1" dirty="0">
                <a:solidFill>
                  <a:srgbClr val="D1EFFF"/>
                </a:solidFill>
              </a:rPr>
              <a:t>SAP Business Application Studio</a:t>
            </a:r>
            <a:r>
              <a:rPr lang="en-US" sz="1600" dirty="0">
                <a:solidFill>
                  <a:srgbClr val="D1EFFF"/>
                </a:solidFill>
              </a:rPr>
              <a:t> (na nuvem) e no </a:t>
            </a:r>
            <a:r>
              <a:rPr lang="en-US" sz="1600" b="1" dirty="0">
                <a:solidFill>
                  <a:srgbClr val="D1EFFF"/>
                </a:solidFill>
              </a:rPr>
              <a:t>VS Code</a:t>
            </a:r>
            <a:r>
              <a:rPr lang="en-US" sz="1600" dirty="0">
                <a:solidFill>
                  <a:srgbClr val="D1EFFF"/>
                </a:solidFill>
              </a:rPr>
              <a:t> (local).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001000" y="1463040"/>
            <a:ext cx="3611880" cy="2221992"/>
          </a:xfrm>
          <a:prstGeom prst="roundRect">
            <a:avLst>
              <a:gd name="adj" fmla="val 4115"/>
            </a:avLst>
          </a:prstGeom>
          <a:solidFill>
            <a:srgbClr val="1B3A7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0" y="1645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9D1FF"/>
                </a:solidFill>
              </a:rPr>
              <a:t>NESTA SEÇÃO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2029968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</a:t>
            </a:r>
            <a:r>
              <a:rPr lang="en-US" sz="1000" dirty="0">
                <a:solidFill>
                  <a:srgbClr val="D1EFFF"/>
                </a:solidFill>
              </a:rPr>
              <a:t>  dev space SAP Fiori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0" y="2414016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VS Code</a:t>
            </a:r>
            <a:r>
              <a:rPr lang="en-US" sz="1000" dirty="0">
                <a:solidFill>
                  <a:srgbClr val="D1EFFF"/>
                </a:solidFill>
              </a:rPr>
              <a:t>  extension pack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0" y="2798064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Cloud Foundry</a:t>
            </a:r>
            <a:r>
              <a:rPr lang="en-US" sz="1000" dirty="0">
                <a:solidFill>
                  <a:srgbClr val="D1EFFF"/>
                </a:solidFill>
              </a:rPr>
              <a:t>  cf login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0" y="3182112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Destinos</a:t>
            </a:r>
            <a:r>
              <a:rPr lang="en-US" sz="1000" dirty="0">
                <a:solidFill>
                  <a:srgbClr val="D1EFFF"/>
                </a:solidFill>
              </a:rPr>
              <a:t>  acesso ao back-end</a:t>
            </a:r>
            <a:endParaRPr lang="en-US" sz="14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713232"/>
            <a:ext cx="402336" cy="40233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IDE · ONDE DESENVOLVER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Business Application Studio ou VS Code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2310003"/>
            <a:ext cx="5410048" cy="2466594"/>
          </a:xfrm>
          <a:prstGeom prst="roundRect">
            <a:avLst>
              <a:gd name="adj" fmla="val 3707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2310003"/>
            <a:ext cx="5410048" cy="73152"/>
          </a:xfrm>
          <a:prstGeom prst="rect">
            <a:avLst/>
          </a:prstGeom>
          <a:solidFill>
            <a:srgbClr val="556B82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2584323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FF1F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371600" y="2584323"/>
            <a:ext cx="440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3548"/>
                </a:solidFill>
              </a:rPr>
              <a:t>SAP Business Application Studio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224403"/>
            <a:ext cx="4952848" cy="1415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Serviço do SAP BTP, aberto no navegador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Dev spaces </a:t>
            </a:r>
            <a:r>
              <a:rPr lang="en-US" sz="1350" i="1" dirty="0">
                <a:solidFill>
                  <a:srgbClr val="1D2D3E"/>
                </a:solidFill>
              </a:rPr>
              <a:t>SAP Fiori</a:t>
            </a:r>
            <a:r>
              <a:rPr lang="en-US" sz="1350" dirty="0">
                <a:solidFill>
                  <a:srgbClr val="1D2D3E"/>
                </a:solidFill>
              </a:rPr>
              <a:t> e </a:t>
            </a:r>
            <a:r>
              <a:rPr lang="en-US" sz="1350" i="1" dirty="0">
                <a:solidFill>
                  <a:srgbClr val="1D2D3E"/>
                </a:solidFill>
              </a:rPr>
              <a:t>Full Stack</a:t>
            </a:r>
            <a:r>
              <a:rPr lang="en-US" sz="1350" dirty="0">
                <a:solidFill>
                  <a:srgbClr val="1D2D3E"/>
                </a:solidFill>
              </a:rPr>
              <a:t> já trazem as Fiori tools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Usado nos exercícios do curso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33008" y="2310003"/>
            <a:ext cx="5410048" cy="2466594"/>
          </a:xfrm>
          <a:prstGeom prst="roundRect">
            <a:avLst>
              <a:gd name="adj" fmla="val 3707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33008" y="2310003"/>
            <a:ext cx="5410048" cy="73152"/>
          </a:xfrm>
          <a:prstGeom prst="rect">
            <a:avLst/>
          </a:prstGeom>
          <a:solidFill>
            <a:srgbClr val="556B82"/>
          </a:solidFill>
          <a:ln/>
        </p:spPr>
      </p:sp>
      <p:sp>
        <p:nvSpPr>
          <p:cNvPr id="11" name="Shape 9"/>
          <p:cNvSpPr/>
          <p:nvPr/>
        </p:nvSpPr>
        <p:spPr>
          <a:xfrm>
            <a:off x="6461608" y="2584323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FF1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055968" y="2584323"/>
            <a:ext cx="440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3548"/>
                </a:solidFill>
              </a:rPr>
              <a:t>Visual Studio Code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461608" y="3224403"/>
            <a:ext cx="4952848" cy="1415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Instalado na máquina do desenvolvedor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Exige instalar o </a:t>
            </a:r>
            <a:r>
              <a:rPr lang="en-US" sz="1350" b="1" dirty="0">
                <a:solidFill>
                  <a:srgbClr val="1D2D3E"/>
                </a:solidFill>
              </a:rPr>
              <a:t>SAP Fiori tools - Extension Pack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Mesmos geradores, editores e preview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4941189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E1F4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207008" y="4941189"/>
            <a:ext cx="102257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No curso  </a:t>
            </a:r>
            <a:r>
              <a:rPr lang="en-US" sz="1200" dirty="0">
                <a:solidFill>
                  <a:srgbClr val="1D2D3E"/>
                </a:solidFill>
              </a:rPr>
              <a:t>cria-se um dev space SAP Fiori e faz-se </a:t>
            </a: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cf login</a:t>
            </a:r>
            <a:r>
              <a:rPr lang="en-US" sz="1200" dirty="0">
                <a:solidFill>
                  <a:srgbClr val="1D2D3E"/>
                </a:solidFill>
              </a:rPr>
              <a:t> com o API endpoint da conta trial para acessar o serviço.</a:t>
            </a:r>
            <a:endParaRPr lang="en-US" sz="140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2684907"/>
            <a:ext cx="256032" cy="256032"/>
          </a:xfrm>
          <a:prstGeom prst="rect">
            <a:avLst/>
          </a:prstGeom>
        </p:spPr>
      </p:pic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2192" y="2684907"/>
            <a:ext cx="256032" cy="256032"/>
          </a:xfrm>
          <a:prstGeom prst="rect">
            <a:avLst/>
          </a:prstGeom>
        </p:spPr>
      </p:pic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5069205"/>
            <a:ext cx="310896" cy="3108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1B3A7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1600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AULA 03.04 · SEÇÃO 2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965960"/>
            <a:ext cx="6766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Gerando o app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70332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1EFFF"/>
                </a:solidFill>
              </a:rPr>
              <a:t>O </a:t>
            </a:r>
            <a:r>
              <a:rPr lang="en-US" sz="1600" b="1" dirty="0">
                <a:solidFill>
                  <a:srgbClr val="D1EFFF"/>
                </a:solidFill>
              </a:rPr>
              <a:t>Application Generator</a:t>
            </a:r>
            <a:r>
              <a:rPr lang="en-US" sz="1600" dirty="0">
                <a:solidFill>
                  <a:srgbClr val="D1EFFF"/>
                </a:solidFill>
              </a:rPr>
              <a:t> cria o projeto a partir do template </a:t>
            </a:r>
            <a:r>
              <a:rPr lang="en-US" sz="1600" b="1" dirty="0">
                <a:solidFill>
                  <a:srgbClr val="D1EFFF"/>
                </a:solidFill>
              </a:rPr>
              <a:t>List Report Page</a:t>
            </a:r>
            <a:r>
              <a:rPr lang="en-US" sz="1600" dirty="0">
                <a:solidFill>
                  <a:srgbClr val="D1EFFF"/>
                </a:solidFill>
              </a:rPr>
              <a:t> e do binding OData V4 do RAP.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001000" y="1463040"/>
            <a:ext cx="3611880" cy="2221992"/>
          </a:xfrm>
          <a:prstGeom prst="roundRect">
            <a:avLst>
              <a:gd name="adj" fmla="val 4115"/>
            </a:avLst>
          </a:prstGeom>
          <a:solidFill>
            <a:srgbClr val="1B3A7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0" y="1645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9D1FF"/>
                </a:solidFill>
              </a:rPr>
              <a:t>NESTA SEÇÃO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2029968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</a:t>
            </a:r>
            <a:r>
              <a:rPr lang="en-US" sz="1000" dirty="0">
                <a:solidFill>
                  <a:srgbClr val="D1EFFF"/>
                </a:solidFill>
              </a:rPr>
              <a:t>  List Report Page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0" y="2414016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 source</a:t>
            </a:r>
            <a:r>
              <a:rPr lang="en-US" sz="1000" dirty="0">
                <a:solidFill>
                  <a:srgbClr val="D1EFFF"/>
                </a:solidFill>
              </a:rPr>
              <a:t>  ZUI_FE_TRAVEL_…_O4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0" y="2798064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Entidade</a:t>
            </a:r>
            <a:r>
              <a:rPr lang="en-US" sz="1000" dirty="0">
                <a:solidFill>
                  <a:srgbClr val="D1EFFF"/>
                </a:solidFill>
              </a:rPr>
              <a:t>  Travel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0" y="3182112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manifest.json</a:t>
            </a:r>
            <a:r>
              <a:rPr lang="en-US" sz="1000" dirty="0">
                <a:solidFill>
                  <a:srgbClr val="D1EFFF"/>
                </a:solidFill>
              </a:rPr>
              <a:t>  configuração</a:t>
            </a:r>
            <a:endParaRPr lang="en-US" sz="14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713232"/>
            <a:ext cx="402336" cy="40233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GERADOR · EXERCÍCIO DO CURSO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Criando o app Manage Travels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860004" y="2656332"/>
            <a:ext cx="8471687" cy="0"/>
          </a:xfrm>
          <a:prstGeom prst="line">
            <a:avLst/>
          </a:prstGeom>
          <a:noFill/>
          <a:ln w="25400">
            <a:solidFill>
              <a:srgbClr val="0070F2"/>
            </a:solidFill>
            <a:prstDash val="dash"/>
          </a:ln>
        </p:spPr>
      </p:sp>
      <p:sp>
        <p:nvSpPr>
          <p:cNvPr id="5" name="Shape 3"/>
          <p:cNvSpPr/>
          <p:nvPr/>
        </p:nvSpPr>
        <p:spPr>
          <a:xfrm>
            <a:off x="1512532" y="2308860"/>
            <a:ext cx="694944" cy="694944"/>
          </a:xfrm>
          <a:prstGeom prst="ellipse">
            <a:avLst/>
          </a:prstGeom>
          <a:solidFill>
            <a:srgbClr val="0070F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512532" y="2308860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80" b="1" dirty="0">
                <a:solidFill>
                  <a:srgbClr val="FFFFFF"/>
                </a:solidFill>
              </a:rPr>
              <a:t>1</a:t>
            </a:r>
            <a:endParaRPr lang="en-US" sz="2280" dirty="0"/>
          </a:p>
        </p:txBody>
      </p:sp>
      <p:sp>
        <p:nvSpPr>
          <p:cNvPr id="7" name="Shape 5"/>
          <p:cNvSpPr/>
          <p:nvPr/>
        </p:nvSpPr>
        <p:spPr>
          <a:xfrm>
            <a:off x="548640" y="3177540"/>
            <a:ext cx="2622728" cy="1581912"/>
          </a:xfrm>
          <a:prstGeom prst="roundRect">
            <a:avLst>
              <a:gd name="adj" fmla="val 578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31520" y="3360420"/>
            <a:ext cx="225696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1D2D3E"/>
                </a:solidFill>
              </a:rPr>
              <a:t>Template</a:t>
            </a:r>
            <a:endParaRPr lang="en-US" sz="1400" dirty="0"/>
          </a:p>
          <a:p>
            <a:pPr indent="0" marL="0">
              <a:buNone/>
            </a:pPr>
            <a:r>
              <a:rPr lang="en-US" sz="1150" i="1" dirty="0">
                <a:solidFill>
                  <a:srgbClr val="556B82"/>
                </a:solidFill>
              </a:rPr>
              <a:t>SAP Fiori generator</a:t>
            </a:r>
            <a:r>
              <a:rPr lang="en-US" sz="1150" dirty="0">
                <a:solidFill>
                  <a:srgbClr val="556B82"/>
                </a:solidFill>
              </a:rPr>
              <a:t> › tipo </a:t>
            </a:r>
            <a:r>
              <a:rPr lang="en-US" sz="1150" b="1" dirty="0">
                <a:solidFill>
                  <a:srgbClr val="556B82"/>
                </a:solidFill>
              </a:rPr>
              <a:t>SAP Fiori elements</a:t>
            </a:r>
            <a:r>
              <a:rPr lang="en-US" sz="1150" dirty="0">
                <a:solidFill>
                  <a:srgbClr val="556B82"/>
                </a:solidFill>
              </a:rPr>
              <a:t> › </a:t>
            </a:r>
            <a:r>
              <a:rPr lang="en-US" sz="1150" b="1" dirty="0">
                <a:solidFill>
                  <a:srgbClr val="556B82"/>
                </a:solidFill>
              </a:rPr>
              <a:t>List Report Page</a:t>
            </a:r>
            <a:r>
              <a:rPr lang="en-US" sz="1150" dirty="0">
                <a:solidFill>
                  <a:srgbClr val="556B82"/>
                </a:solidFill>
              </a:rPr>
              <a:t>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36428" y="2308860"/>
            <a:ext cx="694944" cy="694944"/>
          </a:xfrm>
          <a:prstGeom prst="ellipse">
            <a:avLst/>
          </a:prstGeom>
          <a:solidFill>
            <a:srgbClr val="0070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336428" y="2308860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80" b="1" dirty="0">
                <a:solidFill>
                  <a:srgbClr val="FFFFFF"/>
                </a:solidFill>
              </a:rPr>
              <a:t>2</a:t>
            </a:r>
            <a:endParaRPr lang="en-US" sz="2280" dirty="0"/>
          </a:p>
        </p:txBody>
      </p:sp>
      <p:sp>
        <p:nvSpPr>
          <p:cNvPr id="11" name="Shape 9"/>
          <p:cNvSpPr/>
          <p:nvPr/>
        </p:nvSpPr>
        <p:spPr>
          <a:xfrm>
            <a:off x="3372536" y="3177540"/>
            <a:ext cx="2622728" cy="1581912"/>
          </a:xfrm>
          <a:prstGeom prst="roundRect">
            <a:avLst>
              <a:gd name="adj" fmla="val 578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555416" y="3360420"/>
            <a:ext cx="225696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1D2D3E"/>
                </a:solidFill>
              </a:rPr>
              <a:t>Data source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Conectar ao sistema ABAP do BTP e escolher o binding </a:t>
            </a:r>
            <a:r>
              <a:rPr lang="en-US" sz="11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ZUI_FE_TRAVEL_######_O4</a:t>
            </a:r>
            <a:r>
              <a:rPr lang="en-US" sz="1150" dirty="0">
                <a:solidFill>
                  <a:srgbClr val="556B82"/>
                </a:solidFill>
              </a:rPr>
              <a:t>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160324" y="2308860"/>
            <a:ext cx="694944" cy="694944"/>
          </a:xfrm>
          <a:prstGeom prst="ellipse">
            <a:avLst/>
          </a:prstGeom>
          <a:solidFill>
            <a:srgbClr val="0070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160324" y="2308860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80" b="1" dirty="0">
                <a:solidFill>
                  <a:srgbClr val="FFFFFF"/>
                </a:solidFill>
              </a:rPr>
              <a:t>3</a:t>
            </a:r>
            <a:endParaRPr lang="en-US" sz="2280" dirty="0"/>
          </a:p>
        </p:txBody>
      </p:sp>
      <p:sp>
        <p:nvSpPr>
          <p:cNvPr id="15" name="Shape 13"/>
          <p:cNvSpPr/>
          <p:nvPr/>
        </p:nvSpPr>
        <p:spPr>
          <a:xfrm>
            <a:off x="6196432" y="3177540"/>
            <a:ext cx="2622728" cy="1581912"/>
          </a:xfrm>
          <a:prstGeom prst="roundRect">
            <a:avLst>
              <a:gd name="adj" fmla="val 578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379312" y="3360420"/>
            <a:ext cx="225696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1D2D3E"/>
                </a:solidFill>
              </a:rPr>
              <a:t>Entidades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Main entity </a:t>
            </a:r>
            <a:r>
              <a:rPr lang="en-US" sz="1150" b="1" dirty="0">
                <a:solidFill>
                  <a:srgbClr val="556B82"/>
                </a:solidFill>
              </a:rPr>
              <a:t>Travel</a:t>
            </a:r>
            <a:r>
              <a:rPr lang="en-US" sz="1150" dirty="0">
                <a:solidFill>
                  <a:srgbClr val="556B82"/>
                </a:solidFill>
              </a:rPr>
              <a:t> e, opcionalmente, a navegação para </a:t>
            </a:r>
            <a:r>
              <a:rPr lang="en-US" sz="1150" b="1" dirty="0">
                <a:solidFill>
                  <a:srgbClr val="556B82"/>
                </a:solidFill>
              </a:rPr>
              <a:t>Booking</a:t>
            </a:r>
            <a:r>
              <a:rPr lang="en-US" sz="1150" dirty="0">
                <a:solidFill>
                  <a:srgbClr val="556B82"/>
                </a:solidFill>
              </a:rPr>
              <a:t>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9984219" y="2308860"/>
            <a:ext cx="694944" cy="694944"/>
          </a:xfrm>
          <a:prstGeom prst="ellipse">
            <a:avLst/>
          </a:prstGeom>
          <a:solidFill>
            <a:srgbClr val="0070F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984219" y="2308860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80" b="1" dirty="0">
                <a:solidFill>
                  <a:srgbClr val="FFFFFF"/>
                </a:solidFill>
              </a:rPr>
              <a:t>4</a:t>
            </a:r>
            <a:endParaRPr lang="en-US" sz="2280" dirty="0"/>
          </a:p>
        </p:txBody>
      </p:sp>
      <p:sp>
        <p:nvSpPr>
          <p:cNvPr id="19" name="Shape 17"/>
          <p:cNvSpPr/>
          <p:nvPr/>
        </p:nvSpPr>
        <p:spPr>
          <a:xfrm>
            <a:off x="9020327" y="3177540"/>
            <a:ext cx="2622728" cy="1581912"/>
          </a:xfrm>
          <a:prstGeom prst="roundRect">
            <a:avLst>
              <a:gd name="adj" fmla="val 578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9203207" y="3360420"/>
            <a:ext cx="225696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1D2D3E"/>
                </a:solidFill>
              </a:rPr>
              <a:t>Atributos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Nome do módulo, título; deploy e launchpad podem ser configurados já aqui.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48640" y="4942332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E1F4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207008" y="4942332"/>
            <a:ext cx="102257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Resultado  </a:t>
            </a:r>
            <a:r>
              <a:rPr lang="en-US" sz="1200" dirty="0">
                <a:solidFill>
                  <a:srgbClr val="1D2D3E"/>
                </a:solidFill>
              </a:rPr>
              <a:t>um projeto SAPUI5 com List Report e Object Page, pronto para preview no navegador.</a:t>
            </a:r>
            <a:endParaRPr lang="en-US" sz="1400" dirty="0"/>
          </a:p>
        </p:txBody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5070348"/>
            <a:ext cx="310896" cy="3108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GERADOR · MANIFEST.JSON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O app é configuração, não código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6675120" cy="4526280"/>
          </a:xfrm>
          <a:prstGeom prst="roundRect">
            <a:avLst>
              <a:gd name="adj" fmla="val 1616"/>
            </a:avLst>
          </a:prstGeom>
          <a:solidFill>
            <a:srgbClr val="1F1F1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664208"/>
            <a:ext cx="6638544" cy="329184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1700784"/>
            <a:ext cx="1920240" cy="292608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700784"/>
            <a:ext cx="1920240" cy="2743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171907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webapp/manifest.json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103120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DA5B4"/>
                </a:solidFill>
              </a:rPr>
              <a:t>travels › webapp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395728"/>
            <a:ext cx="320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395728"/>
            <a:ext cx="6035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"targets": {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5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"TravelList": {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5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"type": "Component",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5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"name": "sap.fe.templates.ListReport",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5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"options": { "settings": {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95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"contextPath": "/Travel",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95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"variantManagement": "Page",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95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"navigation": {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95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"Travel": { "detail": { "route": "TravelObjectPage" } }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5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"TravelObjectPage": {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5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"type": "Component",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5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"name": "sap.fe.templates.ObjectPage",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5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"options": { "settings": { "contextPath": "/Travel" } }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7452360" y="1645920"/>
            <a:ext cx="4190695" cy="452628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653528" y="187452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53528" y="18745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1</a:t>
            </a:r>
            <a:endParaRPr lang="en-US" sz="1020" dirty="0"/>
          </a:p>
        </p:txBody>
      </p:sp>
      <p:sp>
        <p:nvSpPr>
          <p:cNvPr id="15" name="Text 13"/>
          <p:cNvSpPr txBox="1"/>
          <p:nvPr/>
        </p:nvSpPr>
        <p:spPr>
          <a:xfrm>
            <a:off x="8092440" y="185623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Templates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sap.fe.templates.ListReport</a:t>
            </a:r>
            <a:r>
              <a:rPr lang="en-US" sz="1050" dirty="0">
                <a:solidFill>
                  <a:srgbClr val="556B82"/>
                </a:solidFill>
              </a:rPr>
              <a:t> e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ObjectPage</a:t>
            </a:r>
            <a:r>
              <a:rPr lang="en-US" sz="1050" dirty="0">
                <a:solidFill>
                  <a:srgbClr val="556B82"/>
                </a:solidFill>
              </a:rPr>
              <a:t>: o código de UI vem da biblioteca.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653528" y="291465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653528" y="291465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2</a:t>
            </a:r>
            <a:endParaRPr lang="en-US" sz="1020" dirty="0"/>
          </a:p>
        </p:txBody>
      </p:sp>
      <p:sp>
        <p:nvSpPr>
          <p:cNvPr id="18" name="Text 16"/>
          <p:cNvSpPr txBox="1"/>
          <p:nvPr/>
        </p:nvSpPr>
        <p:spPr>
          <a:xfrm>
            <a:off x="8092440" y="289636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contextPath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O entity set que a página exibe.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65352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653528" y="39547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3</a:t>
            </a:r>
            <a:endParaRPr lang="en-US" sz="1020" dirty="0"/>
          </a:p>
        </p:txBody>
      </p:sp>
      <p:sp>
        <p:nvSpPr>
          <p:cNvPr id="21" name="Text 19"/>
          <p:cNvSpPr txBox="1"/>
          <p:nvPr/>
        </p:nvSpPr>
        <p:spPr>
          <a:xfrm>
            <a:off x="8092440" y="393649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navigation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Clicar numa linha abre a rota da Object Page.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653528" y="499491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653528" y="499491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4</a:t>
            </a:r>
            <a:endParaRPr lang="en-US" sz="1020" dirty="0"/>
          </a:p>
        </p:txBody>
      </p:sp>
      <p:sp>
        <p:nvSpPr>
          <p:cNvPr id="24" name="Text 22"/>
          <p:cNvSpPr txBox="1"/>
          <p:nvPr/>
        </p:nvSpPr>
        <p:spPr>
          <a:xfrm>
            <a:off x="8092440" y="497662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Quem edita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Page Map e Guided Development alteram este arquivo por você.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1B3A7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1600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AULA 03.04 · SEÇÃO 3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965960"/>
            <a:ext cx="6766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Configurando com as tools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70332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D1EFFF"/>
                </a:solidFill>
              </a:rPr>
              <a:t>Page Map</a:t>
            </a:r>
            <a:r>
              <a:rPr lang="en-US" sz="1600" dirty="0">
                <a:solidFill>
                  <a:srgbClr val="D1EFFF"/>
                </a:solidFill>
              </a:rPr>
              <a:t>, </a:t>
            </a:r>
            <a:r>
              <a:rPr lang="en-US" sz="1600" b="1" dirty="0">
                <a:solidFill>
                  <a:srgbClr val="D1EFFF"/>
                </a:solidFill>
              </a:rPr>
              <a:t>Guided Development</a:t>
            </a:r>
            <a:r>
              <a:rPr lang="en-US" sz="1600" dirty="0">
                <a:solidFill>
                  <a:srgbClr val="D1EFFF"/>
                </a:solidFill>
              </a:rPr>
              <a:t> e anotações locais ajustam o app; o preview mostra o resultado na hora.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001000" y="1463040"/>
            <a:ext cx="3611880" cy="2221992"/>
          </a:xfrm>
          <a:prstGeom prst="roundRect">
            <a:avLst>
              <a:gd name="adj" fmla="val 4115"/>
            </a:avLst>
          </a:prstGeom>
          <a:solidFill>
            <a:srgbClr val="1B3A7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0" y="1645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9D1FF"/>
                </a:solidFill>
              </a:rPr>
              <a:t>NESTA SEÇÃO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2029968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Page Map</a:t>
            </a:r>
            <a:r>
              <a:rPr lang="en-US" sz="1000" dirty="0">
                <a:solidFill>
                  <a:srgbClr val="D1EFFF"/>
                </a:solidFill>
              </a:rPr>
              <a:t>  estrutura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0" y="2414016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Guided Development</a:t>
            </a:r>
            <a:r>
              <a:rPr lang="en-US" sz="1000" dirty="0">
                <a:solidFill>
                  <a:srgbClr val="D1EFFF"/>
                </a:solidFill>
              </a:rPr>
              <a:t>  receitas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0" y="2798064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annotation.xml</a:t>
            </a:r>
            <a:r>
              <a:rPr lang="en-US" sz="1000" dirty="0">
                <a:solidFill>
                  <a:srgbClr val="D1EFFF"/>
                </a:solidFill>
              </a:rPr>
              <a:t>  anotações locais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0" y="3182112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Guided Answers</a:t>
            </a:r>
            <a:r>
              <a:rPr lang="en-US" sz="1000" dirty="0">
                <a:solidFill>
                  <a:srgbClr val="D1EFFF"/>
                </a:solidFill>
              </a:rPr>
              <a:t>  troubleshooting</a:t>
            </a:r>
            <a:endParaRPr lang="en-US" sz="14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713232"/>
            <a:ext cx="402336" cy="40233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CONFIGURAÇÃO · FERRAMENTAS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Três formas de configurar o app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2734564"/>
            <a:ext cx="3545738" cy="2348992"/>
          </a:xfrm>
          <a:prstGeom prst="roundRect">
            <a:avLst>
              <a:gd name="adj" fmla="val 3893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2935732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49808" y="3539236"/>
            <a:ext cx="3143402" cy="143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Page Map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Visão das páginas e da navegação. Adiciona páginas e abre o </a:t>
            </a:r>
            <a:r>
              <a:rPr lang="en-US" sz="1300" b="1" dirty="0">
                <a:solidFill>
                  <a:srgbClr val="556B82"/>
                </a:solidFill>
              </a:rPr>
              <a:t>editor de página</a:t>
            </a:r>
            <a:r>
              <a:rPr lang="en-US" sz="1300" dirty="0">
                <a:solidFill>
                  <a:srgbClr val="556B82"/>
                </a:solidFill>
              </a:rPr>
              <a:t> para tabela, filtros e seções.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322978" y="2734564"/>
            <a:ext cx="3545738" cy="2348992"/>
          </a:xfrm>
          <a:prstGeom prst="roundRect">
            <a:avLst>
              <a:gd name="adj" fmla="val 3893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24146" y="2935732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24146" y="3539236"/>
            <a:ext cx="3143402" cy="143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Guided Development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Guias como </a:t>
            </a:r>
            <a:r>
              <a:rPr lang="en-US" sz="1300" i="1" dirty="0">
                <a:solidFill>
                  <a:srgbClr val="556B82"/>
                </a:solidFill>
              </a:rPr>
              <a:t>Add a new column</a:t>
            </a:r>
            <a:r>
              <a:rPr lang="en-US" sz="1300" dirty="0">
                <a:solidFill>
                  <a:srgbClr val="556B82"/>
                </a:solidFill>
              </a:rPr>
              <a:t> ou </a:t>
            </a:r>
            <a:r>
              <a:rPr lang="en-US" sz="1300" i="1" dirty="0">
                <a:solidFill>
                  <a:srgbClr val="556B82"/>
                </a:solidFill>
              </a:rPr>
              <a:t>Add a custom action</a:t>
            </a:r>
            <a:r>
              <a:rPr lang="en-US" sz="1300" dirty="0">
                <a:solidFill>
                  <a:srgbClr val="556B82"/>
                </a:solidFill>
              </a:rPr>
              <a:t>: você preenche parâmetros e ele gera o código no arquivo certo.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097317" y="2734564"/>
            <a:ext cx="3545738" cy="2348992"/>
          </a:xfrm>
          <a:prstGeom prst="roundRect">
            <a:avLst>
              <a:gd name="adj" fmla="val 3893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298485" y="2935732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98485" y="3539236"/>
            <a:ext cx="3143402" cy="143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Guided Answers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Documentação interativa de troubleshooting, por perguntas, sem sair da IDE.</a:t>
            </a:r>
            <a:endParaRPr lang="en-US" sz="1400" dirty="0"/>
          </a:p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" y="3036316"/>
            <a:ext cx="256032" cy="256032"/>
          </a:xfrm>
          <a:prstGeom prst="rect">
            <a:avLst/>
          </a:prstGeom>
        </p:spPr>
      </p:pic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4730" y="3036316"/>
            <a:ext cx="256032" cy="256032"/>
          </a:xfrm>
          <a:prstGeom prst="rect">
            <a:avLst/>
          </a:prstGeom>
        </p:spPr>
      </p:pic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9069" y="3036316"/>
            <a:ext cx="256032" cy="25603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CONFIGURAÇÃO · DECISÃO DE ARQUITETURA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Anotar no back-end ou no app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2417159"/>
            <a:ext cx="5410048" cy="2252282"/>
          </a:xfrm>
          <a:prstGeom prst="roundRect">
            <a:avLst>
              <a:gd name="adj" fmla="val 406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2417159"/>
            <a:ext cx="5410048" cy="73152"/>
          </a:xfrm>
          <a:prstGeom prst="rect">
            <a:avLst/>
          </a:prstGeom>
          <a:solidFill>
            <a:srgbClr val="556B82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2691479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FF1F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371600" y="2691479"/>
            <a:ext cx="440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3548"/>
                </a:solidFill>
              </a:rPr>
              <a:t>CDS no back-end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331559"/>
            <a:ext cx="4952848" cy="1200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Vale para </a:t>
            </a:r>
            <a:r>
              <a:rPr lang="en-US" sz="1350" b="1" dirty="0">
                <a:solidFill>
                  <a:srgbClr val="1D2D3E"/>
                </a:solidFill>
              </a:rPr>
              <a:t>todos</a:t>
            </a:r>
            <a:r>
              <a:rPr lang="en-US" sz="1350" dirty="0">
                <a:solidFill>
                  <a:srgbClr val="1D2D3E"/>
                </a:solidFill>
              </a:rPr>
              <a:t> os apps que usam o serviço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Versionado e transportado com o ABAP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Padrão do curso para colunas, filtros e seções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33008" y="2417159"/>
            <a:ext cx="5410048" cy="2252282"/>
          </a:xfrm>
          <a:prstGeom prst="roundRect">
            <a:avLst>
              <a:gd name="adj" fmla="val 406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33008" y="2417159"/>
            <a:ext cx="5410048" cy="73152"/>
          </a:xfrm>
          <a:prstGeom prst="rect">
            <a:avLst/>
          </a:prstGeom>
          <a:solidFill>
            <a:srgbClr val="556B82"/>
          </a:solidFill>
          <a:ln/>
        </p:spPr>
      </p:sp>
      <p:sp>
        <p:nvSpPr>
          <p:cNvPr id="11" name="Shape 9"/>
          <p:cNvSpPr/>
          <p:nvPr/>
        </p:nvSpPr>
        <p:spPr>
          <a:xfrm>
            <a:off x="6461608" y="2691479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FF1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055968" y="2691479"/>
            <a:ext cx="440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3548"/>
                </a:solidFill>
              </a:rPr>
              <a:t>annotation.xml local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461608" y="3331559"/>
            <a:ext cx="4952848" cy="1200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Vale só para </a:t>
            </a:r>
            <a:r>
              <a:rPr lang="en-US" sz="1350" b="1" dirty="0">
                <a:solidFill>
                  <a:srgbClr val="1D2D3E"/>
                </a:solidFill>
              </a:rPr>
              <a:t>este</a:t>
            </a:r>
            <a:r>
              <a:rPr lang="en-US" sz="1350" dirty="0">
                <a:solidFill>
                  <a:srgbClr val="1D2D3E"/>
                </a:solidFill>
              </a:rPr>
              <a:t> app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Sobrepõe a anotação do back-end para o mesmo alvo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Útil quando cada app precisa de uma tela diferente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4834033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E1F4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207008" y="4834033"/>
            <a:ext cx="102257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Regra prática  </a:t>
            </a:r>
            <a:r>
              <a:rPr lang="en-US" sz="1200" dirty="0">
                <a:solidFill>
                  <a:srgbClr val="1D2D3E"/>
                </a:solidFill>
              </a:rPr>
              <a:t>anotações gerais no CDS; diferenças específicas de um app nas anotações locais ou no </a:t>
            </a: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manifest.json</a:t>
            </a:r>
            <a:r>
              <a:rPr lang="en-US" sz="1200" dirty="0">
                <a:solidFill>
                  <a:srgbClr val="1D2D3E"/>
                </a:solidFill>
              </a:rPr>
              <a:t>.</a:t>
            </a:r>
            <a:endParaRPr lang="en-US" sz="140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62192" y="2792063"/>
            <a:ext cx="256032" cy="256032"/>
          </a:xfrm>
          <a:prstGeom prst="rect">
            <a:avLst/>
          </a:prstGeom>
        </p:spPr>
      </p:pic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2792063"/>
            <a:ext cx="256032" cy="256032"/>
          </a:xfrm>
          <a:prstGeom prst="rect">
            <a:avLst/>
          </a:prstGeom>
        </p:spPr>
      </p:pic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4962049"/>
            <a:ext cx="310896" cy="3108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RESUMO DA AULA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O que aprendemos na aula 03.04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87452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353312" y="181965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SAP Fiori tools</a:t>
            </a:r>
            <a:r>
              <a:rPr lang="en-US" sz="1400" dirty="0">
                <a:solidFill>
                  <a:srgbClr val="FFFFFF"/>
                </a:solidFill>
              </a:rPr>
              <a:t> cobre gerar, visualizar, configurar e publicar apps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263640" y="187452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85432" y="181965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Funciona no </a:t>
            </a:r>
            <a:r>
              <a:rPr lang="en-US" sz="1400" b="1" dirty="0">
                <a:solidFill>
                  <a:srgbClr val="FFFFFF"/>
                </a:solidFill>
              </a:rPr>
              <a:t>Business Application Studio</a:t>
            </a:r>
            <a:r>
              <a:rPr lang="en-US" sz="1400" dirty="0">
                <a:solidFill>
                  <a:srgbClr val="FFFFFF"/>
                </a:solidFill>
              </a:rPr>
              <a:t> e no </a:t>
            </a:r>
            <a:r>
              <a:rPr lang="en-US" sz="1400" b="1" dirty="0">
                <a:solidFill>
                  <a:srgbClr val="FFFFFF"/>
                </a:solidFill>
              </a:rPr>
              <a:t>VS Code</a:t>
            </a:r>
            <a:r>
              <a:rPr lang="en-US" sz="1400" dirty="0">
                <a:solidFill>
                  <a:srgbClr val="FFFFFF"/>
                </a:solidFill>
              </a:rPr>
              <a:t> com o extension pack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283464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353312" y="277977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O </a:t>
            </a:r>
            <a:r>
              <a:rPr lang="en-US" sz="1400" b="1" dirty="0">
                <a:solidFill>
                  <a:srgbClr val="FFFFFF"/>
                </a:solidFill>
              </a:rPr>
              <a:t>Application Generator</a:t>
            </a:r>
            <a:r>
              <a:rPr lang="en-US" sz="1400" dirty="0">
                <a:solidFill>
                  <a:srgbClr val="FFFFFF"/>
                </a:solidFill>
              </a:rPr>
              <a:t> cria o app Manage Travels com o template List Report Page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63640" y="283464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85432" y="277977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O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manifest.json</a:t>
            </a:r>
            <a:r>
              <a:rPr lang="en-US" sz="1400" dirty="0">
                <a:solidFill>
                  <a:srgbClr val="FFFFFF"/>
                </a:solidFill>
              </a:rPr>
              <a:t> descreve páginas,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contextPath</a:t>
            </a:r>
            <a:r>
              <a:rPr lang="en-US" sz="1400" dirty="0">
                <a:solidFill>
                  <a:srgbClr val="FFFFFF"/>
                </a:solidFill>
              </a:rPr>
              <a:t> e navegação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31520" y="379476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353312" y="373989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Page Map</a:t>
            </a:r>
            <a:r>
              <a:rPr lang="en-US" sz="1400" dirty="0">
                <a:solidFill>
                  <a:srgbClr val="FFFFFF"/>
                </a:solidFill>
              </a:rPr>
              <a:t> e </a:t>
            </a:r>
            <a:r>
              <a:rPr lang="en-US" sz="1400" b="1" dirty="0">
                <a:solidFill>
                  <a:srgbClr val="FFFFFF"/>
                </a:solidFill>
              </a:rPr>
              <a:t>Guided Development</a:t>
            </a:r>
            <a:r>
              <a:rPr lang="en-US" sz="1400" dirty="0">
                <a:solidFill>
                  <a:srgbClr val="FFFFFF"/>
                </a:solidFill>
              </a:rPr>
              <a:t> configuram o app sem escrever código à mão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263640" y="379476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85432" y="373989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Anotações gerais no </a:t>
            </a:r>
            <a:r>
              <a:rPr lang="en-US" sz="1400" b="1" dirty="0">
                <a:solidFill>
                  <a:srgbClr val="FFFFFF"/>
                </a:solidFill>
              </a:rPr>
              <a:t>CDS</a:t>
            </a:r>
            <a:r>
              <a:rPr lang="en-US" sz="1400" dirty="0">
                <a:solidFill>
                  <a:srgbClr val="FFFFFF"/>
                </a:solidFill>
              </a:rPr>
              <a:t>; diferenças de um app em </a:t>
            </a:r>
            <a:r>
              <a:rPr lang="en-US" sz="1400" b="1" dirty="0">
                <a:solidFill>
                  <a:srgbClr val="FFFFFF"/>
                </a:solidFill>
              </a:rPr>
              <a:t>annotation.xml</a:t>
            </a:r>
            <a:r>
              <a:rPr lang="en-US" sz="1400" dirty="0">
                <a:solidFill>
                  <a:srgbClr val="FFFFFF"/>
                </a:solidFill>
              </a:rPr>
              <a:t> local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31520" y="5349240"/>
            <a:ext cx="10698480" cy="749808"/>
          </a:xfrm>
          <a:prstGeom prst="roundRect">
            <a:avLst>
              <a:gd name="adj" fmla="val 12195"/>
            </a:avLst>
          </a:prstGeom>
          <a:solidFill>
            <a:srgbClr val="1B3A7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508760" y="5349240"/>
            <a:ext cx="9692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9D1FF"/>
                </a:solidFill>
              </a:rPr>
              <a:t>Próxima aula · 03.05  </a:t>
            </a:r>
            <a:r>
              <a:rPr lang="en-US" sz="1500" dirty="0">
                <a:solidFill>
                  <a:srgbClr val="FFFFFF"/>
                </a:solidFill>
              </a:rPr>
              <a:t>Floorplans: List Report, Object Page e facetas.</a:t>
            </a:r>
            <a:endParaRPr lang="en-US" sz="1500" dirty="0"/>
          </a:p>
        </p:txBody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965960"/>
            <a:ext cx="256032" cy="256032"/>
          </a:xfrm>
          <a:prstGeom prst="rect">
            <a:avLst/>
          </a:prstGeom>
        </p:spPr>
      </p:pic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926080"/>
            <a:ext cx="256032" cy="256032"/>
          </a:xfrm>
          <a:prstGeom prst="rect">
            <a:avLst/>
          </a:prstGeom>
        </p:spPr>
      </p:pic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965960"/>
            <a:ext cx="256032" cy="256032"/>
          </a:xfrm>
          <a:prstGeom prst="rect">
            <a:avLst/>
          </a:prstGeom>
        </p:spPr>
      </p:pic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2926080"/>
            <a:ext cx="256032" cy="256032"/>
          </a:xfrm>
          <a:prstGeom prst="rect">
            <a:avLst/>
          </a:prstGeom>
        </p:spPr>
      </p:pic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5080" y="3886200"/>
            <a:ext cx="256032" cy="256032"/>
          </a:xfrm>
          <a:prstGeom prst="rect">
            <a:avLst/>
          </a:prstGeom>
        </p:spPr>
      </p:pic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0120" y="5541264"/>
            <a:ext cx="365760" cy="365760"/>
          </a:xfrm>
          <a:prstGeom prst="rect">
            <a:avLst/>
          </a:prstGeom>
        </p:spPr>
      </p:pic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960" y="3886200"/>
            <a:ext cx="256032" cy="25603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ABAP Moderno">
  <a:themeElements>
    <a:clrScheme name="ABAP Moderno">
      <a:dk1>
        <a:srgbClr val="1D2D3E"/>
      </a:dk1>
      <a:lt1>
        <a:srgbClr val="FFFFFF"/>
      </a:lt1>
      <a:dk2>
        <a:srgbClr val="556B82"/>
      </a:dk2>
      <a:lt2>
        <a:srgbClr val="F5F6F7"/>
      </a:lt2>
      <a:accent1>
        <a:srgbClr val="0070F2"/>
      </a:accent1>
      <a:accent2>
        <a:srgbClr val="30914C"/>
      </a:accent2>
      <a:accent3>
        <a:srgbClr val="E76500"/>
      </a:accent3>
      <a:accent4>
        <a:srgbClr val="D20A0A"/>
      </a:accent4>
      <a:accent5>
        <a:srgbClr val="1B3A7A"/>
      </a:accent5>
      <a:accent6>
        <a:srgbClr val="89D1FF"/>
      </a:accent6>
      <a:hlink>
        <a:srgbClr val="0064D9"/>
      </a:hlink>
      <a:folHlink>
        <a:srgbClr val="1B3A7A"/>
      </a:folHlink>
    </a:clrScheme>
    <a:fontScheme name="ABAP Moderno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03.04 SAP Fiori tools</dc:title>
  <dc:subject>ABAP Moderno – Módulo 03: SAP Fiori Elements com OData V4</dc:subject>
  <dc:creator>Adriano Bispo</dc:creator>
  <cp:lastModifiedBy>Adriano Bispo</cp:lastModifiedBy>
  <cp:revision>1</cp:revision>
  <dcterms:created xsi:type="dcterms:W3CDTF">2026-10-29T01:36:00Z</dcterms:created>
  <dcterms:modified xsi:type="dcterms:W3CDTF">2026-10-29T01:36:00Z</dcterms:modified>
</cp:coreProperties>
</file>