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Aula 4 de 11 — SAP Fiori Tools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Aula 4 de 11 — SAP Fiori Tools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04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SAP Fiori tools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Extensões para gerar, configurar, testar e publicar apps Fiori elements no Business Application Studio ou no VS Code.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4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1880" y="285292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1880" y="285292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vemos como o app Pedidos de Compras nasce sobre o serviço OData V4 e conhecemos as ferramentas que configuram o app sem escrever código.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ciclo de desenvolvimento guiado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O </a:t>
            </a:r>
            <a:r>
              <a:rPr lang="en-US" sz="1500" b="1" dirty="0">
                <a:solidFill>
                  <a:srgbClr val="556B82"/>
                </a:solidFill>
              </a:rPr>
              <a:t>SAP Fiori tools extension pack</a:t>
            </a:r>
            <a:r>
              <a:rPr lang="en-US" sz="1500" dirty="0">
                <a:solidFill>
                  <a:srgbClr val="556B82"/>
                </a:solidFill>
              </a:rPr>
              <a:t> acompanha o app do início ao fim: gerar, visualizar, configurar e publicar.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28569"/>
            <a:ext cx="2036003" cy="2309622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22973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833241"/>
            <a:ext cx="1633667" cy="139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Application Generator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Cria o projeto a partir de um serviço e um template.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13243" y="3028569"/>
            <a:ext cx="2036003" cy="2309622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4411" y="322973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14411" y="3833241"/>
            <a:ext cx="1633667" cy="139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Page Map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Mostra páginas e navegação; abre o editor de cada página.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7846" y="3028569"/>
            <a:ext cx="2036003" cy="2309622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79014" y="322973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79014" y="3833241"/>
            <a:ext cx="1633667" cy="139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Guided Development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Passo a passo que gera o código de um recurso.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42449" y="3028569"/>
            <a:ext cx="2036003" cy="2309622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43617" y="322973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43617" y="3833241"/>
            <a:ext cx="1633667" cy="139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Annotation support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Autocomplete e validação de anotações locais.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07052" y="3028569"/>
            <a:ext cx="2036003" cy="2309622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808220" y="322973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08220" y="3833241"/>
            <a:ext cx="1633667" cy="139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Preview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Roda o app com dados reais ou mock data.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330321"/>
            <a:ext cx="256032" cy="256032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598" y="3330321"/>
            <a:ext cx="256032" cy="256032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995" y="3330321"/>
            <a:ext cx="256032" cy="256032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201" y="3330321"/>
            <a:ext cx="256032" cy="256032"/>
          </a:xfrm>
          <a:prstGeom prst="rect">
            <a:avLst/>
          </a:prstGeom>
        </p:spPr>
      </p:pic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8804" y="333032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05.04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Ambiente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As mesmas extensões funcionam no </a:t>
            </a:r>
            <a:r>
              <a:rPr lang="en-US" sz="1600" b="1" dirty="0">
                <a:solidFill>
                  <a:srgbClr val="D1EFFF"/>
                </a:solidFill>
              </a:rPr>
              <a:t>SAP Business Application Studio</a:t>
            </a:r>
            <a:r>
              <a:rPr lang="en-US" sz="1600" dirty="0">
                <a:solidFill>
                  <a:srgbClr val="D1EFFF"/>
                </a:solidFill>
              </a:rPr>
              <a:t> (na nuvem) e no </a:t>
            </a:r>
            <a:r>
              <a:rPr lang="en-US" sz="1600" b="1" dirty="0">
                <a:solidFill>
                  <a:srgbClr val="D1EFFF"/>
                </a:solidFill>
              </a:rPr>
              <a:t>VS Code</a:t>
            </a:r>
            <a:r>
              <a:rPr lang="en-US" sz="1600" dirty="0">
                <a:solidFill>
                  <a:srgbClr val="D1EFFF"/>
                </a:solidFill>
              </a:rPr>
              <a:t> (local).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</a:t>
            </a:r>
            <a:r>
              <a:rPr lang="en-US" sz="1000" dirty="0">
                <a:solidFill>
                  <a:srgbClr val="D1EFFF"/>
                </a:solidFill>
              </a:rPr>
              <a:t>  dev space SAP Fiori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</a:t>
            </a:r>
            <a:r>
              <a:rPr lang="en-US" sz="1000" dirty="0">
                <a:solidFill>
                  <a:srgbClr val="D1EFFF"/>
                </a:solidFill>
              </a:rPr>
              <a:t>  extension pack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Foundry</a:t>
            </a:r>
            <a:r>
              <a:rPr lang="en-US" sz="1000" dirty="0">
                <a:solidFill>
                  <a:srgbClr val="D1EFFF"/>
                </a:solidFill>
              </a:rPr>
              <a:t>  cf login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Destinos</a:t>
            </a:r>
            <a:r>
              <a:rPr lang="en-US" sz="1000" dirty="0">
                <a:solidFill>
                  <a:srgbClr val="D1EFFF"/>
                </a:solidFill>
              </a:rPr>
              <a:t>  acesso ao back-end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IDE · ONDE DESENVOLVER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Business Application Studio ou VS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1000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SAP Business Application Studio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Serviço do SAP BTP, aberto no navegador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Dev spaces </a:t>
            </a:r>
            <a:r>
              <a:rPr lang="en-US" sz="1350" i="1" dirty="0">
                <a:solidFill>
                  <a:srgbClr val="1D2D3E"/>
                </a:solidFill>
              </a:rPr>
              <a:t>SAP Fiori</a:t>
            </a:r>
            <a:r>
              <a:rPr lang="en-US" sz="1350" dirty="0">
                <a:solidFill>
                  <a:srgbClr val="1D2D3E"/>
                </a:solidFill>
              </a:rPr>
              <a:t> e </a:t>
            </a:r>
            <a:r>
              <a:rPr lang="en-US" sz="1350" i="1" dirty="0">
                <a:solidFill>
                  <a:srgbClr val="1D2D3E"/>
                </a:solidFill>
              </a:rPr>
              <a:t>Full Stack</a:t>
            </a:r>
            <a:r>
              <a:rPr lang="en-US" sz="1350" dirty="0">
                <a:solidFill>
                  <a:srgbClr val="1D2D3E"/>
                </a:solidFill>
              </a:rPr>
              <a:t> já trazem as Fiori tools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Usado nos exercícios do curso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31000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Visual Studio Code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Instalado na máquina do desenvolvedor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Exige instalar o </a:t>
            </a:r>
            <a:r>
              <a:rPr lang="en-US" sz="1350" b="1" dirty="0">
                <a:solidFill>
                  <a:srgbClr val="1D2D3E"/>
                </a:solidFill>
              </a:rPr>
              <a:t>SAP Fiori tools - Extension Pack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Mesmos geradores, editores e preview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41189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41189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curso  </a:t>
            </a:r>
            <a:r>
              <a:rPr lang="en-US" sz="1200" dirty="0">
                <a:solidFill>
                  <a:srgbClr val="1D2D3E"/>
                </a:solidFill>
              </a:rPr>
              <a:t>cria-se um dev space SAP Fiori e faz-se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login</a:t>
            </a:r>
            <a:r>
              <a:rPr lang="en-US" sz="1200" dirty="0">
                <a:solidFill>
                  <a:srgbClr val="1D2D3E"/>
                </a:solidFill>
              </a:rPr>
              <a:t> com o API endpoint da conta trial para acessar o serviço.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84907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684907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69205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05.04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Gerando o app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</a:t>
            </a:r>
            <a:r>
              <a:rPr lang="en-US" sz="1600" b="1" dirty="0">
                <a:solidFill>
                  <a:srgbClr val="D1EFFF"/>
                </a:solidFill>
              </a:rPr>
              <a:t>Application Generator</a:t>
            </a:r>
            <a:r>
              <a:rPr lang="en-US" sz="1600" dirty="0">
                <a:solidFill>
                  <a:srgbClr val="D1EFFF"/>
                </a:solidFill>
              </a:rPr>
              <a:t> cria o projeto a partir do template </a:t>
            </a:r>
            <a:r>
              <a:rPr lang="en-US" sz="1600" b="1" dirty="0">
                <a:solidFill>
                  <a:srgbClr val="D1EFFF"/>
                </a:solidFill>
              </a:rPr>
              <a:t>List Report Page</a:t>
            </a:r>
            <a:r>
              <a:rPr lang="en-US" sz="1600" dirty="0">
                <a:solidFill>
                  <a:srgbClr val="D1EFFF"/>
                </a:solidFill>
              </a:rPr>
              <a:t> e do binding OData V4 do RAP.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r>
              <a:rPr lang="en-US" sz="1000" dirty="0">
                <a:solidFill>
                  <a:srgbClr val="D1EFFF"/>
                </a:solidFill>
              </a:rPr>
              <a:t>  List Report Page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</a:t>
            </a:r>
            <a:r>
              <a:rPr lang="en-US" sz="1000" dirty="0">
                <a:solidFill>
                  <a:srgbClr val="D1EFFF"/>
                </a:solidFill>
              </a:rPr>
              <a:t>  ZUI_PC_PEDIDOS_COMPRAS_O4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Entidade</a:t>
            </a:r>
            <a:r>
              <a:rPr lang="en-US" sz="1000" dirty="0">
                <a:solidFill>
                  <a:srgbClr val="D1EFFF"/>
                </a:solidFill>
              </a:rPr>
              <a:t>  Pedido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000" dirty="0">
                <a:solidFill>
                  <a:srgbClr val="D1EFFF"/>
                </a:solidFill>
              </a:rPr>
              <a:t>  configuração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GERADOR · NO PROJETO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Criando o app Pedidos de Compras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65633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Template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56B82"/>
                </a:solidFill>
              </a:rPr>
              <a:t>SAP Fiori generator</a:t>
            </a:r>
            <a:r>
              <a:rPr lang="en-US" sz="1150" dirty="0">
                <a:solidFill>
                  <a:srgbClr val="556B82"/>
                </a:solidFill>
              </a:rPr>
              <a:t> › tipo </a:t>
            </a:r>
            <a:r>
              <a:rPr lang="en-US" sz="1150" b="1" dirty="0">
                <a:solidFill>
                  <a:srgbClr val="556B82"/>
                </a:solidFill>
              </a:rPr>
              <a:t>SAP Fiori elements</a:t>
            </a:r>
            <a:r>
              <a:rPr lang="en-US" sz="1150" dirty="0">
                <a:solidFill>
                  <a:srgbClr val="556B82"/>
                </a:solidFill>
              </a:rPr>
              <a:t> › </a:t>
            </a:r>
            <a:r>
              <a:rPr lang="en-US" sz="1150" b="1" dirty="0">
                <a:solidFill>
                  <a:srgbClr val="556B82"/>
                </a:solidFill>
              </a:rPr>
              <a:t>List Report Page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Data source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Conectar ao sistema ABAP do BTP e escolher o binding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ZUI_PC_PEDIDOS_COMPRAS_O4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Entidades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Main entity </a:t>
            </a:r>
            <a:r>
              <a:rPr lang="en-US" sz="1150" b="1" dirty="0">
                <a:solidFill>
                  <a:srgbClr val="556B82"/>
                </a:solidFill>
              </a:rPr>
              <a:t>Pedido</a:t>
            </a:r>
            <a:r>
              <a:rPr lang="en-US" sz="1150" dirty="0">
                <a:solidFill>
                  <a:srgbClr val="556B82"/>
                </a:solidFill>
              </a:rPr>
              <a:t> e a navegação para os </a:t>
            </a:r>
            <a:r>
              <a:rPr lang="en-US" sz="1150" b="1" dirty="0">
                <a:solidFill>
                  <a:srgbClr val="556B82"/>
                </a:solidFill>
              </a:rPr>
              <a:t>Itens</a:t>
            </a:r>
            <a:r>
              <a:rPr lang="en-US" sz="1150" dirty="0">
                <a:solidFill>
                  <a:srgbClr val="556B82"/>
                </a:solidFill>
              </a:rPr>
              <a:t> (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_Itens</a:t>
            </a:r>
            <a:r>
              <a:rPr lang="en-US" sz="115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Atributos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Nome do módulo, título; deploy e launchpad podem ser configurados já aqui.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423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49423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Resultado  </a:t>
            </a:r>
            <a:r>
              <a:rPr lang="en-US" sz="1200" dirty="0">
                <a:solidFill>
                  <a:srgbClr val="1D2D3E"/>
                </a:solidFill>
              </a:rPr>
              <a:t>um projeto SAPUI5 com List Report e Object Page, pronto para preview no navegador.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703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GERADOR · MANIFEST.JSON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app é configuração, não código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webapp/manifest.json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ui5/apps-list-reports/pedidos-compras › webapp (trecho)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"targets":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"PedidoList":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"type": "Component",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"name": "sap.fe.templates.ListReport",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"options": { "settings":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"contextPath": "/Pedido",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"variantManagement": "Page",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"navigation":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"Pedido": { "detail": { "route": "PedidoObjectPage" }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"PedidoObjectPage":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"type": "Component",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"name": "sap.fe.templates.ObjectPage",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"options": { "settings": { "contextPath": "/Pedido" }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Templates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sap.fe.templates.ListReport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ObjectPage</a:t>
            </a:r>
            <a:r>
              <a:rPr lang="en-US" sz="1050" dirty="0">
                <a:solidFill>
                  <a:srgbClr val="556B82"/>
                </a:solidFill>
              </a:rPr>
              <a:t>: o código de UI vem da biblioteca.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contextPath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entity set que a página exibe.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Clicar numa linha abre a rota da Object Page.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Quem edita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Page Map e Guided Development alteram este arquivo por você.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05.04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Configurando com as tools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Page Map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Guided Development</a:t>
            </a:r>
            <a:r>
              <a:rPr lang="en-US" sz="1600" dirty="0">
                <a:solidFill>
                  <a:srgbClr val="D1EFFF"/>
                </a:solidFill>
              </a:rPr>
              <a:t> e anotações locais ajustam o app; o preview mostra o resultado na hora.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Map</a:t>
            </a:r>
            <a:r>
              <a:rPr lang="en-US" sz="1000" dirty="0">
                <a:solidFill>
                  <a:srgbClr val="D1EFFF"/>
                </a:solidFill>
              </a:rPr>
              <a:t>  estrutura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Guided Development</a:t>
            </a:r>
            <a:r>
              <a:rPr lang="en-US" sz="1000" dirty="0">
                <a:solidFill>
                  <a:srgbClr val="D1EFFF"/>
                </a:solidFill>
              </a:rPr>
              <a:t>  receitas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annotation.xml</a:t>
            </a:r>
            <a:r>
              <a:rPr lang="en-US" sz="1000" dirty="0">
                <a:solidFill>
                  <a:srgbClr val="D1EFFF"/>
                </a:solidFill>
              </a:rPr>
              <a:t>  anotações locais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Guided Answers</a:t>
            </a:r>
            <a:r>
              <a:rPr lang="en-US" sz="1000" dirty="0">
                <a:solidFill>
                  <a:srgbClr val="D1EFFF"/>
                </a:solidFill>
              </a:rPr>
              <a:t>  troubleshooting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CONFIGURAÇÃO · FERRAMENTAS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formas de configurar o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Page Map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Visão das páginas e da navegação. Adiciona páginas e abre o </a:t>
            </a:r>
            <a:r>
              <a:rPr lang="en-US" sz="1300" b="1" dirty="0">
                <a:solidFill>
                  <a:srgbClr val="556B82"/>
                </a:solidFill>
              </a:rPr>
              <a:t>editor de página</a:t>
            </a:r>
            <a:r>
              <a:rPr lang="en-US" sz="1300" dirty="0">
                <a:solidFill>
                  <a:srgbClr val="556B82"/>
                </a:solidFill>
              </a:rPr>
              <a:t> para tabela, filtros e seções.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Guided Development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Guias como </a:t>
            </a:r>
            <a:r>
              <a:rPr lang="en-US" sz="1300" i="1" dirty="0">
                <a:solidFill>
                  <a:srgbClr val="556B82"/>
                </a:solidFill>
              </a:rPr>
              <a:t>Add a new column</a:t>
            </a:r>
            <a:r>
              <a:rPr lang="en-US" sz="1300" dirty="0">
                <a:solidFill>
                  <a:srgbClr val="556B82"/>
                </a:solidFill>
              </a:rPr>
              <a:t> ou </a:t>
            </a:r>
            <a:r>
              <a:rPr lang="en-US" sz="1300" i="1" dirty="0">
                <a:solidFill>
                  <a:srgbClr val="556B82"/>
                </a:solidFill>
              </a:rPr>
              <a:t>Add a custom action</a:t>
            </a:r>
            <a:r>
              <a:rPr lang="en-US" sz="1300" dirty="0">
                <a:solidFill>
                  <a:srgbClr val="556B82"/>
                </a:solidFill>
              </a:rPr>
              <a:t>: você preenche parâmetros e ele gera o código no arquivo certo.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Guided Answers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Documentação interativa de troubleshooting, por perguntas, sem sair da IDE.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9069" y="3036316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036316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303631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CONFIGURAÇÃO · DECISÃO DE ARQUITETURA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Anotar no back-end ou no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CDS no back-end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Vale para </a:t>
            </a:r>
            <a:r>
              <a:rPr lang="en-US" sz="1350" b="1" dirty="0">
                <a:solidFill>
                  <a:srgbClr val="1D2D3E"/>
                </a:solidFill>
              </a:rPr>
              <a:t>todos</a:t>
            </a:r>
            <a:r>
              <a:rPr lang="en-US" sz="1350" dirty="0">
                <a:solidFill>
                  <a:srgbClr val="1D2D3E"/>
                </a:solidFill>
              </a:rPr>
              <a:t> os apps que usam o serviço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Versionado e transportado com o ABAP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Padrão do curso para colunas, filtros e seções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annotation.xml local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Vale só para </a:t>
            </a:r>
            <a:r>
              <a:rPr lang="en-US" sz="1350" b="1" dirty="0">
                <a:solidFill>
                  <a:srgbClr val="1D2D3E"/>
                </a:solidFill>
              </a:rPr>
              <a:t>este</a:t>
            </a:r>
            <a:r>
              <a:rPr lang="en-US" sz="1350" dirty="0">
                <a:solidFill>
                  <a:srgbClr val="1D2D3E"/>
                </a:solidFill>
              </a:rPr>
              <a:t> app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Sobrepõe a anotação do back-end para o mesmo alvo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Útil quando cada app precisa de uma tela diferente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Regra prática  </a:t>
            </a:r>
            <a:r>
              <a:rPr lang="en-US" sz="1200" dirty="0">
                <a:solidFill>
                  <a:srgbClr val="1D2D3E"/>
                </a:solidFill>
              </a:rPr>
              <a:t>anotações gerais no CDS; diferenças específicas de um app nas anotações locais ou no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SAP Fiori tools</a:t>
            </a:r>
            <a:r>
              <a:rPr lang="en-US" sz="1400" dirty="0">
                <a:solidFill>
                  <a:srgbClr val="FFFFFF"/>
                </a:solidFill>
              </a:rPr>
              <a:t> cobre gerar, visualizar, configurar e publicar apps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Funciona no </a:t>
            </a:r>
            <a:r>
              <a:rPr lang="en-US" sz="1400" b="1" dirty="0">
                <a:solidFill>
                  <a:srgbClr val="FFFFFF"/>
                </a:solidFill>
              </a:rPr>
              <a:t>Business Application Studio</a:t>
            </a:r>
            <a:r>
              <a:rPr lang="en-US" sz="1400" dirty="0">
                <a:solidFill>
                  <a:srgbClr val="FFFFFF"/>
                </a:solidFill>
              </a:rPr>
              <a:t> e no </a:t>
            </a:r>
            <a:r>
              <a:rPr lang="en-US" sz="1400" b="1" dirty="0">
                <a:solidFill>
                  <a:srgbClr val="FFFFFF"/>
                </a:solidFill>
              </a:rPr>
              <a:t>VS Code</a:t>
            </a:r>
            <a:r>
              <a:rPr lang="en-US" sz="1400" dirty="0">
                <a:solidFill>
                  <a:srgbClr val="FFFFFF"/>
                </a:solidFill>
              </a:rPr>
              <a:t> com o extension pack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Application Generator</a:t>
            </a:r>
            <a:r>
              <a:rPr lang="en-US" sz="1400" dirty="0">
                <a:solidFill>
                  <a:srgbClr val="FFFFFF"/>
                </a:solidFill>
              </a:rPr>
              <a:t> cria apps como o Pedidos de Compras com o template List Report Page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400" dirty="0">
                <a:solidFill>
                  <a:srgbClr val="FFFFFF"/>
                </a:solidFill>
              </a:rPr>
              <a:t> descreve páginas,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contextPath</a:t>
            </a:r>
            <a:r>
              <a:rPr lang="en-US" sz="1400" dirty="0">
                <a:solidFill>
                  <a:srgbClr val="FFFFFF"/>
                </a:solidFill>
              </a:rPr>
              <a:t> e navegação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Page Map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Guided Development</a:t>
            </a:r>
            <a:r>
              <a:rPr lang="en-US" sz="1400" dirty="0">
                <a:solidFill>
                  <a:srgbClr val="FFFFFF"/>
                </a:solidFill>
              </a:rPr>
              <a:t> configuram o app sem escrever código à mão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Anotações gerais no </a:t>
            </a:r>
            <a:r>
              <a:rPr lang="en-US" sz="1400" b="1" dirty="0">
                <a:solidFill>
                  <a:srgbClr val="FFFFFF"/>
                </a:solidFill>
              </a:rPr>
              <a:t>CDS</a:t>
            </a:r>
            <a:r>
              <a:rPr lang="en-US" sz="1400" dirty="0">
                <a:solidFill>
                  <a:srgbClr val="FFFFFF"/>
                </a:solidFill>
              </a:rPr>
              <a:t>; diferenças de um app em </a:t>
            </a:r>
            <a:r>
              <a:rPr lang="en-US" sz="1400" b="1" dirty="0">
                <a:solidFill>
                  <a:srgbClr val="FFFFFF"/>
                </a:solidFill>
              </a:rPr>
              <a:t>annotation.xml</a:t>
            </a:r>
            <a:r>
              <a:rPr lang="en-US" sz="1400" dirty="0">
                <a:solidFill>
                  <a:srgbClr val="FFFFFF"/>
                </a:solidFill>
              </a:rPr>
              <a:t> local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05.05  </a:t>
            </a:r>
            <a:r>
              <a:rPr lang="en-US" sz="1500" dirty="0">
                <a:solidFill>
                  <a:srgbClr val="FFFFFF"/>
                </a:solidFill>
              </a:rPr>
              <a:t>Floorplans: List Report, Object Page e facetas.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05.04 SAP Fiori tools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2026-10-29T13:45:10Z</dcterms:created>
  <dcterms:modified xsi:type="dcterms:W3CDTF">2026-10-29T13:45:10Z</dcterms:modified>
</cp:coreProperties>
</file>