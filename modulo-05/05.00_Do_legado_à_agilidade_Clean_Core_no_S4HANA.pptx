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Extensibilidade Clean Core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Extensibilidade Clean Core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 legado à agilidade: Clean Core no S/4HANA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05: por que o núcleo limpo importa, como estender o S/4HANA sem modificá-lo e como governar o código existente.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5 aulas neste módulo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Cinco aulas, do problema à governança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Practicing Clean Core Extensibility for SAP S/4HANA Cloud (S4D426)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estratégia, UX, ABAP Cloud e extensões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S4D426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Curso oficial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Tipos de extensão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key user, developer, side-by-side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A–D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Níveis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Clean Core no Private Edition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Onde ele entra na jornada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É o último módulo da ordem recomendada </a:t>
            </a:r>
            <a:r>
              <a:rPr lang="en-US" sz="1200" b="1" dirty="0">
                <a:solidFill>
                  <a:srgbClr val="556B82"/>
                </a:solidFill>
              </a:rPr>
              <a:t>01 → 04 → 02 → 05</a:t>
            </a:r>
            <a:r>
              <a:rPr lang="en-US" sz="1200" dirty="0">
                <a:solidFill>
                  <a:srgbClr val="556B82"/>
                </a:solidFill>
              </a:rPr>
              <a:t>. Ele junta linguagem, qualidade e modelagem em uma visão de arquitetura: </a:t>
            </a:r>
            <a:r>
              <a:rPr lang="en-US" sz="1200" b="1" dirty="0">
                <a:solidFill>
                  <a:srgbClr val="556B82"/>
                </a:solidFill>
              </a:rPr>
              <a:t>como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b="1" dirty="0">
                <a:solidFill>
                  <a:srgbClr val="556B82"/>
                </a:solidFill>
              </a:rPr>
              <a:t>onde</a:t>
            </a:r>
            <a:r>
              <a:rPr lang="en-US" sz="1200" dirty="0">
                <a:solidFill>
                  <a:srgbClr val="556B82"/>
                </a:solidFill>
              </a:rPr>
              <a:t> cada extensão deve ser construída.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Clean 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57032" y="397764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57032" y="397764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SAP Fiori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75597" y="397764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75597" y="397764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SAP Build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57032" y="4416552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57032" y="4416552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Released APIs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855464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85546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Extensibilidade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59368" y="4855464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59368" y="4855464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ATC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95130" y="4855464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95130" y="4855464"/>
            <a:ext cx="110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Wrappers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05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ideia central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Separar o </a:t>
            </a:r>
            <a:r>
              <a:rPr lang="en-US" sz="1600" b="1" dirty="0">
                <a:solidFill>
                  <a:srgbClr val="D1EFFF"/>
                </a:solidFill>
              </a:rPr>
              <a:t>núcleo SAP</a:t>
            </a:r>
            <a:r>
              <a:rPr lang="en-US" sz="1600" dirty="0">
                <a:solidFill>
                  <a:srgbClr val="D1EFFF"/>
                </a:solidFill>
              </a:rPr>
              <a:t> das </a:t>
            </a:r>
            <a:r>
              <a:rPr lang="en-US" sz="1600" b="1" dirty="0">
                <a:solidFill>
                  <a:srgbClr val="D1EFFF"/>
                </a:solidFill>
              </a:rPr>
              <a:t>extensões do cliente</a:t>
            </a:r>
            <a:r>
              <a:rPr lang="en-US" sz="1600" dirty="0">
                <a:solidFill>
                  <a:srgbClr val="D1EFFF"/>
                </a:solidFill>
              </a:rPr>
              <a:t> para receber inovação sem projetos de upgrade dolorosos.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quê</a:t>
            </a:r>
            <a:r>
              <a:rPr lang="en-US" sz="1000" dirty="0">
                <a:solidFill>
                  <a:srgbClr val="D1EFFF"/>
                </a:solidFill>
              </a:rPr>
              <a:t>  05.01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quem</a:t>
            </a:r>
            <a:r>
              <a:rPr lang="en-US" sz="1000" dirty="0">
                <a:solidFill>
                  <a:srgbClr val="D1EFFF"/>
                </a:solidFill>
              </a:rPr>
              <a:t>  05.02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o quê</a:t>
            </a:r>
            <a:r>
              <a:rPr lang="en-US" sz="1000" dirty="0">
                <a:solidFill>
                  <a:srgbClr val="D1EFFF"/>
                </a:solidFill>
              </a:rPr>
              <a:t>  05.03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· como governar</a:t>
            </a:r>
            <a:r>
              <a:rPr lang="en-US" sz="1000" dirty="0">
                <a:solidFill>
                  <a:srgbClr val="D1EFFF"/>
                </a:solidFill>
              </a:rPr>
              <a:t>  05.04 · 05.05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ANTES E DEPOIS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legado modificado ao núcleo limpo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ERP clássico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Exits, modificações e cópias de objetos SAP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Acesso direto a tabelas internas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longos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SPDD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Clean Core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key user, developer e side-by-side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Somente </a:t>
            </a:r>
            <a:r>
              <a:rPr lang="en-US" sz="1350" b="1" dirty="0">
                <a:solidFill>
                  <a:srgbClr val="1D2D3E"/>
                </a:solidFill>
              </a:rPr>
              <a:t>APIs liberadas</a:t>
            </a:r>
            <a:r>
              <a:rPr lang="en-US" sz="1350" dirty="0">
                <a:solidFill>
                  <a:srgbClr val="1D2D3E"/>
                </a:solidFill>
              </a:rPr>
              <a:t> e pontos de extensão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Updates frequentes e previsíveis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AS AULAS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cada aula entrega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Shape 4"/>
          <p:cNvSpPr/>
          <p:nvPr/>
        </p:nvSpPr>
        <p:spPr>
          <a:xfrm>
            <a:off x="1615379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15379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05.01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Clean Core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Por que extensões existem e como migrar o código Z.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3243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4411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Shape 9"/>
          <p:cNvSpPr/>
          <p:nvPr/>
        </p:nvSpPr>
        <p:spPr>
          <a:xfrm>
            <a:off x="3879982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79982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05.02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14411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UX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Princípios Fiori, Fiori elements, launchpad e SAP Build.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7846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79014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4585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44585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05.03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279014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Cloud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Linguagem restrita, RAP, contratos e APIs liberadas.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42449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43617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9188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09188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05.04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43617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Extensibilidade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Key user, developer e side-by-side, e como escolher.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7052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08220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73791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73791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05.05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08220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Private Edition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Níveis A–D, setup, ATC e wrappers.</a:t>
            </a:r>
            <a:endParaRPr lang="en-US" sz="14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4995" y="3193161"/>
            <a:ext cx="256032" cy="256032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193161"/>
            <a:ext cx="256032" cy="256032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98" y="3193161"/>
            <a:ext cx="256032" cy="256032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201" y="3193161"/>
            <a:ext cx="256032" cy="256032"/>
          </a:xfrm>
          <a:prstGeom prst="rect">
            <a:avLst/>
          </a:prstGeom>
        </p:spPr>
      </p:pic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8804" y="319316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Por que o </a:t>
            </a:r>
            <a:r>
              <a:rPr lang="en-US" sz="1400" b="1" dirty="0">
                <a:solidFill>
                  <a:srgbClr val="FFFFFF"/>
                </a:solidFill>
              </a:rPr>
              <a:t>Clean Core</a:t>
            </a:r>
            <a:r>
              <a:rPr lang="en-US" sz="1400" dirty="0">
                <a:solidFill>
                  <a:srgbClr val="FFFFFF"/>
                </a:solidFill>
              </a:rPr>
              <a:t> é a base para receber inovação da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Como tratar o código customizado na </a:t>
            </a:r>
            <a:r>
              <a:rPr lang="en-US" sz="1400" b="1" dirty="0">
                <a:solidFill>
                  <a:srgbClr val="FFFFFF"/>
                </a:solidFill>
              </a:rPr>
              <a:t>conversão</a:t>
            </a:r>
            <a:r>
              <a:rPr lang="en-US" sz="1400" dirty="0">
                <a:solidFill>
                  <a:srgbClr val="FFFFFF"/>
                </a:solidFill>
              </a:rPr>
              <a:t> para o S/4HANA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Os princípios do </a:t>
            </a:r>
            <a:r>
              <a:rPr lang="en-US" sz="1400" b="1" dirty="0">
                <a:solidFill>
                  <a:srgbClr val="FFFFFF"/>
                </a:solidFill>
              </a:rPr>
              <a:t>SAP Fiori</a:t>
            </a:r>
            <a:r>
              <a:rPr lang="en-US" sz="1400" dirty="0">
                <a:solidFill>
                  <a:srgbClr val="FFFFFF"/>
                </a:solidFill>
              </a:rPr>
              <a:t> e o papel do </a:t>
            </a:r>
            <a:r>
              <a:rPr lang="en-US" sz="1400" b="1" dirty="0">
                <a:solidFill>
                  <a:srgbClr val="FFFFFF"/>
                </a:solidFill>
              </a:rPr>
              <a:t>SAP Build</a:t>
            </a:r>
            <a:r>
              <a:rPr lang="en-US" sz="1400" dirty="0">
                <a:solidFill>
                  <a:srgbClr val="FFFFFF"/>
                </a:solidFill>
              </a:rPr>
              <a:t> para builders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que muda no </a:t>
            </a: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r>
              <a:rPr lang="en-US" sz="1400" dirty="0">
                <a:solidFill>
                  <a:srgbClr val="FFFFFF"/>
                </a:solidFill>
              </a:rPr>
              <a:t> e como achar </a:t>
            </a:r>
            <a:r>
              <a:rPr lang="en-US" sz="1400" b="1" dirty="0">
                <a:solidFill>
                  <a:srgbClr val="FFFFFF"/>
                </a:solidFill>
              </a:rPr>
              <a:t>APIs liberadas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Os três tipos de extensão: </a:t>
            </a:r>
            <a:r>
              <a:rPr lang="en-US" sz="1400" b="1" dirty="0">
                <a:solidFill>
                  <a:srgbClr val="FFFFFF"/>
                </a:solidFill>
              </a:rPr>
              <a:t>key user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developer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side-by-side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Os </a:t>
            </a:r>
            <a:r>
              <a:rPr lang="en-US" sz="1400" b="1" dirty="0">
                <a:solidFill>
                  <a:srgbClr val="FFFFFF"/>
                </a:solidFill>
              </a:rPr>
              <a:t>níveis A–D</a:t>
            </a:r>
            <a:r>
              <a:rPr lang="en-US" sz="1400" dirty="0">
                <a:solidFill>
                  <a:srgbClr val="FFFFFF"/>
                </a:solidFill>
              </a:rPr>
              <a:t>, as variantes do </a:t>
            </a:r>
            <a:r>
              <a:rPr lang="en-US" sz="1400" b="1" dirty="0">
                <a:solidFill>
                  <a:srgbClr val="FFFFFF"/>
                </a:solidFill>
              </a:rPr>
              <a:t>ATC</a:t>
            </a:r>
            <a:r>
              <a:rPr lang="en-US" sz="1400" dirty="0">
                <a:solidFill>
                  <a:srgbClr val="FFFFFF"/>
                </a:solidFill>
              </a:rPr>
              <a:t> e o padrão </a:t>
            </a:r>
            <a:r>
              <a:rPr lang="en-US" sz="1400" b="1" dirty="0">
                <a:solidFill>
                  <a:srgbClr val="FFFFFF"/>
                </a:solidFill>
              </a:rPr>
              <a:t>wrapper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05.01  </a:t>
            </a:r>
            <a:r>
              <a:rPr lang="en-US" sz="1500" dirty="0">
                <a:solidFill>
                  <a:srgbClr val="FFFFFF"/>
                </a:solidFill>
              </a:rPr>
              <a:t>Clean Core: Extensões, núcleo limpo e transição.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05.00 Do legado à agilidade: Clean Core no S/4HANA</dc:title>
  <dc:subject>ABAP Moderno – Módulo 05: Extensibilidade Clean Core</dc:subject>
  <dc:creator>Adriano Bispo</dc:creator>
  <cp:lastModifiedBy>Adriano Bispo</cp:lastModifiedBy>
  <cp:revision>1</cp:revision>
  <dcterms:created xsi:type="dcterms:W3CDTF">2026-10-29T01:30:09Z</dcterms:created>
  <dcterms:modified xsi:type="dcterms:W3CDTF">2026-10-29T01:30:09Z</dcterms:modified>
</cp:coreProperties>
</file>