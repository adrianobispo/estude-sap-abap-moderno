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5 de 8 — Dados estruturados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5 de 8 — Dados estruturados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05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Trabalhando com dados estruturados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Estruturas, tipos estruturados, acesso a componentes, VALUE e CORRESPONDING, de estruturas planas a profundas.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5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188720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88720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agrupamos os dados de um endereço, o resultado da consulta de CEP do projeto Pedidos de Compras, em estruturas e aprendemos a copiá-los com segurança entre tipos diferentes.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Dados que pertencem juntos ficam juntos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53235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653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Variáveis soltas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antes.abap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localidade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nada liga uma variável à outra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variável é independente: o programa não sabe que as três descrevem o mesmo endereço.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411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Uma estrutura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depois.abap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zif_pc_viacep=&gt;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endereco-cep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'01310100'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endereco-uf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Uma </a:t>
            </a:r>
            <a:r>
              <a:rPr lang="en-US" sz="1200" b="1" dirty="0">
                <a:solidFill>
                  <a:srgbClr val="556B82"/>
                </a:solidFill>
              </a:rPr>
              <a:t>estrutura</a:t>
            </a:r>
            <a:r>
              <a:rPr lang="en-US" sz="1200" dirty="0">
                <a:solidFill>
                  <a:srgbClr val="556B82"/>
                </a:solidFill>
              </a:rPr>
              <a:t> é uma variável com tipo estruturado: tem nome próprio e é dividida em </a:t>
            </a:r>
            <a:r>
              <a:rPr lang="en-US" sz="1200" b="1" dirty="0">
                <a:solidFill>
                  <a:srgbClr val="556B82"/>
                </a:solidFill>
              </a:rPr>
              <a:t>componentes</a:t>
            </a:r>
            <a:r>
              <a:rPr lang="en-US" sz="1200" dirty="0">
                <a:solidFill>
                  <a:srgbClr val="556B82"/>
                </a:solidFill>
              </a:rPr>
              <a:t>, cada um com nome e 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01.05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Declarando estruturas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tipo estruturado pode vir de um </a:t>
            </a:r>
            <a:r>
              <a:rPr lang="en-US" sz="1600" b="1" dirty="0">
                <a:solidFill>
                  <a:srgbClr val="D1EFFF"/>
                </a:solidFill>
              </a:rPr>
              <a:t>TYPES</a:t>
            </a:r>
            <a:r>
              <a:rPr lang="en-US" sz="1600" dirty="0">
                <a:solidFill>
                  <a:srgbClr val="D1EFFF"/>
                </a:solidFill>
              </a:rPr>
              <a:t> local, de um tipo global do repositório, de uma </a:t>
            </a:r>
            <a:r>
              <a:rPr lang="en-US" sz="1600" b="1" dirty="0">
                <a:solidFill>
                  <a:srgbClr val="D1EFFF"/>
                </a:solidFill>
              </a:rPr>
              <a:t>tabela</a:t>
            </a:r>
            <a:r>
              <a:rPr lang="en-US" sz="1600" dirty="0">
                <a:solidFill>
                  <a:srgbClr val="D1EFFF"/>
                </a:solidFill>
              </a:rPr>
              <a:t> ou de uma </a:t>
            </a:r>
            <a:r>
              <a:rPr lang="en-US" sz="1600" b="1" dirty="0">
                <a:solidFill>
                  <a:srgbClr val="D1EFFF"/>
                </a:solidFill>
              </a:rPr>
              <a:t>CDS view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BEGIN OF</a:t>
            </a:r>
            <a:r>
              <a:rPr lang="en-US" sz="1000" dirty="0">
                <a:solidFill>
                  <a:srgbClr val="D1EFFF"/>
                </a:solidFill>
              </a:rPr>
              <a:t>  tipo local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structure</a:t>
            </a:r>
            <a:r>
              <a:rPr lang="en-US" sz="1000" dirty="0">
                <a:solidFill>
                  <a:srgbClr val="D1EFFF"/>
                </a:solidFill>
              </a:rPr>
              <a:t>  tipo global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zr_pc_…</a:t>
            </a:r>
            <a:r>
              <a:rPr lang="en-US" sz="1000" dirty="0">
                <a:solidFill>
                  <a:srgbClr val="D1EFFF"/>
                </a:solidFill>
              </a:rPr>
              <a:t>  view como tipo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 BEGIN OF</a:t>
            </a:r>
            <a:r>
              <a:rPr lang="en-US" sz="1000" dirty="0">
                <a:solidFill>
                  <a:srgbClr val="D1EFFF"/>
                </a:solidFill>
              </a:rPr>
              <a:t>  constante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DECLARAÇÃO · TYPES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Tipos estruturados locais, simples e aninhados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zif_pc_viacep.intf.abap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ZAVBS_PC_COMMON › ZIF_PC_VIACEP (simplificada) e uso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localidade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ty_resultado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indisponivel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ty_resultado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ty_resultado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OF … END OF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Delimita os componentes; cada um tem nome e tipo.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Comando em cadeia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TYPES:</a:t>
            </a:r>
            <a:r>
              <a:rPr lang="en-US" sz="1050" dirty="0">
                <a:solidFill>
                  <a:srgbClr val="556B82"/>
                </a:solidFill>
              </a:rPr>
              <a:t> com vírgulas evita repetir a palavra-chave; use só para o que pertence junto.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Estrutura aninhada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 TYPE ty_endereco</a:t>
            </a:r>
            <a:r>
              <a:rPr lang="en-US" sz="1050" dirty="0">
                <a:solidFill>
                  <a:srgbClr val="556B82"/>
                </a:solidFill>
              </a:rPr>
              <a:t> é um componente que também é estrutura.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View como tipo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Tabelas e CDS views servem como tipo estruturado.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DECLARAÇÃO · ORIGEM DOS TIPOS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 onde vem um tipo estruturado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870638"/>
                <a:gridCol w="3753911"/>
                <a:gridCol w="419554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Origem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Quando usar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no programa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ty_endereco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 usado só por uma classe ou interface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 global do repositório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SYMSG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(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define structure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 compartilhado por vários objetos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Tabela de banco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 zta_pc_endereco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Linha com os mesmos campos da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CDS view entity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 zr_pc_endereco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Resultado de leitura da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80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480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Ferramentas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200" dirty="0">
                <a:solidFill>
                  <a:srgbClr val="1D2D3E"/>
                </a:solidFill>
              </a:rPr>
              <a:t> sobre o tipo mostra os componentes;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r>
              <a:rPr lang="en-US" sz="1200" dirty="0">
                <a:solidFill>
                  <a:srgbClr val="1D2D3E"/>
                </a:solidFill>
              </a:rPr>
              <a:t> abre a definição. No debugger, passe o mouse ou dê duplo clique para ver a estrutura na view </a:t>
            </a:r>
            <a:r>
              <a:rPr lang="en-US" sz="1200" b="1" dirty="0">
                <a:solidFill>
                  <a:srgbClr val="1D2D3E"/>
                </a:solidFill>
              </a:rPr>
              <a:t>Variables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608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01.05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Trabalhando com estruturas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Cada componente se comporta como uma variável comum. Para preencher e copiar, use </a:t>
            </a:r>
            <a:r>
              <a:rPr lang="en-US" sz="1600" b="1" dirty="0">
                <a:solidFill>
                  <a:srgbClr val="D1EFFF"/>
                </a:solidFill>
              </a:rPr>
              <a:t>VALUE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CORRESPONDING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estrutura-componente</a:t>
            </a:r>
            <a:r>
              <a:rPr lang="en-US" sz="1000" dirty="0">
                <a:solidFill>
                  <a:srgbClr val="D1EFFF"/>
                </a:solidFill>
              </a:rPr>
              <a:t>  acesso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)</a:t>
            </a:r>
            <a:r>
              <a:rPr lang="en-US" sz="1000" dirty="0">
                <a:solidFill>
                  <a:srgbClr val="D1EFFF"/>
                </a:solidFill>
              </a:rPr>
              <a:t>  preencher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D1EFFF"/>
                </a:solidFill>
              </a:rPr>
              <a:t>  só tipos compatíveis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 #( )</a:t>
            </a:r>
            <a:r>
              <a:rPr lang="en-US" sz="1000" dirty="0">
                <a:solidFill>
                  <a:srgbClr val="D1EFFF"/>
                </a:solidFill>
              </a:rPr>
              <a:t>  por nome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ACESSO E PREENCHIMENTO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seletor de componente e o VALUE #( 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9748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9748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zcl_pc_endereco_demo.clas.abap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ZAVBS_PC_CLIENTES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endereco-uf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resultado-endereco-localidade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'São Paulo'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'01310100'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'Avenida Paulista'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mesmo efeito que CLEAR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zr_pc_endereco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EnderecoPrincipal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b="1" dirty="0">
                <a:solidFill>
                  <a:srgbClr val="1D2D3E"/>
                </a:solidFill>
              </a:rPr>
              <a:t> seleciona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estrutura-componente</a:t>
            </a:r>
            <a:r>
              <a:rPr lang="en-US" sz="1050" dirty="0">
                <a:solidFill>
                  <a:srgbClr val="556B82"/>
                </a:solidFill>
              </a:rPr>
              <a:t>, sem espaços; repita para subcomponentes.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Constrói a estrutura do tipo do destino; o que não for citado fica inicial.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Recomeça do zero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destino é limpo antes de receber os novos valores.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Estrutura no SELECT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linha inteira cabe em uma estrutura do mesmo 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COPIANDO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Atribuição direta ou CORRESPONDING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9569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95691"/>
            <a:ext cx="5410048" cy="73152"/>
          </a:xfrm>
          <a:prstGeom prst="rect">
            <a:avLst/>
          </a:prstGeom>
          <a:solidFill>
            <a:srgbClr val="E7650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001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37001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destino = origem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009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é segura entre tipos </a:t>
            </a:r>
            <a:r>
              <a:rPr lang="en-US" sz="1350" b="1" dirty="0">
                <a:solidFill>
                  <a:srgbClr val="1D2D3E"/>
                </a:solidFill>
              </a:rPr>
              <a:t>compatíveis</a:t>
            </a:r>
            <a:r>
              <a:rPr lang="en-US" sz="1350" dirty="0">
                <a:solidFill>
                  <a:srgbClr val="1D2D3E"/>
                </a:solidFill>
              </a:rPr>
              <a:t> (em geral, o mesmo tipo)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Componente não-caractere em posição diferente: erro de sintaxe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Estruturas só de caracteres: compila, mas copia </a:t>
            </a:r>
            <a:r>
              <a:rPr lang="en-US" sz="1350" b="1" dirty="0">
                <a:solidFill>
                  <a:srgbClr val="1D2D3E"/>
                </a:solidFill>
              </a:rPr>
              <a:t>por posição</a:t>
            </a:r>
            <a:r>
              <a:rPr lang="en-US" sz="1350" dirty="0">
                <a:solidFill>
                  <a:srgbClr val="1D2D3E"/>
                </a:solidFill>
              </a:rPr>
              <a:t> e o resultado sai errado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09569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095691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37001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37001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CORRESPONDING #( origem 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01009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Copia componentes de </a:t>
            </a:r>
            <a:r>
              <a:rPr lang="en-US" sz="1350" b="1" dirty="0">
                <a:solidFill>
                  <a:srgbClr val="1D2D3E"/>
                </a:solidFill>
              </a:rPr>
              <a:t>mesmo nome</a:t>
            </a:r>
            <a:r>
              <a:rPr lang="en-US" sz="1350" dirty="0">
                <a:solidFill>
                  <a:srgbClr val="1D2D3E"/>
                </a:solidFill>
              </a:rPr>
              <a:t>, em qualquer ordem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Converte tipos diferentes pelas regras de conversão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Componentes sem par no destino ficam iniciais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555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1555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Cuidado  </a:t>
            </a:r>
            <a:r>
              <a:rPr lang="en-US" sz="1200" dirty="0">
                <a:solidFill>
                  <a:srgbClr val="1D2D3E"/>
                </a:solidFill>
              </a:rPr>
              <a:t>o erro silencioso da atribuição direta entre estruturas de caracteres não gera aviso: prefira sempre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200" dirty="0">
                <a:solidFill>
                  <a:srgbClr val="1D2D3E"/>
                </a:solidFill>
              </a:rPr>
              <a:t> entre tipos diferentes.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470595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470595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8351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CORRESPONDING AVANÇADO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MAPPING, EXCEPT e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886200"/>
          </a:xfrm>
          <a:prstGeom prst="roundRect">
            <a:avLst>
              <a:gd name="adj" fmla="val 188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9748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9748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zcl_pc_endereco_demo.clas.abap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ZAVBS_PC_CLIENTES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Copia por nome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resultado-endereco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Nomes diferentes e componentes ignorados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localidade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Mantém o que já existe no destino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Por nome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componentes com nomes iguais recebem valores;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r>
              <a:rPr lang="en-US" sz="1050" dirty="0">
                <a:solidFill>
                  <a:srgbClr val="556B82"/>
                </a:solidFill>
              </a:rPr>
              <a:t> contam como iguais.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5463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546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36342"/>
            <a:ext cx="3367735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r>
              <a:rPr lang="en-US" sz="1050" dirty="0">
                <a:solidFill>
                  <a:srgbClr val="556B82"/>
                </a:solidFill>
              </a:rPr>
              <a:t> da tabela à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localidade</a:t>
            </a:r>
            <a:r>
              <a:rPr lang="en-US" sz="1050" dirty="0">
                <a:solidFill>
                  <a:srgbClr val="556B82"/>
                </a:solidFill>
              </a:rPr>
              <a:t> que o ViaCEP devolve.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63474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634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616452"/>
            <a:ext cx="3367735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Exclui componentes da cópia.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5148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5148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96562"/>
            <a:ext cx="3367735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Parte do valor atual do destino, sem apagar o que não tem par.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64184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64184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RAP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200" dirty="0">
                <a:solidFill>
                  <a:srgbClr val="1D2D3E"/>
                </a:solidFill>
              </a:rPr>
              <a:t> é usado o tempo todo para converter entre tipos de banco, de CDS e de comportamento (aulas 01.07 e 01.08).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3786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01.05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Estruturas planas e profundas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tipo dos componentes define a natureza da estrutura e o que você pode fazer com ela.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Plana</a:t>
            </a:r>
            <a:r>
              <a:rPr lang="en-US" sz="1000" dirty="0">
                <a:solidFill>
                  <a:srgbClr val="D1EFFF"/>
                </a:solidFill>
              </a:rPr>
              <a:t>  tamanho fixo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Aninhada</a:t>
            </a:r>
            <a:r>
              <a:rPr lang="en-US" sz="1000" dirty="0">
                <a:solidFill>
                  <a:srgbClr val="D1EFFF"/>
                </a:solidFill>
              </a:rPr>
              <a:t>  subestrutura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Profunda</a:t>
            </a:r>
            <a:r>
              <a:rPr lang="en-US" sz="1000" dirty="0">
                <a:solidFill>
                  <a:srgbClr val="D1EFFF"/>
                </a:solidFill>
              </a:rPr>
              <a:t>  string, tabela, ref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00" dirty="0">
                <a:solidFill>
                  <a:srgbClr val="D1EFFF"/>
                </a:solidFill>
              </a:rPr>
              <a:t>  estrutura constante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DE ESTRUTURA · CLASSIFICAÇÃO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Plana, aninhada ou profunda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5030"/>
            <a:ext cx="3545738" cy="2778252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34619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949702"/>
            <a:ext cx="3143402" cy="186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Plana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Só componentes de tamanho fixo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00" dirty="0">
                <a:solidFill>
                  <a:srgbClr val="556B82"/>
                </a:solidFill>
              </a:rPr>
              <a:t>…). Pode ser tratada como um bloco contínuo de memória.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145030"/>
            <a:ext cx="3545738" cy="2778252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34619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2949702"/>
            <a:ext cx="3143402" cy="186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Aninhada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 ou mais componentes são estruturas. O acesso usa o seletor duas vezes: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resultado-endereco-localidade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145030"/>
            <a:ext cx="3545738" cy="2778252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34619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2949702"/>
            <a:ext cx="3143402" cy="186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Profunda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Contém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56B82"/>
                </a:solidFill>
              </a:rPr>
              <a:t>, tabela interna ou referência: esses componentes guardam o conteúdo em outra área de memória, e a estrutura não pode ser tratada como um bloco único de caracteres. Ex.: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ty_endereco</a:t>
            </a:r>
            <a:r>
              <a:rPr lang="en-US" sz="1300" dirty="0">
                <a:solidFill>
                  <a:srgbClr val="556B82"/>
                </a:solidFill>
              </a:rPr>
              <a:t>, só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0616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510616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Constantes estruturadas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CONSTANTS: BEGIN OF … END OF</a:t>
            </a:r>
            <a:r>
              <a:rPr lang="en-US" sz="1200" dirty="0">
                <a:solidFill>
                  <a:srgbClr val="1D2D3E"/>
                </a:solidFill>
              </a:rPr>
              <a:t> também é possível,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200" dirty="0">
                <a:solidFill>
                  <a:srgbClr val="1D2D3E"/>
                </a:solidFill>
              </a:rPr>
              <a:t> obrigatório em cada componente, como nas constantes da classe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CL_ABAP_BEHV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244678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44678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34178"/>
            <a:ext cx="310896" cy="310896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069" y="244678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</a:t>
            </a:r>
            <a:r>
              <a:rPr lang="en-US" sz="1400" b="1" dirty="0">
                <a:solidFill>
                  <a:srgbClr val="FFFFFF"/>
                </a:solidFill>
              </a:rPr>
              <a:t>estrutura</a:t>
            </a:r>
            <a:r>
              <a:rPr lang="en-US" sz="1400" dirty="0">
                <a:solidFill>
                  <a:srgbClr val="FFFFFF"/>
                </a:solidFill>
              </a:rPr>
              <a:t> agrupa componentes com nome e tipo em uma única variável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Tipos estruturados vêm de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… BEGIN OF</a:t>
            </a:r>
            <a:r>
              <a:rPr lang="en-US" sz="1400" dirty="0">
                <a:solidFill>
                  <a:srgbClr val="FFFFFF"/>
                </a:solidFill>
              </a:rPr>
              <a:t>, de tipos globais, de tabelas e de CDS 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seletor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</a:rPr>
              <a:t> acessa componentes, inclusive de estruturas aninhadas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)</a:t>
            </a:r>
            <a:r>
              <a:rPr lang="en-US" sz="1400" dirty="0">
                <a:solidFill>
                  <a:srgbClr val="FFFFFF"/>
                </a:solidFill>
              </a:rPr>
              <a:t> constrói a estrutura do tipo do destino; o que não é citado fica inicial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Atribuição direta só entre tipos compatíveis; entre tipos diferentes, </a:t>
            </a:r>
            <a:r>
              <a:rPr lang="en-US" sz="1400" b="1" dirty="0">
                <a:solidFill>
                  <a:srgbClr val="FFFFFF"/>
                </a:solidFill>
              </a:rPr>
              <a:t>CORRESPONDING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1400" dirty="0">
                <a:solidFill>
                  <a:srgbClr val="FFFFFF"/>
                </a:solidFill>
              </a:rPr>
              <a:t> refinam a cópia; estruturas podem ser planas, aninhadas ou profundas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01.06  </a:t>
            </a:r>
            <a:r>
              <a:rPr lang="en-US" sz="1500" dirty="0">
                <a:solidFill>
                  <a:srgbClr val="FFFFFF"/>
                </a:solidFill>
              </a:rPr>
              <a:t>Tabelas internas: Tipos de tabela, chaves e expressões de tabela.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01.05 Trabalhando com dados estruturados</dc:title>
  <dc:subject>ABAP Moderno – Módulo 01: Fundamentos do ABAP Moderno</dc:subject>
  <dc:creator>Adriano Bispo</dc:creator>
  <cp:lastModifiedBy>Adriano Bispo</cp:lastModifiedBy>
  <cp:revision>1</cp:revision>
  <dcterms:created xsi:type="dcterms:W3CDTF">2026-10-29T13:18:21Z</dcterms:created>
  <dcterms:modified xsi:type="dcterms:W3CDTF">2026-10-29T13:18:21Z</dcterms:modified>
</cp:coreProperties>
</file>