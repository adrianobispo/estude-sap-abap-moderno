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Dominando Estruturas de Dados em ABAP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A base da transformação de dados no modelo RAP.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lv_customer_id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TYPES: BEGIN OF 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 #( 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 / EXCEPT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( … )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Limite da Simplicidade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Por Que Variáveis Não Bastam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D2D3E"/>
                </a:solidFill>
              </a:rPr>
              <a:t>Até agora, manipulamos variáveis que armazenam um único valor, como um ID de cliente ou um preço. No mundo real, porém, os dados raramente andam sozinhos.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Uma entidade de negócio como um ‘Cliente’ é um conjunto de informações: Nome, Endereço, Telefone, Limite de Crédito.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80160" y="333756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0160" y="3840480"/>
            <a:ext cx="2560320" cy="0"/>
          </a:xfrm>
          <a:prstGeom prst="rect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337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lv_customer_id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84048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Variável Elementar: uma célula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0" y="4114800"/>
            <a:ext cx="14630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52160" y="3566160"/>
            <a:ext cx="1417320" cy="502920"/>
          </a:xfrm>
          <a:prstGeom prst="rect">
            <a:avLst/>
          </a:prstGeom>
          <a:solidFill>
            <a:srgbClr val="0070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52160" y="3566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852160" y="4069080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6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69480" y="3566160"/>
            <a:ext cx="1417320" cy="502920"/>
          </a:xfrm>
          <a:prstGeom prst="rect">
            <a:avLst/>
          </a:prstGeom>
          <a:solidFill>
            <a:srgbClr val="0070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69480" y="3566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Nome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069080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6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0" y="3566160"/>
            <a:ext cx="1417320" cy="502920"/>
          </a:xfrm>
          <a:prstGeom prst="rect">
            <a:avLst/>
          </a:prstGeom>
          <a:solidFill>
            <a:srgbClr val="0070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0" y="3566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Endereço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069080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6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04120" y="3566160"/>
            <a:ext cx="1417320" cy="502920"/>
          </a:xfrm>
          <a:prstGeom prst="rect">
            <a:avLst/>
          </a:prstGeom>
          <a:solidFill>
            <a:srgbClr val="0070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04120" y="3566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Limite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04120" y="4069080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6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52160" y="406908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5029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Entidade de Negócio: uma linha inteira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Solução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Estruturas como Contêineres de Dados Lógicos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1764792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Definição Central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Uma </a:t>
            </a:r>
            <a:r>
              <a:rPr lang="en-US" sz="1600" b="1" dirty="0">
                <a:solidFill>
                  <a:srgbClr val="556B82"/>
                </a:solidFill>
              </a:rPr>
              <a:t>Estrutura</a:t>
            </a:r>
            <a:r>
              <a:rPr lang="en-US" sz="1600" dirty="0">
                <a:solidFill>
                  <a:srgbClr val="556B82"/>
                </a:solidFill>
              </a:rPr>
              <a:t> é a representação técnica de um agrupamento lógico: uma área de memória contínua dividida em subáreas chamadas </a:t>
            </a:r>
            <a:r>
              <a:rPr lang="en-US" sz="1600" b="1" dirty="0">
                <a:solidFill>
                  <a:srgbClr val="556B82"/>
                </a:solidFill>
              </a:rPr>
              <a:t>componentes</a:t>
            </a:r>
            <a:r>
              <a:rPr lang="en-US" sz="16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3593592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Contexto de Negócio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Permite tratar uma entidade do mundo real — como um ‘Voo’ ou um ‘Pedido’ — como uma única unidade de dados no código.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49440" y="1783080"/>
            <a:ext cx="4693615" cy="4023360"/>
          </a:xfrm>
          <a:prstGeom prst="roundRect">
            <a:avLst>
              <a:gd name="adj" fmla="val 5682"/>
            </a:avLst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2376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ls_flight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269480" y="2651760"/>
            <a:ext cx="4053535" cy="804672"/>
          </a:xfrm>
          <a:prstGeom prst="roundRect">
            <a:avLst>
              <a:gd name="adj" fmla="val 11364"/>
            </a:avLst>
          </a:prstGeom>
          <a:solidFill>
            <a:srgbClr val="3091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0" y="2651760"/>
            <a:ext cx="359633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airline_code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269480" y="3639312"/>
            <a:ext cx="4053535" cy="804672"/>
          </a:xfrm>
          <a:prstGeom prst="roundRect">
            <a:avLst>
              <a:gd name="adj" fmla="val 11364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0" y="3639312"/>
            <a:ext cx="359633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flight_num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0017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69480" y="4626864"/>
            <a:ext cx="4053535" cy="804672"/>
          </a:xfrm>
          <a:prstGeom prst="roundRect">
            <a:avLst>
              <a:gd name="adj" fmla="val 11364"/>
            </a:avLst>
          </a:prstGeom>
          <a:solidFill>
            <a:srgbClr val="E765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0" y="4626864"/>
            <a:ext cx="359633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500.00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3754526"/>
            <a:ext cx="309067" cy="309067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1925726"/>
            <a:ext cx="309067" cy="3090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Planta vs. A Construção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TYPES e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00200" y="182880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TYPES · a planta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500" dirty="0">
                <a:solidFill>
                  <a:srgbClr val="1D2D3E"/>
                </a:solidFill>
              </a:rPr>
              <a:t> define o ‘molde’ da estrutura. </a:t>
            </a:r>
            <a:r>
              <a:rPr lang="en-US" sz="1500" b="1" dirty="0">
                <a:solidFill>
                  <a:srgbClr val="1D2D3E"/>
                </a:solidFill>
              </a:rPr>
              <a:t>Não aloca memória</a:t>
            </a:r>
            <a:r>
              <a:rPr lang="en-US" sz="1500" dirty="0">
                <a:solidFill>
                  <a:srgbClr val="1D2D3E"/>
                </a:solidFill>
              </a:rPr>
              <a:t> — apenas ensina ao compilador como os dados devem ser organizados.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481568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4005072"/>
            <a:ext cx="43584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ty_flight_info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airline_code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flight_num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/dmo/flight_price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ty_flight_info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182880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30288" y="182880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F3A"/>
                </a:solidFill>
              </a:rPr>
              <a:t>DATA · a construção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60604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</a:rPr>
              <a:t> </a:t>
            </a:r>
            <a:r>
              <a:rPr lang="en-US" sz="1500" b="1" dirty="0">
                <a:solidFill>
                  <a:srgbClr val="1D2D3E"/>
                </a:solidFill>
              </a:rPr>
              <a:t>aloca o espaço na memória</a:t>
            </a:r>
            <a:r>
              <a:rPr lang="en-US" sz="1500" dirty="0">
                <a:solidFill>
                  <a:srgbClr val="1D2D3E"/>
                </a:solidFill>
              </a:rPr>
              <a:t> e cria a ‘instância’ real e utilizável, pronta para armazenar valores.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53048" y="3840480"/>
            <a:ext cx="481568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781648" y="4005072"/>
            <a:ext cx="43584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Cria a variável baseada no 'molde'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ty_flight_info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Acessa os componentes com hífen (-)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ls_flight-airline_code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'AA'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ls_flight-price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'500.00'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309067" cy="309067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71446"/>
            <a:ext cx="309067" cy="3090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Desafio Moderno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Jornada dos Dados Entre Camadas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No desenvolvimento RAP, os dados fluem constantemente: do banco para a lógica de negócio, e da lógica para a interface do usuário. Cada camada pode ter sua própria “visão” da mesma entidade.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97280" y="2926080"/>
            <a:ext cx="3291840" cy="2121408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9525">
            <a:solidFill>
              <a:srgbClr val="556B8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926080"/>
            <a:ext cx="3291840" cy="502920"/>
          </a:xfrm>
          <a:prstGeom prst="roundRect">
            <a:avLst>
              <a:gd name="adj" fmla="val 25455"/>
            </a:avLst>
          </a:prstGeom>
          <a:solidFill>
            <a:srgbClr val="556B82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3246120"/>
            <a:ext cx="3291840" cy="182880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926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Estrutura do Banco (DB Layer)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4747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480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99832" y="2926080"/>
            <a:ext cx="3291840" cy="2121408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99832" y="2926080"/>
            <a:ext cx="3291840" cy="502920"/>
          </a:xfrm>
          <a:prstGeom prst="roundRect">
            <a:avLst>
              <a:gd name="adj" fmla="val 25455"/>
            </a:avLst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7799832" y="3246120"/>
            <a:ext cx="3291840" cy="182880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36992" y="2926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Estrutura da Interface (UI Layer)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4747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AirlineName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028432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FlightNumber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028432" y="4480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StatusText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0" y="3977640"/>
            <a:ext cx="3063240" cy="0"/>
          </a:xfrm>
          <a:prstGeom prst="line">
            <a:avLst/>
          </a:prstGeom>
          <a:noFill/>
          <a:ln w="38100">
            <a:solidFill>
              <a:srgbClr val="1D2D3E"/>
            </a:solidFill>
            <a:prstDash val="dash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38648" y="3520440"/>
            <a:ext cx="914400" cy="914400"/>
          </a:xfrm>
          <a:prstGeom prst="ellipse">
            <a:avLst/>
          </a:prstGeom>
          <a:solidFill>
            <a:srgbClr val="FFF8D6"/>
          </a:solidFill>
          <a:ln w="25400">
            <a:solidFill>
              <a:srgbClr val="E765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38648" y="3520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44F00"/>
                </a:solidFill>
              </a:rPr>
              <a:t>?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6177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mover os dados de forma eficiente e segura?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Ferramenta Essencial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Operador CORRESPONDING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Copiar campo a campo é trabalhoso e propenso a erros. O operador </a:t>
            </a:r>
            <a:r>
              <a:rPr lang="en-US" sz="17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700" dirty="0">
                <a:solidFill>
                  <a:srgbClr val="1D2D3E"/>
                </a:solidFill>
              </a:rPr>
              <a:t> resolve isso de forma inteligente, mapeando campos com nomes idênticos.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364328" cy="361188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417320" y="27432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A0808"/>
                </a:solidFill>
              </a:rPr>
              <a:t>ABAP Legado (Evitar)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4815688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3685032"/>
            <a:ext cx="435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MOVE-CORRESPONDING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ls_b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2628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Riscos:</a:t>
            </a:r>
            <a:r>
              <a:rPr lang="en-US" sz="1600" dirty="0">
                <a:solidFill>
                  <a:srgbClr val="1D2D3E"/>
                </a:solidFill>
              </a:rPr>
              <a:t> não limpa campos extras no destino; pode deixar “lixo” de dados.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78728" y="2560320"/>
            <a:ext cx="5364328" cy="361188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47408" y="27432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F3A"/>
                </a:solidFill>
              </a:rPr>
              <a:t>ABAP Moderno (Recomendado)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53048" y="3520440"/>
            <a:ext cx="4815688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81648" y="3685032"/>
            <a:ext cx="435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ls_b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452628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Benefícios:</a:t>
            </a:r>
            <a:r>
              <a:rPr lang="en-US" sz="1600" dirty="0">
                <a:solidFill>
                  <a:srgbClr val="1D2D3E"/>
                </a:solidFill>
              </a:rPr>
              <a:t> cria uma nova instância limpa, garante segurança de tipo e clareza de intenção.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88920"/>
            <a:ext cx="457200" cy="45720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788920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Dando Superpoderes ao CORRESPONDING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MAPPING e EXCEPT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45920" y="182880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4815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4F00"/>
                </a:solidFill>
              </a:rPr>
              <a:t>Problema: </a:t>
            </a:r>
            <a:r>
              <a:rPr lang="en-US" sz="1500" dirty="0">
                <a:solidFill>
                  <a:srgbClr val="1D2D3E"/>
                </a:solidFill>
              </a:rPr>
              <a:t>E quando os nomes dos campos são diferentes, como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500" dirty="0">
                <a:solidFill>
                  <a:srgbClr val="1D2D3E"/>
                </a:solidFill>
              </a:rPr>
              <a:t> 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AirlineName</a:t>
            </a:r>
            <a:r>
              <a:rPr lang="en-US" sz="1500" dirty="0">
                <a:solidFill>
                  <a:srgbClr val="1D2D3E"/>
                </a:solidFill>
              </a:rPr>
              <a:t>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4815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F3A"/>
                </a:solidFill>
              </a:rPr>
              <a:t>Solução: </a:t>
            </a:r>
            <a:r>
              <a:rPr lang="en-US" sz="1500" dirty="0">
                <a:solidFill>
                  <a:srgbClr val="1D2D3E"/>
                </a:solidFill>
              </a:rPr>
              <a:t>Usamos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500" dirty="0">
                <a:solidFill>
                  <a:srgbClr val="1D2D3E"/>
                </a:solidFill>
              </a:rPr>
              <a:t> para criar um dicionário de tradução explícito dentro da operação.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5074920"/>
            <a:ext cx="4815688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51560" y="5239512"/>
            <a:ext cx="435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AirlineName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3048" y="18288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76008" y="182880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2697480"/>
            <a:ext cx="4815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4F00"/>
                </a:solidFill>
              </a:rPr>
              <a:t>Problema: </a:t>
            </a:r>
            <a:r>
              <a:rPr lang="en-US" sz="1500" dirty="0">
                <a:solidFill>
                  <a:srgbClr val="1D2D3E"/>
                </a:solidFill>
              </a:rPr>
              <a:t>Como evitar que campos-chave ou técnicos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r>
              <a:rPr lang="en-US" sz="1500" dirty="0">
                <a:solidFill>
                  <a:srgbClr val="1D2D3E"/>
                </a:solidFill>
              </a:rPr>
              <a:t>) sejam sobrescritos acidentalmente?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3749040"/>
            <a:ext cx="4815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F3A"/>
                </a:solidFill>
              </a:rPr>
              <a:t>Solução: </a:t>
            </a:r>
            <a:r>
              <a:rPr lang="en-US" sz="1500" dirty="0">
                <a:solidFill>
                  <a:srgbClr val="1D2D3E"/>
                </a:solidFill>
              </a:rPr>
              <a:t>Usamos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500" dirty="0">
                <a:solidFill>
                  <a:srgbClr val="1D2D3E"/>
                </a:solidFill>
              </a:rPr>
              <a:t> para listar os campos do destino que devem ser ignorados e protegidos durante a cópia.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53048" y="5074920"/>
            <a:ext cx="4815688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781648" y="5239512"/>
            <a:ext cx="435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endParaRPr lang="en-US" sz="16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982419"/>
            <a:ext cx="332842" cy="33284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667" y="198241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Arte da Atualização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Preservando Dados com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25880" y="1536192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Cenário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Um usuário altera apenas o preço de um voo na tela. Como aplicar a mudança no banco sem apagar os outros campos, como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r>
              <a:rPr lang="en-US" sz="1500" dirty="0">
                <a:solidFill>
                  <a:srgbClr val="556B82"/>
                </a:solidFill>
              </a:rPr>
              <a:t> 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r>
              <a:rPr lang="en-US" sz="1500" dirty="0">
                <a:solidFill>
                  <a:srgbClr val="556B82"/>
                </a:solidFill>
              </a:rPr>
              <a:t>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25880" y="2587752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 Solução é BASE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500" dirty="0">
                <a:solidFill>
                  <a:srgbClr val="556B82"/>
                </a:solidFill>
              </a:rPr>
              <a:t> instrui 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500" dirty="0">
                <a:solidFill>
                  <a:srgbClr val="556B82"/>
                </a:solidFill>
              </a:rPr>
              <a:t> a usar uma estrutura existente como ponto de partida: as mudanças são aplicadas </a:t>
            </a:r>
            <a:r>
              <a:rPr lang="en-US" sz="1500" b="1" dirty="0">
                <a:solidFill>
                  <a:srgbClr val="556B82"/>
                </a:solidFill>
              </a:rPr>
              <a:t>por cima da base</a:t>
            </a:r>
            <a:r>
              <a:rPr lang="en-US" sz="15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2834640" cy="1234440"/>
          </a:xfrm>
          <a:prstGeom prst="roundRect">
            <a:avLst>
              <a:gd name="adj" fmla="val 10370"/>
            </a:avLst>
          </a:prstGeom>
          <a:solidFill>
            <a:srgbClr val="556B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9776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= 1000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805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 = 'USER_A'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Registro original (DB)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84048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0914C"/>
                </a:solidFill>
              </a:rPr>
              <a:t>+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3931920" y="4133088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30914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413308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= 1200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5138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UI Input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0" y="4069080"/>
            <a:ext cx="2606040" cy="77724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0" y="40690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 #( BASE … 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778240" y="3840480"/>
            <a:ext cx="2864815" cy="1234440"/>
          </a:xfrm>
          <a:prstGeom prst="roundRect">
            <a:avLst>
              <a:gd name="adj" fmla="val 10370"/>
            </a:avLst>
          </a:prstGeom>
          <a:solidFill>
            <a:srgbClr val="1D2D3E"/>
          </a:solidFill>
          <a:ln/>
        </p:spPr>
      </p:sp>
      <p:sp>
        <p:nvSpPr>
          <p:cNvPr id="19" name="Shape 17"/>
          <p:cNvSpPr/>
          <p:nvPr/>
        </p:nvSpPr>
        <p:spPr>
          <a:xfrm>
            <a:off x="8887968" y="3977640"/>
            <a:ext cx="2645359" cy="438912"/>
          </a:xfrm>
          <a:prstGeom prst="roundRect">
            <a:avLst>
              <a:gd name="adj" fmla="val 12500"/>
            </a:avLst>
          </a:prstGeom>
          <a:solidFill>
            <a:srgbClr val="30914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06840" y="3977640"/>
            <a:ext cx="2499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= 1200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4480560"/>
            <a:ext cx="2499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 = 'USER_A'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5138928"/>
            <a:ext cx="2864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Registro atualizado (resultado)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64D9"/>
                </a:solidFill>
              </a:rPr>
              <a:t>Merge, não Replace.</a:t>
            </a:r>
            <a:endParaRPr lang="en-US" sz="2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686154"/>
            <a:ext cx="285293" cy="285293"/>
          </a:xfrm>
          <a:prstGeom prst="rect">
            <a:avLst/>
          </a:prstGeom>
        </p:spPr>
      </p:pic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Uma Nova Dimensão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Estruturas Planas vs. Profundas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489798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Estrutura Plana (Flat Structure)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Contém apenas tipos elementares de tamanho fixo — pense em uma linha de uma tabela de banco de dados simples. </a:t>
            </a:r>
            <a:r>
              <a:rPr lang="en-US" sz="1500" b="1" dirty="0">
                <a:solidFill>
                  <a:srgbClr val="556B82"/>
                </a:solidFill>
              </a:rPr>
              <a:t>Rápida e eficiente.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10048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8904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89040" y="2532888"/>
            <a:ext cx="489798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Estrutura Profunda (Deep Structure)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Contém pelo menos um componente de tamanho dinâmico, como uma </a:t>
            </a:r>
            <a:r>
              <a:rPr lang="en-US" sz="1500" b="1" dirty="0">
                <a:solidFill>
                  <a:srgbClr val="556B82"/>
                </a:solidFill>
              </a:rPr>
              <a:t>String</a:t>
            </a:r>
            <a:r>
              <a:rPr lang="en-US" sz="1500" dirty="0">
                <a:solidFill>
                  <a:srgbClr val="556B82"/>
                </a:solidFill>
              </a:rPr>
              <a:t>, uma </a:t>
            </a:r>
            <a:r>
              <a:rPr lang="en-US" sz="1500" b="1" dirty="0">
                <a:solidFill>
                  <a:srgbClr val="556B82"/>
                </a:solidFill>
              </a:rPr>
              <a:t>Tabela Interna</a:t>
            </a:r>
            <a:r>
              <a:rPr lang="en-US" sz="1500" dirty="0">
                <a:solidFill>
                  <a:srgbClr val="556B82"/>
                </a:solidFill>
              </a:rPr>
              <a:t> ou uma </a:t>
            </a:r>
            <a:r>
              <a:rPr lang="en-US" sz="1500" b="1" dirty="0">
                <a:solidFill>
                  <a:srgbClr val="556B82"/>
                </a:solidFill>
              </a:rPr>
              <a:t>Referência de Objeto</a:t>
            </a:r>
            <a:r>
              <a:rPr lang="en-US" sz="1500" dirty="0">
                <a:solidFill>
                  <a:srgbClr val="556B82"/>
                </a:solidFill>
              </a:rPr>
              <a:t>. Exige mais cuidado no manuseio da memória.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11680" y="4389120"/>
            <a:ext cx="8168335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40280" y="4553712"/>
            <a:ext cx="7711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ty_passenger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Torna a estrutura Deep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tt_flights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 Interna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ty_passenger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567" y="1979127"/>
            <a:ext cx="266273" cy="266273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35" y="1979127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Jornada Completa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Exemplo Prático (Parte 1 – As Definições)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Vamos simular um cenário RAP completo: ler dados do banco, prepará-los para a UI e, em seguida, processar uma atualização vinda da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364328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505456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Estrutura do Banco de Dados (ty_db_flight)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9504"/>
            <a:ext cx="536432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017520"/>
            <a:ext cx="49071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ty_db_flight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ty_db_flight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5364328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07328" y="2505456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Estrutura da Interface (ty_ui_flight)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889504"/>
            <a:ext cx="536432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07328" y="3017520"/>
            <a:ext cx="49071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ty_ui_flight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status_text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ty_ui_flight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212080"/>
            <a:ext cx="5364328" cy="868680"/>
          </a:xfrm>
          <a:prstGeom prst="roundRect">
            <a:avLst>
              <a:gd name="adj" fmla="val 12632"/>
            </a:avLst>
          </a:prstGeom>
          <a:solidFill>
            <a:srgbClr val="EAEC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5212080"/>
            <a:ext cx="4358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Nomes técnicos e campos de auditoria, espelhando a tabela do banco.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78728" y="5212080"/>
            <a:ext cx="5364328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10248" y="5212080"/>
            <a:ext cx="4358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Nomes amigáveis para o usuário, sem campos de sistema. Inclui campos exclusivos da UI.</a:t>
            </a:r>
            <a:endParaRPr lang="en-US" sz="16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72684"/>
            <a:ext cx="347472" cy="347472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547268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Jornada Completa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Exemplo Prático (Parte 2 – Lendo do DB para a UI)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Objetivo: </a:t>
            </a:r>
            <a:r>
              <a:rPr lang="en-US" sz="1600" dirty="0">
                <a:solidFill>
                  <a:srgbClr val="556B82"/>
                </a:solidFill>
              </a:rPr>
              <a:t>transformar a estrutura técnica do banco em uma estrutura amigável para a interface do usuário.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6675120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267712"/>
            <a:ext cx="62179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Dados de origem (simulando um SELECT)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ls_db_source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ty_db_flight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'1250.50'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Transformação com MAPPING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ls_ui_target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ty_ui_flight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ls_db_source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543800" y="2103120"/>
            <a:ext cx="4099255" cy="1490472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 w="9525">
            <a:solidFill>
              <a:srgbClr val="556B8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43800" y="2103120"/>
            <a:ext cx="4099255" cy="502920"/>
          </a:xfrm>
          <a:prstGeom prst="roundRect">
            <a:avLst>
              <a:gd name="adj" fmla="val 25455"/>
            </a:avLst>
          </a:prstGeom>
          <a:solidFill>
            <a:srgbClr val="556B82"/>
          </a:solidFill>
          <a:ln/>
        </p:spPr>
      </p:sp>
      <p:sp>
        <p:nvSpPr>
          <p:cNvPr id="9" name="Shape 7"/>
          <p:cNvSpPr/>
          <p:nvPr/>
        </p:nvSpPr>
        <p:spPr>
          <a:xfrm>
            <a:off x="7543800" y="2423160"/>
            <a:ext cx="4099255" cy="182880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0" y="2103120"/>
            <a:ext cx="3824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Entrada (ls_db_source)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651760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 = 'LH'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944368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     = '1250.50'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3236976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 = 'USER_SAP'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72600" y="3648456"/>
            <a:ext cx="457200" cy="274320"/>
          </a:xfrm>
          <a:prstGeom prst="downArrow">
            <a:avLst/>
          </a:prstGeom>
          <a:solidFill>
            <a:srgbClr val="0070F2"/>
          </a:solidFill>
          <a:ln/>
        </p:spPr>
      </p:sp>
      <p:sp>
        <p:nvSpPr>
          <p:cNvPr id="15" name="Shape 13"/>
          <p:cNvSpPr/>
          <p:nvPr/>
        </p:nvSpPr>
        <p:spPr>
          <a:xfrm>
            <a:off x="7543800" y="3959352"/>
            <a:ext cx="4099255" cy="1490472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543800" y="3959352"/>
            <a:ext cx="4099255" cy="502920"/>
          </a:xfrm>
          <a:prstGeom prst="roundRect">
            <a:avLst>
              <a:gd name="adj" fmla="val 25455"/>
            </a:avLst>
          </a:prstGeom>
          <a:solidFill>
            <a:srgbClr val="0070F2"/>
          </a:solidFill>
          <a:ln/>
        </p:spPr>
      </p:sp>
      <p:sp>
        <p:nvSpPr>
          <p:cNvPr id="17" name="Shape 15"/>
          <p:cNvSpPr/>
          <p:nvPr/>
        </p:nvSpPr>
        <p:spPr>
          <a:xfrm>
            <a:off x="7543800" y="4279392"/>
            <a:ext cx="4099255" cy="182880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3959352"/>
            <a:ext cx="3824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Saída (ls_ui_target)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4507992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     = 'LH'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800600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      = '1250.50'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0" y="5093208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status_text = ''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80160" y="5577840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Observação:</a:t>
            </a:r>
            <a:r>
              <a:rPr lang="en-US" sz="1500" dirty="0">
                <a:solidFill>
                  <a:srgbClr val="1D2D3E"/>
                </a:solidFill>
              </a:rPr>
              <a:t> note que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r>
              <a:rPr lang="en-US" sz="1500" dirty="0">
                <a:solidFill>
                  <a:srgbClr val="1D2D3E"/>
                </a:solidFill>
              </a:rPr>
              <a:t> é ignorado automaticamente, pois não existe no destino.</a:t>
            </a:r>
            <a:endParaRPr lang="en-US" sz="16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241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Jornada Completa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Exemplo Prático (Parte 3 – Atualizando o DB)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Objetivo: </a:t>
            </a:r>
            <a:r>
              <a:rPr lang="en-US" sz="1600" dirty="0">
                <a:solidFill>
                  <a:srgbClr val="556B82"/>
                </a:solidFill>
              </a:rPr>
              <a:t>receber uma alteração de preço da UI e aplicá-la à estrutura do banco, preservando os campos de auditoria originais.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731520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496312"/>
            <a:ext cx="6858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A UI envia um novo preço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ls_ui_input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ls_ui_target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ls_ui_input-price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'999.00'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Merge inteligente usando BASE e MAPPING reverso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ls_db_updated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ty_db_flight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ls_db_source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2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Ponto de partida: dados atuais do DB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ls_ui_input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2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Aplica as mudanças da UI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2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2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Protege o campo chave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233172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Resultado (ls_db_updated)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83880" y="2788920"/>
            <a:ext cx="3459175" cy="731520"/>
          </a:xfrm>
          <a:prstGeom prst="roundRect">
            <a:avLst>
              <a:gd name="adj" fmla="val 12500"/>
            </a:avLst>
          </a:prstGeom>
          <a:solidFill>
            <a:srgbClr val="F5FAE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2788920"/>
            <a:ext cx="2773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price: '999.00'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56F3A"/>
                </a:solidFill>
              </a:rPr>
              <a:t>Atualizado com o valor da UI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83880" y="3593592"/>
            <a:ext cx="3459175" cy="731520"/>
          </a:xfrm>
          <a:prstGeom prst="roundRect">
            <a:avLst>
              <a:gd name="adj" fmla="val 12500"/>
            </a:avLst>
          </a:prstGeom>
          <a:solidFill>
            <a:srgbClr val="F5FAE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78240" y="3593592"/>
            <a:ext cx="2773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created_by: 'USER_SAP'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56F3A"/>
                </a:solidFill>
              </a:rPr>
              <a:t>Preservado graças ao BASE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83880" y="4398264"/>
            <a:ext cx="3459175" cy="731520"/>
          </a:xfrm>
          <a:prstGeom prst="roundRect">
            <a:avLst>
              <a:gd name="adj" fmla="val 12500"/>
            </a:avLst>
          </a:prstGeom>
          <a:solidFill>
            <a:srgbClr val="F5FA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4398264"/>
            <a:ext cx="2773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carrier_id: 'LH'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56F3A"/>
                </a:solidFill>
              </a:rPr>
              <a:t>Protegido pelo EXCEPT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13333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30352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Merge, não Replace:</a:t>
            </a:r>
            <a:r>
              <a:rPr lang="en-US" sz="1500" dirty="0">
                <a:solidFill>
                  <a:srgbClr val="1D2D3E"/>
                </a:solidFill>
              </a:rPr>
              <a:t>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500" dirty="0">
                <a:solidFill>
                  <a:srgbClr val="1D2D3E"/>
                </a:solidFill>
              </a:rPr>
              <a:t> preserva o que já existia,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500" dirty="0">
                <a:solidFill>
                  <a:srgbClr val="1D2D3E"/>
                </a:solidFill>
              </a:rPr>
              <a:t> traduz os nomes 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500" dirty="0">
                <a:solidFill>
                  <a:srgbClr val="1D2D3E"/>
                </a:solidFill>
              </a:rPr>
              <a:t> protege a chave.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990088"/>
            <a:ext cx="329184" cy="329184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794760"/>
            <a:ext cx="329184" cy="329184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4599432"/>
            <a:ext cx="329184" cy="329184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54126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Guia Rápido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Modernize Seu Código ABAP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Adotar a sintaxe moderna não é apenas uma questão de estilo. É sobre escrever </a:t>
            </a:r>
            <a:r>
              <a:rPr lang="en-US" sz="1600" b="1" dirty="0">
                <a:solidFill>
                  <a:srgbClr val="1D2D3E"/>
                </a:solidFill>
              </a:rPr>
              <a:t>código mais seguro, legível e robusto.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416552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Conceito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Abordagem Legada (Evitar)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Abordagem Moderna (Recomendado)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Transferência por Nome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MOVE-CORRESPONDING a TO b.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= CORRESPONDING #( a 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Preservar Dados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Lógica manual de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s para não limpar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= CORRESPONDING #( BASE ( b ) a 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Inicialização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Declaração linha a linha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DATA(s) = VALUE tipo( ... 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Declaração de Work Area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DATA: wa LIKE ztabela.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DATA: wa TYPE ztabela.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Seu Glossário Técnico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8562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2404872"/>
            <a:ext cx="300319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D2D3E"/>
                </a:solidFill>
              </a:rPr>
              <a:t>Estrutura (Structure)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56B82"/>
                </a:solidFill>
              </a:rPr>
              <a:t>Objeto de dados complexo que agrupa componentes (campos), representando uma entidade de negócio.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94250" y="18562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4250" y="2404872"/>
            <a:ext cx="300319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D2D3E"/>
                </a:solidFill>
              </a:rPr>
              <a:t>Operador CORRESPONDING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56B82"/>
                </a:solidFill>
              </a:rPr>
              <a:t>Construtor que projeta dados de uma estrutura para outra com base em nomes ou regras de mapeamento.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383829" y="18562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83829" y="2404872"/>
            <a:ext cx="300319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D2D3E"/>
                </a:solidFill>
              </a:rPr>
              <a:t>Estrutura Plana (Flat)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56B82"/>
                </a:solidFill>
              </a:rPr>
              <a:t>Apenas tipos elementares de comprimento fixo. Sem strings, tabelas internas ou referências.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828032"/>
            <a:ext cx="300319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D2D3E"/>
                </a:solidFill>
              </a:rPr>
              <a:t>Adição BASE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56B82"/>
                </a:solidFill>
              </a:rPr>
              <a:t>Define um valor inicial para a estrutura de destino; essencial para operações de Merge ou Update.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9425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4250" y="4828032"/>
            <a:ext cx="300319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D2D3E"/>
                </a:solidFill>
              </a:rPr>
              <a:t>Estrutura Profunda (Deep)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56B82"/>
                </a:solidFill>
              </a:rPr>
              <a:t>Contém referências (strings, tabelas internas, objetos), exigindo gerenciamento de memória mais complexo.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83829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83829" y="4828032"/>
            <a:ext cx="300319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D2D3E"/>
                </a:solidFill>
              </a:rPr>
              <a:t>TYPES vs. DATA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56B82"/>
                </a:solidFill>
              </a:rPr>
              <a:t>TYPES é o ‘molde’ (compilação). DATA é a ‘instância’ em memória (execução).</a:t>
            </a:r>
            <a:endParaRPr lang="en-US" sz="16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844" y="1948404"/>
            <a:ext cx="199705" cy="199705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422" y="1948404"/>
            <a:ext cx="199705" cy="199705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000" y="1948404"/>
            <a:ext cx="199705" cy="199705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844" y="4371564"/>
            <a:ext cx="199705" cy="199705"/>
          </a:xfrm>
          <a:prstGeom prst="rect">
            <a:avLst/>
          </a:prstGeom>
        </p:spPr>
      </p:pic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422" y="4371564"/>
            <a:ext cx="199705" cy="199705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000" y="4371564"/>
            <a:ext cx="199705" cy="199705"/>
          </a:xfrm>
          <a:prstGeom prst="rect">
            <a:avLst/>
          </a:prstGeom>
        </p:spPr>
      </p:pic>
      <p:sp>
        <p:nvSpPr>
          <p:cNvPr id="2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Blocos de Construção para Aplicações Modernas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Estruturas são os </a:t>
            </a:r>
            <a:r>
              <a:rPr lang="en-US" sz="2800" b="1" dirty="0">
                <a:solidFill>
                  <a:srgbClr val="FFFFFF"/>
                </a:solidFill>
              </a:rPr>
              <a:t>blocos de construção fundamentais</a:t>
            </a:r>
            <a:r>
              <a:rPr lang="en-US" sz="2800" dirty="0">
                <a:solidFill>
                  <a:srgbClr val="FFFFFF"/>
                </a:solidFill>
              </a:rPr>
              <a:t> para modelar o mundo dos negócios em código.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DE"/>
                </a:solidFill>
              </a:rPr>
              <a:t>O operador </a:t>
            </a:r>
            <a:r>
              <a:rPr lang="en-US" sz="19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900" dirty="0">
                <a:solidFill>
                  <a:srgbClr val="C9D3DE"/>
                </a:solidFill>
              </a:rPr>
              <a:t> com suas variações (</a:t>
            </a:r>
            <a:r>
              <a:rPr lang="en-US" sz="19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900" dirty="0">
                <a:solidFill>
                  <a:srgbClr val="C9D3DE"/>
                </a:solidFill>
              </a:rPr>
              <a:t>, </a:t>
            </a:r>
            <a:r>
              <a:rPr lang="en-US" sz="19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900" dirty="0">
                <a:solidFill>
                  <a:srgbClr val="C9D3DE"/>
                </a:solidFill>
              </a:rPr>
              <a:t>, </a:t>
            </a:r>
            <a:r>
              <a:rPr lang="en-US" sz="19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900" dirty="0">
                <a:solidFill>
                  <a:srgbClr val="C9D3DE"/>
                </a:solidFill>
              </a:rPr>
              <a:t>) não é apenas uma sintaxe, mas a ferramenta essencial para orquestrar a transformação de dados de forma segura e eficiente no modelo RAP.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Dominando Estruturas de Dados em ABAP e RAP</dc:title>
  <dc:subject>ABAP Moderno – Módulo 01</dc:subject>
  <dc:creator>Adriano Bispo</dc:creator>
  <cp:lastModifiedBy>Adriano Bispo</cp:lastModifiedBy>
  <cp:revision>1</cp:revision>
  <dcterms:created xsi:type="dcterms:W3CDTF">2026-10-25T03:40:34Z</dcterms:created>
  <dcterms:modified xsi:type="dcterms:W3CDTF">2026-10-25T03:40:34Z</dcterms:modified>
</cp:coreProperties>
</file>