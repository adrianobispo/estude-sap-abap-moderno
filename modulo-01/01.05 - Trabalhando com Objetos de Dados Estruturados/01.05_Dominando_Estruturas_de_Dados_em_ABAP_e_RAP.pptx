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01 — Fundamentos do ABAP Moderno  ·  Aula 5 de 8 — Dados estruturados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01 — Fundamentos do ABAP Moderno  ·  Aula 5 de 8 — Dados estruturados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01 · AULA 05 DE 08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Trabalhando com dados estruturados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Estruturas, tipos estruturados, acesso a componentes, VALUE e CORRESPONDING, de estruturas planas a profundas.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60107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01827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43546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85266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6985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8705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0424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5 de 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01 — Fundamentos do ABAP Moderno · Design System SAP Horizon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01 em 8 aulas: Fundamentos do ABAP Moderno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Iniciando a jornada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ADT, ABAP Cloud, pacotes e o primeiro programa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Técnicas básicas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Dados, expressões, controle de fluxo e debugger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locais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Definição, instâncias, métodos e encapsulamento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Lendo dados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SELECT moderno, host variables e CDS views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Dados estruturados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Estruturas, CORRESPONDING e tipos profundos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188720" y="390448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188720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internas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de tabela, chaves e expressões de tabela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Business Objects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EML: ler, criar e alterar via RAP BO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006611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171203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171203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4" name="Text 42"/>
          <p:cNvSpPr txBox="1"/>
          <p:nvPr/>
        </p:nvSpPr>
        <p:spPr>
          <a:xfrm>
            <a:off x="9171203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RAP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9171203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Camadas, managed x unmanaged e o ciclo completo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agrupamos os dados de uma conexão de voo em uma estrutura e aprendemos a copiá-los com segurança entre tipos diferentes.</a:t>
            </a:r>
            <a:endParaRPr lang="en-US" sz="1400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4415" y="3858768"/>
            <a:ext cx="347472" cy="347472"/>
          </a:xfrm>
          <a:prstGeom prst="rect">
            <a:avLst/>
          </a:prstGeom>
        </p:spPr>
      </p:pic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Dados que pertencem juntos ficam juntos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653235" cy="274320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16532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Variáveis soltas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1563624"/>
          </a:xfrm>
          <a:prstGeom prst="roundRect">
            <a:avLst>
              <a:gd name="adj" fmla="val 4678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128016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128016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antes.abap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airport_from_id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/dmo/airport_from_id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airport_to_id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/dmo/airport_to_id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/dmo/carrier_name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nada liga uma variável à outra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12464"/>
            <a:ext cx="54100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Cada variável é independente: o programa não sabe que as três descrevem a mesma conexão.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1411834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14118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Uma estrutura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1563624"/>
          </a:xfrm>
          <a:prstGeom prst="roundRect">
            <a:avLst>
              <a:gd name="adj" fmla="val 4678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128016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128016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depois.abap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connection-AirlineID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'LH'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connection-ConnectionID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'0400'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3712464"/>
            <a:ext cx="541004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Uma </a:t>
            </a:r>
            <a:r>
              <a:rPr lang="en-US" sz="1200" b="1" dirty="0">
                <a:solidFill>
                  <a:srgbClr val="556B82"/>
                </a:solidFill>
              </a:rPr>
              <a:t>estrutura</a:t>
            </a:r>
            <a:r>
              <a:rPr lang="en-US" sz="1200" dirty="0">
                <a:solidFill>
                  <a:srgbClr val="556B82"/>
                </a:solidFill>
              </a:rPr>
              <a:t> é uma variável com tipo estruturado: tem nome próprio e é dividida em </a:t>
            </a:r>
            <a:r>
              <a:rPr lang="en-US" sz="1200" b="1" dirty="0">
                <a:solidFill>
                  <a:srgbClr val="556B82"/>
                </a:solidFill>
              </a:rPr>
              <a:t>componentes</a:t>
            </a:r>
            <a:r>
              <a:rPr lang="en-US" sz="1200" dirty="0">
                <a:solidFill>
                  <a:srgbClr val="556B82"/>
                </a:solidFill>
              </a:rPr>
              <a:t>, cada um com nome e tipo.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01.05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Declarando estruturas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 tipo estruturado pode vir de um </a:t>
            </a:r>
            <a:r>
              <a:rPr lang="en-US" sz="1600" b="1" dirty="0">
                <a:solidFill>
                  <a:srgbClr val="D1EFFF"/>
                </a:solidFill>
              </a:rPr>
              <a:t>TYPES</a:t>
            </a:r>
            <a:r>
              <a:rPr lang="en-US" sz="1600" dirty="0">
                <a:solidFill>
                  <a:srgbClr val="D1EFFF"/>
                </a:solidFill>
              </a:rPr>
              <a:t> local, de um tipo global do repositório, de uma </a:t>
            </a:r>
            <a:r>
              <a:rPr lang="en-US" sz="1600" b="1" dirty="0">
                <a:solidFill>
                  <a:srgbClr val="D1EFFF"/>
                </a:solidFill>
              </a:rPr>
              <a:t>tabela</a:t>
            </a:r>
            <a:r>
              <a:rPr lang="en-US" sz="1600" dirty="0">
                <a:solidFill>
                  <a:srgbClr val="D1EFFF"/>
                </a:solidFill>
              </a:rPr>
              <a:t> ou de uma </a:t>
            </a:r>
            <a:r>
              <a:rPr lang="en-US" sz="1600" b="1" dirty="0">
                <a:solidFill>
                  <a:srgbClr val="D1EFFF"/>
                </a:solidFill>
              </a:rPr>
              <a:t>CDS view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 BEGIN OF</a:t>
            </a:r>
            <a:r>
              <a:rPr lang="en-US" sz="1000" dirty="0">
                <a:solidFill>
                  <a:srgbClr val="D1EFFF"/>
                </a:solidFill>
              </a:rPr>
              <a:t>  tipo local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structure</a:t>
            </a:r>
            <a:r>
              <a:rPr lang="en-US" sz="1000" dirty="0">
                <a:solidFill>
                  <a:srgbClr val="D1EFFF"/>
                </a:solidFill>
              </a:rPr>
              <a:t>  tipo global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/DMO/I_…</a:t>
            </a:r>
            <a:r>
              <a:rPr lang="en-US" sz="1000" dirty="0">
                <a:solidFill>
                  <a:srgbClr val="D1EFFF"/>
                </a:solidFill>
              </a:rPr>
              <a:t>  view como tipo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 BEGIN OF</a:t>
            </a:r>
            <a:r>
              <a:rPr lang="en-US" sz="1000" dirty="0">
                <a:solidFill>
                  <a:srgbClr val="D1EFFF"/>
                </a:solidFill>
              </a:rPr>
              <a:t>  constante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DECLARAÇÃO · TYPES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Tipos estruturados locais, simples e aninhados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15341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15341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970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zcl_05_struct.clas.abap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ZCL_05_STRUCT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airport_from_id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/dmo/airport_from_id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airport_to_id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/dmo/airport_to_id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/dmo/carrier_name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st_connection_nested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airport_from_id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/dmo/airport_from_id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airport_to_id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/dmo/airport_to_id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symsg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st_connection_nested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connection_nested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st_connection_nested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connection_full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OF … END OF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Delimita os componentes; cada um tem nome e tipo.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Comando em cadeia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TYPES:</a:t>
            </a:r>
            <a:r>
              <a:rPr lang="en-US" sz="1050" dirty="0">
                <a:solidFill>
                  <a:srgbClr val="556B82"/>
                </a:solidFill>
              </a:rPr>
              <a:t> com vírgulas evita repetir a palavra-chave; use só para o que pertence junto.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Estrutura aninhada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TYPE symsg</a:t>
            </a:r>
            <a:r>
              <a:rPr lang="en-US" sz="1050" dirty="0">
                <a:solidFill>
                  <a:srgbClr val="556B82"/>
                </a:solidFill>
              </a:rPr>
              <a:t> é um componente que também é estrutura.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View como tipo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Tabelas e CDS views servem como tipo estruturado.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DECLARAÇÃO · ORIGEM DOS TIPOS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De onde vem um tipo estruturado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2870638"/>
                <a:gridCol w="3753911"/>
                <a:gridCol w="4195547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Origem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Exemplo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Quando usar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TYPES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no programa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st_connection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Tipo usado só por uma classe ou método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Tipo global do repositório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SYMSG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(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define structure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Tipo compartilhado por vários objetos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Tabela de banco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 /dmo/connection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Linha com os mesmos campos da tabela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CDS view entity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 /DMO/I_Connection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Resultado de leitura da view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480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480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Ferramentas 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</a:t>
            </a:r>
            <a:r>
              <a:rPr lang="en-US" sz="1200" dirty="0">
                <a:solidFill>
                  <a:srgbClr val="1D2D3E"/>
                </a:solidFill>
              </a:rPr>
              <a:t> sobre o tipo mostra os componentes;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</a:t>
            </a:r>
            <a:r>
              <a:rPr lang="en-US" sz="1200" dirty="0">
                <a:solidFill>
                  <a:srgbClr val="1D2D3E"/>
                </a:solidFill>
              </a:rPr>
              <a:t> abre a definição. No debugger, passe o mouse ou dê duplo clique para ver a estrutura na view </a:t>
            </a:r>
            <a:r>
              <a:rPr lang="en-US" sz="1200" b="1" dirty="0">
                <a:solidFill>
                  <a:srgbClr val="1D2D3E"/>
                </a:solidFill>
              </a:rPr>
              <a:t>Variables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608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01.05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Trabalhando com estruturas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Cada componente se comporta como uma variável comum. Para preencher e copiar, use </a:t>
            </a:r>
            <a:r>
              <a:rPr lang="en-US" sz="1600" b="1" dirty="0">
                <a:solidFill>
                  <a:srgbClr val="D1EFFF"/>
                </a:solidFill>
              </a:rPr>
              <a:t>VALUE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CORRESPONDING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estrutura-componente</a:t>
            </a:r>
            <a:r>
              <a:rPr lang="en-US" sz="1000" dirty="0">
                <a:solidFill>
                  <a:srgbClr val="D1EFFF"/>
                </a:solidFill>
              </a:rPr>
              <a:t>  acesso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#( )</a:t>
            </a:r>
            <a:r>
              <a:rPr lang="en-US" sz="1000" dirty="0">
                <a:solidFill>
                  <a:srgbClr val="D1EFFF"/>
                </a:solidFill>
              </a:rPr>
              <a:t>  preencher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00" dirty="0">
                <a:solidFill>
                  <a:srgbClr val="D1EFFF"/>
                </a:solidFill>
              </a:rPr>
              <a:t>  só tipos compatíveis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 #( )</a:t>
            </a:r>
            <a:r>
              <a:rPr lang="en-US" sz="1000" dirty="0">
                <a:solidFill>
                  <a:srgbClr val="D1EFFF"/>
                </a:solidFill>
              </a:rPr>
              <a:t>  por nome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USO · ACESSO E PREENCHIMENTO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seletor de componente e o VALUE #( 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15341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15341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970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zcl_05_struct.clas.abap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ZCL_05_STRUCT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connection-airport_from_id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'FRA'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connection_nested-message-msgty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airport_from_id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'FRA'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airport_to_id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'JFK'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'Lufthansa'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mesmo efeito que CLEAR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/DMO/I_Connection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AirlineID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'LH'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'0400'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connection_full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250" b="1" dirty="0">
                <a:solidFill>
                  <a:srgbClr val="1D2D3E"/>
                </a:solidFill>
              </a:rPr>
              <a:t> seleciona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estrutura-componente</a:t>
            </a:r>
            <a:r>
              <a:rPr lang="en-US" sz="1050" dirty="0">
                <a:solidFill>
                  <a:srgbClr val="556B82"/>
                </a:solidFill>
              </a:rPr>
              <a:t>, sem espaços; repita para subcomponentes.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#( 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Constrói a estrutura do tipo do destino; o que não for citado fica inicial.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Recomeça do zero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destino é limpo antes de receber os novos valores.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Estrutura no SELECT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Uma linha inteira cabe em uma estrutura do mesmo tipo.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USO · COPIANDO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Atribuição direta ou CORRESPONDING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95691"/>
            <a:ext cx="5410048" cy="2895219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095691"/>
            <a:ext cx="5410048" cy="73152"/>
          </a:xfrm>
          <a:prstGeom prst="rect">
            <a:avLst/>
          </a:prstGeom>
          <a:solidFill>
            <a:srgbClr val="E7650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70011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370011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4F00"/>
                </a:solidFill>
              </a:rPr>
              <a:t>destino = origem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0091"/>
            <a:ext cx="4952848" cy="1843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Só é segura entre tipos </a:t>
            </a:r>
            <a:r>
              <a:rPr lang="en-US" sz="1350" b="1" dirty="0">
                <a:solidFill>
                  <a:srgbClr val="1D2D3E"/>
                </a:solidFill>
              </a:rPr>
              <a:t>compatíveis</a:t>
            </a:r>
            <a:r>
              <a:rPr lang="en-US" sz="1350" dirty="0">
                <a:solidFill>
                  <a:srgbClr val="1D2D3E"/>
                </a:solidFill>
              </a:rPr>
              <a:t> (em geral, o mesmo tipo)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Componente não-caractere em posição diferente: erro de sintaxe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Estruturas só de caracteres: compila, mas copia </a:t>
            </a:r>
            <a:r>
              <a:rPr lang="en-US" sz="1350" b="1" dirty="0">
                <a:solidFill>
                  <a:srgbClr val="1D2D3E"/>
                </a:solidFill>
              </a:rPr>
              <a:t>por posição</a:t>
            </a:r>
            <a:r>
              <a:rPr lang="en-US" sz="1350" dirty="0">
                <a:solidFill>
                  <a:srgbClr val="1D2D3E"/>
                </a:solidFill>
              </a:rPr>
              <a:t> e o resultado sai errado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095691"/>
            <a:ext cx="5410048" cy="2895219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095691"/>
            <a:ext cx="5410048" cy="73152"/>
          </a:xfrm>
          <a:prstGeom prst="rect">
            <a:avLst/>
          </a:prstGeom>
          <a:solidFill>
            <a:srgbClr val="30914C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370011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370011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F3A"/>
                </a:solidFill>
              </a:rPr>
              <a:t>CORRESPONDING #( origem 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010091"/>
            <a:ext cx="4952848" cy="1843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Copia componentes de </a:t>
            </a:r>
            <a:r>
              <a:rPr lang="en-US" sz="1350" b="1" dirty="0">
                <a:solidFill>
                  <a:srgbClr val="1D2D3E"/>
                </a:solidFill>
              </a:rPr>
              <a:t>mesmo nome</a:t>
            </a:r>
            <a:r>
              <a:rPr lang="en-US" sz="1350" dirty="0">
                <a:solidFill>
                  <a:srgbClr val="1D2D3E"/>
                </a:solidFill>
              </a:rPr>
              <a:t>, em qualquer ordem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Converte tipos diferentes pelas regras de conversão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Componentes sem par no destino ficam iniciais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15550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8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515550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Cuidado  </a:t>
            </a:r>
            <a:r>
              <a:rPr lang="en-US" sz="1200" dirty="0">
                <a:solidFill>
                  <a:srgbClr val="1D2D3E"/>
                </a:solidFill>
              </a:rPr>
              <a:t>o erro silencioso da atribuição direta entre estruturas de caracteres não gera aviso: prefira sempre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</a:t>
            </a:r>
            <a:r>
              <a:rPr lang="en-US" sz="1200" dirty="0">
                <a:solidFill>
                  <a:srgbClr val="1D2D3E"/>
                </a:solidFill>
              </a:rPr>
              <a:t> entre tipos diferentes.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470595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2470595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28351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USO · CORRESPONDING AVANÇADO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MAPPING, EXCEPT e 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3886200"/>
          </a:xfrm>
          <a:prstGeom prst="roundRect">
            <a:avLst>
              <a:gd name="adj" fmla="val 1882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69748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69748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zcl_05_corresponding.clas.abap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ZCL_05_CORRESPONDING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Copia por nome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connection_nested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Nomes diferentes e componentes ignorados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st_target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airport_to_id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carrier_name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Mantém o que já existe no destino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connection_nested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connection_nested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Por nome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Só componentes com nomes iguais recebem valores.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75463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7546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736342"/>
            <a:ext cx="3367735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MAPPING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Liga um componente do destino a outro nome na origem.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63474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6347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616452"/>
            <a:ext cx="3367735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Exclui componentes da cópia.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5148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5148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496562"/>
            <a:ext cx="3367735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( 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Parte do valor atual do destino, sem apagar o que não tem par.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641848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07008" y="564184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No RAP 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</a:t>
            </a:r>
            <a:r>
              <a:rPr lang="en-US" sz="1200" dirty="0">
                <a:solidFill>
                  <a:srgbClr val="1D2D3E"/>
                </a:solidFill>
              </a:rPr>
              <a:t> é usado o tempo todo para converter entre tipos de banco, de CDS e de comportamento (aulas 01.07 e 01.08).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3786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01.05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Estruturas planas e profundas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tipo dos componentes define a natureza da estrutura e o que você pode fazer com ela.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Plana</a:t>
            </a:r>
            <a:r>
              <a:rPr lang="en-US" sz="1000" dirty="0">
                <a:solidFill>
                  <a:srgbClr val="D1EFFF"/>
                </a:solidFill>
              </a:rPr>
              <a:t>  tamanho fixo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Aninhada</a:t>
            </a:r>
            <a:r>
              <a:rPr lang="en-US" sz="1000" dirty="0">
                <a:solidFill>
                  <a:srgbClr val="D1EFFF"/>
                </a:solidFill>
              </a:rPr>
              <a:t>  subestrutura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Profunda</a:t>
            </a:r>
            <a:r>
              <a:rPr lang="en-US" sz="1000" dirty="0">
                <a:solidFill>
                  <a:srgbClr val="D1EFFF"/>
                </a:solidFill>
              </a:rPr>
              <a:t>  string, tabela, ref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r>
              <a:rPr lang="en-US" sz="1000" dirty="0">
                <a:solidFill>
                  <a:srgbClr val="D1EFFF"/>
                </a:solidFill>
              </a:rPr>
              <a:t>  estrutura constante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TIPOS DE ESTRUTURA · CLASSIFICAÇÃO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Plana, aninhada ou profunda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52345"/>
            <a:ext cx="3545738" cy="2563622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45351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057017"/>
            <a:ext cx="3143402" cy="1649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Plana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Só componentes de tamanho fixo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300" dirty="0">
                <a:solidFill>
                  <a:srgbClr val="556B82"/>
                </a:solidFill>
              </a:rPr>
              <a:t>…). Pode ser tratada como um bloco contínuo de memória.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252345"/>
            <a:ext cx="3545738" cy="2563622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45351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057017"/>
            <a:ext cx="3143402" cy="1649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Aninhada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Um ou mais componentes são estruturas. O acesso usa o seletor duas vezes: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connection-message-msgty</a:t>
            </a:r>
            <a:r>
              <a:rPr lang="en-US" sz="13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252345"/>
            <a:ext cx="3545738" cy="2563622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45351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057017"/>
            <a:ext cx="3143402" cy="1649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Profunda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Contém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00" dirty="0">
                <a:solidFill>
                  <a:srgbClr val="556B82"/>
                </a:solidFill>
              </a:rPr>
              <a:t>, tabela interna ou referência: esses componentes guardam o conteúdo em outra área de memória, e a estrutura não pode ser tratada como um bloco único de caracteres.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998847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998847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Constantes estruturadas 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CONSTANTS: BEGIN OF … END OF</a:t>
            </a:r>
            <a:r>
              <a:rPr lang="en-US" sz="1200" dirty="0">
                <a:solidFill>
                  <a:srgbClr val="1D2D3E"/>
                </a:solidFill>
              </a:rPr>
              <a:t> também é possível, com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200" dirty="0">
                <a:solidFill>
                  <a:srgbClr val="1D2D3E"/>
                </a:solidFill>
              </a:rPr>
              <a:t> obrigatório em cada componente, como nas constantes da classe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CL_ABAP_BEHV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554097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2554097"/>
            <a:ext cx="256032" cy="25603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2554097"/>
            <a:ext cx="256032" cy="25603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126863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01.05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Uma </a:t>
            </a:r>
            <a:r>
              <a:rPr lang="en-US" sz="1400" b="1" dirty="0">
                <a:solidFill>
                  <a:srgbClr val="FFFFFF"/>
                </a:solidFill>
              </a:rPr>
              <a:t>estrutura</a:t>
            </a:r>
            <a:r>
              <a:rPr lang="en-US" sz="1400" dirty="0">
                <a:solidFill>
                  <a:srgbClr val="FFFFFF"/>
                </a:solidFill>
              </a:rPr>
              <a:t> agrupa componentes com nome e tipo em uma única variável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Tipos estruturados vêm de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 … BEGIN OF</a:t>
            </a:r>
            <a:r>
              <a:rPr lang="en-US" sz="1400" dirty="0">
                <a:solidFill>
                  <a:srgbClr val="FFFFFF"/>
                </a:solidFill>
              </a:rPr>
              <a:t>, de tipos globais, de tabelas e de CDS views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seletor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400" dirty="0">
                <a:solidFill>
                  <a:srgbClr val="FFFFFF"/>
                </a:solidFill>
              </a:rPr>
              <a:t> acessa componentes, inclusive de estruturas aninhadas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#( )</a:t>
            </a:r>
            <a:r>
              <a:rPr lang="en-US" sz="1400" dirty="0">
                <a:solidFill>
                  <a:srgbClr val="FFFFFF"/>
                </a:solidFill>
              </a:rPr>
              <a:t> constrói a estrutura do tipo do destino; o que não é citado fica inicial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Atribuição direta só entre tipos compatíveis; entre tipos diferentes, </a:t>
            </a:r>
            <a:r>
              <a:rPr lang="en-US" sz="1400" b="1" dirty="0">
                <a:solidFill>
                  <a:srgbClr val="FFFFFF"/>
                </a:solidFill>
              </a:rPr>
              <a:t>CORRESPONDING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MAPPING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r>
              <a:rPr lang="en-US" sz="1400" dirty="0">
                <a:solidFill>
                  <a:srgbClr val="FFFFFF"/>
                </a:solidFill>
              </a:rPr>
              <a:t> refinam a cópia; estruturas podem ser planas, aninhadas ou profundas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01.06  </a:t>
            </a:r>
            <a:r>
              <a:rPr lang="en-US" sz="1500" dirty="0">
                <a:solidFill>
                  <a:srgbClr val="FFFFFF"/>
                </a:solidFill>
              </a:rPr>
              <a:t>Tabelas internas: Tipos de tabela, chaves e expressões de tabela.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01.05 Trabalhando com dados estruturados</dc:title>
  <dc:subject>ABAP Moderno – Módulo 01: Fundamentos do ABAP Moderno</dc:subject>
  <dc:creator>Adriano Bispo</dc:creator>
  <cp:lastModifiedBy>Adriano Bispo</cp:lastModifiedBy>
  <cp:revision>1</cp:revision>
  <dcterms:created xsi:type="dcterms:W3CDTF">2026-10-28T04:10:09Z</dcterms:created>
  <dcterms:modified xsi:type="dcterms:W3CDTF">2026-10-28T04:10:09Z</dcterms:modified>
</cp:coreProperties>
</file>