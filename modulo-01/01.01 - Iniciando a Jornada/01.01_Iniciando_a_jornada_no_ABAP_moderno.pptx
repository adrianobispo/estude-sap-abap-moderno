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1 de 8 — Iniciando a jornada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1 de 8 — Iniciando a jornada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01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Iniciando a jornada no ABAP moderno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ambiente ADT, o modelo ABAP Cloud, a organização do software e o primeiro programa, com o Joule ao lado.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preparamos o ambiente, entendemos as regras do ABAP Cloud e executamos a primeira classe no console do Eclipse.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ambiente novo para um ABAP com regras claras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ADT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ABAP Development Tools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Eclipse é a IDE para todos os objetos modernos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0775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0892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0892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Language version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for Cloud Development no compilador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6873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68041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C1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268041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Released APIs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só objetos SAP liberados com contrato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2599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2715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Z/Y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52715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Namespace do cliente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separa seu código do código SAP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8510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627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F9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78627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Console app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executa uma classe sem telas clássicas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este modelo vale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curso oficial roda no </a:t>
            </a:r>
            <a:r>
              <a:rPr lang="en-US" sz="1200" b="1" dirty="0">
                <a:solidFill>
                  <a:srgbClr val="556B82"/>
                </a:solidFill>
              </a:rPr>
              <a:t>SAP BTP, ABAP environment</a:t>
            </a:r>
            <a:r>
              <a:rPr lang="en-US" sz="1200" dirty="0">
                <a:solidFill>
                  <a:srgbClr val="556B82"/>
                </a:solidFill>
              </a:rPr>
              <a:t>, mas o mesmo modelo ABAP Cloud vale no SAP S/4HANA Cloud (Public e Private Edition) e no SAP S/4HANA on-premise a partir da versão 2022.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977640"/>
            <a:ext cx="2388413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77640"/>
            <a:ext cx="23884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BTP ABAP environment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4416552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44165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S/4HANA Cloud Public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61704" y="441655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61704" y="441655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Private Edition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4855464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4855464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On-Premise 2022+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9835" y="485546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39835" y="485546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38867" y="485546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38867" y="485546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Clean Core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ambiente de desenvolvimento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Eclipse com o plug-in </a:t>
            </a:r>
            <a:r>
              <a:rPr lang="en-US" sz="1600" b="1" dirty="0">
                <a:solidFill>
                  <a:srgbClr val="D1EFFF"/>
                </a:solidFill>
              </a:rPr>
              <a:t>ADT</a:t>
            </a:r>
            <a:r>
              <a:rPr lang="en-US" sz="1600" dirty="0">
                <a:solidFill>
                  <a:srgbClr val="D1EFFF"/>
                </a:solidFill>
              </a:rPr>
              <a:t> não fica dentro do sistema ABAP: ele se conecta a cada sistema por meio de um projeto.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Cloud Project</a:t>
            </a:r>
            <a:r>
              <a:rPr lang="en-US" sz="1000" dirty="0">
                <a:solidFill>
                  <a:srgbClr val="D1EFFF"/>
                </a:solidFill>
              </a:rPr>
              <a:t>  BTP e Public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Project</a:t>
            </a:r>
            <a:r>
              <a:rPr lang="en-US" sz="1000" dirty="0">
                <a:solidFill>
                  <a:srgbClr val="D1EFFF"/>
                </a:solidFill>
              </a:rPr>
              <a:t>  on-prem e Private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Explorer</a:t>
            </a:r>
            <a:r>
              <a:rPr lang="en-US" sz="1000" dirty="0">
                <a:solidFill>
                  <a:srgbClr val="D1EFFF"/>
                </a:solidFill>
              </a:rPr>
              <a:t>  pacotes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· F2 · F3</a:t>
            </a:r>
            <a:r>
              <a:rPr lang="en-US" sz="1000" dirty="0">
                <a:solidFill>
                  <a:srgbClr val="D1EFFF"/>
                </a:solidFill>
              </a:rPr>
              <a:t>  ajuda e navegação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PROJETOS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projeto do ADT para cada sistema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 Project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Conecta ao </a:t>
            </a:r>
            <a:r>
              <a:rPr lang="en-US" sz="1300" b="1" dirty="0">
                <a:solidFill>
                  <a:srgbClr val="556B82"/>
                </a:solidFill>
              </a:rPr>
              <a:t>SAP BTP, ABAP environment</a:t>
            </a:r>
            <a:r>
              <a:rPr lang="en-US" sz="1300" dirty="0">
                <a:solidFill>
                  <a:srgbClr val="556B82"/>
                </a:solidFill>
              </a:rPr>
              <a:t> ou ao </a:t>
            </a:r>
            <a:r>
              <a:rPr lang="en-US" sz="1300" b="1" dirty="0">
                <a:solidFill>
                  <a:srgbClr val="556B82"/>
                </a:solidFill>
              </a:rPr>
              <a:t>SAP S/4HANA Cloud Public Edition</a:t>
            </a:r>
            <a:r>
              <a:rPr lang="en-US" sz="1300" dirty="0">
                <a:solidFill>
                  <a:srgbClr val="556B82"/>
                </a:solidFill>
              </a:rPr>
              <a:t>. O logon usa a URL da instância (ou a service key) e o navegador.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Project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Conecta a um </a:t>
            </a:r>
            <a:r>
              <a:rPr lang="en-US" sz="1300" b="1" dirty="0">
                <a:solidFill>
                  <a:srgbClr val="556B82"/>
                </a:solidFill>
              </a:rPr>
              <a:t>S/4HANA on-premise</a:t>
            </a:r>
            <a:r>
              <a:rPr lang="en-US" sz="1300" dirty="0">
                <a:solidFill>
                  <a:srgbClr val="556B82"/>
                </a:solidFill>
              </a:rPr>
              <a:t> ou ao </a:t>
            </a:r>
            <a:r>
              <a:rPr lang="en-US" sz="1300" b="1" dirty="0">
                <a:solidFill>
                  <a:srgbClr val="556B82"/>
                </a:solidFill>
              </a:rPr>
              <a:t>S/4HANA Cloud Private Edition</a:t>
            </a:r>
            <a:r>
              <a:rPr lang="en-US" sz="1300" dirty="0">
                <a:solidFill>
                  <a:srgbClr val="556B82"/>
                </a:solidFill>
              </a:rPr>
              <a:t>, com os dados do sistema e o mandante.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Vários sistemas lado a lado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conexão é um projeto. Você compara código de desenvolvimento e qualidade na mesma janela, sem trocar de sessão do SAP GUI.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Só no ADT  </a:t>
            </a:r>
            <a:r>
              <a:rPr lang="en-US" sz="1200" dirty="0">
                <a:solidFill>
                  <a:srgbClr val="1D2D3E"/>
                </a:solidFill>
              </a:rPr>
              <a:t>CDS views, behavior definitions e service bindings não têm editor no SAP GUI: o desenvolvimento moderno acontece no Eclipse.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SAP BTP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Onde fica a instância ABAP na SAP BTP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SAP BTP é a plataforma como serviço da SAP. A instância ABAP é o último nível de uma hierarquia de contas.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Global account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Contrato e assinatura da empresa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Subaccounts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Um por ambiente: desenvolvimento, teste e produção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Runtime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Cloud Foundry ou Kyma ativado no subaccount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Instância ABAP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Onde o projeto do ADT se conecta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Para estudar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SAP oferece sistemas de prática (hands-on) e contas trial para seguir os exercícios dos cursos.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 empresa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Desenvolvimento, teste e produção ficam em subaccounts separados e o código viaja entre eles por transporte.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PRODUTIVIDADE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teclas que você usa todos os dias no ADT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116775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842455" cy="914400"/>
        </p:xfrm>
        <a:graphic>
          <a:graphicData uri="http://schemas.openxmlformats.org/drawingml/2006/table">
            <a:tbl>
              <a:tblPr/>
              <a:tblGrid>
                <a:gridCol w="1170420"/>
                <a:gridCol w="1890678"/>
                <a:gridCol w="3781357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Tecla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Ajuda ABAP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Documentação da instrução sob o cursor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Element Info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Assinatura, tipo e ABAP Doc do elemento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Navegar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Abre a definição;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Alt+←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volta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Ctrl+Shift+A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Abrir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Busca qualquer objeto pelo 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Ctrl+Space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Completar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Sugere palavras-chave, nomes e assinaturas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Quick fix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Corrige ou gera código a partir do erro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Ctrl+F3 · F9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Ativar · executar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Ativa o objeto e roda a classe no console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4015" y="1645920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7689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25535" y="1810512"/>
            <a:ext cx="2834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Favorite Packages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Adicione os pacotes de trabalho aos favoritos no Project Explorer para encontrá-los rápido.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94015" y="3447288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76895" y="36301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25535" y="3611880"/>
            <a:ext cx="2834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Link with Editor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Sincroniza o Project Explorer com o objeto aberto no editor.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409" y="1917314"/>
            <a:ext cx="225308" cy="22530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409" y="3718682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ABAP Cloud e Clean Core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ABAP Cloud não é um produto: é o </a:t>
            </a:r>
            <a:r>
              <a:rPr lang="en-US" sz="1600" b="1" dirty="0">
                <a:solidFill>
                  <a:srgbClr val="D1EFFF"/>
                </a:solidFill>
              </a:rPr>
              <a:t>modelo de desenvolvimento</a:t>
            </a:r>
            <a:r>
              <a:rPr lang="en-US" sz="1600" dirty="0">
                <a:solidFill>
                  <a:srgbClr val="D1EFFF"/>
                </a:solidFill>
              </a:rPr>
              <a:t> que mantém o núcleo SAP limpo e as extensões seguras em upgrades.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version 5</a:t>
            </a:r>
            <a:r>
              <a:rPr lang="en-US" sz="1000" dirty="0">
                <a:solidFill>
                  <a:srgbClr val="D1EFFF"/>
                </a:solidFill>
              </a:rPr>
              <a:t>  compilador estrito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</a:t>
            </a:r>
            <a:r>
              <a:rPr lang="en-US" sz="1000" dirty="0">
                <a:solidFill>
                  <a:srgbClr val="D1EFFF"/>
                </a:solidFill>
              </a:rPr>
              <a:t>  contrato C1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000" dirty="0">
                <a:solidFill>
                  <a:srgbClr val="D1EFFF"/>
                </a:solidFill>
              </a:rPr>
              <a:t>  CDS liberada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r>
              <a:rPr lang="en-US" sz="1000" dirty="0">
                <a:solidFill>
                  <a:srgbClr val="D1EFFF"/>
                </a:solidFill>
              </a:rPr>
              <a:t>  dados do sistema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MUDANÇA DE PARADIGMA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ABAP clássico ao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99430"/>
            <a:ext cx="5410048" cy="321926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99430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7375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7375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13830"/>
            <a:ext cx="4952848" cy="216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Lê qualquer tabela, inclusive internas da SAP (ex.: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Modifica o código standard e usa user exits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Telas Dynpro, listas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50" dirty="0">
                <a:solidFill>
                  <a:srgbClr val="1D2D3E"/>
                </a:solidFill>
              </a:rPr>
              <a:t> e acesso a arquivos do servidor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caros: ajustes de SPDD e SPAU a cada versão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99430"/>
            <a:ext cx="5410048" cy="321926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99430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7375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7375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Cloud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13830"/>
            <a:ext cx="4952848" cy="216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Lê dados SAP só por </a:t>
            </a:r>
            <a:r>
              <a:rPr lang="en-US" sz="1350" b="1" dirty="0">
                <a:solidFill>
                  <a:srgbClr val="1D2D3E"/>
                </a:solidFill>
              </a:rPr>
              <a:t>CDS views liberadas</a:t>
            </a:r>
            <a:r>
              <a:rPr lang="en-US" sz="1350" dirty="0">
                <a:solidFill>
                  <a:srgbClr val="1D2D3E"/>
                </a:solidFill>
              </a:rPr>
              <a:t> (ex.: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Estende em pontos oficiais: BAdIs, extensões de CDS e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UI em SAP Fiori; lógica de backend em classes e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previsíveis: as APIs liberadas têm contrato de estabilidade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74334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74334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AS TRÊS REGRAS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compilador do ABAP Cloud garante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2964180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64180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Language version 5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objeto usa </a:t>
            </a:r>
            <a:r>
              <a:rPr lang="en-US" sz="1300" b="1" dirty="0">
                <a:solidFill>
                  <a:srgbClr val="556B82"/>
                </a:solidFill>
              </a:rPr>
              <a:t>ABAP for Cloud Development</a:t>
            </a:r>
            <a:r>
              <a:rPr lang="en-US" sz="1300" dirty="0">
                <a:solidFill>
                  <a:srgbClr val="556B82"/>
                </a:solidFill>
              </a:rPr>
              <a:t>. Instruções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SCREEN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556B82"/>
                </a:solidFill>
              </a:rPr>
              <a:t> em listas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DATASET</a:t>
            </a:r>
            <a:r>
              <a:rPr lang="en-US" sz="1300" dirty="0">
                <a:solidFill>
                  <a:srgbClr val="556B82"/>
                </a:solidFill>
              </a:rPr>
              <a:t> geram erro de sintaxe.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6738518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38518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Só objetos liberados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Classes, CDS views e BAdIs da SAP só podem ser usados se estiverem </a:t>
            </a:r>
            <a:r>
              <a:rPr lang="en-US" sz="1300" b="1" dirty="0">
                <a:solidFill>
                  <a:srgbClr val="556B82"/>
                </a:solidFill>
              </a:rPr>
              <a:t>released</a:t>
            </a:r>
            <a:r>
              <a:rPr lang="en-US" sz="1300" dirty="0">
                <a:solidFill>
                  <a:srgbClr val="556B82"/>
                </a:solidFill>
              </a:rPr>
              <a:t> (contrato C1). O resto não compila.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2857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2857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Dados SAP via CDS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Tabelas SAP não são lidas diretamente. Suas próprias tabelas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300" dirty="0">
                <a:solidFill>
                  <a:srgbClr val="556B82"/>
                </a:solidFill>
              </a:rPr>
              <a:t> continuam acessíveis normalmente.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Clean Core  </a:t>
            </a:r>
            <a:r>
              <a:rPr lang="en-US" sz="1200" dirty="0">
                <a:solidFill>
                  <a:srgbClr val="1D2D3E"/>
                </a:solidFill>
              </a:rPr>
              <a:t>com essas regras, a SAP atualiza o sistema sem quebrar o seu código, como um smartphone que recebe atualizações.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mesmo dado, duas formas de 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1645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1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ABAP clássico · erro no ABAP Cloud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zcl_material.clas.abap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MARA não é liberada: erro de sintaxe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matnr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lt_material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tabela é um detalhe interno: a SAP pode mudá-la em qualquer upgrade.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ABAP Cloud · API liberada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zcl_material.clas.abap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I_Product é a CDS view liberada (C1)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ProductType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lt_products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CDS view é o contrato público: nomes legíveis e estabilidade garantida.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o software é organizado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Todo objeto vive em um </a:t>
            </a:r>
            <a:r>
              <a:rPr lang="en-US" sz="1600" b="1" dirty="0">
                <a:solidFill>
                  <a:srgbClr val="D1EFFF"/>
                </a:solidFill>
              </a:rPr>
              <a:t>pacote</a:t>
            </a:r>
            <a:r>
              <a:rPr lang="en-US" sz="1600" dirty="0">
                <a:solidFill>
                  <a:srgbClr val="D1EFFF"/>
                </a:solidFill>
              </a:rPr>
              <a:t>, cada pacote pertence a um </a:t>
            </a:r>
            <a:r>
              <a:rPr lang="en-US" sz="1600" b="1" dirty="0">
                <a:solidFill>
                  <a:srgbClr val="D1EFFF"/>
                </a:solidFill>
              </a:rPr>
              <a:t>componente de software</a:t>
            </a:r>
            <a:r>
              <a:rPr lang="en-US" sz="1600" dirty="0">
                <a:solidFill>
                  <a:srgbClr val="D1EFFF"/>
                </a:solidFill>
              </a:rPr>
              <a:t> e toda mudança viaja em uma </a:t>
            </a:r>
            <a:r>
              <a:rPr lang="en-US" sz="1600" b="1" dirty="0">
                <a:solidFill>
                  <a:srgbClr val="D1EFFF"/>
                </a:solidFill>
              </a:rPr>
              <a:t>request de transporte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component</a:t>
            </a:r>
            <a:r>
              <a:rPr lang="en-US" sz="1000" dirty="0">
                <a:solidFill>
                  <a:srgbClr val="D1EFFF"/>
                </a:solidFill>
              </a:rPr>
              <a:t>  unidade de transporte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000" dirty="0">
                <a:solidFill>
                  <a:srgbClr val="D1EFFF"/>
                </a:solidFill>
              </a:rPr>
              <a:t>  contêiner lógico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 request</a:t>
            </a:r>
            <a:r>
              <a:rPr lang="en-US" sz="1000" dirty="0">
                <a:solidFill>
                  <a:srgbClr val="D1EFFF"/>
                </a:solidFill>
              </a:rPr>
              <a:t>  agrupa mudanças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Z* / Y*</a:t>
            </a:r>
            <a:r>
              <a:rPr lang="en-US" sz="1000" dirty="0">
                <a:solidFill>
                  <a:srgbClr val="D1EFFF"/>
                </a:solidFill>
              </a:rPr>
              <a:t>  namespace do cliente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ORGANIZAÇÃO · REPOSITÓRIO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repositório ABAP ao seu objeto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conjunto de todos os objetos do sistema é o </a:t>
            </a:r>
            <a:r>
              <a:rPr lang="en-US" sz="1400" b="1" dirty="0">
                <a:solidFill>
                  <a:srgbClr val="556B82"/>
                </a:solidFill>
              </a:rPr>
              <a:t>ABAP Repository</a:t>
            </a:r>
            <a:r>
              <a:rPr lang="en-US" sz="1400" dirty="0">
                <a:solidFill>
                  <a:srgbClr val="556B82"/>
                </a:solidFill>
              </a:rPr>
              <a:t>; por isso os objetos também se chamam </a:t>
            </a:r>
            <a:r>
              <a:rPr lang="en-US" sz="1400" i="1" dirty="0">
                <a:solidFill>
                  <a:srgbClr val="556B82"/>
                </a:solidFill>
              </a:rPr>
              <a:t>repository objects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ABAP 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Todos os objetos de desenvolvimento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Software component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Agrupa pacotes e define o que é transportado junto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Package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Contêiner de objetos que pertencem juntos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Objeto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Classe, tabela, CDS view, behavior…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Namespace Z/Y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Objetos do cliente começam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200" dirty="0">
                <a:solidFill>
                  <a:srgbClr val="556B82"/>
                </a:solidFill>
              </a:rPr>
              <a:t> ou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200" dirty="0">
                <a:solidFill>
                  <a:srgbClr val="556B82"/>
                </a:solidFill>
              </a:rPr>
              <a:t>; parceiros podem registrar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/NAMESPACE/</a:t>
            </a:r>
            <a:r>
              <a:rPr lang="en-US" sz="1200" dirty="0">
                <a:solidFill>
                  <a:srgbClr val="556B82"/>
                </a:solidFill>
              </a:rPr>
              <a:t>. Evita conflito com objetos SAP.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Pacotes encapsulam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Uma </a:t>
            </a:r>
            <a:r>
              <a:rPr lang="en-US" sz="1200" i="1" dirty="0">
                <a:solidFill>
                  <a:srgbClr val="556B82"/>
                </a:solidFill>
              </a:rPr>
              <a:t>package interface</a:t>
            </a:r>
            <a:r>
              <a:rPr lang="en-US" sz="1200" dirty="0">
                <a:solidFill>
                  <a:srgbClr val="556B82"/>
                </a:solidFill>
              </a:rPr>
              <a:t> define o que outros pacotes podem usar, impedindo dependências indevidas.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$TMP é local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Objetos locais não são transportáveis: servem só para testes rápidos.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ORGANIZAÇÃO · TRANSPORTE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caminho de uma mudança até a produção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7614" y="2441448"/>
            <a:ext cx="903646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0142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0142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Atribuir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Ao criar ou alterar um objeto, você escolhe a request. O objeto fica </a:t>
            </a:r>
            <a:r>
              <a:rPr lang="en-US" sz="1150" b="1" dirty="0">
                <a:solidFill>
                  <a:srgbClr val="556B82"/>
                </a:solidFill>
              </a:rPr>
              <a:t>bloqueado</a:t>
            </a:r>
            <a:r>
              <a:rPr lang="en-US" sz="1150" dirty="0">
                <a:solidFill>
                  <a:srgbClr val="556B82"/>
                </a:solidFill>
              </a:rPr>
              <a:t> para quem não está nela.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9259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9259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2807757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637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Trabalhar em equipe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dono da request inclui outros desenvolvedores, cada um com sua tarefa.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8376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8376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5066873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49753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Liberar tarefas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Cada desenvolvedor libera seu trabalho quando termina.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7492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7492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7325990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08870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Liberar a request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dono libera a request inteira e os bloqueios são removidos.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66609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66609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5</a:t>
            </a:r>
            <a:endParaRPr lang="en-US" sz="2280" dirty="0"/>
          </a:p>
        </p:txBody>
      </p:sp>
      <p:sp>
        <p:nvSpPr>
          <p:cNvPr id="23" name="Shape 21"/>
          <p:cNvSpPr/>
          <p:nvPr/>
        </p:nvSpPr>
        <p:spPr>
          <a:xfrm>
            <a:off x="9585107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767987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Importar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administrador importa no sistema de teste e, depois, no de produção.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15721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15721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Por que importa  </a:t>
            </a:r>
            <a:r>
              <a:rPr lang="en-US" sz="1200" dirty="0">
                <a:solidFill>
                  <a:srgbClr val="1D2D3E"/>
                </a:solidFill>
              </a:rPr>
              <a:t>a request garante que objetos que dependem uns dos outros cheguem juntos ao teste e à produção.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6182" y="3118104"/>
            <a:ext cx="329184" cy="329184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299" y="3118104"/>
            <a:ext cx="329184" cy="329184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85232"/>
            <a:ext cx="310896" cy="310896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949" y="3118104"/>
            <a:ext cx="329184" cy="329184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065" y="3118104"/>
            <a:ext cx="329184" cy="329184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3118104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primeiro programa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r>
              <a:rPr lang="en-US" sz="1600" dirty="0">
                <a:solidFill>
                  <a:srgbClr val="D1EFFF"/>
                </a:solidFill>
              </a:rPr>
              <a:t> e sem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600" dirty="0">
                <a:solidFill>
                  <a:srgbClr val="D1EFFF"/>
                </a:solidFill>
              </a:rPr>
              <a:t>: o primeiro programa é uma </a:t>
            </a:r>
            <a:r>
              <a:rPr lang="en-US" sz="1600" b="1" dirty="0">
                <a:solidFill>
                  <a:srgbClr val="D1EFFF"/>
                </a:solidFill>
              </a:rPr>
              <a:t>classe global</a:t>
            </a:r>
            <a:r>
              <a:rPr lang="en-US" sz="1600" dirty="0">
                <a:solidFill>
                  <a:srgbClr val="D1EFFF"/>
                </a:solidFill>
              </a:rPr>
              <a:t> que o ADT executa como aplicação de console.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00" dirty="0">
                <a:solidFill>
                  <a:srgbClr val="D1EFFF"/>
                </a:solidFill>
              </a:rPr>
              <a:t>  classe global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r>
              <a:rPr lang="en-US" sz="1000" dirty="0">
                <a:solidFill>
                  <a:srgbClr val="D1EFFF"/>
                </a:solidFill>
              </a:rPr>
              <a:t>  saída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Ctrl+F3 · F9</a:t>
            </a:r>
            <a:r>
              <a:rPr lang="en-US" sz="1000" dirty="0">
                <a:solidFill>
                  <a:srgbClr val="D1EFFF"/>
                </a:solidFill>
              </a:rPr>
              <a:t>  ativar e rodar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HELLO WORLD · CONSOLE APP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classe que o Eclipse sabe executar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zcl_hello_world.clas.abap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ZCL_HELLO_WORLD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if_oo_adt_classrun~main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|Hoje é { lv_date DATE = ISO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contrato que torna a classe executável com F9, como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050" dirty="0">
                <a:solidFill>
                  <a:srgbClr val="556B82"/>
                </a:solidFill>
              </a:rPr>
              <a:t> de Java ou C#.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Envia o texto para a view Console do Eclipse.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API liberada para data, hora e usuário no ABAP Cloud.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String template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|...{ }...|</a:t>
            </a:r>
            <a:r>
              <a:rPr lang="en-US" sz="1050" dirty="0">
                <a:solidFill>
                  <a:srgbClr val="556B82"/>
                </a:solidFill>
              </a:rPr>
              <a:t> monta texto com valores e formatação.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HELLO WORLD · PASSO A PASSO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pacote à saída no console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7614" y="2848356"/>
            <a:ext cx="903646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0142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0142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Criar o pacote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Ex.: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ZS4D400_##</a:t>
            </a:r>
            <a:r>
              <a:rPr lang="en-US" sz="1150" dirty="0">
                <a:solidFill>
                  <a:srgbClr val="556B82"/>
                </a:solidFill>
              </a:rPr>
              <a:t>, no componente de software do curso, com uma request de transporte.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9259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9259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2807757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637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Criar a classe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no pacote → </a:t>
            </a:r>
            <a:r>
              <a:rPr lang="en-US" sz="1150" b="1" dirty="0">
                <a:solidFill>
                  <a:srgbClr val="556B82"/>
                </a:solidFill>
              </a:rPr>
              <a:t>New → ABAP Class</a:t>
            </a:r>
            <a:r>
              <a:rPr lang="en-US" sz="1150" dirty="0">
                <a:solidFill>
                  <a:srgbClr val="556B82"/>
                </a:solidFill>
              </a:rPr>
              <a:t>, com a interface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8376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8376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5066873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49753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Implementar </a:t>
            </a:r>
            <a:r>
              <a:rPr lang="en-US" sz="13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Escreva a saída com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7492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7492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7325990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08870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Ativar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Ctrl+F3</a:t>
            </a:r>
            <a:r>
              <a:rPr lang="en-US" sz="1150" dirty="0">
                <a:solidFill>
                  <a:srgbClr val="556B82"/>
                </a:solidFill>
              </a:rPr>
              <a:t>: sem ativação, o código não roda nem pode ser depurado.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66609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66609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5</a:t>
            </a:r>
            <a:endParaRPr lang="en-US" sz="2280" dirty="0"/>
          </a:p>
        </p:txBody>
      </p:sp>
      <p:sp>
        <p:nvSpPr>
          <p:cNvPr id="23" name="Shape 21"/>
          <p:cNvSpPr/>
          <p:nvPr/>
        </p:nvSpPr>
        <p:spPr>
          <a:xfrm>
            <a:off x="9585107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767987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Executar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</a:t>
            </a:r>
            <a:r>
              <a:rPr lang="en-US" sz="1150" dirty="0">
                <a:solidFill>
                  <a:srgbClr val="556B82"/>
                </a:solidFill>
              </a:rPr>
              <a:t> abre a view </a:t>
            </a:r>
            <a:r>
              <a:rPr lang="en-US" sz="1150" b="1" dirty="0">
                <a:solidFill>
                  <a:srgbClr val="556B82"/>
                </a:solidFill>
              </a:rPr>
              <a:t>Console</a:t>
            </a:r>
            <a:r>
              <a:rPr lang="en-US" sz="1150" dirty="0">
                <a:solidFill>
                  <a:srgbClr val="556B82"/>
                </a:solidFill>
              </a:rPr>
              <a:t> com o resultado.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949" y="3525012"/>
            <a:ext cx="329184" cy="329184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182" y="3525012"/>
            <a:ext cx="329184" cy="329184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065" y="3525012"/>
            <a:ext cx="329184" cy="329184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525012"/>
            <a:ext cx="329184" cy="329184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299" y="352501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Joule for Developers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</a:t>
            </a:r>
            <a:r>
              <a:rPr lang="en-US" sz="1600" b="1" dirty="0">
                <a:solidFill>
                  <a:srgbClr val="D1EFFF"/>
                </a:solidFill>
              </a:rPr>
              <a:t>ABAP AI capabilities</a:t>
            </a:r>
            <a:r>
              <a:rPr lang="en-US" sz="1600" dirty="0">
                <a:solidFill>
                  <a:srgbClr val="D1EFFF"/>
                </a:solidFill>
              </a:rPr>
              <a:t> trazem IA generativa para dentro do ADT. Elas aceleram o trabalho, mas não substituem o seu julgamento.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Joule Chat</a:t>
            </a:r>
            <a:r>
              <a:rPr lang="en-US" sz="1000" dirty="0">
                <a:solidFill>
                  <a:srgbClr val="D1EFFF"/>
                </a:solidFill>
              </a:rPr>
              <a:t>  perguntas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Predictive completion</a:t>
            </a:r>
            <a:r>
              <a:rPr lang="en-US" sz="1000" dirty="0">
                <a:solidFill>
                  <a:srgbClr val="D1EFFF"/>
                </a:solidFill>
              </a:rPr>
              <a:t>  ghost 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r>
              <a:rPr lang="en-US" sz="1000" dirty="0">
                <a:solidFill>
                  <a:srgbClr val="D1EFFF"/>
                </a:solidFill>
              </a:rPr>
              <a:t>  /explain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AI SDK</a:t>
            </a:r>
            <a:r>
              <a:rPr lang="en-US" sz="1000" dirty="0">
                <a:solidFill>
                  <a:srgbClr val="D1EFFF"/>
                </a:solidFill>
              </a:rPr>
              <a:t>  IA nas suas apps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IA NO ADT · CAPACIDADES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Joule faz por você no ADT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Joule Chat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Perguntas, explicações e exemplos em linguagem natural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→ Show View → Joule</a:t>
            </a:r>
            <a:r>
              <a:rPr lang="en-US" sz="12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Predictive code completion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Sugestões em cinza (</a:t>
            </a:r>
            <a:r>
              <a:rPr lang="en-US" sz="1200" i="1" dirty="0">
                <a:solidFill>
                  <a:srgbClr val="556B82"/>
                </a:solidFill>
              </a:rPr>
              <a:t>ghost text</a:t>
            </a:r>
            <a:r>
              <a:rPr lang="en-US" sz="1200" dirty="0">
                <a:solidFill>
                  <a:srgbClr val="556B82"/>
                </a:solidFill>
              </a:rPr>
              <a:t>) ao pausar a digitação em classes, interfaces e programas.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Explain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Selecione código ou um objeto e use </a:t>
            </a:r>
            <a:r>
              <a:rPr lang="en-US" sz="1200" b="1" dirty="0">
                <a:solidFill>
                  <a:srgbClr val="556B82"/>
                </a:solidFill>
              </a:rPr>
              <a:t>Joule → Explain</a:t>
            </a:r>
            <a:r>
              <a:rPr lang="en-US" sz="1200" dirty="0">
                <a:solidFill>
                  <a:srgbClr val="556B82"/>
                </a:solidFill>
              </a:rPr>
              <a:t> para entender código legado.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 mais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Testes ABAP Unit e de CDS, serviço OData de UI do zero, lógica RAP e consumo de OData.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956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9956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Regra de ouro  </a:t>
            </a:r>
            <a:r>
              <a:rPr lang="en-US" sz="1200" dirty="0">
                <a:solidFill>
                  <a:srgbClr val="1D2D3E"/>
                </a:solidFill>
              </a:rPr>
              <a:t>os resultados da IA variam. Revise o código gerado, confirme o requisito e rode o ATC antes de liberar.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5572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255727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55727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123688"/>
            <a:ext cx="310896" cy="310896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2653" y="255727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ADT</a:t>
            </a:r>
            <a:r>
              <a:rPr lang="en-US" sz="1400" dirty="0">
                <a:solidFill>
                  <a:srgbClr val="FFFFFF"/>
                </a:solidFill>
              </a:rPr>
              <a:t> no Eclipse conecta-se a cada sistema por um projeto: ABAP Cloud Project ou ABAP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é um modelo: language version 5, só APIs liberadas e dados SAP via CDS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vivem em </a:t>
            </a:r>
            <a:r>
              <a:rPr lang="en-US" sz="1400" b="1" dirty="0">
                <a:solidFill>
                  <a:srgbClr val="FFFFFF"/>
                </a:solidFill>
              </a:rPr>
              <a:t>pacotes</a:t>
            </a:r>
            <a:r>
              <a:rPr lang="en-US" sz="1400" dirty="0">
                <a:solidFill>
                  <a:srgbClr val="FFFFFF"/>
                </a:solidFill>
              </a:rPr>
              <a:t>, dentro de </a:t>
            </a:r>
            <a:r>
              <a:rPr lang="en-US" sz="1400" b="1" dirty="0">
                <a:solidFill>
                  <a:srgbClr val="FFFFFF"/>
                </a:solidFill>
              </a:rPr>
              <a:t>componentes de software</a:t>
            </a:r>
            <a:r>
              <a:rPr lang="en-US" sz="1400" dirty="0">
                <a:solidFill>
                  <a:srgbClr val="FFFFFF"/>
                </a:solidFill>
              </a:rPr>
              <a:t>, no namespace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400" dirty="0">
                <a:solidFill>
                  <a:srgbClr val="FFFFFF"/>
                </a:solidFill>
              </a:rPr>
              <a:t>/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Requests de transporte</a:t>
            </a:r>
            <a:r>
              <a:rPr lang="en-US" sz="1400" dirty="0">
                <a:solidFill>
                  <a:srgbClr val="FFFFFF"/>
                </a:solidFill>
              </a:rPr>
              <a:t> bloqueiam objetos e levam mudanças juntas até a produção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primeiro programa é uma </a:t>
            </a:r>
            <a:r>
              <a:rPr lang="en-US" sz="1400" b="1" dirty="0">
                <a:solidFill>
                  <a:srgbClr val="FFFFFF"/>
                </a:solidFill>
              </a:rPr>
              <a:t>classe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400" dirty="0">
                <a:solidFill>
                  <a:srgbClr val="FFFFFF"/>
                </a:solidFill>
              </a:rPr>
              <a:t>, ativada com Ctrl+F3 e executada com F9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Joule</a:t>
            </a:r>
            <a:r>
              <a:rPr lang="en-US" sz="1400" dirty="0">
                <a:solidFill>
                  <a:srgbClr val="FFFFFF"/>
                </a:solidFill>
              </a:rPr>
              <a:t> explica, sugere e gera código, mas a revisão continua sendo sua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01.02  </a:t>
            </a:r>
            <a:r>
              <a:rPr lang="en-US" sz="1500" dirty="0">
                <a:solidFill>
                  <a:srgbClr val="FFFFFF"/>
                </a:solidFill>
              </a:rPr>
              <a:t>Técnicas básicas: Dados, expressões, controle de fluxo e debugger.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01.01 Iniciando a jornada no ABAP moderno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2026-10-29T13:18:04Z</dcterms:created>
  <dcterms:modified xsi:type="dcterms:W3CDTF">2026-10-29T13:18:04Z</dcterms:modified>
</cp:coreProperties>
</file>