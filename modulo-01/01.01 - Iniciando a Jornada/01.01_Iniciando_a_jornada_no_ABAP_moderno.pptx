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Horizon Title">
    <p:bg>
      <p:bgPr>
        <a:solidFill>
          <a:srgbClr val="1D2D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2" type="body" hasCustomPrompt="1"/>
          </p:nvPr>
        </p:nvSpPr>
        <p:spPr>
          <a:xfrm>
            <a:off x="548640" y="1554480"/>
            <a:ext cx="7863840" cy="4114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dirty="0">
                <a:solidFill>
                  <a:srgbClr val="4DB1FF"/>
                </a:solidFill>
              </a:defRPr>
            </a:lvl1pPr>
          </a:lstStyle>
          <a:p>
            <a:pPr algn="l" indent="0" marL="0">
              <a:buNone/>
            </a:pPr>
            <a:endParaRPr lang="en-US" sz="1600" dirty="0"/>
          </a:p>
        </p:txBody>
      </p:sp>
      <p:sp>
        <p:nvSpPr>
          <p:cNvPr id="3" name="Text 0"/>
          <p:cNvSpPr/>
          <p:nvPr>
            <p:ph idx="103" type="title" hasCustomPrompt="1"/>
          </p:nvPr>
        </p:nvSpPr>
        <p:spPr>
          <a:xfrm>
            <a:off x="548640" y="2057400"/>
            <a:ext cx="8138160" cy="2011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4" name="Text 0"/>
          <p:cNvSpPr/>
          <p:nvPr>
            <p:ph idx="104" type="body" hasCustomPrompt="1"/>
          </p:nvPr>
        </p:nvSpPr>
        <p:spPr>
          <a:xfrm>
            <a:off x="548640" y="4206240"/>
            <a:ext cx="768096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rgbClr val="C9D3DE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  <p:sp>
        <p:nvSpPr>
          <p:cNvPr id="5" name="Text 0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396A8"/>
                </a:solidFill>
              </a:rPr>
              <a:t>ABAP Moderno  ·  Módulo 01  ·  01.01</a:t>
            </a:r>
            <a:endParaRPr lang="en-US" sz="1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Horizon Content">
    <p:bg>
      <p:bgPr>
        <a:solidFill>
          <a:srgbClr val="F5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11094415" cy="29260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300" b="1" dirty="0">
                <a:solidFill>
                  <a:srgbClr val="0070F2"/>
                </a:solidFill>
              </a:defRPr>
            </a:lvl1pPr>
          </a:lstStyle>
          <a:p>
            <a:pPr algn="l" indent="0" marL="0">
              <a:buNone/>
            </a:pP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rgbClr val="1D2D3E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56B82"/>
                </a:solidFill>
              </a:rPr>
              <a:t>ABAP Moderno  ·  Módulo 01  ·  01.01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Horizon Closing">
    <p:bg>
      <p:bgPr>
        <a:solidFill>
          <a:srgbClr val="1D2D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48640" y="502920"/>
            <a:ext cx="11094415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b="1" dirty="0">
                <a:solidFill>
                  <a:srgbClr val="4DB1FF"/>
                </a:solidFill>
              </a:defRPr>
            </a:lvl1pPr>
          </a:lstStyle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3" name="Text 0"/>
          <p:cNvSpPr/>
          <p:nvPr>
            <p:ph idx="102" type="title" hasCustomPrompt="1"/>
          </p:nvPr>
        </p:nvSpPr>
        <p:spPr>
          <a:xfrm>
            <a:off x="548640" y="868680"/>
            <a:ext cx="11094415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396A8"/>
                </a:solidFill>
              </a:rPr>
              <a:t>ABAP Moderno  ·  Módulo 01  ·  01.01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8396A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image" Target="../media/image-5-7.png"/><Relationship Id="rId8" Type="http://schemas.openxmlformats.org/officeDocument/2006/relationships/image" Target="../media/image-5-8.png"/><Relationship Id="rId9" Type="http://schemas.openxmlformats.org/officeDocument/2006/relationships/image" Target="../media/image-5-9.png"/><Relationship Id="rId10" Type="http://schemas.openxmlformats.org/officeDocument/2006/relationships/image" Target="../media/image-5-10.png"/><Relationship Id="rId11" Type="http://schemas.openxmlformats.org/officeDocument/2006/relationships/slideLayout" Target="../slideLayouts/slideLayout3.xml"/><Relationship Id="rId1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image" Target="../media/image-7-7.png"/><Relationship Id="rId8" Type="http://schemas.openxmlformats.org/officeDocument/2006/relationships/image" Target="../media/image-7-8.png"/><Relationship Id="rId9" Type="http://schemas.openxmlformats.org/officeDocument/2006/relationships/slideLayout" Target="../slideLayouts/slideLayout3.xml"/><Relationship Id="rId10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2" type="body" hasCustomPrompt="1"/>
          </p:nvPr>
        </p:nvSpPr>
        <p:spPr>
          <a:xfrm>
            <a:off x="548640" y="155448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4DB1FF"/>
                </a:solidFill>
              </a:rPr>
              <a:t>Módulo 01  ·  01.01</a:t>
            </a:r>
            <a:endParaRPr lang="en-US" sz="1600" dirty="0"/>
          </a:p>
        </p:txBody>
      </p:sp>
      <p:sp>
        <p:nvSpPr>
          <p:cNvPr id="3" name="Text 0"/>
          <p:cNvSpPr/>
          <p:nvPr>
            <p:ph idx="103" type="title" hasCustomPrompt="1"/>
          </p:nvPr>
        </p:nvSpPr>
        <p:spPr>
          <a:xfrm>
            <a:off x="548640" y="2057400"/>
            <a:ext cx="81381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Iniciando a Jornada: O Paradigma do ABAP Moderno</a:t>
            </a:r>
            <a:endParaRPr lang="en-US" sz="4000" dirty="0"/>
          </a:p>
        </p:txBody>
      </p:sp>
      <p:sp>
        <p:nvSpPr>
          <p:cNvPr id="4" name="Text 0"/>
          <p:cNvSpPr/>
          <p:nvPr>
            <p:ph idx="104" type="body" hasCustomPrompt="1"/>
          </p:nvPr>
        </p:nvSpPr>
        <p:spPr>
          <a:xfrm>
            <a:off x="548640" y="4206240"/>
            <a:ext cx="7680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C9D3DE"/>
                </a:solidFill>
              </a:rPr>
              <a:t>Deixando o ABAP Clássico para trás e abraçando a arquitetura do futuro com ABAP Cloud.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8915400" y="1600200"/>
            <a:ext cx="2743200" cy="566928"/>
          </a:xfrm>
          <a:prstGeom prst="roundRect">
            <a:avLst>
              <a:gd name="adj" fmla="val 50000"/>
            </a:avLst>
          </a:prstGeom>
          <a:solidFill>
            <a:srgbClr val="33302B"/>
          </a:solidFill>
          <a:ln w="9525">
            <a:solidFill>
              <a:srgbClr val="6B5E45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509760" y="1600200"/>
            <a:ext cx="2057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SAP GUI · SE80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8915400" y="216712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DB1FF"/>
                </a:solidFill>
              </a:rPr>
              <a:t>▼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8915400" y="2350008"/>
            <a:ext cx="2743200" cy="566928"/>
          </a:xfrm>
          <a:prstGeom prst="roundRect">
            <a:avLst>
              <a:gd name="adj" fmla="val 50000"/>
            </a:avLst>
          </a:prstGeom>
          <a:solidFill>
            <a:srgbClr val="2A3B4E"/>
          </a:solidFill>
          <a:ln w="9525">
            <a:solidFill>
              <a:srgbClr val="3D506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509760" y="2350008"/>
            <a:ext cx="2057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Eclipse + ADT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8915400" y="3099816"/>
            <a:ext cx="2743200" cy="566928"/>
          </a:xfrm>
          <a:prstGeom prst="roundRect">
            <a:avLst>
              <a:gd name="adj" fmla="val 50000"/>
            </a:avLst>
          </a:prstGeom>
          <a:solidFill>
            <a:srgbClr val="2A3B4E"/>
          </a:solidFill>
          <a:ln w="9525">
            <a:solidFill>
              <a:srgbClr val="3D506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509760" y="3099816"/>
            <a:ext cx="2057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ABAP Cloud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915400" y="3849624"/>
            <a:ext cx="2743200" cy="566928"/>
          </a:xfrm>
          <a:prstGeom prst="roundRect">
            <a:avLst>
              <a:gd name="adj" fmla="val 50000"/>
            </a:avLst>
          </a:prstGeom>
          <a:solidFill>
            <a:srgbClr val="2A3B4E"/>
          </a:solidFill>
          <a:ln w="9525">
            <a:solidFill>
              <a:srgbClr val="3D506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509760" y="3849624"/>
            <a:ext cx="2057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Clean Core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915400" y="4599432"/>
            <a:ext cx="2743200" cy="566928"/>
          </a:xfrm>
          <a:prstGeom prst="roundRect">
            <a:avLst>
              <a:gd name="adj" fmla="val 50000"/>
            </a:avLst>
          </a:prstGeom>
          <a:solidFill>
            <a:srgbClr val="2A3B4E"/>
          </a:solidFill>
          <a:ln w="9525">
            <a:solidFill>
              <a:srgbClr val="3D506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509760" y="4599432"/>
            <a:ext cx="2057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Released APIs</a:t>
            </a:r>
            <a:endParaRPr lang="en-US" sz="1300" dirty="0"/>
          </a:p>
        </p:txBody>
      </p:sp>
      <p:pic>
        <p:nvPicPr>
          <p:cNvPr id="1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98280" y="1737360"/>
            <a:ext cx="292608" cy="292608"/>
          </a:xfrm>
          <a:prstGeom prst="rect">
            <a:avLst/>
          </a:prstGeom>
        </p:spPr>
      </p:pic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98280" y="2487168"/>
            <a:ext cx="292608" cy="292608"/>
          </a:xfrm>
          <a:prstGeom prst="rect">
            <a:avLst/>
          </a:prstGeom>
        </p:spPr>
      </p:pic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98280" y="3236976"/>
            <a:ext cx="292608" cy="292608"/>
          </a:xfrm>
          <a:prstGeom prst="rect">
            <a:avLst/>
          </a:prstGeom>
        </p:spPr>
      </p:pic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98280" y="3986784"/>
            <a:ext cx="292608" cy="292608"/>
          </a:xfrm>
          <a:prstGeom prst="rect">
            <a:avLst/>
          </a:prstGeom>
        </p:spPr>
      </p:pic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98280" y="4736592"/>
            <a:ext cx="292608" cy="29260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070F2"/>
                </a:solidFill>
              </a:rPr>
              <a:t>Não é apenas uma mudança de interface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D2D3E"/>
                </a:solidFill>
              </a:rPr>
              <a:t>É Uma Mudança de Filosofia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090008" cy="3566160"/>
          </a:xfrm>
          <a:prstGeom prst="roundRect">
            <a:avLst>
              <a:gd name="adj" fmla="val 3590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76200" dist="19050" dir="5400000">
              <a:srgbClr val="1D2D3E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68680" y="1920240"/>
            <a:ext cx="822960" cy="822960"/>
          </a:xfrm>
          <a:prstGeom prst="roundRect">
            <a:avLst>
              <a:gd name="adj" fmla="val 22000"/>
            </a:avLst>
          </a:prstGeom>
          <a:solidFill>
            <a:srgbClr val="EAECEE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874520" y="1901952"/>
            <a:ext cx="353552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56B82"/>
                </a:solidFill>
              </a:rPr>
              <a:t>O PASSADO</a:t>
            </a:r>
            <a:endParaRPr lang="en-US" sz="1600" dirty="0"/>
          </a:p>
          <a:p>
            <a:pPr indent="0" marL="0">
              <a:buNone/>
            </a:pPr>
            <a:r>
              <a:rPr lang="en-US" sz="2400" b="1" dirty="0">
                <a:solidFill>
                  <a:srgbClr val="1D2D3E"/>
                </a:solidFill>
              </a:rPr>
              <a:t>ABAP Clássico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2926080"/>
            <a:ext cx="4449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556B82"/>
                </a:solidFill>
              </a:rPr>
              <a:t>SAP GUI · SE80 Object Navigator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3429000"/>
            <a:ext cx="444992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556B82"/>
                </a:solidFill>
              </a:rPr>
              <a:t>Ferramenta que reinou por décadas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556B82"/>
                </a:solidFill>
              </a:rPr>
              <a:t>Reports, Dynpros e listas clássicas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556B82"/>
                </a:solidFill>
              </a:rPr>
              <a:t>Acesso irrestrito ao sistema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6553048" y="1600200"/>
            <a:ext cx="5090008" cy="3566160"/>
          </a:xfrm>
          <a:prstGeom prst="roundRect">
            <a:avLst>
              <a:gd name="adj" fmla="val 3590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76200" dist="19050" dir="5400000">
              <a:srgbClr val="1D2D3E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873088" y="1920240"/>
            <a:ext cx="822960" cy="82296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878928" y="1901952"/>
            <a:ext cx="353552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64D9"/>
                </a:solidFill>
              </a:rPr>
              <a:t>O FUTURO</a:t>
            </a:r>
            <a:endParaRPr lang="en-US" sz="1600" dirty="0"/>
          </a:p>
          <a:p>
            <a:pPr indent="0" marL="0">
              <a:buNone/>
            </a:pPr>
            <a:r>
              <a:rPr lang="en-US" sz="2400" b="1" dirty="0">
                <a:solidFill>
                  <a:srgbClr val="1D2D3E"/>
                </a:solidFill>
              </a:rPr>
              <a:t>ABAP Cloud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6873088" y="2926080"/>
            <a:ext cx="4449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064D9"/>
                </a:solidFill>
              </a:rPr>
              <a:t>Eclipse · ABAP Development Tools (ADT)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6873088" y="3429000"/>
            <a:ext cx="444992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556B82"/>
                </a:solidFill>
              </a:rPr>
              <a:t>Ambiente integrado e aberto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556B82"/>
                </a:solidFill>
              </a:rPr>
              <a:t>Essencial para o desenvolvimento em nuvem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556B82"/>
                </a:solidFill>
              </a:rPr>
              <a:t>APIs liberadas e Clean Core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839816" y="3154680"/>
            <a:ext cx="512064" cy="457200"/>
          </a:xfrm>
          <a:prstGeom prst="rightArrow">
            <a:avLst/>
          </a:prstGeom>
          <a:solidFill>
            <a:srgbClr val="0070F2"/>
          </a:solidFill>
          <a:ln/>
        </p:spPr>
      </p:sp>
      <p:sp>
        <p:nvSpPr>
          <p:cNvPr id="15" name="Shape 13"/>
          <p:cNvSpPr/>
          <p:nvPr/>
        </p:nvSpPr>
        <p:spPr>
          <a:xfrm>
            <a:off x="548640" y="5394960"/>
            <a:ext cx="11094415" cy="822960"/>
          </a:xfrm>
          <a:prstGeom prst="roundRect">
            <a:avLst>
              <a:gd name="adj" fmla="val 13333"/>
            </a:avLst>
          </a:prstGeom>
          <a:solidFill>
            <a:srgbClr val="EBF8FF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1280160" y="5394960"/>
            <a:ext cx="100885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D2D3E"/>
                </a:solidFill>
              </a:rPr>
              <a:t>A ferramenta que reinou por décadas (SE80) dá lugar a um ambiente integrado, aberto e essencial para o desenvolvimento em nuvem.</a:t>
            </a:r>
            <a:endParaRPr lang="en-US" sz="1600" dirty="0"/>
          </a:p>
        </p:txBody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6190" y="2117750"/>
            <a:ext cx="427939" cy="427939"/>
          </a:xfrm>
          <a:prstGeom prst="rect">
            <a:avLst/>
          </a:prstGeom>
        </p:spPr>
      </p:pic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70598" y="2117750"/>
            <a:ext cx="427939" cy="427939"/>
          </a:xfrm>
          <a:prstGeom prst="rect">
            <a:avLst/>
          </a:prstGeom>
        </p:spPr>
      </p:pic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5632704"/>
            <a:ext cx="347472" cy="34747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070F2"/>
                </a:solidFill>
              </a:rPr>
              <a:t>ABAP Development Tools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D2D3E"/>
                </a:solidFill>
              </a:rPr>
              <a:t>As Vantagens Decisivas do Ambiente Moderno (ADT)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410048" cy="2148840"/>
          </a:xfrm>
          <a:prstGeom prst="roundRect">
            <a:avLst>
              <a:gd name="adj" fmla="val 5957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76200" dist="19050" dir="5400000">
              <a:srgbClr val="1D2D3E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1856232"/>
            <a:ext cx="512064" cy="512064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04672" y="2532888"/>
            <a:ext cx="489798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800" b="1" dirty="0">
                <a:solidFill>
                  <a:srgbClr val="1D2D3E"/>
                </a:solidFill>
              </a:rPr>
              <a:t>Velocidade e Refatoração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556B82"/>
                </a:solidFill>
              </a:rPr>
              <a:t>Ferramentas que não existem no SAP GUI: renomeie métodos em todo o sistema, extraia constantes e formate código (“Pretty Printer”) com um clique.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233008" y="1600200"/>
            <a:ext cx="5410048" cy="2148840"/>
          </a:xfrm>
          <a:prstGeom prst="roundRect">
            <a:avLst>
              <a:gd name="adj" fmla="val 5957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76200" dist="19050" dir="5400000">
              <a:srgbClr val="1D2D3E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6489040" y="1856232"/>
            <a:ext cx="512064" cy="512064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89040" y="2532888"/>
            <a:ext cx="489798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800" b="1" dirty="0">
                <a:solidFill>
                  <a:srgbClr val="1D2D3E"/>
                </a:solidFill>
              </a:rPr>
              <a:t>Funcionalidades Exclusivas da Nuvem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556B82"/>
                </a:solidFill>
              </a:rPr>
              <a:t>O desenvolvimento de CDS Views, Behavior Definitions (RAP) e Service Bindings é suportado </a:t>
            </a:r>
            <a:r>
              <a:rPr lang="en-US" sz="1500" b="1" dirty="0">
                <a:solidFill>
                  <a:srgbClr val="556B82"/>
                </a:solidFill>
              </a:rPr>
              <a:t>apenas</a:t>
            </a:r>
            <a:r>
              <a:rPr lang="en-US" sz="1500" dirty="0">
                <a:solidFill>
                  <a:srgbClr val="556B82"/>
                </a:solidFill>
              </a:rPr>
              <a:t> no ADT.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548640" y="4023360"/>
            <a:ext cx="5410048" cy="2148840"/>
          </a:xfrm>
          <a:prstGeom prst="roundRect">
            <a:avLst>
              <a:gd name="adj" fmla="val 5957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76200" dist="19050" dir="5400000">
              <a:srgbClr val="1D2D3E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804672" y="4279392"/>
            <a:ext cx="512064" cy="512064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04672" y="4956048"/>
            <a:ext cx="489798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800" b="1" dirty="0">
                <a:solidFill>
                  <a:srgbClr val="1D2D3E"/>
                </a:solidFill>
              </a:rPr>
              <a:t>Visão Multi-Sistema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556B82"/>
                </a:solidFill>
              </a:rPr>
              <a:t>Visualize e compare códigos de diferentes sistemas (DEV vs. QAS) lado a lado na mesma interface, sem múltiplas janelas de login.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233008" y="4023360"/>
            <a:ext cx="5410048" cy="2148840"/>
          </a:xfrm>
          <a:prstGeom prst="roundRect">
            <a:avLst>
              <a:gd name="adj" fmla="val 5957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76200" dist="19050" dir="5400000">
              <a:srgbClr val="1D2D3E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489040" y="4279392"/>
            <a:ext cx="512064" cy="512064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489040" y="4956048"/>
            <a:ext cx="489798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800" b="1" dirty="0">
                <a:solidFill>
                  <a:srgbClr val="1D2D3E"/>
                </a:solidFill>
              </a:rPr>
              <a:t>Integração com DevOps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556B82"/>
                </a:solidFill>
              </a:rPr>
              <a:t>Integração nativa com </a:t>
            </a:r>
            <a:r>
              <a:rPr lang="en-US" sz="1500" b="1" dirty="0">
                <a:solidFill>
                  <a:srgbClr val="556B82"/>
                </a:solidFill>
              </a:rPr>
              <a:t>abapGit</a:t>
            </a:r>
            <a:r>
              <a:rPr lang="en-US" sz="1500" dirty="0">
                <a:solidFill>
                  <a:srgbClr val="556B82"/>
                </a:solidFill>
              </a:rPr>
              <a:t> para versionamento e pipelines de CI/CD, alinhando o ABAP às práticas modernas de engenharia.</a:t>
            </a:r>
            <a:endParaRPr lang="en-US" sz="1600" dirty="0"/>
          </a:p>
        </p:txBody>
      </p:sp>
      <p:pic>
        <p:nvPicPr>
          <p:cNvPr id="1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7567" y="1979127"/>
            <a:ext cx="266273" cy="266273"/>
          </a:xfrm>
          <a:prstGeom prst="rect">
            <a:avLst/>
          </a:prstGeom>
        </p:spPr>
      </p:pic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11935" y="1979127"/>
            <a:ext cx="266273" cy="266273"/>
          </a:xfrm>
          <a:prstGeom prst="rect">
            <a:avLst/>
          </a:prstGeom>
        </p:spPr>
      </p:pic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7567" y="4402287"/>
            <a:ext cx="266273" cy="266273"/>
          </a:xfrm>
          <a:prstGeom prst="rect">
            <a:avLst/>
          </a:prstGeom>
        </p:spPr>
      </p:pic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11935" y="4402287"/>
            <a:ext cx="266273" cy="266273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070F2"/>
                </a:solidFill>
              </a:rPr>
              <a:t>O legado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D2D3E"/>
                </a:solidFill>
              </a:rPr>
              <a:t>O Legado do ‘Código Espaguete’: Por Que Mudar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135728" cy="4526280"/>
          </a:xfrm>
          <a:prstGeom prst="roundRect">
            <a:avLst>
              <a:gd name="adj" fmla="val 2828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76200" dist="19050" dir="5400000">
              <a:srgbClr val="1D2D3E">
                <a:alpha val="10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68680" y="1874520"/>
            <a:ext cx="449564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64D9"/>
                </a:solidFill>
              </a:rPr>
              <a:t>O PROBLEMA</a:t>
            </a:r>
            <a:endParaRPr lang="en-US" sz="1600" dirty="0"/>
          </a:p>
          <a:p>
            <a:pPr indent="0" marL="0">
              <a:buNone/>
            </a:pPr>
            <a:r>
              <a:rPr lang="en-US" sz="2200" b="1" dirty="0">
                <a:solidFill>
                  <a:srgbClr val="1D2D3E"/>
                </a:solidFill>
              </a:rPr>
              <a:t>Superpoderes Perigosos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868680" y="2926080"/>
            <a:ext cx="512064" cy="512064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609344" y="2907792"/>
            <a:ext cx="375498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D2D3E"/>
                </a:solidFill>
              </a:rPr>
              <a:t>Acesso irrestrito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a qualquer tabela, inclusive as internas da SAP.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868680" y="3931920"/>
            <a:ext cx="512064" cy="512064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609344" y="3913632"/>
            <a:ext cx="375498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D2D3E"/>
                </a:solidFill>
              </a:rPr>
              <a:t>Modificação do núcleo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Alteração do comportamento padrão do sistema.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68680" y="4937760"/>
            <a:ext cx="512064" cy="512064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1609344" y="4919472"/>
            <a:ext cx="375498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D2D3E"/>
                </a:solidFill>
              </a:rPr>
              <a:t>Acesso ao sistema operacional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Direto e arriscado.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5839816" y="3611880"/>
            <a:ext cx="512064" cy="457200"/>
          </a:xfrm>
          <a:prstGeom prst="rightArrow">
            <a:avLst/>
          </a:prstGeom>
          <a:solidFill>
            <a:srgbClr val="D20A0A"/>
          </a:solidFill>
          <a:ln/>
        </p:spPr>
      </p:sp>
      <p:sp>
        <p:nvSpPr>
          <p:cNvPr id="13" name="Shape 11"/>
          <p:cNvSpPr/>
          <p:nvPr/>
        </p:nvSpPr>
        <p:spPr>
          <a:xfrm>
            <a:off x="6507328" y="1600200"/>
            <a:ext cx="5135728" cy="4526280"/>
          </a:xfrm>
          <a:prstGeom prst="roundRect">
            <a:avLst>
              <a:gd name="adj" fmla="val 2828"/>
            </a:avLst>
          </a:prstGeom>
          <a:solidFill>
            <a:srgbClr val="FFEAF4"/>
          </a:solidFill>
          <a:ln w="9525">
            <a:solidFill>
              <a:srgbClr val="F5B8C9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827368" y="1874520"/>
            <a:ext cx="449564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AA0808"/>
                </a:solidFill>
              </a:rPr>
              <a:t>A CONSEQUÊNCIA INEVITÁVEL</a:t>
            </a:r>
            <a:endParaRPr lang="en-US" sz="1600" dirty="0"/>
          </a:p>
          <a:p>
            <a:pPr indent="0" marL="0">
              <a:buNone/>
            </a:pPr>
            <a:r>
              <a:rPr lang="en-US" sz="2200" b="1" dirty="0">
                <a:solidFill>
                  <a:srgbClr val="1D2D3E"/>
                </a:solidFill>
              </a:rPr>
              <a:t>O ‘Inferno’ do Upgrade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6827368" y="2926080"/>
            <a:ext cx="512064" cy="512064"/>
          </a:xfrm>
          <a:prstGeom prst="roundRect">
            <a:avLst>
              <a:gd name="adj" fmla="val 22000"/>
            </a:avLst>
          </a:prstGeom>
          <a:solidFill>
            <a:srgbClr val="FFEAF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568032" y="2907792"/>
            <a:ext cx="375498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D2D3E"/>
                </a:solidFill>
              </a:rPr>
              <a:t>Quebras a cada atualização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Códigos personalizados dependiam de estruturas internas que mudavam.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6827368" y="4114800"/>
            <a:ext cx="512064" cy="512064"/>
          </a:xfrm>
          <a:prstGeom prst="roundRect">
            <a:avLst>
              <a:gd name="adj" fmla="val 22000"/>
            </a:avLst>
          </a:prstGeom>
          <a:solidFill>
            <a:srgbClr val="FFEAF4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568032" y="4096512"/>
            <a:ext cx="375498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D2D3E"/>
                </a:solidFill>
              </a:rPr>
              <a:t>Upgrades caros e demorados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Projetos dominados pelas transações SPDD e SPAU.</a:t>
            </a:r>
            <a:endParaRPr lang="en-US" sz="1600" dirty="0"/>
          </a:p>
        </p:txBody>
      </p:sp>
      <p:pic>
        <p:nvPicPr>
          <p:cNvPr id="1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1575" y="3048975"/>
            <a:ext cx="266273" cy="266273"/>
          </a:xfrm>
          <a:prstGeom prst="rect">
            <a:avLst/>
          </a:prstGeom>
        </p:spPr>
      </p:pic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1575" y="4054815"/>
            <a:ext cx="266273" cy="266273"/>
          </a:xfrm>
          <a:prstGeom prst="rect">
            <a:avLst/>
          </a:prstGeom>
        </p:spPr>
      </p:pic>
      <p:pic>
        <p:nvPicPr>
          <p:cNvPr id="2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1575" y="5060655"/>
            <a:ext cx="266273" cy="266273"/>
          </a:xfrm>
          <a:prstGeom prst="rect">
            <a:avLst/>
          </a:prstGeom>
        </p:spPr>
      </p:pic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50263" y="3048975"/>
            <a:ext cx="266273" cy="266273"/>
          </a:xfrm>
          <a:prstGeom prst="rect">
            <a:avLst/>
          </a:prstGeom>
        </p:spPr>
      </p:pic>
      <p:pic>
        <p:nvPicPr>
          <p:cNvPr id="2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50263" y="4237695"/>
            <a:ext cx="266273" cy="266273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070F2"/>
                </a:solidFill>
              </a:rPr>
              <a:t>A Solução Estratégica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D2D3E"/>
                </a:solidFill>
              </a:rPr>
              <a:t>Clean Core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91640"/>
            <a:ext cx="6035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D2D3E"/>
                </a:solidFill>
              </a:rPr>
              <a:t>A estratégia para garantir que o sistema ERP possa ser atualizado automaticamente — como seu smartphone — sem quebrar as customizações.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154680"/>
            <a:ext cx="6035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064D9"/>
                </a:solidFill>
              </a:rPr>
              <a:t>Como funciona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61188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556B82"/>
                </a:solidFill>
              </a:rPr>
              <a:t>O ABAP Cloud impõe restrições técnicas rigorosas para proteger o núcleo do sistema e garantir a estabilidade a longo prazo.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548640" y="4892040"/>
            <a:ext cx="6035040" cy="777240"/>
          </a:xfrm>
          <a:prstGeom prst="roundRect">
            <a:avLst>
              <a:gd name="adj" fmla="val 14118"/>
            </a:avLst>
          </a:prstGeom>
          <a:solidFill>
            <a:srgbClr val="F5FAE5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280160" y="4892040"/>
            <a:ext cx="5029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D2D3E"/>
                </a:solidFill>
              </a:rPr>
              <a:t>Atualizações automáticas e seguras = núcleo intacto + extensões desacopladas.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7498080" y="2057400"/>
            <a:ext cx="3566160" cy="3566160"/>
          </a:xfrm>
          <a:prstGeom prst="ellipse">
            <a:avLst/>
          </a:prstGeom>
          <a:solidFill>
            <a:srgbClr val="EBF8FF"/>
          </a:solidFill>
          <a:ln w="12700">
            <a:solidFill>
              <a:srgbClr val="BDE6FF"/>
            </a:solidFill>
            <a:prstDash val="dash"/>
          </a:ln>
        </p:spPr>
      </p:sp>
      <p:sp>
        <p:nvSpPr>
          <p:cNvPr id="10" name="Shape 8"/>
          <p:cNvSpPr/>
          <p:nvPr/>
        </p:nvSpPr>
        <p:spPr>
          <a:xfrm>
            <a:off x="9006840" y="1783080"/>
            <a:ext cx="548640" cy="54864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0070F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267668" y="2305332"/>
            <a:ext cx="548640" cy="54864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0070F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789920" y="3566160"/>
            <a:ext cx="548640" cy="54864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0070F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0267668" y="4826988"/>
            <a:ext cx="548640" cy="54864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0070F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006840" y="5349240"/>
            <a:ext cx="548640" cy="54864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0070F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746012" y="4826988"/>
            <a:ext cx="548640" cy="54864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0070F2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223760" y="3566160"/>
            <a:ext cx="548640" cy="54864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0070F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746012" y="2305332"/>
            <a:ext cx="548640" cy="54864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0070F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503920" y="3063240"/>
            <a:ext cx="1554480" cy="1554480"/>
          </a:xfrm>
          <a:prstGeom prst="roundRect">
            <a:avLst>
              <a:gd name="adj" fmla="val 14706"/>
            </a:avLst>
          </a:prstGeom>
          <a:solidFill>
            <a:srgbClr val="0070F2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503920" y="40690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Clean Core</a:t>
            </a:r>
            <a:endParaRPr lang="en-US" sz="1400" dirty="0"/>
          </a:p>
        </p:txBody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106924"/>
            <a:ext cx="347472" cy="347472"/>
          </a:xfrm>
          <a:prstGeom prst="rect">
            <a:avLst/>
          </a:prstGeom>
        </p:spPr>
      </p:pic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34856" y="1911096"/>
            <a:ext cx="292608" cy="292608"/>
          </a:xfrm>
          <a:prstGeom prst="rect">
            <a:avLst/>
          </a:prstGeom>
        </p:spPr>
      </p:pic>
      <p:pic>
        <p:nvPicPr>
          <p:cNvPr id="2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17936" y="3694176"/>
            <a:ext cx="292608" cy="292608"/>
          </a:xfrm>
          <a:prstGeom prst="rect">
            <a:avLst/>
          </a:prstGeom>
        </p:spPr>
      </p:pic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95684" y="2433348"/>
            <a:ext cx="292608" cy="292608"/>
          </a:xfrm>
          <a:prstGeom prst="rect">
            <a:avLst/>
          </a:prstGeom>
        </p:spPr>
      </p:pic>
      <p:pic>
        <p:nvPicPr>
          <p:cNvPr id="2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395684" y="4955004"/>
            <a:ext cx="292608" cy="292608"/>
          </a:xfrm>
          <a:prstGeom prst="rect">
            <a:avLst/>
          </a:prstGeom>
        </p:spPr>
      </p:pic>
      <p:pic>
        <p:nvPicPr>
          <p:cNvPr id="25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34856" y="5477256"/>
            <a:ext cx="292608" cy="292608"/>
          </a:xfrm>
          <a:prstGeom prst="rect">
            <a:avLst/>
          </a:prstGeom>
        </p:spPr>
      </p:pic>
      <p:pic>
        <p:nvPicPr>
          <p:cNvPr id="26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874028" y="4955004"/>
            <a:ext cx="292608" cy="292608"/>
          </a:xfrm>
          <a:prstGeom prst="rect">
            <a:avLst/>
          </a:prstGeom>
        </p:spPr>
      </p:pic>
      <p:pic>
        <p:nvPicPr>
          <p:cNvPr id="27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351776" y="3694176"/>
            <a:ext cx="292608" cy="292608"/>
          </a:xfrm>
          <a:prstGeom prst="rect">
            <a:avLst/>
          </a:prstGeom>
        </p:spPr>
      </p:pic>
      <p:pic>
        <p:nvPicPr>
          <p:cNvPr id="28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874028" y="2433348"/>
            <a:ext cx="292608" cy="292608"/>
          </a:xfrm>
          <a:prstGeom prst="rect">
            <a:avLst/>
          </a:prstGeom>
        </p:spPr>
      </p:pic>
      <p:pic>
        <p:nvPicPr>
          <p:cNvPr id="29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915400" y="3291840"/>
            <a:ext cx="731520" cy="7315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070F2"/>
                </a:solidFill>
              </a:rPr>
              <a:t>As Regras do Novo Mundo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D2D3E"/>
                </a:solidFill>
              </a:rPr>
              <a:t>Como o Clean Core é Aplicado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364328" cy="4526280"/>
          </a:xfrm>
          <a:prstGeom prst="roundRect">
            <a:avLst>
              <a:gd name="adj" fmla="val 2828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76200" dist="19050" dir="5400000">
              <a:srgbClr val="1D2D3E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1965960"/>
            <a:ext cx="914400" cy="914400"/>
          </a:xfrm>
          <a:prstGeom prst="roundRect">
            <a:avLst>
              <a:gd name="adj" fmla="val 22000"/>
            </a:avLst>
          </a:prstGeom>
          <a:solidFill>
            <a:srgbClr val="FFEAF4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14400" y="3108960"/>
            <a:ext cx="46328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AA0808"/>
                </a:solidFill>
              </a:rPr>
              <a:t>Language Version 5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3703320"/>
            <a:ext cx="463280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D2D3E"/>
                </a:solidFill>
              </a:rPr>
              <a:t>O compilador bloqueia comandos obsoletos ou perigosos. Não é mais possível usar </a:t>
            </a:r>
            <a:r>
              <a:rPr lang="en-US" sz="16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CALL SCREEN</a:t>
            </a:r>
            <a:r>
              <a:rPr lang="en-US" sz="1600" dirty="0">
                <a:solidFill>
                  <a:srgbClr val="1D2D3E"/>
                </a:solidFill>
              </a:rPr>
              <a:t> (Dynpros), </a:t>
            </a:r>
            <a:r>
              <a:rPr lang="en-US" sz="16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WRITE</a:t>
            </a:r>
            <a:r>
              <a:rPr lang="en-US" sz="1600" dirty="0">
                <a:solidFill>
                  <a:srgbClr val="1D2D3E"/>
                </a:solidFill>
              </a:rPr>
              <a:t> (listas clássicas) ou acesso direto a arquivos do servidor.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914400" y="5486400"/>
            <a:ext cx="1466698" cy="329184"/>
          </a:xfrm>
          <a:prstGeom prst="roundRect">
            <a:avLst>
              <a:gd name="adj" fmla="val 50000"/>
            </a:avLst>
          </a:prstGeom>
          <a:solidFill>
            <a:srgbClr val="FFEAF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914400" y="5486400"/>
            <a:ext cx="146669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AA0808"/>
                </a:solidFill>
              </a:rPr>
              <a:t>CALL SCREEN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2518258" y="5486400"/>
            <a:ext cx="841248" cy="329184"/>
          </a:xfrm>
          <a:prstGeom prst="roundRect">
            <a:avLst>
              <a:gd name="adj" fmla="val 50000"/>
            </a:avLst>
          </a:prstGeom>
          <a:solidFill>
            <a:srgbClr val="FFEAF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2518258" y="5486400"/>
            <a:ext cx="84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AA0808"/>
                </a:solidFill>
              </a:rPr>
              <a:t>WRITE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3496666" y="5486400"/>
            <a:ext cx="2404872" cy="329184"/>
          </a:xfrm>
          <a:prstGeom prst="roundRect">
            <a:avLst>
              <a:gd name="adj" fmla="val 50000"/>
            </a:avLst>
          </a:prstGeom>
          <a:solidFill>
            <a:srgbClr val="FFEAF4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3496666" y="5486400"/>
            <a:ext cx="2404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AA0808"/>
                </a:solidFill>
              </a:rPr>
              <a:t>Arquivos do servidor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278728" y="1600200"/>
            <a:ext cx="5364328" cy="4526280"/>
          </a:xfrm>
          <a:prstGeom prst="roundRect">
            <a:avLst>
              <a:gd name="adj" fmla="val 2828"/>
            </a:avLst>
          </a:prstGeom>
          <a:solidFill>
            <a:srgbClr val="FFFFFF"/>
          </a:solidFill>
          <a:ln w="9525">
            <a:solidFill>
              <a:srgbClr val="0070F2"/>
            </a:solidFill>
            <a:prstDash val="solid"/>
          </a:ln>
          <a:effectLst>
            <a:outerShdw sx="100000" sy="100000" kx="0" ky="0" algn="bl" rotWithShape="0" blurRad="76200" dist="19050" dir="5400000">
              <a:srgbClr val="1D2D3E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644488" y="1965960"/>
            <a:ext cx="914400" cy="91440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44488" y="3108960"/>
            <a:ext cx="46328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064D9"/>
                </a:solidFill>
              </a:rPr>
              <a:t>Released Objects</a:t>
            </a:r>
            <a:endParaRPr lang="en-US" sz="2200" dirty="0"/>
          </a:p>
        </p:txBody>
      </p:sp>
      <p:sp>
        <p:nvSpPr>
          <p:cNvPr id="17" name="Text 15"/>
          <p:cNvSpPr txBox="1"/>
          <p:nvPr/>
        </p:nvSpPr>
        <p:spPr>
          <a:xfrm>
            <a:off x="6644488" y="3703320"/>
            <a:ext cx="463280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D2D3E"/>
                </a:solidFill>
              </a:rPr>
              <a:t>Você só pode referenciar objetos SAP explicitamente marcados como APIs Públicas (whitelisted). Qualquer outra chamada resulta em erro de sintaxe.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6644488" y="5486400"/>
            <a:ext cx="1883664" cy="329184"/>
          </a:xfrm>
          <a:prstGeom prst="roundRect">
            <a:avLst>
              <a:gd name="adj" fmla="val 50000"/>
            </a:avLst>
          </a:prstGeom>
          <a:solidFill>
            <a:srgbClr val="EBF8FF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644488" y="5486400"/>
            <a:ext cx="18836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64D9"/>
                </a:solidFill>
              </a:rPr>
              <a:t>A Regra de Ouro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8665312" y="5486400"/>
            <a:ext cx="1675181" cy="329184"/>
          </a:xfrm>
          <a:prstGeom prst="roundRect">
            <a:avLst>
              <a:gd name="adj" fmla="val 50000"/>
            </a:avLst>
          </a:prstGeom>
          <a:solidFill>
            <a:srgbClr val="EBF8FF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8665312" y="5486400"/>
            <a:ext cx="167518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64D9"/>
                </a:solidFill>
              </a:rPr>
              <a:t>APIs Públicas</a:t>
            </a:r>
            <a:endParaRPr lang="en-US" sz="1200" dirty="0"/>
          </a:p>
        </p:txBody>
      </p:sp>
      <p:pic>
        <p:nvPicPr>
          <p:cNvPr id="2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3856" y="2185416"/>
            <a:ext cx="475488" cy="475488"/>
          </a:xfrm>
          <a:prstGeom prst="rect">
            <a:avLst/>
          </a:prstGeom>
        </p:spPr>
      </p:pic>
      <p:pic>
        <p:nvPicPr>
          <p:cNvPr id="2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63944" y="2185416"/>
            <a:ext cx="475488" cy="475488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070F2"/>
                </a:solidFill>
              </a:rPr>
              <a:t>A Regra de Ouro em Detalhes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D2D3E"/>
                </a:solidFill>
              </a:rPr>
              <a:t>O Contrato dos “Released Objects”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55448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D2D3E"/>
                </a:solidFill>
              </a:rPr>
              <a:t>Você não acessa mais a “sala de máquinas”. Você usa a “recepção” oficial.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822960" y="3520440"/>
            <a:ext cx="914400" cy="914400"/>
          </a:xfrm>
          <a:prstGeom prst="ellipse">
            <a:avLst>
              <a:gd name="adj" fmla="val 22000"/>
            </a:avLst>
          </a:prstGeom>
          <a:solidFill>
            <a:srgbClr val="EAECEE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48640" y="452628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Desenvolvedor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0" y="2286000"/>
            <a:ext cx="4206240" cy="3840480"/>
          </a:xfrm>
          <a:prstGeom prst="roundRect">
            <a:avLst>
              <a:gd name="adj" fmla="val 3333"/>
            </a:avLst>
          </a:prstGeom>
          <a:solidFill>
            <a:srgbClr val="EEF1F4"/>
          </a:solidFill>
          <a:ln w="12700">
            <a:solidFill>
              <a:srgbClr val="A9B4BE"/>
            </a:solidFill>
            <a:prstDash val="dash"/>
          </a:ln>
        </p:spPr>
      </p:sp>
      <p:sp>
        <p:nvSpPr>
          <p:cNvPr id="8" name="Text 6"/>
          <p:cNvSpPr txBox="1"/>
          <p:nvPr/>
        </p:nvSpPr>
        <p:spPr>
          <a:xfrm>
            <a:off x="5166360" y="242316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56B82"/>
                </a:solidFill>
              </a:rPr>
              <a:t>NÚCLEO SAP (PROTEGIDO)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983480" y="3063240"/>
            <a:ext cx="150876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9525">
            <a:solidFill>
              <a:srgbClr val="C4CCD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532120" y="3200400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396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MARA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858000" y="3063240"/>
            <a:ext cx="150876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9525">
            <a:solidFill>
              <a:srgbClr val="C4CCD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406640" y="3200400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396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BKPF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983480" y="4572000"/>
            <a:ext cx="150876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9525">
            <a:solidFill>
              <a:srgbClr val="C4CCD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532120" y="4709160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396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VBAK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858000" y="4572000"/>
            <a:ext cx="150876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9525">
            <a:solidFill>
              <a:srgbClr val="C4CCD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406640" y="4709160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396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9235440" y="2286000"/>
            <a:ext cx="0" cy="3840480"/>
          </a:xfrm>
          <a:prstGeom prst="line">
            <a:avLst/>
          </a:prstGeom>
          <a:noFill/>
          <a:ln w="38100">
            <a:solidFill>
              <a:srgbClr val="0070F2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372600" y="228600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64D9"/>
                </a:solidFill>
              </a:rPr>
              <a:t>CAMADA DE API PÚBLICA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8915400" y="4114800"/>
            <a:ext cx="2724912" cy="822960"/>
          </a:xfrm>
          <a:prstGeom prst="roundRect">
            <a:avLst>
              <a:gd name="adj" fmla="val 15556"/>
            </a:avLst>
          </a:prstGeom>
          <a:solidFill>
            <a:srgbClr val="FFFFFF"/>
          </a:solidFill>
          <a:ln w="9525">
            <a:solidFill>
              <a:srgbClr val="0070F2"/>
            </a:solidFill>
            <a:prstDash val="solid"/>
          </a:ln>
          <a:effectLst>
            <a:outerShdw sx="100000" sy="100000" kx="0" ky="0" algn="bl" rotWithShape="0" blurRad="76200" dist="19050" dir="5400000">
              <a:srgbClr val="1D2D3E">
                <a:alpha val="10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9646920" y="4114800"/>
            <a:ext cx="1920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I_Product</a:t>
            </a: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CDS View liberada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2148840" y="3703320"/>
            <a:ext cx="2743200" cy="0"/>
          </a:xfrm>
          <a:prstGeom prst="line">
            <a:avLst/>
          </a:prstGeom>
          <a:noFill/>
          <a:ln w="31750">
            <a:solidFill>
              <a:srgbClr val="D20A0A"/>
            </a:solidFill>
            <a:prstDash val="dash"/>
            <a:tailEnd type="triangle"/>
          </a:ln>
        </p:spPr>
      </p:sp>
      <p:sp>
        <p:nvSpPr>
          <p:cNvPr id="22" name="Text 20"/>
          <p:cNvSpPr txBox="1"/>
          <p:nvPr/>
        </p:nvSpPr>
        <p:spPr>
          <a:xfrm>
            <a:off x="2103120" y="30175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A0808"/>
                </a:solidFill>
              </a:rPr>
              <a:t>Acesso direto (proibido)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 flipH="1">
            <a:off x="2148840" y="4526280"/>
            <a:ext cx="6766560" cy="0"/>
          </a:xfrm>
          <a:prstGeom prst="line">
            <a:avLst/>
          </a:prstGeom>
          <a:noFill/>
          <a:ln w="38100">
            <a:solidFill>
              <a:srgbClr val="30914C"/>
            </a:solidFill>
            <a:prstDash val="solid"/>
            <a:tailEnd type="triangle"/>
          </a:ln>
        </p:spPr>
      </p:sp>
      <p:sp>
        <p:nvSpPr>
          <p:cNvPr id="24" name="Text 22"/>
          <p:cNvSpPr txBox="1"/>
          <p:nvPr/>
        </p:nvSpPr>
        <p:spPr>
          <a:xfrm>
            <a:off x="2011680" y="466344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56F3A"/>
                </a:solidFill>
              </a:rPr>
              <a:t>Acesso via API liberada (permitido e estável)</a:t>
            </a:r>
            <a:endParaRPr lang="en-US" sz="1300" dirty="0"/>
          </a:p>
        </p:txBody>
      </p:sp>
      <p:pic>
        <p:nvPicPr>
          <p:cNvPr id="2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2416" y="3739896"/>
            <a:ext cx="475488" cy="475488"/>
          </a:xfrm>
          <a:prstGeom prst="rect">
            <a:avLst/>
          </a:prstGeom>
        </p:spPr>
      </p:pic>
      <p:pic>
        <p:nvPicPr>
          <p:cNvPr id="2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0600" y="2468880"/>
            <a:ext cx="274320" cy="274320"/>
          </a:xfrm>
          <a:prstGeom prst="rect">
            <a:avLst/>
          </a:prstGeom>
        </p:spPr>
      </p:pic>
      <p:pic>
        <p:nvPicPr>
          <p:cNvPr id="2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66360" y="3246120"/>
            <a:ext cx="292608" cy="292608"/>
          </a:xfrm>
          <a:prstGeom prst="rect">
            <a:avLst/>
          </a:prstGeom>
        </p:spPr>
      </p:pic>
      <p:pic>
        <p:nvPicPr>
          <p:cNvPr id="2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66360" y="4754880"/>
            <a:ext cx="292608" cy="292608"/>
          </a:xfrm>
          <a:prstGeom prst="rect">
            <a:avLst/>
          </a:prstGeom>
        </p:spPr>
      </p:pic>
      <p:pic>
        <p:nvPicPr>
          <p:cNvPr id="2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40880" y="3246120"/>
            <a:ext cx="292608" cy="292608"/>
          </a:xfrm>
          <a:prstGeom prst="rect">
            <a:avLst/>
          </a:prstGeom>
        </p:spPr>
      </p:pic>
      <p:pic>
        <p:nvPicPr>
          <p:cNvPr id="3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40880" y="4754880"/>
            <a:ext cx="292608" cy="292608"/>
          </a:xfrm>
          <a:prstGeom prst="rect">
            <a:avLst/>
          </a:prstGeom>
        </p:spPr>
      </p:pic>
      <p:pic>
        <p:nvPicPr>
          <p:cNvPr id="31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098280" y="4297680"/>
            <a:ext cx="457200" cy="457200"/>
          </a:xfrm>
          <a:prstGeom prst="rect">
            <a:avLst/>
          </a:prstGeom>
        </p:spPr>
      </p:pic>
      <p:pic>
        <p:nvPicPr>
          <p:cNvPr id="32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971800" y="3520440"/>
            <a:ext cx="384048" cy="384048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070F2"/>
                </a:solidFill>
              </a:rPr>
              <a:t>A Nova Arquitetura de Código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D2D3E"/>
                </a:solidFill>
              </a:rPr>
              <a:t>Estrutura para Reuso e Desacoplamento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3108960" cy="868680"/>
          </a:xfrm>
          <a:prstGeom prst="roundRect">
            <a:avLst>
              <a:gd name="adj" fmla="val 12632"/>
            </a:avLst>
          </a:prstGeom>
          <a:solidFill>
            <a:srgbClr val="0070F2"/>
          </a:solidFill>
          <a:ln w="19050">
            <a:solidFill>
              <a:srgbClr val="0070F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691640"/>
            <a:ext cx="3108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Software Component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892040" y="1801368"/>
            <a:ext cx="640080" cy="64008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760720" y="1600200"/>
            <a:ext cx="588233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D2D3E"/>
                </a:solidFill>
              </a:rPr>
              <a:t>O contêiner de mais alto nível. Em ambientes de nuvem, é vinculado a um repositório Git, permitindo versionamento moderno.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777240" y="2606040"/>
            <a:ext cx="0" cy="896112"/>
          </a:xfrm>
          <a:prstGeom prst="line">
            <a:avLst/>
          </a:prstGeom>
          <a:noFill/>
          <a:ln w="25400">
            <a:solidFill>
              <a:srgbClr val="0070F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77240" y="3502152"/>
            <a:ext cx="182880" cy="0"/>
          </a:xfrm>
          <a:prstGeom prst="line">
            <a:avLst/>
          </a:prstGeom>
          <a:noFill/>
          <a:ln w="25400">
            <a:solidFill>
              <a:srgbClr val="0070F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60120" y="3200400"/>
            <a:ext cx="310896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9050">
            <a:solidFill>
              <a:srgbClr val="0070F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" y="3200400"/>
            <a:ext cx="3108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64D9"/>
                </a:solidFill>
              </a:rPr>
              <a:t>Package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4892040" y="3310128"/>
            <a:ext cx="640080" cy="64008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760720" y="3108960"/>
            <a:ext cx="588233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D2D3E"/>
                </a:solidFill>
              </a:rPr>
              <a:t>Atua como uma “pasta” com função vital de </a:t>
            </a:r>
            <a:r>
              <a:rPr lang="en-US" sz="1600" b="1" dirty="0">
                <a:solidFill>
                  <a:srgbClr val="1D2D3E"/>
                </a:solidFill>
              </a:rPr>
              <a:t>encapsulamento</a:t>
            </a:r>
            <a:r>
              <a:rPr lang="en-US" sz="1600" dirty="0">
                <a:solidFill>
                  <a:srgbClr val="1D2D3E"/>
                </a:solidFill>
              </a:rPr>
              <a:t>: define quais objetos são visíveis para outros pacotes por meio de uma “Package Interface”.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1188720" y="4114800"/>
            <a:ext cx="0" cy="896112"/>
          </a:xfrm>
          <a:prstGeom prst="line">
            <a:avLst/>
          </a:prstGeom>
          <a:noFill/>
          <a:ln w="25400">
            <a:solidFill>
              <a:srgbClr val="0070F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188720" y="5010912"/>
            <a:ext cx="182880" cy="0"/>
          </a:xfrm>
          <a:prstGeom prst="line">
            <a:avLst/>
          </a:prstGeom>
          <a:noFill/>
          <a:ln w="25400">
            <a:solidFill>
              <a:srgbClr val="0070F2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371600" y="4709160"/>
            <a:ext cx="310896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9050">
            <a:solidFill>
              <a:srgbClr val="0070F2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371600" y="4709160"/>
            <a:ext cx="3108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64D9"/>
                </a:solidFill>
              </a:rPr>
              <a:t>Objects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4892040" y="4818888"/>
            <a:ext cx="640080" cy="64008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5760720" y="4617720"/>
            <a:ext cx="588233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D2D3E"/>
                </a:solidFill>
              </a:rPr>
              <a:t>Classes, tabelas, CDS Views etc. Todo objeto deve pertencer a um pacote. Objetos locais (</a:t>
            </a:r>
            <a:r>
              <a:rPr lang="en-US" sz="16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$TMP</a:t>
            </a:r>
            <a:r>
              <a:rPr lang="en-US" sz="1600" dirty="0">
                <a:solidFill>
                  <a:srgbClr val="1D2D3E"/>
                </a:solidFill>
              </a:rPr>
              <a:t>) não são transportáveis.</a:t>
            </a:r>
            <a:endParaRPr lang="en-US" sz="1600" dirty="0"/>
          </a:p>
        </p:txBody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45659" y="3463747"/>
            <a:ext cx="332842" cy="332842"/>
          </a:xfrm>
          <a:prstGeom prst="rect">
            <a:avLst/>
          </a:prstGeom>
        </p:spPr>
      </p:pic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5659" y="4972507"/>
            <a:ext cx="332842" cy="332842"/>
          </a:xfrm>
          <a:prstGeom prst="rect">
            <a:avLst/>
          </a:prstGeom>
        </p:spPr>
      </p:pic>
      <p:pic>
        <p:nvPicPr>
          <p:cNvPr id="2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45659" y="1954987"/>
            <a:ext cx="332842" cy="33284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070F2"/>
                </a:solidFill>
              </a:rPr>
              <a:t>Seu Primeiro Programa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D2D3E"/>
                </a:solidFill>
              </a:rPr>
              <a:t>Adeus, REPORT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4206240" cy="2011680"/>
          </a:xfrm>
          <a:prstGeom prst="roundRect">
            <a:avLst>
              <a:gd name="adj" fmla="val 6364"/>
            </a:avLst>
          </a:prstGeom>
          <a:solidFill>
            <a:srgbClr val="FFEAF4"/>
          </a:solidFill>
          <a:ln w="9525">
            <a:solidFill>
              <a:srgbClr val="F5B8C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691640"/>
            <a:ext cx="42062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strike="sngStrike" dirty="0">
                <a:solidFill>
                  <a:srgbClr val="8396A8"/>
                </a:solidFill>
              </a:rPr>
              <a:t>REPORT</a:t>
            </a:r>
            <a:endParaRPr lang="en-US" sz="6000" dirty="0"/>
          </a:p>
        </p:txBody>
      </p:sp>
      <p:sp>
        <p:nvSpPr>
          <p:cNvPr id="6" name="Shape 4"/>
          <p:cNvSpPr/>
          <p:nvPr/>
        </p:nvSpPr>
        <p:spPr>
          <a:xfrm>
            <a:off x="4983480" y="2468880"/>
            <a:ext cx="731520" cy="457200"/>
          </a:xfrm>
          <a:prstGeom prst="rightArrow">
            <a:avLst/>
          </a:prstGeom>
          <a:solidFill>
            <a:srgbClr val="0070F2"/>
          </a:solidFill>
          <a:ln/>
        </p:spPr>
      </p:sp>
      <p:sp>
        <p:nvSpPr>
          <p:cNvPr id="7" name="Shape 5"/>
          <p:cNvSpPr/>
          <p:nvPr/>
        </p:nvSpPr>
        <p:spPr>
          <a:xfrm>
            <a:off x="5943600" y="1691640"/>
            <a:ext cx="5699455" cy="201168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  <a:effectLst>
            <a:outerShdw sx="100000" sy="100000" kx="0" ky="0" algn="bl" rotWithShape="0" blurRad="76200" dist="19050" dir="5400000">
              <a:srgbClr val="1D2D3E">
                <a:alpha val="10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6172200" y="1856232"/>
            <a:ext cx="5242255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6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</a:t>
            </a:r>
            <a:r>
              <a:rPr lang="en-US" sz="16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6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zcl_hello_world</a:t>
            </a:r>
            <a:r>
              <a:rPr lang="en-US" sz="16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6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DEFINITION</a:t>
            </a:r>
            <a:endParaRPr lang="en-US" sz="16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6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6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</a:t>
            </a:r>
            <a:r>
              <a:rPr lang="en-US" sz="16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6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FINAL</a:t>
            </a:r>
            <a:r>
              <a:rPr lang="en-US" sz="16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6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</a:t>
            </a:r>
            <a:r>
              <a:rPr lang="en-US" sz="16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6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</a:t>
            </a:r>
            <a:r>
              <a:rPr lang="en-US" sz="16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6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6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6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</a:t>
            </a:r>
            <a:r>
              <a:rPr lang="en-US" sz="16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6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SECTION</a:t>
            </a:r>
            <a:r>
              <a:rPr lang="en-US" sz="16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6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6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16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INTERFACES</a:t>
            </a:r>
            <a:r>
              <a:rPr lang="en-US" sz="16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6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if_oo_adt_classrun</a:t>
            </a:r>
            <a:r>
              <a:rPr lang="en-US" sz="16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48640" y="411480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325880" y="4096512"/>
            <a:ext cx="1031717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D2D3E"/>
                </a:solidFill>
              </a:rPr>
              <a:t>UI separada do backend</a:t>
            </a:r>
            <a:endParaRPr lang="en-US" sz="1600" dirty="0"/>
          </a:p>
          <a:p>
            <a:pPr indent="0" marL="0">
              <a:buNone/>
            </a:pPr>
            <a:r>
              <a:rPr lang="en-US" sz="1500" dirty="0">
                <a:solidFill>
                  <a:srgbClr val="556B82"/>
                </a:solidFill>
              </a:rPr>
              <a:t>No ABAP Cloud, a lógica de apresentação (UI) é totalmente separada da lógica de backend.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548640" y="512064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325880" y="5102352"/>
            <a:ext cx="1031717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D2D3E"/>
                </a:solidFill>
              </a:rPr>
              <a:t>Classe executável</a:t>
            </a:r>
            <a:endParaRPr lang="en-US" sz="1600" dirty="0"/>
          </a:p>
          <a:p>
            <a:pPr indent="0" marL="0">
              <a:buNone/>
            </a:pPr>
            <a:r>
              <a:rPr lang="en-US" sz="1500" dirty="0">
                <a:solidFill>
                  <a:srgbClr val="556B82"/>
                </a:solidFill>
              </a:rPr>
              <a:t>Para testar a lógica, usamos uma </a:t>
            </a:r>
            <a:r>
              <a:rPr lang="en-US" sz="1500" b="1" dirty="0">
                <a:solidFill>
                  <a:srgbClr val="556B82"/>
                </a:solidFill>
              </a:rPr>
              <a:t>Classe ABAP Global</a:t>
            </a:r>
            <a:r>
              <a:rPr lang="en-US" sz="1500" dirty="0">
                <a:solidFill>
                  <a:srgbClr val="556B82"/>
                </a:solidFill>
              </a:rPr>
              <a:t> que implementa a interface </a:t>
            </a:r>
            <a:r>
              <a:rPr lang="en-US" sz="15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if_oo_adt_classrun</a:t>
            </a:r>
            <a:r>
              <a:rPr lang="en-US" sz="1500" dirty="0">
                <a:solidFill>
                  <a:srgbClr val="556B82"/>
                </a:solidFill>
              </a:rPr>
              <a:t> — o ‘contrato’ que torna a classe executável.</a:t>
            </a:r>
            <a:endParaRPr lang="en-US" sz="1600" dirty="0"/>
          </a:p>
        </p:txBody>
      </p:sp>
      <p:pic>
        <p:nvPicPr>
          <p:cNvPr id="1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0314" y="4246474"/>
            <a:ext cx="285293" cy="285293"/>
          </a:xfrm>
          <a:prstGeom prst="rect">
            <a:avLst/>
          </a:prstGeom>
        </p:spPr>
      </p:pic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0314" y="5252314"/>
            <a:ext cx="285293" cy="285293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070F2"/>
                </a:solidFill>
              </a:rPr>
              <a:t>Hello World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D2D3E"/>
                </a:solidFill>
              </a:rPr>
              <a:t>Anatomia do ‘Hello World’ Moderno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7086600" cy="4572000"/>
          </a:xfrm>
          <a:prstGeom prst="roundRect">
            <a:avLst>
              <a:gd name="adj" fmla="val 2800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  <a:effectLst>
            <a:outerShdw sx="100000" sy="100000" kx="0" ky="0" algn="bl" rotWithShape="0" blurRad="76200" dist="19050" dir="5400000">
              <a:srgbClr val="1D2D3E">
                <a:alpha val="10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77240" y="1764792"/>
            <a:ext cx="6629400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2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zcl_hello_world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2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DEFINITION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2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2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FINAL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2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2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2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2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2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SECTION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2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12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INTERFACES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if_oo_adt_classrun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</a:t>
            </a:r>
            <a:r>
              <a:rPr lang="en-US" sz="1200" i="1" dirty="0">
                <a:solidFill>
                  <a:srgbClr val="6A7B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&lt;- 1</a:t>
            </a:r>
            <a:endParaRPr lang="en-US" sz="12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2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ENDCLASS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2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2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2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zcl_hello_world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2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IMPLEMENTATION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2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2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METHOD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if_oo_adt_classrun~main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2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out-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write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200" dirty="0">
                <a:solidFill>
                  <a:srgbClr val="256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'Hello World! Bem-vindo ao ABAP Moderno.'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200" i="1" dirty="0">
                <a:solidFill>
                  <a:srgbClr val="6A7B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&lt;- 2</a:t>
            </a:r>
            <a:endParaRPr lang="en-US" sz="12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2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12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lv_date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cl_abap_context_info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get_system_date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200" i="1" dirty="0">
                <a:solidFill>
                  <a:srgbClr val="6A7B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&lt;- 3</a:t>
            </a:r>
            <a:endParaRPr lang="en-US" sz="12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2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out-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write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200" dirty="0">
                <a:solidFill>
                  <a:srgbClr val="256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|Hoje no servidor: { lv_date DATE = ISO }|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200" i="1" dirty="0">
                <a:solidFill>
                  <a:srgbClr val="6A7B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&lt;- 4</a:t>
            </a:r>
            <a:endParaRPr lang="en-US" sz="12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2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ENDMETHOD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2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2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ENDCLASS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7863840" y="1600200"/>
            <a:ext cx="3779215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028432" y="1938528"/>
            <a:ext cx="329184" cy="329184"/>
          </a:xfrm>
          <a:prstGeom prst="ellipse">
            <a:avLst/>
          </a:prstGeom>
          <a:solidFill>
            <a:srgbClr val="0070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028432" y="193852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8503920" y="1600200"/>
            <a:ext cx="300197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D2D3E"/>
                </a:solidFill>
              </a:rPr>
              <a:t>O </a:t>
            </a:r>
            <a:r>
              <a:rPr lang="en-US" sz="1400" b="1" dirty="0">
                <a:solidFill>
                  <a:srgbClr val="1D2D3E"/>
                </a:solidFill>
              </a:rPr>
              <a:t>contrato</a:t>
            </a:r>
            <a:r>
              <a:rPr lang="en-US" sz="1400" dirty="0">
                <a:solidFill>
                  <a:srgbClr val="1D2D3E"/>
                </a:solidFill>
              </a:rPr>
              <a:t> que torna a classe executável via console com </a:t>
            </a:r>
            <a:r>
              <a:rPr lang="en-US" sz="1400" b="1" dirty="0">
                <a:solidFill>
                  <a:srgbClr val="1D2D3E"/>
                </a:solidFill>
              </a:rPr>
              <a:t>F9</a:t>
            </a:r>
            <a:r>
              <a:rPr lang="en-US" sz="1400" dirty="0">
                <a:solidFill>
                  <a:srgbClr val="1D2D3E"/>
                </a:solidFill>
              </a:rPr>
              <a:t>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7863840" y="2788920"/>
            <a:ext cx="3779215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028432" y="3127248"/>
            <a:ext cx="329184" cy="329184"/>
          </a:xfrm>
          <a:prstGeom prst="ellipse">
            <a:avLst/>
          </a:prstGeom>
          <a:solidFill>
            <a:srgbClr val="0070F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028432" y="31272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8503920" y="2788920"/>
            <a:ext cx="300197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D2D3E"/>
                </a:solidFill>
              </a:rPr>
              <a:t>O novo ‘WRITE’: envia a saída para a aba </a:t>
            </a:r>
            <a:r>
              <a:rPr lang="en-US" sz="1400" b="1" dirty="0">
                <a:solidFill>
                  <a:srgbClr val="1D2D3E"/>
                </a:solidFill>
              </a:rPr>
              <a:t>Console</a:t>
            </a:r>
            <a:r>
              <a:rPr lang="en-US" sz="1400" dirty="0">
                <a:solidFill>
                  <a:srgbClr val="1D2D3E"/>
                </a:solidFill>
              </a:rPr>
              <a:t> do Eclipse.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7863840" y="3977640"/>
            <a:ext cx="3779215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028432" y="4315968"/>
            <a:ext cx="329184" cy="329184"/>
          </a:xfrm>
          <a:prstGeom prst="ellipse">
            <a:avLst/>
          </a:prstGeom>
          <a:solidFill>
            <a:srgbClr val="0070F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028432" y="431596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8503920" y="3977640"/>
            <a:ext cx="300197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D2D3E"/>
                </a:solidFill>
              </a:rPr>
              <a:t>API pública (</a:t>
            </a:r>
            <a:r>
              <a:rPr lang="en-US" sz="1400" b="1" dirty="0">
                <a:solidFill>
                  <a:srgbClr val="1D2D3E"/>
                </a:solidFill>
              </a:rPr>
              <a:t>Released Object</a:t>
            </a:r>
            <a:r>
              <a:rPr lang="en-US" sz="1400" dirty="0">
                <a:solidFill>
                  <a:srgbClr val="1D2D3E"/>
                </a:solidFill>
              </a:rPr>
              <a:t>) para dados do sistema, no lugar de </a:t>
            </a:r>
            <a:r>
              <a:rPr lang="en-US" sz="14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sy-datum</a:t>
            </a:r>
            <a:r>
              <a:rPr lang="en-US" sz="1400" dirty="0">
                <a:solidFill>
                  <a:srgbClr val="1D2D3E"/>
                </a:solidFill>
              </a:rPr>
              <a:t>.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7863840" y="5166360"/>
            <a:ext cx="3779215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028432" y="5504688"/>
            <a:ext cx="329184" cy="329184"/>
          </a:xfrm>
          <a:prstGeom prst="ellipse">
            <a:avLst/>
          </a:prstGeom>
          <a:solidFill>
            <a:srgbClr val="0070F2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028432" y="55046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4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8503920" y="5166360"/>
            <a:ext cx="300197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D2D3E"/>
                </a:solidFill>
              </a:rPr>
              <a:t>Sintaxe moderna de concatenação: </a:t>
            </a:r>
            <a:r>
              <a:rPr lang="en-US" sz="1400" b="1" dirty="0">
                <a:solidFill>
                  <a:srgbClr val="1D2D3E"/>
                </a:solidFill>
              </a:rPr>
              <a:t>String Templates</a:t>
            </a:r>
            <a:r>
              <a:rPr lang="en-US" sz="1400" dirty="0">
                <a:solidFill>
                  <a:srgbClr val="1D2D3E"/>
                </a:solidFill>
              </a:rPr>
              <a:t>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070F2"/>
                </a:solidFill>
              </a:rPr>
              <a:t>A Transformação em Resumo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D2D3E"/>
                </a:solidFill>
              </a:rPr>
              <a:t>Clássico vs. Moderno</a:t>
            </a:r>
            <a:endParaRPr lang="en-US" sz="30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3840480"/>
                <a:gridCol w="4507992"/>
              </a:tblGrid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556B82"/>
                          </a:solidFill>
                        </a:rPr>
                        <a:t>Recurso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556B82"/>
                          </a:solidFill>
                        </a:rPr>
                        <a:t>ABAP Clássico (Legacy)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556B82"/>
                          </a:solidFill>
                        </a:rPr>
                        <a:t>ABAP Moderno (Cloud)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D2D3E"/>
                          </a:solidFill>
                        </a:rPr>
                        <a:t>IDE Principal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556B82"/>
                          </a:solidFill>
                        </a:rPr>
                        <a:t>SAP GUI (SE80, SE38)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D2D3E"/>
                          </a:solidFill>
                        </a:rPr>
                        <a:t>Eclipse com ADT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D2D3E"/>
                          </a:solidFill>
                        </a:rPr>
                        <a:t>Saída de Texto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556B82"/>
                          </a:solidFill>
                        </a:rPr>
                        <a:t>Comando </a:t>
                      </a:r>
                      <a:r>
                        <a:rPr lang="en-US" sz="1500" dirty="0">
                          <a:solidFill>
                            <a:srgbClr val="0064D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WRITE 'Texto'.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D2D3E"/>
                          </a:solidFill>
                        </a:rPr>
                        <a:t>Método </a:t>
                      </a:r>
                      <a:r>
                        <a:rPr lang="en-US" sz="1500" dirty="0">
                          <a:solidFill>
                            <a:srgbClr val="0064D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out-&gt;write( 'Texto' ).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D2D3E"/>
                          </a:solidFill>
                        </a:rPr>
                        <a:t>Tipo de Programa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556B82"/>
                          </a:solidFill>
                        </a:rPr>
                        <a:t>Report (</a:t>
                      </a:r>
                      <a:r>
                        <a:rPr lang="en-US" sz="1500" dirty="0">
                          <a:solidFill>
                            <a:srgbClr val="0064D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REPORT z...</a:t>
                      </a:r>
                      <a:r>
                        <a:rPr lang="en-US" sz="1500" dirty="0">
                          <a:solidFill>
                            <a:srgbClr val="556B82"/>
                          </a:solidFill>
                        </a:rPr>
                        <a:t>)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D2D3E"/>
                          </a:solidFill>
                        </a:rPr>
                        <a:t>Classe Global com </a:t>
                      </a:r>
                      <a:r>
                        <a:rPr lang="en-US" sz="1500" dirty="0">
                          <a:solidFill>
                            <a:srgbClr val="0064D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if_oo_adt_classrun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D2D3E"/>
                          </a:solidFill>
                        </a:rPr>
                        <a:t>Leitura de Dados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0064D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SELECT * FROM tabela_sap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0064D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SELECT * FROM cds_view_liberada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D2D3E"/>
                          </a:solidFill>
                        </a:rPr>
                        <a:t>Telas (UI)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556B82"/>
                          </a:solidFill>
                        </a:rPr>
                        <a:t>Dynpro / Web Dynpro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D2D3E"/>
                          </a:solidFill>
                        </a:rPr>
                        <a:t>SAP Fiori (UI5 / Fiori Elements)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D2D3E"/>
                          </a:solidFill>
                        </a:rPr>
                        <a:t>Variáveis de Sistema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0064D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sy-datum</a:t>
                      </a:r>
                      <a:r>
                        <a:rPr lang="en-US" sz="1500" dirty="0">
                          <a:solidFill>
                            <a:srgbClr val="556B82"/>
                          </a:solidFill>
                        </a:rPr>
                        <a:t>, </a:t>
                      </a:r>
                      <a:r>
                        <a:rPr lang="en-US" sz="1500" dirty="0">
                          <a:solidFill>
                            <a:srgbClr val="0064D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sy-uname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D2D3E"/>
                          </a:solidFill>
                        </a:rPr>
                        <a:t>Classes de API como </a:t>
                      </a:r>
                      <a:r>
                        <a:rPr lang="en-US" sz="1500" dirty="0">
                          <a:solidFill>
                            <a:srgbClr val="0064D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cl_abap_context_info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070F2"/>
                </a:solidFill>
              </a:rPr>
              <a:t>Glossário Essencial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D2D3E"/>
                </a:solidFill>
              </a:rPr>
              <a:t>A Nova Linguagem do Desenvolvedor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325880" y="1581912"/>
            <a:ext cx="103171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D2D3E"/>
                </a:solidFill>
              </a:rPr>
              <a:t>ADT (ABAP Development Tools)</a:t>
            </a:r>
            <a:endParaRPr lang="en-US" sz="1600" dirty="0"/>
          </a:p>
          <a:p>
            <a:pPr indent="0" marL="0">
              <a:buNone/>
            </a:pPr>
            <a:r>
              <a:rPr lang="en-US" sz="1500" dirty="0">
                <a:solidFill>
                  <a:srgbClr val="556B82"/>
                </a:solidFill>
              </a:rPr>
              <a:t>IDE baseada em Eclipse, mandatória para o desenvolvimento ABAP moderno (RAP, CDS, Cloud).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48640" y="251460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325880" y="2496312"/>
            <a:ext cx="103171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D2D3E"/>
                </a:solidFill>
              </a:rPr>
              <a:t>ABAP Cloud</a:t>
            </a:r>
            <a:endParaRPr lang="en-US" sz="1600" dirty="0"/>
          </a:p>
          <a:p>
            <a:pPr indent="0" marL="0">
              <a:buNone/>
            </a:pPr>
            <a:r>
              <a:rPr lang="en-US" sz="1500" dirty="0">
                <a:solidFill>
                  <a:srgbClr val="556B82"/>
                </a:solidFill>
              </a:rPr>
              <a:t>Modelo de desenvolvimento restrito focado em ‘Clean Core’, que proíbe acesso direto ao sistema e obriga o uso de APIs liberadas.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548640" y="342900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325880" y="3410712"/>
            <a:ext cx="103171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D2D3E"/>
                </a:solidFill>
              </a:rPr>
              <a:t>Clean Core</a:t>
            </a:r>
            <a:endParaRPr lang="en-US" sz="1600" dirty="0"/>
          </a:p>
          <a:p>
            <a:pPr indent="0" marL="0">
              <a:buNone/>
            </a:pPr>
            <a:r>
              <a:rPr lang="en-US" sz="1500" dirty="0">
                <a:solidFill>
                  <a:srgbClr val="556B82"/>
                </a:solidFill>
              </a:rPr>
              <a:t>Estratégia arquitetural para manter o núcleo do ERP livre de modificações, garantindo upgrades seguros.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548640" y="434340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1325880" y="4325112"/>
            <a:ext cx="103171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D2D3E"/>
                </a:solidFill>
              </a:rPr>
              <a:t>Released Object</a:t>
            </a:r>
            <a:endParaRPr lang="en-US" sz="1600" dirty="0"/>
          </a:p>
          <a:p>
            <a:pPr indent="0" marL="0">
              <a:buNone/>
            </a:pPr>
            <a:r>
              <a:rPr lang="en-US" sz="1500" dirty="0">
                <a:solidFill>
                  <a:srgbClr val="556B82"/>
                </a:solidFill>
              </a:rPr>
              <a:t>Artefato SAP (classe, CDS) marcado com um contrato de estabilidade. Apenas estes podem ser usados no ABAP Cloud.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548640" y="525780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1325880" y="5239512"/>
            <a:ext cx="103171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D2D3E"/>
                </a:solidFill>
              </a:rPr>
              <a:t>abapGit</a:t>
            </a:r>
            <a:endParaRPr lang="en-US" sz="1600" dirty="0"/>
          </a:p>
          <a:p>
            <a:pPr indent="0" marL="0">
              <a:buNone/>
            </a:pPr>
            <a:r>
              <a:rPr lang="en-US" sz="1500" dirty="0">
                <a:solidFill>
                  <a:srgbClr val="556B82"/>
                </a:solidFill>
              </a:rPr>
              <a:t>Cliente Git para ABAP, essencial para versionamento de código e transporte em ambientes de nuvem e BTP.</a:t>
            </a:r>
            <a:endParaRPr lang="en-US" sz="1600" dirty="0"/>
          </a:p>
        </p:txBody>
      </p:sp>
      <p:pic>
        <p:nvPicPr>
          <p:cNvPr id="1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0314" y="1731874"/>
            <a:ext cx="285293" cy="285293"/>
          </a:xfrm>
          <a:prstGeom prst="rect">
            <a:avLst/>
          </a:prstGeom>
        </p:spPr>
      </p:pic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0314" y="2646274"/>
            <a:ext cx="285293" cy="285293"/>
          </a:xfrm>
          <a:prstGeom prst="rect">
            <a:avLst/>
          </a:prstGeom>
        </p:spPr>
      </p:pic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314" y="3560674"/>
            <a:ext cx="285293" cy="285293"/>
          </a:xfrm>
          <a:prstGeom prst="rect">
            <a:avLst/>
          </a:prstGeom>
        </p:spPr>
      </p:pic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0314" y="4475074"/>
            <a:ext cx="285293" cy="285293"/>
          </a:xfrm>
          <a:prstGeom prst="rect">
            <a:avLst/>
          </a:prstGeom>
        </p:spPr>
      </p:pic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0314" y="5389474"/>
            <a:ext cx="285293" cy="285293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48640" y="50292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4DB1FF"/>
                </a:solidFill>
              </a:rPr>
              <a:t>Conclusão</a:t>
            </a:r>
            <a:endParaRPr lang="en-US" sz="1400" dirty="0"/>
          </a:p>
        </p:txBody>
      </p:sp>
      <p:sp>
        <p:nvSpPr>
          <p:cNvPr id="3" name="Text 0"/>
          <p:cNvSpPr/>
          <p:nvPr>
            <p:ph idx="102" type="title" hasCustomPrompt="1"/>
          </p:nvPr>
        </p:nvSpPr>
        <p:spPr>
          <a:xfrm>
            <a:off x="548640" y="86868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</a:rPr>
              <a:t>O Fim desta Jornada… e o Início da Próxima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1488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dirty="0">
                <a:solidFill>
                  <a:srgbClr val="FFFFFF"/>
                </a:solidFill>
              </a:rPr>
              <a:t>Você não está apenas aprendendo uma nova sintaxe.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92608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dirty="0">
                <a:solidFill>
                  <a:srgbClr val="4DB1FF"/>
                </a:solidFill>
              </a:rPr>
              <a:t>Você está adotando a </a:t>
            </a:r>
            <a:r>
              <a:rPr lang="en-US" sz="3400" b="1" dirty="0">
                <a:solidFill>
                  <a:srgbClr val="4DB1FF"/>
                </a:solidFill>
              </a:rPr>
              <a:t>arquitetura do futuro</a:t>
            </a:r>
            <a:r>
              <a:rPr lang="en-US" sz="3400" dirty="0">
                <a:solidFill>
                  <a:srgbClr val="4DB1FF"/>
                </a:solidFill>
              </a:rPr>
              <a:t>.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434340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C9D3DE"/>
                </a:solidFill>
              </a:rPr>
              <a:t>Dominar o paradigma do ABAP Cloud é o que separa o desenvolvedor de hoje do arquiteto de soluções de amanhã.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8396A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AP Horizon">
  <a:themeElements>
    <a:clrScheme name="SAP Horizon">
      <a:dk1>
        <a:srgbClr val="1D2D3E"/>
      </a:dk1>
      <a:lt1>
        <a:srgbClr val="FFFFFF"/>
      </a:lt1>
      <a:dk2>
        <a:srgbClr val="556B82"/>
      </a:dk2>
      <a:lt2>
        <a:srgbClr val="F5F6F7"/>
      </a:lt2>
      <a:accent1>
        <a:srgbClr val="0070F2"/>
      </a:accent1>
      <a:accent2>
        <a:srgbClr val="30914C"/>
      </a:accent2>
      <a:accent3>
        <a:srgbClr val="E76500"/>
      </a:accent3>
      <a:accent4>
        <a:srgbClr val="D20A0A"/>
      </a:accent4>
      <a:accent5>
        <a:srgbClr val="7858FF"/>
      </a:accent5>
      <a:accent6>
        <a:srgbClr val="07838F"/>
      </a:accent6>
      <a:hlink>
        <a:srgbClr val="0064D9"/>
      </a:hlink>
      <a:folHlink>
        <a:srgbClr val="5D36FF"/>
      </a:folHlink>
    </a:clrScheme>
    <a:fontScheme name="SAP Horizon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Iniciando a Jornada: O Paradigma do ABAP Moderno</dc:title>
  <dc:subject>ABAP Moderno – Módulo 01</dc:subject>
  <dc:creator>Adriano Bispo</dc:creator>
  <cp:lastModifiedBy>Adriano Bispo</cp:lastModifiedBy>
  <cp:revision>1</cp:revision>
  <dcterms:created xsi:type="dcterms:W3CDTF">2026-10-25T03:30:15Z</dcterms:created>
  <dcterms:modified xsi:type="dcterms:W3CDTF">2026-10-25T03:30:15Z</dcterms:modified>
</cp:coreProperties>
</file>