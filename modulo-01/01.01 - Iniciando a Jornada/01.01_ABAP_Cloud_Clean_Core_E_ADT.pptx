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01 — Fundamentos do ABAP Moderno  ·  Aula 1 de 8 — Iniciando a jornada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01 — Fundamentos do ABAP Moderno  ·  Aula 1 de 8 — Iniciando a jornada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01 · AULA 01 DE 08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Iniciando a jornada no ABAP moderno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O ambiente ADT, o modelo ABAP Cloud, a organização do software e o primeiro programa, com o Joule ao lado.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89D1FF"/>
          </a:solidFill>
          <a:ln/>
        </p:spPr>
      </p:sp>
      <p:sp>
        <p:nvSpPr>
          <p:cNvPr id="8" name="Shape 6"/>
          <p:cNvSpPr/>
          <p:nvPr/>
        </p:nvSpPr>
        <p:spPr>
          <a:xfrm>
            <a:off x="860107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901827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0" name="Shape 8"/>
          <p:cNvSpPr/>
          <p:nvPr/>
        </p:nvSpPr>
        <p:spPr>
          <a:xfrm>
            <a:off x="943546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985266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6985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8705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4" name="Shape 12"/>
          <p:cNvSpPr/>
          <p:nvPr/>
        </p:nvSpPr>
        <p:spPr>
          <a:xfrm>
            <a:off x="1110424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Aula 1 de 8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01 — Fundamentos do ABAP Moderno · Design System SAP Horizon</a:t>
            </a:r>
            <a:endParaRPr lang="en-US" sz="11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Módulo 01 em 8 aulas: Fundamentos do ABAP Moderno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Iniciando a jornada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ADT, ABAP Cloud, pacotes e o primeiro programa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188720" y="189280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88720" y="1892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Você está aqui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67964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32556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3255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4" name="Text 12"/>
          <p:cNvSpPr txBox="1"/>
          <p:nvPr/>
        </p:nvSpPr>
        <p:spPr>
          <a:xfrm>
            <a:off x="3532556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Técnicas básicas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532556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Dados, expressões, controle de fluxo e debugger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87288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188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518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3</a:t>
            </a:r>
            <a:endParaRPr lang="en-US" sz="1260" dirty="0"/>
          </a:p>
        </p:txBody>
      </p:sp>
      <p:sp>
        <p:nvSpPr>
          <p:cNvPr id="19" name="Text 17"/>
          <p:cNvSpPr txBox="1"/>
          <p:nvPr/>
        </p:nvSpPr>
        <p:spPr>
          <a:xfrm>
            <a:off x="6351880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Classes locais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351880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Definição, instâncias, métodos e encapsulamento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06611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71203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71203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4" name="Text 22"/>
          <p:cNvSpPr txBox="1"/>
          <p:nvPr/>
        </p:nvSpPr>
        <p:spPr>
          <a:xfrm>
            <a:off x="9171203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Lendo dados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9171203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SELECT moderno, host variables e CDS views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3232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1323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5</a:t>
            </a:r>
            <a:endParaRPr lang="en-US" sz="1260" dirty="0"/>
          </a:p>
        </p:txBody>
      </p:sp>
      <p:sp>
        <p:nvSpPr>
          <p:cNvPr id="29" name="Text 27"/>
          <p:cNvSpPr txBox="1"/>
          <p:nvPr/>
        </p:nvSpPr>
        <p:spPr>
          <a:xfrm>
            <a:off x="713232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Dados estruturados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713232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Estruturas, CORRESPONDING e tipos profundos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67964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532556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532556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6</a:t>
            </a:r>
            <a:endParaRPr lang="en-US" sz="1260" dirty="0"/>
          </a:p>
        </p:txBody>
      </p:sp>
      <p:sp>
        <p:nvSpPr>
          <p:cNvPr id="34" name="Text 32"/>
          <p:cNvSpPr txBox="1"/>
          <p:nvPr/>
        </p:nvSpPr>
        <p:spPr>
          <a:xfrm>
            <a:off x="3532556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Tabelas internas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3532556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Tipos de tabela, chaves e expressões de tabela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87288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5188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35188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7</a:t>
            </a:r>
            <a:endParaRPr lang="en-US" sz="1260" dirty="0"/>
          </a:p>
        </p:txBody>
      </p:sp>
      <p:sp>
        <p:nvSpPr>
          <p:cNvPr id="39" name="Text 37"/>
          <p:cNvSpPr txBox="1"/>
          <p:nvPr/>
        </p:nvSpPr>
        <p:spPr>
          <a:xfrm>
            <a:off x="6351880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Business Objects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6351880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EML: ler, criar e alterar via RAP BO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006611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171203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171203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8</a:t>
            </a:r>
            <a:endParaRPr lang="en-US" sz="1260" dirty="0"/>
          </a:p>
        </p:txBody>
      </p:sp>
      <p:sp>
        <p:nvSpPr>
          <p:cNvPr id="44" name="Text 42"/>
          <p:cNvSpPr txBox="1"/>
          <p:nvPr/>
        </p:nvSpPr>
        <p:spPr>
          <a:xfrm>
            <a:off x="9171203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Modelo RAP</a:t>
            </a:r>
            <a:endParaRPr lang="en-US" sz="1350" dirty="0"/>
          </a:p>
        </p:txBody>
      </p:sp>
      <p:sp>
        <p:nvSpPr>
          <p:cNvPr id="45" name="Text 43"/>
          <p:cNvSpPr txBox="1"/>
          <p:nvPr/>
        </p:nvSpPr>
        <p:spPr>
          <a:xfrm>
            <a:off x="9171203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Camadas, managed x unmanaged e o ciclo completo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preparamos o ambiente, entendemos as regras do ABAP Cloud e executamos a primeira classe no console do Eclipse.</a:t>
            </a:r>
            <a:endParaRPr lang="en-US" sz="1400" dirty="0"/>
          </a:p>
        </p:txBody>
      </p:sp>
      <p:pic>
        <p:nvPicPr>
          <p:cNvPr id="4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6444" y="1847088"/>
            <a:ext cx="347472" cy="347472"/>
          </a:xfrm>
          <a:prstGeom prst="rect">
            <a:avLst/>
          </a:prstGeom>
        </p:spPr>
      </p:pic>
      <p:pic>
        <p:nvPicPr>
          <p:cNvPr id="4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768" y="1847088"/>
            <a:ext cx="347472" cy="347472"/>
          </a:xfrm>
          <a:prstGeom prst="rect">
            <a:avLst/>
          </a:prstGeom>
        </p:spPr>
      </p:pic>
      <p:pic>
        <p:nvPicPr>
          <p:cNvPr id="5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091" y="1847088"/>
            <a:ext cx="347472" cy="347472"/>
          </a:xfrm>
          <a:prstGeom prst="rect">
            <a:avLst/>
          </a:prstGeom>
        </p:spPr>
      </p:pic>
      <p:pic>
        <p:nvPicPr>
          <p:cNvPr id="5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5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6444" y="3858768"/>
            <a:ext cx="347472" cy="347472"/>
          </a:xfrm>
          <a:prstGeom prst="rect">
            <a:avLst/>
          </a:prstGeom>
        </p:spPr>
      </p:pic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5768" y="3858768"/>
            <a:ext cx="347472" cy="347472"/>
          </a:xfrm>
          <a:prstGeom prst="rect">
            <a:avLst/>
          </a:prstGeom>
        </p:spPr>
      </p:pic>
      <p:pic>
        <p:nvPicPr>
          <p:cNvPr id="5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091" y="3858768"/>
            <a:ext cx="347472" cy="347472"/>
          </a:xfrm>
          <a:prstGeom prst="rect">
            <a:avLst/>
          </a:prstGeom>
        </p:spPr>
      </p:pic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94415" y="3858768"/>
            <a:ext cx="347472" cy="347472"/>
          </a:xfrm>
          <a:prstGeom prst="rect">
            <a:avLst/>
          </a:prstGeom>
        </p:spPr>
      </p:pic>
      <p:pic>
        <p:nvPicPr>
          <p:cNvPr id="5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Um ambiente novo para um ABAP com regras claras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057949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1783080"/>
            <a:ext cx="165561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70F2"/>
                </a:solidFill>
              </a:rPr>
              <a:t>ADT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514600"/>
            <a:ext cx="165561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ABAP Development Tools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Eclipse é a IDE para todos os objetos modernos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07757" y="1645920"/>
            <a:ext cx="2057949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008925" y="1783080"/>
            <a:ext cx="165561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D2D3E"/>
                </a:solidFill>
              </a:rPr>
              <a:t>5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3008925" y="2514600"/>
            <a:ext cx="165561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Language version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ABAP for Cloud Development no compilador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66873" y="1645920"/>
            <a:ext cx="2057949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268041" y="1783080"/>
            <a:ext cx="165561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D2D3E"/>
                </a:solidFill>
              </a:rPr>
              <a:t>C1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5268041" y="2514600"/>
            <a:ext cx="165561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Released APIs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só objetos SAP liberados com contrato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25990" y="1645920"/>
            <a:ext cx="2057949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527158" y="1783080"/>
            <a:ext cx="165561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D2D3E"/>
                </a:solidFill>
              </a:rPr>
              <a:t>Z/Y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7527158" y="2514600"/>
            <a:ext cx="165561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Namespace do cliente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separa seu código do código SAP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585107" y="1645920"/>
            <a:ext cx="2057949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786275" y="1783080"/>
            <a:ext cx="165561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D2D3E"/>
                </a:solidFill>
              </a:rPr>
              <a:t>F9</a:t>
            </a:r>
            <a:endParaRPr lang="en-US" sz="3800" dirty="0"/>
          </a:p>
        </p:txBody>
      </p:sp>
      <p:sp>
        <p:nvSpPr>
          <p:cNvPr id="18" name="Text 16"/>
          <p:cNvSpPr txBox="1"/>
          <p:nvPr/>
        </p:nvSpPr>
        <p:spPr>
          <a:xfrm>
            <a:off x="9786275" y="2514600"/>
            <a:ext cx="165561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Console app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executa uma classe sem telas clássicas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11094415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393192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508760" y="39776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Onde este modelo vale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57200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O curso oficial roda no </a:t>
            </a:r>
            <a:r>
              <a:rPr lang="en-US" sz="1200" b="1" dirty="0">
                <a:solidFill>
                  <a:srgbClr val="556B82"/>
                </a:solidFill>
              </a:rPr>
              <a:t>SAP BTP, ABAP environment</a:t>
            </a:r>
            <a:r>
              <a:rPr lang="en-US" sz="1200" dirty="0">
                <a:solidFill>
                  <a:srgbClr val="556B82"/>
                </a:solidFill>
              </a:rPr>
              <a:t>, mas o mesmo modelo ABAP Cloud vale no SAP S/4HANA Cloud (Public e Private Edition) e no SAP S/4HANA on-premise a partir da versão 2022.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858000" y="3977640"/>
            <a:ext cx="2388413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58000" y="3977640"/>
            <a:ext cx="23884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SAP BTP ABAP environment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58000" y="4416552"/>
            <a:ext cx="2066544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58000" y="4416552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S/4HANA Cloud Public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061704" y="4416552"/>
            <a:ext cx="1664208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061704" y="4416552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Private Edition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58000" y="4855464"/>
            <a:ext cx="1744675" cy="329184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858000" y="4855464"/>
            <a:ext cx="17446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548"/>
                </a:solidFill>
              </a:rPr>
              <a:t>On-Premise 2022+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739835" y="4855464"/>
            <a:ext cx="1261872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739835" y="4855464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ABAP Cloud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138867" y="4855464"/>
            <a:ext cx="1261872" cy="329184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0138867" y="4855464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548"/>
                </a:solidFill>
              </a:rPr>
              <a:t>Clean Core</a:t>
            </a:r>
            <a:endParaRPr lang="en-US" sz="1000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4042562"/>
            <a:ext cx="281635" cy="2816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01.01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O ambiente de desenvolvimento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O Eclipse com o plug-in </a:t>
            </a:r>
            <a:r>
              <a:rPr lang="en-US" sz="1600" b="1" dirty="0">
                <a:solidFill>
                  <a:srgbClr val="D1EFFF"/>
                </a:solidFill>
              </a:rPr>
              <a:t>ADT</a:t>
            </a:r>
            <a:r>
              <a:rPr lang="en-US" sz="1600" dirty="0">
                <a:solidFill>
                  <a:srgbClr val="D1EFFF"/>
                </a:solidFill>
              </a:rPr>
              <a:t> não fica dentro do sistema ABAP: ele se conecta a cada sistema por meio de um projeto.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 Cloud Project</a:t>
            </a:r>
            <a:r>
              <a:rPr lang="en-US" sz="1000" dirty="0">
                <a:solidFill>
                  <a:srgbClr val="D1EFFF"/>
                </a:solidFill>
              </a:rPr>
              <a:t>  BTP e Public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 Project</a:t>
            </a:r>
            <a:r>
              <a:rPr lang="en-US" sz="1000" dirty="0">
                <a:solidFill>
                  <a:srgbClr val="D1EFFF"/>
                </a:solidFill>
              </a:rPr>
              <a:t>  on-prem e Private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Explorer</a:t>
            </a:r>
            <a:r>
              <a:rPr lang="en-US" sz="1000" dirty="0">
                <a:solidFill>
                  <a:srgbClr val="D1EFFF"/>
                </a:solidFill>
              </a:rPr>
              <a:t>  pacotes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 · F2 · F3</a:t>
            </a:r>
            <a:r>
              <a:rPr lang="en-US" sz="1000" dirty="0">
                <a:solidFill>
                  <a:srgbClr val="D1EFFF"/>
                </a:solidFill>
              </a:rPr>
              <a:t>  ajuda e navegação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AMBIENTE · PROJETOS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Um projeto do ADT para cada sistema ABAP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59660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56082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164332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ABAP Cloud Project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Conecta ao </a:t>
            </a:r>
            <a:r>
              <a:rPr lang="en-US" sz="1300" b="1" dirty="0">
                <a:solidFill>
                  <a:srgbClr val="556B82"/>
                </a:solidFill>
              </a:rPr>
              <a:t>SAP BTP, ABAP environment</a:t>
            </a:r>
            <a:r>
              <a:rPr lang="en-US" sz="1300" dirty="0">
                <a:solidFill>
                  <a:srgbClr val="556B82"/>
                </a:solidFill>
              </a:rPr>
              <a:t> ou ao </a:t>
            </a:r>
            <a:r>
              <a:rPr lang="en-US" sz="1300" b="1" dirty="0">
                <a:solidFill>
                  <a:srgbClr val="556B82"/>
                </a:solidFill>
              </a:rPr>
              <a:t>SAP S/4HANA Cloud Public Edition</a:t>
            </a:r>
            <a:r>
              <a:rPr lang="en-US" sz="1300" dirty="0">
                <a:solidFill>
                  <a:srgbClr val="556B82"/>
                </a:solidFill>
              </a:rPr>
              <a:t>. O logon usa a URL da instância (ou a service key) e o navegador.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22978" y="2359660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24146" y="256082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4146" y="3164332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ABAP Project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Conecta a um </a:t>
            </a:r>
            <a:r>
              <a:rPr lang="en-US" sz="1300" b="1" dirty="0">
                <a:solidFill>
                  <a:srgbClr val="556B82"/>
                </a:solidFill>
              </a:rPr>
              <a:t>S/4HANA on-premise</a:t>
            </a:r>
            <a:r>
              <a:rPr lang="en-US" sz="1300" dirty="0">
                <a:solidFill>
                  <a:srgbClr val="556B82"/>
                </a:solidFill>
              </a:rPr>
              <a:t> ou ao </a:t>
            </a:r>
            <a:r>
              <a:rPr lang="en-US" sz="1300" b="1" dirty="0">
                <a:solidFill>
                  <a:srgbClr val="556B82"/>
                </a:solidFill>
              </a:rPr>
              <a:t>S/4HANA Cloud Private Edition</a:t>
            </a:r>
            <a:r>
              <a:rPr lang="en-US" sz="1300" dirty="0">
                <a:solidFill>
                  <a:srgbClr val="556B82"/>
                </a:solidFill>
              </a:rPr>
              <a:t>, com os dados do sistema e o mandante.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97317" y="2359660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98485" y="256082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98485" y="3164332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Vários sistemas lado a lado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Cada conexão é um projeto. Você compara código de desenvolvimento e qualidade na mesma janela, sem trocar de sessão do SAP GUI.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89153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07008" y="489153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Só no ADT  </a:t>
            </a:r>
            <a:r>
              <a:rPr lang="en-US" sz="1200" dirty="0">
                <a:solidFill>
                  <a:srgbClr val="1D2D3E"/>
                </a:solidFill>
              </a:rPr>
              <a:t>CDS views, behavior definitions e service bindings não têm editor no SAP GUI: o desenvolvimento moderno acontece no Eclipse.</a:t>
            </a:r>
            <a:endParaRPr lang="en-US" sz="14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661412"/>
            <a:ext cx="256032" cy="256032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730" y="2661412"/>
            <a:ext cx="256032" cy="256032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069" y="2661412"/>
            <a:ext cx="256032" cy="256032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5019548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AMBIENTE · SAP BTP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Onde fica a instância ABAP na SAP BTP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A SAP BTP é a plataforma como serviço da SAP. A instância ABAP é o último nível de uma hierarquia de contas.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Global account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Contrato e assinatura da empresa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086786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8" name="Shape 6"/>
          <p:cNvSpPr/>
          <p:nvPr/>
        </p:nvSpPr>
        <p:spPr>
          <a:xfrm>
            <a:off x="3425114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16554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Subaccounts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Um por ambiente: desenvolvimento, teste e produção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63260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1" name="Shape 9"/>
          <p:cNvSpPr/>
          <p:nvPr/>
        </p:nvSpPr>
        <p:spPr>
          <a:xfrm>
            <a:off x="6301588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393028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Runtime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Cloud Foundry ou Kyma ativado no subaccount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839733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4" name="Shape 12"/>
          <p:cNvSpPr/>
          <p:nvPr/>
        </p:nvSpPr>
        <p:spPr>
          <a:xfrm>
            <a:off x="9178061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30914C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269501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56F3A"/>
                </a:solidFill>
              </a:rPr>
              <a:t>Instância ABAP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Onde o projeto do ADT se conecta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543290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343400"/>
            <a:ext cx="50671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Para estudar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A SAP oferece sistemas de prática (hands-on) e contas trial para seguir os exercícios dos cursos.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10148" y="3657600"/>
            <a:ext cx="543290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93028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93028" y="4343400"/>
            <a:ext cx="50671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Na empresa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Desenvolvimento, teste e produção ficam em subaccounts separados e o código viaja entre eles por transporte.</a:t>
            </a:r>
            <a:endParaRPr lang="en-US" sz="14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205" y="2084832"/>
            <a:ext cx="365760" cy="365760"/>
          </a:xfrm>
          <a:prstGeom prst="rect">
            <a:avLst/>
          </a:prstGeom>
        </p:spPr>
      </p:pic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4731" y="2084832"/>
            <a:ext cx="365760" cy="365760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8257" y="2084832"/>
            <a:ext cx="365760" cy="365760"/>
          </a:xfrm>
          <a:prstGeom prst="rect">
            <a:avLst/>
          </a:prstGeom>
        </p:spPr>
      </p:pic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7678" y="2084832"/>
            <a:ext cx="365760" cy="365760"/>
          </a:xfrm>
          <a:prstGeom prst="rect">
            <a:avLst/>
          </a:prstGeom>
        </p:spPr>
      </p:pic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034" y="3928994"/>
            <a:ext cx="225308" cy="225308"/>
          </a:xfrm>
          <a:prstGeom prst="rect">
            <a:avLst/>
          </a:prstGeom>
        </p:spPr>
      </p:pic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1542" y="3928994"/>
            <a:ext cx="225308" cy="2253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AMBIENTE · PRODUTIVIDADE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As teclas que você usa todos os dias no ADT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7116775" cy="3419856"/>
          </a:xfrm>
          <a:prstGeom prst="roundRect">
            <a:avLst>
              <a:gd name="adj" fmla="val 267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6842455" cy="914400"/>
        </p:xfrm>
        <a:graphic>
          <a:graphicData uri="http://schemas.openxmlformats.org/drawingml/2006/table">
            <a:tbl>
              <a:tblPr/>
              <a:tblGrid>
                <a:gridCol w="1170420"/>
                <a:gridCol w="1890678"/>
                <a:gridCol w="3781357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Tecla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Função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Quando usar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F1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Ajuda ABAP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Documentação da instrução sob o cursor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F2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Element Info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Assinatura, tipo e ABAP Doc do elemento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F3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Navegar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Abre a definição;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Alt+←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volta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Ctrl+Shift+A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Abrir objeto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Busca qualquer objeto pelo nome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Ctrl+Space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Completar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Sugere palavras-chave, nomes e assinaturas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Ctrl+1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Quick fix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Corrige ou gera código a partir do erro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Ctrl+F3 · F9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Ativar · executar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Ativa o objeto e roda a classe no console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894015" y="1645920"/>
            <a:ext cx="3749040" cy="1618488"/>
          </a:xfrm>
          <a:prstGeom prst="roundRect">
            <a:avLst>
              <a:gd name="adj" fmla="val 565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76895" y="182880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25535" y="1810512"/>
            <a:ext cx="28346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Favorite Packages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Adicione os pacotes de trabalho aos favoritos no Project Explorer para encontrá-los rápido.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894015" y="3447288"/>
            <a:ext cx="3749040" cy="1618488"/>
          </a:xfrm>
          <a:prstGeom prst="roundRect">
            <a:avLst>
              <a:gd name="adj" fmla="val 565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076895" y="3630168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625535" y="3611880"/>
            <a:ext cx="28346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Link with Editor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Sincroniza o Project Explorer com o objeto aberto no editor.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409" y="1917314"/>
            <a:ext cx="225308" cy="225308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409" y="3718682"/>
            <a:ext cx="225308" cy="2253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01.01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ABAP Cloud e Clean Core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ABAP Cloud não é um produto: é o </a:t>
            </a:r>
            <a:r>
              <a:rPr lang="en-US" sz="1600" b="1" dirty="0">
                <a:solidFill>
                  <a:srgbClr val="D1EFFF"/>
                </a:solidFill>
              </a:rPr>
              <a:t>modelo de desenvolvimento</a:t>
            </a:r>
            <a:r>
              <a:rPr lang="en-US" sz="1600" dirty="0">
                <a:solidFill>
                  <a:srgbClr val="D1EFFF"/>
                </a:solidFill>
              </a:rPr>
              <a:t> que mantém o núcleo SAP limpo e as extensões seguras em upgrades.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Language version 5</a:t>
            </a:r>
            <a:r>
              <a:rPr lang="en-US" sz="1000" dirty="0">
                <a:solidFill>
                  <a:srgbClr val="D1EFFF"/>
                </a:solidFill>
              </a:rPr>
              <a:t>  compilador estrito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Released APIs</a:t>
            </a:r>
            <a:r>
              <a:rPr lang="en-US" sz="1000" dirty="0">
                <a:solidFill>
                  <a:srgbClr val="D1EFFF"/>
                </a:solidFill>
              </a:rPr>
              <a:t>  contrato C1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I_Product</a:t>
            </a:r>
            <a:r>
              <a:rPr lang="en-US" sz="1000" dirty="0">
                <a:solidFill>
                  <a:srgbClr val="D1EFFF"/>
                </a:solidFill>
              </a:rPr>
              <a:t>  CDS liberada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cl_abap_context_info</a:t>
            </a:r>
            <a:r>
              <a:rPr lang="en-US" sz="1000" dirty="0">
                <a:solidFill>
                  <a:srgbClr val="D1EFFF"/>
                </a:solidFill>
              </a:rPr>
              <a:t>  dados do sistema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ABAP CLOUD · MUDANÇA DE PARADIGMA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Do ABAP clássico ao ABAP Cloud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299430"/>
            <a:ext cx="5410048" cy="3219260"/>
          </a:xfrm>
          <a:prstGeom prst="roundRect">
            <a:avLst>
              <a:gd name="adj" fmla="val 284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299430"/>
            <a:ext cx="5410048" cy="73152"/>
          </a:xfrm>
          <a:prstGeom prst="rect">
            <a:avLst/>
          </a:prstGeom>
          <a:solidFill>
            <a:srgbClr val="556B8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57375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FF1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573750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548"/>
                </a:solidFill>
              </a:rPr>
              <a:t>ABAP clássico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13830"/>
            <a:ext cx="4952848" cy="216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Lê qualquer tabela, inclusive internas da SAP (ex.: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MARA</a:t>
            </a:r>
            <a:r>
              <a:rPr lang="en-US" sz="1350" dirty="0">
                <a:solidFill>
                  <a:srgbClr val="1D2D3E"/>
                </a:solidFill>
              </a:rPr>
              <a:t>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Modifica o código standard e usa user exits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Telas Dynpro, listas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350" dirty="0">
                <a:solidFill>
                  <a:srgbClr val="1D2D3E"/>
                </a:solidFill>
              </a:rPr>
              <a:t> e acesso a arquivos do servidor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Upgrades caros: ajustes de SPDD e SPAU a cada versão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299430"/>
            <a:ext cx="5410048" cy="3219260"/>
          </a:xfrm>
          <a:prstGeom prst="roundRect">
            <a:avLst>
              <a:gd name="adj" fmla="val 284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299430"/>
            <a:ext cx="5410048" cy="7315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257375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2573750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ABAP Cloud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213830"/>
            <a:ext cx="4952848" cy="216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Lê dados SAP só por </a:t>
            </a:r>
            <a:r>
              <a:rPr lang="en-US" sz="1350" b="1" dirty="0">
                <a:solidFill>
                  <a:srgbClr val="1D2D3E"/>
                </a:solidFill>
              </a:rPr>
              <a:t>CDS views liberadas</a:t>
            </a:r>
            <a:r>
              <a:rPr lang="en-US" sz="1350" dirty="0">
                <a:solidFill>
                  <a:srgbClr val="1D2D3E"/>
                </a:solidFill>
              </a:rPr>
              <a:t> (ex.: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I_Product</a:t>
            </a:r>
            <a:r>
              <a:rPr lang="en-US" sz="1350" dirty="0">
                <a:solidFill>
                  <a:srgbClr val="1D2D3E"/>
                </a:solidFill>
              </a:rPr>
              <a:t>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Estende em pontos oficiais: BAdIs, extensões de CDS e RAP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UI em SAP Fiori; lógica de backend em classes e RAP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Upgrades previsíveis: as APIs liberadas têm contrato de estabilidade</a:t>
            </a:r>
            <a:endParaRPr lang="en-US" sz="14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674334"/>
            <a:ext cx="256032" cy="256032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2674334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ABAP CLOUD · AS TRÊS REGRAS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que o compilador do ABAP Cloud garante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59660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56082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Shape 4"/>
          <p:cNvSpPr/>
          <p:nvPr/>
        </p:nvSpPr>
        <p:spPr>
          <a:xfrm>
            <a:off x="2964180" y="2633980"/>
            <a:ext cx="929030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964180" y="2633980"/>
            <a:ext cx="9290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Regra 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164332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Language version 5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O objeto usa </a:t>
            </a:r>
            <a:r>
              <a:rPr lang="en-US" sz="1300" b="1" dirty="0">
                <a:solidFill>
                  <a:srgbClr val="556B82"/>
                </a:solidFill>
              </a:rPr>
              <a:t>ABAP for Cloud Development</a:t>
            </a:r>
            <a:r>
              <a:rPr lang="en-US" sz="1300" dirty="0">
                <a:solidFill>
                  <a:srgbClr val="556B82"/>
                </a:solidFill>
              </a:rPr>
              <a:t>. Instruções como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SCREEN</a:t>
            </a:r>
            <a:r>
              <a:rPr lang="en-US" sz="1300" dirty="0">
                <a:solidFill>
                  <a:srgbClr val="556B82"/>
                </a:solidFill>
              </a:rPr>
              <a:t>,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300" dirty="0">
                <a:solidFill>
                  <a:srgbClr val="556B82"/>
                </a:solidFill>
              </a:rPr>
              <a:t> em listas e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DATASET</a:t>
            </a:r>
            <a:r>
              <a:rPr lang="en-US" sz="1300" dirty="0">
                <a:solidFill>
                  <a:srgbClr val="556B82"/>
                </a:solidFill>
              </a:rPr>
              <a:t> geram erro de sintaxe.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22978" y="2359660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4146" y="256082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1" name="Shape 9"/>
          <p:cNvSpPr/>
          <p:nvPr/>
        </p:nvSpPr>
        <p:spPr>
          <a:xfrm>
            <a:off x="6738518" y="2633980"/>
            <a:ext cx="929030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38518" y="2633980"/>
            <a:ext cx="9290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Regra 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524146" y="3164332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Só objetos liberados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Classes, CDS views e BAdIs da SAP só podem ser usados se estiverem </a:t>
            </a:r>
            <a:r>
              <a:rPr lang="en-US" sz="1300" b="1" dirty="0">
                <a:solidFill>
                  <a:srgbClr val="556B82"/>
                </a:solidFill>
              </a:rPr>
              <a:t>released</a:t>
            </a:r>
            <a:r>
              <a:rPr lang="en-US" sz="1300" dirty="0">
                <a:solidFill>
                  <a:srgbClr val="556B82"/>
                </a:solidFill>
              </a:rPr>
              <a:t> (contrato C1). O resto não compila.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97317" y="2359660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98485" y="256082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2857" y="2633980"/>
            <a:ext cx="929030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512857" y="2633980"/>
            <a:ext cx="9290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Regra 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298485" y="3164332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Dados SAP via CDS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Tabelas SAP não são lidas diretamente. Suas próprias tabelas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</a:t>
            </a:r>
            <a:r>
              <a:rPr lang="en-US" sz="1300" dirty="0">
                <a:solidFill>
                  <a:srgbClr val="556B82"/>
                </a:solidFill>
              </a:rPr>
              <a:t> continuam acessíveis normalmente.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89153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207008" y="489153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Clean Core  </a:t>
            </a:r>
            <a:r>
              <a:rPr lang="en-US" sz="1200" dirty="0">
                <a:solidFill>
                  <a:srgbClr val="1D2D3E"/>
                </a:solidFill>
              </a:rPr>
              <a:t>com essas regras, a SAP atualiza o sistema sem quebrar o seu código, como um smartphone que recebe atualizações.</a:t>
            </a:r>
            <a:endParaRPr lang="en-US" sz="14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661412"/>
            <a:ext cx="256032" cy="256032"/>
          </a:xfrm>
          <a:prstGeom prst="rect">
            <a:avLst/>
          </a:prstGeom>
        </p:spPr>
      </p:pic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730" y="2661412"/>
            <a:ext cx="256032" cy="256032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069" y="2661412"/>
            <a:ext cx="256032" cy="256032"/>
          </a:xfrm>
          <a:prstGeom prst="rect">
            <a:avLst/>
          </a:prstGeom>
        </p:spPr>
      </p:pic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5019548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ABAP CLOUD · NA PRÁTICA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mesmo dado, duas formas de ler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101645" cy="274320"/>
          </a:xfrm>
          <a:prstGeom prst="roundRect">
            <a:avLst>
              <a:gd name="adj" fmla="val 50000"/>
            </a:avLst>
          </a:prstGeom>
          <a:solidFill>
            <a:srgbClr val="FFEAF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31016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A0808"/>
                </a:solidFill>
              </a:rPr>
              <a:t>ABAP clássico · erro no ABAP Cloud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029968"/>
            <a:ext cx="5410048" cy="1563624"/>
          </a:xfrm>
          <a:prstGeom prst="roundRect">
            <a:avLst>
              <a:gd name="adj" fmla="val 4678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84832"/>
            <a:ext cx="2075688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084832"/>
            <a:ext cx="2075688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103120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zcl_material.clas.abap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87168"/>
            <a:ext cx="3200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487168"/>
            <a:ext cx="476996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MARA não é liberada: erro de sintaxe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matnr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mtart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mara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lt_material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712464"/>
            <a:ext cx="5410048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A tabela é um detalhe interno: a SAP pode mudá-la em qualquer upgrade.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33008" y="164592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F5FAE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33008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F3A"/>
                </a:solidFill>
              </a:rPr>
              <a:t>ABAP Cloud · API liberada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33008" y="2029968"/>
            <a:ext cx="5410048" cy="1563624"/>
          </a:xfrm>
          <a:prstGeom prst="roundRect">
            <a:avLst>
              <a:gd name="adj" fmla="val 4678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51296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18" name="Shape 16"/>
          <p:cNvSpPr/>
          <p:nvPr/>
        </p:nvSpPr>
        <p:spPr>
          <a:xfrm>
            <a:off x="6324448" y="2084832"/>
            <a:ext cx="2075688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19" name="Shape 17"/>
          <p:cNvSpPr/>
          <p:nvPr/>
        </p:nvSpPr>
        <p:spPr>
          <a:xfrm>
            <a:off x="6324448" y="2084832"/>
            <a:ext cx="2075688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15888" y="2103120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zcl_material.clas.abap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370168" y="2487168"/>
            <a:ext cx="3200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735928" y="2487168"/>
            <a:ext cx="476996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I_Product é a CDS view liberada (C1)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ProductType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I_Product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lt_products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233008" y="3712464"/>
            <a:ext cx="5410048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A CDS view é o contrato público: nomes legíveis e estabilidade garantida.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01.01 · SEÇÃO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Como o software é organizado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Todo objeto vive em um </a:t>
            </a:r>
            <a:r>
              <a:rPr lang="en-US" sz="1600" b="1" dirty="0">
                <a:solidFill>
                  <a:srgbClr val="D1EFFF"/>
                </a:solidFill>
              </a:rPr>
              <a:t>pacote</a:t>
            </a:r>
            <a:r>
              <a:rPr lang="en-US" sz="1600" dirty="0">
                <a:solidFill>
                  <a:srgbClr val="D1EFFF"/>
                </a:solidFill>
              </a:rPr>
              <a:t>, cada pacote pertence a um </a:t>
            </a:r>
            <a:r>
              <a:rPr lang="en-US" sz="1600" b="1" dirty="0">
                <a:solidFill>
                  <a:srgbClr val="D1EFFF"/>
                </a:solidFill>
              </a:rPr>
              <a:t>componente de software</a:t>
            </a:r>
            <a:r>
              <a:rPr lang="en-US" sz="1600" dirty="0">
                <a:solidFill>
                  <a:srgbClr val="D1EFFF"/>
                </a:solidFill>
              </a:rPr>
              <a:t> e toda mudança viaja em uma </a:t>
            </a:r>
            <a:r>
              <a:rPr lang="en-US" sz="1600" b="1" dirty="0">
                <a:solidFill>
                  <a:srgbClr val="D1EFFF"/>
                </a:solidFill>
              </a:rPr>
              <a:t>request de transporte</a:t>
            </a:r>
            <a:r>
              <a:rPr lang="en-US" sz="1600" dirty="0">
                <a:solidFill>
                  <a:srgbClr val="D1EFFF"/>
                </a:solidFill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Software component</a:t>
            </a:r>
            <a:r>
              <a:rPr lang="en-US" sz="1000" dirty="0">
                <a:solidFill>
                  <a:srgbClr val="D1EFFF"/>
                </a:solidFill>
              </a:rPr>
              <a:t>  unidade de transporte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</a:t>
            </a:r>
            <a:r>
              <a:rPr lang="en-US" sz="1000" dirty="0">
                <a:solidFill>
                  <a:srgbClr val="D1EFFF"/>
                </a:solidFill>
              </a:rPr>
              <a:t>  contêiner lógico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Transport request</a:t>
            </a:r>
            <a:r>
              <a:rPr lang="en-US" sz="1000" dirty="0">
                <a:solidFill>
                  <a:srgbClr val="D1EFFF"/>
                </a:solidFill>
              </a:rPr>
              <a:t>  agrupa mudanças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Z* / Y*</a:t>
            </a:r>
            <a:r>
              <a:rPr lang="en-US" sz="1000" dirty="0">
                <a:solidFill>
                  <a:srgbClr val="D1EFFF"/>
                </a:solidFill>
              </a:rPr>
              <a:t>  namespace do cliente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ORGANIZAÇÃO · REPOSITÓRIO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Do repositório ABAP ao seu objeto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O conjunto de todos os objetos do sistema é o </a:t>
            </a:r>
            <a:r>
              <a:rPr lang="en-US" sz="1400" b="1" dirty="0">
                <a:solidFill>
                  <a:srgbClr val="556B82"/>
                </a:solidFill>
              </a:rPr>
              <a:t>ABAP Repository</a:t>
            </a:r>
            <a:r>
              <a:rPr lang="en-US" sz="1400" dirty="0">
                <a:solidFill>
                  <a:srgbClr val="556B82"/>
                </a:solidFill>
              </a:rPr>
              <a:t>; por isso os objetos também se chamam </a:t>
            </a:r>
            <a:r>
              <a:rPr lang="en-US" sz="1400" i="1" dirty="0">
                <a:solidFill>
                  <a:srgbClr val="556B82"/>
                </a:solidFill>
              </a:rPr>
              <a:t>repository objects</a:t>
            </a:r>
            <a:r>
              <a:rPr lang="en-US" sz="140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ABAP Repository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Todos os objetos de desenvolvimento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086786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8" name="Shape 6"/>
          <p:cNvSpPr/>
          <p:nvPr/>
        </p:nvSpPr>
        <p:spPr>
          <a:xfrm>
            <a:off x="3425114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16554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Software component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Agrupa pacotes e define o que é transportado junto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63260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1" name="Shape 9"/>
          <p:cNvSpPr/>
          <p:nvPr/>
        </p:nvSpPr>
        <p:spPr>
          <a:xfrm>
            <a:off x="6301588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393028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Package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Contêiner de objetos que pertencem juntos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839733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4" name="Shape 12"/>
          <p:cNvSpPr/>
          <p:nvPr/>
        </p:nvSpPr>
        <p:spPr>
          <a:xfrm>
            <a:off x="9178061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269501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Objeto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Classe, tabela, CDS view, behavior…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Namespace Z/Y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Objetos do cliente começam com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</a:t>
            </a:r>
            <a:r>
              <a:rPr lang="en-US" sz="1200" dirty="0">
                <a:solidFill>
                  <a:srgbClr val="556B82"/>
                </a:solidFill>
              </a:rPr>
              <a:t> ou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r>
              <a:rPr lang="en-US" sz="1200" dirty="0">
                <a:solidFill>
                  <a:srgbClr val="556B82"/>
                </a:solidFill>
              </a:rPr>
              <a:t>; parceiros podem registrar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/NAMESPACE/</a:t>
            </a:r>
            <a:r>
              <a:rPr lang="en-US" sz="1200" dirty="0">
                <a:solidFill>
                  <a:srgbClr val="556B82"/>
                </a:solidFill>
              </a:rPr>
              <a:t>. Evita conflito com objetos SAP.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22978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05858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05858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Pacotes encapsulam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Uma </a:t>
            </a:r>
            <a:r>
              <a:rPr lang="en-US" sz="1200" i="1" dirty="0">
                <a:solidFill>
                  <a:srgbClr val="556B82"/>
                </a:solidFill>
              </a:rPr>
              <a:t>package interface</a:t>
            </a:r>
            <a:r>
              <a:rPr lang="en-US" sz="1200" dirty="0">
                <a:solidFill>
                  <a:srgbClr val="556B82"/>
                </a:solidFill>
              </a:rPr>
              <a:t> define o que outros pacotes podem usar, impedindo dependências indevidas.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097317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80197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80197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$TMP é local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Objetos locais não são transportáveis: servem só para testes rápidos.</a:t>
            </a:r>
            <a:endParaRPr lang="en-US" sz="14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8257" y="2084832"/>
            <a:ext cx="365760" cy="365760"/>
          </a:xfrm>
          <a:prstGeom prst="rect">
            <a:avLst/>
          </a:prstGeom>
        </p:spPr>
      </p:pic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4731" y="2084832"/>
            <a:ext cx="365760" cy="365760"/>
          </a:xfrm>
          <a:prstGeom prst="rect">
            <a:avLst/>
          </a:prstGeom>
        </p:spPr>
      </p:pic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205" y="2084832"/>
            <a:ext cx="365760" cy="365760"/>
          </a:xfrm>
          <a:prstGeom prst="rect">
            <a:avLst/>
          </a:prstGeom>
        </p:spPr>
      </p:pic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034" y="3928994"/>
            <a:ext cx="225308" cy="225308"/>
          </a:xfrm>
          <a:prstGeom prst="rect">
            <a:avLst/>
          </a:prstGeom>
        </p:spPr>
      </p:pic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4372" y="3928994"/>
            <a:ext cx="225308" cy="225308"/>
          </a:xfrm>
          <a:prstGeom prst="rect">
            <a:avLst/>
          </a:prstGeom>
        </p:spPr>
      </p:pic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7678" y="2084832"/>
            <a:ext cx="365760" cy="365760"/>
          </a:xfrm>
          <a:prstGeom prst="rect">
            <a:avLst/>
          </a:prstGeom>
        </p:spPr>
      </p:pic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8711" y="3928994"/>
            <a:ext cx="225308" cy="2253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ORGANIZAÇÃO · TRANSPORTE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caminho de uma mudança até a produção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577614" y="2441448"/>
            <a:ext cx="9036467" cy="0"/>
          </a:xfrm>
          <a:prstGeom prst="line">
            <a:avLst/>
          </a:prstGeom>
          <a:noFill/>
          <a:ln w="25400">
            <a:solidFill>
              <a:srgbClr val="0070F2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230142" y="2093976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30142" y="209397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1</a:t>
            </a:r>
            <a:endParaRPr lang="en-US" sz="2280" dirty="0"/>
          </a:p>
        </p:txBody>
      </p:sp>
      <p:sp>
        <p:nvSpPr>
          <p:cNvPr id="7" name="Shape 5"/>
          <p:cNvSpPr/>
          <p:nvPr/>
        </p:nvSpPr>
        <p:spPr>
          <a:xfrm>
            <a:off x="548640" y="2962656"/>
            <a:ext cx="2057949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3145536"/>
            <a:ext cx="1280709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Atribuir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Ao criar ou alterar um objeto, você escolhe a request. O objeto fica </a:t>
            </a:r>
            <a:r>
              <a:rPr lang="en-US" sz="1150" b="1" dirty="0">
                <a:solidFill>
                  <a:srgbClr val="556B82"/>
                </a:solidFill>
              </a:rPr>
              <a:t>bloqueado</a:t>
            </a:r>
            <a:r>
              <a:rPr lang="en-US" sz="1150" dirty="0">
                <a:solidFill>
                  <a:srgbClr val="556B82"/>
                </a:solidFill>
              </a:rPr>
              <a:t> para quem não está nela.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89259" y="2093976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89259" y="209397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2</a:t>
            </a:r>
            <a:endParaRPr lang="en-US" sz="2280" dirty="0"/>
          </a:p>
        </p:txBody>
      </p:sp>
      <p:sp>
        <p:nvSpPr>
          <p:cNvPr id="11" name="Shape 9"/>
          <p:cNvSpPr/>
          <p:nvPr/>
        </p:nvSpPr>
        <p:spPr>
          <a:xfrm>
            <a:off x="2807757" y="2962656"/>
            <a:ext cx="2057949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2990637" y="3145536"/>
            <a:ext cx="1280709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Trabalhar em equipe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O dono da request inclui outros desenvolvedores, cada um com sua tarefa.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748376" y="2093976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748376" y="209397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3</a:t>
            </a:r>
            <a:endParaRPr lang="en-US" sz="2280" dirty="0"/>
          </a:p>
        </p:txBody>
      </p:sp>
      <p:sp>
        <p:nvSpPr>
          <p:cNvPr id="15" name="Shape 13"/>
          <p:cNvSpPr/>
          <p:nvPr/>
        </p:nvSpPr>
        <p:spPr>
          <a:xfrm>
            <a:off x="5066873" y="2962656"/>
            <a:ext cx="2057949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249753" y="3145536"/>
            <a:ext cx="1280709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Liberar tarefas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Cada desenvolvedor libera seu trabalho quando termina.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07492" y="2093976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07492" y="209397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4</a:t>
            </a:r>
            <a:endParaRPr lang="en-US" sz="2280" dirty="0"/>
          </a:p>
        </p:txBody>
      </p:sp>
      <p:sp>
        <p:nvSpPr>
          <p:cNvPr id="19" name="Shape 17"/>
          <p:cNvSpPr/>
          <p:nvPr/>
        </p:nvSpPr>
        <p:spPr>
          <a:xfrm>
            <a:off x="7325990" y="2962656"/>
            <a:ext cx="2057949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508870" y="3145536"/>
            <a:ext cx="1280709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Liberar a request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O dono libera a request inteira e os bloqueios são removidos.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266609" y="2093976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266609" y="209397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5</a:t>
            </a:r>
            <a:endParaRPr lang="en-US" sz="2280" dirty="0"/>
          </a:p>
        </p:txBody>
      </p:sp>
      <p:sp>
        <p:nvSpPr>
          <p:cNvPr id="23" name="Shape 21"/>
          <p:cNvSpPr/>
          <p:nvPr/>
        </p:nvSpPr>
        <p:spPr>
          <a:xfrm>
            <a:off x="9585107" y="2962656"/>
            <a:ext cx="2057949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767987" y="3145536"/>
            <a:ext cx="1280709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Importar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O administrador importa no sistema de teste e, depois, no de produção.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157216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207008" y="5157216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Por que importa  </a:t>
            </a:r>
            <a:r>
              <a:rPr lang="en-US" sz="1200" dirty="0">
                <a:solidFill>
                  <a:srgbClr val="1D2D3E"/>
                </a:solidFill>
              </a:rPr>
              <a:t>a request garante que objetos que dependem uns dos outros cheguem juntos ao teste e à produção.</a:t>
            </a:r>
            <a:endParaRPr lang="en-US" sz="14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949" y="3118104"/>
            <a:ext cx="329184" cy="329184"/>
          </a:xfrm>
          <a:prstGeom prst="rect">
            <a:avLst/>
          </a:prstGeom>
        </p:spPr>
      </p:pic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065" y="3118104"/>
            <a:ext cx="329184" cy="329184"/>
          </a:xfrm>
          <a:prstGeom prst="rect">
            <a:avLst/>
          </a:prstGeom>
        </p:spPr>
      </p:pic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6182" y="3118104"/>
            <a:ext cx="329184" cy="329184"/>
          </a:xfrm>
          <a:prstGeom prst="rect">
            <a:avLst/>
          </a:prstGeom>
        </p:spPr>
      </p:pic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5299" y="3118104"/>
            <a:ext cx="329184" cy="329184"/>
          </a:xfrm>
          <a:prstGeom prst="rect">
            <a:avLst/>
          </a:prstGeom>
        </p:spPr>
      </p:pic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4415" y="3118104"/>
            <a:ext cx="329184" cy="329184"/>
          </a:xfrm>
          <a:prstGeom prst="rect">
            <a:avLst/>
          </a:prstGeom>
        </p:spPr>
      </p:pic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5285232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01.01 · SEÇÃO 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O primeiro programa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Sem </a:t>
            </a:r>
            <a:r>
              <a:rPr lang="en-US" sz="16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</a:t>
            </a:r>
            <a:r>
              <a:rPr lang="en-US" sz="1600" dirty="0">
                <a:solidFill>
                  <a:srgbClr val="D1EFFF"/>
                </a:solidFill>
              </a:rPr>
              <a:t> e sem </a:t>
            </a:r>
            <a:r>
              <a:rPr lang="en-US" sz="16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600" dirty="0">
                <a:solidFill>
                  <a:srgbClr val="D1EFFF"/>
                </a:solidFill>
              </a:rPr>
              <a:t>: o primeiro programa é uma </a:t>
            </a:r>
            <a:r>
              <a:rPr lang="en-US" sz="1600" b="1" dirty="0">
                <a:solidFill>
                  <a:srgbClr val="D1EFFF"/>
                </a:solidFill>
              </a:rPr>
              <a:t>classe global</a:t>
            </a:r>
            <a:r>
              <a:rPr lang="en-US" sz="1600" dirty="0">
                <a:solidFill>
                  <a:srgbClr val="D1EFFF"/>
                </a:solidFill>
              </a:rPr>
              <a:t> que o ADT executa como aplicação de console.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ZCL_HELLO_WORLD</a:t>
            </a:r>
            <a:r>
              <a:rPr lang="en-US" sz="1000" dirty="0">
                <a:solidFill>
                  <a:srgbClr val="D1EFFF"/>
                </a:solidFill>
              </a:rPr>
              <a:t>  classe global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IF_OO_ADT_CLASSRUN</a:t>
            </a:r>
            <a:r>
              <a:rPr lang="en-US" sz="1000" dirty="0">
                <a:solidFill>
                  <a:srgbClr val="D1EFFF"/>
                </a:solidFill>
              </a:rPr>
              <a:t>  interface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out-&gt;write( )</a:t>
            </a:r>
            <a:r>
              <a:rPr lang="en-US" sz="1000" dirty="0">
                <a:solidFill>
                  <a:srgbClr val="D1EFFF"/>
                </a:solidFill>
              </a:rPr>
              <a:t>  saída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Ctrl+F3 · F9</a:t>
            </a:r>
            <a:r>
              <a:rPr lang="en-US" sz="1000" dirty="0">
                <a:solidFill>
                  <a:srgbClr val="D1EFFF"/>
                </a:solidFill>
              </a:rPr>
              <a:t>  ativar e rodar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HELLO WORLD · CONSOLE APP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Uma classe que o Eclipse sabe executar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30886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30886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125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zcl_hello_world.clas.abap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ZS4D400_## › ZCL_HELLO_WORLD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zcl_hello_world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if_oo_adt_classrun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ENDCLASS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zcl_hello_world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IMPLEMENTATION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if_oo_adt_classrun~main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'Hello World'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lv_date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cl_abap_context_info=&gt;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get_system_date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|Hoje é { lv_date DATE = ISO }|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ENDMETHOD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ENDCLASS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IF_OO_ADT_CLASSRUN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 contrato que torna a classe executável com F9, como um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r>
              <a:rPr lang="en-US" sz="1050" dirty="0">
                <a:solidFill>
                  <a:srgbClr val="556B82"/>
                </a:solidFill>
              </a:rPr>
              <a:t> de Java ou C#.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out-&gt;write( )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Envia o texto para a view Console do Eclipse.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cl_abap_context_info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API liberada para data, hora e usuário no ABAP Cloud.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String template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|...{ }...|</a:t>
            </a:r>
            <a:r>
              <a:rPr lang="en-US" sz="1050" dirty="0">
                <a:solidFill>
                  <a:srgbClr val="556B82"/>
                </a:solidFill>
              </a:rPr>
              <a:t> monta texto com valores e formatação.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HELLO WORLD · PASSO A PASSO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Do pacote à saída no console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577614" y="2848356"/>
            <a:ext cx="9036467" cy="0"/>
          </a:xfrm>
          <a:prstGeom prst="line">
            <a:avLst/>
          </a:prstGeom>
          <a:noFill/>
          <a:ln w="25400">
            <a:solidFill>
              <a:srgbClr val="0070F2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230142" y="2500884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30142" y="2500884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1</a:t>
            </a:r>
            <a:endParaRPr lang="en-US" sz="2280" dirty="0"/>
          </a:p>
        </p:txBody>
      </p:sp>
      <p:sp>
        <p:nvSpPr>
          <p:cNvPr id="7" name="Shape 5"/>
          <p:cNvSpPr/>
          <p:nvPr/>
        </p:nvSpPr>
        <p:spPr>
          <a:xfrm>
            <a:off x="548640" y="3369564"/>
            <a:ext cx="2057949" cy="1947672"/>
          </a:xfrm>
          <a:prstGeom prst="roundRect">
            <a:avLst>
              <a:gd name="adj" fmla="val 469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3552444"/>
            <a:ext cx="1280709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Criar o pacote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Ex.: </a:t>
            </a: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ZS4D400_##</a:t>
            </a:r>
            <a:r>
              <a:rPr lang="en-US" sz="1150" dirty="0">
                <a:solidFill>
                  <a:srgbClr val="556B82"/>
                </a:solidFill>
              </a:rPr>
              <a:t>, no componente de software do curso, com uma request de transporte.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89259" y="2500884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89259" y="2500884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2</a:t>
            </a:r>
            <a:endParaRPr lang="en-US" sz="2280" dirty="0"/>
          </a:p>
        </p:txBody>
      </p:sp>
      <p:sp>
        <p:nvSpPr>
          <p:cNvPr id="11" name="Shape 9"/>
          <p:cNvSpPr/>
          <p:nvPr/>
        </p:nvSpPr>
        <p:spPr>
          <a:xfrm>
            <a:off x="2807757" y="3369564"/>
            <a:ext cx="2057949" cy="1947672"/>
          </a:xfrm>
          <a:prstGeom prst="roundRect">
            <a:avLst>
              <a:gd name="adj" fmla="val 469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2990637" y="3552444"/>
            <a:ext cx="1280709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Criar a classe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Botão direito no pacote → </a:t>
            </a:r>
            <a:r>
              <a:rPr lang="en-US" sz="1150" b="1" dirty="0">
                <a:solidFill>
                  <a:srgbClr val="556B82"/>
                </a:solidFill>
              </a:rPr>
              <a:t>New → ABAP Class</a:t>
            </a:r>
            <a:r>
              <a:rPr lang="en-US" sz="1150" dirty="0">
                <a:solidFill>
                  <a:srgbClr val="556B82"/>
                </a:solidFill>
              </a:rPr>
              <a:t>, com a interface </a:t>
            </a: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IF_OO_ADT_CLASSRUN</a:t>
            </a:r>
            <a:r>
              <a:rPr lang="en-US" sz="11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748376" y="2500884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748376" y="2500884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3</a:t>
            </a:r>
            <a:endParaRPr lang="en-US" sz="2280" dirty="0"/>
          </a:p>
        </p:txBody>
      </p:sp>
      <p:sp>
        <p:nvSpPr>
          <p:cNvPr id="15" name="Shape 13"/>
          <p:cNvSpPr/>
          <p:nvPr/>
        </p:nvSpPr>
        <p:spPr>
          <a:xfrm>
            <a:off x="5066873" y="3369564"/>
            <a:ext cx="2057949" cy="1947672"/>
          </a:xfrm>
          <a:prstGeom prst="roundRect">
            <a:avLst>
              <a:gd name="adj" fmla="val 469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249753" y="3552444"/>
            <a:ext cx="1280709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Implementar </a:t>
            </a:r>
            <a:r>
              <a:rPr lang="en-US" sz="13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Escreva a saída com </a:t>
            </a: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out-&gt;write( )</a:t>
            </a:r>
            <a:r>
              <a:rPr lang="en-US" sz="11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07492" y="2500884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07492" y="2500884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4</a:t>
            </a:r>
            <a:endParaRPr lang="en-US" sz="2280" dirty="0"/>
          </a:p>
        </p:txBody>
      </p:sp>
      <p:sp>
        <p:nvSpPr>
          <p:cNvPr id="19" name="Shape 17"/>
          <p:cNvSpPr/>
          <p:nvPr/>
        </p:nvSpPr>
        <p:spPr>
          <a:xfrm>
            <a:off x="7325990" y="3369564"/>
            <a:ext cx="2057949" cy="1947672"/>
          </a:xfrm>
          <a:prstGeom prst="roundRect">
            <a:avLst>
              <a:gd name="adj" fmla="val 469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508870" y="3552444"/>
            <a:ext cx="1280709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Ativar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Ctrl+F3</a:t>
            </a:r>
            <a:r>
              <a:rPr lang="en-US" sz="1150" dirty="0">
                <a:solidFill>
                  <a:srgbClr val="556B82"/>
                </a:solidFill>
              </a:rPr>
              <a:t>: sem ativação, o código não roda nem pode ser depurado.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266609" y="2500884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266609" y="2500884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5</a:t>
            </a:r>
            <a:endParaRPr lang="en-US" sz="2280" dirty="0"/>
          </a:p>
        </p:txBody>
      </p:sp>
      <p:sp>
        <p:nvSpPr>
          <p:cNvPr id="23" name="Shape 21"/>
          <p:cNvSpPr/>
          <p:nvPr/>
        </p:nvSpPr>
        <p:spPr>
          <a:xfrm>
            <a:off x="9585107" y="3369564"/>
            <a:ext cx="2057949" cy="1947672"/>
          </a:xfrm>
          <a:prstGeom prst="roundRect">
            <a:avLst>
              <a:gd name="adj" fmla="val 469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767987" y="3552444"/>
            <a:ext cx="1280709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Executar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F9</a:t>
            </a:r>
            <a:r>
              <a:rPr lang="en-US" sz="1150" dirty="0">
                <a:solidFill>
                  <a:srgbClr val="556B82"/>
                </a:solidFill>
              </a:rPr>
              <a:t> abre a view </a:t>
            </a:r>
            <a:r>
              <a:rPr lang="en-US" sz="1150" b="1" dirty="0">
                <a:solidFill>
                  <a:srgbClr val="556B82"/>
                </a:solidFill>
              </a:rPr>
              <a:t>Console</a:t>
            </a:r>
            <a:r>
              <a:rPr lang="en-US" sz="1150" dirty="0">
                <a:solidFill>
                  <a:srgbClr val="556B82"/>
                </a:solidFill>
              </a:rPr>
              <a:t> com o resultado.</a:t>
            </a:r>
            <a:endParaRPr lang="en-US" sz="14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949" y="3525012"/>
            <a:ext cx="329184" cy="329184"/>
          </a:xfrm>
          <a:prstGeom prst="rect">
            <a:avLst/>
          </a:prstGeom>
        </p:spPr>
      </p:pic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065" y="3525012"/>
            <a:ext cx="329184" cy="329184"/>
          </a:xfrm>
          <a:prstGeom prst="rect">
            <a:avLst/>
          </a:prstGeom>
        </p:spPr>
      </p:pic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6182" y="3525012"/>
            <a:ext cx="329184" cy="329184"/>
          </a:xfrm>
          <a:prstGeom prst="rect">
            <a:avLst/>
          </a:prstGeom>
        </p:spPr>
      </p:pic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5299" y="3525012"/>
            <a:ext cx="329184" cy="329184"/>
          </a:xfrm>
          <a:prstGeom prst="rect">
            <a:avLst/>
          </a:prstGeom>
        </p:spPr>
      </p:pic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4415" y="3525012"/>
            <a:ext cx="329184" cy="32918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01.01 · SEÇÃO 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Joule for Developers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As </a:t>
            </a:r>
            <a:r>
              <a:rPr lang="en-US" sz="1600" b="1" dirty="0">
                <a:solidFill>
                  <a:srgbClr val="D1EFFF"/>
                </a:solidFill>
              </a:rPr>
              <a:t>ABAP AI capabilities</a:t>
            </a:r>
            <a:r>
              <a:rPr lang="en-US" sz="1600" dirty="0">
                <a:solidFill>
                  <a:srgbClr val="D1EFFF"/>
                </a:solidFill>
              </a:rPr>
              <a:t> trazem IA generativa para dentro do ADT. Elas aceleram o trabalho, mas não substituem o seu julgamento.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Joule Chat</a:t>
            </a:r>
            <a:r>
              <a:rPr lang="en-US" sz="1000" dirty="0">
                <a:solidFill>
                  <a:srgbClr val="D1EFFF"/>
                </a:solidFill>
              </a:rPr>
              <a:t>  perguntas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Predictive completion</a:t>
            </a:r>
            <a:r>
              <a:rPr lang="en-US" sz="1000" dirty="0">
                <a:solidFill>
                  <a:srgbClr val="D1EFFF"/>
                </a:solidFill>
              </a:rPr>
              <a:t>  ghost text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</a:t>
            </a:r>
            <a:r>
              <a:rPr lang="en-US" sz="1000" dirty="0">
                <a:solidFill>
                  <a:srgbClr val="D1EFFF"/>
                </a:solidFill>
              </a:rPr>
              <a:t>  /explain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 AI SDK</a:t>
            </a:r>
            <a:r>
              <a:rPr lang="en-US" sz="1000" dirty="0">
                <a:solidFill>
                  <a:srgbClr val="D1EFFF"/>
                </a:solidFill>
              </a:rPr>
              <a:t>  IA nas suas apps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IA NO ADT · CAPACIDADES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que o Joule faz por você no ADT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255520"/>
            <a:ext cx="2602154" cy="2557272"/>
          </a:xfrm>
          <a:prstGeom prst="roundRect">
            <a:avLst>
              <a:gd name="adj" fmla="val 3576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45668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060192"/>
            <a:ext cx="2199818" cy="164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Joule Chat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Perguntas, explicações e exemplos em linguagem natural (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 → Show View → Joule</a:t>
            </a:r>
            <a:r>
              <a:rPr lang="en-US" sz="1200" dirty="0">
                <a:solidFill>
                  <a:srgbClr val="556B82"/>
                </a:solidFill>
              </a:rPr>
              <a:t>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79394" y="2255520"/>
            <a:ext cx="2602154" cy="2557272"/>
          </a:xfrm>
          <a:prstGeom prst="roundRect">
            <a:avLst>
              <a:gd name="adj" fmla="val 3576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580562" y="245668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80562" y="3060192"/>
            <a:ext cx="2199818" cy="164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Predictive code completion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Sugestões em cinza (</a:t>
            </a:r>
            <a:r>
              <a:rPr lang="en-US" sz="1200" i="1" dirty="0">
                <a:solidFill>
                  <a:srgbClr val="556B82"/>
                </a:solidFill>
              </a:rPr>
              <a:t>ghost text</a:t>
            </a:r>
            <a:r>
              <a:rPr lang="en-US" sz="1200" dirty="0">
                <a:solidFill>
                  <a:srgbClr val="556B82"/>
                </a:solidFill>
              </a:rPr>
              <a:t>) ao pausar a digitação em classes, interfaces e programas.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0148" y="2255520"/>
            <a:ext cx="2602154" cy="2557272"/>
          </a:xfrm>
          <a:prstGeom prst="roundRect">
            <a:avLst>
              <a:gd name="adj" fmla="val 3576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11316" y="245668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11316" y="3060192"/>
            <a:ext cx="2199818" cy="164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Explain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Selecione código ou um objeto e use </a:t>
            </a:r>
            <a:r>
              <a:rPr lang="en-US" sz="1200" b="1" dirty="0">
                <a:solidFill>
                  <a:srgbClr val="556B82"/>
                </a:solidFill>
              </a:rPr>
              <a:t>Joule → Explain</a:t>
            </a:r>
            <a:r>
              <a:rPr lang="en-US" sz="1200" dirty="0">
                <a:solidFill>
                  <a:srgbClr val="556B82"/>
                </a:solidFill>
              </a:rPr>
              <a:t> para entender código legado.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40901" y="2255520"/>
            <a:ext cx="2602154" cy="2557272"/>
          </a:xfrm>
          <a:prstGeom prst="roundRect">
            <a:avLst>
              <a:gd name="adj" fmla="val 3576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242069" y="245668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42069" y="3060192"/>
            <a:ext cx="2199818" cy="164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E mais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Testes ABAP Unit e de CDS, serviço OData de UI do zero, lógica RAP e consumo de OData.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99567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8D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207008" y="499567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4F00"/>
                </a:solidFill>
              </a:rPr>
              <a:t>Regra de ouro  </a:t>
            </a:r>
            <a:r>
              <a:rPr lang="en-US" sz="1200" dirty="0">
                <a:solidFill>
                  <a:srgbClr val="1D2D3E"/>
                </a:solidFill>
              </a:rPr>
              <a:t>os resultados da IA variam. Revise o código gerado, confirme o requisito e rode o ATC antes de liberar.</a:t>
            </a:r>
            <a:endParaRPr lang="en-US" sz="14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1146" y="2557272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557272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900" y="2557272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2653" y="2557272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5123688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aprendemos na aula 01.01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 </a:t>
            </a:r>
            <a:r>
              <a:rPr lang="en-US" sz="1400" b="1" dirty="0">
                <a:solidFill>
                  <a:srgbClr val="FFFFFF"/>
                </a:solidFill>
              </a:rPr>
              <a:t>ADT</a:t>
            </a:r>
            <a:r>
              <a:rPr lang="en-US" sz="1400" dirty="0">
                <a:solidFill>
                  <a:srgbClr val="FFFFFF"/>
                </a:solidFill>
              </a:rPr>
              <a:t> no Eclipse conecta-se a cada sistema por um projeto: ABAP Cloud Project ou ABAP Project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ABAP Cloud</a:t>
            </a:r>
            <a:r>
              <a:rPr lang="en-US" sz="1400" dirty="0">
                <a:solidFill>
                  <a:srgbClr val="FFFFFF"/>
                </a:solidFill>
              </a:rPr>
              <a:t> é um modelo: language version 5, só APIs liberadas e dados SAP via CDS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Objetos vivem em </a:t>
            </a:r>
            <a:r>
              <a:rPr lang="en-US" sz="1400" b="1" dirty="0">
                <a:solidFill>
                  <a:srgbClr val="FFFFFF"/>
                </a:solidFill>
              </a:rPr>
              <a:t>pacotes</a:t>
            </a:r>
            <a:r>
              <a:rPr lang="en-US" sz="1400" dirty="0">
                <a:solidFill>
                  <a:srgbClr val="FFFFFF"/>
                </a:solidFill>
              </a:rPr>
              <a:t>, dentro de </a:t>
            </a:r>
            <a:r>
              <a:rPr lang="en-US" sz="1400" b="1" dirty="0">
                <a:solidFill>
                  <a:srgbClr val="FFFFFF"/>
                </a:solidFill>
              </a:rPr>
              <a:t>componentes de software</a:t>
            </a:r>
            <a:r>
              <a:rPr lang="en-US" sz="1400" dirty="0">
                <a:solidFill>
                  <a:srgbClr val="FFFFFF"/>
                </a:solidFill>
              </a:rPr>
              <a:t>, no namespace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</a:t>
            </a:r>
            <a:r>
              <a:rPr lang="en-US" sz="1400" dirty="0">
                <a:solidFill>
                  <a:srgbClr val="FFFFFF"/>
                </a:solidFill>
              </a:rPr>
              <a:t>/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Requests de transporte</a:t>
            </a:r>
            <a:r>
              <a:rPr lang="en-US" sz="1400" dirty="0">
                <a:solidFill>
                  <a:srgbClr val="FFFFFF"/>
                </a:solidFill>
              </a:rPr>
              <a:t> bloqueiam objetos e levam mudanças juntas até a produção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 primeiro programa é uma </a:t>
            </a:r>
            <a:r>
              <a:rPr lang="en-US" sz="1400" b="1" dirty="0">
                <a:solidFill>
                  <a:srgbClr val="FFFFFF"/>
                </a:solidFill>
              </a:rPr>
              <a:t>classe</a:t>
            </a:r>
            <a:r>
              <a:rPr lang="en-US" sz="1400" dirty="0">
                <a:solidFill>
                  <a:srgbClr val="FFFFFF"/>
                </a:solidFill>
              </a:rPr>
              <a:t> com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IF_OO_ADT_CLASSRUN</a:t>
            </a:r>
            <a:r>
              <a:rPr lang="en-US" sz="1400" dirty="0">
                <a:solidFill>
                  <a:srgbClr val="FFFFFF"/>
                </a:solidFill>
              </a:rPr>
              <a:t>, ativada com Ctrl+F3 e executada com F9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 </a:t>
            </a:r>
            <a:r>
              <a:rPr lang="en-US" sz="1400" b="1" dirty="0">
                <a:solidFill>
                  <a:srgbClr val="FFFFFF"/>
                </a:solidFill>
              </a:rPr>
              <a:t>Joule</a:t>
            </a:r>
            <a:r>
              <a:rPr lang="en-US" sz="1400" dirty="0">
                <a:solidFill>
                  <a:srgbClr val="FFFFFF"/>
                </a:solidFill>
              </a:rPr>
              <a:t> explica, sugere e gera código, mas a revisão continua sendo sua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aula · 01.02  </a:t>
            </a:r>
            <a:r>
              <a:rPr lang="en-US" sz="1500" dirty="0">
                <a:solidFill>
                  <a:srgbClr val="FFFFFF"/>
                </a:solidFill>
              </a:rPr>
              <a:t>Técnicas básicas: Dados, expressões, controle de fluxo e debugger.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01.01 Iniciando a jornada no ABAP moderno</dc:title>
  <dc:subject>ABAP Moderno – Módulo 01: Fundamentos do ABAP Moderno</dc:subject>
  <dc:creator>Adriano Bispo</dc:creator>
  <cp:lastModifiedBy>Adriano Bispo</cp:lastModifiedBy>
  <cp:revision>1</cp:revision>
  <dcterms:created xsi:type="dcterms:W3CDTF">2026-10-28T04:16:14Z</dcterms:created>
  <dcterms:modified xsi:type="dcterms:W3CDTF">2026-10-28T04:16:14Z</dcterms:modified>
</cp:coreProperties>
</file>