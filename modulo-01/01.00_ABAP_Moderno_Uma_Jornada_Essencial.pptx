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ABAP moderno: uma jornada essencial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01: o que mudou no ABAP e o caminho das oito aulas, do primeiro programa ao RAP.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8 aulas neste módulo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Oito aulas, do primeiro programa ao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Learning Basic ABAP Programming (S4D400)</a:t>
            </a:r>
            <a:r>
              <a:rPr lang="en-US" sz="1200" dirty="0">
                <a:solidFill>
                  <a:srgbClr val="1D2D3E"/>
                </a:solidFill>
              </a:rPr>
              <a:t> da jornada </a:t>
            </a:r>
            <a:r>
              <a:rPr lang="en-US" sz="1200" i="1" dirty="0">
                <a:solidFill>
                  <a:srgbClr val="1D2D3E"/>
                </a:solidFill>
              </a:rPr>
              <a:t>Acquiring Core ABAP Skills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do ambiente ao RAP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~17 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Carga do curso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lições e exercícios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BTP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Ambiente dos exercícios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BTP, ABAP environment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Para quem 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quem já programa em uma linguagem moderna (Java, JavaScript, C# ou Python) e para profissionais SAP que querem o ABAP atual. O conteúdo vale para a SAP BTP, o S/4HANA Cloud e o S/4HANA 2020 ou posterior.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57032" y="3977640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57032" y="397764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ADT · Eclipse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97466" y="3977640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97466" y="3977640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SQL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3762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93762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29523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29523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EML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65285" y="4416552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65285" y="4416552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Joule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evolução do ABAP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ABAP continua sendo a linguagem do coração do SAP, mas a forma de programar mudou: </a:t>
            </a:r>
            <a:r>
              <a:rPr lang="en-US" sz="1600" b="1" dirty="0">
                <a:solidFill>
                  <a:srgbClr val="D1EFFF"/>
                </a:solidFill>
              </a:rPr>
              <a:t>mesmos problemas, ferramentas e sintaxe novas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GUI → ADT</a:t>
            </a:r>
            <a:r>
              <a:rPr lang="en-US" sz="1000" dirty="0">
                <a:solidFill>
                  <a:srgbClr val="D1EFFF"/>
                </a:solidFill>
              </a:rPr>
              <a:t>  ferramenta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 → classes</a:t>
            </a:r>
            <a:r>
              <a:rPr lang="en-US" sz="1000" dirty="0">
                <a:solidFill>
                  <a:srgbClr val="D1EFFF"/>
                </a:solidFill>
              </a:rPr>
              <a:t>  programa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Dynpro → Fiori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Modificar → estender</a:t>
            </a:r>
            <a:r>
              <a:rPr lang="en-US" sz="1000" dirty="0">
                <a:solidFill>
                  <a:srgbClr val="D1EFFF"/>
                </a:solidFill>
              </a:rPr>
              <a:t>  Clean Core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EVOLUÇÃO · ANTES E AGORA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mudou no jeito de desenvolver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3743"/>
            <a:ext cx="5410048" cy="2790635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51374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880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78806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8143"/>
            <a:ext cx="4952848" cy="173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SAP GUI e transação SE80 como ambiente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Programas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r>
              <a:rPr lang="en-US" sz="1350" dirty="0">
                <a:solidFill>
                  <a:srgbClr val="1D2D3E"/>
                </a:solidFill>
              </a:rPr>
              <a:t> com listas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50" dirty="0">
                <a:solidFill>
                  <a:srgbClr val="1D2D3E"/>
                </a:solidFill>
              </a:rPr>
              <a:t> e telas Dynpro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Leitura de qualquer tabela e lógica em loops no servidor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Customização por modificação do código 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3743"/>
            <a:ext cx="5410048" cy="2790635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51374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7880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78806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moderno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428143"/>
            <a:ext cx="4952848" cy="173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ADT</a:t>
            </a:r>
            <a:r>
              <a:rPr lang="en-US" sz="1350" dirty="0">
                <a:solidFill>
                  <a:srgbClr val="1D2D3E"/>
                </a:solidFill>
              </a:rPr>
              <a:t> no Eclipse, com refatoração e o Joule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Classes, interfaces e apps </a:t>
            </a:r>
            <a:r>
              <a:rPr lang="en-US" sz="1350" b="1" dirty="0">
                <a:solidFill>
                  <a:srgbClr val="1D2D3E"/>
                </a:solidFill>
              </a:rPr>
              <a:t>SAP Fiori</a:t>
            </a:r>
            <a:r>
              <a:rPr lang="en-US" sz="1350" dirty="0">
                <a:solidFill>
                  <a:srgbClr val="1D2D3E"/>
                </a:solidFill>
              </a:rPr>
              <a:t> sobre o </a:t>
            </a:r>
            <a:r>
              <a:rPr lang="en-US" sz="1350" b="1" dirty="0">
                <a:solidFill>
                  <a:srgbClr val="1D2D3E"/>
                </a:solidFill>
              </a:rPr>
              <a:t>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CDS views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i="1" dirty="0">
                <a:solidFill>
                  <a:srgbClr val="1D2D3E"/>
                </a:solidFill>
              </a:rPr>
              <a:t>code pushdown</a:t>
            </a:r>
            <a:r>
              <a:rPr lang="en-US" sz="1350" dirty="0">
                <a:solidFill>
                  <a:srgbClr val="1D2D3E"/>
                </a:solidFill>
              </a:rPr>
              <a:t>: o banco faz o trabalho pesado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em pontos liberados: o </a:t>
            </a: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88864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88864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EVOLUÇÃO · SINTAXE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Mesmo problema, sintaxe nova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712464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604838"/>
                <a:gridCol w="3406326"/>
                <a:gridCol w="3606698"/>
                <a:gridCol w="1202233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Tarefa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Estilo clássico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Estilo moderno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Declarar e atribuir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no topo, depois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DATA(x) = 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inline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Montar texto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CONCATENATE … INTO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String template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|…{ x }…|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Criar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OBJECT ref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 = NEW #(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Ler do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… ENDSELECT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… INTO TABLE @DATA(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Copiar por 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MOVE-CORRESPONDING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CORRESPONDING #(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Ler linha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TABLE … WITH KEY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itab[ campo = valor 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Gravar dados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MODIFY ENTITIES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(EML)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01.07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roteiro do módulo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oito aulas formam três blocos: </a:t>
            </a:r>
            <a:r>
              <a:rPr lang="en-US" sz="1600" b="1" dirty="0">
                <a:solidFill>
                  <a:srgbClr val="D1EFFF"/>
                </a:solidFill>
              </a:rPr>
              <a:t>fundamentos da linguagem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dados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transações com RAP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01.01 – 01.03</a:t>
            </a:r>
            <a:r>
              <a:rPr lang="en-US" sz="1000" dirty="0">
                <a:solidFill>
                  <a:srgbClr val="D1EFFF"/>
                </a:solidFill>
              </a:rPr>
              <a:t>  fundamentos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01.04 – 01.06</a:t>
            </a:r>
            <a:r>
              <a:rPr lang="en-US" sz="1000" dirty="0">
                <a:solidFill>
                  <a:srgbClr val="D1EFFF"/>
                </a:solidFill>
              </a:rPr>
              <a:t>  dados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01.07 – 01.08</a:t>
            </a:r>
            <a:r>
              <a:rPr lang="en-US" sz="1000" dirty="0">
                <a:solidFill>
                  <a:srgbClr val="D1EFFF"/>
                </a:solidFill>
              </a:rPr>
              <a:t>  RAP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ROTEIRO · TRÊS BLOCOS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primeira classe ao primeiro serviço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30653" y="2884932"/>
            <a:ext cx="7530389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83181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3181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Fundamentos · 01.01 a 01.03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Ambiente ADT e ABAP Cloud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Classes locais, métodos e encapsulamento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48376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48376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4313834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96714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· 01.04 a 01.06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ABAP SQL e leitura por CDS views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Estruturas,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Tabelas internas e tipos de acesso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13570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13570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8079029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61909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RAP · 01.07 e 01.08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Business objects e EML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Camadas do RAP e o gerador de serviço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Validações e ajustes de UI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026" y="3561588"/>
            <a:ext cx="329184" cy="329184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221" y="3561588"/>
            <a:ext cx="329184" cy="329184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56158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ROTEIRO · UM GOSTINHO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programa curto que usa quase todo o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76479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76479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zcl_voos.clas.abap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ZCL_VOOS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zcl_voos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zcl_voos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if_oo_adt_classrun~main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_Airline-Name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'FRA'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flight-Airline }: { flight-ConnectionID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Classe executável · 01.01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556B82"/>
                </a:solidFill>
              </a:rPr>
              <a:t> torna a classe um console app.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CDS e path expression · 01.04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Lê da view liberada e da associação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_Airline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 inline · 01.06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@DATA( )</a:t>
            </a:r>
            <a:r>
              <a:rPr lang="en-US" sz="1050" dirty="0">
                <a:solidFill>
                  <a:srgbClr val="556B82"/>
                </a:solidFill>
              </a:rPr>
              <a:t> cria a tabela com as colunas 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String template · 01.02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Formata a saída sem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estudar este módulo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aula tem </a:t>
            </a:r>
            <a:r>
              <a:rPr lang="en-US" sz="1600" b="1" dirty="0">
                <a:solidFill>
                  <a:srgbClr val="D1EFFF"/>
                </a:solidFill>
              </a:rPr>
              <a:t>slides</a:t>
            </a:r>
            <a:r>
              <a:rPr lang="en-US" sz="1600" dirty="0">
                <a:solidFill>
                  <a:srgbClr val="D1EFFF"/>
                </a:solidFill>
              </a:rPr>
              <a:t>, um </a:t>
            </a:r>
            <a:r>
              <a:rPr lang="en-US" sz="1600" b="1" dirty="0">
                <a:solidFill>
                  <a:srgbClr val="D1EFFF"/>
                </a:solidFill>
              </a:rPr>
              <a:t>README</a:t>
            </a:r>
            <a:r>
              <a:rPr lang="en-US" sz="1600" dirty="0">
                <a:solidFill>
                  <a:srgbClr val="D1EFFF"/>
                </a:solidFill>
              </a:rPr>
              <a:t> com teoria, exemplos e quiz, e aponta para a lição oficial e a documentação da SAP.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r>
              <a:rPr lang="en-US" sz="1000" dirty="0">
                <a:solidFill>
                  <a:srgbClr val="D1EFFF"/>
                </a:solidFill>
              </a:rPr>
              <a:t>  .pptx da aula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</a:t>
            </a:r>
            <a:r>
              <a:rPr lang="en-US" sz="1000" dirty="0">
                <a:solidFill>
                  <a:srgbClr val="D1EFFF"/>
                </a:solidFill>
              </a:rPr>
              <a:t>  teoria e quiz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</a:t>
            </a:r>
            <a:r>
              <a:rPr lang="en-US" sz="1000" dirty="0">
                <a:solidFill>
                  <a:srgbClr val="D1EFFF"/>
                </a:solidFill>
              </a:rPr>
              <a:t>  sistema da SAP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Docs</a:t>
            </a:r>
            <a:r>
              <a:rPr lang="en-US" sz="1000" dirty="0">
                <a:solidFill>
                  <a:srgbClr val="D1EFFF"/>
                </a:solidFill>
              </a:rPr>
              <a:t>  referência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ESTUDO · MATERIAIS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Quatro apoios para cada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Slides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visão guiada da aula, em seções, com o resumo no final.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README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Teoria completa, código comentado, glossário e quiz de fixação.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Prática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exercícios oficiais rodam no </a:t>
            </a:r>
            <a:r>
              <a:rPr lang="en-US" sz="1200" i="1" dirty="0">
                <a:solidFill>
                  <a:srgbClr val="556B82"/>
                </a:solidFill>
              </a:rPr>
              <a:t>practice system</a:t>
            </a:r>
            <a:r>
              <a:rPr lang="en-US" sz="1200" dirty="0">
                <a:solidFill>
                  <a:srgbClr val="556B82"/>
                </a:solidFill>
              </a:rPr>
              <a:t> da SAP Learning ou em uma conta trial.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Keyword Docs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README aponta para o capítulo da ABAP Keyword Documentation.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Certificação  </a:t>
            </a:r>
            <a:r>
              <a:rPr lang="en-US" sz="1200" dirty="0">
                <a:solidFill>
                  <a:srgbClr val="1D2D3E"/>
                </a:solidFill>
              </a:rPr>
              <a:t>a jornada completa prepara para a </a:t>
            </a:r>
            <a:r>
              <a:rPr lang="en-US" sz="1200" b="1" dirty="0">
                <a:solidFill>
                  <a:srgbClr val="1D2D3E"/>
                </a:solidFill>
              </a:rPr>
              <a:t>SAP Certified – Back-End Developer – ABAP Cloud (C_ABAPD)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Trabalhar no </a:t>
            </a:r>
            <a:r>
              <a:rPr lang="en-US" sz="1400" b="1" dirty="0">
                <a:solidFill>
                  <a:srgbClr val="FFFFFF"/>
                </a:solidFill>
              </a:rPr>
              <a:t>ADT</a:t>
            </a:r>
            <a:r>
              <a:rPr lang="en-US" sz="1400" dirty="0">
                <a:solidFill>
                  <a:srgbClr val="FFFFFF"/>
                </a:solidFill>
              </a:rPr>
              <a:t> e entender as regras do </a:t>
            </a: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Declarar dados, montar expressões, controlar o fluxo e </a:t>
            </a:r>
            <a:r>
              <a:rPr lang="en-US" sz="1400" b="1" dirty="0">
                <a:solidFill>
                  <a:srgbClr val="FFFFFF"/>
                </a:solidFill>
              </a:rPr>
              <a:t>depurar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Modelar com </a:t>
            </a:r>
            <a:r>
              <a:rPr lang="en-US" sz="1400" b="1" dirty="0">
                <a:solidFill>
                  <a:srgbClr val="FFFFFF"/>
                </a:solidFill>
              </a:rPr>
              <a:t>classes locais</a:t>
            </a:r>
            <a:r>
              <a:rPr lang="en-US" sz="1400" dirty="0">
                <a:solidFill>
                  <a:srgbClr val="FFFFFF"/>
                </a:solidFill>
              </a:rPr>
              <a:t>, métodos e encapsulamento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Ler dados com </a:t>
            </a:r>
            <a:r>
              <a:rPr lang="en-US" sz="1400" b="1" dirty="0">
                <a:solidFill>
                  <a:srgbClr val="FFFFFF"/>
                </a:solidFill>
              </a:rPr>
              <a:t>ABAP SQL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CDS views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Manipular </a:t>
            </a:r>
            <a:r>
              <a:rPr lang="en-US" sz="1400" b="1" dirty="0">
                <a:solidFill>
                  <a:srgbClr val="FFFFFF"/>
                </a:solidFill>
              </a:rPr>
              <a:t>estruturas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tabelas internas</a:t>
            </a:r>
            <a:r>
              <a:rPr lang="en-US" sz="1400" dirty="0">
                <a:solidFill>
                  <a:srgbClr val="FFFFFF"/>
                </a:solidFill>
              </a:rPr>
              <a:t> com a sintaxe moderna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Alterar dados com </a:t>
            </a:r>
            <a:r>
              <a:rPr lang="en-US" sz="1400" b="1" dirty="0">
                <a:solidFill>
                  <a:srgbClr val="FFFFFF"/>
                </a:solidFill>
              </a:rPr>
              <a:t>EML</a:t>
            </a:r>
            <a:r>
              <a:rPr lang="en-US" sz="1400" dirty="0">
                <a:solidFill>
                  <a:srgbClr val="FFFFFF"/>
                </a:solidFill>
              </a:rPr>
              <a:t> e construir serviços com 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01.01  </a:t>
            </a:r>
            <a:r>
              <a:rPr lang="en-US" sz="1500" dirty="0">
                <a:solidFill>
                  <a:srgbClr val="FFFFFF"/>
                </a:solidFill>
              </a:rPr>
              <a:t>Iniciando a jornada: ADT, ABAP Cloud, pacotes e o primeiro programa.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01.00 ABAP moderno: uma jornada essencial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2026-10-28T04:16:11Z</dcterms:created>
  <dcterms:modified xsi:type="dcterms:W3CDTF">2026-10-28T04:16:11Z</dcterms:modified>
</cp:coreProperties>
</file>