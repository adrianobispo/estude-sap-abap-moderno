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D2D3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D2D3E"/>
                </a:solidFill>
                <a:latin typeface="+mn-lt"/>
              </a:rPr>
              <a:t>Tempo de busca × tamanho da tabela (N)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 O(n)</c:v>
                </c:pt>
              </c:strCache>
            </c:strRef>
          </c:tx>
          <c:spPr>
            <a:solidFill>
              <a:srgbClr val="D20A0A"/>
            </a:solidFill>
            <a:ln w="38100" cap="flat">
              <a:solidFill>
                <a:srgbClr val="D20A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20A0A"/>
              </a:solidFill>
              <a:ln w="9525" cap="flat">
                <a:solidFill>
                  <a:srgbClr val="D20A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1</c:v>
                  </c:pt>
                  <c:pt idx="1">
                    <c:v>1000</c:v>
                  </c:pt>
                  <c:pt idx="2">
                    <c:v>2000</c:v>
                  </c:pt>
                  <c:pt idx="3">
                    <c:v>3000</c:v>
                  </c:pt>
                  <c:pt idx="4">
                    <c:v>4000</c:v>
                  </c:pt>
                  <c:pt idx="5">
                    <c:v>5000</c:v>
                  </c:pt>
                  <c:pt idx="6">
                    <c:v>6000</c:v>
                  </c:pt>
                  <c:pt idx="7">
                    <c:v>7000</c:v>
                  </c:pt>
                  <c:pt idx="8">
                    <c:v>8000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0.001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Sorted  O(log n)</c:v>
                </c:pt>
              </c:strCache>
            </c:strRef>
          </c:tx>
          <c:spPr>
            <a:solidFill>
              <a:srgbClr val="0070F2"/>
            </a:solidFill>
            <a:ln w="38100" cap="flat">
              <a:solidFill>
                <a:srgbClr val="0070F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70F2"/>
              </a:solidFill>
              <a:ln w="9525" cap="flat">
                <a:solidFill>
                  <a:srgbClr val="0070F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1</c:v>
                  </c:pt>
                  <c:pt idx="1">
                    <c:v>1000</c:v>
                  </c:pt>
                  <c:pt idx="2">
                    <c:v>2000</c:v>
                  </c:pt>
                  <c:pt idx="3">
                    <c:v>3000</c:v>
                  </c:pt>
                  <c:pt idx="4">
                    <c:v>4000</c:v>
                  </c:pt>
                  <c:pt idx="5">
                    <c:v>5000</c:v>
                  </c:pt>
                  <c:pt idx="6">
                    <c:v>6000</c:v>
                  </c:pt>
                  <c:pt idx="7">
                    <c:v>7000</c:v>
                  </c:pt>
                  <c:pt idx="8">
                    <c:v>8000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1.073238307578994</c:v>
                </c:pt>
                <c:pt idx="2">
                  <c:v>1.1809306152713015</c:v>
                </c:pt>
                <c:pt idx="3">
                  <c:v>1.2439265768874261</c:v>
                </c:pt>
                <c:pt idx="4">
                  <c:v>1.2886229229636093</c:v>
                </c:pt>
                <c:pt idx="5">
                  <c:v>1.3232921024130175</c:v>
                </c:pt>
                <c:pt idx="6">
                  <c:v>1.351618884579734</c:v>
                </c:pt>
                <c:pt idx="7">
                  <c:v>1.3755688376467359</c:v>
                </c:pt>
                <c:pt idx="8">
                  <c:v>1.396315230655917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Hashed  O(1)</c:v>
                </c:pt>
              </c:strCache>
            </c:strRef>
          </c:tx>
          <c:spPr>
            <a:solidFill>
              <a:srgbClr val="E76500"/>
            </a:solidFill>
            <a:ln w="38100" cap="flat">
              <a:solidFill>
                <a:srgbClr val="E76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76500"/>
              </a:solidFill>
              <a:ln w="9525" cap="flat">
                <a:solidFill>
                  <a:srgbClr val="E76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1</c:v>
                  </c:pt>
                  <c:pt idx="1">
                    <c:v>1000</c:v>
                  </c:pt>
                  <c:pt idx="2">
                    <c:v>2000</c:v>
                  </c:pt>
                  <c:pt idx="3">
                    <c:v>3000</c:v>
                  </c:pt>
                  <c:pt idx="4">
                    <c:v>4000</c:v>
                  </c:pt>
                  <c:pt idx="5">
                    <c:v>5000</c:v>
                  </c:pt>
                  <c:pt idx="6">
                    <c:v>6000</c:v>
                  </c:pt>
                  <c:pt idx="7">
                    <c:v>7000</c:v>
                  </c:pt>
                  <c:pt idx="8">
                    <c:v>8000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0.25</c:v>
                </c:pt>
                <c:pt idx="1">
                  <c:v>0.25</c:v>
                </c:pt>
                <c:pt idx="2">
                  <c:v>0.25</c:v>
                </c:pt>
                <c:pt idx="3">
                  <c:v>0.25</c:v>
                </c:pt>
                <c:pt idx="4">
                  <c:v>0.25</c:v>
                </c:pt>
                <c:pt idx="5">
                  <c:v>0.25</c:v>
                </c:pt>
                <c:pt idx="6">
                  <c:v>0.25</c:v>
                </c:pt>
                <c:pt idx="7">
                  <c:v>0.25</c:v>
                </c:pt>
                <c:pt idx="8">
                  <c:v>0.25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D2D3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01  ·  01.00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01  ·  Guia Essencial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 Evolução do ABAP: Guia Essencial para o Desenvolvedor Moderno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Dos Reports Clássicos ao ABAP RESTful Model na Nuvem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3302B"/>
          </a:solidFill>
          <a:ln w="9525">
            <a:solidFill>
              <a:srgbClr val="6B5E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 z_classic_report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21671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B1FF"/>
                </a:solidFill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235000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ABAP RESTful (RAP)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0" y="30998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CDS Views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384962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Web APIs / OData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459943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Cloud Services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Nossa Jornada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Do “Porquê” ao “Como”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658082" y="2606040"/>
            <a:ext cx="8875532" cy="0"/>
          </a:xfrm>
          <a:prstGeom prst="line">
            <a:avLst/>
          </a:prstGeom>
          <a:noFill/>
          <a:ln w="38100">
            <a:solidFill>
              <a:srgbClr val="0070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55162" y="21031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55162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070F2"/>
                </a:solidFill>
              </a:rPr>
              <a:t>1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337560"/>
            <a:ext cx="207257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A Nova Filosofia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Entendendo o problema do código legado e a solução estratégica do Clean Core.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74045" y="21031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74045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070F2"/>
                </a:solidFill>
              </a:rPr>
              <a:t>2</a:t>
            </a:r>
            <a:endParaRPr lang="en-US" sz="3300" dirty="0"/>
          </a:p>
        </p:txBody>
      </p:sp>
      <p:sp>
        <p:nvSpPr>
          <p:cNvPr id="10" name="Text 8"/>
          <p:cNvSpPr txBox="1"/>
          <p:nvPr/>
        </p:nvSpPr>
        <p:spPr>
          <a:xfrm>
            <a:off x="2840675" y="3337560"/>
            <a:ext cx="207257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Ferramentas e Sintaxe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Dominando o novo ambiente (ADT) e a sintaxe ABAP que nos torna mais produtivos.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592928" y="21031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92928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070F2"/>
                </a:solidFill>
              </a:rPr>
              <a:t>3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5059558" y="3337560"/>
            <a:ext cx="207257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Estruturas de Dados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Organizando e manipulando informações de forma eficiente em memória.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11811" y="21031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11811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070F2"/>
                </a:solidFill>
              </a:rPr>
              <a:t>4</a:t>
            </a:r>
            <a:endParaRPr lang="en-US" sz="3300" dirty="0"/>
          </a:p>
        </p:txBody>
      </p:sp>
      <p:sp>
        <p:nvSpPr>
          <p:cNvPr id="16" name="Text 14"/>
          <p:cNvSpPr txBox="1"/>
          <p:nvPr/>
        </p:nvSpPr>
        <p:spPr>
          <a:xfrm>
            <a:off x="7278441" y="3337560"/>
            <a:ext cx="207257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Interação com o Banco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Lendo e, crucialmente, escrevendo dados da maneira correta e segura no modelo moderno.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030694" y="2103120"/>
            <a:ext cx="1005840" cy="10058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30694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070F2"/>
                </a:solidFill>
              </a:rPr>
              <a:t>5</a:t>
            </a:r>
            <a:endParaRPr lang="en-US" sz="3300" dirty="0"/>
          </a:p>
        </p:txBody>
      </p:sp>
      <p:sp>
        <p:nvSpPr>
          <p:cNvPr id="19" name="Text 17"/>
          <p:cNvSpPr txBox="1"/>
          <p:nvPr/>
        </p:nvSpPr>
        <p:spPr>
          <a:xfrm>
            <a:off x="9497324" y="3337560"/>
            <a:ext cx="207257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O Modelo Completo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Juntando todas as peças na arquitetura ABAP RESTful (RAP).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Ponto de Partida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Dívida Técnica do Legado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25880" y="1673352"/>
            <a:ext cx="5806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‘Inferno do Upgrade’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Modificações de núcleo e acesso direto a tabelas internas quebravam o sistema a cada atualização da SAP (SPDD/SPAU).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25880" y="3136392"/>
            <a:ext cx="5806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Código Espaguete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Acoplamento forte: customizações dependiam de estruturas internas da SAP, tornando o sistema frágil e caro de manter.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25880" y="4599432"/>
            <a:ext cx="5806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‘Superpoderes’ Perigosos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Desenvolvedores podiam ler qualquer tabela e acessar o sistema operacional, criando riscos de segurança e instabilidade.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680960" y="1691640"/>
            <a:ext cx="3959352" cy="4343400"/>
          </a:xfrm>
          <a:prstGeom prst="roundRect">
            <a:avLst>
              <a:gd name="adj" fmla="val 323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955280" y="1920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O preço do acoplamento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2514600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EA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0" y="2514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A0808"/>
                </a:solidFill>
              </a:rPr>
              <a:t>Custos de Upgrade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55280" y="3630168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EA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78240" y="363016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A0808"/>
                </a:solidFill>
              </a:rPr>
              <a:t>Fragilidade do Sistema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955280" y="4745736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EA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78240" y="4745736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A0808"/>
                </a:solidFill>
              </a:rPr>
              <a:t>Manutenção Lenta</a:t>
            </a:r>
            <a:endParaRPr lang="en-US" sz="17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823314"/>
            <a:ext cx="285293" cy="285293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286354"/>
            <a:ext cx="285293" cy="285293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749394"/>
            <a:ext cx="285293" cy="285293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779776"/>
            <a:ext cx="384048" cy="384048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3895344"/>
            <a:ext cx="384048" cy="384048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880" y="5010912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Solução Estratégica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ABAP Cloud e a Filosofia Clean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17320" y="2194560"/>
            <a:ext cx="1645920" cy="1691640"/>
          </a:xfrm>
          <a:prstGeom prst="line">
            <a:avLst/>
          </a:prstGeom>
          <a:noFill/>
          <a:ln w="31750">
            <a:solidFill>
              <a:srgbClr val="0070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3063240" y="2194560"/>
            <a:ext cx="2148840" cy="1691640"/>
          </a:xfrm>
          <a:prstGeom prst="line">
            <a:avLst/>
          </a:prstGeom>
          <a:noFill/>
          <a:ln w="31750">
            <a:solidFill>
              <a:srgbClr val="0070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417320" y="3886200"/>
            <a:ext cx="1645920" cy="1554480"/>
          </a:xfrm>
          <a:prstGeom prst="line">
            <a:avLst/>
          </a:prstGeom>
          <a:noFill/>
          <a:ln w="31750">
            <a:solidFill>
              <a:srgbClr val="0070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63240" y="3886200"/>
            <a:ext cx="2148840" cy="1554480"/>
          </a:xfrm>
          <a:prstGeom prst="line">
            <a:avLst/>
          </a:prstGeom>
          <a:noFill/>
          <a:ln w="31750">
            <a:solidFill>
              <a:srgbClr val="0070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73736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48640" y="1828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Extensão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1828800"/>
            <a:ext cx="173736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43400" y="1828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Extensão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73736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48640" y="50749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Extensão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5074920"/>
            <a:ext cx="173736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343400" y="50749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Extensão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965960" y="3063240"/>
            <a:ext cx="2194560" cy="1645920"/>
          </a:xfrm>
          <a:prstGeom prst="roundRect">
            <a:avLst>
              <a:gd name="adj" fmla="val 11111"/>
            </a:avLst>
          </a:prstGeom>
          <a:solidFill>
            <a:srgbClr val="EBF8FF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6596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4D9"/>
                </a:solidFill>
              </a:rPr>
              <a:t>SAP CORE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intacto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395728" y="2578608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395728" y="257860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Released APIs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95728" y="4892040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95728" y="48920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Released APIs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83680" y="1691640"/>
            <a:ext cx="5059375" cy="640080"/>
          </a:xfrm>
          <a:prstGeom prst="roundRect">
            <a:avLst>
              <a:gd name="adj" fmla="val 17143"/>
            </a:avLst>
          </a:prstGeom>
          <a:solidFill>
            <a:srgbClr val="EBF8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0" y="1691640"/>
            <a:ext cx="4053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 Regra de Ouro:</a:t>
            </a:r>
            <a:r>
              <a:rPr lang="en-US" sz="1600" dirty="0">
                <a:solidFill>
                  <a:srgbClr val="1D2D3E"/>
                </a:solidFill>
              </a:rPr>
              <a:t> Estenda, Não Modifique.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2514600"/>
            <a:ext cx="5059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B82"/>
                </a:solidFill>
              </a:rPr>
              <a:t>O princípio do Clean Core é manter o núcleo do ERP intacto para permitir atualizações automáticas e seguras.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429000"/>
            <a:ext cx="5059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Restrições Técnicas do ABAP Cloud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583680" y="39776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287768" y="3959352"/>
            <a:ext cx="435528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Language Version 5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compilador bloqueia comandos obsoletos como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SCREEN</a:t>
            </a:r>
            <a:r>
              <a:rPr lang="en-US" sz="1400" dirty="0">
                <a:solidFill>
                  <a:srgbClr val="556B82"/>
                </a:solidFill>
              </a:rPr>
              <a:t> e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400" dirty="0">
                <a:solidFill>
                  <a:srgbClr val="556B82"/>
                </a:solidFill>
              </a:rPr>
              <a:t>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0" y="51663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87768" y="5148072"/>
            <a:ext cx="435528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Released Objects (APIs Públicas)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Só é permitido referenciar objetos SAP liberados, como a CDS View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r>
              <a:rPr lang="en-US" sz="1400" dirty="0">
                <a:solidFill>
                  <a:srgbClr val="556B82"/>
                </a:solidFill>
              </a:rPr>
              <a:t> em vez da tabela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MARA</a:t>
            </a:r>
            <a:r>
              <a:rPr lang="en-US" sz="1400" dirty="0">
                <a:solidFill>
                  <a:srgbClr val="556B82"/>
                </a:solidFill>
              </a:rPr>
              <a:t>.</a:t>
            </a:r>
            <a:endParaRPr lang="en-US" sz="1600" dirty="0"/>
          </a:p>
        </p:txBody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3246120"/>
            <a:ext cx="548640" cy="548640"/>
          </a:xfrm>
          <a:prstGeom prst="rect">
            <a:avLst/>
          </a:prstGeom>
        </p:spPr>
      </p:pic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37944"/>
            <a:ext cx="347472" cy="347472"/>
          </a:xfrm>
          <a:prstGeom prst="rect">
            <a:avLst/>
          </a:prstGeom>
        </p:spPr>
      </p:pic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797" y="5280477"/>
            <a:ext cx="247254" cy="247254"/>
          </a:xfrm>
          <a:prstGeom prst="rect">
            <a:avLst/>
          </a:prstGeom>
        </p:spPr>
      </p:pic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797" y="4091757"/>
            <a:ext cx="247254" cy="24725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Cockpit Moderno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Por Que a SE80 se Tornou Obsoleta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63040" y="16002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82"/>
                </a:solidFill>
              </a:rPr>
              <a:t>SE80</a:t>
            </a:r>
            <a:r>
              <a:rPr lang="en-US" sz="1600" dirty="0">
                <a:solidFill>
                  <a:srgbClr val="556B82"/>
                </a:solidFill>
              </a:rPr>
              <a:t>  (SAP GUI)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45352" y="1600200"/>
            <a:ext cx="5394960" cy="82296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28232" y="173736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59752" y="16002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4D9"/>
                </a:solidFill>
              </a:rPr>
              <a:t>ADT</a:t>
            </a:r>
            <a:r>
              <a:rPr lang="en-US" sz="1600" dirty="0">
                <a:solidFill>
                  <a:srgbClr val="0064D9"/>
                </a:solidFill>
              </a:rPr>
              <a:t>  (Eclipse)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97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486400"/>
                <a:gridCol w="359359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Vantagem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ADT no Eclipse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SE80 no SAP GUI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Refatoração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Ferramentas avançadas (renomear, extrair) com um clique.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56B82"/>
                          </a:solidFill>
                        </a:rPr>
                        <a:t>Manual e propenso a erros.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Objetos Cloud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Suporte </a:t>
                      </a: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exclusivo</a:t>
                      </a: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 para CDS Views, Behavior Definitions (RAP) e Service Bindings.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AA0808"/>
                          </a:solidFill>
                        </a:rPr>
                        <a:t>Impossível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 editar ou criar objetos RAP.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Conexões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Múltiplos sistemas (DEV, QAS) visíveis lado a lado na mesma interface.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56B82"/>
                          </a:solidFill>
                        </a:rPr>
                        <a:t>Uma janela por mandante.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Integração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Nativa com </a:t>
                      </a: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abapGit</a:t>
                      </a:r>
                      <a:r>
                        <a:rPr lang="en-US" sz="1500" dirty="0">
                          <a:solidFill>
                            <a:srgbClr val="1D2D3E"/>
                          </a:solidFill>
                        </a:rPr>
                        <a:t> para versionamento e pipelines de CI/CD.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56B82"/>
                          </a:solidFill>
                        </a:rPr>
                        <a:t>Limitada ou inexistente.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869034"/>
            <a:ext cx="285293" cy="285293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9906" y="1869034"/>
            <a:ext cx="285293" cy="28529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Escreva Menos, Faça Mais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Sintaxe Expressiva do ABAP Moderno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81328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82"/>
                </a:solidFill>
              </a:rPr>
              <a:t>Antes (ABAP Clássico)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815688" cy="338328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2724912"/>
            <a:ext cx="435848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lv_text_a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lv_text_b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lv_result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lv_fase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lv_text_a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'Olá'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lv_text_b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'Mundo'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CONCATENATE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lv_text_a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lv_text_b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lv_result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SEPARATED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space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lv_idade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lv_fase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'Menor'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lv_fase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'Adulto'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11416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4D9"/>
                </a:solidFill>
              </a:rPr>
              <a:t>Depois (ABAP Moderno)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553048" y="2560320"/>
            <a:ext cx="4815688" cy="338328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81648" y="2724912"/>
            <a:ext cx="435848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Declaração Inline – DATA(...)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lv_text_a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'Olá'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lv_text_b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'Mundo'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String Templates – |...|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lv_result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lv_text_a } { lv_text_b }|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Operador Construtor – COND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lv_fase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lv_idade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'Menor'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r>
              <a:rPr lang="en-US" sz="1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'Adulto'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855" y="1979127"/>
            <a:ext cx="266273" cy="266273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943" y="1979127"/>
            <a:ext cx="266273" cy="26627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Classes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Contêiner da Lógica de Negócio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Anatomia Essencial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Toda classe ABAP é dividida em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1500" dirty="0">
                <a:solidFill>
                  <a:srgbClr val="556B82"/>
                </a:solidFill>
              </a:rPr>
              <a:t> (o ‘contrato’, o que a classe faz) 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1500" dirty="0">
                <a:solidFill>
                  <a:srgbClr val="556B82"/>
                </a:solidFill>
              </a:rPr>
              <a:t> (a ‘lógica’, o código real).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Encapsulamento (O Cofre)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556B82"/>
                </a:solidFill>
              </a:rPr>
              <a:t>PUBLIC:</a:t>
            </a:r>
            <a:r>
              <a:rPr lang="en-US" sz="1500" dirty="0">
                <a:solidFill>
                  <a:srgbClr val="556B82"/>
                </a:solidFill>
              </a:rPr>
              <a:t> a ‘vitrine’, acessível por qualquer um. Define a API da classe.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556B82"/>
                </a:solidFill>
              </a:rPr>
              <a:t>PROTECTED:</a:t>
            </a:r>
            <a:r>
              <a:rPr lang="en-US" sz="1500" dirty="0">
                <a:solidFill>
                  <a:srgbClr val="556B82"/>
                </a:solidFill>
              </a:rPr>
              <a:t> acessível pela classe e suas filhas (herança).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556B82"/>
                </a:solidFill>
              </a:rPr>
              <a:t>PRIVATE:</a:t>
            </a:r>
            <a:r>
              <a:rPr lang="en-US" sz="1500" dirty="0">
                <a:solidFill>
                  <a:srgbClr val="556B82"/>
                </a:solidFill>
              </a:rPr>
              <a:t> acessível </a:t>
            </a:r>
            <a:r>
              <a:rPr lang="en-US" sz="1500" b="1" dirty="0">
                <a:solidFill>
                  <a:srgbClr val="556B82"/>
                </a:solidFill>
              </a:rPr>
              <a:t>apenas</a:t>
            </a:r>
            <a:r>
              <a:rPr lang="en-US" sz="1500" dirty="0">
                <a:solidFill>
                  <a:srgbClr val="556B82"/>
                </a:solidFill>
              </a:rPr>
              <a:t> pela própria classe. Oculta a complexidade interna.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Instanciação Moderna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5303520"/>
            <a:ext cx="6400800" cy="68580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546811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lo_objeto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zcl_minha_classe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543800" y="1600200"/>
            <a:ext cx="4096512" cy="4389120"/>
          </a:xfrm>
          <a:prstGeom prst="roundRect">
            <a:avLst>
              <a:gd name="adj" fmla="val 8929"/>
            </a:avLst>
          </a:prstGeom>
          <a:solidFill>
            <a:srgbClr val="EBF8FF"/>
          </a:solidFill>
          <a:ln w="19050">
            <a:solidFill>
              <a:srgbClr val="007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18120" y="18013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PUBLIC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55280" y="2331720"/>
            <a:ext cx="3273552" cy="3291840"/>
          </a:xfrm>
          <a:prstGeom prst="roundRect">
            <a:avLst>
              <a:gd name="adj" fmla="val 9777"/>
            </a:avLst>
          </a:prstGeom>
          <a:solidFill>
            <a:srgbClr val="D1EFFF"/>
          </a:solidFill>
          <a:ln w="19050">
            <a:solidFill>
              <a:srgbClr val="0070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PROTECTED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366760" y="3063240"/>
            <a:ext cx="2450592" cy="2194560"/>
          </a:xfrm>
          <a:prstGeom prst="roundRect">
            <a:avLst>
              <a:gd name="adj" fmla="val 12500"/>
            </a:avLst>
          </a:prstGeom>
          <a:solidFill>
            <a:srgbClr val="1D2D3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420624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PRIVATE</a:t>
            </a:r>
            <a:endParaRPr lang="en-US" sz="15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36" y="356616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‘Code Pushdown’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Deixando o Banco de Dados HANA Trabalhar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63040" y="1600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ABAP Application Server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4440" y="2834640"/>
            <a:ext cx="502920" cy="1371600"/>
          </a:xfrm>
          <a:prstGeom prst="downArrow">
            <a:avLst/>
          </a:prstGeom>
          <a:solidFill>
            <a:srgbClr val="0070F2"/>
          </a:solidFill>
          <a:ln/>
        </p:spPr>
      </p:sp>
      <p:sp>
        <p:nvSpPr>
          <p:cNvPr id="8" name="Shape 6"/>
          <p:cNvSpPr/>
          <p:nvPr/>
        </p:nvSpPr>
        <p:spPr>
          <a:xfrm>
            <a:off x="2651760" y="2834640"/>
            <a:ext cx="502920" cy="1371600"/>
          </a:xfrm>
          <a:prstGeom prst="upArrow">
            <a:avLst/>
          </a:prstGeom>
          <a:solidFill>
            <a:srgbClr val="30914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32918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Query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32918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F3A"/>
                </a:solidFill>
              </a:rPr>
              <a:t>Result Set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343400"/>
            <a:ext cx="3291840" cy="1097280"/>
          </a:xfrm>
          <a:prstGeom prst="roundRect">
            <a:avLst>
              <a:gd name="adj" fmla="val 11667"/>
            </a:avLst>
          </a:prstGeom>
          <a:solidFill>
            <a:srgbClr val="1D2D3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508760" y="43434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HANA Database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processamento acontece no banco; só o resultado volta.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600200"/>
            <a:ext cx="7299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B82"/>
                </a:solidFill>
              </a:rPr>
              <a:t>O ABAP SQL moderno move o processamento para o banco, trazendo apenas os resultados. Para isso, a sintaxe mudou para o ‘Strict Mode’.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343400" y="2423160"/>
            <a:ext cx="7299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As 3 Regras de Ouro do Strict Mode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343400" y="2916936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43400" y="2916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2898648"/>
            <a:ext cx="6842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Vírgulas Obrigatórias: </a:t>
            </a:r>
            <a:r>
              <a:rPr lang="en-US" sz="1500" dirty="0">
                <a:solidFill>
                  <a:srgbClr val="556B82"/>
                </a:solidFill>
              </a:rPr>
              <a:t>campos na lista FIELDS separados por vírgula.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43400" y="3374136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43400" y="3374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355848"/>
            <a:ext cx="6842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INTO no Final: </a:t>
            </a:r>
            <a:r>
              <a:rPr lang="en-US" sz="1500" dirty="0">
                <a:solidFill>
                  <a:srgbClr val="556B82"/>
                </a:solidFill>
              </a:rPr>
              <a:t>a cláusula de destino (INTO TABLE …) deve ser a última.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343400" y="3831336"/>
            <a:ext cx="329184" cy="32918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434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3813048"/>
            <a:ext cx="6842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@ Obrigatório: </a:t>
            </a:r>
            <a:r>
              <a:rPr lang="en-US" sz="1500" dirty="0">
                <a:solidFill>
                  <a:srgbClr val="556B82"/>
                </a:solidFill>
              </a:rPr>
              <a:t>toda variável ABAP usada na query é prefixada com @.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343400" y="4343400"/>
            <a:ext cx="7299655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572000" y="4507992"/>
            <a:ext cx="684245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lv_airline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@lv_airline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3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Regra 3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lt_flights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3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Regra 2</a:t>
            </a:r>
            <a:endParaRPr lang="en-US" sz="13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6177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Da Linha Única à Transferência de Dados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Papel das Estruturas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Uma estrutura agrupa campos relacionados. No RAP, é essencial mover dados entre estruturas de camadas diferentes (ex.: do Banco para a UI).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496312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O Problema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Copiar campo a campo é tedioso e propenso a erros.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4747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3456432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 Solução: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Copia automaticamente campos com nomes iguais e oferece controle total.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05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Recursos avançados essenciais para RAP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46320"/>
            <a:ext cx="566928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50109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ls_b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ui_field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db_field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ls_b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ls_b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20840" y="2240280"/>
            <a:ext cx="1920240" cy="226771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720840" y="2240280"/>
            <a:ext cx="1920240" cy="566928"/>
          </a:xfrm>
          <a:prstGeom prst="roundRect">
            <a:avLst>
              <a:gd name="adj" fmla="val 22581"/>
            </a:avLst>
          </a:prstGeom>
          <a:solidFill>
            <a:srgbClr val="EEF1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20840" y="22402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Estrutura do Banco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28072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db_field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20840" y="3374136"/>
            <a:ext cx="192024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337413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common_field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3941064"/>
            <a:ext cx="192024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0840" y="394106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extra_db_field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20072" y="2240280"/>
            <a:ext cx="1920240" cy="226771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20072" y="2240280"/>
            <a:ext cx="1920240" cy="566928"/>
          </a:xfrm>
          <a:prstGeom prst="roundRect">
            <a:avLst>
              <a:gd name="adj" fmla="val 22581"/>
            </a:avLst>
          </a:prstGeom>
          <a:solidFill>
            <a:srgbClr val="EEF1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720072" y="22402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Estrutura da UI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28072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ui_field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20072" y="3374136"/>
            <a:ext cx="192024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0072" y="337413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common_field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720072" y="3941064"/>
            <a:ext cx="192024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720072" y="394106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extra_ui_field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32520" y="2962656"/>
            <a:ext cx="896112" cy="256032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732520" y="3529584"/>
            <a:ext cx="896112" cy="256032"/>
          </a:xfrm>
          <a:prstGeom prst="rightArrow">
            <a:avLst/>
          </a:prstGeom>
          <a:solidFill>
            <a:srgbClr val="30914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5320" y="187452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 #( )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641080" y="324612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MAPPING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641080" y="3813048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mesmo nome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720840" y="4873752"/>
            <a:ext cx="4919472" cy="777240"/>
          </a:xfrm>
          <a:prstGeom prst="roundRect">
            <a:avLst>
              <a:gd name="adj" fmla="val 14118"/>
            </a:avLst>
          </a:prstGeom>
          <a:solidFill>
            <a:srgbClr val="EBF8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52360" y="4873752"/>
            <a:ext cx="3913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Campos sem correspondente (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extra_*</a:t>
            </a:r>
            <a:r>
              <a:rPr lang="en-US" sz="1400" dirty="0">
                <a:solidFill>
                  <a:srgbClr val="1D2D3E"/>
                </a:solidFill>
              </a:rPr>
              <a:t>) são ignorados — sem erros.</a:t>
            </a:r>
            <a:endParaRPr lang="en-US" sz="16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24328"/>
            <a:ext cx="237744" cy="237744"/>
          </a:xfrm>
          <a:prstGeom prst="rect">
            <a:avLst/>
          </a:prstGeom>
        </p:spPr>
      </p:pic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584448"/>
            <a:ext cx="237744" cy="237744"/>
          </a:xfrm>
          <a:prstGeom prst="rect">
            <a:avLst/>
          </a:prstGeom>
        </p:spPr>
      </p:pic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5088636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Custo de Uma Busca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Escolhendo a Tabela Interna Certa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600200"/>
          <a:ext cx="569671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868680"/>
                <a:gridCol w="2084832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Acesso por chave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Custo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56B82"/>
                          </a:solidFill>
                        </a:rPr>
                        <a:t>Caso de uso ideal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Standard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Busca linear (percorre tudo)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AA0808"/>
                          </a:solidFill>
                        </a:rPr>
                        <a:t>O(n)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Listas pequenas; ordem de inserção importa.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Sorted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Busca binária (divide ao meio)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64D9"/>
                          </a:solidFill>
                        </a:rPr>
                        <a:t>O(log 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Muitas leituras e poucas escritas.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D2D3E"/>
                          </a:solidFill>
                        </a:rPr>
                        <a:t>Hashed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Acesso direto (cálculo de hash)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64D9"/>
                          </a:solidFill>
                        </a:rPr>
                        <a:t>O(1)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D2D3E"/>
                          </a:solidFill>
                        </a:rPr>
                        <a:t>Grandes caches; sempre por chave única.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EBF8F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1280160" y="5486400"/>
            <a:ext cx="10088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Otimização adicional:</a:t>
            </a:r>
            <a:r>
              <a:rPr lang="en-US" sz="1500" dirty="0">
                <a:solidFill>
                  <a:srgbClr val="1D2D3E"/>
                </a:solidFill>
              </a:rPr>
              <a:t> chaves secundárias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SECONDARY KEY</a:t>
            </a:r>
            <a:r>
              <a:rPr lang="en-US" sz="1500" dirty="0">
                <a:solidFill>
                  <a:srgbClr val="1D2D3E"/>
                </a:solidFill>
              </a:rPr>
              <a:t>) otimizam buscas em outros campos sem alterar a chave primária.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7842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Business Objects  ·  Por quê?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INSERT, UPDATE e DELETE Diretos São Proibidos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No paradigma RAP, a tabela do banco é privada. Acessá-la diretamente com SQL é um </a:t>
            </a:r>
            <a:r>
              <a:rPr lang="en-US" sz="1500" b="1" dirty="0">
                <a:solidFill>
                  <a:srgbClr val="556B82"/>
                </a:solidFill>
              </a:rPr>
              <a:t>‘Bypass’</a:t>
            </a:r>
            <a:r>
              <a:rPr lang="en-US" sz="1500" dirty="0">
                <a:solidFill>
                  <a:srgbClr val="556B82"/>
                </a:solidFill>
              </a:rPr>
              <a:t> que ignora toda a inteligência da aplicação.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231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O que você ignora com um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600" b="1" dirty="0">
                <a:solidFill>
                  <a:srgbClr val="1D2D3E"/>
                </a:solidFill>
              </a:rPr>
              <a:t> direto: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9864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79576" y="2880360"/>
            <a:ext cx="5404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Validações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Regras de negócio como ‘data de entrega não pode ser no passado’.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502152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9576" y="3483864"/>
            <a:ext cx="5404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Determinações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Cálculos automáticos de impostos ou totais.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9576" y="4087368"/>
            <a:ext cx="5404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Autorizações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Verificações de permissão do usuário.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9576" y="4690872"/>
            <a:ext cx="5404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Logs de Auditoria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Geração de documentos de modificação.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349240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F5FAE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80160" y="53492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 Solução:</a:t>
            </a:r>
            <a:r>
              <a:rPr lang="en-US" sz="1400" dirty="0">
                <a:solidFill>
                  <a:srgbClr val="1D2D3E"/>
                </a:solidFill>
              </a:rPr>
              <a:t> ‘peça’ ao </a:t>
            </a:r>
            <a:r>
              <a:rPr lang="en-US" sz="1400" b="1" dirty="0">
                <a:solidFill>
                  <a:srgbClr val="1D2D3E"/>
                </a:solidFill>
              </a:rPr>
              <a:t>Business Object (BO)</a:t>
            </a:r>
            <a:r>
              <a:rPr lang="en-US" sz="1400" dirty="0">
                <a:solidFill>
                  <a:srgbClr val="1D2D3E"/>
                </a:solidFill>
              </a:rPr>
              <a:t>. Ele garante que todas as regras sejam cumpridas antes de persistir.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903720" y="21488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2700">
            <a:solidFill>
              <a:srgbClr val="D20A0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1488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03720" y="28346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2700">
            <a:solidFill>
              <a:srgbClr val="D20A0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2834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3520440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2700">
            <a:solidFill>
              <a:srgbClr val="D20A0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35204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686800" y="1920240"/>
            <a:ext cx="1234440" cy="2286000"/>
          </a:xfrm>
          <a:prstGeom prst="roundRect">
            <a:avLst>
              <a:gd name="adj" fmla="val 14815"/>
            </a:avLst>
          </a:prstGeom>
          <a:solidFill>
            <a:srgbClr val="0070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0" y="28803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Business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87000" y="1920240"/>
            <a:ext cx="1353312" cy="2286000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10287000" y="2880360"/>
            <a:ext cx="1353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Tabela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do BD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903720" y="4663440"/>
            <a:ext cx="4736592" cy="502920"/>
          </a:xfrm>
          <a:prstGeom prst="roundRect">
            <a:avLst>
              <a:gd name="adj" fmla="val 49091"/>
            </a:avLst>
          </a:prstGeom>
          <a:solidFill>
            <a:srgbClr val="F5FAE5"/>
          </a:solidFill>
          <a:ln w="12700">
            <a:solidFill>
              <a:srgbClr val="30914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03720" y="466344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</a:rPr>
              <a:t>EML  →  Business Object  →  Banco de Dados</a:t>
            </a:r>
            <a:endParaRPr lang="en-US" sz="13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201" y="2995209"/>
            <a:ext cx="209215" cy="209215"/>
          </a:xfrm>
          <a:prstGeom prst="rect">
            <a:avLst/>
          </a:prstGeom>
        </p:spPr>
      </p:pic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201" y="4202217"/>
            <a:ext cx="209215" cy="209215"/>
          </a:xfrm>
          <a:prstGeom prst="rect">
            <a:avLst/>
          </a:prstGeom>
        </p:spPr>
      </p:pic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01" y="3598713"/>
            <a:ext cx="209215" cy="209215"/>
          </a:xfrm>
          <a:prstGeom prst="rect">
            <a:avLst/>
          </a:prstGeom>
        </p:spPr>
      </p:pic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1" y="4805721"/>
            <a:ext cx="209215" cy="209215"/>
          </a:xfrm>
          <a:prstGeom prst="rect">
            <a:avLst/>
          </a:prstGeom>
        </p:spPr>
      </p:pic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09844"/>
            <a:ext cx="347472" cy="347472"/>
          </a:xfrm>
          <a:prstGeom prst="rect">
            <a:avLst/>
          </a:prstGeom>
        </p:spPr>
      </p:pic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608" y="2898648"/>
            <a:ext cx="329184" cy="329184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608" y="2212848"/>
            <a:ext cx="329184" cy="329184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3608" y="3584448"/>
            <a:ext cx="329184" cy="329184"/>
          </a:xfrm>
          <a:prstGeom prst="rect">
            <a:avLst/>
          </a:prstGeom>
        </p:spPr>
      </p:pic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2194560"/>
            <a:ext cx="594360" cy="594360"/>
          </a:xfrm>
          <a:prstGeom prst="rect">
            <a:avLst/>
          </a:prstGeom>
        </p:spPr>
      </p:pic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89336" y="219456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Linguagem da Transação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Falando com o Business Object via EML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B82"/>
                </a:solidFill>
              </a:rPr>
              <a:t>EML (Entity Manipulation Language) é a extensão da sintaxe ABAP para interagir com Business Objects do RAP. O comando central é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 ENTITIES</a:t>
            </a:r>
            <a:r>
              <a:rPr lang="en-US" sz="1600" dirty="0">
                <a:solidFill>
                  <a:srgbClr val="556B82"/>
                </a:solidFill>
              </a:rPr>
              <a:t>, que orquestra todas as operações transacionais.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85216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679192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/DMO/I_Travel_M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lt_novos_dados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lt_dados_alterados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MAPPED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ls_mapped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926080"/>
            <a:ext cx="502920" cy="0"/>
          </a:xfrm>
          <a:prstGeom prst="line">
            <a:avLst/>
          </a:prstGeom>
          <a:noFill/>
          <a:ln w="15875">
            <a:solidFill>
              <a:srgbClr val="D9D9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66560" y="2606040"/>
            <a:ext cx="4876495" cy="640080"/>
          </a:xfrm>
          <a:prstGeom prst="roundRect">
            <a:avLst>
              <a:gd name="adj" fmla="val 17143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0" y="2606040"/>
            <a:ext cx="3870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 BDEF</a:t>
            </a:r>
            <a:r>
              <a:rPr lang="en-US" sz="1400" dirty="0">
                <a:solidFill>
                  <a:srgbClr val="1D2D3E"/>
                </a:solidFill>
              </a:rPr>
              <a:t> do Business Object.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63640" y="3749040"/>
            <a:ext cx="502920" cy="0"/>
          </a:xfrm>
          <a:prstGeom prst="line">
            <a:avLst/>
          </a:prstGeom>
          <a:noFill/>
          <a:ln w="15875">
            <a:solidFill>
              <a:srgbClr val="D9D9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3429000"/>
            <a:ext cx="4876495" cy="640080"/>
          </a:xfrm>
          <a:prstGeom prst="roundRect">
            <a:avLst>
              <a:gd name="adj" fmla="val 17143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0" y="3429000"/>
            <a:ext cx="3870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Operações</a:t>
            </a:r>
            <a:r>
              <a:rPr lang="en-US" sz="1400" dirty="0">
                <a:solidFill>
                  <a:srgbClr val="1D2D3E"/>
                </a:solidFill>
              </a:rPr>
              <a:t> de modificação.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4846320"/>
            <a:ext cx="502920" cy="0"/>
          </a:xfrm>
          <a:prstGeom prst="line">
            <a:avLst/>
          </a:prstGeom>
          <a:noFill/>
          <a:ln w="15875">
            <a:solidFill>
              <a:srgbClr val="D9D9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0" y="4251960"/>
            <a:ext cx="4876495" cy="1188720"/>
          </a:xfrm>
          <a:prstGeom prst="roundRect">
            <a:avLst>
              <a:gd name="adj" fmla="val 9231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0" y="4251960"/>
            <a:ext cx="3870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Estruturas de retorno (cruciais):</a:t>
            </a:r>
            <a:r>
              <a:rPr lang="en-US" sz="1400" dirty="0">
                <a:solidFill>
                  <a:srgbClr val="1D2D3E"/>
                </a:solidFill>
              </a:rPr>
              <a:t> chaves que falharam, IDs mapeados e mensagens de erro detalhadas.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EAEC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80160" y="5623560"/>
            <a:ext cx="10088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Processo:</a:t>
            </a:r>
            <a:r>
              <a:rPr lang="en-US" sz="1500" dirty="0">
                <a:solidFill>
                  <a:srgbClr val="1D2D3E"/>
                </a:solidFill>
              </a:rPr>
              <a:t> as modificações ocorrem em um buffer transacional em memória. A gravação no banco só acontece com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ENTITIES</a:t>
            </a:r>
            <a:r>
              <a:rPr lang="en-US" sz="15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752344"/>
            <a:ext cx="347472" cy="34747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575304"/>
            <a:ext cx="347472" cy="34747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4672584"/>
            <a:ext cx="347472" cy="34747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76986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Juntando Todas as Peças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Arquitetura do ABAP RESTful Model (RAP)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Camada 3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Service Consumption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Consumo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37560" y="1600200"/>
            <a:ext cx="8305495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51960" y="1783080"/>
            <a:ext cx="69494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783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SAP Fiori UI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Consome o serviço OData para gerar a interface do usuário.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498080" y="2862072"/>
            <a:ext cx="365760" cy="292608"/>
          </a:xfrm>
          <a:prstGeom prst="upArrow">
            <a:avLst/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955280" y="28620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OData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36392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Camada 2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Business Service Provisioning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 Exposição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337560" y="3136392"/>
            <a:ext cx="8305495" cy="1280160"/>
          </a:xfrm>
          <a:prstGeom prst="roundRect">
            <a:avLst>
              <a:gd name="adj" fmla="val 11429"/>
            </a:avLst>
          </a:prstGeom>
          <a:solidFill>
            <a:srgbClr val="EEF1F4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51960" y="3319272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4840" y="331927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Service Definition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Define o escopo do serviço.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955280" y="3319272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38160" y="331927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Service Binding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Vincula a um protocolo – OData V2/V4.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4398264"/>
            <a:ext cx="365760" cy="292608"/>
          </a:xfrm>
          <a:prstGeom prst="upArrow">
            <a:avLst/>
          </a:prstGeom>
          <a:solidFill>
            <a:srgbClr val="0070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2584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Camada 1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Data Modeling &amp; Behavior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Coração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337560" y="4672584"/>
            <a:ext cx="8305495" cy="1280160"/>
          </a:xfrm>
          <a:prstGeom prst="roundRect">
            <a:avLst>
              <a:gd name="adj" fmla="val 11429"/>
            </a:avLst>
          </a:prstGeom>
          <a:solidFill>
            <a:srgbClr val="EBF8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51960" y="4855464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34840" y="4855464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CDS Views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Define o modelo de dados (“O quê”).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955280" y="4855464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38160" y="4855464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Behavior Definition (BDEF)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Define o comportamento transacional (“Como”).</a:t>
            </a:r>
            <a:endParaRPr lang="en-US" sz="16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029968"/>
            <a:ext cx="420624" cy="42062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566160"/>
            <a:ext cx="420624" cy="42062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5102352"/>
            <a:ext cx="420624" cy="42062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Managed x Unmanaged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Piloto Automático ou Câmbio Manual?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B82"/>
                </a:solidFill>
              </a:rPr>
              <a:t>Ao criar um BDEF, você escolhe o cenário de implementação, que define o nível de responsabilidade do desenvolvedor.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926080" y="2148840"/>
            <a:ext cx="4267048" cy="4069080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154680" y="23317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86200" y="2295144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64D9"/>
                </a:solidFill>
              </a:rPr>
              <a:t>Managed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Gerenciado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154680" y="3008376"/>
            <a:ext cx="380984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3063240"/>
            <a:ext cx="3809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O framework RAP assume o controle total das operações CRUD (INSERT, UPDATE, DELETE).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154680" y="4032504"/>
            <a:ext cx="380984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54680" y="4087368"/>
            <a:ext cx="3809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Focar 100% na lógica de negócio (validações, ações, cálculos).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154680" y="5056632"/>
            <a:ext cx="380984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5111496"/>
            <a:ext cx="3809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Greenfield:</a:t>
            </a:r>
            <a:r>
              <a:rPr lang="en-US" sz="1400" dirty="0">
                <a:solidFill>
                  <a:srgbClr val="1D2D3E"/>
                </a:solidFill>
              </a:rPr>
              <a:t> novos desenvolvimentos, sem código legado a reaproveitar.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76008" y="2148840"/>
            <a:ext cx="4267048" cy="4069080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04608" y="23317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36128" y="2295144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56B82"/>
                </a:solidFill>
              </a:rPr>
              <a:t>Unmanaged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Não Gerenciado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04608" y="3008376"/>
            <a:ext cx="380984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04608" y="3063240"/>
            <a:ext cx="3809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O desenvolvedor implementa manualmente a lógica de persistência (CREATE, UPDATE, SAVE).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04608" y="4032504"/>
            <a:ext cx="380984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04608" y="4087368"/>
            <a:ext cx="3809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Chamar BAPIs, Function Modules ou classes legadas para salvar os dados.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604608" y="5056632"/>
            <a:ext cx="380984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04608" y="5111496"/>
            <a:ext cx="3809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Brownfield:</a:t>
            </a:r>
            <a:r>
              <a:rPr lang="en-US" sz="1400" dirty="0">
                <a:solidFill>
                  <a:srgbClr val="1D2D3E"/>
                </a:solidFill>
              </a:rPr>
              <a:t> expor lógica de negócio existente e complexa como um serviço moderno.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0632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Como funciona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08736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Seu papel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11149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Caso de uso ideal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0743" y="2467783"/>
            <a:ext cx="294803" cy="294803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670" y="2467783"/>
            <a:ext cx="294803" cy="29480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B1FF"/>
                </a:solidFill>
              </a:rPr>
              <a:t>Você Está Pronto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Seu Novo Fluxo de Trabalho, do Zero à Aplicação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87752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Criar a Tabela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</a:rPr>
              <a:t>no Dicionário ABAP.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8218" y="178308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201168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681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587752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Modelar com CDS Views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</a:rPr>
              <a:t>(Interface e Projeção), usando ABAP SQL.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27797" y="178308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201168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5639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587752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Definir o Comportamento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</a:rPr>
              <a:t>(BDEF), escolhendo Managed/Unmanaged.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7947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370832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Implementar a Lógica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</a:rPr>
              <a:t>em classes ABAP, com EML e tabelas internas.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38218" y="356616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6818" y="37947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66818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66818" y="4370832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Expor via Service Definition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</a:rPr>
              <a:t>e Binding, criando o endpoint OData.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27797" y="356616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56397" y="37947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56397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356397" y="4370832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Gerar e Pré-visualizar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</a:rPr>
              <a:t>a UI SAP Fiori.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394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O domínio destes conceitos transforma você de um mantenedor de código legado em um </a:t>
            </a:r>
            <a:r>
              <a:rPr lang="en-US" sz="1900" b="1" dirty="0">
                <a:solidFill>
                  <a:srgbClr val="FFFFFF"/>
                </a:solidFill>
              </a:rPr>
              <a:t>arquiteto de soluções nativas da nuvem</a:t>
            </a:r>
            <a:r>
              <a:rPr lang="en-US" sz="1900" dirty="0">
                <a:solidFill>
                  <a:srgbClr val="FFFFFF"/>
                </a:solidFill>
              </a:rPr>
              <a:t> na plataforma SAP.</a:t>
            </a:r>
            <a:endParaRPr lang="en-US" sz="16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3818" y="2029968"/>
            <a:ext cx="411480" cy="411480"/>
          </a:xfrm>
          <a:prstGeom prst="rect">
            <a:avLst/>
          </a:prstGeom>
        </p:spPr>
      </p:pic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397" y="2029968"/>
            <a:ext cx="411480" cy="411480"/>
          </a:xfrm>
          <a:prstGeom prst="rect">
            <a:avLst/>
          </a:prstGeom>
        </p:spPr>
      </p:pic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3813048"/>
            <a:ext cx="411480" cy="411480"/>
          </a:xfrm>
          <a:prstGeom prst="rect">
            <a:avLst/>
          </a:prstGeom>
        </p:spPr>
      </p:pic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397" y="3813048"/>
            <a:ext cx="411480" cy="411480"/>
          </a:xfrm>
          <a:prstGeom prst="rect">
            <a:avLst/>
          </a:prstGeom>
        </p:spPr>
      </p:pic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29968"/>
            <a:ext cx="411480" cy="411480"/>
          </a:xfrm>
          <a:prstGeom prst="rect">
            <a:avLst/>
          </a:prstGeom>
        </p:spPr>
      </p:pic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3818" y="3813048"/>
            <a:ext cx="411480" cy="411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Evolução do ABAP: Guia Essencial para o Desenvolvedor Moderno</dc:title>
  <dc:subject>ABAP Moderno – Módulo 01</dc:subject>
  <dc:creator>Adriano Bispo</dc:creator>
  <cp:lastModifiedBy>Adriano Bispo</cp:lastModifiedBy>
  <cp:revision>1</cp:revision>
  <dcterms:created xsi:type="dcterms:W3CDTF">2026-10-25T03:27:10Z</dcterms:created>
  <dcterms:modified xsi:type="dcterms:W3CDTF">2026-10-25T03:27:10Z</dcterms:modified>
</cp:coreProperties>
</file>