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2 de 8 — Técnicas básicas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2 de 8 — Técnicas básicas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02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Técnicas básicas da linguagem ABAP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Objetos de dados, expressões, controle de fluxo, tabelas internas simples e o debugger do ADT.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2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08044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08044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aprendemos os blocos de construção de qualquer programa ABAP: declarar, calcular, decidir, repetir e depurar.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versões da linguagem, uma base comum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Todo programa ABAP tem o atributo </a:t>
            </a:r>
            <a:r>
              <a:rPr lang="en-US" sz="1500" b="1" dirty="0">
                <a:solidFill>
                  <a:srgbClr val="556B82"/>
                </a:solidFill>
              </a:rPr>
              <a:t>ABAP language version</a:t>
            </a:r>
            <a:r>
              <a:rPr lang="en-US" sz="1500" dirty="0">
                <a:solidFill>
                  <a:srgbClr val="556B82"/>
                </a:solidFill>
              </a:rPr>
              <a:t>, que define quais instruções e objetos ele pode usar.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FF1F2"/>
          </a:solidFill>
          <a:ln/>
        </p:spPr>
      </p:sp>
      <p:sp>
        <p:nvSpPr>
          <p:cNvPr id="7" name="Shape 5"/>
          <p:cNvSpPr/>
          <p:nvPr/>
        </p:nvSpPr>
        <p:spPr>
          <a:xfrm>
            <a:off x="2400910" y="3015615"/>
            <a:ext cx="1492301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00910" y="3015615"/>
            <a:ext cx="1492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Sem restrições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Standard ABAP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linguagem completa, usada no ABAP clássico on-premise.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22978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4146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658051" y="3015615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58051" y="3015615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Restrita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4146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for Key Users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Um conjunto pequeno de instruções para extensões feitas por key users em apps Fiori.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97317" y="2741295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98485" y="294246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32390" y="3015615"/>
            <a:ext cx="100949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432390" y="3015615"/>
            <a:ext cx="100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Restrita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298485" y="3545967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ABAP for Cloud Development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 versão do </a:t>
            </a:r>
            <a:r>
              <a:rPr lang="en-US" sz="1300" b="1" dirty="0">
                <a:solidFill>
                  <a:srgbClr val="556B82"/>
                </a:solidFill>
              </a:rPr>
              <a:t>ABAP Cloud</a:t>
            </a:r>
            <a:r>
              <a:rPr lang="en-US" sz="1300" dirty="0">
                <a:solidFill>
                  <a:srgbClr val="556B82"/>
                </a:solidFill>
              </a:rPr>
              <a:t>: obrigatória na SAP BTP e no S/4HANA Cloud Public, recomendada nos demais.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05853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07008" y="505853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usamos só elementos válidos nas três versões: o que você aprende aqui funciona em qualquer sistema.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043047"/>
            <a:ext cx="256032" cy="256032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043047"/>
            <a:ext cx="256032" cy="256032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43047"/>
            <a:ext cx="256032" cy="256032"/>
          </a:xfrm>
          <a:prstGeom prst="rect">
            <a:avLst/>
          </a:prstGeom>
        </p:spPr>
      </p:pic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18655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Objetos de dados e tipos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objeto de dados reserva memória do programa. No ABAP ele é </a:t>
            </a:r>
            <a:r>
              <a:rPr lang="en-US" sz="1600" b="1" dirty="0">
                <a:solidFill>
                  <a:srgbClr val="D1EFFF"/>
                </a:solidFill>
              </a:rPr>
              <a:t>sempre tipado</a:t>
            </a:r>
            <a:r>
              <a:rPr lang="en-US" sz="1600" dirty="0">
                <a:solidFill>
                  <a:srgbClr val="D1EFFF"/>
                </a:solidFill>
              </a:rPr>
              <a:t>, e o tipo não muda durante a execução.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606040"/>
          </a:xfrm>
          <a:prstGeom prst="roundRect">
            <a:avLst>
              <a:gd name="adj" fmla="val 3509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00" dirty="0">
                <a:solidFill>
                  <a:srgbClr val="D1EFFF"/>
                </a:solidFill>
              </a:rPr>
              <a:t>  variáveis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00" dirty="0">
                <a:solidFill>
                  <a:srgbClr val="D1EFFF"/>
                </a:solidFill>
              </a:rPr>
              <a:t>  constantes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'…' · `…`</a:t>
            </a:r>
            <a:r>
              <a:rPr lang="en-US" sz="1000" dirty="0">
                <a:solidFill>
                  <a:srgbClr val="D1EFFF"/>
                </a:solidFill>
              </a:rPr>
              <a:t>  literais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00" dirty="0">
                <a:solidFill>
                  <a:srgbClr val="D1EFFF"/>
                </a:solidFill>
              </a:rPr>
              <a:t>  tipos próprios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356616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 )</a:t>
            </a:r>
            <a:r>
              <a:rPr lang="en-US" sz="1000" dirty="0">
                <a:solidFill>
                  <a:srgbClr val="D1EFFF"/>
                </a:solidFill>
              </a:rPr>
              <a:t>  declaração inline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DADOS · TRÊS TIPOS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Variáveis, constantes e literais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Variáveis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Têm nome e conteúdo que muda em tempo de execução. Começam sempre com um valor inicial bem definido para o tipo.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Constantes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Têm nome e valor fixo no código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300" dirty="0">
                <a:solidFill>
                  <a:srgbClr val="556B82"/>
                </a:solidFill>
              </a:rPr>
              <a:t> é obrigatório). Qualquer escrita gera erro de sintaxe.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Literais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Valores sem nome: números, texto entre aspas simples (tamanho fixo) e string entre crases. Use-os para iniciar constantes e variáveis.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915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8915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Boa prática  </a:t>
            </a:r>
            <a:r>
              <a:rPr lang="en-US" sz="1200" dirty="0">
                <a:solidFill>
                  <a:srgbClr val="1D2D3E"/>
                </a:solidFill>
              </a:rPr>
              <a:t>prefira constantes com nome a literais espalhados pelo código: o significado fica explícito e a manutenção, em um só lugar.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6141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66141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66141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195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DADOS · DECLARAÇÃO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DATA, CONSTANTS, TYPES e declaração inline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zcl_02_data.clas.abap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ZCL_02_DATA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t_amount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valor inicial: 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`ABAP`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t_amount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'19.90'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c_max_items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c_currency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'EUR'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Declaração inline: o tipo vem do valor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… TYPE … VALUE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Nome de até 30 caracteres, o tipo e um valor inicial opcional.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Mesma sintaxe, mas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556B82"/>
                </a:solidFill>
              </a:rPr>
              <a:t> é obrigatório;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IS INITIAL</a:t>
            </a:r>
            <a:r>
              <a:rPr lang="en-US" sz="1050" dirty="0">
                <a:solidFill>
                  <a:srgbClr val="556B82"/>
                </a:solidFill>
              </a:rPr>
              <a:t> usa o inicial do tipo.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um tipo reutilizável; os tipos também vêm do Dicionário ABAP.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 )</a:t>
            </a:r>
            <a:r>
              <a:rPr lang="en-US" sz="1250" b="1" dirty="0">
                <a:solidFill>
                  <a:srgbClr val="1D2D3E"/>
                </a:solidFill>
              </a:rPr>
              <a:t> inline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Declara no ponto de uso; o tipo é derivado do lado direito.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DADOS · TIPOS EMBUTIDOS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tipos ABAP mais usados no dia a dia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1708436"/>
                <a:gridCol w="2505706"/>
                <a:gridCol w="3872455"/>
                <a:gridCol w="273349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Uso típico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Valor inicial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· int8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Inteiro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Contadores, quantidades, índices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Decimal compactado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Valores monetários com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DECIMALS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decfloat34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Decimal flutuante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Cálculos decimais de alta precisão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· 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Texto fixo · numérico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Códigos com tamanho fixo (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LENGTH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espaços · zeros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Texto variável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Textos de qualquer tamanho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string vazia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· 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Data · hora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AAAAMMDD · HHMMSS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00000000 · 000000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utclong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Timestamp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Instante em UTC (aula 04.02)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inicial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7550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7550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Fontes de tipos  </a:t>
            </a:r>
            <a:r>
              <a:rPr lang="en-US" sz="1200" dirty="0">
                <a:solidFill>
                  <a:srgbClr val="1D2D3E"/>
                </a:solidFill>
              </a:rPr>
              <a:t>tipos embutidos (14 no total), tipos definidos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200" dirty="0">
                <a:solidFill>
                  <a:srgbClr val="1D2D3E"/>
                </a:solidFill>
              </a:rPr>
              <a:t> e tipos globais do </a:t>
            </a:r>
            <a:r>
              <a:rPr lang="en-US" sz="1200" b="1" dirty="0">
                <a:solidFill>
                  <a:srgbClr val="1D2D3E"/>
                </a:solidFill>
              </a:rPr>
              <a:t>Dicionário ABAP</a:t>
            </a:r>
            <a:r>
              <a:rPr lang="en-US" sz="1200" dirty="0">
                <a:solidFill>
                  <a:srgbClr val="1D2D3E"/>
                </a:solidFill>
              </a:rPr>
              <a:t>, que também trazem rótulos para a UI.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0352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Processando dados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Expressões aritméticas e </a:t>
            </a:r>
            <a:r>
              <a:rPr lang="en-US" sz="1600" b="1" dirty="0">
                <a:solidFill>
                  <a:srgbClr val="D1EFFF"/>
                </a:solidFill>
              </a:rPr>
              <a:t>string templates</a:t>
            </a:r>
            <a:r>
              <a:rPr lang="en-US" sz="1600" dirty="0">
                <a:solidFill>
                  <a:srgbClr val="D1EFFF"/>
                </a:solidFill>
              </a:rPr>
              <a:t> podem ser usadas em qualquer posição de leitura, como o lado direito de uma atribuição.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- * /</a:t>
            </a:r>
            <a:r>
              <a:rPr lang="en-US" sz="1000" dirty="0">
                <a:solidFill>
                  <a:srgbClr val="D1EFFF"/>
                </a:solidFill>
              </a:rPr>
              <a:t>  aritmética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sqrt( ) · ipow( )</a:t>
            </a:r>
            <a:r>
              <a:rPr lang="en-US" sz="1000" dirty="0">
                <a:solidFill>
                  <a:srgbClr val="D1EFFF"/>
                </a:solidFill>
              </a:rPr>
              <a:t>  funções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|…{ }…|</a:t>
            </a:r>
            <a:r>
              <a:rPr lang="en-US" sz="1000" dirty="0">
                <a:solidFill>
                  <a:srgbClr val="D1EFFF"/>
                </a:solidFill>
              </a:rPr>
              <a:t>  string 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r>
              <a:rPr lang="en-US" sz="1000" dirty="0">
                <a:solidFill>
                  <a:srgbClr val="D1EFFF"/>
                </a:solidFill>
              </a:rPr>
              <a:t>  concatenação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EXPRESSÕES · ARITMÉTICA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tipo do resultado decide o que você vê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zcl_02_calc.clas.abap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ZCL_02_CALC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0.67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5.56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sqrt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1.41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ipow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8.00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 (arredondado)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Precedência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Parênteses primeiro; depois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556B82"/>
                </a:solidFill>
              </a:rPr>
              <a:t>; por fim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556B82"/>
                </a:solidFill>
              </a:rPr>
              <a:t> 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Tipo de cálculo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Depende dos operandos e do destino: com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050" dirty="0">
                <a:solidFill>
                  <a:srgbClr val="556B82"/>
                </a:solidFill>
              </a:rPr>
              <a:t> e 2 casas, 2/3 vira 0.67.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Inteiros arredondam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556B82"/>
                </a:solidFill>
              </a:rPr>
              <a:t>, a divisão arredonda o resultado: 2/3 resulta em 1.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Funções embutidas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sqrt( )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ipow( )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abs( )</a:t>
            </a:r>
            <a:r>
              <a:rPr lang="en-US" sz="1050" dirty="0">
                <a:solidFill>
                  <a:srgbClr val="556B82"/>
                </a:solidFill>
              </a:rPr>
              <a:t> e outras recebem e devolvem valores.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EXPRESSÕES · STRING TEMPLATES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Montar e formatar texto com |…{ }…|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zcl_02_text.clas.abap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ZCL_02_TEXT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cl_abap_context_info=&gt;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get_system_date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decfloat34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'-1234.5'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|ISO:     { today DATE = ISO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|Usuário: { today DATE = USER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|Valor:   { amount NUMBER = USER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|[{ `ABAP` WIDTH = 10 ALIGN = RIGHT }]|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Concatenação: nenhum separador é inserido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`Ada`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 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`Lovelace`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250" b="1" dirty="0">
                <a:solidFill>
                  <a:srgbClr val="1D2D3E"/>
                </a:solidFill>
              </a:rPr>
              <a:t> delimita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Tudo entre as barras é texto literal; o resultado é do tipo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expressão }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Avaliada em tempo de execução; exige um espaço 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556B82"/>
                </a:solidFill>
              </a:rPr>
              <a:t> e antes de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Formatação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WIDTH</a:t>
            </a:r>
            <a:r>
              <a:rPr lang="en-US" sz="1050" dirty="0">
                <a:solidFill>
                  <a:srgbClr val="556B82"/>
                </a:solidFill>
              </a:rPr>
              <a:t>,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</a:t>
            </a:r>
            <a:r>
              <a:rPr lang="en-US" sz="1050" dirty="0">
                <a:solidFill>
                  <a:srgbClr val="556B82"/>
                </a:solidFill>
              </a:rPr>
              <a:t> controlam a saída.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Junta textos sem espaço: insira o separador você mesmo.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Controle de fluxo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Decidir com </a:t>
            </a:r>
            <a:r>
              <a:rPr lang="en-US" sz="1600" b="1" dirty="0">
                <a:solidFill>
                  <a:srgbClr val="D1EFFF"/>
                </a:solidFill>
              </a:rPr>
              <a:t>IF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CASE</a:t>
            </a:r>
            <a:r>
              <a:rPr lang="en-US" sz="1600" dirty="0">
                <a:solidFill>
                  <a:srgbClr val="D1EFFF"/>
                </a:solidFill>
              </a:rPr>
              <a:t>, repetir com </a:t>
            </a:r>
            <a:r>
              <a:rPr lang="en-US" sz="1600" b="1" dirty="0">
                <a:solidFill>
                  <a:srgbClr val="D1EFFF"/>
                </a:solidFill>
              </a:rPr>
              <a:t>DO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WHILE</a:t>
            </a:r>
            <a:r>
              <a:rPr lang="en-US" sz="1600" dirty="0">
                <a:solidFill>
                  <a:srgbClr val="D1EFFF"/>
                </a:solidFill>
              </a:rPr>
              <a:t> e reagir a erros com </a:t>
            </a:r>
            <a:r>
              <a:rPr lang="en-US" sz="1600" b="1" dirty="0">
                <a:solidFill>
                  <a:srgbClr val="D1EFFF"/>
                </a:solidFill>
              </a:rPr>
              <a:t>TRY … CATCH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· ELSEIF · ELSE</a:t>
            </a:r>
            <a:r>
              <a:rPr lang="en-US" sz="1000" dirty="0">
                <a:solidFill>
                  <a:srgbClr val="D1EFFF"/>
                </a:solidFill>
              </a:rPr>
              <a:t>  ramificação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· WHEN</a:t>
            </a:r>
            <a:r>
              <a:rPr lang="en-US" sz="1000" dirty="0">
                <a:solidFill>
                  <a:srgbClr val="D1EFFF"/>
                </a:solidFill>
              </a:rPr>
              <a:t>  por valor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· WHILE</a:t>
            </a:r>
            <a:r>
              <a:rPr lang="en-US" sz="1000" dirty="0">
                <a:solidFill>
                  <a:srgbClr val="D1EFFF"/>
                </a:solidFill>
              </a:rPr>
              <a:t>  repetição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· CATCH</a:t>
            </a:r>
            <a:r>
              <a:rPr lang="en-US" sz="1000" dirty="0">
                <a:solidFill>
                  <a:srgbClr val="D1EFFF"/>
                </a:solidFill>
              </a:rPr>
              <a:t>  exceções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CONTROLE · RAMIFICAÇÃO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IF para condições, CASE para valores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81417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14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IF … ELSEIF … ELSE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2441448"/>
          </a:xfrm>
          <a:prstGeom prst="roundRect">
            <a:avLst>
              <a:gd name="adj" fmla="val 299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45389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45389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condicoes.abap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`negativo`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`zero`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`positivo`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590288"/>
            <a:ext cx="54100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 condições são avaliadas em ordem;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200" dirty="0">
                <a:solidFill>
                  <a:srgbClr val="556B82"/>
                </a:solidFill>
              </a:rPr>
              <a:t>, exatamente um bloco sempre executa. Cada condição termina com ponto, inclusive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ELSE.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97510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CASE … WHEN … OTHERS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2441448"/>
          </a:xfrm>
          <a:prstGeom prst="roundRect">
            <a:avLst>
              <a:gd name="adj" fmla="val 299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45389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45389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condicoes.abap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`Aberto`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`Encerrado`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`Desconhecido`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4590288"/>
            <a:ext cx="541004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Use quando a decisão depende do valor de </a:t>
            </a:r>
            <a:r>
              <a:rPr lang="en-US" sz="1200" b="1" dirty="0">
                <a:solidFill>
                  <a:srgbClr val="556B82"/>
                </a:solidFill>
              </a:rPr>
              <a:t>um</a:t>
            </a:r>
            <a:r>
              <a:rPr lang="en-US" sz="1200" dirty="0">
                <a:solidFill>
                  <a:srgbClr val="556B82"/>
                </a:solidFill>
              </a:rPr>
              <a:t> objeto de dados comparado por igualdade. Todo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200" dirty="0">
                <a:solidFill>
                  <a:srgbClr val="556B82"/>
                </a:solidFill>
              </a:rPr>
              <a:t> poderia ser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200" dirty="0">
                <a:solidFill>
                  <a:srgbClr val="556B82"/>
                </a:solidFill>
              </a:rPr>
              <a:t>, mas fica menos legível.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CONTROLE · CONDIÇÕES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operadores das expressões lógicas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26664"/>
          </a:xfrm>
          <a:prstGeom prst="roundRect">
            <a:avLst>
              <a:gd name="adj" fmla="val 302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870638"/>
                <a:gridCol w="3974729"/>
                <a:gridCol w="3974729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Operador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&lt;&gt;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&gt;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&lt;=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&gt;=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Comparações de valor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total &gt;= 1000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·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Combinação;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&gt;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&gt;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&gt; 0 AND NOT b IS INITIAL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IS INITIAL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Contém o valor inicial do 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 IS INITIAL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BETWEEN … AND …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Intervalo fechado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abs( x ) BETWEEN 1 AND 9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contains(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Função predicativa para texto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contains( val = name sub = 'AB'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line_exists(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Existe a linha na tabela?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line_exists( itab[ 2 ] 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5546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5546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Atenção  </a:t>
            </a:r>
            <a:r>
              <a:rPr lang="en-US" sz="1200" dirty="0">
                <a:solidFill>
                  <a:srgbClr val="1D2D3E"/>
                </a:solidFill>
              </a:rPr>
              <a:t>o mesmo símbolo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200" dirty="0">
                <a:solidFill>
                  <a:srgbClr val="1D2D3E"/>
                </a:solidFill>
              </a:rPr>
              <a:t> serve para atribuição e comparação; o ABAP decide pela posição em que ele aparece.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834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CONTROLE · REPETIÇÃO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DO, WHILE, EXIT e CONTINUE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07568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07568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zcl_02_loops.clas.abap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ZCL_02_LOOPS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|Volta { sy-index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ENDWHILE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encerra o laço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vai para a próxima volta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n TIMES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Repete um número fixo de vezes;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556B82"/>
                </a:solidFill>
              </a:rPr>
              <a:t> conta as voltas a partir de 1.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Repete enquanto a condição for verdadeira.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250" b="1" dirty="0">
                <a:solidFill>
                  <a:srgbClr val="1D2D3E"/>
                </a:solidFill>
              </a:rPr>
              <a:t> sem limite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Precisa de um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</a:t>
            </a:r>
            <a:r>
              <a:rPr lang="en-US" sz="1050" dirty="0">
                <a:solidFill>
                  <a:srgbClr val="556B82"/>
                </a:solidFill>
              </a:rPr>
              <a:t> para não rodar para sempre.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Pula o resto do bloco e segue para a próxima volta.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CONTROLE · EXCEÇÕES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TRY … CATCH evita o runtime error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zcl_02_errors.clas.abap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ZCL_02_ERRORS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cx_sy_zerodivide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`Divisão por zero`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`ABC`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cx_sy_conversion_no_number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`Texto não numérico`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Sem tratamento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exceção não tratada encerra o programa com um </a:t>
            </a:r>
            <a:r>
              <a:rPr lang="en-US" sz="1050" i="1" dirty="0">
                <a:solidFill>
                  <a:srgbClr val="556B82"/>
                </a:solidFill>
              </a:rPr>
              <a:t>short dump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Envolve o código que pode levantar a exceção.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Executa o bloco da exceção correspondente e segue após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ENDTRY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Exceções do sistema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CX_SY_*</a:t>
            </a:r>
            <a:r>
              <a:rPr lang="en-US" sz="1050" dirty="0">
                <a:solidFill>
                  <a:srgbClr val="556B82"/>
                </a:solidFill>
              </a:rPr>
              <a:t> são levantadas pelo runtime e podem ser capturadas.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Expressões construtoras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Operadores como </a:t>
            </a:r>
            <a:r>
              <a:rPr lang="en-US" sz="1600" b="1" dirty="0">
                <a:solidFill>
                  <a:srgbClr val="D1EFFF"/>
                </a:solidFill>
              </a:rPr>
              <a:t>COND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SWITCH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VALUE</a:t>
            </a:r>
            <a:r>
              <a:rPr lang="en-US" sz="1600" dirty="0">
                <a:solidFill>
                  <a:srgbClr val="D1EFFF"/>
                </a:solidFill>
              </a:rPr>
              <a:t> produzem valores dentro de uma expressão e eliminam variáveis auxiliares.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000" dirty="0">
                <a:solidFill>
                  <a:srgbClr val="D1EFFF"/>
                </a:solidFill>
              </a:rPr>
              <a:t>  IF como expressão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000" dirty="0">
                <a:solidFill>
                  <a:srgbClr val="D1EFFF"/>
                </a:solidFill>
              </a:rPr>
              <a:t>  CASE como expressão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· NEW · CONV</a:t>
            </a:r>
            <a:r>
              <a:rPr lang="en-US" sz="1000" dirty="0">
                <a:solidFill>
                  <a:srgbClr val="D1EFFF"/>
                </a:solidFill>
              </a:rPr>
              <a:t>  construir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</a:t>
            </a:r>
            <a:r>
              <a:rPr lang="en-US" sz="1000" dirty="0">
                <a:solidFill>
                  <a:srgbClr val="D1EFFF"/>
                </a:solidFill>
              </a:rPr>
              <a:t>  variável local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MODERNO · COND E SWITCH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Decidir e atribuir em uma única expressão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5323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6532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COND · condições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53162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53162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expressoes.abap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`Econômica`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`Executiva`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`Primeira classe`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Equivale a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… ELSEIF … ELSE</a:t>
            </a:r>
            <a:r>
              <a:rPr lang="en-US" sz="1200" dirty="0">
                <a:solidFill>
                  <a:srgbClr val="556B82"/>
                </a:solidFill>
              </a:rPr>
              <a:t> que atribui sempre à mesma variável, mas sem repetir a atribuição em cada ramo.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65323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6532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SWITCH · valores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53162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53162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348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expressoes.abap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status_text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`Aberto`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`Aceito`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`Desconhecido`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Equivale a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200" dirty="0">
                <a:solidFill>
                  <a:srgbClr val="556B82"/>
                </a:solidFill>
              </a:rPr>
              <a:t> que só escolhe um valor. O tipo do resultado vem logo após o operador.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MODERNO · OPERADORES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Os operadores construtores e onde reaparecem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26664"/>
          </a:xfrm>
          <a:prstGeom prst="roundRect">
            <a:avLst>
              <a:gd name="adj" fmla="val 302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302148"/>
                <a:gridCol w="5525155"/>
                <a:gridCol w="29927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Operador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 que constrói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Aprofundado em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Uma instância de classe ou referência de dados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Aula 01.03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Estruturas e tabelas internas com conteúdo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Aulas 01.05 e 01.06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CONV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 valor convertido para outro tipo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Aula 04.02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COND · SWITCH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 valor escolhido por condição ou por valor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Esta aula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CORRESPONDING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Uma estrutura ou tabela a partir de outra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Aula 01.05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REDUCE · FILTER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 agregado ou uma tabela filtrada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Aula 04.05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5546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5546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LET  </a:t>
            </a:r>
            <a:r>
              <a:rPr lang="en-US" sz="1200" dirty="0">
                <a:solidFill>
                  <a:srgbClr val="1D2D3E"/>
                </a:solidFill>
              </a:rPr>
              <a:t>dentro de um operador construtor,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 x = … IN</a:t>
            </a:r>
            <a:r>
              <a:rPr lang="en-US" sz="1200" dirty="0">
                <a:solidFill>
                  <a:srgbClr val="1D2D3E"/>
                </a:solidFill>
              </a:rPr>
              <a:t> cria uma variável local à expressão, útil para não recalcular um valor.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834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Tabelas internas simples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tabela interna guarda </a:t>
            </a:r>
            <a:r>
              <a:rPr lang="en-US" sz="1600" b="1" dirty="0">
                <a:solidFill>
                  <a:srgbClr val="D1EFFF"/>
                </a:solidFill>
              </a:rPr>
              <a:t>vários valores do mesmo tipo</a:t>
            </a:r>
            <a:r>
              <a:rPr lang="en-US" sz="1600" dirty="0">
                <a:solidFill>
                  <a:srgbClr val="D1EFFF"/>
                </a:solidFill>
              </a:rPr>
              <a:t>, um por linha, sem limite fixo de linhas.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TABLE OF</a:t>
            </a:r>
            <a:r>
              <a:rPr lang="en-US" sz="1000" dirty="0">
                <a:solidFill>
                  <a:srgbClr val="D1EFFF"/>
                </a:solidFill>
              </a:rPr>
              <a:t>  declaração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00" dirty="0">
                <a:solidFill>
                  <a:srgbClr val="D1EFFF"/>
                </a:solidFill>
              </a:rPr>
              <a:t>  incluir linha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 n ]</a:t>
            </a:r>
            <a:r>
              <a:rPr lang="en-US" sz="1000" dirty="0">
                <a:solidFill>
                  <a:srgbClr val="D1EFFF"/>
                </a:solidFill>
              </a:rPr>
              <a:t>  ler por posição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… INTO</a:t>
            </a:r>
            <a:r>
              <a:rPr lang="en-US" sz="1000" dirty="0">
                <a:solidFill>
                  <a:srgbClr val="D1EFFF"/>
                </a:solidFill>
              </a:rPr>
              <a:t>  percorrer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TABELAS · EXERCÍCIO OFICIAL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sequência de Fibonacci em uma tabela interna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38658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38658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zcl_02_fibonacci.clas.abap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ZCL_02_FIBONACCI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c_count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c_count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ENDDO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sy-tabix WIDTH = 4 }{ number }|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TABLE OF i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tipo da linha (</a:t>
            </a:r>
            <a:r>
              <a:rPr lang="en-US" sz="1050" i="1" dirty="0">
                <a:solidFill>
                  <a:srgbClr val="556B82"/>
                </a:solidFill>
              </a:rPr>
              <a:t>row type</a:t>
            </a:r>
            <a:r>
              <a:rPr lang="en-US" sz="1050" dirty="0">
                <a:solidFill>
                  <a:srgbClr val="556B82"/>
                </a:solidFill>
              </a:rPr>
              <a:t>) é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050" dirty="0">
                <a:solidFill>
                  <a:srgbClr val="556B82"/>
                </a:solidFill>
              </a:rPr>
              <a:t>; a tabela começa vazia.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Inclui uma linha no fim; aceita expressões como valor.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numbers[ n ]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Expressão de tabela: lê a linha pela posição (com espaços nos colchetes).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 … INTO DATA(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Percorre as linhas;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sy-tabix</a:t>
            </a:r>
            <a:r>
              <a:rPr lang="en-US" sz="1050" dirty="0">
                <a:solidFill>
                  <a:srgbClr val="556B82"/>
                </a:solidFill>
              </a:rPr>
              <a:t> é a linha atual.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050" dirty="0">
                <a:solidFill>
                  <a:srgbClr val="556B82"/>
                </a:solidFill>
              </a:rPr>
              <a:t> esvazia a tabela.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01.02 · SEÇÃO 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Depurando com o debugger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</a:t>
            </a:r>
            <a:r>
              <a:rPr lang="en-US" sz="1600" b="1" dirty="0">
                <a:solidFill>
                  <a:srgbClr val="D1EFFF"/>
                </a:solidFill>
              </a:rPr>
              <a:t>breakpoint</a:t>
            </a:r>
            <a:r>
              <a:rPr lang="en-US" sz="1600" dirty="0">
                <a:solidFill>
                  <a:srgbClr val="D1EFFF"/>
                </a:solidFill>
              </a:rPr>
              <a:t> pausa a execução e abre a perspectiva </a:t>
            </a:r>
            <a:r>
              <a:rPr lang="en-US" sz="1600" b="1" dirty="0">
                <a:solidFill>
                  <a:srgbClr val="D1EFFF"/>
                </a:solidFill>
              </a:rPr>
              <a:t>Debug</a:t>
            </a:r>
            <a:r>
              <a:rPr lang="en-US" sz="1600" dirty="0">
                <a:solidFill>
                  <a:srgbClr val="D1EFFF"/>
                </a:solidFill>
              </a:rPr>
              <a:t> do ADT para você seguir o código passo a passo.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Breakpoint</a:t>
            </a:r>
            <a:r>
              <a:rPr lang="en-US" sz="1000" dirty="0">
                <a:solidFill>
                  <a:srgbClr val="D1EFFF"/>
                </a:solidFill>
              </a:rPr>
              <a:t>  pausa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F5 · F6 · F7 · F8</a:t>
            </a:r>
            <a:r>
              <a:rPr lang="en-US" sz="1000" dirty="0">
                <a:solidFill>
                  <a:srgbClr val="D1EFFF"/>
                </a:solidFill>
              </a:rPr>
              <a:t>  navegação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Watchpoint</a:t>
            </a:r>
            <a:r>
              <a:rPr lang="en-US" sz="1000" dirty="0">
                <a:solidFill>
                  <a:srgbClr val="D1EFFF"/>
                </a:solidFill>
              </a:rPr>
              <a:t>  observa variável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Variables</a:t>
            </a:r>
            <a:r>
              <a:rPr lang="en-US" sz="1000" dirty="0">
                <a:solidFill>
                  <a:srgbClr val="D1EFFF"/>
                </a:solidFill>
              </a:rPr>
              <a:t>  inspeção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DEBUGGER · NAVEGAÇÃO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Controlando a execução na perspectiva Debug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116775" cy="3026664"/>
          </a:xfrm>
          <a:prstGeom prst="roundRect">
            <a:avLst>
              <a:gd name="adj" fmla="val 302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6842455" cy="914400"/>
        </p:xfrm>
        <a:graphic>
          <a:graphicData uri="http://schemas.openxmlformats.org/drawingml/2006/table">
            <a:tbl>
              <a:tblPr/>
              <a:tblGrid>
                <a:gridCol w="1294519"/>
                <a:gridCol w="1756847"/>
                <a:gridCol w="379109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Tecla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Função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 usar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Step Into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Uma instrução por vez, entrando em métodos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Step Over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Executa a linha sem entrar no método chamado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Step Return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Termina o método atual e volta a quem chamou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Resume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Segue até o próximo breakpoint ou até o fim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Shift+F8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Run to Line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Executa até a linha do cursor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Shift+F12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Jump to Line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Pula linhas sem desfazer alterações em variáveis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894015" y="1645920"/>
            <a:ext cx="3749040" cy="1421892"/>
          </a:xfrm>
          <a:prstGeom prst="roundRect">
            <a:avLst>
              <a:gd name="adj" fmla="val 643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076895" y="182880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25535" y="1810512"/>
            <a:ext cx="2834640" cy="1147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Breakpoint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Duplo clique na margem do editor. Exige o objeto ativado; é do usuário e persiste entre sessões.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894015" y="3250692"/>
            <a:ext cx="3749040" cy="1421892"/>
          </a:xfrm>
          <a:prstGeom prst="roundRect">
            <a:avLst>
              <a:gd name="adj" fmla="val 643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076895" y="3433572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25535" y="3415284"/>
            <a:ext cx="2834640" cy="1147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Variables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Inspecione estruturas e tabelas e, com autorização, altere valores para testar hipóteses.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409" y="1917314"/>
            <a:ext cx="225308" cy="225308"/>
          </a:xfrm>
          <a:prstGeom prst="rect">
            <a:avLst/>
          </a:prstGeom>
        </p:spPr>
      </p:pic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409" y="3522086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DEBUGGER · BREAKPOINTS ESPECIAIS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Parar exatamente onde o problema aparece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491740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6929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296412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Statement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Para em toda execução de uma instrução, como todo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</a:t>
            </a:r>
            <a:r>
              <a:rPr lang="en-US" sz="1200" dirty="0">
                <a:solidFill>
                  <a:srgbClr val="556B82"/>
                </a:solidFill>
              </a:rPr>
              <a:t>, onde quer que esteja.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79394" y="2491740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580562" y="26929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80562" y="3296412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Exception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Para quando uma exceção específica é levantada, tratada ou não.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0148" y="2491740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11316" y="26929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11316" y="3296412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Conditional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Só para se a condição for verdadeira, ex.: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sy-index &gt; 20</a:t>
            </a:r>
            <a:r>
              <a:rPr lang="en-US" sz="1200" dirty="0">
                <a:solidFill>
                  <a:srgbClr val="556B82"/>
                </a:solidFill>
              </a:rPr>
              <a:t> dentro de um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40901" y="2491740"/>
            <a:ext cx="2602154" cy="2084832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42069" y="26929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42069" y="3296412"/>
            <a:ext cx="219981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Watchpoint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Acompanha uma variável e para quando o valor dela muda.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5945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475945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Dica  </a:t>
            </a:r>
            <a:r>
              <a:rPr lang="en-US" sz="1200" dirty="0">
                <a:solidFill>
                  <a:srgbClr val="1D2D3E"/>
                </a:solidFill>
              </a:rPr>
              <a:t>crie os breakpoints especiais na view </a:t>
            </a:r>
            <a:r>
              <a:rPr lang="en-US" sz="1200" b="1" dirty="0">
                <a:solidFill>
                  <a:srgbClr val="1D2D3E"/>
                </a:solidFill>
              </a:rPr>
              <a:t>Breakpoints</a:t>
            </a:r>
            <a:r>
              <a:rPr lang="en-US" sz="1200" dirty="0">
                <a:solidFill>
                  <a:srgbClr val="1D2D3E"/>
                </a:solidFill>
              </a:rPr>
              <a:t>, pelo menu da barra de ferramentas.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793492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146" y="2793492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00" y="2793492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2653" y="2793492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88746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</a:t>
            </a:r>
            <a:r>
              <a:rPr lang="en-US" sz="1400" b="1" dirty="0">
                <a:solidFill>
                  <a:srgbClr val="FFFFFF"/>
                </a:solidFill>
              </a:rPr>
              <a:t>language version</a:t>
            </a:r>
            <a:r>
              <a:rPr lang="en-US" sz="1400" dirty="0">
                <a:solidFill>
                  <a:srgbClr val="FFFFFF"/>
                </a:solidFill>
              </a:rPr>
              <a:t> define o que o programa pode usar; ABAP Cloud usa </a:t>
            </a:r>
            <a:r>
              <a:rPr lang="en-US" sz="1400" i="1" dirty="0">
                <a:solidFill>
                  <a:srgbClr val="FFFFFF"/>
                </a:solidFill>
              </a:rPr>
              <a:t>ABAP for Cloud Development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Objetos de dados são sempre tipados: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400" dirty="0">
                <a:solidFill>
                  <a:srgbClr val="FFFFFF"/>
                </a:solidFill>
              </a:rPr>
              <a:t>, literais e a declaração inline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DATA( 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Expressões aritméticas e </a:t>
            </a:r>
            <a:r>
              <a:rPr lang="en-US" sz="1400" b="1" dirty="0">
                <a:solidFill>
                  <a:srgbClr val="FFFFFF"/>
                </a:solidFill>
              </a:rPr>
              <a:t>string templates</a:t>
            </a:r>
            <a:r>
              <a:rPr lang="en-US" sz="1400" dirty="0">
                <a:solidFill>
                  <a:srgbClr val="FFFFFF"/>
                </a:solidFill>
              </a:rPr>
              <a:t> com formatação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IF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CASE</a:t>
            </a:r>
            <a:r>
              <a:rPr lang="en-US" sz="1400" dirty="0">
                <a:solidFill>
                  <a:srgbClr val="FFFFFF"/>
                </a:solidFill>
              </a:rPr>
              <a:t> decidem, </a:t>
            </a:r>
            <a:r>
              <a:rPr lang="en-US" sz="1400" b="1" dirty="0">
                <a:solidFill>
                  <a:srgbClr val="FFFFFF"/>
                </a:solidFill>
              </a:rPr>
              <a:t>DO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WHILE</a:t>
            </a:r>
            <a:r>
              <a:rPr lang="en-US" sz="1400" dirty="0">
                <a:solidFill>
                  <a:srgbClr val="FFFFFF"/>
                </a:solidFill>
              </a:rPr>
              <a:t> repetem e </a:t>
            </a:r>
            <a:r>
              <a:rPr lang="en-US" sz="1400" b="1" dirty="0">
                <a:solidFill>
                  <a:srgbClr val="FFFFFF"/>
                </a:solidFill>
              </a:rPr>
              <a:t>TRY … CATCH</a:t>
            </a:r>
            <a:r>
              <a:rPr lang="en-US" sz="1400" dirty="0">
                <a:solidFill>
                  <a:srgbClr val="FFFFFF"/>
                </a:solidFill>
              </a:rPr>
              <a:t> trata exceções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COND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b="1" dirty="0">
                <a:solidFill>
                  <a:srgbClr val="FFFFFF"/>
                </a:solidFill>
              </a:rPr>
              <a:t>SWITCH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VALUE</a:t>
            </a:r>
            <a:r>
              <a:rPr lang="en-US" sz="1400" dirty="0">
                <a:solidFill>
                  <a:srgbClr val="FFFFFF"/>
                </a:solidFill>
              </a:rPr>
              <a:t> constroem valores dentro de uma expressão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Tabelas internas simples com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itab[ n ]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 AT</a:t>
            </a:r>
            <a:r>
              <a:rPr lang="en-US" sz="1400" dirty="0">
                <a:solidFill>
                  <a:srgbClr val="FFFFFF"/>
                </a:solidFill>
              </a:rPr>
              <a:t>, e o </a:t>
            </a:r>
            <a:r>
              <a:rPr lang="en-US" sz="1400" b="1" dirty="0">
                <a:solidFill>
                  <a:srgbClr val="FFFFFF"/>
                </a:solidFill>
              </a:rPr>
              <a:t>debugger</a:t>
            </a:r>
            <a:r>
              <a:rPr lang="en-US" sz="1400" dirty="0">
                <a:solidFill>
                  <a:srgbClr val="FFFFFF"/>
                </a:solidFill>
              </a:rPr>
              <a:t> para investigar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01.03  </a:t>
            </a:r>
            <a:r>
              <a:rPr lang="en-US" sz="1500" dirty="0">
                <a:solidFill>
                  <a:srgbClr val="FFFFFF"/>
                </a:solidFill>
              </a:rPr>
              <a:t>Classes locais: Definição, instâncias, métodos e encapsulamento.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01.02 Técnicas básicas da linguagem ABAP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2026-10-28T04:16:18Z</dcterms:created>
  <dcterms:modified xsi:type="dcterms:W3CDTF">2026-10-28T04:16:18Z</dcterms:modified>
</cp:coreProperties>
</file>