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Title">
    <p:bg>
      <p:bgPr>
        <a:solidFill>
          <a:srgbClr val="1D2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554480"/>
            <a:ext cx="78638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4DB1FF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2057400"/>
            <a:ext cx="81381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548640" y="420624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3DE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396A8"/>
                </a:solidFill>
              </a:rPr>
              <a:t>ABAP Moderno  ·  Módulo 01  ·  01.02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Content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0070F2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ABAP Moderno  ·  Módulo 01  ·  01.02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Closing">
    <p:bg>
      <p:bgPr>
        <a:solidFill>
          <a:srgbClr val="1D2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4DB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396A8"/>
                </a:solidFill>
              </a:rPr>
              <a:t>ABAP Moderno  ·  Módulo 01  ·  01.02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396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DB1FF"/>
                </a:solidFill>
              </a:rPr>
              <a:t>Módulo 01  ·  01.02</a:t>
            </a:r>
            <a:endParaRPr lang="en-US" sz="16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205740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ABAP Moderno: Escreva Menos, Realize Mais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548640" y="42062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DE"/>
                </a:solidFill>
              </a:rPr>
              <a:t>Um guia prático para refatorar seu código e sua mentalidade.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15400" y="160020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33302B"/>
          </a:solidFill>
          <a:ln w="9525">
            <a:solidFill>
              <a:srgbClr val="6B5E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0" y="1600200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CONCATENATE … INTO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21671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DB1FF"/>
                </a:solidFill>
              </a:rPr>
              <a:t>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915400" y="2350008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509760" y="2350008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DATA(…) inline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915400" y="3099816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509760" y="3099816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templates }|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15400" y="3849624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09760" y="3849624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 / SWITCH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15400" y="4599432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509760" y="4599432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#( … )</a:t>
            </a:r>
            <a:endParaRPr lang="en-US" sz="13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1737360"/>
            <a:ext cx="292608" cy="292608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487168"/>
            <a:ext cx="292608" cy="292608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3236976"/>
            <a:ext cx="292608" cy="292608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3986784"/>
            <a:ext cx="292608" cy="292608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4736592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O Desafio Diário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 Código que Conhecemos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309360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72821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B82"/>
                </a:solidFill>
              </a:rPr>
              <a:t>ABAP Clássico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112264"/>
            <a:ext cx="630936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240280"/>
            <a:ext cx="585216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Classic ABAP Example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z_classic_report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gv_counter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gs_flight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spfli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gt_flights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STANDARD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spfli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gv_message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gv_airline_name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gv_connection_id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START-OF-SELECTION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spfli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gt_flights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ROWS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gt_flights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gs_flight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gv_airline_name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gs_flight-carrname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gv_connection_id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gs_flight-connid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CONCATENATE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'Voo:'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gv_airline_name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gv_connection_id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gv_message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SEPARATED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space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gv_message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78040" y="160020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882128" y="1581912"/>
            <a:ext cx="376092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Verbosidade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Declarações no topo, lógica de execução muito abaixo.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78040" y="274320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882128" y="2724912"/>
            <a:ext cx="376092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“Sobe e Desce”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Rolagem constante na tela para verificar tipos de variáveis.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178040" y="388620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882128" y="3867912"/>
            <a:ext cx="376092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Lógica Dispersa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Múltiplos comandos para tarefas simples, como concatenação ou preenchimento de estruturas.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178040" y="502920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82128" y="5010912"/>
            <a:ext cx="376092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Performance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Risco de cópias de memória desnecessárias em loops com tabelas grandes.</a:t>
            </a:r>
            <a:endParaRPr lang="en-US" sz="16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2157" y="1714317"/>
            <a:ext cx="247254" cy="247254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157" y="2857317"/>
            <a:ext cx="247254" cy="247254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157" y="4000317"/>
            <a:ext cx="247254" cy="247254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2157" y="5143317"/>
            <a:ext cx="247254" cy="24725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 Filosofia Moderna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Declare Onde Você Usa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1004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5623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2532888"/>
            <a:ext cx="489798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Contexto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Unir a definição da variável ao seu primeiro uso, aumentando drasticamente a legibilidade e a manutenção do código.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3008" y="1600200"/>
            <a:ext cx="541004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89040" y="185623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89040" y="2532888"/>
            <a:ext cx="489798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Concisão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Substituir blocos procedurais por expressões funcionais poderosas que expressam a intenção, não os passos.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541004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04672" y="427939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4956048"/>
            <a:ext cx="489798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Segurança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Deixar o compilador inferir os tipos de dados, eliminando erros manuais de declaração e garantindo a compatibilidade.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33008" y="4023360"/>
            <a:ext cx="541004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89040" y="427939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89040" y="4956048"/>
            <a:ext cx="489798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Performance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Favorecer referências (ponteiros) em vez de cópias de valor, especialmente ao processar grandes volumes de dados.</a:t>
            </a:r>
            <a:endParaRPr lang="en-US" sz="16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7567" y="1979127"/>
            <a:ext cx="266273" cy="266273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35" y="1979127"/>
            <a:ext cx="266273" cy="266273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67" y="4402287"/>
            <a:ext cx="266273" cy="266273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935" y="4402287"/>
            <a:ext cx="266273" cy="26627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Revolução nº 1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 Fim da Seção DATA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5623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AECE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81328" y="1856232"/>
            <a:ext cx="415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56B82"/>
                </a:solidFill>
              </a:rPr>
              <a:t>Antes  ·  Clássico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4815688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51560" y="2724912"/>
            <a:ext cx="43584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ls_result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zcomplex_structure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lt_flights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STANDARD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flight_schedule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lo_objeto-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get_complex_data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es_result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ls_result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flight_schedule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lt_flights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600200"/>
            <a:ext cx="5364328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3048" y="185623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11416" y="1856232"/>
            <a:ext cx="415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64D9"/>
                </a:solidFill>
              </a:rPr>
              <a:t>Depois  ·  Moderno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553048" y="2560320"/>
            <a:ext cx="4815688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781648" y="2724912"/>
            <a:ext cx="43584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ls_result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lo_objeto-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get_complex_data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flight_schedule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lt_flights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BF8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80160" y="5257800"/>
            <a:ext cx="100885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Deixe o compilador fazer o trabalho pesado.</a:t>
            </a:r>
            <a:r>
              <a:rPr lang="en-US" sz="1600" dirty="0">
                <a:solidFill>
                  <a:srgbClr val="1D2D3E"/>
                </a:solidFill>
              </a:rPr>
              <a:t> O sistema infere a estrutura exata do retorno do método ou da tabela do dicionário. Menos código, zero consultas à SE11.</a:t>
            </a:r>
            <a:endParaRPr lang="en-US" sz="16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855" y="1979127"/>
            <a:ext cx="266273" cy="266273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943" y="1979127"/>
            <a:ext cx="266273" cy="266273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51840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Performance e Precisão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Pare de Copiar, Comece a Apontar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44F00"/>
                </a:solidFill>
              </a:rPr>
              <a:t>Cenário 1: WORK AREA (cópia de valor)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6400800" cy="68580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221992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lt_tabela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ls_copia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269480" y="20116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183880" y="1874520"/>
            <a:ext cx="34591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Lento para tabelas grandes.</a:t>
            </a:r>
            <a:r>
              <a:rPr lang="en-US" sz="1500" dirty="0">
                <a:solidFill>
                  <a:srgbClr val="1D2D3E"/>
                </a:solidFill>
              </a:rPr>
              <a:t> Cada linha é copiada para uma nova área de memória.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200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56F3A"/>
                </a:solidFill>
              </a:rPr>
              <a:t>Cenário 2: FIELD-SYMBOL (referência)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640080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822192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lt_tabela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ASSIGNING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FIELD-SYMBOL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fs_linha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9480" y="36118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183880" y="3474720"/>
            <a:ext cx="34591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Extremamente rápido.</a:t>
            </a:r>
            <a:r>
              <a:rPr lang="en-US" sz="1500" dirty="0">
                <a:solidFill>
                  <a:srgbClr val="1D2D3E"/>
                </a:solidFill>
              </a:rPr>
              <a:t> Cria apenas um ponteiro para a linha original, permitindo modificações diretas na tabela.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FFF8D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80160" y="512064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Atenção:</a:t>
            </a:r>
            <a:r>
              <a:rPr lang="en-US" sz="1500" dirty="0">
                <a:solidFill>
                  <a:srgbClr val="1D2D3E"/>
                </a:solidFill>
              </a:rPr>
              <a:t> uma variável declarada inline dentro de um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r>
              <a:rPr lang="en-US" sz="1500" dirty="0">
                <a:solidFill>
                  <a:srgbClr val="1D2D3E"/>
                </a:solidFill>
              </a:rPr>
              <a:t> ou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500" dirty="0">
                <a:solidFill>
                  <a:srgbClr val="1D2D3E"/>
                </a:solidFill>
              </a:rPr>
              <a:t> continua a existir após o bloco. O escopo no ABAP é o método inteiro — mantenha a disciplina para evitar bugs com valores residuais!</a:t>
            </a:r>
            <a:endParaRPr lang="en-US" sz="16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5045" y="2187245"/>
            <a:ext cx="380390" cy="380390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5045" y="3787445"/>
            <a:ext cx="380390" cy="380390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47268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Revolução nº 2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CONCATENATE Ficou no Passado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5623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AECE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81328" y="1856232"/>
            <a:ext cx="415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56B82"/>
                </a:solidFill>
              </a:rPr>
              <a:t>Antes  ·  Clássico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4815688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51560" y="2724912"/>
            <a:ext cx="43584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lv_nome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'Ana'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lv_sobrenome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'Silva'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lv_completo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CONCATENATE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'Prezado cliente:'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lv_nome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lv_sobrenome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lv_completo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SEPARATED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space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78728" y="1600200"/>
            <a:ext cx="5364328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3048" y="185623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11416" y="1856232"/>
            <a:ext cx="415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64D9"/>
                </a:solidFill>
              </a:rPr>
              <a:t>Depois  ·  Moderno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553048" y="2560320"/>
            <a:ext cx="4815688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781648" y="2724912"/>
            <a:ext cx="43584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lv_nome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'Ana'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lv_sobrenome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'Silva'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lv_completo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|Prezado cliente: { lv_nome } { lv_sobrenome }|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BF8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80160" y="5257800"/>
            <a:ext cx="100885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Intuitivo e poderoso.</a:t>
            </a:r>
            <a:r>
              <a:rPr lang="en-US" sz="1600" dirty="0">
                <a:solidFill>
                  <a:srgbClr val="1D2D3E"/>
                </a:solidFill>
              </a:rPr>
              <a:t> Espaços são respeitados literalmente, e qualquer expressão ABAP válida pode ser colocada entre chaves </a:t>
            </a:r>
            <a:r>
              <a:rPr lang="en-US" sz="16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… }</a:t>
            </a:r>
            <a:r>
              <a:rPr lang="en-US" sz="1600" dirty="0">
                <a:solidFill>
                  <a:srgbClr val="1D2D3E"/>
                </a:solidFill>
              </a:rPr>
              <a:t>.</a:t>
            </a:r>
            <a:endParaRPr lang="en-US" sz="16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855" y="1979127"/>
            <a:ext cx="266273" cy="266273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943" y="1979127"/>
            <a:ext cx="266273" cy="266273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51840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O Poder Oculto dos Templates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Formatação e Lógica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457200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28800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63040" y="1828800"/>
            <a:ext cx="24179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2D3E"/>
                </a:solidFill>
              </a:rPr>
              <a:t>Datas e Moedas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49808" y="2560320"/>
            <a:ext cx="3112922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78408" y="2724912"/>
            <a:ext cx="26557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usu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á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rio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sy-datum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3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á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rio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formatado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lv_salary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'BRL'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3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5120640"/>
            <a:ext cx="30031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Adapta-se automaticamente ao perfil do usuário logado, simplificando a internacionalização.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38218" y="1600200"/>
            <a:ext cx="3515258" cy="457200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94250" y="1828800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252618" y="1828800"/>
            <a:ext cx="24179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2D3E"/>
                </a:solidFill>
              </a:rPr>
              <a:t>Conversão ALPHA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39386" y="2560320"/>
            <a:ext cx="3112922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767986" y="2724912"/>
            <a:ext cx="26557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Material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lv_matnr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ALPHA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3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Material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Tela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lv_db_format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ALPHA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3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94250" y="5120640"/>
            <a:ext cx="30031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Essencial para chaves de banco de dados, sem chamar function modules.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27797" y="1600200"/>
            <a:ext cx="3515258" cy="457200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83829" y="1828800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042197" y="1828800"/>
            <a:ext cx="24179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2D3E"/>
                </a:solidFill>
              </a:rPr>
              <a:t>Lógica Condicional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328965" y="2560320"/>
            <a:ext cx="3112922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557565" y="2724912"/>
            <a:ext cx="26557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lv_nota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'Aprovado'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'Reprovado'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383829" y="5120640"/>
            <a:ext cx="30031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Execute decisões lógicas diretamente onde o resultado será usado.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7567" y="1951695"/>
            <a:ext cx="266273" cy="266273"/>
          </a:xfrm>
          <a:prstGeom prst="rect">
            <a:avLst/>
          </a:prstGeom>
        </p:spPr>
      </p:pic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7146" y="1951695"/>
            <a:ext cx="266273" cy="266273"/>
          </a:xfrm>
          <a:prstGeom prst="rect">
            <a:avLst/>
          </a:prstGeom>
        </p:spPr>
      </p:pic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6724" y="1951695"/>
            <a:ext cx="266273" cy="26627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Revolução nº 3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Construa Resultados, Não Apenas Lógica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1D2D3E"/>
                </a:solidFill>
              </a:rPr>
              <a:t>“Transforme blocos de código procedurais em expressões funcionais elegantes.”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377440" y="2834640"/>
            <a:ext cx="3108960" cy="731520"/>
          </a:xfrm>
          <a:prstGeom prst="roundRect">
            <a:avLst>
              <a:gd name="adj" fmla="val 15000"/>
            </a:avLst>
          </a:prstGeom>
          <a:solidFill>
            <a:srgbClr val="EEF1F4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377440" y="28346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/ ELSEIF / ELSE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715000" y="3017520"/>
            <a:ext cx="777240" cy="365760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8" name="Shape 6"/>
          <p:cNvSpPr/>
          <p:nvPr/>
        </p:nvSpPr>
        <p:spPr>
          <a:xfrm>
            <a:off x="6720840" y="2834640"/>
            <a:ext cx="3108960" cy="731520"/>
          </a:xfrm>
          <a:prstGeom prst="roundRect">
            <a:avLst>
              <a:gd name="adj" fmla="val 15000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20840" y="28346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377440" y="3886200"/>
            <a:ext cx="3108960" cy="731520"/>
          </a:xfrm>
          <a:prstGeom prst="roundRect">
            <a:avLst>
              <a:gd name="adj" fmla="val 15000"/>
            </a:avLst>
          </a:prstGeom>
          <a:solidFill>
            <a:srgbClr val="EEF1F4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77440" y="38862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715000" y="4069080"/>
            <a:ext cx="777240" cy="365760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720840" y="3886200"/>
            <a:ext cx="3108960" cy="731520"/>
          </a:xfrm>
          <a:prstGeom prst="roundRect">
            <a:avLst>
              <a:gd name="adj" fmla="val 15000"/>
            </a:avLst>
          </a:prstGeom>
          <a:solidFill>
            <a:srgbClr val="0070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20840" y="38862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377440" y="4937760"/>
            <a:ext cx="3108960" cy="731520"/>
          </a:xfrm>
          <a:prstGeom prst="roundRect">
            <a:avLst>
              <a:gd name="adj" fmla="val 15000"/>
            </a:avLst>
          </a:prstGeom>
          <a:solidFill>
            <a:srgbClr val="EEF1F4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77440" y="4937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 AT … APPEND.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715000" y="5120640"/>
            <a:ext cx="777240" cy="365760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720840" y="4937760"/>
            <a:ext cx="3108960" cy="731520"/>
          </a:xfrm>
          <a:prstGeom prst="roundRect">
            <a:avLst>
              <a:gd name="adj" fmla="val 15000"/>
            </a:avLst>
          </a:prstGeom>
          <a:solidFill>
            <a:srgbClr val="0070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720840" y="4937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COND e SWITCH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 Evolução Inteligente do IF/CASE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10048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728216"/>
            <a:ext cx="495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B82"/>
                </a:solidFill>
              </a:rPr>
              <a:t>Antes · IF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112264"/>
            <a:ext cx="5410048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240280"/>
            <a:ext cx="495284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lv_idade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lv_fase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'Criança'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lv_idade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lv_idade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lv_fase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'Adolescente'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lv_fase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'Adulto'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33008" y="1600200"/>
            <a:ext cx="5410048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61608" y="1728216"/>
            <a:ext cx="495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</a:rPr>
              <a:t>Depois · COND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33008" y="2112264"/>
            <a:ext cx="5410048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61608" y="2240280"/>
            <a:ext cx="495284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lv_fase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lv_idade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'Criança'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lv_idade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'Adolescente'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'Adulto'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749040"/>
            <a:ext cx="5410048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3877056"/>
            <a:ext cx="495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B82"/>
                </a:solidFill>
              </a:rPr>
              <a:t>Antes · CASE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261104"/>
            <a:ext cx="5410048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389120"/>
            <a:ext cx="495284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lv_status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'S'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lv_cor_semaforo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'Verde'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'E'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lv_cor_semaforo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'Vermelho'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lv_cor_semaforo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'Amarelo'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33008" y="3749040"/>
            <a:ext cx="5410048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61608" y="3877056"/>
            <a:ext cx="495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</a:rPr>
              <a:t>Depois · SWITCH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33008" y="4261104"/>
            <a:ext cx="5410048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61608" y="4389120"/>
            <a:ext cx="495284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lv_cor_semaforo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lv_status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'S'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'Verde'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'E'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'Vermelho'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'Amarelo'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852160"/>
            <a:ext cx="11094415" cy="457200"/>
          </a:xfrm>
          <a:prstGeom prst="roundRect">
            <a:avLst>
              <a:gd name="adj" fmla="val 24000"/>
            </a:avLst>
          </a:prstGeom>
          <a:solidFill>
            <a:srgbClr val="EBF8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80160" y="5852160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A intenção fica mais clara: o código descreve o </a:t>
            </a:r>
            <a:r>
              <a:rPr lang="en-US" sz="1500" b="1" dirty="0">
                <a:solidFill>
                  <a:srgbClr val="1D2D3E"/>
                </a:solidFill>
              </a:rPr>
              <a:t>resultado desejado</a:t>
            </a:r>
            <a:r>
              <a:rPr lang="en-US" sz="1500" dirty="0">
                <a:solidFill>
                  <a:srgbClr val="1D2D3E"/>
                </a:solidFill>
              </a:rPr>
              <a:t>, não os passos para alcançá-lo.</a:t>
            </a:r>
            <a:endParaRPr lang="en-US" sz="16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90702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Ferramentas Avançadas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LET e VALUE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64D9"/>
                </a:solidFill>
              </a:rPr>
              <a:t>LET — Evite Poluir seu Código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58568"/>
            <a:ext cx="4815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4F00"/>
                </a:solidFill>
              </a:rPr>
              <a:t>Problema  </a:t>
            </a:r>
            <a:r>
              <a:rPr lang="en-US" sz="1400" dirty="0">
                <a:solidFill>
                  <a:srgbClr val="1D2D3E"/>
                </a:solidFill>
              </a:rPr>
              <a:t>Precisa de uma variável auxiliar apenas para um cálculo intermediário dentro de uma condição?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3017520"/>
            <a:ext cx="4815688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51560" y="3182112"/>
            <a:ext cx="43584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lv_discount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lv_compra1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lv_compra2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257800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56F3A"/>
                </a:solidFill>
              </a:rPr>
              <a:t>Benefício  </a:t>
            </a:r>
            <a:r>
              <a:rPr lang="en-US" sz="1400" dirty="0">
                <a:solidFill>
                  <a:srgbClr val="1D2D3E"/>
                </a:solidFill>
              </a:rPr>
              <a:t>A variável </a:t>
            </a:r>
            <a:r>
              <a:rPr lang="en-US" sz="14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r>
              <a:rPr lang="en-US" sz="1400" dirty="0">
                <a:solidFill>
                  <a:srgbClr val="1D2D3E"/>
                </a:solidFill>
              </a:rPr>
              <a:t> só existe dentro desta operação, mantendo o escopo do método limpo.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78728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53048" y="1783080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64D9"/>
                </a:solidFill>
              </a:rPr>
              <a:t>VALUE — Construção Instantânea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2258568"/>
            <a:ext cx="4815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4F00"/>
                </a:solidFill>
              </a:rPr>
              <a:t>Problema  </a:t>
            </a:r>
            <a:r>
              <a:rPr lang="en-US" sz="1400" dirty="0">
                <a:solidFill>
                  <a:srgbClr val="1D2D3E"/>
                </a:solidFill>
              </a:rPr>
              <a:t>Preenchendo uma estrutura ou tabela interna campo a campo, linha a linha?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53048" y="3017520"/>
            <a:ext cx="4815688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781648" y="3182112"/>
            <a:ext cx="43584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Para estruturas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ls_user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ty_user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'João'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Para tabelas (adicionando à existente)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lt_history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lt_history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53048" y="5257800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56F3A"/>
                </a:solidFill>
              </a:rPr>
              <a:t>Benefício  </a:t>
            </a:r>
            <a:r>
              <a:rPr lang="en-US" sz="1400" dirty="0">
                <a:solidFill>
                  <a:srgbClr val="1D2D3E"/>
                </a:solidFill>
              </a:rPr>
              <a:t>Cria e preenche dados complexos de forma atômica, legível e segura.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Síntese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 Calculadora Robusta em Ação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086600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764792"/>
            <a:ext cx="66294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if_oo_adt_classrun~main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lv_num1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</a:t>
            </a: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&lt;- 1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lv_num2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lv_operation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'DIV'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lt_history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tt_log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lv_result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decfloat34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lv_operation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&lt;- 2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'DIV'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lv_num2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&lt;- 3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lv_num1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lv_num2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'SUM'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lv_num1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lv_num2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2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|Resultado: { lv_result NUMBER = USER }|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&lt;- 4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lt_history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lt_history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&lt;- 5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lv_operation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val1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lv_num1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val2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lv_num2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lv_result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863840" y="1600200"/>
            <a:ext cx="377921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28432" y="1828800"/>
            <a:ext cx="329184" cy="32918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28432" y="1828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503920" y="1600200"/>
            <a:ext cx="30019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Declarações inline:</a:t>
            </a:r>
            <a:r>
              <a:rPr lang="en-US" sz="1300" dirty="0">
                <a:solidFill>
                  <a:srgbClr val="1D2D3E"/>
                </a:solidFill>
              </a:rPr>
              <a:t> declaradas no uso, com tipo inferido.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863840" y="2542032"/>
            <a:ext cx="377921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28432" y="2770632"/>
            <a:ext cx="329184" cy="32918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28432" y="2770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2542032"/>
            <a:ext cx="30019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`SWITCH`</a:t>
            </a:r>
            <a:r>
              <a:rPr lang="en-US" sz="1300" dirty="0">
                <a:solidFill>
                  <a:srgbClr val="1D2D3E"/>
                </a:solidFill>
              </a:rPr>
              <a:t> seleciona a operação de forma clara e funcional.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863840" y="3483864"/>
            <a:ext cx="377921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28432" y="3712464"/>
            <a:ext cx="329184" cy="32918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28432" y="3712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503920" y="3483864"/>
            <a:ext cx="30019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`COND` aninhado</a:t>
            </a:r>
            <a:r>
              <a:rPr lang="en-US" sz="1300" dirty="0">
                <a:solidFill>
                  <a:srgbClr val="1D2D3E"/>
                </a:solidFill>
              </a:rPr>
              <a:t> evita a divisão por zero sem um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300" dirty="0">
                <a:solidFill>
                  <a:srgbClr val="1D2D3E"/>
                </a:solidFill>
              </a:rPr>
              <a:t> separado.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863840" y="4425696"/>
            <a:ext cx="377921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28432" y="4654296"/>
            <a:ext cx="329184" cy="32918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28432" y="4654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0" y="4425696"/>
            <a:ext cx="30019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String Template</a:t>
            </a:r>
            <a:r>
              <a:rPr lang="en-US" sz="1300" dirty="0">
                <a:solidFill>
                  <a:srgbClr val="1D2D3E"/>
                </a:solidFill>
              </a:rPr>
              <a:t> formata o número para o usuário final.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863840" y="5367528"/>
            <a:ext cx="377921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28432" y="5596128"/>
            <a:ext cx="329184" cy="32918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28432" y="5596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503920" y="5367528"/>
            <a:ext cx="30019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`VALUE`</a:t>
            </a:r>
            <a:r>
              <a:rPr lang="en-US" sz="1300" dirty="0">
                <a:solidFill>
                  <a:srgbClr val="1D2D3E"/>
                </a:solidFill>
              </a:rPr>
              <a:t> adiciona a linha ao histórico de forma atômica, sem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300" dirty="0">
                <a:solidFill>
                  <a:srgbClr val="1D2D3E"/>
                </a:solidFill>
              </a:rPr>
              <a:t>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Resumo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Seu Novo “Cheat Sheet” ABAP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56B82"/>
                </a:solidFill>
              </a:rPr>
              <a:t>Clássico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81812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</a:rPr>
              <a:t>Moderno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Declaração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063240" y="2011680"/>
            <a:ext cx="3977640" cy="548640"/>
          </a:xfrm>
          <a:prstGeom prst="roundRect">
            <a:avLst>
              <a:gd name="adj" fmla="val 16667"/>
            </a:avLst>
          </a:prstGeom>
          <a:solidFill>
            <a:srgbClr val="EEF1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4612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lv_val TYPE 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78040" y="2139696"/>
            <a:ext cx="502920" cy="292608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0" name="Shape 8"/>
          <p:cNvSpPr/>
          <p:nvPr/>
        </p:nvSpPr>
        <p:spPr>
          <a:xfrm>
            <a:off x="7818120" y="2011680"/>
            <a:ext cx="382493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DE6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01000" y="2011680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lv_val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6334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Concatenação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063240" y="2633472"/>
            <a:ext cx="3977640" cy="548640"/>
          </a:xfrm>
          <a:prstGeom prst="roundRect">
            <a:avLst>
              <a:gd name="adj" fmla="val 16667"/>
            </a:avLst>
          </a:prstGeom>
          <a:solidFill>
            <a:srgbClr val="EEF1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46120" y="263347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CONCATENATE a b INTO c.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178040" y="2761488"/>
            <a:ext cx="502920" cy="292608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6" name="Shape 14"/>
          <p:cNvSpPr/>
          <p:nvPr/>
        </p:nvSpPr>
        <p:spPr>
          <a:xfrm>
            <a:off x="7818120" y="2633472"/>
            <a:ext cx="382493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DE6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01000" y="2633472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a } { b }|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2552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Atribuição lógica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063240" y="3255264"/>
            <a:ext cx="3977640" cy="548640"/>
          </a:xfrm>
          <a:prstGeom prst="roundRect">
            <a:avLst>
              <a:gd name="adj" fmla="val 16667"/>
            </a:avLst>
          </a:prstGeom>
          <a:solidFill>
            <a:srgbClr val="EEF1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46120" y="325526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/ ELSE ... ENDIF.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178040" y="3383280"/>
            <a:ext cx="502920" cy="292608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22" name="Shape 20"/>
          <p:cNvSpPr/>
          <p:nvPr/>
        </p:nvSpPr>
        <p:spPr>
          <a:xfrm>
            <a:off x="7818120" y="3255264"/>
            <a:ext cx="382493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DE6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01000" y="3255264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8770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Construir estrutura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063240" y="3877056"/>
            <a:ext cx="3977640" cy="548640"/>
          </a:xfrm>
          <a:prstGeom prst="roundRect">
            <a:avLst>
              <a:gd name="adj" fmla="val 16667"/>
            </a:avLst>
          </a:prstGeom>
          <a:solidFill>
            <a:srgbClr val="EEF1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6120" y="387705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ls_data-campo = val.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178040" y="4005072"/>
            <a:ext cx="502920" cy="292608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28" name="Shape 26"/>
          <p:cNvSpPr/>
          <p:nvPr/>
        </p:nvSpPr>
        <p:spPr>
          <a:xfrm>
            <a:off x="7818120" y="3877056"/>
            <a:ext cx="382493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DE6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01000" y="3877056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ls_data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498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Verificar tabela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3240" y="4498848"/>
            <a:ext cx="3977640" cy="548640"/>
          </a:xfrm>
          <a:prstGeom prst="roundRect">
            <a:avLst>
              <a:gd name="adj" fmla="val 16667"/>
            </a:avLst>
          </a:prstGeom>
          <a:solidFill>
            <a:srgbClr val="EEF1F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246120" y="44988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TABLE ...  sy-subrc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178040" y="4626864"/>
            <a:ext cx="502920" cy="292608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34" name="Shape 32"/>
          <p:cNvSpPr/>
          <p:nvPr/>
        </p:nvSpPr>
        <p:spPr>
          <a:xfrm>
            <a:off x="7818120" y="4498848"/>
            <a:ext cx="382493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DE6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01000" y="4498848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120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Conversão ALPHA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3063240" y="5120640"/>
            <a:ext cx="3977640" cy="548640"/>
          </a:xfrm>
          <a:prstGeom prst="roundRect">
            <a:avLst>
              <a:gd name="adj" fmla="val 16667"/>
            </a:avLst>
          </a:prstGeom>
          <a:solidFill>
            <a:srgbClr val="EEF1F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246120" y="5120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FUNCTION ...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178040" y="5248656"/>
            <a:ext cx="502920" cy="292608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40" name="Shape 38"/>
          <p:cNvSpPr/>
          <p:nvPr/>
        </p:nvSpPr>
        <p:spPr>
          <a:xfrm>
            <a:off x="7818120" y="5120640"/>
            <a:ext cx="382493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DE6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001000" y="5120640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var ALPHA = IN }|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5815584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56B82"/>
                </a:solidFill>
              </a:rPr>
              <a:t>Transforme estes conceitos em hábitos diários.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Teste seu Entendimento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As Regras do Jogo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D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00200" y="1874520"/>
            <a:ext cx="9768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2D3E"/>
                </a:solidFill>
              </a:rPr>
              <a:t>O operador </a:t>
            </a:r>
            <a:r>
              <a:rPr lang="en-US" sz="18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r>
              <a:rPr lang="en-US" sz="1800" b="1" dirty="0">
                <a:solidFill>
                  <a:srgbClr val="1D2D3E"/>
                </a:solidFill>
              </a:rPr>
              <a:t> pode substituir qualquer comando </a:t>
            </a:r>
            <a:r>
              <a:rPr lang="en-US" sz="18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800" b="1" dirty="0">
                <a:solidFill>
                  <a:srgbClr val="1D2D3E"/>
                </a:solidFill>
              </a:rPr>
              <a:t>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514600"/>
            <a:ext cx="9768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64D9"/>
                </a:solidFill>
              </a:rPr>
              <a:t>Resposta: </a:t>
            </a:r>
            <a:r>
              <a:rPr lang="en-US" sz="1500" b="1" dirty="0">
                <a:solidFill>
                  <a:srgbClr val="1D2D3E"/>
                </a:solidFill>
              </a:rPr>
              <a:t>Não.</a:t>
            </a:r>
            <a:r>
              <a:rPr lang="en-US" sz="1500" dirty="0">
                <a:solidFill>
                  <a:srgbClr val="1D2D3E"/>
                </a:solidFill>
              </a:rPr>
              <a:t>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r>
              <a:rPr lang="en-US" sz="1500" dirty="0">
                <a:solidFill>
                  <a:srgbClr val="1D2D3E"/>
                </a:solidFill>
              </a:rPr>
              <a:t> é um operador para </a:t>
            </a:r>
            <a:r>
              <a:rPr lang="en-US" sz="1500" b="1" dirty="0">
                <a:solidFill>
                  <a:srgbClr val="1D2D3E"/>
                </a:solidFill>
              </a:rPr>
              <a:t>retornar um valor</a:t>
            </a:r>
            <a:r>
              <a:rPr lang="en-US" sz="1500" dirty="0">
                <a:solidFill>
                  <a:srgbClr val="1D2D3E"/>
                </a:solidFill>
              </a:rPr>
              <a:t>. Ele substitui a lógica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500" dirty="0">
                <a:solidFill>
                  <a:srgbClr val="1D2D3E"/>
                </a:solidFill>
              </a:rPr>
              <a:t> usada para atribuição. Para controle de fluxo (chamar métodos, sair de loops), o comando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500" dirty="0">
                <a:solidFill>
                  <a:srgbClr val="1D2D3E"/>
                </a:solidFill>
              </a:rPr>
              <a:t> tradicional ainda é necessário.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931920"/>
            <a:ext cx="11094415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420624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D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600200" y="4206240"/>
            <a:ext cx="9768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2D3E"/>
                </a:solidFill>
              </a:rPr>
              <a:t>Qual o risco de uma variável declarada com </a:t>
            </a:r>
            <a:r>
              <a:rPr lang="en-US" sz="18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DATA(...)</a:t>
            </a:r>
            <a:r>
              <a:rPr lang="en-US" sz="1800" b="1" dirty="0">
                <a:solidFill>
                  <a:srgbClr val="1D2D3E"/>
                </a:solidFill>
              </a:rPr>
              <a:t> dentro de um </a:t>
            </a:r>
            <a:r>
              <a:rPr lang="en-US" sz="18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r>
              <a:rPr lang="en-US" sz="1800" b="1" dirty="0">
                <a:solidFill>
                  <a:srgbClr val="1D2D3E"/>
                </a:solidFill>
              </a:rPr>
              <a:t>?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4846320"/>
            <a:ext cx="9768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64D9"/>
                </a:solidFill>
              </a:rPr>
              <a:t>Resposta: </a:t>
            </a:r>
            <a:r>
              <a:rPr lang="en-US" sz="1500" dirty="0">
                <a:solidFill>
                  <a:srgbClr val="1D2D3E"/>
                </a:solidFill>
              </a:rPr>
              <a:t>A variável continua acessível após o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r>
              <a:rPr lang="en-US" sz="1500" dirty="0">
                <a:solidFill>
                  <a:srgbClr val="1D2D3E"/>
                </a:solidFill>
              </a:rPr>
              <a:t>: seu escopo é o </a:t>
            </a:r>
            <a:r>
              <a:rPr lang="en-US" sz="1500" b="1" dirty="0">
                <a:solidFill>
                  <a:srgbClr val="1D2D3E"/>
                </a:solidFill>
              </a:rPr>
              <a:t>método inteiro</a:t>
            </a:r>
            <a:r>
              <a:rPr lang="en-US" sz="1500" dirty="0">
                <a:solidFill>
                  <a:srgbClr val="1D2D3E"/>
                </a:solidFill>
              </a:rPr>
              <a:t>, não o loop. Se não for limpa (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r>
              <a:rPr lang="en-US" sz="1500" dirty="0">
                <a:solidFill>
                  <a:srgbClr val="1D2D3E"/>
                </a:solidFill>
              </a:rPr>
              <a:t>), pode carregar um valor residual para iterações ou lógicas futuras, causando bugs.</a:t>
            </a:r>
            <a:endParaRPr lang="en-US" sz="16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2006194"/>
            <a:ext cx="285293" cy="285293"/>
          </a:xfrm>
          <a:prstGeom prst="rect">
            <a:avLst/>
          </a:prstGeom>
        </p:spPr>
      </p:pic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634" y="4337914"/>
            <a:ext cx="285293" cy="28529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Sua Jornada Apenas Começou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Próximos Passos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1004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5623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2532888"/>
            <a:ext cx="489798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Pratique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Comece aplicando as novas sintaxes em pequenos relatórios ou classes de utilidade. Crie um ambiente seguro para experimentar.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3008" y="1600200"/>
            <a:ext cx="541004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89040" y="185623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89040" y="2532888"/>
            <a:ext cx="489798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Refatore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Escolha um programa antigo e aplique um conceito por vez. String Templates e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line_exists( )</a:t>
            </a:r>
            <a:r>
              <a:rPr lang="en-US" sz="1500" dirty="0">
                <a:solidFill>
                  <a:srgbClr val="556B82"/>
                </a:solidFill>
              </a:rPr>
              <a:t> são ótimos pontos de partida.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541004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04672" y="427939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4956048"/>
            <a:ext cx="489798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Compartilhe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Discuta estas técnicas com sua equipe. Promova um código mais limpo e padronizado nos code reviews.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33008" y="4023360"/>
            <a:ext cx="541004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89040" y="427939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89040" y="4956048"/>
            <a:ext cx="489798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Pense Moderno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Antes de escrever um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500" dirty="0">
                <a:solidFill>
                  <a:srgbClr val="556B82"/>
                </a:solidFill>
              </a:rPr>
              <a:t> para atribuir um valor, pergunte-se: ‘Posso resolver isso com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r>
              <a:rPr lang="en-US" sz="1500" dirty="0">
                <a:solidFill>
                  <a:srgbClr val="556B82"/>
                </a:solidFill>
              </a:rPr>
              <a:t>?’ Crie o hábito.</a:t>
            </a:r>
            <a:endParaRPr lang="en-US" sz="16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1935" y="1979127"/>
            <a:ext cx="266273" cy="266273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567" y="1979127"/>
            <a:ext cx="266273" cy="266273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67" y="4402287"/>
            <a:ext cx="266273" cy="266273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935" y="4402287"/>
            <a:ext cx="266273" cy="26627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DB1FF"/>
                </a:solidFill>
              </a:rPr>
              <a:t>Conclusão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Escreva Menos, Realize Mais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FFFFFF"/>
                </a:solidFill>
              </a:rPr>
              <a:t>Código Limpo 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346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4DB1FF"/>
                </a:solidFill>
              </a:rPr>
              <a:t>Código Profissional.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3DE"/>
                </a:solidFill>
              </a:rPr>
              <a:t>A modernização do ABAP não é apenas sobre sintaxe — é sobre clareza, eficiência e a qualidade do software que construímos.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396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7858FF"/>
      </a:accent5>
      <a:accent6>
        <a:srgbClr val="07838F"/>
      </a:accent6>
      <a:hlink>
        <a:srgbClr val="0064D9"/>
      </a:hlink>
      <a:folHlink>
        <a:srgbClr val="5D36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ABAP Moderno: Escreva Menos, Realize Mais</dc:title>
  <dc:subject>ABAP Moderno – Módulo 01</dc:subject>
  <dc:creator>Adriano Bispo</dc:creator>
  <cp:lastModifiedBy>Adriano Bispo</cp:lastModifiedBy>
  <cp:revision>1</cp:revision>
  <dcterms:created xsi:type="dcterms:W3CDTF">2026-10-25T03:33:25Z</dcterms:created>
  <dcterms:modified xsi:type="dcterms:W3CDTF">2026-10-25T03:33:25Z</dcterms:modified>
</cp:coreProperties>
</file>