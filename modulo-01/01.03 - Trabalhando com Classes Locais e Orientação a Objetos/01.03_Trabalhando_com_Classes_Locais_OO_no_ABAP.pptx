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Classes Locais e Orientação a Objetos no ABAP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Do conceito à prática: domine o escopo, a anatomia e a sintaxe moderna.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OBJECT lo_obj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lcl_…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lcl_class( 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Missão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Objetivos de Aprendizagem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67864" cy="32918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3591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3255264"/>
            <a:ext cx="20558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D2D3E"/>
                </a:solidFill>
              </a:rPr>
              <a:t>Escopo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Distinguir Classes Globais de Locais e seus casos de uso.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2103120"/>
            <a:ext cx="2567864" cy="32918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46856" y="23591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46856" y="3255264"/>
            <a:ext cx="20558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D2D3E"/>
                </a:solidFill>
              </a:rPr>
              <a:t>Estrutura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Dominar a separação entre Definição (Contrato) e Implementação (Lógica).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2103120"/>
            <a:ext cx="2567864" cy="32918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89040" y="23591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89040" y="3255264"/>
            <a:ext cx="20558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D2D3E"/>
                </a:solidFill>
              </a:rPr>
              <a:t>Segurança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Aplicar Encapsulamento usando seções de visibilidade (Public, Protected, Private).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2103120"/>
            <a:ext cx="2567864" cy="3291840"/>
          </a:xfrm>
          <a:prstGeom prst="roundRect">
            <a:avLst>
              <a:gd name="adj" fmla="val 49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31223" y="2359152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31223" y="3255264"/>
            <a:ext cx="20558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D2D3E"/>
                </a:solidFill>
              </a:rPr>
              <a:t>Modernidade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Utilizar a sintaxe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500" dirty="0">
                <a:solidFill>
                  <a:srgbClr val="556B82"/>
                </a:solidFill>
              </a:rPr>
              <a:t> e Construtores para um código mais limpo.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7" y="2534717"/>
            <a:ext cx="380390" cy="38039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421" y="2534717"/>
            <a:ext cx="380390" cy="38039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604" y="2534717"/>
            <a:ext cx="380390" cy="380390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6788" y="2534717"/>
            <a:ext cx="380390" cy="3803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Global vs. Local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Escolhendo Onde Codificar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8308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</a:rPr>
              <a:t>Classes Globais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29888" y="207568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29888" y="20756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F3A"/>
                </a:solidFill>
              </a:rPr>
              <a:t>Prefixo ZCL_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3464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Objetos de repositório independentes (SE24/ADT).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Visibilidade:</a:t>
            </a:r>
            <a:r>
              <a:rPr lang="en-US" sz="1600" dirty="0">
                <a:solidFill>
                  <a:srgbClr val="1D2D3E"/>
                </a:solidFill>
              </a:rPr>
              <a:t> total. Visíveis por todo o sistema SAP.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Uso ideal:</a:t>
            </a:r>
            <a:r>
              <a:rPr lang="en-US" sz="1600" dirty="0">
                <a:solidFill>
                  <a:srgbClr val="1D2D3E"/>
                </a:solidFill>
              </a:rPr>
              <a:t> lógica de negócio reutilizável, APIs públicas.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78728" y="1600200"/>
            <a:ext cx="5364328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87452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13168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</a:rPr>
              <a:t>Classes Locais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859975" y="207568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59975" y="20756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</a:rPr>
              <a:t>Prefixo LCL_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83464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Definidas dentro de um artefato (programa, função, classe).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Visibilidade:</a:t>
            </a:r>
            <a:r>
              <a:rPr lang="en-US" sz="1600" dirty="0">
                <a:solidFill>
                  <a:srgbClr val="1D2D3E"/>
                </a:solidFill>
              </a:rPr>
              <a:t> restrita ao artefato que as contém.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Uso ideal:</a:t>
            </a:r>
            <a:r>
              <a:rPr lang="en-US" sz="1600" dirty="0">
                <a:solidFill>
                  <a:srgbClr val="1D2D3E"/>
                </a:solidFill>
              </a:rPr>
              <a:t> helpers (limpeza de código) e testes unitários (ABAP Unit).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EBF8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80160" y="539496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Insight:</a:t>
            </a:r>
            <a:r>
              <a:rPr lang="en-US" sz="1600" dirty="0">
                <a:solidFill>
                  <a:srgbClr val="1D2D3E"/>
                </a:solidFill>
              </a:rPr>
              <a:t> classes locais mantêm o repositório global limpo, evitando poluição com lógicas específicas de uma única tarefa.</a:t>
            </a:r>
            <a:endParaRPr lang="en-US" sz="16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2050085"/>
            <a:ext cx="380390" cy="380390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332" y="2050085"/>
            <a:ext cx="380390" cy="38039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098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Natureza Dual da Classe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Promessa vs. 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011680" y="1600200"/>
            <a:ext cx="816833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0" y="1444752"/>
            <a:ext cx="1362456" cy="310896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286000" y="1444752"/>
            <a:ext cx="1362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DEFINITION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331720" y="196596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874520"/>
            <a:ext cx="6522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</a:rPr>
              <a:t>A Promessa (Contrato)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Define tipos, constantes e a assinatura dos métodos.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34640"/>
            <a:ext cx="6522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</a:rPr>
              <a:t>Regra de Ouro:</a:t>
            </a:r>
            <a:r>
              <a:rPr lang="en-US" sz="1400" dirty="0">
                <a:solidFill>
                  <a:srgbClr val="0064D9"/>
                </a:solidFill>
              </a:rPr>
              <a:t> nenhuma lógica executável (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400" dirty="0">
                <a:solidFill>
                  <a:srgbClr val="0064D9"/>
                </a:solidFill>
              </a:rPr>
              <a:t>,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400" dirty="0">
                <a:solidFill>
                  <a:srgbClr val="0064D9"/>
                </a:solidFill>
              </a:rPr>
              <a:t>) entra aqui.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11680" y="4114800"/>
            <a:ext cx="816833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30914C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0" y="3959352"/>
            <a:ext cx="1779422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86000" y="3959352"/>
            <a:ext cx="17794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F3A"/>
                </a:solidFill>
              </a:rPr>
              <a:t>IMPLEMENTATION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31720" y="448056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4389120"/>
            <a:ext cx="6522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2D3E"/>
                </a:solidFill>
              </a:rPr>
              <a:t>A Ação (Lógica)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O código ABAP real.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5349240"/>
            <a:ext cx="6522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</a:rPr>
              <a:t>Regra de Ouro:</a:t>
            </a:r>
            <a:r>
              <a:rPr lang="en-US" sz="1400" dirty="0">
                <a:solidFill>
                  <a:srgbClr val="256F3A"/>
                </a:solidFill>
              </a:rPr>
              <a:t> cada método prometido na definição deve ser cumprido aqui.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821528" y="3538728"/>
            <a:ext cx="548640" cy="502920"/>
          </a:xfrm>
          <a:prstGeom prst="downArrow">
            <a:avLst/>
          </a:prstGeom>
          <a:solidFill>
            <a:srgbClr val="0070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Implementa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9230" y="2163470"/>
            <a:ext cx="427939" cy="427939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230" y="4678070"/>
            <a:ext cx="427939" cy="42793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Encapsulamento e Seções de Visibilidade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737360"/>
            <a:ext cx="4297680" cy="4297680"/>
          </a:xfrm>
          <a:prstGeom prst="ellipse">
            <a:avLst/>
          </a:prstGeom>
          <a:solidFill>
            <a:srgbClr val="F5FAE5"/>
          </a:solidFill>
          <a:ln w="25400">
            <a:solidFill>
              <a:srgbClr val="3091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0160" y="2423160"/>
            <a:ext cx="2926080" cy="2926080"/>
          </a:xfrm>
          <a:prstGeom prst="ellipse">
            <a:avLst/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65960" y="3108960"/>
            <a:ext cx="1554480" cy="1554480"/>
          </a:xfrm>
          <a:prstGeom prst="ellipse">
            <a:avLst/>
          </a:prstGeom>
          <a:solidFill>
            <a:srgbClr val="FFF8D6"/>
          </a:solidFill>
          <a:ln w="25400">
            <a:solidFill>
              <a:srgbClr val="E76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20640" y="1984248"/>
            <a:ext cx="274320" cy="274320"/>
          </a:xfrm>
          <a:prstGeom prst="ellipse">
            <a:avLst/>
          </a:prstGeom>
          <a:solidFill>
            <a:srgbClr val="30914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77840" y="1600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SECTION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 Vitrine.  </a:t>
            </a:r>
            <a:r>
              <a:rPr lang="en-US" sz="1500" dirty="0">
                <a:solidFill>
                  <a:srgbClr val="556B82"/>
                </a:solidFill>
              </a:rPr>
              <a:t>API estável. Acessível por qualquer um.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120640" y="3447288"/>
            <a:ext cx="274320" cy="27432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77840" y="3063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SECTION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 Família.  </a:t>
            </a:r>
            <a:r>
              <a:rPr lang="en-US" sz="1500" dirty="0">
                <a:solidFill>
                  <a:srgbClr val="556B82"/>
                </a:solidFill>
              </a:rPr>
              <a:t>Acessível pela própria classe e subclasses (herança).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20640" y="4910328"/>
            <a:ext cx="274320" cy="274320"/>
          </a:xfrm>
          <a:prstGeom prst="ellipse">
            <a:avLst/>
          </a:prstGeom>
          <a:solidFill>
            <a:srgbClr val="E765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45262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SECTION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 Cofre.  </a:t>
            </a:r>
            <a:r>
              <a:rPr lang="en-US" sz="1500" dirty="0">
                <a:solidFill>
                  <a:srgbClr val="556B82"/>
                </a:solidFill>
              </a:rPr>
              <a:t>Acessível apenas pela própria classe.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098280" y="2606040"/>
            <a:ext cx="254477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0" y="28346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326880" y="3520440"/>
            <a:ext cx="2087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Segurança de Manutenção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Você pode alterar a lógica PRIVADA sem medo de quebrar códigos externos.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3611880"/>
            <a:ext cx="548640" cy="54864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8554" y="2966314"/>
            <a:ext cx="285293" cy="285293"/>
          </a:xfrm>
          <a:prstGeom prst="rect">
            <a:avLst/>
          </a:prstGeom>
        </p:spPr>
      </p:pic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Visualizando a Estrutura do Código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6583680" cy="338328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2039112"/>
            <a:ext cx="6126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lcl_exemplo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mv_nome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&lt;- 1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gv_contador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&lt;- 2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iv_nome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&lt;- 3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executar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965960"/>
            <a:ext cx="42364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71232" y="230428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71232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1965960"/>
            <a:ext cx="3459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Atributo de Instância</a:t>
            </a:r>
            <a:r>
              <a:rPr lang="en-US" sz="1500" dirty="0">
                <a:solidFill>
                  <a:srgbClr val="1D2D3E"/>
                </a:solidFill>
              </a:rPr>
              <a:t> — dados do objeto.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06640" y="3246120"/>
            <a:ext cx="42364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71232" y="358444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71232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3246120"/>
            <a:ext cx="3459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Atributo Estático</a:t>
            </a:r>
            <a:r>
              <a:rPr lang="en-US" sz="1500" dirty="0">
                <a:solidFill>
                  <a:srgbClr val="1D2D3E"/>
                </a:solidFill>
              </a:rPr>
              <a:t>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r>
              <a:rPr lang="en-US" sz="1500" dirty="0">
                <a:solidFill>
                  <a:srgbClr val="1D2D3E"/>
                </a:solidFill>
              </a:rPr>
              <a:t>) — dados da classe.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406640" y="4526280"/>
            <a:ext cx="423641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71232" y="4864608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71232" y="4864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4526280"/>
            <a:ext cx="3459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Assinatura do Método</a:t>
            </a:r>
            <a:r>
              <a:rPr lang="en-US" sz="1500" dirty="0">
                <a:solidFill>
                  <a:srgbClr val="1D2D3E"/>
                </a:solidFill>
              </a:rPr>
              <a:t> — sem lógica aqui.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Estático vs. Instância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De Quem é a Memória?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Instância (Instance)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188720" y="2514600"/>
            <a:ext cx="914400" cy="914400"/>
          </a:xfrm>
          <a:prstGeom prst="ellipse">
            <a:avLst/>
          </a:prstGeom>
          <a:solidFill>
            <a:srgbClr val="F5F6F7"/>
          </a:solidFill>
          <a:ln w="25400">
            <a:solidFill>
              <a:srgbClr val="30914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Objeto 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384048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D2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C7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mv_nome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80360" y="2514600"/>
            <a:ext cx="914400" cy="914400"/>
          </a:xfrm>
          <a:prstGeom prst="ellipse">
            <a:avLst/>
          </a:prstGeom>
          <a:solidFill>
            <a:srgbClr val="F5F6F7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Objeto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384048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D2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69748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C7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mv_nome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2514600"/>
            <a:ext cx="914400" cy="914400"/>
          </a:xfrm>
          <a:prstGeom prst="ellipse">
            <a:avLst/>
          </a:prstGeom>
          <a:solidFill>
            <a:srgbClr val="F5F6F7"/>
          </a:solidFill>
          <a:ln w="25400">
            <a:solidFill>
              <a:srgbClr val="E765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Objeto 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384048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D2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8912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C7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mv_nome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70916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Membros de Instância: </a:t>
            </a:r>
            <a:r>
              <a:rPr lang="en-US" sz="1600" dirty="0">
                <a:solidFill>
                  <a:srgbClr val="556B82"/>
                </a:solidFill>
              </a:rPr>
              <a:t>pertencem ao objeto individual — cada objeto tem sua própria cópia.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98768" y="18288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Estático (Static)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955051" y="246888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1D2D3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55051" y="2468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E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gv_contador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 flipH="1">
            <a:off x="7376008" y="3154680"/>
            <a:ext cx="1584884" cy="45720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18808" y="3611880"/>
            <a:ext cx="914400" cy="914400"/>
          </a:xfrm>
          <a:prstGeom prst="ellipse">
            <a:avLst/>
          </a:prstGeom>
          <a:solidFill>
            <a:srgbClr val="F5F6F7"/>
          </a:solidFill>
          <a:ln w="25400">
            <a:solidFill>
              <a:srgbClr val="3091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0891" y="3154680"/>
            <a:ext cx="106756" cy="45720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10448" y="3611880"/>
            <a:ext cx="914400" cy="914400"/>
          </a:xfrm>
          <a:prstGeom prst="ellipse">
            <a:avLst/>
          </a:prstGeom>
          <a:solidFill>
            <a:srgbClr val="F5F6F7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60891" y="3154680"/>
            <a:ext cx="1798396" cy="45720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02088" y="3611880"/>
            <a:ext cx="914400" cy="914400"/>
          </a:xfrm>
          <a:prstGeom prst="ellipse">
            <a:avLst/>
          </a:prstGeom>
          <a:solidFill>
            <a:srgbClr val="F5F6F7"/>
          </a:solidFill>
          <a:ln w="25400">
            <a:solidFill>
              <a:srgbClr val="E765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98768" y="470916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Membros Estáticos (CLASS-DATA): </a:t>
            </a:r>
            <a:r>
              <a:rPr lang="en-US" sz="1600" dirty="0">
                <a:solidFill>
                  <a:srgbClr val="556B82"/>
                </a:solidFill>
              </a:rPr>
              <a:t>pertencem à classe inteira — compartilhados por todas as instâncias.</a:t>
            </a:r>
            <a:endParaRPr lang="en-US" sz="16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697480"/>
            <a:ext cx="548640" cy="548640"/>
          </a:xfrm>
          <a:prstGeom prst="rect">
            <a:avLst/>
          </a:prstGeom>
        </p:spPr>
      </p:pic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2697480"/>
            <a:ext cx="548640" cy="548640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1688" y="3794760"/>
            <a:ext cx="548640" cy="548640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97480"/>
            <a:ext cx="548640" cy="548640"/>
          </a:xfrm>
          <a:prstGeom prst="rect">
            <a:avLst/>
          </a:prstGeom>
        </p:spPr>
      </p:pic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3328" y="3794760"/>
            <a:ext cx="548640" cy="548640"/>
          </a:xfrm>
          <a:prstGeom prst="rect">
            <a:avLst/>
          </a:prstGeom>
        </p:spPr>
      </p:pic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4968" y="379476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Centelha da Vida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Instanciação Moderna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56B82"/>
                </a:solidFill>
              </a:rPr>
              <a:t>Antigo (CREATE OBJECT)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498080" cy="150876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76272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lcl_class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4802429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611880"/>
            <a:ext cx="48024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</a:rPr>
              <a:t>Exigia declaração prévia e múltiplas linhas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4D9"/>
                </a:solidFill>
              </a:rPr>
              <a:t>Moderno (Operador NEW)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7498080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782312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lcl_class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532120"/>
            <a:ext cx="4698187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5532120"/>
            <a:ext cx="46981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F3A"/>
                </a:solidFill>
              </a:rPr>
              <a:t>Instanciação inline com inferência de tipo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03920" y="2697480"/>
            <a:ext cx="313913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0" y="29718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0" y="3749040"/>
            <a:ext cx="2590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F3A"/>
                </a:solidFill>
              </a:rPr>
              <a:t>Benefício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Código mais compacto, legível e fluido.</a:t>
            </a:r>
            <a:endParaRPr lang="en-US" sz="16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1859" y="312541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Construtor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Nascido Pronto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O método constructor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267712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Executado automaticamente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durante o comando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5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3456432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Função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Inicializar o estado do objeto e validar dependências.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80160" y="4892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Um objeto que já </a:t>
            </a:r>
            <a:r>
              <a:rPr lang="en-US" sz="1500" b="1" dirty="0">
                <a:solidFill>
                  <a:srgbClr val="1D2D3E"/>
                </a:solidFill>
              </a:rPr>
              <a:t>nasce pronto</a:t>
            </a:r>
            <a:r>
              <a:rPr lang="en-US" sz="1500" dirty="0">
                <a:solidFill>
                  <a:srgbClr val="1D2D3E"/>
                </a:solidFill>
              </a:rPr>
              <a:t> para uso: sem chamadas extras de inicialização.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26480" y="1600200"/>
            <a:ext cx="5516575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764792"/>
            <a:ext cx="5059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iv_nome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lcl_class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iv_nome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'ABAP'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417674"/>
            <a:ext cx="285293" cy="285293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606394"/>
            <a:ext cx="285293" cy="285293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17550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Estudo de Caso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Calculadora de IMC com Estado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27432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Entradas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Peso e Altura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74720" y="2926080"/>
            <a:ext cx="640080" cy="365760"/>
          </a:xfrm>
          <a:prstGeom prst="rightArrow">
            <a:avLst/>
          </a:prstGeom>
          <a:solidFill>
            <a:srgbClr val="30914C"/>
          </a:solidFill>
          <a:ln/>
        </p:spPr>
      </p:sp>
      <p:sp>
        <p:nvSpPr>
          <p:cNvPr id="7" name="Shape 5"/>
          <p:cNvSpPr/>
          <p:nvPr/>
        </p:nvSpPr>
        <p:spPr>
          <a:xfrm>
            <a:off x="4297680" y="1920240"/>
            <a:ext cx="3611880" cy="2377440"/>
          </a:xfrm>
          <a:prstGeom prst="roundRect">
            <a:avLst>
              <a:gd name="adj" fmla="val 7692"/>
            </a:avLst>
          </a:prstGeom>
          <a:solidFill>
            <a:srgbClr val="1D2D3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21031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Classe IMC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166360" y="2788920"/>
            <a:ext cx="1874520" cy="640080"/>
          </a:xfrm>
          <a:prstGeom prst="roundRect">
            <a:avLst>
              <a:gd name="adj" fmla="val 50000"/>
            </a:avLst>
          </a:prstGeom>
          <a:solidFill>
            <a:srgbClr val="30914C"/>
          </a:solidFill>
          <a:ln/>
        </p:spPr>
      </p:sp>
      <p:sp>
        <p:nvSpPr>
          <p:cNvPr id="10" name="Shape 8"/>
          <p:cNvSpPr/>
          <p:nvPr/>
        </p:nvSpPr>
        <p:spPr>
          <a:xfrm>
            <a:off x="6437376" y="285292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340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EE2A8"/>
                </a:solidFill>
              </a:rPr>
              <a:t>Metric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15C"/>
                </a:solidFill>
              </a:rPr>
              <a:t>Imperial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611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E"/>
                </a:solidFill>
              </a:rPr>
              <a:t>Lógica Encapsulada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2440" y="2926080"/>
            <a:ext cx="640080" cy="365760"/>
          </a:xfrm>
          <a:prstGeom prst="rightArrow">
            <a:avLst/>
          </a:prstGeom>
          <a:solidFill>
            <a:srgbClr val="E76500"/>
          </a:solidFill>
          <a:ln/>
        </p:spPr>
      </p:sp>
      <p:sp>
        <p:nvSpPr>
          <p:cNvPr id="15" name="Shape 13"/>
          <p:cNvSpPr/>
          <p:nvPr/>
        </p:nvSpPr>
        <p:spPr>
          <a:xfrm>
            <a:off x="8897112" y="2423160"/>
            <a:ext cx="27432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988552" y="2423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Saída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Índice de Massa Corporal (IMC)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89304" y="4599432"/>
            <a:ext cx="103537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O Desafio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Aceitar medidas no sistema Métrico (Brasil) ou Imperial (EUA).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39496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89304" y="5376672"/>
            <a:ext cx="103537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 Solução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Usar o Construtor para definir o ‘Modo’ (Estado) da classe no momento da criação.</a:t>
            </a:r>
            <a:endParaRPr lang="en-US" sz="16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4740615"/>
            <a:ext cx="266273" cy="266273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5517855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Código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Definição (O Contrato)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68096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7223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lcl_bmi_service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co_unit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char1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'M'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imperial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char1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co_unit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iv_unit_type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char1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co_unit-metric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calculate_bmi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mv_unit_type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char1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Estado Interno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4343400"/>
            <a:ext cx="3139135" cy="1280160"/>
          </a:xfrm>
          <a:prstGeom prst="roundRect">
            <a:avLst>
              <a:gd name="adj" fmla="val 8571"/>
            </a:avLst>
          </a:prstGeom>
          <a:solidFill>
            <a:srgbClr val="FFF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0" y="4343400"/>
            <a:ext cx="21332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Note o atributo privado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mv_unit_type</a:t>
            </a:r>
            <a:r>
              <a:rPr lang="en-US" sz="1500" dirty="0">
                <a:solidFill>
                  <a:srgbClr val="1D2D3E"/>
                </a:solidFill>
              </a:rPr>
              <a:t>. Ele guardará a configuração escolhida.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8097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Código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Implementação (A Lógica)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68096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7223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mv_unit_type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iv_unit_type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Salva preferência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calculate_bmi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mv_unit_type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co_unit-metric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lv_weight_kg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iv_weight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lv_weight_kg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iv_weight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256F3A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'0.453'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Conv. Imperial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4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rv_bmi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lv_weight_kg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lv_height_m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lv_height_m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03920" y="3063240"/>
            <a:ext cx="3139135" cy="1463040"/>
          </a:xfrm>
          <a:prstGeom prst="roundRect">
            <a:avLst>
              <a:gd name="adj" fmla="val 7500"/>
            </a:avLst>
          </a:prstGeom>
          <a:solidFill>
            <a:srgbClr val="FFF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0" y="3063240"/>
            <a:ext cx="21332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A complexidade da conversão está </a:t>
            </a:r>
            <a:r>
              <a:rPr lang="en-US" sz="1500" b="1" dirty="0">
                <a:solidFill>
                  <a:srgbClr val="1D2D3E"/>
                </a:solidFill>
              </a:rPr>
              <a:t>encapsulada</a:t>
            </a:r>
            <a:r>
              <a:rPr lang="en-US" sz="1500" dirty="0">
                <a:solidFill>
                  <a:srgbClr val="1D2D3E"/>
                </a:solidFill>
              </a:rPr>
              <a:t> aqui: quem consome a classe não precisa saber dela.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362102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Consumo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Visão do Cliente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Cenário A: Brasil (Padrão)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949440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7627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lo_metric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lcl_bmi_service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18120" y="2011680"/>
            <a:ext cx="382493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49640" y="2011680"/>
            <a:ext cx="2819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Resultado:</a:t>
            </a:r>
            <a:r>
              <a:rPr lang="en-US" sz="1500" dirty="0">
                <a:solidFill>
                  <a:srgbClr val="1D2D3E"/>
                </a:solidFill>
              </a:rPr>
              <a:t> usa métrico por padrão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r>
              <a:rPr lang="en-US" sz="1500" dirty="0">
                <a:solidFill>
                  <a:srgbClr val="1D2D3E"/>
                </a:solidFill>
              </a:rPr>
              <a:t>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Cenário B: EUA (Configurado)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694944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096512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lo_usa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lcl_bmi_service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iv_unit_type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18120" y="3931920"/>
            <a:ext cx="3824935" cy="1097280"/>
          </a:xfrm>
          <a:prstGeom prst="roundRect">
            <a:avLst>
              <a:gd name="adj" fmla="val 10000"/>
            </a:avLst>
          </a:prstGeom>
          <a:solidFill>
            <a:srgbClr val="FFF8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49640" y="3931920"/>
            <a:ext cx="2819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Resultado:</a:t>
            </a:r>
            <a:r>
              <a:rPr lang="en-US" sz="1500" dirty="0">
                <a:solidFill>
                  <a:srgbClr val="1D2D3E"/>
                </a:solidFill>
              </a:rPr>
              <a:t> a instância nasce sabendo converter libras/polegadas.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532120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532120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O mesmo método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calculate_bmi</a:t>
            </a:r>
            <a:r>
              <a:rPr lang="en-US" sz="1600" dirty="0">
                <a:solidFill>
                  <a:srgbClr val="1D2D3E"/>
                </a:solidFill>
              </a:rPr>
              <a:t> funciona para ambos, graças ao </a:t>
            </a:r>
            <a:r>
              <a:rPr lang="en-US" sz="1600" b="1" dirty="0">
                <a:solidFill>
                  <a:srgbClr val="1D2D3E"/>
                </a:solidFill>
              </a:rPr>
              <a:t>estado interno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386584"/>
            <a:ext cx="347472" cy="34747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306824"/>
            <a:ext cx="347472" cy="34747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7842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Glossário Técnico e Referência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2712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Termo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Definição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Instance (Instância)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2D3E"/>
                          </a:solidFill>
                        </a:rPr>
                        <a:t>A concretização da classe na memória (o objeto real).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Constructor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2D3E"/>
                          </a:solidFill>
                        </a:rPr>
                        <a:t>Método executado automaticamente no </a:t>
                      </a:r>
                      <a:r>
                        <a:rPr lang="en-US" sz="16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</a:t>
                      </a:r>
                      <a:r>
                        <a:rPr lang="en-US" sz="1600" dirty="0">
                          <a:solidFill>
                            <a:srgbClr val="1D2D3E"/>
                          </a:solidFill>
                        </a:rPr>
                        <a:t>. Inicializa o objeto.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Encapsulation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2D3E"/>
                          </a:solidFill>
                        </a:rPr>
                        <a:t>Ocultar detalhes (Private) e expor com segurança (Public).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Signature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2D3E"/>
                          </a:solidFill>
                        </a:rPr>
                        <a:t>A definição completa da interface de um método (entrada/saída).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Static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2D3E"/>
                          </a:solidFill>
                        </a:rPr>
                        <a:t>Membros compartilhados por todas as instâncias da classe.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Teste seu entendimento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Verificação de Conhecimento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10048" cy="1965960"/>
          </a:xfrm>
          <a:prstGeom prst="roundRect">
            <a:avLst>
              <a:gd name="adj" fmla="val 6512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2029968"/>
            <a:ext cx="4267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Qual a diferença entre DEFINITION e IMPLEMENTATION?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2898648"/>
            <a:ext cx="4861408" cy="0"/>
          </a:xfrm>
          <a:prstGeom prst="line">
            <a:avLst/>
          </a:prstGeom>
          <a:noFill/>
          <a:ln w="12700">
            <a:solidFill>
              <a:srgbClr val="3D506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22960" y="2990088"/>
            <a:ext cx="486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Definition é o contrato (o quê); Implementation é a lógica (como).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33008" y="1828800"/>
            <a:ext cx="5410048" cy="1965960"/>
          </a:xfrm>
          <a:prstGeom prst="roundRect">
            <a:avLst>
              <a:gd name="adj" fmla="val 6512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01688" y="2029968"/>
            <a:ext cx="4267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Posso acessar um atributo PRIVATE de fora da classe?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07328" y="2898648"/>
            <a:ext cx="4861408" cy="0"/>
          </a:xfrm>
          <a:prstGeom prst="line">
            <a:avLst/>
          </a:prstGeom>
          <a:noFill/>
          <a:ln w="12700">
            <a:solidFill>
              <a:srgbClr val="3D506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507328" y="2990088"/>
            <a:ext cx="486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Não. Ocorre erro de sintaxe — apenas a própria classe acessa.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410048" cy="1965960"/>
          </a:xfrm>
          <a:prstGeom prst="roundRect">
            <a:avLst>
              <a:gd name="adj" fmla="val 6512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4224528"/>
            <a:ext cx="4267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Quando o método CONSTRUCTOR é chamado?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093208"/>
            <a:ext cx="4861408" cy="0"/>
          </a:xfrm>
          <a:prstGeom prst="line">
            <a:avLst/>
          </a:prstGeom>
          <a:noFill/>
          <a:ln w="12700">
            <a:solidFill>
              <a:srgbClr val="3D5068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2960" y="5184648"/>
            <a:ext cx="486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Automaticamente, no momento da execução do comando NEW.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33008" y="4023360"/>
            <a:ext cx="5410048" cy="1965960"/>
          </a:xfrm>
          <a:prstGeom prst="roundRect">
            <a:avLst>
              <a:gd name="adj" fmla="val 6512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01688" y="4224528"/>
            <a:ext cx="4267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O que acontece se altero um atributo STATIC?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507328" y="5093208"/>
            <a:ext cx="4861408" cy="0"/>
          </a:xfrm>
          <a:prstGeom prst="line">
            <a:avLst/>
          </a:prstGeom>
          <a:noFill/>
          <a:ln w="12700">
            <a:solidFill>
              <a:srgbClr val="3D5068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507328" y="5184648"/>
            <a:ext cx="486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DE"/>
                </a:solidFill>
              </a:rPr>
              <a:t>O valor muda para todas as instâncias (compartilhado).</a:t>
            </a:r>
            <a:endParaRPr lang="en-US" sz="15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411480" cy="41148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2103120"/>
            <a:ext cx="411480" cy="41148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97680"/>
            <a:ext cx="411480" cy="41148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4297680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Trabalhando com Classes Locais e Orientação a Objetos no ABAP</dc:title>
  <dc:subject>ABAP Moderno – Módulo 01</dc:subject>
  <dc:creator>Adriano Bispo</dc:creator>
  <cp:lastModifiedBy>Adriano Bispo</cp:lastModifiedBy>
  <cp:revision>1</cp:revision>
  <dcterms:created xsi:type="dcterms:W3CDTF">2026-10-25T03:35:56Z</dcterms:created>
  <dcterms:modified xsi:type="dcterms:W3CDTF">2026-10-25T03:35:56Z</dcterms:modified>
</cp:coreProperties>
</file>