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3 de 8 — Classes locais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3 de 8 — Classes locais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03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Classes locais e orientação a objetos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Definir uma classe, criar instâncias, chamar métodos e proteger o estado com encapsulamento e construtor.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3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27368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7368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modelamos uma conexão de voo (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</a:t>
            </a:r>
            <a:r>
              <a:rPr lang="en-US" sz="1200" dirty="0">
                <a:solidFill>
                  <a:srgbClr val="1D2D3E"/>
                </a:solidFill>
              </a:rPr>
              <a:t>) e a evoluímos de atributos públicos até um objeto que garante a própria consistência.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Classes globais e classes locais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Classe global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Objeto próprio do repositório (</a:t>
            </a:r>
            <a:r>
              <a:rPr lang="en-US" sz="1300" i="1" dirty="0">
                <a:solidFill>
                  <a:srgbClr val="556B82"/>
                </a:solidFill>
              </a:rPr>
              <a:t>class pool</a:t>
            </a:r>
            <a:r>
              <a:rPr lang="en-US" sz="1300" dirty="0">
                <a:solidFill>
                  <a:srgbClr val="556B82"/>
                </a:solidFill>
              </a:rPr>
              <a:t>), visível em todo o sistema. Serve como programa principal ou como lógica reutilizável.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Classe local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Definida dentro de outro programa, por exemplo uma classe global, e usada só ali. Ideal para entidades que um único programa precisa.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 Local Types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No ADT, o código da classe global fica na aba </a:t>
            </a:r>
            <a:r>
              <a:rPr lang="en-US" sz="1300" b="1" dirty="0">
                <a:solidFill>
                  <a:srgbClr val="556B82"/>
                </a:solidFill>
              </a:rPr>
              <a:t>Global Class</a:t>
            </a:r>
            <a:r>
              <a:rPr lang="en-US" sz="1300" dirty="0">
                <a:solidFill>
                  <a:srgbClr val="556B82"/>
                </a:solidFill>
              </a:rPr>
              <a:t>; as classes locais, na aba </a:t>
            </a:r>
            <a:r>
              <a:rPr lang="en-US" sz="1300" b="1" dirty="0">
                <a:solidFill>
                  <a:srgbClr val="556B82"/>
                </a:solidFill>
              </a:rPr>
              <a:t>Local Types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Mesma sintaxe  </a:t>
            </a:r>
            <a:r>
              <a:rPr lang="en-US" sz="1200" dirty="0">
                <a:solidFill>
                  <a:srgbClr val="1D2D3E"/>
                </a:solidFill>
              </a:rPr>
              <a:t>classes locais e globais usam quase a mesma sintaxe: o que você aprende aqui vale para as duas.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01.03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Anatomia de uma classe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classe tem uma parte de </a:t>
            </a:r>
            <a:r>
              <a:rPr lang="en-US" sz="1600" b="1" dirty="0">
                <a:solidFill>
                  <a:srgbClr val="D1EFFF"/>
                </a:solidFill>
              </a:rPr>
              <a:t>definição</a:t>
            </a:r>
            <a:r>
              <a:rPr lang="en-US" sz="1600" dirty="0">
                <a:solidFill>
                  <a:srgbClr val="D1EFFF"/>
                </a:solidFill>
              </a:rPr>
              <a:t> (o contrato) e uma de </a:t>
            </a:r>
            <a:r>
              <a:rPr lang="en-US" sz="1600" b="1" dirty="0">
                <a:solidFill>
                  <a:srgbClr val="D1EFFF"/>
                </a:solidFill>
              </a:rPr>
              <a:t>implementação</a:t>
            </a:r>
            <a:r>
              <a:rPr lang="en-US" sz="1600" dirty="0">
                <a:solidFill>
                  <a:srgbClr val="D1EFFF"/>
                </a:solidFill>
              </a:rPr>
              <a:t> (o código dos métodos).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000" dirty="0">
                <a:solidFill>
                  <a:srgbClr val="D1EFFF"/>
                </a:solidFill>
              </a:rPr>
              <a:t>  componentes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00" dirty="0">
                <a:solidFill>
                  <a:srgbClr val="D1EFFF"/>
                </a:solidFill>
              </a:rPr>
              <a:t>  métodos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· PROTECTED · PRIVATE</a:t>
            </a:r>
            <a:r>
              <a:rPr lang="en-US" sz="1000" dirty="0">
                <a:solidFill>
                  <a:srgbClr val="D1EFFF"/>
                </a:solidFill>
              </a:rPr>
              <a:t>  visibilidade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· CLASS-DATA</a:t>
            </a:r>
            <a:r>
              <a:rPr lang="en-US" sz="1000" dirty="0">
                <a:solidFill>
                  <a:srgbClr val="D1EFFF"/>
                </a:solidFill>
              </a:rPr>
              <a:t>  atributos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DEFINIÇÃO · DEFINIÇÃO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Componentes declarados nas seções de visibilidade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85292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85292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zcl_03_main.clas.locals_imp.abap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ZCL_03_MAIN › Local Types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t_seats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c_max_seats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t_seats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conn_counter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… DEFINITION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Declara tipos, constantes, atributos e métodos; termina 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Seções de visibilidade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Opcionais, mas sempre na ordem PUBLIC, PROTECTED, PRIVATE.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b="1" dirty="0">
                <a:solidFill>
                  <a:srgbClr val="1D2D3E"/>
                </a:solidFill>
              </a:rPr>
              <a:t> x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CLASS-DATA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Atributo de instância (um por objeto) x estático (um por classe).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Obrigatória assim que a classe declara métodos.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DEFINIÇÃO · VISIBILIDADE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Quem enxerga cada componente da classe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705024"/>
                <a:gridCol w="2705024"/>
                <a:gridCol w="2705024"/>
                <a:gridCol w="270502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Seção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 própria classe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Subclasses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Qualquer usuário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PUBLIC SECTION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PUBLIC … READ-ONLY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 lê e altera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✓ só lê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✓ só lê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PROTECTED SECTION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PRIVATE SECTION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3891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Regra  </a:t>
            </a:r>
            <a:r>
              <a:rPr lang="en-US" sz="1200" dirty="0">
                <a:solidFill>
                  <a:srgbClr val="1D2D3E"/>
                </a:solidFill>
              </a:rPr>
              <a:t>nenhuma declaração pode ficar fora de uma seção, e a seção define a visibilidade de tudo o que está nela.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5171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01.03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Instâncias e referências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Para usar componentes de instância você precisa de uma </a:t>
            </a:r>
            <a:r>
              <a:rPr lang="en-US" sz="1600" b="1" dirty="0">
                <a:solidFill>
                  <a:srgbClr val="D1EFFF"/>
                </a:solidFill>
              </a:rPr>
              <a:t>variável de referência</a:t>
            </a:r>
            <a:r>
              <a:rPr lang="en-US" sz="1600" dirty="0">
                <a:solidFill>
                  <a:srgbClr val="D1EFFF"/>
                </a:solidFill>
              </a:rPr>
              <a:t> que aponte para um objeto criado com </a:t>
            </a:r>
            <a:r>
              <a:rPr lang="en-US" sz="1600" b="1" dirty="0">
                <a:solidFill>
                  <a:srgbClr val="D1EFFF"/>
                </a:solidFill>
              </a:rPr>
              <a:t>NEW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REF TO</a:t>
            </a:r>
            <a:r>
              <a:rPr lang="en-US" sz="1000" dirty="0">
                <a:solidFill>
                  <a:srgbClr val="D1EFFF"/>
                </a:solidFill>
              </a:rPr>
              <a:t>  referência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#( )</a:t>
            </a:r>
            <a:r>
              <a:rPr lang="en-US" sz="1000" dirty="0">
                <a:solidFill>
                  <a:srgbClr val="D1EFFF"/>
                </a:solidFill>
              </a:rPr>
              <a:t>  cria o objeto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1000" dirty="0">
                <a:solidFill>
                  <a:srgbClr val="D1EFFF"/>
                </a:solidFill>
              </a:rPr>
              <a:t>  componente de instância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000" dirty="0">
                <a:solidFill>
                  <a:srgbClr val="D1EFFF"/>
                </a:solidFill>
              </a:rPr>
              <a:t>  componente estático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INSTÂNCIAS · CRIAÇÃO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NEW #( ), -&gt; e =&gt;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zcl_03_main.clas.abap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ZCL_03_MAIN › if_oo_adt_classrun~main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'LH'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'0400'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conn_counter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segunda instância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'0017'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conn_counter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REF 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Guarda o endereço de um objeto; o valor inicial é a referência nula.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#(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Cria uma instância;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556B82"/>
                </a:solidFill>
              </a:rPr>
              <a:t> usa o tipo da variável à esquerda.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Seletor de componente de instância, sempre a partir de uma referência.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Seletor estático, a partir do nome da classe; sem espaços ao redor.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INSTÂNCIAS · COMPORTAMENTO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acontece na memória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08048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092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712720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Instâncias independentes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Cada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556B82"/>
                </a:solidFill>
              </a:rPr>
              <a:t> cria um objeto em outro lugar da memória; os atributos de instância de um não afetam os do outro.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1908048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21092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2712720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Estáticos são compartilhados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CLASS-DATA</a:t>
            </a:r>
            <a:r>
              <a:rPr lang="en-US" sz="1200" dirty="0">
                <a:solidFill>
                  <a:srgbClr val="556B82"/>
                </a:solidFill>
              </a:rPr>
              <a:t> existe uma única vez, carregado na primeira vez que a classe é usada, e é visto por todas as instâncias.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42245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4828032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Copiar a referência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ref2 = ref1</a:t>
            </a:r>
            <a:r>
              <a:rPr lang="en-US" sz="1200" dirty="0">
                <a:solidFill>
                  <a:srgbClr val="556B82"/>
                </a:solidFill>
              </a:rPr>
              <a:t> copia o endereço: as duas variáveis passam a apontar para o </a:t>
            </a:r>
            <a:r>
              <a:rPr lang="en-US" sz="1200" b="1" dirty="0">
                <a:solidFill>
                  <a:srgbClr val="556B82"/>
                </a:solidFill>
              </a:rPr>
              <a:t>mesmo</a:t>
            </a:r>
            <a:r>
              <a:rPr lang="en-US" sz="1200" dirty="0">
                <a:solidFill>
                  <a:srgbClr val="556B82"/>
                </a:solidFill>
              </a:rPr>
              <a:t> objeto.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0148" y="4023360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1316" y="42245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1316" y="4828032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Objetos sem referência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Quando nenhuma variável aponta para um objeto, o </a:t>
            </a:r>
            <a:r>
              <a:rPr lang="en-US" sz="1200" i="1" dirty="0">
                <a:solidFill>
                  <a:srgbClr val="556B82"/>
                </a:solidFill>
              </a:rPr>
              <a:t>garbage collector</a:t>
            </a:r>
            <a:r>
              <a:rPr lang="en-US" sz="1200" dirty="0">
                <a:solidFill>
                  <a:srgbClr val="556B82"/>
                </a:solidFill>
              </a:rPr>
              <a:t> libera a memória. Teste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BOUND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09800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2209800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4325112"/>
            <a:ext cx="256032" cy="25603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32511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01.03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Métodos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método tem uma </a:t>
            </a:r>
            <a:r>
              <a:rPr lang="en-US" sz="1600" b="1" dirty="0">
                <a:solidFill>
                  <a:srgbClr val="D1EFFF"/>
                </a:solidFill>
              </a:rPr>
              <a:t>assinatura</a:t>
            </a:r>
            <a:r>
              <a:rPr lang="en-US" sz="1600" dirty="0">
                <a:solidFill>
                  <a:srgbClr val="D1EFFF"/>
                </a:solidFill>
              </a:rPr>
              <a:t> (parâmetros e exceções) na definição e o código entre </a:t>
            </a:r>
            <a:r>
              <a:rPr lang="en-US" sz="1600" b="1" dirty="0">
                <a:solidFill>
                  <a:srgbClr val="D1EFFF"/>
                </a:solidFill>
              </a:rPr>
              <a:t>METHOD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ENDMETHOD</a:t>
            </a:r>
            <a:r>
              <a:rPr lang="en-US" sz="1600" dirty="0">
                <a:solidFill>
                  <a:srgbClr val="D1EFFF"/>
                </a:solidFill>
              </a:rPr>
              <a:t> na implementação.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· CLASS-METHODS</a:t>
            </a:r>
            <a:r>
              <a:rPr lang="en-US" sz="1000" dirty="0">
                <a:solidFill>
                  <a:srgbClr val="D1EFFF"/>
                </a:solidFill>
              </a:rPr>
              <a:t>  instância · estático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 · EXPORTING</a:t>
            </a:r>
            <a:r>
              <a:rPr lang="en-US" sz="1000" dirty="0">
                <a:solidFill>
                  <a:srgbClr val="D1EFFF"/>
                </a:solidFill>
              </a:rPr>
              <a:t>  entrada · saída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CHANGING · RETURNING</a:t>
            </a:r>
            <a:r>
              <a:rPr lang="en-US" sz="1000" dirty="0">
                <a:solidFill>
                  <a:srgbClr val="D1EFFF"/>
                </a:solidFill>
              </a:rPr>
              <a:t>  altera · resultado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1000" dirty="0">
                <a:solidFill>
                  <a:srgbClr val="D1EFFF"/>
                </a:solidFill>
              </a:rPr>
              <a:t>  exceções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MÉTODOS · ASSINATURA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quatro tipos de parâmetro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164019"/>
                <a:gridCol w="3678832"/>
                <a:gridCol w="497724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Direção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Regras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Chamador → método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Obrigatório por padrão;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OPTIONAL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ou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torna opcional; não pode ser alterado no método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EXPORTING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Método → chamador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Sempre opcional para quem chama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CHANGING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Ida e volta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método pode alterar o valor recebido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Resultado da chamada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Só um por método, sempre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VALUE( )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; permite usar o método em expressões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3891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RAISING  </a:t>
            </a:r>
            <a:r>
              <a:rPr lang="en-US" sz="1200" dirty="0">
                <a:solidFill>
                  <a:srgbClr val="1D2D3E"/>
                </a:solidFill>
              </a:rPr>
              <a:t>lista as exceções que o método pode levantar, para que o chamador possa reagir ao erro.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5171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MÉTODOS · DEFINIR E IMPLEMENTAR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Assinatura na definição, código na implementação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85292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85292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zcl_03_main.clas.locals_imp.abap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ZCL_03_MAIN › Local Types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set_attributes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'LH'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/dmo/connection_id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cx_abap_invalid_value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get_output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r_output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string_table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… atributos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set_attributes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cx_abap_invalid_value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get_output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|Voo { carrier_id } { connection_id }|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r_output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'LH'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Torna o parâmetro opcional com um valor padrão.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EXCEPTION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Interrompe o método e devolve o erro ao chamador.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Acesso interno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método usa atributos de qualquer seção, sem prefixo (ou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me-&gt;</a:t>
            </a:r>
            <a:r>
              <a:rPr lang="en-US" sz="105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Quick fix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50" dirty="0">
                <a:solidFill>
                  <a:srgbClr val="556B82"/>
                </a:solidFill>
              </a:rPr>
              <a:t> na definição cria 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… ENDMETHOD</a:t>
            </a:r>
            <a:r>
              <a:rPr lang="en-US" sz="1050" dirty="0">
                <a:solidFill>
                  <a:srgbClr val="556B82"/>
                </a:solidFill>
              </a:rPr>
              <a:t> que falta.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MÉTODOS · CHAMAR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Chamadas com parâmetros nomeados e expressões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7977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Chamada com tratamento de erro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221992"/>
          </a:xfrm>
          <a:prstGeom prst="roundRect">
            <a:avLst>
              <a:gd name="adj" fmla="val 329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main.abap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set_attributes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'LH'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i_connection_id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'0400'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cx_abap_invalid_value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`Dados inválidos`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70832"/>
            <a:ext cx="541004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Com só parâmetros de entrada,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EXPORTING</a:t>
            </a:r>
            <a:r>
              <a:rPr lang="en-US" sz="1200" dirty="0">
                <a:solidFill>
                  <a:srgbClr val="556B82"/>
                </a:solidFill>
              </a:rPr>
              <a:t> pode ser omitido. Com vários, nomeie cada um: a ordem deixa de importar.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653235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653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Método funcional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221992"/>
          </a:xfrm>
          <a:prstGeom prst="roundRect">
            <a:avLst>
              <a:gd name="adj" fmla="val 329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main.abap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RETURNING: o método vira uma expressão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get_output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get_output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Estático: nome da classe e =&gt;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conn_counter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370832"/>
            <a:ext cx="541004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Um método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1200" dirty="0">
                <a:solidFill>
                  <a:srgbClr val="556B82"/>
                </a:solidFill>
              </a:rPr>
              <a:t> pode ser usado em qualquer posição de leitura: atribuições, parâmetros e condições.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01.03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Encapsulamento e construtor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objeto deve </a:t>
            </a:r>
            <a:r>
              <a:rPr lang="en-US" sz="1600" b="1" dirty="0">
                <a:solidFill>
                  <a:srgbClr val="D1EFFF"/>
                </a:solidFill>
              </a:rPr>
              <a:t>garantir a própria consistência</a:t>
            </a:r>
            <a:r>
              <a:rPr lang="en-US" sz="1600" dirty="0">
                <a:solidFill>
                  <a:srgbClr val="D1EFFF"/>
                </a:solidFill>
              </a:rPr>
              <a:t>: ninguém de fora altera o estado sem passar pelas regras da classe.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· READ-ONLY</a:t>
            </a:r>
            <a:r>
              <a:rPr lang="en-US" sz="1000" dirty="0">
                <a:solidFill>
                  <a:srgbClr val="D1EFFF"/>
                </a:solidFill>
              </a:rPr>
              <a:t>  protege atributos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1000" dirty="0">
                <a:solidFill>
                  <a:srgbClr val="D1EFFF"/>
                </a:solidFill>
              </a:rPr>
              <a:t>  por instância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class_constructor</a:t>
            </a:r>
            <a:r>
              <a:rPr lang="en-US" sz="1000" dirty="0">
                <a:solidFill>
                  <a:srgbClr val="D1EFFF"/>
                </a:solidFill>
              </a:rPr>
              <a:t>  por classe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00" dirty="0">
                <a:solidFill>
                  <a:srgbClr val="D1EFFF"/>
                </a:solidFill>
              </a:rPr>
              <a:t>  Make private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ENCAPSULAMENTO · O PROBLEMA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Atributos públicos deixam passar dados inválidos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9569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95691"/>
            <a:ext cx="5410048" cy="73152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001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37001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Sem encapsulamento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009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Qualquer programa escreve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connection-&gt;carrier_id = 'XX'</a:t>
            </a:r>
            <a:r>
              <a:rPr lang="en-US" sz="1350" dirty="0">
                <a:solidFill>
                  <a:srgbClr val="1D2D3E"/>
                </a:solidFill>
              </a:rPr>
              <a:t> sem validação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Combinações de companhia e voo que não existem chegam ao objeto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Uma regra de negócio pode ser contornada sem ninguém perceber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09569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095691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37001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37001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Com encapsulamento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01009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Atributos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350" dirty="0">
                <a:solidFill>
                  <a:srgbClr val="1D2D3E"/>
                </a:solidFill>
              </a:rPr>
              <a:t> ou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r>
              <a:rPr lang="en-US" sz="1350" dirty="0">
                <a:solidFill>
                  <a:srgbClr val="1D2D3E"/>
                </a:solidFill>
              </a:rPr>
              <a:t>: leitura liberada, escrita só pela classe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Toda mudança passa por um método que valida antes de aceitar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Com um </a:t>
            </a:r>
            <a:r>
              <a:rPr lang="en-US" sz="1350" b="1" dirty="0">
                <a:solidFill>
                  <a:srgbClr val="1D2D3E"/>
                </a:solidFill>
              </a:rPr>
              <a:t>construtor</a:t>
            </a:r>
            <a:r>
              <a:rPr lang="en-US" sz="1350" dirty="0">
                <a:solidFill>
                  <a:srgbClr val="1D2D3E"/>
                </a:solidFill>
              </a:rPr>
              <a:t>, nenhum objeto nasce sem os dados obrigatórios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15550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515550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Quick fix  </a:t>
            </a:r>
            <a:r>
              <a:rPr lang="en-US" sz="1200" dirty="0">
                <a:solidFill>
                  <a:srgbClr val="1D2D3E"/>
                </a:solidFill>
              </a:rPr>
              <a:t>com o cursor no atributo,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200" dirty="0">
                <a:solidFill>
                  <a:srgbClr val="1D2D3E"/>
                </a:solidFill>
              </a:rPr>
              <a:t> → </a:t>
            </a:r>
            <a:r>
              <a:rPr lang="en-US" sz="1200" i="1" dirty="0">
                <a:solidFill>
                  <a:srgbClr val="1D2D3E"/>
                </a:solidFill>
              </a:rPr>
              <a:t>Make … private</a:t>
            </a:r>
            <a:r>
              <a:rPr lang="en-US" sz="1200" dirty="0">
                <a:solidFill>
                  <a:srgbClr val="1D2D3E"/>
                </a:solidFill>
              </a:rPr>
              <a:t> move a declaração para a seção privada.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70595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470595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28351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ENCAPSULAMENTO · CONSTRUTOR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Nenhuma instância nasce inconsistente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85292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85292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zcl_03_main.clas.locals_imp.abap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ZCL_03_MAIN › Local Types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conn_counter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/dmo/connection_id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cx_abap_invalid_value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lcl_connection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cx_abap_invalid_value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conn_counter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Uso: DATA(conn) = NEW lcl_connection( i_carrier_id = 'LH'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                                 i_connection_id = '0400' 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na seção pública: todos leem, só a classe escreve.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Chamado automaticamente pelo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556B82"/>
                </a:solidFill>
              </a:rPr>
              <a:t>; nunca é chamado explicitamente.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Só entrada e exceções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construtor aceita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1050" dirty="0">
                <a:solidFill>
                  <a:srgbClr val="556B82"/>
                </a:solidFill>
              </a:rPr>
              <a:t>, sem retorno.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Falhou? Não existe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 o construtor levanta exceção, a instância não é criada.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ENCAPSULAMENTO · CONSTRUTORES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Dois construtores, dois momentos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543290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503057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constructor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Método de </a:t>
            </a:r>
            <a:r>
              <a:rPr lang="en-US" sz="1300" b="1" dirty="0">
                <a:solidFill>
                  <a:srgbClr val="556B82"/>
                </a:solidFill>
              </a:rPr>
              <a:t>instância</a:t>
            </a:r>
            <a:r>
              <a:rPr lang="en-US" sz="1300" dirty="0">
                <a:solidFill>
                  <a:srgbClr val="556B82"/>
                </a:solidFill>
              </a:rPr>
              <a:t>. Executa a cada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556B82"/>
                </a:solidFill>
              </a:rPr>
              <a:t>, recebe os dados obrigatórios e garante que o objeto nasça válido.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2466975"/>
            <a:ext cx="543290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3271647"/>
            <a:ext cx="503057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class_constructor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Método </a:t>
            </a:r>
            <a:r>
              <a:rPr lang="en-US" sz="1300" b="1" dirty="0">
                <a:solidFill>
                  <a:srgbClr val="556B82"/>
                </a:solidFill>
              </a:rPr>
              <a:t>estático</a:t>
            </a:r>
            <a:r>
              <a:rPr lang="en-US" sz="1300" dirty="0">
                <a:solidFill>
                  <a:srgbClr val="556B82"/>
                </a:solidFill>
              </a:rPr>
              <a:t>, sem parâmetros. Executa </a:t>
            </a:r>
            <a:r>
              <a:rPr lang="en-US" sz="1300" b="1" dirty="0">
                <a:solidFill>
                  <a:srgbClr val="556B82"/>
                </a:solidFill>
              </a:rPr>
              <a:t>uma vez</a:t>
            </a:r>
            <a:r>
              <a:rPr lang="en-US" sz="1300" dirty="0">
                <a:solidFill>
                  <a:srgbClr val="556B82"/>
                </a:solidFill>
              </a:rPr>
              <a:t>, quando a classe é usada pela primeira vez; ideal para iniciar atributos estáticos.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Encapsulamento  </a:t>
            </a:r>
            <a:r>
              <a:rPr lang="en-US" sz="1200" dirty="0">
                <a:solidFill>
                  <a:srgbClr val="1D2D3E"/>
                </a:solidFill>
              </a:rPr>
              <a:t>é uma das maiores vantagens da orientação a objetos: use-o sempre que possível.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2768727"/>
            <a:ext cx="256032" cy="256032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Classes </a:t>
            </a:r>
            <a:r>
              <a:rPr lang="en-US" sz="1400" b="1" dirty="0">
                <a:solidFill>
                  <a:srgbClr val="FFFFFF"/>
                </a:solidFill>
              </a:rPr>
              <a:t>globais</a:t>
            </a:r>
            <a:r>
              <a:rPr lang="en-US" sz="1400" dirty="0">
                <a:solidFill>
                  <a:srgbClr val="FFFFFF"/>
                </a:solidFill>
              </a:rPr>
              <a:t> são reutilizáveis; </a:t>
            </a:r>
            <a:r>
              <a:rPr lang="en-US" sz="1400" b="1" dirty="0">
                <a:solidFill>
                  <a:srgbClr val="FFFFFF"/>
                </a:solidFill>
              </a:rPr>
              <a:t>locais</a:t>
            </a:r>
            <a:r>
              <a:rPr lang="en-US" sz="1400" dirty="0">
                <a:solidFill>
                  <a:srgbClr val="FFFFFF"/>
                </a:solidFill>
              </a:rPr>
              <a:t> vivem na aba Local Types de um programa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classe tem </a:t>
            </a:r>
            <a:r>
              <a:rPr lang="en-US" sz="1400" b="1" dirty="0">
                <a:solidFill>
                  <a:srgbClr val="FFFFFF"/>
                </a:solidFill>
              </a:rPr>
              <a:t>definição</a:t>
            </a:r>
            <a:r>
              <a:rPr lang="en-US" sz="1400" dirty="0">
                <a:solidFill>
                  <a:srgbClr val="FFFFFF"/>
                </a:solidFill>
              </a:rPr>
              <a:t> (contrato) e </a:t>
            </a:r>
            <a:r>
              <a:rPr lang="en-US" sz="1400" b="1" dirty="0">
                <a:solidFill>
                  <a:srgbClr val="FFFFFF"/>
                </a:solidFill>
              </a:rPr>
              <a:t>implementação</a:t>
            </a:r>
            <a:r>
              <a:rPr lang="en-US" sz="1400" dirty="0">
                <a:solidFill>
                  <a:srgbClr val="FFFFFF"/>
                </a:solidFill>
              </a:rPr>
              <a:t>; seções PUBLIC, PROTECTED e PRIVATE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Objetos são criados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#( )</a:t>
            </a:r>
            <a:r>
              <a:rPr lang="en-US" sz="1400" dirty="0">
                <a:solidFill>
                  <a:srgbClr val="FFFFFF"/>
                </a:solidFill>
              </a:rPr>
              <a:t> e acessados por referência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</a:rPr>
              <a:t>; estáticos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Parâmetros IMPORTING, EXPORTING, CHANGING e </a:t>
            </a:r>
            <a:r>
              <a:rPr lang="en-US" sz="1400" b="1" dirty="0">
                <a:solidFill>
                  <a:srgbClr val="FFFFFF"/>
                </a:solidFill>
              </a:rPr>
              <a:t>RETURNING</a:t>
            </a:r>
            <a:r>
              <a:rPr lang="en-US" sz="1400" dirty="0">
                <a:solidFill>
                  <a:srgbClr val="FFFFFF"/>
                </a:solidFill>
              </a:rPr>
              <a:t>, que torna o método uma expressão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Encapsulamento</a:t>
            </a:r>
            <a:r>
              <a:rPr lang="en-US" sz="1400" dirty="0">
                <a:solidFill>
                  <a:srgbClr val="FFFFFF"/>
                </a:solidFill>
              </a:rPr>
              <a:t>: atributos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r>
              <a:rPr lang="en-US" sz="1400" dirty="0">
                <a:solidFill>
                  <a:srgbClr val="FFFFFF"/>
                </a:solidFill>
              </a:rPr>
              <a:t> e mudanças só por métodos que validam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constructor</a:t>
            </a:r>
            <a:r>
              <a:rPr lang="en-US" sz="1400" dirty="0">
                <a:solidFill>
                  <a:srgbClr val="FFFFFF"/>
                </a:solidFill>
              </a:rPr>
              <a:t> garante objetos válidos; o </a:t>
            </a:r>
            <a:r>
              <a:rPr lang="en-US" sz="1400" b="1" dirty="0">
                <a:solidFill>
                  <a:srgbClr val="FFFFFF"/>
                </a:solidFill>
              </a:rPr>
              <a:t>class_constructor</a:t>
            </a:r>
            <a:r>
              <a:rPr lang="en-US" sz="1400" dirty="0">
                <a:solidFill>
                  <a:srgbClr val="FFFFFF"/>
                </a:solidFill>
              </a:rPr>
              <a:t> inicia o que é estático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01.04  </a:t>
            </a:r>
            <a:r>
              <a:rPr lang="en-US" sz="1500" dirty="0">
                <a:solidFill>
                  <a:srgbClr val="FFFFFF"/>
                </a:solidFill>
              </a:rPr>
              <a:t>Lendo dados: SELECT moderno, host variables e CDS views.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01.03 Classes locais e orientação a objetos</dc:title>
  <dc:subject>ABAP Moderno – Módulo 01: Fundamentos do ABAP Moderno</dc:subject>
  <dc:creator>Adriano Bispo</dc:creator>
  <cp:lastModifiedBy>Adriano Bispo</cp:lastModifiedBy>
  <cp:revision>1</cp:revision>
  <dcterms:created xsi:type="dcterms:W3CDTF">2026-10-28T04:16:21Z</dcterms:created>
  <dcterms:modified xsi:type="dcterms:W3CDTF">2026-10-28T04:16:21Z</dcterms:modified>
</cp:coreProperties>
</file>