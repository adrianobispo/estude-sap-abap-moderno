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01 — Fundamentos do ABAP Moderno  ·  Aula 3 de 8 — Classes locais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01 — Fundamentos do ABAP Moderno  ·  Aula 3 de 8 — Classes locais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01 · AULA 03 DE 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Classes locais e orientação a objetos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Definir uma classe, criar instâncias, chamar métodos e proteger o estado com encapsulamento e construtor.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0107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01827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0" name="Shape 8"/>
          <p:cNvSpPr/>
          <p:nvPr/>
        </p:nvSpPr>
        <p:spPr>
          <a:xfrm>
            <a:off x="943546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85266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6985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8705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0424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3 de 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01 — Fundamentos do ABAP Moderno · Design System SAP Horizon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01 em 8 aulas: Fundamentos do ABAP Moderno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Iniciando a jornada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ADT, ABAP Cloud, pacotes e o primeiro programa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Técnicas básicas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Dados, expressões, controle de fluxo e debugger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locais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Definição, instâncias, métodos e encapsulamento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27368" y="189280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27368" y="1892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Lendo dados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SELECT moderno, host variables e CDS views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Dados estruturados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Estruturas, CORRESPONDING e tipos profundos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internas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de tabela, chaves e expressões de tabela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Business Objects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EML: ler, criar e alterar via RAP BO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9006611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171203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171203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4" name="Text 42"/>
          <p:cNvSpPr txBox="1"/>
          <p:nvPr/>
        </p:nvSpPr>
        <p:spPr>
          <a:xfrm>
            <a:off x="9171203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RAP</a:t>
            </a:r>
            <a:endParaRPr lang="en-US" sz="1350" dirty="0"/>
          </a:p>
        </p:txBody>
      </p:sp>
      <p:sp>
        <p:nvSpPr>
          <p:cNvPr id="45" name="Text 43"/>
          <p:cNvSpPr txBox="1"/>
          <p:nvPr/>
        </p:nvSpPr>
        <p:spPr>
          <a:xfrm>
            <a:off x="9171203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Camadas, managed x unmanaged e o ciclo completo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modelamos o item de estoque do projeto Pedidos de Compras (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lcl_item</a:t>
            </a:r>
            <a:r>
              <a:rPr lang="en-US" sz="1200" dirty="0">
                <a:solidFill>
                  <a:srgbClr val="1D2D3E"/>
                </a:solidFill>
              </a:rPr>
              <a:t>) e o evoluímos de atributos públicos até um objeto que garante a própria consistência.</a:t>
            </a:r>
            <a:endParaRPr lang="en-US" sz="14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94415" y="3858768"/>
            <a:ext cx="347472" cy="347472"/>
          </a:xfrm>
          <a:prstGeom prst="rect">
            <a:avLst/>
          </a:prstGeom>
        </p:spPr>
      </p:pic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Classes globais e classes locais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Classe global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Objeto próprio do repositório (</a:t>
            </a:r>
            <a:r>
              <a:rPr lang="en-US" sz="1300" i="1" dirty="0">
                <a:solidFill>
                  <a:srgbClr val="556B82"/>
                </a:solidFill>
              </a:rPr>
              <a:t>class pool</a:t>
            </a:r>
            <a:r>
              <a:rPr lang="en-US" sz="1300" dirty="0">
                <a:solidFill>
                  <a:srgbClr val="556B82"/>
                </a:solidFill>
              </a:rPr>
              <a:t>), visível em todo o sistema. Serve como programa principal ou como lógica reutilizável.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Classe local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Definida dentro de outro programa, por exemplo uma classe global, e usada só ali. Ideal para entidades que um único programa precisa.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Aba Local Types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No ADT, o código da classe global fica na aba </a:t>
            </a:r>
            <a:r>
              <a:rPr lang="en-US" sz="1300" b="1" dirty="0">
                <a:solidFill>
                  <a:srgbClr val="556B82"/>
                </a:solidFill>
              </a:rPr>
              <a:t>Global Class</a:t>
            </a:r>
            <a:r>
              <a:rPr lang="en-US" sz="1300" dirty="0">
                <a:solidFill>
                  <a:srgbClr val="556B82"/>
                </a:solidFill>
              </a:rPr>
              <a:t>; as classes locais, na aba </a:t>
            </a:r>
            <a:r>
              <a:rPr lang="en-US" sz="1300" b="1" dirty="0">
                <a:solidFill>
                  <a:srgbClr val="556B82"/>
                </a:solidFill>
              </a:rPr>
              <a:t>Local Types</a:t>
            </a:r>
            <a:r>
              <a:rPr lang="en-US" sz="13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915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8915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Mesma sintaxe  </a:t>
            </a:r>
            <a:r>
              <a:rPr lang="en-US" sz="1200" dirty="0">
                <a:solidFill>
                  <a:srgbClr val="1D2D3E"/>
                </a:solidFill>
              </a:rPr>
              <a:t>classes locais e globais usam quase a mesma sintaxe: o que você aprende aqui vale para as duas.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9069" y="2661412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019548"/>
            <a:ext cx="310896" cy="310896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661412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4730" y="2661412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01.03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Anatomia de uma classe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Uma classe tem uma parte de </a:t>
            </a:r>
            <a:r>
              <a:rPr lang="en-US" sz="1600" b="1" dirty="0">
                <a:solidFill>
                  <a:srgbClr val="D1EFFF"/>
                </a:solidFill>
              </a:rPr>
              <a:t>definição</a:t>
            </a:r>
            <a:r>
              <a:rPr lang="en-US" sz="1600" dirty="0">
                <a:solidFill>
                  <a:srgbClr val="D1EFFF"/>
                </a:solidFill>
              </a:rPr>
              <a:t> (o contrato) e uma de </a:t>
            </a:r>
            <a:r>
              <a:rPr lang="en-US" sz="1600" b="1" dirty="0">
                <a:solidFill>
                  <a:srgbClr val="D1EFFF"/>
                </a:solidFill>
              </a:rPr>
              <a:t>implementação</a:t>
            </a:r>
            <a:r>
              <a:rPr lang="en-US" sz="1600" dirty="0">
                <a:solidFill>
                  <a:srgbClr val="D1EFFF"/>
                </a:solidFill>
              </a:rPr>
              <a:t> (o código dos métodos).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1000" dirty="0">
                <a:solidFill>
                  <a:srgbClr val="D1EFFF"/>
                </a:solidFill>
              </a:rPr>
              <a:t>  componentes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1000" dirty="0">
                <a:solidFill>
                  <a:srgbClr val="D1EFFF"/>
                </a:solidFill>
              </a:rPr>
              <a:t>  métodos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· PROTECTED · PRIVATE</a:t>
            </a:r>
            <a:r>
              <a:rPr lang="en-US" sz="1000" dirty="0">
                <a:solidFill>
                  <a:srgbClr val="D1EFFF"/>
                </a:solidFill>
              </a:rPr>
              <a:t>  visibilidade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· CLASS-DATA</a:t>
            </a:r>
            <a:r>
              <a:rPr lang="en-US" sz="1000" dirty="0">
                <a:solidFill>
                  <a:srgbClr val="D1EFFF"/>
                </a:solidFill>
              </a:rPr>
              <a:t>  atributos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DEFINIÇÃO · DEFINIÇÃO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Componentes declarados nas seções de visibilidade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347472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347472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zcl_pc_estoque_demo.clas.locals_imp.abap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ZCL_PC_ESTOQUE_DEMO › Local Types (regras do BO Item)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t_qtde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CONSTANTS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c_limite_acabando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t_qtde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zta_pc_item-sku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qtde_estoque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t_qtde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item_counter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qtde_reservada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t_qtde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… DEFINITION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Declara tipos, constantes, atributos e métodos; termina em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Seções de visibilidade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Opcionais, mas sempre na ordem PUBLIC, PROTECTED, PRIVATE.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250" b="1" dirty="0">
                <a:solidFill>
                  <a:srgbClr val="1D2D3E"/>
                </a:solidFill>
              </a:rPr>
              <a:t> x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CLASS-DATA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Atributo de instância (um por objeto) x estático (um por classe).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Obrigatória assim que a classe declara métodos.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DEFINIÇÃO · VISIBILIDADE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Quem enxerga cada componente da classe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705024"/>
                <a:gridCol w="2705024"/>
                <a:gridCol w="2705024"/>
                <a:gridCol w="270502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Seção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A própria classe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Subclasses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Qualquer usuário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PUBLIC SECTION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PUBLIC … READ-ONLY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 lê e altera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4F00"/>
                          </a:solidFill>
                        </a:rPr>
                        <a:t>✓ só lê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44F00"/>
                          </a:solidFill>
                        </a:rPr>
                        <a:t>✓ só lê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PROTECTED SECTION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0808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PRIVATE SECTION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56F3A"/>
                          </a:solidFill>
                        </a:rPr>
                        <a:t>✓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0808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0808"/>
                          </a:solidFill>
                        </a:rPr>
                        <a:t>✗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38912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Regra  </a:t>
            </a:r>
            <a:r>
              <a:rPr lang="en-US" sz="1200" dirty="0">
                <a:solidFill>
                  <a:srgbClr val="1D2D3E"/>
                </a:solidFill>
              </a:rPr>
              <a:t>nenhuma declaração pode ficar fora de uma seção, e a seção define a visibilidade de tudo o que está nela.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51713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01.03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Instâncias e referências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Para usar componentes de instância você precisa de uma </a:t>
            </a:r>
            <a:r>
              <a:rPr lang="en-US" sz="1600" b="1" dirty="0">
                <a:solidFill>
                  <a:srgbClr val="D1EFFF"/>
                </a:solidFill>
              </a:rPr>
              <a:t>variável de referência</a:t>
            </a:r>
            <a:r>
              <a:rPr lang="en-US" sz="1600" dirty="0">
                <a:solidFill>
                  <a:srgbClr val="D1EFFF"/>
                </a:solidFill>
              </a:rPr>
              <a:t> que aponte para um objeto criado com </a:t>
            </a:r>
            <a:r>
              <a:rPr lang="en-US" sz="1600" b="1" dirty="0">
                <a:solidFill>
                  <a:srgbClr val="D1EFFF"/>
                </a:solidFill>
              </a:rPr>
              <a:t>NEW</a:t>
            </a:r>
            <a:r>
              <a:rPr lang="en-US" sz="1600" dirty="0">
                <a:solidFill>
                  <a:srgbClr val="D1EFFF"/>
                </a:solidFill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REF TO</a:t>
            </a:r>
            <a:r>
              <a:rPr lang="en-US" sz="1000" dirty="0">
                <a:solidFill>
                  <a:srgbClr val="D1EFFF"/>
                </a:solidFill>
              </a:rPr>
              <a:t>  referência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#( )</a:t>
            </a:r>
            <a:r>
              <a:rPr lang="en-US" sz="1000" dirty="0">
                <a:solidFill>
                  <a:srgbClr val="D1EFFF"/>
                </a:solidFill>
              </a:rPr>
              <a:t>  cria o objeto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r>
              <a:rPr lang="en-US" sz="1000" dirty="0">
                <a:solidFill>
                  <a:srgbClr val="D1EFFF"/>
                </a:solidFill>
              </a:rPr>
              <a:t>  componente de instância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r>
              <a:rPr lang="en-US" sz="1000" dirty="0">
                <a:solidFill>
                  <a:srgbClr val="D1EFFF"/>
                </a:solidFill>
              </a:rPr>
              <a:t>  componente estático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INSTÂNCIAS · CRIAÇÃO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NEW #( ), -&gt; e =&gt;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1975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1975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436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zcl_pc_estoque_demo.clas.abap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ZCL_PC_ESTOQUE_DEMO › if_oo_adt_classrun~main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'SKU-ELE-0000000001'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qtde_estoque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lcl_item=&gt;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item_counter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segunda instância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'SKU-INF-0000000002'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qtde_estoque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lcl_item=&gt;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item_counter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itens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REF TO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Guarda o endereço de um objeto; o valor inicial é a referência nula.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#( )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Cria uma instância;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556B82"/>
                </a:solidFill>
              </a:rPr>
              <a:t> usa o tipo da variável à esquerda.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Seletor de componente de instância, sempre a partir de uma referência.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Seletor estático, a partir do nome da classe; sem espaços ao redor.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INSTÂNCIAS · COMPORTAMENTO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acontece na memória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08048"/>
            <a:ext cx="5432908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10921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712720"/>
            <a:ext cx="503057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Instâncias independentes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Cada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200" dirty="0">
                <a:solidFill>
                  <a:srgbClr val="556B82"/>
                </a:solidFill>
              </a:rPr>
              <a:t> cria um objeto em outro lugar da memória; os atributos de instância de um não afetam os do outro.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0148" y="1908048"/>
            <a:ext cx="5432908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11316" y="210921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11316" y="2712720"/>
            <a:ext cx="503057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Estáticos são compartilhados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CLASS-DATA</a:t>
            </a:r>
            <a:r>
              <a:rPr lang="en-US" sz="1200" dirty="0">
                <a:solidFill>
                  <a:srgbClr val="556B82"/>
                </a:solidFill>
              </a:rPr>
              <a:t> existe uma única vez, carregado na primeira vez que a classe é usada, e é visto por todas as instâncias.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5432908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42245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4828032"/>
            <a:ext cx="503057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Copiar a referência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ref2 = ref1</a:t>
            </a:r>
            <a:r>
              <a:rPr lang="en-US" sz="1200" dirty="0">
                <a:solidFill>
                  <a:srgbClr val="556B82"/>
                </a:solidFill>
              </a:rPr>
              <a:t> copia o endereço: as duas variáveis passam a apontar para o </a:t>
            </a:r>
            <a:r>
              <a:rPr lang="en-US" sz="1200" b="1" dirty="0">
                <a:solidFill>
                  <a:srgbClr val="556B82"/>
                </a:solidFill>
              </a:rPr>
              <a:t>mesmo</a:t>
            </a:r>
            <a:r>
              <a:rPr lang="en-US" sz="1200" dirty="0">
                <a:solidFill>
                  <a:srgbClr val="556B82"/>
                </a:solidFill>
              </a:rPr>
              <a:t> objeto.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0148" y="4023360"/>
            <a:ext cx="5432908" cy="1886712"/>
          </a:xfrm>
          <a:prstGeom prst="roundRect">
            <a:avLst>
              <a:gd name="adj" fmla="val 484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1316" y="42245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11316" y="4828032"/>
            <a:ext cx="503057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Objetos sem referência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Quando nenhuma variável aponta para um objeto, o </a:t>
            </a:r>
            <a:r>
              <a:rPr lang="en-US" sz="1200" i="1" dirty="0">
                <a:solidFill>
                  <a:srgbClr val="556B82"/>
                </a:solidFill>
              </a:rPr>
              <a:t>garbage collector</a:t>
            </a:r>
            <a:r>
              <a:rPr lang="en-US" sz="1200" dirty="0">
                <a:solidFill>
                  <a:srgbClr val="556B82"/>
                </a:solidFill>
              </a:rPr>
              <a:t> libera a memória. Teste com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 BOUND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1900" y="2209800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4325112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900" y="4325112"/>
            <a:ext cx="256032" cy="256032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2209800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01.03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Métodos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 método tem uma </a:t>
            </a:r>
            <a:r>
              <a:rPr lang="en-US" sz="1600" b="1" dirty="0">
                <a:solidFill>
                  <a:srgbClr val="D1EFFF"/>
                </a:solidFill>
              </a:rPr>
              <a:t>assinatura</a:t>
            </a:r>
            <a:r>
              <a:rPr lang="en-US" sz="1600" dirty="0">
                <a:solidFill>
                  <a:srgbClr val="D1EFFF"/>
                </a:solidFill>
              </a:rPr>
              <a:t> (parâmetros e exceções) na definição e o código entre </a:t>
            </a:r>
            <a:r>
              <a:rPr lang="en-US" sz="1600" b="1" dirty="0">
                <a:solidFill>
                  <a:srgbClr val="D1EFFF"/>
                </a:solidFill>
              </a:rPr>
              <a:t>METHOD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ENDMETHOD</a:t>
            </a:r>
            <a:r>
              <a:rPr lang="en-US" sz="1600" dirty="0">
                <a:solidFill>
                  <a:srgbClr val="D1EFFF"/>
                </a:solidFill>
              </a:rPr>
              <a:t> na implementação.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 · CLASS-METHODS</a:t>
            </a:r>
            <a:r>
              <a:rPr lang="en-US" sz="1000" dirty="0">
                <a:solidFill>
                  <a:srgbClr val="D1EFFF"/>
                </a:solidFill>
              </a:rPr>
              <a:t>  instância · estático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 · EXPORTING</a:t>
            </a:r>
            <a:r>
              <a:rPr lang="en-US" sz="1000" dirty="0">
                <a:solidFill>
                  <a:srgbClr val="D1EFFF"/>
                </a:solidFill>
              </a:rPr>
              <a:t>  entrada · saída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CHANGING · RETURNING</a:t>
            </a:r>
            <a:r>
              <a:rPr lang="en-US" sz="1000" dirty="0">
                <a:solidFill>
                  <a:srgbClr val="D1EFFF"/>
                </a:solidFill>
              </a:rPr>
              <a:t>  altera · resultado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</a:t>
            </a:r>
            <a:r>
              <a:rPr lang="en-US" sz="1000" dirty="0">
                <a:solidFill>
                  <a:srgbClr val="D1EFFF"/>
                </a:solidFill>
              </a:rPr>
              <a:t>  exceções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MÉTODOS · ASSINATURA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Os quatro tipos de parâmetro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164019"/>
                <a:gridCol w="3678832"/>
                <a:gridCol w="497724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Tipo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Direção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Regras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IMPORTING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Chamador → método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Obrigatório por padrão;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OPTIONAL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ou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DEFAULT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torna opcional; não pode ser alterado no método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EXPORTING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Método → chamador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Sempre opcional para quem chama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CHANGING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Ida e volta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 método pode alterar o valor recebido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35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RETURNING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Resultado da chamada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Só um por método, sempre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VALUE( )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; permite usar o método em expressões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38912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RAISING  </a:t>
            </a:r>
            <a:r>
              <a:rPr lang="en-US" sz="1200" dirty="0">
                <a:solidFill>
                  <a:srgbClr val="1D2D3E"/>
                </a:solidFill>
              </a:rPr>
              <a:t>lista as exceções que o método pode levantar, para que o chamador possa reagir ao erro.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51713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MÉTODOS · DEFINIR E IMPLEMENTAR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Assinatura na definição, código na implementação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347472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347472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zcl_pc_estoque_demo.clas.locals_imp.abap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ZCL_PC_ESTOQUE_DEMO › Local Types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lcl_item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i_qtde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cx_abap_invalid_value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get_output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r_output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string_table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… atributos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lcl_item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i_qtde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i_qtde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qtde_estoque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qtde_reservada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cx_abap_invalid_value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qtde_reservada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i_qtde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get_output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|{ sku }: { qtde_estoque - qtde_reservada } disponíveis|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r_output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1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Torna o parâmetro opcional com um valor padrão. A regra é a da action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ReservarEstoque</a:t>
            </a:r>
            <a:r>
              <a:rPr lang="en-US" sz="1050" dirty="0">
                <a:solidFill>
                  <a:srgbClr val="556B82"/>
                </a:solidFill>
              </a:rPr>
              <a:t> do BO Item.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 EXCEPTION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Interrompe o método e devolve o erro ao chamador.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Acesso interno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método usa atributos de qualquer seção, sem prefixo (ou com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me-&gt;</a:t>
            </a:r>
            <a:r>
              <a:rPr lang="en-US" sz="1050" dirty="0">
                <a:solidFill>
                  <a:srgbClr val="556B82"/>
                </a:solidFill>
              </a:rPr>
              <a:t>).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Quick fix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Ctrl+1</a:t>
            </a:r>
            <a:r>
              <a:rPr lang="en-US" sz="1050" dirty="0">
                <a:solidFill>
                  <a:srgbClr val="556B82"/>
                </a:solidFill>
              </a:rPr>
              <a:t> na definição cria 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 … ENDMETHOD</a:t>
            </a:r>
            <a:r>
              <a:rPr lang="en-US" sz="1050" dirty="0">
                <a:solidFill>
                  <a:srgbClr val="556B82"/>
                </a:solidFill>
              </a:rPr>
              <a:t> que falta.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MÉTODOS · CHAMAR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Chamadas com parâmetros nomeados e expressões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779776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Chamada com tratamento de erro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2221992"/>
          </a:xfrm>
          <a:prstGeom prst="roundRect">
            <a:avLst>
              <a:gd name="adj" fmla="val 3292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128016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128016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main.abap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i_qtde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DEFAULT 1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CATCH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cx_abap_invalid_value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`Estoque insuficiente`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ENDTRY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70832"/>
            <a:ext cx="5410048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Com só parâmetros de entrada,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EXPORTING</a:t>
            </a:r>
            <a:r>
              <a:rPr lang="en-US" sz="1200" dirty="0">
                <a:solidFill>
                  <a:srgbClr val="556B82"/>
                </a:solidFill>
              </a:rPr>
              <a:t> pode ser omitido. Com vários, nomeie cada um: a ordem deixa de importar.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1653235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16532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Método funcional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2221992"/>
          </a:xfrm>
          <a:prstGeom prst="roundRect">
            <a:avLst>
              <a:gd name="adj" fmla="val 3292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128016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128016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main.abap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RETURNING: o método vira uma expressão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get_output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get_output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Estático: nome da classe e =&gt;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out-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lcl_item=&gt;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item_counter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4370832"/>
            <a:ext cx="5410048" cy="1801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Um método com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RETURNING</a:t>
            </a:r>
            <a:r>
              <a:rPr lang="en-US" sz="1200" dirty="0">
                <a:solidFill>
                  <a:srgbClr val="556B82"/>
                </a:solidFill>
              </a:rPr>
              <a:t> pode ser usado em qualquer posição de leitura: atribuições, parâmetros e condições.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01.03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Encapsulamento e construtor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objeto deve </a:t>
            </a:r>
            <a:r>
              <a:rPr lang="en-US" sz="1600" b="1" dirty="0">
                <a:solidFill>
                  <a:srgbClr val="D1EFFF"/>
                </a:solidFill>
              </a:rPr>
              <a:t>garantir a própria consistência</a:t>
            </a:r>
            <a:r>
              <a:rPr lang="en-US" sz="1600" dirty="0">
                <a:solidFill>
                  <a:srgbClr val="D1EFFF"/>
                </a:solidFill>
              </a:rPr>
              <a:t>: ninguém de fora altera o estado sem passar pelas regras da classe.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· READ-ONLY</a:t>
            </a:r>
            <a:r>
              <a:rPr lang="en-US" sz="1000" dirty="0">
                <a:solidFill>
                  <a:srgbClr val="D1EFFF"/>
                </a:solidFill>
              </a:rPr>
              <a:t>  protege atributos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r>
              <a:rPr lang="en-US" sz="1000" dirty="0">
                <a:solidFill>
                  <a:srgbClr val="D1EFFF"/>
                </a:solidFill>
              </a:rPr>
              <a:t>  por instância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class_constructor</a:t>
            </a:r>
            <a:r>
              <a:rPr lang="en-US" sz="1000" dirty="0">
                <a:solidFill>
                  <a:srgbClr val="D1EFFF"/>
                </a:solidFill>
              </a:rPr>
              <a:t>  por classe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Ctrl+1</a:t>
            </a:r>
            <a:r>
              <a:rPr lang="en-US" sz="1000" dirty="0">
                <a:solidFill>
                  <a:srgbClr val="D1EFFF"/>
                </a:solidFill>
              </a:rPr>
              <a:t>  Make private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ENCAPSULAMENTO · O PROBLEMA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Atributos públicos deixam passar dados inválidos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95691"/>
            <a:ext cx="5410048" cy="2895219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95691"/>
            <a:ext cx="5410048" cy="73152"/>
          </a:xfrm>
          <a:prstGeom prst="rect">
            <a:avLst/>
          </a:prstGeom>
          <a:solidFill>
            <a:srgbClr val="D20A0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370011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370011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A0808"/>
                </a:solidFill>
              </a:rPr>
              <a:t>Sem encapsulamento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10091"/>
            <a:ext cx="4952848" cy="1843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Qualquer programa escreve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item-&gt;qtde_estoque = -5</a:t>
            </a:r>
            <a:r>
              <a:rPr lang="en-US" sz="1350" dirty="0">
                <a:solidFill>
                  <a:srgbClr val="1D2D3E"/>
                </a:solidFill>
              </a:rPr>
              <a:t> sem validação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Reservas maiores que o saldo disponível chegam ao objeto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Uma regra de negócio pode ser contornada sem ninguém perceber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095691"/>
            <a:ext cx="5410048" cy="2895219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095691"/>
            <a:ext cx="5410048" cy="73152"/>
          </a:xfrm>
          <a:prstGeom prst="rect">
            <a:avLst/>
          </a:prstGeom>
          <a:solidFill>
            <a:srgbClr val="30914C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370011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370011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F3A"/>
                </a:solidFill>
              </a:rPr>
              <a:t>Com encapsulamento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010091"/>
            <a:ext cx="4952848" cy="1843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Atributos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350" dirty="0">
                <a:solidFill>
                  <a:srgbClr val="1D2D3E"/>
                </a:solidFill>
              </a:rPr>
              <a:t> ou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</a:t>
            </a:r>
            <a:r>
              <a:rPr lang="en-US" sz="1350" dirty="0">
                <a:solidFill>
                  <a:srgbClr val="1D2D3E"/>
                </a:solidFill>
              </a:rPr>
              <a:t>: leitura liberada, escrita só pela classe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Toda mudança passa por um método que valida antes de aceitar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Com um </a:t>
            </a:r>
            <a:r>
              <a:rPr lang="en-US" sz="1350" b="1" dirty="0">
                <a:solidFill>
                  <a:srgbClr val="1D2D3E"/>
                </a:solidFill>
              </a:rPr>
              <a:t>construtor</a:t>
            </a:r>
            <a:r>
              <a:rPr lang="en-US" sz="1350" dirty="0">
                <a:solidFill>
                  <a:srgbClr val="1D2D3E"/>
                </a:solidFill>
              </a:rPr>
              <a:t>, nenhum objeto nasce sem os dados obrigatórios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15550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515550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Quick fix  </a:t>
            </a:r>
            <a:r>
              <a:rPr lang="en-US" sz="1200" dirty="0">
                <a:solidFill>
                  <a:srgbClr val="1D2D3E"/>
                </a:solidFill>
              </a:rPr>
              <a:t>com o cursor no atributo,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Ctrl+1</a:t>
            </a:r>
            <a:r>
              <a:rPr lang="en-US" sz="1200" dirty="0">
                <a:solidFill>
                  <a:srgbClr val="1D2D3E"/>
                </a:solidFill>
              </a:rPr>
              <a:t> → </a:t>
            </a:r>
            <a:r>
              <a:rPr lang="en-US" sz="1200" i="1" dirty="0">
                <a:solidFill>
                  <a:srgbClr val="1D2D3E"/>
                </a:solidFill>
              </a:rPr>
              <a:t>Make … private</a:t>
            </a:r>
            <a:r>
              <a:rPr lang="en-US" sz="1200" dirty="0">
                <a:solidFill>
                  <a:srgbClr val="1D2D3E"/>
                </a:solidFill>
              </a:rPr>
              <a:t> move a declaração para a seção privada.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470595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470595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28351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ENCAPSULAMENTO · CONSTRUTOR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Nenhuma instância nasce inconsistente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347472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347472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zcl_pc_estoque_demo.clas.locals_imp.abap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ZCL_PC_ESTOQUE_DEMO › Local Types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lcl_item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zta_pc_item-sku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qtde_estoque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CLASS-DATA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item_counter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i_sku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zta_pc_item-sku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i_qtde_estoque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cx_abap_invalid_value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lcl_item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i_sku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i_qtde_estoque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cx_abap_invalid_value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i_sku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qtde_estoque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i_qtde_estoque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item_counter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Uso: DATA(item) = NEW lcl_item( i_sku          = 'SKU-ELE-0000000001'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                               i_qtde_estoque = 25 ).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Só na seção pública: todos leem, só a classe escreve.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constructor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Chamado automaticamente pelo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050" dirty="0">
                <a:solidFill>
                  <a:srgbClr val="556B82"/>
                </a:solidFill>
              </a:rPr>
              <a:t>; nunca é chamado explicitamente.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Só entrada e exceções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construtor aceita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IMPORTING</a:t>
            </a:r>
            <a:r>
              <a:rPr lang="en-US" sz="1050" dirty="0">
                <a:solidFill>
                  <a:srgbClr val="556B82"/>
                </a:solidFill>
              </a:rPr>
              <a:t> 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RAISING</a:t>
            </a:r>
            <a:r>
              <a:rPr lang="en-US" sz="1050" dirty="0">
                <a:solidFill>
                  <a:srgbClr val="556B82"/>
                </a:solidFill>
              </a:rPr>
              <a:t>, sem retorno.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Falhou? Não existe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 o construtor levanta exceção, a instância não é criada.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ENCAPSULAMENTO · CONSTRUTORES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Dois construtores, dois momentos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66975"/>
            <a:ext cx="543290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271647"/>
            <a:ext cx="503057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constructor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Método de </a:t>
            </a:r>
            <a:r>
              <a:rPr lang="en-US" sz="1300" b="1" dirty="0">
                <a:solidFill>
                  <a:srgbClr val="556B82"/>
                </a:solidFill>
              </a:rPr>
              <a:t>instância</a:t>
            </a:r>
            <a:r>
              <a:rPr lang="en-US" sz="1300" dirty="0">
                <a:solidFill>
                  <a:srgbClr val="556B82"/>
                </a:solidFill>
              </a:rPr>
              <a:t>. Executa a cada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1300" dirty="0">
                <a:solidFill>
                  <a:srgbClr val="556B82"/>
                </a:solidFill>
              </a:rPr>
              <a:t>, recebe os dados obrigatórios e garante que o objeto nasça válido.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0148" y="2466975"/>
            <a:ext cx="543290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11316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11316" y="3271647"/>
            <a:ext cx="503057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class_constructor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Método </a:t>
            </a:r>
            <a:r>
              <a:rPr lang="en-US" sz="1300" b="1" dirty="0">
                <a:solidFill>
                  <a:srgbClr val="556B82"/>
                </a:solidFill>
              </a:rPr>
              <a:t>estático</a:t>
            </a:r>
            <a:r>
              <a:rPr lang="en-US" sz="1300" dirty="0">
                <a:solidFill>
                  <a:srgbClr val="556B82"/>
                </a:solidFill>
              </a:rPr>
              <a:t>, sem parâmetros. Executa </a:t>
            </a:r>
            <a:r>
              <a:rPr lang="en-US" sz="1300" b="1" dirty="0">
                <a:solidFill>
                  <a:srgbClr val="556B82"/>
                </a:solidFill>
              </a:rPr>
              <a:t>uma vez</a:t>
            </a:r>
            <a:r>
              <a:rPr lang="en-US" sz="1300" dirty="0">
                <a:solidFill>
                  <a:srgbClr val="556B82"/>
                </a:solidFill>
              </a:rPr>
              <a:t>, quando a classe é usada pela primeira vez; ideal para iniciar atributos estáticos.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784217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07008" y="4784217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Encapsulamento  </a:t>
            </a:r>
            <a:r>
              <a:rPr lang="en-US" sz="1200" dirty="0">
                <a:solidFill>
                  <a:srgbClr val="1D2D3E"/>
                </a:solidFill>
              </a:rPr>
              <a:t>é uma das maiores vantagens da orientação a objetos: use-o sempre que possível.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1900" y="2768727"/>
            <a:ext cx="256032" cy="256032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912233"/>
            <a:ext cx="310896" cy="310896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2768727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01.03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Classes </a:t>
            </a:r>
            <a:r>
              <a:rPr lang="en-US" sz="1400" b="1" dirty="0">
                <a:solidFill>
                  <a:srgbClr val="FFFFFF"/>
                </a:solidFill>
              </a:rPr>
              <a:t>globais</a:t>
            </a:r>
            <a:r>
              <a:rPr lang="en-US" sz="1400" dirty="0">
                <a:solidFill>
                  <a:srgbClr val="FFFFFF"/>
                </a:solidFill>
              </a:rPr>
              <a:t> são reutilizáveis; </a:t>
            </a:r>
            <a:r>
              <a:rPr lang="en-US" sz="1400" b="1" dirty="0">
                <a:solidFill>
                  <a:srgbClr val="FFFFFF"/>
                </a:solidFill>
              </a:rPr>
              <a:t>locais</a:t>
            </a:r>
            <a:r>
              <a:rPr lang="en-US" sz="1400" dirty="0">
                <a:solidFill>
                  <a:srgbClr val="FFFFFF"/>
                </a:solidFill>
              </a:rPr>
              <a:t> vivem na aba Local Types de um programa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classe tem </a:t>
            </a:r>
            <a:r>
              <a:rPr lang="en-US" sz="1400" b="1" dirty="0">
                <a:solidFill>
                  <a:srgbClr val="FFFFFF"/>
                </a:solidFill>
              </a:rPr>
              <a:t>definição</a:t>
            </a:r>
            <a:r>
              <a:rPr lang="en-US" sz="1400" dirty="0">
                <a:solidFill>
                  <a:srgbClr val="FFFFFF"/>
                </a:solidFill>
              </a:rPr>
              <a:t> (contrato) e </a:t>
            </a:r>
            <a:r>
              <a:rPr lang="en-US" sz="1400" b="1" dirty="0">
                <a:solidFill>
                  <a:srgbClr val="FFFFFF"/>
                </a:solidFill>
              </a:rPr>
              <a:t>implementação</a:t>
            </a:r>
            <a:r>
              <a:rPr lang="en-US" sz="1400" dirty="0">
                <a:solidFill>
                  <a:srgbClr val="FFFFFF"/>
                </a:solidFill>
              </a:rPr>
              <a:t>; seções PUBLIC, PROTECTED e PRIVATE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Objetos são criados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#( )</a:t>
            </a:r>
            <a:r>
              <a:rPr lang="en-US" sz="1400" dirty="0">
                <a:solidFill>
                  <a:srgbClr val="FFFFFF"/>
                </a:solidFill>
              </a:rPr>
              <a:t> e acessados por referência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-&gt;</a:t>
            </a:r>
            <a:r>
              <a:rPr lang="en-US" sz="1400" dirty="0">
                <a:solidFill>
                  <a:srgbClr val="FFFFFF"/>
                </a:solidFill>
              </a:rPr>
              <a:t>; estáticos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=&gt;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Parâmetros IMPORTING, EXPORTING, CHANGING e </a:t>
            </a:r>
            <a:r>
              <a:rPr lang="en-US" sz="1400" b="1" dirty="0">
                <a:solidFill>
                  <a:srgbClr val="FFFFFF"/>
                </a:solidFill>
              </a:rPr>
              <a:t>RETURNING</a:t>
            </a:r>
            <a:r>
              <a:rPr lang="en-US" sz="1400" dirty="0">
                <a:solidFill>
                  <a:srgbClr val="FFFFFF"/>
                </a:solidFill>
              </a:rPr>
              <a:t>, que torna o método uma expressão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Encapsulamento</a:t>
            </a:r>
            <a:r>
              <a:rPr lang="en-US" sz="1400" dirty="0">
                <a:solidFill>
                  <a:srgbClr val="FFFFFF"/>
                </a:solidFill>
              </a:rPr>
              <a:t>: atributos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</a:t>
            </a:r>
            <a:r>
              <a:rPr lang="en-US" sz="1400" dirty="0">
                <a:solidFill>
                  <a:srgbClr val="FFFFFF"/>
                </a:solidFill>
              </a:rPr>
              <a:t> ou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READ-ONLY</a:t>
            </a:r>
            <a:r>
              <a:rPr lang="en-US" sz="1400" dirty="0">
                <a:solidFill>
                  <a:srgbClr val="FFFFFF"/>
                </a:solidFill>
              </a:rPr>
              <a:t> e mudanças só por métodos que validam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constructor</a:t>
            </a:r>
            <a:r>
              <a:rPr lang="en-US" sz="1400" dirty="0">
                <a:solidFill>
                  <a:srgbClr val="FFFFFF"/>
                </a:solidFill>
              </a:rPr>
              <a:t> garante objetos válidos; o </a:t>
            </a:r>
            <a:r>
              <a:rPr lang="en-US" sz="1400" b="1" dirty="0">
                <a:solidFill>
                  <a:srgbClr val="FFFFFF"/>
                </a:solidFill>
              </a:rPr>
              <a:t>class_constructor</a:t>
            </a:r>
            <a:r>
              <a:rPr lang="en-US" sz="1400" dirty="0">
                <a:solidFill>
                  <a:srgbClr val="FFFFFF"/>
                </a:solidFill>
              </a:rPr>
              <a:t> inicia o que é estático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01.04  </a:t>
            </a:r>
            <a:r>
              <a:rPr lang="en-US" sz="1500" dirty="0">
                <a:solidFill>
                  <a:srgbClr val="FFFFFF"/>
                </a:solidFill>
              </a:rPr>
              <a:t>Lendo dados: SELECT moderno, host variables e CDS views.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01.03 Classes locais e orientação a objetos</dc:title>
  <dc:subject>ABAP Moderno – Módulo 01: Fundamentos do ABAP Moderno</dc:subject>
  <dc:creator>Adriano Bispo</dc:creator>
  <cp:lastModifiedBy>Adriano Bispo</cp:lastModifiedBy>
  <cp:revision>1</cp:revision>
  <dcterms:created xsi:type="dcterms:W3CDTF">2026-10-29T13:18:11Z</dcterms:created>
  <dcterms:modified xsi:type="dcterms:W3CDTF">2026-10-29T13:18:11Z</dcterms:modified>
</cp:coreProperties>
</file>