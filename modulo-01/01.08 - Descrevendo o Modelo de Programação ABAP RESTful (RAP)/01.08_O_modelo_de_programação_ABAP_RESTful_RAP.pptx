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01 — Fundamentos do ABAP Moderno  ·  Aula 8 de 8 — Modelo RAP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01 — Fundamentos do ABAP Moderno  ·  Aula 8 de 8 — Modelo RAP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01 · AULA 08 DE 08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O modelo de programação ABAP RESTful (RAP)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As camadas do RAP, do banco de dados ao serviço OData, a lógica de negócio com validações e os ajustes de UI.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0107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01827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43546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85266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26985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87050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04245" y="4937760"/>
            <a:ext cx="32575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8 de 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01 — Fundamentos do ABAP Moderno · Design System SAP Horizon</a:t>
            </a:r>
            <a:endParaRPr lang="en-US" sz="1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01 em 8 aulas: Fundamentos do ABAP Moderno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Iniciando a jornada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ADT, ABAP Cloud, pacotes e o primeiro programa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Técnicas básicas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Dados, expressões, controle de fluxo e debugger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Classes locais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Definição, instâncias, métodos e encapsulamento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Lendo dados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SELECT moderno, host variables e CDS views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Dados estruturados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Estruturas, CORRESPONDING e tipos profundos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2" name="Text 30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internas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Tipos de tabela, chaves e expressões de tabela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7" name="Text 35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Business Objects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EML: ler, criar e alterar via RAP BO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9006611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9171203" y="384048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171203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8</a:t>
            </a:r>
            <a:endParaRPr lang="en-US" sz="1260" dirty="0"/>
          </a:p>
        </p:txBody>
      </p:sp>
      <p:sp>
        <p:nvSpPr>
          <p:cNvPr id="42" name="Text 40"/>
          <p:cNvSpPr txBox="1"/>
          <p:nvPr/>
        </p:nvSpPr>
        <p:spPr>
          <a:xfrm>
            <a:off x="9171203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RAP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9171203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Camadas, managed x unmanaged e o ciclo completo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646691" y="390448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9646691" y="39044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seguimos o BO Item de estoque do projeto Pedidos de Compras: chave técnica UUID, o SKU garantido como chave semântica por uma validação e o app Fiori ajustado por anotações.</a:t>
            </a:r>
            <a:endParaRPr lang="en-US" sz="1400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5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5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3858768"/>
            <a:ext cx="347472" cy="347472"/>
          </a:xfrm>
          <a:prstGeom prst="rect">
            <a:avLst/>
          </a:prstGeom>
        </p:spPr>
      </p:pic>
      <p:pic>
        <p:nvPicPr>
          <p:cNvPr id="5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modelo para apps Fiori e APIs na nuvem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0F2"/>
                </a:solidFill>
              </a:rPr>
              <a:t>RAP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RESTful ABAP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o modelo para serviços e apps no ABAP Cloud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807757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008925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CDS</a:t>
            </a:r>
            <a:endParaRPr lang="en-US" sz="3800" dirty="0"/>
          </a:p>
        </p:txBody>
      </p:sp>
      <p:sp>
        <p:nvSpPr>
          <p:cNvPr id="9" name="Text 7"/>
          <p:cNvSpPr txBox="1"/>
          <p:nvPr/>
        </p:nvSpPr>
        <p:spPr>
          <a:xfrm>
            <a:off x="3008925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Modelo de dados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views e comportamento definidos em código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66873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68041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OData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268041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Protocolo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V4 para apps de UI e V2/V4 para APIs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25990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27158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UUID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7527158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Chave técnica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gerada pelo runtime no cenário managed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585107" y="1645920"/>
            <a:ext cx="2057949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786275" y="1783080"/>
            <a:ext cx="165561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ETag</a:t>
            </a:r>
            <a:endParaRPr lang="en-US" sz="3800" dirty="0"/>
          </a:p>
        </p:txBody>
      </p:sp>
      <p:sp>
        <p:nvSpPr>
          <p:cNvPr id="18" name="Text 16"/>
          <p:cNvSpPr txBox="1"/>
          <p:nvPr/>
        </p:nvSpPr>
        <p:spPr>
          <a:xfrm>
            <a:off x="9786275" y="2514600"/>
            <a:ext cx="1655613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Concorrência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protege dados em um mundo stateless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50876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 que o RAP entrega pronto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No cenário </a:t>
            </a:r>
            <a:r>
              <a:rPr lang="en-US" sz="1200" b="1" dirty="0">
                <a:solidFill>
                  <a:srgbClr val="556B82"/>
                </a:solidFill>
              </a:rPr>
              <a:t>managed</a:t>
            </a:r>
            <a:r>
              <a:rPr lang="en-US" sz="1200" dirty="0">
                <a:solidFill>
                  <a:srgbClr val="556B82"/>
                </a:solidFill>
              </a:rPr>
              <a:t>, o runtime cuida de criar, ler, alterar, apagar, bloquear e gravar. O desenvolvedor concentra-se no que é específico do negócio: validações, determinações e ações.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0" y="3977640"/>
            <a:ext cx="1020470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0" y="3977640"/>
            <a:ext cx="10204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Managed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15630" y="3977640"/>
            <a:ext cx="859536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015630" y="3977640"/>
            <a:ext cx="859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Draft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012326" y="3977640"/>
            <a:ext cx="779069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012326" y="3977640"/>
            <a:ext cx="7790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ETag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928555" y="3977640"/>
            <a:ext cx="1342339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928555" y="3977640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Validations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858000" y="4416552"/>
            <a:ext cx="1583741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0" y="4416552"/>
            <a:ext cx="15837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Determinations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578901" y="4416552"/>
            <a:ext cx="1020470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578901" y="4416552"/>
            <a:ext cx="102047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Actions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736531" y="4416552"/>
            <a:ext cx="1583741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736531" y="4416552"/>
            <a:ext cx="158374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Fiori Elements</a:t>
            </a:r>
            <a:endParaRPr lang="en-US" sz="1000" dirty="0"/>
          </a:p>
        </p:txBody>
      </p:sp>
      <p:pic>
        <p:nvPicPr>
          <p:cNvPr id="3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042562"/>
            <a:ext cx="281635" cy="2816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01.08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arquitetura em camadas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RAP separa o </a:t>
            </a:r>
            <a:r>
              <a:rPr lang="en-US" sz="1600" b="1" dirty="0">
                <a:solidFill>
                  <a:srgbClr val="D1EFFF"/>
                </a:solidFill>
              </a:rPr>
              <a:t>modelo de dados e comportamento</a:t>
            </a:r>
            <a:r>
              <a:rPr lang="en-US" sz="1600" dirty="0">
                <a:solidFill>
                  <a:srgbClr val="D1EFFF"/>
                </a:solidFill>
              </a:rPr>
              <a:t>, a </a:t>
            </a:r>
            <a:r>
              <a:rPr lang="en-US" sz="1600" b="1" dirty="0">
                <a:solidFill>
                  <a:srgbClr val="D1EFFF"/>
                </a:solidFill>
              </a:rPr>
              <a:t>exposição como serviço</a:t>
            </a:r>
            <a:r>
              <a:rPr lang="en-US" sz="1600" dirty="0">
                <a:solidFill>
                  <a:srgbClr val="D1EFFF"/>
                </a:solidFill>
              </a:rPr>
              <a:t> e o </a:t>
            </a:r>
            <a:r>
              <a:rPr lang="en-US" sz="1600" b="1" dirty="0">
                <a:solidFill>
                  <a:srgbClr val="D1EFFF"/>
                </a:solidFill>
              </a:rPr>
              <a:t>consumo</a:t>
            </a:r>
            <a:r>
              <a:rPr lang="en-US" sz="1600" dirty="0">
                <a:solidFill>
                  <a:srgbClr val="D1EFFF"/>
                </a:solidFill>
              </a:rPr>
              <a:t>, cada um com seus objetos.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1837944"/>
          </a:xfrm>
          <a:prstGeom prst="roundRect">
            <a:avLst>
              <a:gd name="adj" fmla="val 497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Modelagem e comportamento</a:t>
            </a:r>
            <a:r>
              <a:rPr lang="en-US" sz="1000" dirty="0">
                <a:solidFill>
                  <a:srgbClr val="D1EFFF"/>
                </a:solidFill>
              </a:rPr>
              <a:t>  CDS + BDEF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Exposição</a:t>
            </a:r>
            <a:r>
              <a:rPr lang="en-US" sz="1000" dirty="0">
                <a:solidFill>
                  <a:srgbClr val="D1EFFF"/>
                </a:solidFill>
              </a:rPr>
              <a:t>  service definition e binding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Consumo</a:t>
            </a:r>
            <a:r>
              <a:rPr lang="en-US" sz="1000" dirty="0">
                <a:solidFill>
                  <a:srgbClr val="D1EFFF"/>
                </a:solidFill>
              </a:rPr>
              <a:t>  Fiori, API, EML</a:t>
            </a:r>
            <a:endParaRPr lang="en-US" sz="14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ARQUITETURA · TRÊS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modelo de dados ao consumidor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Modelagem e comportamento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Tabelas, CDS view entities, behavior definition e behavior pool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4561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4383938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475378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Exposição do serviço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Projeção, service definition e service binding (OData)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80909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0" name="Shape 8"/>
          <p:cNvSpPr/>
          <p:nvPr/>
        </p:nvSpPr>
        <p:spPr>
          <a:xfrm>
            <a:off x="8219237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30914C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10677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56F3A"/>
                </a:solidFill>
              </a:rPr>
              <a:t>Consumo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App SAP Fiori Elements, Web API ou EML em código ABAP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1520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RESTful e stateless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servidor ABAP atua como um servidor web sem estado; o estado da sessão pode ir para o banco (rascunhos).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0148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9302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393028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OData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protocolo REST usado entre o app e o serviço, com metadados que o Fiori Elements interpreta.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2968" y="2084832"/>
            <a:ext cx="365760" cy="36576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669" y="2084832"/>
            <a:ext cx="365760" cy="365760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542" y="3928994"/>
            <a:ext cx="225308" cy="225308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48266" y="2084832"/>
            <a:ext cx="365760" cy="3657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ARQUITETURA · OBJETOS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o gerador cria a partir de uma tabela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026664"/>
          </a:xfrm>
          <a:prstGeom prst="roundRect">
            <a:avLst>
              <a:gd name="adj" fmla="val 302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462430"/>
                <a:gridCol w="2596823"/>
                <a:gridCol w="4760842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Objeto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Camada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Papel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CDS view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Z_R_…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+ behavior definition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Modelo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 business object: dados e comportamento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Behavior pool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ZBP_R_…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Modelo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Classe com a lógica de negócio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Projection view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Z_C_…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+ BDEF de projeção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Exposição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 recorte do BO para este serviço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Metadata extension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Exposição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Anotações de UI separadas da view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Service definition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Exposição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Quais entidades o serviço oferece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Service binding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Exposição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Protocolo (OData V4, UI) e publicação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85546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85546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Gerador  </a:t>
            </a:r>
            <a:r>
              <a:rPr lang="en-US" sz="1200" dirty="0">
                <a:solidFill>
                  <a:srgbClr val="1D2D3E"/>
                </a:solidFill>
              </a:rPr>
              <a:t>no ADT, botão direito na tabela → </a:t>
            </a:r>
            <a:r>
              <a:rPr lang="en-US" sz="1200" b="1" dirty="0">
                <a:solidFill>
                  <a:srgbClr val="1D2D3E"/>
                </a:solidFill>
              </a:rPr>
              <a:t>Generate ABAP Repository Objects</a:t>
            </a:r>
            <a:r>
              <a:rPr lang="en-US" sz="1200" dirty="0">
                <a:solidFill>
                  <a:srgbClr val="1D2D3E"/>
                </a:solidFill>
              </a:rPr>
              <a:t> → </a:t>
            </a:r>
            <a:r>
              <a:rPr lang="en-US" sz="1200" i="1" dirty="0">
                <a:solidFill>
                  <a:srgbClr val="1D2D3E"/>
                </a:solidFill>
              </a:rPr>
              <a:t>OData UI Service</a:t>
            </a:r>
            <a:r>
              <a:rPr lang="en-US" sz="1200" dirty="0">
                <a:solidFill>
                  <a:srgbClr val="1D2D3E"/>
                </a:solidFill>
              </a:rPr>
              <a:t>. Depois, publique o binding e use a </a:t>
            </a:r>
            <a:r>
              <a:rPr lang="en-US" sz="1200" b="1" dirty="0">
                <a:solidFill>
                  <a:srgbClr val="1D2D3E"/>
                </a:solidFill>
              </a:rPr>
              <a:t>Preview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98348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01.08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 banco de dados ao serviço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ponto de partida é uma tabela com </a:t>
            </a:r>
            <a:r>
              <a:rPr lang="en-US" sz="1600" b="1" dirty="0">
                <a:solidFill>
                  <a:srgbClr val="D1EFFF"/>
                </a:solidFill>
              </a:rPr>
              <a:t>chave UUID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campos administrativos</a:t>
            </a:r>
            <a:r>
              <a:rPr lang="en-US" sz="1600" dirty="0">
                <a:solidFill>
                  <a:srgbClr val="D1EFFF"/>
                </a:solidFill>
              </a:rPr>
              <a:t>, que o RAP usa para controle de concorrência.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+ uuid</a:t>
            </a:r>
            <a:r>
              <a:rPr lang="en-US" sz="1000" dirty="0">
                <a:solidFill>
                  <a:srgbClr val="D1EFFF"/>
                </a:solidFill>
              </a:rPr>
              <a:t>  chave técnica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 · …_at</a:t>
            </a:r>
            <a:r>
              <a:rPr lang="en-US" sz="1000" dirty="0">
                <a:solidFill>
                  <a:srgbClr val="D1EFFF"/>
                </a:solidFill>
              </a:rPr>
              <a:t>  auditoria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local_last_changed_at</a:t>
            </a:r>
            <a:r>
              <a:rPr lang="en-US" sz="1000" dirty="0">
                <a:solidFill>
                  <a:srgbClr val="D1EFFF"/>
                </a:solidFill>
              </a:rPr>
              <a:t>  ETag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elements</a:t>
            </a:r>
            <a:r>
              <a:rPr lang="en-US" sz="1000" dirty="0">
                <a:solidFill>
                  <a:srgbClr val="D1EFFF"/>
                </a:solidFill>
              </a:rPr>
              <a:t>  rótulos da UI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DADOS · A TABELA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Chave técnica e campos administrativos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99796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99796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150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zta_pc_item.tabl.abap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ZAVBS_PC_ESTOQUE › ZTA_PC_ITEM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'Tabela de Item'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@AbapCatalog.tableCategory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#TRANSPARENT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@AbapCatalog.deliveryClass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clnt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item_uuid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qtde_estoque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int4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abp_creation_user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abp_creation_tstmpl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last_changed_by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abp_lastchange_user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last_changed_at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abp_lastchange_tstmpl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local_last_changed_at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abp_locinst_lastchange_tstmpl</a:t>
            </a: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 técnica que o runtime pode preencher sozinho ao criar.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Chave semântica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SKU também deve ser único: isso exige uma validação.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Campos administrativos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Quem e quando criou ou alterou; os tipos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abp_*</a:t>
            </a:r>
            <a:r>
              <a:rPr lang="en-US" sz="1050" dirty="0">
                <a:solidFill>
                  <a:srgbClr val="556B82"/>
                </a:solidFill>
              </a:rPr>
              <a:t> os identificam para o runtime.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Moeda e preço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Na tabela completa,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preco_unitario</a:t>
            </a:r>
            <a:r>
              <a:rPr lang="en-US" sz="1050" dirty="0">
                <a:solidFill>
                  <a:srgbClr val="556B82"/>
                </a:solidFill>
              </a:rPr>
              <a:t> aponta para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r>
              <a:rPr lang="en-US" sz="1050" dirty="0">
                <a:solidFill>
                  <a:srgbClr val="556B82"/>
                </a:solidFill>
              </a:rPr>
              <a:t> com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DADOS · CONCORRÊNCIA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Como o RAP evita conflitos sem sessão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Bloqueios exclusivos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Enquanto um usuário edita, o registro fica bloqueado para os demais.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ETag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Um campo que muda a cada alteração. Se o valor lido não bate com o atual, alguém mudou o dado no meio do caminho.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73456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9357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53923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Timestamps como ETag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local_last_changed_at</a:t>
            </a:r>
            <a:r>
              <a:rPr lang="en-US" sz="1300" dirty="0">
                <a:solidFill>
                  <a:srgbClr val="556B82"/>
                </a:solidFill>
              </a:rPr>
              <a:t> e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last_changed_at</a:t>
            </a:r>
            <a:r>
              <a:rPr lang="en-US" sz="1300" dirty="0">
                <a:solidFill>
                  <a:srgbClr val="556B82"/>
                </a:solidFill>
              </a:rPr>
              <a:t> são ótimos ETags: mudam sempre que o registro é gravado.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036316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9069" y="3036316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303631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01.08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Lógica de negócio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Regras que o modelo não garante sozinho viram </a:t>
            </a:r>
            <a:r>
              <a:rPr lang="en-US" sz="1600" b="1" dirty="0">
                <a:solidFill>
                  <a:srgbClr val="D1EFFF"/>
                </a:solidFill>
              </a:rPr>
              <a:t>validações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determinações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ações</a:t>
            </a:r>
            <a:r>
              <a:rPr lang="en-US" sz="1600" dirty="0">
                <a:solidFill>
                  <a:srgbClr val="D1EFFF"/>
                </a:solidFill>
              </a:rPr>
              <a:t> declaradas na behavior definition.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… on save</a:t>
            </a:r>
            <a:r>
              <a:rPr lang="en-US" sz="1000" dirty="0">
                <a:solidFill>
                  <a:srgbClr val="D1EFFF"/>
                </a:solidFill>
              </a:rPr>
              <a:t>  declaração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VALIDATE ON SAVE</a:t>
            </a:r>
            <a:r>
              <a:rPr lang="en-US" sz="1000" dirty="0">
                <a:solidFill>
                  <a:srgbClr val="D1EFFF"/>
                </a:solidFill>
              </a:rPr>
              <a:t>  método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LOCAL MODE</a:t>
            </a:r>
            <a:r>
              <a:rPr lang="en-US" sz="1000" dirty="0">
                <a:solidFill>
                  <a:srgbClr val="D1EFFF"/>
                </a:solidFill>
              </a:rPr>
              <a:t>  EML interna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 · reported</a:t>
            </a:r>
            <a:r>
              <a:rPr lang="en-US" sz="1000" dirty="0">
                <a:solidFill>
                  <a:srgbClr val="D1EFFF"/>
                </a:solidFill>
              </a:rPr>
              <a:t>  rejeitar com mensagem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COMPORTAMENTO · DECLARAÇÃO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 validação na behavior definition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1531620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1531620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3487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zr_pc_item.bdef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ZAVBS_PC_ESTOQUE › ZR_PC_ITEM (simplificada)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zbp_r_pc_item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persistent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zta_pc_item_d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LocalLastChangedAt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LastChangedAt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authorization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master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precheck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numbering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managed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readonly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ValidarSkuUnico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mapping for zta_pc_item …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numbering : managed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runtime gera o UUID ao criar a instância.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 master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o campo usado como ETag.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save { create; field Sku; }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validação roda ao gravar instâncias novas ou quando o SKU muda.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Quick fix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Ctrl+1</a:t>
            </a:r>
            <a:r>
              <a:rPr lang="en-US" sz="1050" dirty="0">
                <a:solidFill>
                  <a:srgbClr val="556B82"/>
                </a:solidFill>
              </a:rPr>
              <a:t> cria o método no behavior pool.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COMPORTAMENTO · IMPLEMENTAÇÃO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Rejeitar a gravação com uma mensagem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300837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300837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zbp_r_pc_item.clas.locals_imp.abap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ZBP_R_PC_ITEM › Local Types › lhc_item (simplificado)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90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ValidarSkuUnico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ENTITIES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CORRESPONDING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lt_itens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lt_itens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ls_item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zta_pc_item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ls_item-Sku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item_uuid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ls_item-ItemUUID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lv_duplicado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lv_duplicado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abap_true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ls_item-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failed-item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tky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ls_item-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tky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zcx_pc_msg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textid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zif_pc_msg=&gt;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item_sku_duplicado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element-Sku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if_abap_behv=&gt;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mk-on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reported-item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CLEAR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lv_duplicado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ENDLOOP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ENDMETHOD</a:t>
            </a:r>
            <a:r>
              <a:rPr lang="en-US" sz="90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As chaves das instâncias criadas ou alteradas.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LOCAL MODE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EML dentro do próprio BO, sem checar autorização nem controle de campo.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Marca a instância como inválida: a gravação é recusada.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r>
              <a:rPr lang="en-US" sz="1250" b="1" dirty="0">
                <a:solidFill>
                  <a:srgbClr val="1D2D3E"/>
                </a:solidFill>
              </a:rPr>
              <a:t> + </a:t>
            </a: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%msg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Mensagem 010 da message class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ZPC_MSG</a:t>
            </a:r>
            <a:r>
              <a:rPr lang="en-US" sz="1050" dirty="0">
                <a:solidFill>
                  <a:srgbClr val="556B82"/>
                </a:solidFill>
              </a:rPr>
              <a:t>, via a classe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ZCX_PC_MSG</a:t>
            </a:r>
            <a:r>
              <a:rPr lang="en-US" sz="1050" dirty="0">
                <a:solidFill>
                  <a:srgbClr val="556B82"/>
                </a:solidFill>
              </a:rPr>
              <a:t>;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%element</a:t>
            </a:r>
            <a:r>
              <a:rPr lang="en-US" sz="1050" dirty="0">
                <a:solidFill>
                  <a:srgbClr val="556B82"/>
                </a:solidFill>
              </a:rPr>
              <a:t> destaca o campo SKU.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COMPORTAMENTO · TRÊS TIPOS DE LÓGICA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Validação, determinação e 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Validation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Confere a consistência ao gravar e recusa dados inválidos com mensagem. Ex.: SKU duplicado ou quantidade negativa.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Determination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Calcula ou completa valores quando algo muda (</a:t>
            </a:r>
            <a:r>
              <a:rPr lang="en-US" sz="1300" i="1" dirty="0">
                <a:solidFill>
                  <a:srgbClr val="556B82"/>
                </a:solidFill>
              </a:rPr>
              <a:t>on modify</a:t>
            </a:r>
            <a:r>
              <a:rPr lang="en-US" sz="1300" dirty="0">
                <a:solidFill>
                  <a:srgbClr val="556B82"/>
                </a:solidFill>
              </a:rPr>
              <a:t>) ou ao gravar (</a:t>
            </a:r>
            <a:r>
              <a:rPr lang="en-US" sz="1300" i="1" dirty="0">
                <a:solidFill>
                  <a:srgbClr val="556B82"/>
                </a:solidFill>
              </a:rPr>
              <a:t>on save</a:t>
            </a:r>
            <a:r>
              <a:rPr lang="en-US" sz="1300" dirty="0">
                <a:solidFill>
                  <a:srgbClr val="556B82"/>
                </a:solidFill>
              </a:rPr>
              <a:t>). Ex.: status inicial do pedido.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359660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56082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164332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Action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Operação de negócio chamada pelo usuário ou por EML. Ex.: aprovar ou cancelar um pedido.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915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8915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Mensagens  </a:t>
            </a:r>
            <a:r>
              <a:rPr lang="en-US" sz="1200" dirty="0">
                <a:solidFill>
                  <a:srgbClr val="1D2D3E"/>
                </a:solidFill>
              </a:rPr>
              <a:t>os textos ficam em uma </a:t>
            </a:r>
            <a:r>
              <a:rPr lang="en-US" sz="1200" b="1" dirty="0">
                <a:solidFill>
                  <a:srgbClr val="1D2D3E"/>
                </a:solidFill>
              </a:rPr>
              <a:t>message class</a:t>
            </a:r>
            <a:r>
              <a:rPr lang="en-US" sz="1200" dirty="0">
                <a:solidFill>
                  <a:srgbClr val="1D2D3E"/>
                </a:solidFill>
              </a:rPr>
              <a:t> (até 1000 mensagens numeradas), traduzíveis e com placeholders.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9069" y="2661412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5019548"/>
            <a:ext cx="310896" cy="310896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2661412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" y="266141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01.08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Melhorando a experiência do usuário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app Fiori Elements é guiado por metadados: a </a:t>
            </a:r>
            <a:r>
              <a:rPr lang="en-US" sz="1600" b="1" dirty="0">
                <a:solidFill>
                  <a:srgbClr val="D1EFFF"/>
                </a:solidFill>
              </a:rPr>
              <a:t>projeção</a:t>
            </a:r>
            <a:r>
              <a:rPr lang="en-US" sz="1600" dirty="0">
                <a:solidFill>
                  <a:srgbClr val="D1EFFF"/>
                </a:solidFill>
              </a:rPr>
              <a:t> decide o que é permitido e a </a:t>
            </a:r>
            <a:r>
              <a:rPr lang="en-US" sz="1600" b="1" dirty="0">
                <a:solidFill>
                  <a:srgbClr val="D1EFFF"/>
                </a:solidFill>
              </a:rPr>
              <a:t>metadata extension</a:t>
            </a:r>
            <a:r>
              <a:rPr lang="en-US" sz="1600" dirty="0">
                <a:solidFill>
                  <a:srgbClr val="D1EFFF"/>
                </a:solidFill>
              </a:rPr>
              <a:t>, como aparece.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create · use delete</a:t>
            </a:r>
            <a:r>
              <a:rPr lang="en-US" sz="1000" dirty="0">
                <a:solidFill>
                  <a:srgbClr val="D1EFFF"/>
                </a:solidFill>
              </a:rPr>
              <a:t>  operações do serviço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( readonly )</a:t>
            </a:r>
            <a:r>
              <a:rPr lang="en-US" sz="1000" dirty="0">
                <a:solidFill>
                  <a:srgbClr val="D1EFFF"/>
                </a:solidFill>
              </a:rPr>
              <a:t>  controle de campo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000" dirty="0">
                <a:solidFill>
                  <a:srgbClr val="D1EFFF"/>
                </a:solidFill>
              </a:rPr>
              <a:t>  lista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@UI.identification</a:t>
            </a:r>
            <a:r>
              <a:rPr lang="en-US" sz="1000" dirty="0">
                <a:solidFill>
                  <a:srgbClr val="D1EFFF"/>
                </a:solidFill>
              </a:rPr>
              <a:t>  Object Page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UI · PROJEÇÃO E ANOTAÇÕES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o serviço permite e como a tela mostra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860243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86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Behavior definition da projeção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3291840"/>
          </a:xfrm>
          <a:prstGeom prst="roundRect">
            <a:avLst>
              <a:gd name="adj" fmla="val 222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184251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184251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zc_pc_item_app.bdef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draft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ZC_PC_ITEM_APP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alias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etag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use delete;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541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Comentar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delete</a:t>
            </a:r>
            <a:r>
              <a:rPr lang="en-US" sz="1200" dirty="0">
                <a:solidFill>
                  <a:srgbClr val="556B82"/>
                </a:solidFill>
              </a:rPr>
              <a:t> tira o botão </a:t>
            </a:r>
            <a:r>
              <a:rPr lang="en-US" sz="1200" b="1" dirty="0">
                <a:solidFill>
                  <a:srgbClr val="556B82"/>
                </a:solidFill>
              </a:rPr>
              <a:t>Excluir</a:t>
            </a:r>
            <a:r>
              <a:rPr lang="en-US" sz="1200" dirty="0">
                <a:solidFill>
                  <a:srgbClr val="556B82"/>
                </a:solidFill>
              </a:rPr>
              <a:t> só deste app; o business object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ZR_PC_ITEM</a:t>
            </a:r>
            <a:r>
              <a:rPr lang="en-US" sz="1200" dirty="0">
                <a:solidFill>
                  <a:srgbClr val="556B82"/>
                </a:solidFill>
              </a:rPr>
              <a:t> continua permitindo.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181417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18141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Metadata extension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3291840"/>
          </a:xfrm>
          <a:prstGeom prst="roundRect">
            <a:avLst>
              <a:gd name="adj" fmla="val 2222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84251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84251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6596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zc_pc_item_app.ddlx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@Metadata.layer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#CORE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ZC_PC_ITEM_APP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'SKU'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Sku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@UI.selectionField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@UI.hidden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ItemUUID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5440680"/>
            <a:ext cx="541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200" dirty="0">
                <a:solidFill>
                  <a:srgbClr val="556B82"/>
                </a:solidFill>
              </a:rPr>
              <a:t> posiciona colunas na lista,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identification</a:t>
            </a:r>
            <a:r>
              <a:rPr lang="en-US" sz="1200" dirty="0">
                <a:solidFill>
                  <a:srgbClr val="556B82"/>
                </a:solidFill>
              </a:rPr>
              <a:t> campos na Object Page,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</a:t>
            </a:r>
            <a:r>
              <a:rPr lang="en-US" sz="1200" dirty="0">
                <a:solidFill>
                  <a:srgbClr val="556B82"/>
                </a:solidFill>
              </a:rPr>
              <a:t> filtros 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hidden</a:t>
            </a:r>
            <a:r>
              <a:rPr lang="en-US" sz="1200" dirty="0">
                <a:solidFill>
                  <a:srgbClr val="556B82"/>
                </a:solidFill>
              </a:rPr>
              <a:t> esconde.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01.08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RAP</a:t>
            </a:r>
            <a:r>
              <a:rPr lang="en-US" sz="1400" dirty="0">
                <a:solidFill>
                  <a:srgbClr val="FFFFFF"/>
                </a:solidFill>
              </a:rPr>
              <a:t> organiza o desenvolvimento em modelagem/comportamento, exposição e consumo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gerador cria do business object ao </a:t>
            </a:r>
            <a:r>
              <a:rPr lang="en-US" sz="1400" b="1" dirty="0">
                <a:solidFill>
                  <a:srgbClr val="FFFFFF"/>
                </a:solidFill>
              </a:rPr>
              <a:t>service binding</a:t>
            </a:r>
            <a:r>
              <a:rPr lang="en-US" sz="1400" dirty="0">
                <a:solidFill>
                  <a:srgbClr val="FFFFFF"/>
                </a:solidFill>
              </a:rPr>
              <a:t> a partir de uma tabela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Chave </a:t>
            </a:r>
            <a:r>
              <a:rPr lang="en-US" sz="1400" b="1" dirty="0">
                <a:solidFill>
                  <a:srgbClr val="FFFFFF"/>
                </a:solidFill>
              </a:rPr>
              <a:t>UUID</a:t>
            </a:r>
            <a:r>
              <a:rPr lang="en-US" sz="1400" dirty="0">
                <a:solidFill>
                  <a:srgbClr val="FFFFFF"/>
                </a:solidFill>
              </a:rPr>
              <a:t>, campos administrativos e </a:t>
            </a:r>
            <a:r>
              <a:rPr lang="en-US" sz="1400" b="1" dirty="0">
                <a:solidFill>
                  <a:srgbClr val="FFFFFF"/>
                </a:solidFill>
              </a:rPr>
              <a:t>ETag</a:t>
            </a:r>
            <a:r>
              <a:rPr lang="en-US" sz="1400" dirty="0">
                <a:solidFill>
                  <a:srgbClr val="FFFFFF"/>
                </a:solidFill>
              </a:rPr>
              <a:t> sustentam a concorrência stateless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Validações</a:t>
            </a:r>
            <a:r>
              <a:rPr lang="en-US" sz="1400" dirty="0">
                <a:solidFill>
                  <a:srgbClr val="FFFFFF"/>
                </a:solidFill>
              </a:rPr>
              <a:t> usam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VALIDATE ON SAVE</a:t>
            </a:r>
            <a:r>
              <a:rPr lang="en-US" sz="1400" dirty="0">
                <a:solidFill>
                  <a:srgbClr val="FFFFFF"/>
                </a:solidFill>
              </a:rPr>
              <a:t>, EML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LOCAL MODE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failed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Determinações calculam valores; </a:t>
            </a:r>
            <a:r>
              <a:rPr lang="en-US" sz="1400" b="1" dirty="0">
                <a:solidFill>
                  <a:srgbClr val="FFFFFF"/>
                </a:solidFill>
              </a:rPr>
              <a:t>ações</a:t>
            </a:r>
            <a:r>
              <a:rPr lang="en-US" sz="1400" dirty="0">
                <a:solidFill>
                  <a:srgbClr val="FFFFFF"/>
                </a:solidFill>
              </a:rPr>
              <a:t> expõem operações de negócio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 </a:t>
            </a:r>
            <a:r>
              <a:rPr lang="en-US" sz="1400" b="1" dirty="0">
                <a:solidFill>
                  <a:srgbClr val="FFFFFF"/>
                </a:solidFill>
              </a:rPr>
              <a:t>projeção</a:t>
            </a:r>
            <a:r>
              <a:rPr lang="en-US" sz="1400" dirty="0">
                <a:solidFill>
                  <a:srgbClr val="FFFFFF"/>
                </a:solidFill>
              </a:rPr>
              <a:t> limita operações e campos; a </a:t>
            </a:r>
            <a:r>
              <a:rPr lang="en-US" sz="1400" b="1" dirty="0">
                <a:solidFill>
                  <a:srgbClr val="FFFFFF"/>
                </a:solidFill>
              </a:rPr>
              <a:t>metadata extension</a:t>
            </a:r>
            <a:r>
              <a:rPr lang="en-US" sz="1400" dirty="0">
                <a:solidFill>
                  <a:srgbClr val="FFFFFF"/>
                </a:solidFill>
              </a:rPr>
              <a:t> organiza a tela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etapa  </a:t>
            </a:r>
            <a:r>
              <a:rPr lang="en-US" sz="1500" dirty="0">
                <a:solidFill>
                  <a:srgbClr val="FFFFFF"/>
                </a:solidFill>
              </a:rPr>
              <a:t>Módulo 02: Programação ABAP intermediária (S4D401), o próximo curso da jornada.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01.08 O modelo de programação ABAP RESTful (RAP)</dc:title>
  <dc:subject>ABAP Moderno – Módulo 01: Fundamentos do ABAP Moderno</dc:subject>
  <dc:creator>Adriano Bispo</dc:creator>
  <cp:lastModifiedBy>Adriano Bispo</cp:lastModifiedBy>
  <cp:revision>1</cp:revision>
  <dcterms:created xsi:type="dcterms:W3CDTF">2026-10-29T13:18:32Z</dcterms:created>
  <dcterms:modified xsi:type="dcterms:W3CDTF">2026-10-29T13:18:32Z</dcterms:modified>
</cp:coreProperties>
</file>