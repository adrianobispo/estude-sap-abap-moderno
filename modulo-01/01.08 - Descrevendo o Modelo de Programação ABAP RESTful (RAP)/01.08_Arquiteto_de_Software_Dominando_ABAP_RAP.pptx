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3C7"/>
                </a:solidFill>
              </a:rPr>
              <a:t>ABAP Moderno · Módulo 01 — Fundamentos do ABAP Moderno  ·  Aula 8 de 8 — Modelo RAP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rgbClr val="0064D9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D2D3E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473952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ABAP Moderno · Módulo 01 — Fundamentos do ABAP Moderno  ·  Aula 8 de 8 — Modelo RAP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4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MÓDULO 01 · AULA 08 DE 08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O modelo de programação ABAP RESTful (RAP)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9476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D1EFFF"/>
                </a:solidFill>
              </a:rPr>
              <a:t>As camadas do RAP, do banco de dados ao serviço OData, a lógica de negócio com validações e os ajustes de UI.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183880" y="1325880"/>
            <a:ext cx="3246120" cy="3246120"/>
          </a:xfrm>
          <a:prstGeom prst="roundRect">
            <a:avLst>
              <a:gd name="adj" fmla="val 15493"/>
            </a:avLst>
          </a:prstGeom>
          <a:solidFill>
            <a:srgbClr val="1B3A7A"/>
          </a:solidFill>
          <a:ln/>
        </p:spPr>
      </p:sp>
      <p:sp>
        <p:nvSpPr>
          <p:cNvPr id="6" name="Shape 4"/>
          <p:cNvSpPr/>
          <p:nvPr/>
        </p:nvSpPr>
        <p:spPr>
          <a:xfrm>
            <a:off x="8732520" y="1874520"/>
            <a:ext cx="2148840" cy="2148840"/>
          </a:xfrm>
          <a:prstGeom prst="roundRect">
            <a:avLst>
              <a:gd name="adj" fmla="val 17021"/>
            </a:avLst>
          </a:prstGeom>
          <a:solidFill>
            <a:srgbClr val="0070F2"/>
          </a:solidFill>
          <a:ln/>
        </p:spPr>
      </p:sp>
      <p:sp>
        <p:nvSpPr>
          <p:cNvPr id="7" name="Shape 5"/>
          <p:cNvSpPr/>
          <p:nvPr/>
        </p:nvSpPr>
        <p:spPr>
          <a:xfrm>
            <a:off x="8183880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8" name="Shape 6"/>
          <p:cNvSpPr/>
          <p:nvPr/>
        </p:nvSpPr>
        <p:spPr>
          <a:xfrm>
            <a:off x="8601075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9" name="Shape 7"/>
          <p:cNvSpPr/>
          <p:nvPr/>
        </p:nvSpPr>
        <p:spPr>
          <a:xfrm>
            <a:off x="9018270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0" name="Shape 8"/>
          <p:cNvSpPr/>
          <p:nvPr/>
        </p:nvSpPr>
        <p:spPr>
          <a:xfrm>
            <a:off x="9435465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1" name="Shape 9"/>
          <p:cNvSpPr/>
          <p:nvPr/>
        </p:nvSpPr>
        <p:spPr>
          <a:xfrm>
            <a:off x="9852660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69855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87050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2E5299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04245" y="4937760"/>
            <a:ext cx="325755" cy="82296"/>
          </a:xfrm>
          <a:prstGeom prst="roundRect">
            <a:avLst>
              <a:gd name="adj" fmla="val 44444"/>
            </a:avLst>
          </a:prstGeom>
          <a:solidFill>
            <a:srgbClr val="89D1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183880" y="51206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Aula 8 de 8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989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A3C7"/>
                </a:solidFill>
              </a:rPr>
              <a:t>ABAP Moderno · Módulo 01 — Fundamentos do ABAP Moderno · Design System SAP Horizon</a:t>
            </a:r>
            <a:endParaRPr lang="en-US" sz="11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0" y="2468880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 SÉRIE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Módulo 01 em 8 aulas: Fundamentos do ABAP Moderno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1</a:t>
            </a:r>
            <a:endParaRPr lang="en-US" sz="126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Iniciando a jornada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ADT, ABAP Cloud, pacotes e o primeiro programa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67964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32556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3255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2</a:t>
            </a:r>
            <a:endParaRPr lang="en-US" sz="1260" dirty="0"/>
          </a:p>
        </p:txBody>
      </p:sp>
      <p:sp>
        <p:nvSpPr>
          <p:cNvPr id="12" name="Text 10"/>
          <p:cNvSpPr txBox="1"/>
          <p:nvPr/>
        </p:nvSpPr>
        <p:spPr>
          <a:xfrm>
            <a:off x="3532556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Técnicas básicas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532556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Dados, expressões, controle de fluxo e debugger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7288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51880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51880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3</a:t>
            </a:r>
            <a:endParaRPr lang="en-US" sz="1260" dirty="0"/>
          </a:p>
        </p:txBody>
      </p:sp>
      <p:sp>
        <p:nvSpPr>
          <p:cNvPr id="17" name="Text 15"/>
          <p:cNvSpPr txBox="1"/>
          <p:nvPr/>
        </p:nvSpPr>
        <p:spPr>
          <a:xfrm>
            <a:off x="6351880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Classes locais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351880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Definição, instâncias, métodos e encapsulamento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006611" y="164592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71203" y="182880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71203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4</a:t>
            </a:r>
            <a:endParaRPr lang="en-US" sz="1260" dirty="0"/>
          </a:p>
        </p:txBody>
      </p:sp>
      <p:sp>
        <p:nvSpPr>
          <p:cNvPr id="22" name="Text 20"/>
          <p:cNvSpPr txBox="1"/>
          <p:nvPr/>
        </p:nvSpPr>
        <p:spPr>
          <a:xfrm>
            <a:off x="9171203" y="233172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Lendo dados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171203" y="278892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SELECT moderno, host variables e CDS views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13232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5</a:t>
            </a:r>
            <a:endParaRPr lang="en-US" sz="1260" dirty="0"/>
          </a:p>
        </p:txBody>
      </p:sp>
      <p:sp>
        <p:nvSpPr>
          <p:cNvPr id="27" name="Text 25"/>
          <p:cNvSpPr txBox="1"/>
          <p:nvPr/>
        </p:nvSpPr>
        <p:spPr>
          <a:xfrm>
            <a:off x="713232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Dados estruturados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713232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Estruturas, CORRESPONDING e tipos profundos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367964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532556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532556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6</a:t>
            </a:r>
            <a:endParaRPr lang="en-US" sz="1260" dirty="0"/>
          </a:p>
        </p:txBody>
      </p:sp>
      <p:sp>
        <p:nvSpPr>
          <p:cNvPr id="32" name="Text 30"/>
          <p:cNvSpPr txBox="1"/>
          <p:nvPr/>
        </p:nvSpPr>
        <p:spPr>
          <a:xfrm>
            <a:off x="3532556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Tabelas internas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3532556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Tipos de tabela, chaves e expressões de tabela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187288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351880" y="3840480"/>
            <a:ext cx="384048" cy="384048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35188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0064D9"/>
                </a:solidFill>
              </a:rPr>
              <a:t>7</a:t>
            </a:r>
            <a:endParaRPr lang="en-US" sz="1260" dirty="0"/>
          </a:p>
        </p:txBody>
      </p:sp>
      <p:sp>
        <p:nvSpPr>
          <p:cNvPr id="37" name="Text 35"/>
          <p:cNvSpPr txBox="1"/>
          <p:nvPr/>
        </p:nvSpPr>
        <p:spPr>
          <a:xfrm>
            <a:off x="6351880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Business Objects</a:t>
            </a:r>
            <a:endParaRPr lang="en-US" sz="1350" dirty="0"/>
          </a:p>
        </p:txBody>
      </p:sp>
      <p:sp>
        <p:nvSpPr>
          <p:cNvPr id="38" name="Text 36"/>
          <p:cNvSpPr txBox="1"/>
          <p:nvPr/>
        </p:nvSpPr>
        <p:spPr>
          <a:xfrm>
            <a:off x="6351880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EML: ler, criar e alterar via RAP BO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9006611" y="3657600"/>
            <a:ext cx="2636444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9171203" y="384048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171203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60" b="1" dirty="0">
                <a:solidFill>
                  <a:srgbClr val="FFFFFF"/>
                </a:solidFill>
              </a:rPr>
              <a:t>8</a:t>
            </a:r>
            <a:endParaRPr lang="en-US" sz="1260" dirty="0"/>
          </a:p>
        </p:txBody>
      </p:sp>
      <p:sp>
        <p:nvSpPr>
          <p:cNvPr id="42" name="Text 40"/>
          <p:cNvSpPr txBox="1"/>
          <p:nvPr/>
        </p:nvSpPr>
        <p:spPr>
          <a:xfrm>
            <a:off x="9171203" y="4343400"/>
            <a:ext cx="23072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D2D3E"/>
                </a:solidFill>
              </a:rPr>
              <a:t>Modelo RAP</a:t>
            </a:r>
            <a:endParaRPr lang="en-US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9171203" y="4800600"/>
            <a:ext cx="23072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Camadas, managed x unmanaged e o ciclo completo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9646691" y="3904488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9646691" y="39044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4D9"/>
                </a:solidFill>
              </a:rPr>
              <a:t>Você está aqui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48640" y="5623560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207008" y="5623560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Nesta aula  </a:t>
            </a:r>
            <a:r>
              <a:rPr lang="en-US" sz="1200" dirty="0">
                <a:solidFill>
                  <a:srgbClr val="1D2D3E"/>
                </a:solidFill>
              </a:rPr>
              <a:t>geramos um serviço OData de UI para conexões de voo, garantimos a chave semântica com uma validação e ajustamos o app Fiori.</a:t>
            </a:r>
            <a:endParaRPr lang="en-US" sz="1400" dirty="0"/>
          </a:p>
        </p:txBody>
      </p:sp>
      <p:pic>
        <p:nvPicPr>
          <p:cNvPr id="4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6444" y="1847088"/>
            <a:ext cx="347472" cy="347472"/>
          </a:xfrm>
          <a:prstGeom prst="rect">
            <a:avLst/>
          </a:prstGeom>
        </p:spPr>
      </p:pic>
      <p:pic>
        <p:nvPicPr>
          <p:cNvPr id="4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768" y="1847088"/>
            <a:ext cx="347472" cy="347472"/>
          </a:xfrm>
          <a:prstGeom prst="rect">
            <a:avLst/>
          </a:prstGeom>
        </p:spPr>
      </p:pic>
      <p:pic>
        <p:nvPicPr>
          <p:cNvPr id="5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091" y="1847088"/>
            <a:ext cx="347472" cy="347472"/>
          </a:xfrm>
          <a:prstGeom prst="rect">
            <a:avLst/>
          </a:prstGeom>
        </p:spPr>
      </p:pic>
      <p:pic>
        <p:nvPicPr>
          <p:cNvPr id="5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4415" y="1847088"/>
            <a:ext cx="347472" cy="347472"/>
          </a:xfrm>
          <a:prstGeom prst="rect">
            <a:avLst/>
          </a:prstGeom>
        </p:spPr>
      </p:pic>
      <p:pic>
        <p:nvPicPr>
          <p:cNvPr id="5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6444" y="3858768"/>
            <a:ext cx="347472" cy="347472"/>
          </a:xfrm>
          <a:prstGeom prst="rect">
            <a:avLst/>
          </a:prstGeom>
        </p:spPr>
      </p:pic>
      <p:pic>
        <p:nvPicPr>
          <p:cNvPr id="5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5768" y="3858768"/>
            <a:ext cx="347472" cy="347472"/>
          </a:xfrm>
          <a:prstGeom prst="rect">
            <a:avLst/>
          </a:prstGeom>
        </p:spPr>
      </p:pic>
      <p:pic>
        <p:nvPicPr>
          <p:cNvPr id="5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5091" y="3858768"/>
            <a:ext cx="347472" cy="347472"/>
          </a:xfrm>
          <a:prstGeom prst="rect">
            <a:avLst/>
          </a:prstGeom>
        </p:spPr>
      </p:pic>
      <p:pic>
        <p:nvPicPr>
          <p:cNvPr id="5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94415" y="3858768"/>
            <a:ext cx="347472" cy="347472"/>
          </a:xfrm>
          <a:prstGeom prst="rect">
            <a:avLst/>
          </a:prstGeom>
        </p:spPr>
      </p:pic>
      <p:pic>
        <p:nvPicPr>
          <p:cNvPr id="5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" y="5751576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Um modelo para apps Fiori e APIs na nuvem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057949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783080"/>
            <a:ext cx="16556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70F2"/>
                </a:solidFill>
              </a:rPr>
              <a:t>RAP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514600"/>
            <a:ext cx="16556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RESTful ABAP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o modelo para serviços e apps no ABAP Cloud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807757" y="1645920"/>
            <a:ext cx="2057949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008925" y="1783080"/>
            <a:ext cx="16556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D2D3E"/>
                </a:solidFill>
              </a:rPr>
              <a:t>CDS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008925" y="2514600"/>
            <a:ext cx="16556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Modelo de dados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views e comportamento definidos em código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66873" y="1645920"/>
            <a:ext cx="2057949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268041" y="1783080"/>
            <a:ext cx="16556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D2D3E"/>
                </a:solidFill>
              </a:rPr>
              <a:t>OData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5268041" y="2514600"/>
            <a:ext cx="16556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Protocolo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V4 para apps de UI e V2/V4 para APIs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25990" y="1645920"/>
            <a:ext cx="2057949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527158" y="1783080"/>
            <a:ext cx="16556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D2D3E"/>
                </a:solidFill>
              </a:rPr>
              <a:t>UUID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7527158" y="2514600"/>
            <a:ext cx="16556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Chave técnica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gerada pelo runtime no cenário managed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585107" y="1645920"/>
            <a:ext cx="2057949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786275" y="1783080"/>
            <a:ext cx="16556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D2D3E"/>
                </a:solidFill>
              </a:rPr>
              <a:t>ETag</a:t>
            </a:r>
            <a:endParaRPr lang="en-US" sz="3800" dirty="0"/>
          </a:p>
        </p:txBody>
      </p:sp>
      <p:sp>
        <p:nvSpPr>
          <p:cNvPr id="18" name="Text 16"/>
          <p:cNvSpPr txBox="1"/>
          <p:nvPr/>
        </p:nvSpPr>
        <p:spPr>
          <a:xfrm>
            <a:off x="9786275" y="2514600"/>
            <a:ext cx="16556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Concorrência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protege dados em um mundo stateless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3657600"/>
            <a:ext cx="11094415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2960" y="3931920"/>
            <a:ext cx="502920" cy="50292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508760" y="39776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O que o RAP entrega pronto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57200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No cenário </a:t>
            </a:r>
            <a:r>
              <a:rPr lang="en-US" sz="1200" b="1" dirty="0">
                <a:solidFill>
                  <a:srgbClr val="556B82"/>
                </a:solidFill>
              </a:rPr>
              <a:t>managed</a:t>
            </a:r>
            <a:r>
              <a:rPr lang="en-US" sz="1200" dirty="0">
                <a:solidFill>
                  <a:srgbClr val="556B82"/>
                </a:solidFill>
              </a:rPr>
              <a:t>, o runtime cuida de criar, ler, alterar, apagar, bloquear e gravar. O desenvolvedor concentra-se no que é específico do negócio: validações, determinações e ações.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858000" y="3977640"/>
            <a:ext cx="1020470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858000" y="3977640"/>
            <a:ext cx="10204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Managed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015630" y="3977640"/>
            <a:ext cx="859536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15630" y="3977640"/>
            <a:ext cx="859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Draft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012326" y="3977640"/>
            <a:ext cx="779069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012326" y="3977640"/>
            <a:ext cx="7790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ETag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9928555" y="3977640"/>
            <a:ext cx="1342339" cy="32918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928555" y="3977640"/>
            <a:ext cx="13423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3548"/>
                </a:solidFill>
              </a:rPr>
              <a:t>Validations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858000" y="4416552"/>
            <a:ext cx="1583741" cy="32918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858000" y="4416552"/>
            <a:ext cx="158374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3548"/>
                </a:solidFill>
              </a:rPr>
              <a:t>Determinations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578901" y="4416552"/>
            <a:ext cx="1020470" cy="32918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578901" y="4416552"/>
            <a:ext cx="10204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23548"/>
                </a:solidFill>
              </a:rPr>
              <a:t>Actions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736531" y="4416552"/>
            <a:ext cx="1583741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736531" y="4416552"/>
            <a:ext cx="158374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Fiori Elements</a:t>
            </a:r>
            <a:endParaRPr lang="en-US" sz="1000" dirty="0"/>
          </a:p>
        </p:txBody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3602" y="4042562"/>
            <a:ext cx="281635" cy="28163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01.08 · SEÇÃO 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A arquitetura em camadas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O RAP separa o </a:t>
            </a:r>
            <a:r>
              <a:rPr lang="en-US" sz="1600" b="1" dirty="0">
                <a:solidFill>
                  <a:srgbClr val="D1EFFF"/>
                </a:solidFill>
              </a:rPr>
              <a:t>modelo de dados e comportamento</a:t>
            </a:r>
            <a:r>
              <a:rPr lang="en-US" sz="1600" dirty="0">
                <a:solidFill>
                  <a:srgbClr val="D1EFFF"/>
                </a:solidFill>
              </a:rPr>
              <a:t>, a </a:t>
            </a:r>
            <a:r>
              <a:rPr lang="en-US" sz="1600" b="1" dirty="0">
                <a:solidFill>
                  <a:srgbClr val="D1EFFF"/>
                </a:solidFill>
              </a:rPr>
              <a:t>exposição como serviço</a:t>
            </a:r>
            <a:r>
              <a:rPr lang="en-US" sz="1600" dirty="0">
                <a:solidFill>
                  <a:srgbClr val="D1EFFF"/>
                </a:solidFill>
              </a:rPr>
              <a:t> e o </a:t>
            </a:r>
            <a:r>
              <a:rPr lang="en-US" sz="1600" b="1" dirty="0">
                <a:solidFill>
                  <a:srgbClr val="D1EFFF"/>
                </a:solidFill>
              </a:rPr>
              <a:t>consumo</a:t>
            </a:r>
            <a:r>
              <a:rPr lang="en-US" sz="1600" dirty="0">
                <a:solidFill>
                  <a:srgbClr val="D1EFFF"/>
                </a:solidFill>
              </a:rPr>
              <a:t>, cada um com seus objetos.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1837944"/>
          </a:xfrm>
          <a:prstGeom prst="roundRect">
            <a:avLst>
              <a:gd name="adj" fmla="val 497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Modelagem e comportamento</a:t>
            </a:r>
            <a:r>
              <a:rPr lang="en-US" sz="1000" dirty="0">
                <a:solidFill>
                  <a:srgbClr val="D1EFFF"/>
                </a:solidFill>
              </a:rPr>
              <a:t>  CDS + BDEF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Exposição</a:t>
            </a:r>
            <a:r>
              <a:rPr lang="en-US" sz="1000" dirty="0">
                <a:solidFill>
                  <a:srgbClr val="D1EFFF"/>
                </a:solidFill>
              </a:rPr>
              <a:t>  service definition e binding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Consumo</a:t>
            </a:r>
            <a:r>
              <a:rPr lang="en-US" sz="1000" dirty="0">
                <a:solidFill>
                  <a:srgbClr val="D1EFFF"/>
                </a:solidFill>
              </a:rPr>
              <a:t>  Fiori, API, EML</a:t>
            </a:r>
            <a:endParaRPr lang="en-US" sz="14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ARQUITETURA · TRÊS CAMADAS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Do modelo de dados ao consumidor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423818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2514600"/>
            <a:ext cx="32409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064D9"/>
                </a:solidFill>
              </a:rPr>
              <a:t>Modelagem e comportamento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Tabelas, CDS view entities, behavior definition e behavior pool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045610" y="2532888"/>
            <a:ext cx="265176" cy="237744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7" name="Shape 5"/>
          <p:cNvSpPr/>
          <p:nvPr/>
        </p:nvSpPr>
        <p:spPr>
          <a:xfrm>
            <a:off x="4383938" y="1920240"/>
            <a:ext cx="3423818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0070F2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475378" y="2514600"/>
            <a:ext cx="32409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0064D9"/>
                </a:solidFill>
              </a:rPr>
              <a:t>Exposição do serviço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Projeção, service definition e service binding (OData)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880909" y="2532888"/>
            <a:ext cx="265176" cy="237744"/>
          </a:xfrm>
          <a:prstGeom prst="rightArrow">
            <a:avLst/>
          </a:prstGeom>
          <a:solidFill>
            <a:srgbClr val="0070F2"/>
          </a:solidFill>
          <a:ln/>
        </p:spPr>
      </p:sp>
      <p:sp>
        <p:nvSpPr>
          <p:cNvPr id="10" name="Shape 8"/>
          <p:cNvSpPr/>
          <p:nvPr/>
        </p:nvSpPr>
        <p:spPr>
          <a:xfrm>
            <a:off x="8219237" y="1920240"/>
            <a:ext cx="3423818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5875">
            <a:solidFill>
              <a:srgbClr val="30914C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10677" y="2514600"/>
            <a:ext cx="32409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256F3A"/>
                </a:solidFill>
              </a:rPr>
              <a:t>Consumo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56B82"/>
                </a:solidFill>
              </a:rPr>
              <a:t>App SAP Fiori Elements, Web API ou EML em código ABAP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5432908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38404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4343400"/>
            <a:ext cx="506714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RESTful e stateless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 servidor ABAP atua como um servidor web sem estado; o estado da sessão pode ir para o banco (rascunhos).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10148" y="3657600"/>
            <a:ext cx="5432908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393028" y="3840480"/>
            <a:ext cx="402336" cy="402336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93028" y="4343400"/>
            <a:ext cx="506714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2D3E"/>
                </a:solidFill>
              </a:rPr>
              <a:t>OData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O protocolo REST usado entre o app e o serviço, com metadados que o Fiori Elements interpreta.</a:t>
            </a:r>
            <a:endParaRPr lang="en-US" sz="14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7669" y="2084832"/>
            <a:ext cx="365760" cy="365760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8266" y="2084832"/>
            <a:ext cx="365760" cy="365760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2968" y="2084832"/>
            <a:ext cx="365760" cy="365760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1542" y="3928994"/>
            <a:ext cx="225308" cy="225308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034" y="3928994"/>
            <a:ext cx="225308" cy="2253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ARQUITETURA · OBJETOS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O que o gerador cria a partir de uma tabela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3026664"/>
          </a:xfrm>
          <a:prstGeom prst="roundRect">
            <a:avLst>
              <a:gd name="adj" fmla="val 3021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83080"/>
          <a:ext cx="10820095" cy="914400"/>
        </p:xfrm>
        <a:graphic>
          <a:graphicData uri="http://schemas.openxmlformats.org/drawingml/2006/table">
            <a:tbl>
              <a:tblPr/>
              <a:tblGrid>
                <a:gridCol w="3462430"/>
                <a:gridCol w="2596823"/>
                <a:gridCol w="4760842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Objeto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Camada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Papel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D2D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CDS view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Z_R_…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 + behavior definition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Modelo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O business object: dados e comportamento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Behavior pool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ZBP_R_…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Modelo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Classe com a lógica de negócio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Projection view </a:t>
                      </a:r>
                      <a:r>
                        <a:rPr lang="en-US" sz="1100" dirty="0">
                          <a:solidFill>
                            <a:srgbClr val="0064D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Z_C_…</a:t>
                      </a: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 + BDEF de projeção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Exposição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O recorte do BO para este serviço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Metadata extension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Exposição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Anotações de UI separadas da view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Service definition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Exposição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Quais entidades o serviço oferece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Service binding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Exposição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D3E"/>
                          </a:solidFill>
                        </a:rPr>
                        <a:t>Protocolo (OData V4, UI) e publicação</a:t>
                      </a:r>
                      <a:endParaRPr lang="en-US" sz="1200" dirty="0"/>
                    </a:p>
                  </a:txBody>
                  <a:tcPr marL="101600" marR="1016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855464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207008" y="4855464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Gerador  </a:t>
            </a:r>
            <a:r>
              <a:rPr lang="en-US" sz="1200" dirty="0">
                <a:solidFill>
                  <a:srgbClr val="1D2D3E"/>
                </a:solidFill>
              </a:rPr>
              <a:t>no ADT, botão direito na tabela → </a:t>
            </a:r>
            <a:r>
              <a:rPr lang="en-US" sz="1200" b="1" dirty="0">
                <a:solidFill>
                  <a:srgbClr val="1D2D3E"/>
                </a:solidFill>
              </a:rPr>
              <a:t>Generate ABAP Repository Objects</a:t>
            </a:r>
            <a:r>
              <a:rPr lang="en-US" sz="1200" dirty="0">
                <a:solidFill>
                  <a:srgbClr val="1D2D3E"/>
                </a:solidFill>
              </a:rPr>
              <a:t> → </a:t>
            </a:r>
            <a:r>
              <a:rPr lang="en-US" sz="1200" i="1" dirty="0">
                <a:solidFill>
                  <a:srgbClr val="1D2D3E"/>
                </a:solidFill>
              </a:rPr>
              <a:t>OData UI Service</a:t>
            </a:r>
            <a:r>
              <a:rPr lang="en-US" sz="1200" dirty="0">
                <a:solidFill>
                  <a:srgbClr val="1D2D3E"/>
                </a:solidFill>
              </a:rPr>
              <a:t>. Depois, publique o binding e use a </a:t>
            </a:r>
            <a:r>
              <a:rPr lang="en-US" sz="1200" b="1" dirty="0">
                <a:solidFill>
                  <a:srgbClr val="1D2D3E"/>
                </a:solidFill>
              </a:rPr>
              <a:t>Preview</a:t>
            </a:r>
            <a:r>
              <a:rPr lang="en-US" sz="1200" dirty="0">
                <a:solidFill>
                  <a:srgbClr val="1D2D3E"/>
                </a:solidFill>
              </a:rPr>
              <a:t>.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4983480"/>
            <a:ext cx="310896" cy="31089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01.08 · SEÇÃO 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Do banco de dados ao serviço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O ponto de partida é uma tabela com </a:t>
            </a:r>
            <a:r>
              <a:rPr lang="en-US" sz="1600" b="1" dirty="0">
                <a:solidFill>
                  <a:srgbClr val="D1EFFF"/>
                </a:solidFill>
              </a:rPr>
              <a:t>chave UUID</a:t>
            </a:r>
            <a:r>
              <a:rPr lang="en-US" sz="1600" dirty="0">
                <a:solidFill>
                  <a:srgbClr val="D1EFFF"/>
                </a:solidFill>
              </a:rPr>
              <a:t> e </a:t>
            </a:r>
            <a:r>
              <a:rPr lang="en-US" sz="1600" b="1" dirty="0">
                <a:solidFill>
                  <a:srgbClr val="D1EFFF"/>
                </a:solidFill>
              </a:rPr>
              <a:t>campos administrativos</a:t>
            </a:r>
            <a:r>
              <a:rPr lang="en-US" sz="1600" dirty="0">
                <a:solidFill>
                  <a:srgbClr val="D1EFFF"/>
                </a:solidFill>
              </a:rPr>
              <a:t>, que o RAP usa para controle de concorrência.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+ uuid</a:t>
            </a:r>
            <a:r>
              <a:rPr lang="en-US" sz="1000" dirty="0">
                <a:solidFill>
                  <a:srgbClr val="D1EFFF"/>
                </a:solidFill>
              </a:rPr>
              <a:t>  chave técnica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created_by · …_at</a:t>
            </a:r>
            <a:r>
              <a:rPr lang="en-US" sz="1000" dirty="0">
                <a:solidFill>
                  <a:srgbClr val="D1EFFF"/>
                </a:solidFill>
              </a:rPr>
              <a:t>  auditoria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local_last_changed_at</a:t>
            </a:r>
            <a:r>
              <a:rPr lang="en-US" sz="1000" dirty="0">
                <a:solidFill>
                  <a:srgbClr val="D1EFFF"/>
                </a:solidFill>
              </a:rPr>
              <a:t>  ETag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elements</a:t>
            </a:r>
            <a:r>
              <a:rPr lang="en-US" sz="1000" dirty="0">
                <a:solidFill>
                  <a:srgbClr val="D1EFFF"/>
                </a:solidFill>
              </a:rPr>
              <a:t>  rótulos da UI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DADOS · A TABELA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Chave técnica e campos administrativos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1997964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1997964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18150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zconnection.tabl.abap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ZS4D400_##_RAP › ZCONNECTION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'Flight connections'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@AbapCatalog.tableCategory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#TRANSPARENT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@AbapCatalog.deliveryClass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#A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zconnection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clnt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uuid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/dmo/carrier_id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/dmo/connection_id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airport_from_id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/dmo/airport_from_id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airport_to_id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/dmo/airport_to_id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local_created_by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abp_creation_user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local_created_at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abp_creation_tstmpl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local_last_changed_by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abp_locinst_lastchange_user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local_last_changed_at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abp_locinst_lastchange_tstmpl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last_changed_at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abp_lastchange_tstmpl</a:t>
            </a: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Chave técnica que o runtime pode preencher sozinho ao criar.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Chave semântica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Companhia + voo também devem ser únicos: isso exige uma validação.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Campos administrativos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Quem e quando criou ou alterou; exigidos pelo gerador com esses tipos.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Data elements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Trazem rótulos que aparecem automaticamente no app.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DADOS · CONCORRÊNCIA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Como o RAP evita conflitos sem sessão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734564"/>
            <a:ext cx="3545738" cy="2348992"/>
          </a:xfrm>
          <a:prstGeom prst="roundRect">
            <a:avLst>
              <a:gd name="adj" fmla="val 389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293573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3539236"/>
            <a:ext cx="3143402" cy="143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Bloqueios exclusivos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Enquanto um usuário edita, o registro fica bloqueado para os demais.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22978" y="2734564"/>
            <a:ext cx="3545738" cy="2348992"/>
          </a:xfrm>
          <a:prstGeom prst="roundRect">
            <a:avLst>
              <a:gd name="adj" fmla="val 389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24146" y="293573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24146" y="3539236"/>
            <a:ext cx="3143402" cy="143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ETag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Um campo que muda a cada alteração. Se o valor lido não bate com o atual, alguém mudou o dado no meio do caminho.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97317" y="2734564"/>
            <a:ext cx="3545738" cy="2348992"/>
          </a:xfrm>
          <a:prstGeom prst="roundRect">
            <a:avLst>
              <a:gd name="adj" fmla="val 389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98485" y="2935732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98485" y="3539236"/>
            <a:ext cx="3143402" cy="143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Timestamps como ETag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local_last_changed_at</a:t>
            </a:r>
            <a:r>
              <a:rPr lang="en-US" sz="1300" dirty="0">
                <a:solidFill>
                  <a:srgbClr val="556B82"/>
                </a:solidFill>
              </a:rPr>
              <a:t> e </a:t>
            </a:r>
            <a:r>
              <a:rPr lang="en-US" sz="13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last_changed_at</a:t>
            </a:r>
            <a:r>
              <a:rPr lang="en-US" sz="1300" dirty="0">
                <a:solidFill>
                  <a:srgbClr val="556B82"/>
                </a:solidFill>
              </a:rPr>
              <a:t> são ótimos ETags: mudam sempre que o registro é gravado.</a:t>
            </a:r>
            <a:endParaRPr lang="en-US" sz="14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3036316"/>
            <a:ext cx="256032" cy="256032"/>
          </a:xfrm>
          <a:prstGeom prst="rect">
            <a:avLst/>
          </a:prstGeom>
        </p:spPr>
      </p:pic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4730" y="3036316"/>
            <a:ext cx="256032" cy="256032"/>
          </a:xfrm>
          <a:prstGeom prst="rect">
            <a:avLst/>
          </a:prstGeom>
        </p:spPr>
      </p:pic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9069" y="3036316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01.08 · SEÇÃO 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Lógica de negócio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Regras que o modelo não garante sozinho viram </a:t>
            </a:r>
            <a:r>
              <a:rPr lang="en-US" sz="1600" b="1" dirty="0">
                <a:solidFill>
                  <a:srgbClr val="D1EFFF"/>
                </a:solidFill>
              </a:rPr>
              <a:t>validações</a:t>
            </a:r>
            <a:r>
              <a:rPr lang="en-US" sz="1600" dirty="0">
                <a:solidFill>
                  <a:srgbClr val="D1EFFF"/>
                </a:solidFill>
              </a:rPr>
              <a:t>, </a:t>
            </a:r>
            <a:r>
              <a:rPr lang="en-US" sz="1600" b="1" dirty="0">
                <a:solidFill>
                  <a:srgbClr val="D1EFFF"/>
                </a:solidFill>
              </a:rPr>
              <a:t>determinações</a:t>
            </a:r>
            <a:r>
              <a:rPr lang="en-US" sz="1600" dirty="0">
                <a:solidFill>
                  <a:srgbClr val="D1EFFF"/>
                </a:solidFill>
              </a:rPr>
              <a:t> e </a:t>
            </a:r>
            <a:r>
              <a:rPr lang="en-US" sz="1600" b="1" dirty="0">
                <a:solidFill>
                  <a:srgbClr val="D1EFFF"/>
                </a:solidFill>
              </a:rPr>
              <a:t>ações</a:t>
            </a:r>
            <a:r>
              <a:rPr lang="en-US" sz="1600" dirty="0">
                <a:solidFill>
                  <a:srgbClr val="D1EFFF"/>
                </a:solidFill>
              </a:rPr>
              <a:t> declaradas na behavior definition.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 … on save</a:t>
            </a:r>
            <a:r>
              <a:rPr lang="en-US" sz="1000" dirty="0">
                <a:solidFill>
                  <a:srgbClr val="D1EFFF"/>
                </a:solidFill>
              </a:rPr>
              <a:t>  declaração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VALIDATE ON SAVE</a:t>
            </a:r>
            <a:r>
              <a:rPr lang="en-US" sz="1000" dirty="0">
                <a:solidFill>
                  <a:srgbClr val="D1EFFF"/>
                </a:solidFill>
              </a:rPr>
              <a:t>  método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LOCAL MODE</a:t>
            </a:r>
            <a:r>
              <a:rPr lang="en-US" sz="1000" dirty="0">
                <a:solidFill>
                  <a:srgbClr val="D1EFFF"/>
                </a:solidFill>
              </a:rPr>
              <a:t>  EML interna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 · reported</a:t>
            </a:r>
            <a:r>
              <a:rPr lang="en-US" sz="1000" dirty="0">
                <a:solidFill>
                  <a:srgbClr val="D1EFFF"/>
                </a:solidFill>
              </a:rPr>
              <a:t>  rejeitar com mensagem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COMPORTAMENTO · DECLARAÇÃO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A validação na behavior definition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1842516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1842516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16596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z_r_connection.bdef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ZS4D400_##_RAP › Z_R_CONNECTION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implementation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zbp_r_connection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unique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Z_R_CONNECTION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persistent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zconnection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lock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authorization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master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LocalLastChangedAt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numbering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Uuid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CheckSemanticKey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save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mapping for zconnection …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numbering : managed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O runtime gera o UUID ao criar a instância.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etag master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Define o campo usado como ETag.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save { create; update; }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 validação roda ao gravar instâncias novas ou alteradas.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D2D3E"/>
                </a:solidFill>
              </a:rPr>
              <a:t>Quick fix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Ctrl+1</a:t>
            </a:r>
            <a:r>
              <a:rPr lang="en-US" sz="1050" dirty="0">
                <a:solidFill>
                  <a:srgbClr val="556B82"/>
                </a:solidFill>
              </a:rPr>
              <a:t> cria o método no behavior pool.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COMPORTAMENTO · IMPLEMENTAÇÃO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Rejeitar a gravação com uma mensagem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675120" cy="4526280"/>
          </a:xfrm>
          <a:prstGeom prst="roundRect">
            <a:avLst>
              <a:gd name="adj" fmla="val 1616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664208"/>
            <a:ext cx="6638544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00784"/>
            <a:ext cx="3241548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700784"/>
            <a:ext cx="3241548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719072"/>
            <a:ext cx="30586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zbp_r_connection.clas.locals_imp.abap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03120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5B4"/>
                </a:solidFill>
              </a:rPr>
              <a:t>ZBP_R_CONNECTION › Local Types › lhc_connection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395728"/>
            <a:ext cx="320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</a:t>
            </a:r>
            <a:endParaRPr lang="en-US" sz="90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95728"/>
            <a:ext cx="6035040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CheckSemanticKey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ENTITIES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z_r_connection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CarrierID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ConnectionID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CORRESPONDING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keys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connections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connections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SINGLE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zconnection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FIELDS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carrier_id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connection-CarrierID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connection_id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connection-ConnectionID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uuid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connection-Uuid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INTO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exists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exists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abap_true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tky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connection-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tky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failed-connection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tky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connection-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tky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new_message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'ZS4D400'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'001'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severity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if_abap_behv_message=&gt;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severity-error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connection-CarrierID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connection-ConnectionID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reported-connection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ENDLOOP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ENDMETHOD</a:t>
            </a:r>
            <a:r>
              <a:rPr lang="en-US" sz="9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53528" y="187452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53528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1</a:t>
            </a:r>
            <a:endParaRPr lang="en-US" sz="1020" dirty="0"/>
          </a:p>
        </p:txBody>
      </p:sp>
      <p:sp>
        <p:nvSpPr>
          <p:cNvPr id="15" name="Text 13"/>
          <p:cNvSpPr txBox="1"/>
          <p:nvPr/>
        </p:nvSpPr>
        <p:spPr>
          <a:xfrm>
            <a:off x="8092440" y="185623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keys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As chaves das instâncias criadas ou alteradas.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653528" y="291465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53528" y="291465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2</a:t>
            </a:r>
            <a:endParaRPr lang="en-US" sz="1020" dirty="0"/>
          </a:p>
        </p:txBody>
      </p:sp>
      <p:sp>
        <p:nvSpPr>
          <p:cNvPr id="18" name="Text 16"/>
          <p:cNvSpPr txBox="1"/>
          <p:nvPr/>
        </p:nvSpPr>
        <p:spPr>
          <a:xfrm>
            <a:off x="8092440" y="289636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LOCAL MODE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EML dentro do próprio BO, sem checar autorização nem controle de campo.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653528" y="395478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53528" y="39547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3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8092440" y="393649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Marca a instância como inválida: a gravação é recusada.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653528" y="4994910"/>
            <a:ext cx="310896" cy="310896"/>
          </a:xfrm>
          <a:prstGeom prst="ellipse">
            <a:avLst/>
          </a:prstGeom>
          <a:solidFill>
            <a:srgbClr val="E1F4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53528" y="49949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64D9"/>
                </a:solidFill>
              </a:rPr>
              <a:t>4</a:t>
            </a:r>
            <a:endParaRPr lang="en-US" sz="1020" dirty="0"/>
          </a:p>
        </p:txBody>
      </p:sp>
      <p:sp>
        <p:nvSpPr>
          <p:cNvPr id="24" name="Text 22"/>
          <p:cNvSpPr txBox="1"/>
          <p:nvPr/>
        </p:nvSpPr>
        <p:spPr>
          <a:xfrm>
            <a:off x="8092440" y="4976622"/>
            <a:ext cx="3367735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</a:t>
            </a:r>
            <a:r>
              <a:rPr lang="en-US" sz="1250" b="1" dirty="0">
                <a:solidFill>
                  <a:srgbClr val="1D2D3E"/>
                </a:solidFill>
              </a:rPr>
              <a:t> + </a:t>
            </a:r>
            <a:r>
              <a:rPr lang="en-US" sz="125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%msg</a:t>
            </a:r>
            <a:endParaRPr lang="en-US" sz="1400" dirty="0"/>
          </a:p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Mensagem da message class, com até 4 placeholders 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&amp;1</a:t>
            </a:r>
            <a:r>
              <a:rPr lang="en-US" sz="1050" dirty="0">
                <a:solidFill>
                  <a:srgbClr val="556B82"/>
                </a:solidFill>
              </a:rPr>
              <a:t>…</a:t>
            </a:r>
            <a:r>
              <a:rPr lang="en-US" sz="105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&amp;4</a:t>
            </a:r>
            <a:r>
              <a:rPr lang="en-US" sz="1050" dirty="0">
                <a:solidFill>
                  <a:srgbClr val="556B82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COMPORTAMENTO · TRÊS TIPOS DE LÓGICA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Validação, determinação e ação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2359660"/>
            <a:ext cx="3545738" cy="2348992"/>
          </a:xfrm>
          <a:prstGeom prst="roundRect">
            <a:avLst>
              <a:gd name="adj" fmla="val 389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256082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3164332"/>
            <a:ext cx="3143402" cy="143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Validation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Confere a consistência ao gravar e recusa dados inválidos com mensagem. Ex.: aeroportos de origem e destino iguais.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22978" y="2359660"/>
            <a:ext cx="3545738" cy="2348992"/>
          </a:xfrm>
          <a:prstGeom prst="roundRect">
            <a:avLst>
              <a:gd name="adj" fmla="val 389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24146" y="256082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24146" y="3164332"/>
            <a:ext cx="3143402" cy="143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Determination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Calcula ou completa valores quando algo muda (</a:t>
            </a:r>
            <a:r>
              <a:rPr lang="en-US" sz="1300" i="1" dirty="0">
                <a:solidFill>
                  <a:srgbClr val="556B82"/>
                </a:solidFill>
              </a:rPr>
              <a:t>on modify</a:t>
            </a:r>
            <a:r>
              <a:rPr lang="en-US" sz="1300" dirty="0">
                <a:solidFill>
                  <a:srgbClr val="556B82"/>
                </a:solidFill>
              </a:rPr>
              <a:t>) ou ao gravar (</a:t>
            </a:r>
            <a:r>
              <a:rPr lang="en-US" sz="1300" i="1" dirty="0">
                <a:solidFill>
                  <a:srgbClr val="556B82"/>
                </a:solidFill>
              </a:rPr>
              <a:t>on save</a:t>
            </a:r>
            <a:r>
              <a:rPr lang="en-US" sz="1300" dirty="0">
                <a:solidFill>
                  <a:srgbClr val="556B82"/>
                </a:solidFill>
              </a:rPr>
              <a:t>). Ex.: status inicial.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97317" y="2359660"/>
            <a:ext cx="3545738" cy="2348992"/>
          </a:xfrm>
          <a:prstGeom prst="roundRect">
            <a:avLst>
              <a:gd name="adj" fmla="val 3893"/>
            </a:avLst>
          </a:prstGeom>
          <a:solidFill>
            <a:srgbClr val="FFFFFF"/>
          </a:solidFill>
          <a:ln w="9525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2700" dir="5400000">
              <a:srgbClr val="1D2D3E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298485" y="256082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98485" y="3164332"/>
            <a:ext cx="3143402" cy="143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D2D3E"/>
                </a:solidFill>
              </a:rPr>
              <a:t>Action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Operação de negócio chamada pelo usuário ou por EML. Ex.: aprovar, cancelar, copiar.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891532"/>
            <a:ext cx="11094415" cy="566928"/>
          </a:xfrm>
          <a:prstGeom prst="roundRect">
            <a:avLst>
              <a:gd name="adj" fmla="val 12903"/>
            </a:avLst>
          </a:prstGeom>
          <a:solidFill>
            <a:srgbClr val="E1F4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207008" y="4891532"/>
            <a:ext cx="102257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4D9"/>
                </a:solidFill>
              </a:rPr>
              <a:t>Mensagens  </a:t>
            </a:r>
            <a:r>
              <a:rPr lang="en-US" sz="1200" dirty="0">
                <a:solidFill>
                  <a:srgbClr val="1D2D3E"/>
                </a:solidFill>
              </a:rPr>
              <a:t>os textos ficam em uma </a:t>
            </a:r>
            <a:r>
              <a:rPr lang="en-US" sz="1200" b="1" dirty="0">
                <a:solidFill>
                  <a:srgbClr val="1D2D3E"/>
                </a:solidFill>
              </a:rPr>
              <a:t>message class</a:t>
            </a:r>
            <a:r>
              <a:rPr lang="en-US" sz="1200" dirty="0">
                <a:solidFill>
                  <a:srgbClr val="1D2D3E"/>
                </a:solidFill>
              </a:rPr>
              <a:t> (até 1000 mensagens numeradas), traduzíveis e com placeholders.</a:t>
            </a:r>
            <a:endParaRPr lang="en-US" sz="14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2661412"/>
            <a:ext cx="256032" cy="256032"/>
          </a:xfrm>
          <a:prstGeom prst="rect">
            <a:avLst/>
          </a:prstGeom>
        </p:spPr>
      </p:pic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4730" y="2661412"/>
            <a:ext cx="256032" cy="256032"/>
          </a:xfrm>
          <a:prstGeom prst="rect">
            <a:avLst/>
          </a:prstGeom>
        </p:spPr>
      </p:pic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5019548"/>
            <a:ext cx="310896" cy="310896"/>
          </a:xfrm>
          <a:prstGeom prst="rect">
            <a:avLst/>
          </a:prstGeom>
        </p:spPr>
      </p:pic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9069" y="2661412"/>
            <a:ext cx="256032" cy="2560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548640"/>
            <a:ext cx="731520" cy="731520"/>
          </a:xfrm>
          <a:prstGeom prst="roundRect">
            <a:avLst>
              <a:gd name="adj" fmla="val 20000"/>
            </a:avLst>
          </a:prstGeom>
          <a:solidFill>
            <a:srgbClr val="1B3A7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6002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AULA 01.08 · SEÇÃO 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96596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Melhorando a experiência do usuário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033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1EFFF"/>
                </a:solidFill>
              </a:rPr>
              <a:t>O app Fiori Elements é guiado por metadados: a </a:t>
            </a:r>
            <a:r>
              <a:rPr lang="en-US" sz="1600" b="1" dirty="0">
                <a:solidFill>
                  <a:srgbClr val="D1EFFF"/>
                </a:solidFill>
              </a:rPr>
              <a:t>projeção</a:t>
            </a:r>
            <a:r>
              <a:rPr lang="en-US" sz="1600" dirty="0">
                <a:solidFill>
                  <a:srgbClr val="D1EFFF"/>
                </a:solidFill>
              </a:rPr>
              <a:t> decide o que é permitido e a </a:t>
            </a:r>
            <a:r>
              <a:rPr lang="en-US" sz="1600" b="1" dirty="0">
                <a:solidFill>
                  <a:srgbClr val="D1EFFF"/>
                </a:solidFill>
              </a:rPr>
              <a:t>metadata extension</a:t>
            </a:r>
            <a:r>
              <a:rPr lang="en-US" sz="1600" dirty="0">
                <a:solidFill>
                  <a:srgbClr val="D1EFFF"/>
                </a:solidFill>
              </a:rPr>
              <a:t>, como aparece.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001000" y="1463040"/>
            <a:ext cx="3611880" cy="2221992"/>
          </a:xfrm>
          <a:prstGeom prst="roundRect">
            <a:avLst>
              <a:gd name="adj" fmla="val 4115"/>
            </a:avLst>
          </a:prstGeom>
          <a:solidFill>
            <a:srgbClr val="1B3A7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0" y="1645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9D1FF"/>
                </a:solidFill>
              </a:rPr>
              <a:t>NESTA SEÇÃO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029968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create · use delete</a:t>
            </a:r>
            <a:r>
              <a:rPr lang="en-US" sz="1000" dirty="0">
                <a:solidFill>
                  <a:srgbClr val="D1EFFF"/>
                </a:solidFill>
              </a:rPr>
              <a:t>  operações do serviço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2414016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 ( readonly )</a:t>
            </a:r>
            <a:r>
              <a:rPr lang="en-US" sz="1000" dirty="0">
                <a:solidFill>
                  <a:srgbClr val="D1EFFF"/>
                </a:solidFill>
              </a:rPr>
              <a:t>  controle de campo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2798064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@UI.lineItem</a:t>
            </a:r>
            <a:r>
              <a:rPr lang="en-US" sz="1000" dirty="0">
                <a:solidFill>
                  <a:srgbClr val="D1EFFF"/>
                </a:solidFill>
              </a:rPr>
              <a:t>  lista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3182112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@UI.identification</a:t>
            </a:r>
            <a:r>
              <a:rPr lang="en-US" sz="1000" dirty="0">
                <a:solidFill>
                  <a:srgbClr val="D1EFFF"/>
                </a:solidFill>
              </a:rPr>
              <a:t>  Object Page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713232"/>
            <a:ext cx="402336" cy="40233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64D9"/>
                </a:solidFill>
              </a:rPr>
              <a:t>UI · PROJEÇÃO E ANOTAÇÕES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315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D2D3E"/>
                </a:solidFill>
              </a:rPr>
              <a:t>O que o serviço permite e como a tela mostra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860243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28602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Behavior definition da projeção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2029968"/>
            <a:ext cx="5410048" cy="3291840"/>
          </a:xfrm>
          <a:prstGeom prst="roundRect">
            <a:avLst>
              <a:gd name="adj" fmla="val 2222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2048256"/>
            <a:ext cx="5373472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1842516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2084832"/>
            <a:ext cx="1842516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103120"/>
            <a:ext cx="16596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z_c_connection.bdef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487168"/>
            <a:ext cx="320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487168"/>
            <a:ext cx="476996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strict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behavior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Z_C_CONNECTION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readonly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AirportFromID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use create;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use delete;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440680"/>
            <a:ext cx="5410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Comentar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create</a:t>
            </a:r>
            <a:r>
              <a:rPr lang="en-US" sz="1200" dirty="0">
                <a:solidFill>
                  <a:srgbClr val="556B82"/>
                </a:solidFill>
              </a:rPr>
              <a:t> e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 delete</a:t>
            </a:r>
            <a:r>
              <a:rPr lang="en-US" sz="1200" dirty="0">
                <a:solidFill>
                  <a:srgbClr val="556B82"/>
                </a:solidFill>
              </a:rPr>
              <a:t> tira os botões </a:t>
            </a:r>
            <a:r>
              <a:rPr lang="en-US" sz="1200" b="1" dirty="0">
                <a:solidFill>
                  <a:srgbClr val="556B82"/>
                </a:solidFill>
              </a:rPr>
              <a:t>Criar</a:t>
            </a:r>
            <a:r>
              <a:rPr lang="en-US" sz="1200" dirty="0">
                <a:solidFill>
                  <a:srgbClr val="556B82"/>
                </a:solidFill>
              </a:rPr>
              <a:t> e </a:t>
            </a:r>
            <a:r>
              <a:rPr lang="en-US" sz="1200" b="1" dirty="0">
                <a:solidFill>
                  <a:srgbClr val="556B82"/>
                </a:solidFill>
              </a:rPr>
              <a:t>Excluir</a:t>
            </a:r>
            <a:r>
              <a:rPr lang="en-US" sz="1200" dirty="0">
                <a:solidFill>
                  <a:srgbClr val="556B82"/>
                </a:solidFill>
              </a:rPr>
              <a:t> só deste app; o business object continua permitindo.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33008" y="1645920"/>
            <a:ext cx="181417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33008" y="1645920"/>
            <a:ext cx="18141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Metadata extension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33008" y="2029968"/>
            <a:ext cx="5410048" cy="3291840"/>
          </a:xfrm>
          <a:prstGeom prst="roundRect">
            <a:avLst>
              <a:gd name="adj" fmla="val 2222"/>
            </a:avLst>
          </a:prstGeom>
          <a:solidFill>
            <a:srgbClr val="1F1F1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51296" y="2048256"/>
            <a:ext cx="5373472" cy="329184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8" name="Shape 16"/>
          <p:cNvSpPr/>
          <p:nvPr/>
        </p:nvSpPr>
        <p:spPr>
          <a:xfrm>
            <a:off x="6324448" y="2084832"/>
            <a:ext cx="1842516" cy="292608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9" name="Shape 17"/>
          <p:cNvSpPr/>
          <p:nvPr/>
        </p:nvSpPr>
        <p:spPr>
          <a:xfrm>
            <a:off x="6324448" y="2084832"/>
            <a:ext cx="1842516" cy="27432"/>
          </a:xfrm>
          <a:prstGeom prst="rect">
            <a:avLst/>
          </a:prstGeom>
          <a:solidFill>
            <a:srgbClr val="0070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15888" y="2103120"/>
            <a:ext cx="16596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z_c_connection.ddlx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370168" y="2487168"/>
            <a:ext cx="320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0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735928" y="2487168"/>
            <a:ext cx="476996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@Metadata.layer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586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#CUSTOMER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annotate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Z_C_CONNECTION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@UI.lineItem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@UI.selectionField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CarrierID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@UI.identification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position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ConnectionID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@UI.hidden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LocalLastChangedAt</a:t>
            </a: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233008" y="5440680"/>
            <a:ext cx="54100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lineItem</a:t>
            </a:r>
            <a:r>
              <a:rPr lang="en-US" sz="1200" dirty="0">
                <a:solidFill>
                  <a:srgbClr val="556B82"/>
                </a:solidFill>
              </a:rPr>
              <a:t> posiciona colunas na lista,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identification</a:t>
            </a:r>
            <a:r>
              <a:rPr lang="en-US" sz="1200" dirty="0">
                <a:solidFill>
                  <a:srgbClr val="556B82"/>
                </a:solidFill>
              </a:rPr>
              <a:t> campos na Object Page,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selectionField</a:t>
            </a:r>
            <a:r>
              <a:rPr lang="en-US" sz="1200" dirty="0">
                <a:solidFill>
                  <a:srgbClr val="556B82"/>
                </a:solidFill>
              </a:rPr>
              <a:t> filtros e </a:t>
            </a:r>
            <a:r>
              <a:rPr lang="en-US" sz="12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hidden</a:t>
            </a:r>
            <a:r>
              <a:rPr lang="en-US" sz="1200" dirty="0">
                <a:solidFill>
                  <a:srgbClr val="556B82"/>
                </a:solidFill>
              </a:rPr>
              <a:t> esconde.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9D1FF"/>
                </a:solidFill>
              </a:rPr>
              <a:t>RESUMO DA AULA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que aprendemos na aula 01.08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5331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O </a:t>
            </a:r>
            <a:r>
              <a:rPr lang="en-US" sz="1400" b="1" dirty="0">
                <a:solidFill>
                  <a:srgbClr val="FFFFFF"/>
                </a:solidFill>
              </a:rPr>
              <a:t>RAP</a:t>
            </a:r>
            <a:r>
              <a:rPr lang="en-US" sz="1400" dirty="0">
                <a:solidFill>
                  <a:srgbClr val="FFFFFF"/>
                </a:solidFill>
              </a:rPr>
              <a:t> organiza o desenvolvimento em modelagem/comportamento, exposição e consumo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63640" y="187452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85432" y="181965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O gerador cria do business object ao </a:t>
            </a:r>
            <a:r>
              <a:rPr lang="en-US" sz="1400" b="1" dirty="0">
                <a:solidFill>
                  <a:srgbClr val="FFFFFF"/>
                </a:solidFill>
              </a:rPr>
              <a:t>service binding</a:t>
            </a:r>
            <a:r>
              <a:rPr lang="en-US" sz="1400" dirty="0">
                <a:solidFill>
                  <a:srgbClr val="FFFFFF"/>
                </a:solidFill>
              </a:rPr>
              <a:t> a partir de uma tabela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35331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Chave </a:t>
            </a:r>
            <a:r>
              <a:rPr lang="en-US" sz="1400" b="1" dirty="0">
                <a:solidFill>
                  <a:srgbClr val="FFFFFF"/>
                </a:solidFill>
              </a:rPr>
              <a:t>UUID</a:t>
            </a:r>
            <a:r>
              <a:rPr lang="en-US" sz="1400" dirty="0">
                <a:solidFill>
                  <a:srgbClr val="FFFFFF"/>
                </a:solidFill>
              </a:rPr>
              <a:t>, campos administrativos e </a:t>
            </a:r>
            <a:r>
              <a:rPr lang="en-US" sz="1400" b="1" dirty="0">
                <a:solidFill>
                  <a:srgbClr val="FFFFFF"/>
                </a:solidFill>
              </a:rPr>
              <a:t>ETag</a:t>
            </a:r>
            <a:r>
              <a:rPr lang="en-US" sz="1400" dirty="0">
                <a:solidFill>
                  <a:srgbClr val="FFFFFF"/>
                </a:solidFill>
              </a:rPr>
              <a:t> sustentam a concorrência stateless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283464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85432" y="277977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Validações</a:t>
            </a:r>
            <a:r>
              <a:rPr lang="en-US" sz="1400" dirty="0">
                <a:solidFill>
                  <a:srgbClr val="FFFFFF"/>
                </a:solidFill>
              </a:rPr>
              <a:t> usam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VALIDATE ON SAVE</a:t>
            </a:r>
            <a:r>
              <a:rPr lang="en-US" sz="1400" dirty="0">
                <a:solidFill>
                  <a:srgbClr val="FFFFFF"/>
                </a:solidFill>
              </a:rPr>
              <a:t>, EML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LOCAL MODE</a:t>
            </a:r>
            <a:r>
              <a:rPr lang="en-US" sz="1400" dirty="0">
                <a:solidFill>
                  <a:srgbClr val="FFFFFF"/>
                </a:solidFill>
              </a:rPr>
              <a:t>,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</a:t>
            </a:r>
            <a:r>
              <a:rPr lang="en-US" sz="1400" dirty="0">
                <a:solidFill>
                  <a:srgbClr val="FFFFFF"/>
                </a:solidFill>
              </a:rPr>
              <a:t> e </a:t>
            </a:r>
            <a:r>
              <a:rPr lang="en-US" sz="1400" dirty="0">
                <a:solidFill>
                  <a:srgbClr val="89D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5331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Determinações calculam valores; </a:t>
            </a:r>
            <a:r>
              <a:rPr lang="en-US" sz="1400" b="1" dirty="0">
                <a:solidFill>
                  <a:srgbClr val="FFFFFF"/>
                </a:solidFill>
              </a:rPr>
              <a:t>ações</a:t>
            </a:r>
            <a:r>
              <a:rPr lang="en-US" sz="1400" dirty="0">
                <a:solidFill>
                  <a:srgbClr val="FFFFFF"/>
                </a:solidFill>
              </a:rPr>
              <a:t> expõem operações de negócio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63640" y="3794760"/>
            <a:ext cx="438912" cy="438912"/>
          </a:xfrm>
          <a:prstGeom prst="roundRect">
            <a:avLst>
              <a:gd name="adj" fmla="val 20833"/>
            </a:avLst>
          </a:prstGeom>
          <a:solidFill>
            <a:srgbClr val="0070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85432" y="3739896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A </a:t>
            </a:r>
            <a:r>
              <a:rPr lang="en-US" sz="1400" b="1" dirty="0">
                <a:solidFill>
                  <a:srgbClr val="FFFFFF"/>
                </a:solidFill>
              </a:rPr>
              <a:t>projeção</a:t>
            </a:r>
            <a:r>
              <a:rPr lang="en-US" sz="1400" dirty="0">
                <a:solidFill>
                  <a:srgbClr val="FFFFFF"/>
                </a:solidFill>
              </a:rPr>
              <a:t> limita operações e campos; a </a:t>
            </a:r>
            <a:r>
              <a:rPr lang="en-US" sz="1400" b="1" dirty="0">
                <a:solidFill>
                  <a:srgbClr val="FFFFFF"/>
                </a:solidFill>
              </a:rPr>
              <a:t>metadata extension</a:t>
            </a:r>
            <a:r>
              <a:rPr lang="en-US" sz="1400" dirty="0">
                <a:solidFill>
                  <a:srgbClr val="FFFFFF"/>
                </a:solidFill>
              </a:rPr>
              <a:t> organiza a tela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5349240"/>
            <a:ext cx="10698480" cy="749808"/>
          </a:xfrm>
          <a:prstGeom prst="roundRect">
            <a:avLst>
              <a:gd name="adj" fmla="val 12195"/>
            </a:avLst>
          </a:prstGeom>
          <a:solidFill>
            <a:srgbClr val="1B3A7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08760" y="5349240"/>
            <a:ext cx="9692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9D1FF"/>
                </a:solidFill>
              </a:rPr>
              <a:t>Próxima etapa  </a:t>
            </a:r>
            <a:r>
              <a:rPr lang="en-US" sz="1500" dirty="0">
                <a:solidFill>
                  <a:srgbClr val="FFFFFF"/>
                </a:solidFill>
              </a:rPr>
              <a:t>Módulo 04 (ordem recomendada) ou Módulo 02: Dicionário e CDS em profundidade.</a:t>
            </a:r>
            <a:endParaRPr lang="en-US" sz="15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965960"/>
            <a:ext cx="256032" cy="256032"/>
          </a:xfrm>
          <a:prstGeom prst="rect">
            <a:avLst/>
          </a:prstGeom>
        </p:spPr>
      </p:pic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965960"/>
            <a:ext cx="256032" cy="256032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926080"/>
            <a:ext cx="256032" cy="256032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2926080"/>
            <a:ext cx="256032" cy="256032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886200"/>
            <a:ext cx="256032" cy="256032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120" y="5541264"/>
            <a:ext cx="365760" cy="365760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5080" y="3886200"/>
            <a:ext cx="256032" cy="2560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ABAP Moderno">
  <a:themeElements>
    <a:clrScheme name="ABAP Moderno">
      <a:dk1>
        <a:srgbClr val="1D2D3E"/>
      </a:dk1>
      <a:lt1>
        <a:srgbClr val="FFFFFF"/>
      </a:lt1>
      <a:dk2>
        <a:srgbClr val="556B82"/>
      </a:dk2>
      <a:lt2>
        <a:srgbClr val="F5F6F7"/>
      </a:lt2>
      <a:accent1>
        <a:srgbClr val="0070F2"/>
      </a:accent1>
      <a:accent2>
        <a:srgbClr val="30914C"/>
      </a:accent2>
      <a:accent3>
        <a:srgbClr val="E76500"/>
      </a:accent3>
      <a:accent4>
        <a:srgbClr val="D20A0A"/>
      </a:accent4>
      <a:accent5>
        <a:srgbClr val="1B3A7A"/>
      </a:accent5>
      <a:accent6>
        <a:srgbClr val="89D1FF"/>
      </a:accent6>
      <a:hlink>
        <a:srgbClr val="0064D9"/>
      </a:hlink>
      <a:folHlink>
        <a:srgbClr val="1B3A7A"/>
      </a:folHlink>
    </a:clrScheme>
    <a:fontScheme name="ABAP Modern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01.08 O modelo de programação ABAP RESTful (RAP)</dc:title>
  <dc:subject>ABAP Moderno – Módulo 01: Fundamentos do ABAP Moderno</dc:subject>
  <dc:creator>Adriano Bispo</dc:creator>
  <cp:lastModifiedBy>Adriano Bispo</cp:lastModifiedBy>
  <cp:revision>1</cp:revision>
  <dcterms:created xsi:type="dcterms:W3CDTF">2026-10-28T04:16:38Z</dcterms:created>
  <dcterms:modified xsi:type="dcterms:W3CDTF">2026-10-28T04:16:38Z</dcterms:modified>
</cp:coreProperties>
</file>