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Title">
    <p:bg>
      <p:bgPr>
        <a:solidFill>
          <a:srgbClr val="1D2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554480"/>
            <a:ext cx="78638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4DB1FF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2057400"/>
            <a:ext cx="81381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548640" y="420624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3DE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396A8"/>
                </a:solidFill>
              </a:rPr>
              <a:t>ABAP Moderno  ·  Módulo 01  ·  01.08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Content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0070F2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ABAP Moderno  ·  Módulo 01  ·  01.08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Closing">
    <p:bg>
      <p:bgPr>
        <a:solidFill>
          <a:srgbClr val="1D2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4DB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396A8"/>
                </a:solidFill>
              </a:rPr>
              <a:t>ABAP Moderno  ·  Módulo 01  ·  01.08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396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DB1FF"/>
                </a:solidFill>
              </a:rPr>
              <a:t>Módulo 01  ·  01.08</a:t>
            </a:r>
            <a:endParaRPr lang="en-US" sz="16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205740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De Mestre de Obras a Arquiteto de Software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548640" y="42062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DE"/>
                </a:solidFill>
              </a:rPr>
              <a:t>Dominando o ABAP RESTful Application Programming Model (RAP).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15400" y="160020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33302B"/>
          </a:solidFill>
          <a:ln w="9525">
            <a:solidFill>
              <a:srgbClr val="6B5E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0" y="1600200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Dynpro / Web Dynpro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21671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DB1FF"/>
                </a:solidFill>
              </a:rPr>
              <a:t>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915400" y="2350008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509760" y="2350008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CDS Views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915400" y="3099816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509760" y="3099816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Behavior Definition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15400" y="3849624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09760" y="3849624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Service Binding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15400" y="4599432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509760" y="4599432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SAP Fiori Elements</a:t>
            </a:r>
            <a:endParaRPr lang="en-US" sz="13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1737360"/>
            <a:ext cx="292608" cy="292608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487168"/>
            <a:ext cx="292608" cy="292608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3986784"/>
            <a:ext cx="292608" cy="292608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3236976"/>
            <a:ext cx="292608" cy="292608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4736592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 Evolução Inevitável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Por Que o RAP é o Padrão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D2D3E"/>
                </a:solidFill>
              </a:rPr>
              <a:t>O ABAP RESTful Application Programming Model (RAP) não é apenas uma nova ferramenta: é a culminação de décadas de evolução. Ele substitui modelos anteriores fragmentados por uma arquitetura unificada e opinativa, projetada para o futuro do SAP.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377440" cy="457200"/>
          </a:xfrm>
          <a:prstGeom prst="roundRect">
            <a:avLst>
              <a:gd name="adj" fmla="val 16000"/>
            </a:avLst>
          </a:prstGeom>
          <a:solidFill>
            <a:srgbClr val="EEF1F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2514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56B82"/>
                </a:solidFill>
              </a:rPr>
              <a:t>Dynpro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971800" y="2743200"/>
            <a:ext cx="2011680" cy="566928"/>
          </a:xfrm>
          <a:prstGeom prst="line">
            <a:avLst/>
          </a:prstGeom>
          <a:noFill/>
          <a:ln w="19050">
            <a:solidFill>
              <a:srgbClr val="A9B4BE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548640" y="3081528"/>
            <a:ext cx="2377440" cy="457200"/>
          </a:xfrm>
          <a:prstGeom prst="roundRect">
            <a:avLst>
              <a:gd name="adj" fmla="val 16000"/>
            </a:avLst>
          </a:prstGeom>
          <a:solidFill>
            <a:srgbClr val="EEF1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30815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56B82"/>
                </a:solidFill>
              </a:rPr>
              <a:t>Web Dynpro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971800" y="3310128"/>
            <a:ext cx="2011680" cy="0"/>
          </a:xfrm>
          <a:prstGeom prst="line">
            <a:avLst/>
          </a:prstGeom>
          <a:noFill/>
          <a:ln w="19050">
            <a:solidFill>
              <a:srgbClr val="A9B4B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548640" y="3648456"/>
            <a:ext cx="2377440" cy="457200"/>
          </a:xfrm>
          <a:prstGeom prst="roundRect">
            <a:avLst>
              <a:gd name="adj" fmla="val 16000"/>
            </a:avLst>
          </a:prstGeom>
          <a:solidFill>
            <a:srgbClr val="EEF1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51560" y="364845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56B82"/>
                </a:solidFill>
              </a:rPr>
              <a:t>BOPF / Gateway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 flipV="1">
            <a:off x="2971800" y="3310128"/>
            <a:ext cx="2011680" cy="566928"/>
          </a:xfrm>
          <a:prstGeom prst="line">
            <a:avLst/>
          </a:prstGeom>
          <a:noFill/>
          <a:ln w="19050">
            <a:solidFill>
              <a:srgbClr val="A9B4B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029200" y="2715768"/>
            <a:ext cx="6613855" cy="1188720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394960" y="2715768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ABAP RAP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Unified &amp; Optimized Architecture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343400"/>
            <a:ext cx="3515258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45994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5148072"/>
            <a:ext cx="300319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Padrão Estratégico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56B82"/>
                </a:solidFill>
              </a:rPr>
              <a:t>Arquitetura definitiva para </a:t>
            </a:r>
            <a:r>
              <a:rPr lang="en-US" sz="1300" b="1" dirty="0">
                <a:solidFill>
                  <a:srgbClr val="556B82"/>
                </a:solidFill>
              </a:rPr>
              <a:t>SAP S/4HANA</a:t>
            </a:r>
            <a:r>
              <a:rPr lang="en-US" sz="1300" dirty="0">
                <a:solidFill>
                  <a:srgbClr val="556B82"/>
                </a:solidFill>
              </a:rPr>
              <a:t> (On-Premise e Cloud) e </a:t>
            </a:r>
            <a:r>
              <a:rPr lang="en-US" sz="1300" b="1" dirty="0">
                <a:solidFill>
                  <a:srgbClr val="556B82"/>
                </a:solidFill>
              </a:rPr>
              <a:t>ABAP Cloud</a:t>
            </a:r>
            <a:r>
              <a:rPr lang="en-US" sz="1300" dirty="0">
                <a:solidFill>
                  <a:srgbClr val="556B82"/>
                </a:solidFill>
              </a:rPr>
              <a:t>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338218" y="4343400"/>
            <a:ext cx="3515258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94250" y="45994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94250" y="5148072"/>
            <a:ext cx="300319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Nativo para HANA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56B82"/>
                </a:solidFill>
              </a:rPr>
              <a:t>Desenhado para otimizar o desempenho no banco de dados SAP HANA.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27797" y="4343400"/>
            <a:ext cx="3515258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383829" y="45994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83829" y="5148072"/>
            <a:ext cx="300319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Foco em APIs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56B82"/>
                </a:solidFill>
              </a:rPr>
              <a:t>Criação de serviços OData (APIs Web) robustos, otimizados e seguros.</a:t>
            </a:r>
            <a:endParaRPr lang="en-US" sz="16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606040"/>
            <a:ext cx="274320" cy="274320"/>
          </a:xfrm>
          <a:prstGeom prst="rect">
            <a:avLst/>
          </a:prstGeom>
        </p:spPr>
      </p:pic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172968"/>
            <a:ext cx="274320" cy="274320"/>
          </a:xfrm>
          <a:prstGeom prst="rect">
            <a:avLst/>
          </a:prstGeom>
        </p:spPr>
      </p:pic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739896"/>
            <a:ext cx="274320" cy="274320"/>
          </a:xfrm>
          <a:prstGeom prst="rect">
            <a:avLst/>
          </a:prstGeom>
        </p:spPr>
      </p:pic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844" y="4691604"/>
            <a:ext cx="199705" cy="199705"/>
          </a:xfrm>
          <a:prstGeom prst="rect">
            <a:avLst/>
          </a:prstGeom>
        </p:spPr>
      </p:pic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6422" y="4691604"/>
            <a:ext cx="199705" cy="199705"/>
          </a:xfrm>
          <a:prstGeom prst="rect">
            <a:avLst/>
          </a:prstGeom>
        </p:spPr>
      </p:pic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6000" y="4691604"/>
            <a:ext cx="199705" cy="19970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Os Pilares da Construção Moderna com RAP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3515258" cy="393192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04672" y="2130552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3026664"/>
            <a:ext cx="3003194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Padronização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Define uma maneira única e clara de implementar operações transacionais (Create, Update, Delete), eliminando ambiguidades e aumentando a produtividade.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38218" y="1874520"/>
            <a:ext cx="3515258" cy="393192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94250" y="2130552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94250" y="3026664"/>
            <a:ext cx="3003194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Agnosticismo de Protocolo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A lógica de negócio é desacoplada do protocolo HTTP. Embora focado em OData, isso facilita testes unitários e a reutilização da lógica em diferentes contextos.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27797" y="1874520"/>
            <a:ext cx="3515258" cy="393192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383829" y="2130552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83829" y="3026664"/>
            <a:ext cx="3003194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Fiori Nativo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As aplicações RAP nascem com suporte nativo a anotações de UI. O SAP Fiori Elements lê esses metadados para gerar interfaces ricas com mínimo esforço de front-end.</a:t>
            </a:r>
            <a:endParaRPr lang="en-US" sz="16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0237" y="2306117"/>
            <a:ext cx="380390" cy="380390"/>
          </a:xfrm>
          <a:prstGeom prst="rect">
            <a:avLst/>
          </a:prstGeom>
        </p:spPr>
      </p:pic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9815" y="2306117"/>
            <a:ext cx="380390" cy="380390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9394" y="2306117"/>
            <a:ext cx="380390" cy="380390"/>
          </a:xfrm>
          <a:prstGeom prst="rect">
            <a:avLst/>
          </a:prstGeom>
        </p:spPr>
      </p:pic>
      <p:sp>
        <p:nvSpPr>
          <p:cNvPr id="15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 Planta Baixa do RAP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Uma Arquitetura em Três Camadas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828800" y="1600200"/>
            <a:ext cx="9814255" cy="1353312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03120" y="1929384"/>
            <a:ext cx="694944" cy="69494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63240" y="1600200"/>
            <a:ext cx="8351215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2D3E"/>
                </a:solidFill>
              </a:rPr>
              <a:t>Service Consumption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A camada de consumo: onde a aplicação é efetivamente utilizada, seja por uma UI Fiori ou por outra aplicação via API.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828800" y="3136392"/>
            <a:ext cx="9814255" cy="1353312"/>
          </a:xfrm>
          <a:prstGeom prst="roundRect">
            <a:avLst>
              <a:gd name="adj" fmla="val 9459"/>
            </a:avLst>
          </a:prstGeom>
          <a:solidFill>
            <a:srgbClr val="EEF1F4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03120" y="3465576"/>
            <a:ext cx="694944" cy="69494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63240" y="3136392"/>
            <a:ext cx="8351215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2D3E"/>
                </a:solidFill>
              </a:rPr>
              <a:t>Business Services Provisioning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A camada de exposição: decide quais dados e funcionalidades serão expostos para o mundo exterior.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828800" y="4672584"/>
            <a:ext cx="9814255" cy="1353312"/>
          </a:xfrm>
          <a:prstGeom prst="roundRect">
            <a:avLst>
              <a:gd name="adj" fmla="val 9459"/>
            </a:avLst>
          </a:prstGeom>
          <a:solidFill>
            <a:srgbClr val="EBF8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03120" y="5001768"/>
            <a:ext cx="694944" cy="69494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063240" y="4672584"/>
            <a:ext cx="8351215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2D3E"/>
                </a:solidFill>
              </a:rPr>
              <a:t>Data Modeling &amp; Behavior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O coração da aplicação: define a estrutura dos dados e as regras de negócio transacionais.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1600200"/>
            <a:ext cx="685800" cy="4498848"/>
          </a:xfrm>
          <a:prstGeom prst="upArrow">
            <a:avLst/>
          </a:prstGeom>
          <a:solidFill>
            <a:srgbClr val="0064D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417320" y="2514600"/>
            <a:ext cx="320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Desenvolvimento bottom-up</a:t>
            </a:r>
            <a:endParaRPr lang="en-US" sz="12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9907" y="2096171"/>
            <a:ext cx="361371" cy="361371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907" y="3632363"/>
            <a:ext cx="361371" cy="361371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9907" y="5168555"/>
            <a:ext cx="361371" cy="36137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Camada 1 · O Coração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Modelagem de Dados e Comportamento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20240"/>
            <a:ext cx="914400" cy="9144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3017520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D2D3E"/>
                </a:solidFill>
              </a:rPr>
              <a:t>CDS Views: O ‘O Quê’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566160"/>
            <a:ext cx="47242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Definem o modelo de dados semântico (Virtual Data Model – VDM). Diferente de views SQL clássicas, as CDS Views contêm associações ricas, cálculos e metadados de domínio que descrevem a estrutura do negócio.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" y="5532120"/>
            <a:ext cx="3369107" cy="365760"/>
          </a:xfrm>
          <a:prstGeom prst="roundRect">
            <a:avLst>
              <a:gd name="adj" fmla="val 50000"/>
            </a:avLst>
          </a:prstGeom>
          <a:solidFill>
            <a:srgbClr val="FFF8D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5532120"/>
            <a:ext cx="3369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44F00"/>
                </a:solidFill>
              </a:rPr>
              <a:t>O ‘Esqueleto’ da aplicação.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78728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98768" y="1920240"/>
            <a:ext cx="914400" cy="9144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98768" y="3017520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D2D3E"/>
                </a:solidFill>
              </a:rPr>
              <a:t>Behavior Definition (BDEF): O ‘Como’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598768" y="3566160"/>
            <a:ext cx="47242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Artefato exclusivo do RAP que define o comportamento transacional. Declara explicitamente operações (Create, Update, Delete), validações, determinações (cálculos automáticos) e ações customizadas (ex.: ‘Aprovar Pedido’).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98768" y="5532120"/>
            <a:ext cx="3143250" cy="365760"/>
          </a:xfrm>
          <a:prstGeom prst="roundRect">
            <a:avLst>
              <a:gd name="adj" fmla="val 50000"/>
            </a:avLst>
          </a:prstGeom>
          <a:solidFill>
            <a:srgbClr val="FFF8D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98768" y="5532120"/>
            <a:ext cx="3143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44F00"/>
                </a:solidFill>
              </a:rPr>
              <a:t>O ‘Cérebro’ da aplicação.</a:t>
            </a:r>
            <a:endParaRPr lang="en-US" sz="13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2139696"/>
            <a:ext cx="475488" cy="475488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8224" y="2139696"/>
            <a:ext cx="475488" cy="47548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Camada 2 · A Exposição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Provisionamento de Serviços de Negócio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20240"/>
            <a:ext cx="914400" cy="9144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3017520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D2D3E"/>
                </a:solidFill>
              </a:rPr>
              <a:t>Service Definition: O ‘Cardápio’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566160"/>
            <a:ext cx="47242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Atua como uma fachada ou ‘whitelist’. Permite selecionar um subconjunto de entidades do modelo de dados para expor em um serviço específico, garantindo segurança e foco. Define </a:t>
            </a:r>
            <a:r>
              <a:rPr lang="en-US" sz="1500" b="1" dirty="0">
                <a:solidFill>
                  <a:srgbClr val="1D2D3E"/>
                </a:solidFill>
              </a:rPr>
              <a:t>o que</a:t>
            </a:r>
            <a:r>
              <a:rPr lang="en-US" sz="1500" dirty="0">
                <a:solidFill>
                  <a:srgbClr val="1D2D3E"/>
                </a:solidFill>
              </a:rPr>
              <a:t> está disponível para um caso de uso.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78728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98768" y="1920240"/>
            <a:ext cx="914400" cy="9144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98768" y="3017520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D2D3E"/>
                </a:solidFill>
              </a:rPr>
              <a:t>Service Binding: O ‘Garçom’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98768" y="3566160"/>
            <a:ext cx="47242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É o tradutor técnico. Vincula a Service Definition a um protocolo de comunicação real. É aqui que se escolhe entre </a:t>
            </a:r>
            <a:r>
              <a:rPr lang="en-US" sz="1500" b="1" dirty="0">
                <a:solidFill>
                  <a:srgbClr val="1D2D3E"/>
                </a:solidFill>
              </a:rPr>
              <a:t>OData V2</a:t>
            </a:r>
            <a:r>
              <a:rPr lang="en-US" sz="1500" dirty="0">
                <a:solidFill>
                  <a:srgbClr val="1D2D3E"/>
                </a:solidFill>
              </a:rPr>
              <a:t> ou </a:t>
            </a:r>
            <a:r>
              <a:rPr lang="en-US" sz="1500" b="1" dirty="0">
                <a:solidFill>
                  <a:srgbClr val="1D2D3E"/>
                </a:solidFill>
              </a:rPr>
              <a:t>OData V4</a:t>
            </a:r>
            <a:r>
              <a:rPr lang="en-US" sz="1500" dirty="0">
                <a:solidFill>
                  <a:srgbClr val="1D2D3E"/>
                </a:solidFill>
              </a:rPr>
              <a:t>, e se o serviço será para uma </a:t>
            </a:r>
            <a:r>
              <a:rPr lang="en-US" sz="1500" b="1" dirty="0">
                <a:solidFill>
                  <a:srgbClr val="1D2D3E"/>
                </a:solidFill>
              </a:rPr>
              <a:t>UI</a:t>
            </a:r>
            <a:r>
              <a:rPr lang="en-US" sz="1500" dirty="0">
                <a:solidFill>
                  <a:srgbClr val="1D2D3E"/>
                </a:solidFill>
              </a:rPr>
              <a:t> (Fiori) ou uma </a:t>
            </a:r>
            <a:r>
              <a:rPr lang="en-US" sz="1500" b="1" dirty="0">
                <a:solidFill>
                  <a:srgbClr val="1D2D3E"/>
                </a:solidFill>
              </a:rPr>
              <a:t>Web API</a:t>
            </a:r>
            <a:r>
              <a:rPr lang="en-US" sz="1500" dirty="0">
                <a:solidFill>
                  <a:srgbClr val="1D2D3E"/>
                </a:solidFill>
              </a:rPr>
              <a:t> pura. Define </a:t>
            </a:r>
            <a:r>
              <a:rPr lang="en-US" sz="1500" b="1" dirty="0">
                <a:solidFill>
                  <a:srgbClr val="1D2D3E"/>
                </a:solidFill>
              </a:rPr>
              <a:t>como</a:t>
            </a:r>
            <a:r>
              <a:rPr lang="en-US" sz="1500" dirty="0">
                <a:solidFill>
                  <a:srgbClr val="1D2D3E"/>
                </a:solidFill>
              </a:rPr>
              <a:t> o pedido será entregue.</a:t>
            </a:r>
            <a:endParaRPr lang="en-US" sz="16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8224" y="2139696"/>
            <a:ext cx="475488" cy="475488"/>
          </a:xfrm>
          <a:prstGeom prst="rect">
            <a:avLst/>
          </a:prstGeom>
        </p:spPr>
      </p:pic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139696"/>
            <a:ext cx="475488" cy="47548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Camada 3 · O Consumo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 Aplicação em Uso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20240"/>
            <a:ext cx="914400" cy="9144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3017520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D2D3E"/>
                </a:solidFill>
              </a:rPr>
              <a:t>SAP Fiori Elements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566160"/>
            <a:ext cx="47242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O framework lê os metadados e anotações do CDS para gerar UIs dinamicamente, sem necessidade de código JavaScript manual, resultando em apps consistentes e de alta qualidade.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78728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98768" y="1920240"/>
            <a:ext cx="914400" cy="9144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98768" y="3017520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D2D3E"/>
                </a:solidFill>
              </a:rPr>
              <a:t>Web APIs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98768" y="3566160"/>
            <a:ext cx="47242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O serviço OData pode ser consumido por qualquer sistema externo (integrações A2A/B2B) ou por UIs customizadas (Freestyle SAPUI5, React, Angular), oferecendo máxima flexibilidade.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598768" y="5303520"/>
            <a:ext cx="4724248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27368" y="5468112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"d": { "results": [ ... ] } }</a:t>
            </a:r>
            <a:endParaRPr lang="en-US" sz="13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2139696"/>
            <a:ext cx="475488" cy="475488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8224" y="2139696"/>
            <a:ext cx="475488" cy="47548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 Grande Decisão do Arquiteto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Managed vs. Unmanaged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D2D3E"/>
                </a:solidFill>
              </a:rPr>
              <a:t>Ao criar um comportamento (Behavior Definition), a escolha do cenário de implementação define quem é responsável pelo ciclo de vida da transação: o framework ou o desenvolvedor. Não é uma escolha técnica, mas uma decisão estratégica.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095848" y="4892040"/>
            <a:ext cx="0" cy="822960"/>
          </a:xfrm>
          <a:prstGeom prst="line">
            <a:avLst/>
          </a:prstGeom>
          <a:noFill/>
          <a:ln w="101600">
            <a:solidFill>
              <a:srgbClr val="A9B4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1288" y="3063240"/>
            <a:ext cx="2194560" cy="1828800"/>
          </a:xfrm>
          <a:prstGeom prst="line">
            <a:avLst/>
          </a:prstGeom>
          <a:noFill/>
          <a:ln w="101600">
            <a:solidFill>
              <a:srgbClr val="0070F2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 flipH="1">
            <a:off x="6095848" y="3063240"/>
            <a:ext cx="2194560" cy="1828800"/>
          </a:xfrm>
          <a:prstGeom prst="line">
            <a:avLst/>
          </a:prstGeom>
          <a:noFill/>
          <a:ln w="101600">
            <a:solidFill>
              <a:srgbClr val="E76500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548640" y="2788920"/>
            <a:ext cx="384048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301752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794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64D9"/>
                </a:solidFill>
              </a:rPr>
              <a:t>Managed (Greenfield)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2062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Framework assume a responsabilidade. Começando do zero.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802575" y="2788920"/>
            <a:ext cx="384048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76895" y="301752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76895" y="3794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44F00"/>
                </a:solidFill>
              </a:rPr>
              <a:t>Unmanaged (Brownfield)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076895" y="42062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Desenvolvedor assume a responsabilidade. Integração com código legado.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D2D3E"/>
                </a:solidFill>
              </a:rPr>
              <a:t>Estamos construindo em um terreno novo ou integrando com uma estrutura existente?</a:t>
            </a:r>
            <a:endParaRPr lang="en-US" sz="18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0514" y="3171139"/>
            <a:ext cx="332842" cy="33284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Piloto Automático vs. Modo Manual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Escolhendo seu Cenário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45920" y="1783080"/>
            <a:ext cx="3992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64D9"/>
                </a:solidFill>
              </a:rPr>
              <a:t>Managed (Gerenciado)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“Piloto Automático”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481568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Como funciona:</a:t>
            </a:r>
            <a:r>
              <a:rPr lang="en-US" sz="1400" dirty="0">
                <a:solidFill>
                  <a:srgbClr val="1D2D3E"/>
                </a:solidFill>
              </a:rPr>
              <a:t> o framework RAP assume o controle total das operações CRUD padrão (</a:t>
            </a:r>
            <a:r>
              <a:rPr lang="en-US" sz="14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400" dirty="0">
                <a:solidFill>
                  <a:srgbClr val="1D2D3E"/>
                </a:solidFill>
              </a:rPr>
              <a:t>, </a:t>
            </a:r>
            <a:r>
              <a:rPr lang="en-US" sz="14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r>
              <a:rPr lang="en-US" sz="1400" dirty="0">
                <a:solidFill>
                  <a:srgbClr val="1D2D3E"/>
                </a:solidFill>
              </a:rPr>
              <a:t>, </a:t>
            </a:r>
            <a:r>
              <a:rPr lang="en-US" sz="14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400" dirty="0">
                <a:solidFill>
                  <a:srgbClr val="1D2D3E"/>
                </a:solidFill>
              </a:rPr>
              <a:t>) e do bloqueio (locking).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Papel do desenvolvedor:</a:t>
            </a:r>
            <a:r>
              <a:rPr lang="en-US" sz="1400" dirty="0">
                <a:solidFill>
                  <a:srgbClr val="1D2D3E"/>
                </a:solidFill>
              </a:rPr>
              <a:t> focar exclusivamente na lógica de negócio específica: validações, determinações e ações.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Uso ideal:</a:t>
            </a:r>
            <a:r>
              <a:rPr lang="en-US" sz="1400" dirty="0">
                <a:solidFill>
                  <a:srgbClr val="1D2D3E"/>
                </a:solidFill>
              </a:rPr>
              <a:t> novos desenvolvimentos (Greenfield). Perfeito para tabelas novas, sem lógicas legadas complexas.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78728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53048" y="182880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76008" y="1783080"/>
            <a:ext cx="3992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F00"/>
                </a:solidFill>
              </a:rPr>
              <a:t>Unmanaged (Não Gerenciado)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“Modo Manual”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743200"/>
            <a:ext cx="481568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Como funciona:</a:t>
            </a:r>
            <a:r>
              <a:rPr lang="en-US" sz="1400" dirty="0">
                <a:solidFill>
                  <a:srgbClr val="1D2D3E"/>
                </a:solidFill>
              </a:rPr>
              <a:t> o framework delega a responsabilidade da persistência. O desenvolvedor implementa os métodos para salvar os dados.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Papel do desenvolvedor:</a:t>
            </a:r>
            <a:r>
              <a:rPr lang="en-US" sz="1400" dirty="0">
                <a:solidFill>
                  <a:srgbClr val="1D2D3E"/>
                </a:solidFill>
              </a:rPr>
              <a:t> escrever o código que chama BAPIs, funções ou classes legadas e gerenciar o buffer transacional.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Uso ideal:</a:t>
            </a:r>
            <a:r>
              <a:rPr lang="en-US" sz="1400" dirty="0">
                <a:solidFill>
                  <a:srgbClr val="1D2D3E"/>
                </a:solidFill>
              </a:rPr>
              <a:t> sistemas legados (Brownfield). Essencial para construir um app moderno sobre lógica existente e complexa (ex.: BAPI de ordem de venda).</a:t>
            </a:r>
            <a:endParaRPr lang="en-US" sz="16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982419"/>
            <a:ext cx="332842" cy="332842"/>
          </a:xfrm>
          <a:prstGeom prst="rect">
            <a:avLst/>
          </a:prstGeom>
        </p:spPr>
      </p:pic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6667" y="1982419"/>
            <a:ext cx="332842" cy="33284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Fluxo de Desenvolvimento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 Canteiro de Obras: Do Zero ao App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658082" y="3040380"/>
            <a:ext cx="8875532" cy="0"/>
          </a:xfrm>
          <a:prstGeom prst="line">
            <a:avLst/>
          </a:prstGeom>
          <a:noFill/>
          <a:ln w="38100">
            <a:solidFill>
              <a:srgbClr val="0070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2302" y="2514600"/>
            <a:ext cx="1051560" cy="10515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70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32302" y="25146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>
                <a:solidFill>
                  <a:srgbClr val="0070F2"/>
                </a:solidFill>
              </a:rPr>
              <a:t>1</a:t>
            </a:r>
            <a:endParaRPr lang="en-US" sz="34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794760"/>
            <a:ext cx="2072579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D2D3E"/>
                </a:solidFill>
              </a:rPr>
              <a:t>Base de Dados</a:t>
            </a:r>
            <a:endParaRPr lang="en-US" sz="16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Criação da tabela física.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351185" y="2514600"/>
            <a:ext cx="1051560" cy="10515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70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51185" y="25146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>
                <a:solidFill>
                  <a:srgbClr val="0070F2"/>
                </a:solidFill>
              </a:rPr>
              <a:t>2</a:t>
            </a:r>
            <a:endParaRPr lang="en-US" sz="3450" dirty="0"/>
          </a:p>
        </p:txBody>
      </p:sp>
      <p:sp>
        <p:nvSpPr>
          <p:cNvPr id="10" name="Text 8"/>
          <p:cNvSpPr txBox="1"/>
          <p:nvPr/>
        </p:nvSpPr>
        <p:spPr>
          <a:xfrm>
            <a:off x="2840675" y="3794760"/>
            <a:ext cx="2072579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D2D3E"/>
                </a:solidFill>
              </a:rPr>
              <a:t>Modelo de Dados</a:t>
            </a:r>
            <a:endParaRPr lang="en-US" sz="16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Construção das CDS Views (Interface e Projeção).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570068" y="2514600"/>
            <a:ext cx="1051560" cy="10515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70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570068" y="25146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>
                <a:solidFill>
                  <a:srgbClr val="0070F2"/>
                </a:solidFill>
              </a:rPr>
              <a:t>3</a:t>
            </a:r>
            <a:endParaRPr lang="en-US" sz="3450" dirty="0"/>
          </a:p>
        </p:txBody>
      </p:sp>
      <p:sp>
        <p:nvSpPr>
          <p:cNvPr id="13" name="Text 11"/>
          <p:cNvSpPr txBox="1"/>
          <p:nvPr/>
        </p:nvSpPr>
        <p:spPr>
          <a:xfrm>
            <a:off x="5059558" y="3794760"/>
            <a:ext cx="2072579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D2D3E"/>
                </a:solidFill>
              </a:rPr>
              <a:t>Comportamento</a:t>
            </a:r>
            <a:endParaRPr lang="en-US" sz="16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Definição da lógica transacional (Behavior Definition).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88951" y="2514600"/>
            <a:ext cx="1051560" cy="10515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70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88951" y="25146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>
                <a:solidFill>
                  <a:srgbClr val="0070F2"/>
                </a:solidFill>
              </a:rPr>
              <a:t>4</a:t>
            </a:r>
            <a:endParaRPr lang="en-US" sz="3450" dirty="0"/>
          </a:p>
        </p:txBody>
      </p:sp>
      <p:sp>
        <p:nvSpPr>
          <p:cNvPr id="16" name="Text 14"/>
          <p:cNvSpPr txBox="1"/>
          <p:nvPr/>
        </p:nvSpPr>
        <p:spPr>
          <a:xfrm>
            <a:off x="7278441" y="3794760"/>
            <a:ext cx="2072579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D2D3E"/>
                </a:solidFill>
              </a:rPr>
              <a:t>Exposição</a:t>
            </a:r>
            <a:endParaRPr lang="en-US" sz="16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Criação do serviço (Service Definition &amp; Binding).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0007834" y="2514600"/>
            <a:ext cx="1051560" cy="10515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70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07834" y="25146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>
                <a:solidFill>
                  <a:srgbClr val="0070F2"/>
                </a:solidFill>
              </a:rPr>
              <a:t>5</a:t>
            </a:r>
            <a:endParaRPr lang="en-US" sz="3450" dirty="0"/>
          </a:p>
        </p:txBody>
      </p:sp>
      <p:sp>
        <p:nvSpPr>
          <p:cNvPr id="19" name="Text 17"/>
          <p:cNvSpPr txBox="1"/>
          <p:nvPr/>
        </p:nvSpPr>
        <p:spPr>
          <a:xfrm>
            <a:off x="9497324" y="3794760"/>
            <a:ext cx="2072579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D2D3E"/>
                </a:solidFill>
              </a:rPr>
              <a:t>Consumo</a:t>
            </a:r>
            <a:endParaRPr lang="en-US" sz="16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Pré-visualização e teste da UI Fiori.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Fluxo de Trabalho em Detalhes (Parte 1)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 Fundação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17320" y="1581912"/>
            <a:ext cx="10225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1. Database Table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Criação da tabela física no Dicionário ABAP. </a:t>
            </a:r>
            <a:r>
              <a:rPr lang="en-US" sz="1500" b="1" dirty="0">
                <a:solidFill>
                  <a:srgbClr val="556B82"/>
                </a:solidFill>
              </a:rPr>
              <a:t>Boa prática:</a:t>
            </a:r>
            <a:r>
              <a:rPr lang="en-US" sz="1500" dirty="0">
                <a:solidFill>
                  <a:srgbClr val="556B82"/>
                </a:solidFill>
              </a:rPr>
              <a:t> utilizar UUIDs como chaves primárias e campos de controle administrativo.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7320" y="2724912"/>
            <a:ext cx="10225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2. Interface View (CDS)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Criação da visão básica (Basic View) sobre a tabela. </a:t>
            </a:r>
            <a:r>
              <a:rPr lang="en-US" sz="1500" b="1" dirty="0">
                <a:solidFill>
                  <a:srgbClr val="556B82"/>
                </a:solidFill>
              </a:rPr>
              <a:t>Propósito:</a:t>
            </a:r>
            <a:r>
              <a:rPr lang="en-US" sz="1500" dirty="0">
                <a:solidFill>
                  <a:srgbClr val="556B82"/>
                </a:solidFill>
              </a:rPr>
              <a:t> abstrair os nomes técnicos da tabela para nomes semânticos (CamelCase).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88620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17320" y="3867912"/>
            <a:ext cx="10225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3. Projection View (CDS)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Criação de uma visão de consumo para a aplicação. </a:t>
            </a:r>
            <a:r>
              <a:rPr lang="en-US" sz="1500" b="1" dirty="0">
                <a:solidFill>
                  <a:srgbClr val="556B82"/>
                </a:solidFill>
              </a:rPr>
              <a:t>Propósito:</a:t>
            </a:r>
            <a:r>
              <a:rPr lang="en-US" sz="1500" dirty="0">
                <a:solidFill>
                  <a:srgbClr val="556B82"/>
                </a:solidFill>
              </a:rPr>
              <a:t> filtrar campos, preparar dados e servir como base para a UI.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502920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5010912"/>
            <a:ext cx="10225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4. Metadata Extension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Arquivo separado (.ddlx) para as anotações de UI (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r>
              <a:rPr lang="en-US" sz="1500" dirty="0">
                <a:solidFill>
                  <a:srgbClr val="556B82"/>
                </a:solidFill>
              </a:rPr>
              <a:t>, etc.). </a:t>
            </a:r>
            <a:r>
              <a:rPr lang="en-US" sz="1500" b="1" dirty="0">
                <a:solidFill>
                  <a:srgbClr val="556B82"/>
                </a:solidFill>
              </a:rPr>
              <a:t>Benefício:</a:t>
            </a:r>
            <a:r>
              <a:rPr lang="en-US" sz="1500" dirty="0">
                <a:solidFill>
                  <a:srgbClr val="556B82"/>
                </a:solidFill>
              </a:rPr>
              <a:t> mantém a CDS View limpa, separando dados da apresentação.</a:t>
            </a:r>
            <a:endParaRPr lang="en-US" sz="16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1753819"/>
            <a:ext cx="332842" cy="332842"/>
          </a:xfrm>
          <a:prstGeom prst="rect">
            <a:avLst/>
          </a:prstGeom>
        </p:spPr>
      </p:pic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2896819"/>
            <a:ext cx="332842" cy="332842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039819"/>
            <a:ext cx="332842" cy="332842"/>
          </a:xfrm>
          <a:prstGeom prst="rect">
            <a:avLst/>
          </a:prstGeom>
        </p:spPr>
      </p:pic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5182819"/>
            <a:ext cx="332842" cy="33284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Fluxo de Trabalho em Detalhes (Parte 2)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 Publicação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17320" y="1581912"/>
            <a:ext cx="10225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5. Behavior Definition (BDEF)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Definir as capacidades transacionais na Interface View e projetá-las na Projection View. </a:t>
            </a:r>
            <a:r>
              <a:rPr lang="en-US" sz="1500" b="1" dirty="0">
                <a:solidFill>
                  <a:srgbClr val="556B82"/>
                </a:solidFill>
              </a:rPr>
              <a:t>Resultado:</a:t>
            </a:r>
            <a:r>
              <a:rPr lang="en-US" sz="1500" dirty="0">
                <a:solidFill>
                  <a:srgbClr val="556B82"/>
                </a:solidFill>
              </a:rPr>
              <a:t> o compilador cria as classes (Behavior Pools) onde o código ABAP será implementado.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7320" y="2724912"/>
            <a:ext cx="10225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6. Service Definition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Agrupar as Projection Views relevantes em um serviço nomeado e com escopo definido.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88620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17320" y="3867912"/>
            <a:ext cx="10225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7. Service Binding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Publicar o serviço, escolhendo o protocolo e ativando o endpoint (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/sap/opu/odata/...</a:t>
            </a:r>
            <a:r>
              <a:rPr lang="en-US" sz="1500" dirty="0">
                <a:solidFill>
                  <a:srgbClr val="556B82"/>
                </a:solidFill>
              </a:rPr>
              <a:t>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502920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5010912"/>
            <a:ext cx="10225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8. Preview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rgbClr val="556B82"/>
                </a:solidFill>
              </a:rPr>
              <a:t>Destaque:</a:t>
            </a:r>
            <a:r>
              <a:rPr lang="en-US" sz="1500" dirty="0">
                <a:solidFill>
                  <a:srgbClr val="556B82"/>
                </a:solidFill>
              </a:rPr>
              <a:t> utilizar a função de Preview do Service Binding no ADT (Eclipse) para testar a aplicação Fiori Elements instantaneamente no navegador.</a:t>
            </a:r>
            <a:endParaRPr lang="en-US" sz="16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2896819"/>
            <a:ext cx="332842" cy="332842"/>
          </a:xfrm>
          <a:prstGeom prst="rect">
            <a:avLst/>
          </a:prstGeom>
        </p:spPr>
      </p:pic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4039819"/>
            <a:ext cx="332842" cy="332842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1753819"/>
            <a:ext cx="332842" cy="332842"/>
          </a:xfrm>
          <a:prstGeom prst="rect">
            <a:avLst/>
          </a:prstGeom>
        </p:spPr>
      </p:pic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5182819"/>
            <a:ext cx="332842" cy="33284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 Fluxo de Dados Consolidado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749040" y="155448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1D2D3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206240" y="15544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Browser / Fiori Launchpad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532120" y="2057400"/>
            <a:ext cx="0" cy="246888"/>
          </a:xfrm>
          <a:prstGeom prst="line">
            <a:avLst/>
          </a:prstGeom>
          <a:noFill/>
          <a:ln w="25400">
            <a:solidFill>
              <a:srgbClr val="E76500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5623560" y="2057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6B82"/>
                </a:solidFill>
              </a:rPr>
              <a:t>Request Flow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749040" y="2304288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06240" y="230428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D2D3E"/>
                </a:solidFill>
              </a:rPr>
              <a:t>SAP Gateway / Service Binding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32120" y="2807208"/>
            <a:ext cx="0" cy="246888"/>
          </a:xfrm>
          <a:prstGeom prst="line">
            <a:avLst/>
          </a:prstGeom>
          <a:noFill/>
          <a:ln w="25400">
            <a:solidFill>
              <a:srgbClr val="E76500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5623560" y="28072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6B82"/>
                </a:solidFill>
              </a:rPr>
              <a:t>HTTPS / OData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749040" y="3054096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06240" y="305409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D2D3E"/>
                </a:solidFill>
              </a:rPr>
              <a:t>Service Definition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532120" y="3557016"/>
            <a:ext cx="0" cy="246888"/>
          </a:xfrm>
          <a:prstGeom prst="line">
            <a:avLst/>
          </a:prstGeom>
          <a:noFill/>
          <a:ln w="25400">
            <a:solidFill>
              <a:srgbClr val="E7650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560320" y="3712464"/>
            <a:ext cx="5029200" cy="685800"/>
          </a:xfrm>
          <a:prstGeom prst="roundRect">
            <a:avLst>
              <a:gd name="adj" fmla="val 13333"/>
            </a:avLst>
          </a:prstGeom>
          <a:solidFill>
            <a:srgbClr val="EBF8FF"/>
          </a:solidFill>
          <a:ln w="12700">
            <a:solidFill>
              <a:srgbClr val="BDE6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51760" y="3803904"/>
            <a:ext cx="23317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43200" y="380390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D3E"/>
                </a:solidFill>
              </a:rPr>
              <a:t>Projection CDS Views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212080" y="3803904"/>
            <a:ext cx="22860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0" y="380390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D3E"/>
                </a:solidFill>
              </a:rPr>
              <a:t>Behavior Projection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10912" y="4050792"/>
            <a:ext cx="182880" cy="0"/>
          </a:xfrm>
          <a:prstGeom prst="line">
            <a:avLst/>
          </a:prstGeom>
          <a:noFill/>
          <a:ln w="25400">
            <a:solidFill>
              <a:srgbClr val="E76500"/>
            </a:solidFill>
            <a:prstDash val="solid"/>
            <a:headEnd type="triangle"/>
          </a:ln>
        </p:spPr>
      </p:sp>
      <p:sp>
        <p:nvSpPr>
          <p:cNvPr id="20" name="Shape 18"/>
          <p:cNvSpPr/>
          <p:nvPr/>
        </p:nvSpPr>
        <p:spPr>
          <a:xfrm>
            <a:off x="7543800" y="4050792"/>
            <a:ext cx="1097280" cy="0"/>
          </a:xfrm>
          <a:prstGeom prst="line">
            <a:avLst/>
          </a:prstGeom>
          <a:noFill/>
          <a:ln w="25400">
            <a:solidFill>
              <a:srgbClr val="E7650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7589520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6B82"/>
                </a:solidFill>
              </a:rPr>
              <a:t>Delegação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686800" y="3803904"/>
            <a:ext cx="29260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0" y="380390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D2D3E"/>
                </a:solidFill>
              </a:rPr>
              <a:t>Behavior Definition (Implementação)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0149840" y="4306824"/>
            <a:ext cx="0" cy="246888"/>
          </a:xfrm>
          <a:prstGeom prst="line">
            <a:avLst/>
          </a:prstGeom>
          <a:noFill/>
          <a:ln w="25400">
            <a:solidFill>
              <a:srgbClr val="E76500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10241280" y="4306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6B82"/>
                </a:solidFill>
              </a:rPr>
              <a:t>ABAP EML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686800" y="4553712"/>
            <a:ext cx="29260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0" y="455371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D2D3E"/>
                </a:solidFill>
              </a:rPr>
              <a:t>Lógica de Negócio (Classes BP_)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532120" y="4398264"/>
            <a:ext cx="0" cy="155448"/>
          </a:xfrm>
          <a:prstGeom prst="line">
            <a:avLst/>
          </a:prstGeom>
          <a:noFill/>
          <a:ln w="25400">
            <a:solidFill>
              <a:srgbClr val="E76500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623560" y="43525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6B82"/>
                </a:solidFill>
              </a:rPr>
              <a:t>Herança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749040" y="4553712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06240" y="455371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D2D3E"/>
                </a:solidFill>
              </a:rPr>
              <a:t>Interface CDS Views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532120" y="5056632"/>
            <a:ext cx="0" cy="246888"/>
          </a:xfrm>
          <a:prstGeom prst="line">
            <a:avLst/>
          </a:prstGeom>
          <a:noFill/>
          <a:ln w="25400">
            <a:solidFill>
              <a:srgbClr val="E7650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5623560" y="50566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6B82"/>
                </a:solidFill>
              </a:rPr>
              <a:t>SQL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749040" y="530352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1D2D3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206240" y="53035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Banco de Dados HANA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0149840" y="5056632"/>
            <a:ext cx="0" cy="493776"/>
          </a:xfrm>
          <a:prstGeom prst="line">
            <a:avLst/>
          </a:prstGeom>
          <a:noFill/>
          <a:ln w="25400">
            <a:solidFill>
              <a:srgbClr val="E765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315200" y="5550408"/>
            <a:ext cx="2834640" cy="0"/>
          </a:xfrm>
          <a:prstGeom prst="line">
            <a:avLst/>
          </a:prstGeom>
          <a:noFill/>
          <a:ln w="25400">
            <a:solidFill>
              <a:srgbClr val="E76500"/>
            </a:solidFill>
            <a:prstDash val="solid"/>
            <a:headEnd type="triangle"/>
          </a:ln>
        </p:spPr>
      </p:sp>
      <p:sp>
        <p:nvSpPr>
          <p:cNvPr id="38" name="Shape 36"/>
          <p:cNvSpPr/>
          <p:nvPr/>
        </p:nvSpPr>
        <p:spPr>
          <a:xfrm>
            <a:off x="1097280" y="1801368"/>
            <a:ext cx="0" cy="3749040"/>
          </a:xfrm>
          <a:prstGeom prst="line">
            <a:avLst/>
          </a:prstGeom>
          <a:noFill/>
          <a:ln w="25400">
            <a:solidFill>
              <a:srgbClr val="0064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97280" y="5550408"/>
            <a:ext cx="2651760" cy="0"/>
          </a:xfrm>
          <a:prstGeom prst="line">
            <a:avLst/>
          </a:prstGeom>
          <a:noFill/>
          <a:ln w="25400">
            <a:solidFill>
              <a:srgbClr val="0064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97280" y="1801368"/>
            <a:ext cx="2651760" cy="0"/>
          </a:xfrm>
          <a:prstGeom prst="line">
            <a:avLst/>
          </a:prstGeom>
          <a:noFill/>
          <a:ln w="25400">
            <a:solidFill>
              <a:srgbClr val="0064D9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1188720" y="3383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0064D9"/>
                </a:solidFill>
              </a:rPr>
              <a:t>Response Flow</a:t>
            </a:r>
            <a:endParaRPr lang="en-US" sz="1100" dirty="0"/>
          </a:p>
        </p:txBody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1668780"/>
            <a:ext cx="274320" cy="274320"/>
          </a:xfrm>
          <a:prstGeom prst="rect">
            <a:avLst/>
          </a:prstGeom>
        </p:spPr>
      </p:pic>
      <p:pic>
        <p:nvPicPr>
          <p:cNvPr id="4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2418588"/>
            <a:ext cx="274320" cy="274320"/>
          </a:xfrm>
          <a:prstGeom prst="rect">
            <a:avLst/>
          </a:prstGeom>
        </p:spPr>
      </p:pic>
      <p:pic>
        <p:nvPicPr>
          <p:cNvPr id="4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3168396"/>
            <a:ext cx="274320" cy="274320"/>
          </a:xfrm>
          <a:prstGeom prst="rect">
            <a:avLst/>
          </a:prstGeom>
        </p:spPr>
      </p:pic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4668012"/>
            <a:ext cx="274320" cy="274320"/>
          </a:xfrm>
          <a:prstGeom prst="rect">
            <a:avLst/>
          </a:prstGeom>
        </p:spPr>
      </p:pic>
      <p:pic>
        <p:nvPicPr>
          <p:cNvPr id="4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3960" y="3918204"/>
            <a:ext cx="274320" cy="274320"/>
          </a:xfrm>
          <a:prstGeom prst="rect">
            <a:avLst/>
          </a:prstGeom>
        </p:spPr>
      </p:pic>
      <p:pic>
        <p:nvPicPr>
          <p:cNvPr id="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6200" y="4668012"/>
            <a:ext cx="274320" cy="274320"/>
          </a:xfrm>
          <a:prstGeom prst="rect">
            <a:avLst/>
          </a:prstGeom>
        </p:spPr>
      </p:pic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86200" y="5417820"/>
            <a:ext cx="274320" cy="274320"/>
          </a:xfrm>
          <a:prstGeom prst="rect">
            <a:avLst/>
          </a:prstGeom>
        </p:spPr>
      </p:pic>
      <p:sp>
        <p:nvSpPr>
          <p:cNvPr id="49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Resumo do Arquiteto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Conceitos Essenciais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1004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20240"/>
            <a:ext cx="868680" cy="8686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920240" y="1828800"/>
            <a:ext cx="38098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CDS View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Função: </a:t>
            </a:r>
            <a:r>
              <a:rPr lang="en-US" sz="1400" dirty="0">
                <a:solidFill>
                  <a:srgbClr val="556B82"/>
                </a:solidFill>
              </a:rPr>
              <a:t>Modelagem de Dados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Camada: </a:t>
            </a:r>
            <a:r>
              <a:rPr lang="en-US" sz="1400" dirty="0">
                <a:solidFill>
                  <a:srgbClr val="556B82"/>
                </a:solidFill>
              </a:rPr>
              <a:t>Data Modeling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B44F00"/>
                </a:solidFill>
              </a:rPr>
              <a:t>Analogia: </a:t>
            </a:r>
            <a:r>
              <a:rPr lang="en-US" sz="1400" dirty="0">
                <a:solidFill>
                  <a:srgbClr val="B44F00"/>
                </a:solidFill>
              </a:rPr>
              <a:t>O ‘Esqueleto’ e os ‘Músculos’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3008" y="1600200"/>
            <a:ext cx="541004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07328" y="1920240"/>
            <a:ext cx="868680" cy="8686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604608" y="1828800"/>
            <a:ext cx="38098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Behavior Definition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Função: </a:t>
            </a:r>
            <a:r>
              <a:rPr lang="en-US" sz="1400" dirty="0">
                <a:solidFill>
                  <a:srgbClr val="556B82"/>
                </a:solidFill>
              </a:rPr>
              <a:t>Lógica Transacional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Camada: </a:t>
            </a:r>
            <a:r>
              <a:rPr lang="en-US" sz="1400" dirty="0">
                <a:solidFill>
                  <a:srgbClr val="556B82"/>
                </a:solidFill>
              </a:rPr>
              <a:t>Business Logic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B44F00"/>
                </a:solidFill>
              </a:rPr>
              <a:t>Analogia: </a:t>
            </a:r>
            <a:r>
              <a:rPr lang="en-US" sz="1400" dirty="0">
                <a:solidFill>
                  <a:srgbClr val="B44F00"/>
                </a:solidFill>
              </a:rPr>
              <a:t>O ‘Cérebro’ (decisões e regras)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931920"/>
            <a:ext cx="541004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4251960"/>
            <a:ext cx="868680" cy="8686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920240" y="4160520"/>
            <a:ext cx="38098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Service Definition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Função: </a:t>
            </a:r>
            <a:r>
              <a:rPr lang="en-US" sz="1400" dirty="0">
                <a:solidFill>
                  <a:srgbClr val="556B82"/>
                </a:solidFill>
              </a:rPr>
              <a:t>Seleção de Escopo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Camada: </a:t>
            </a:r>
            <a:r>
              <a:rPr lang="en-US" sz="1400" dirty="0">
                <a:solidFill>
                  <a:srgbClr val="556B82"/>
                </a:solidFill>
              </a:rPr>
              <a:t>Service Provisioning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B44F00"/>
                </a:solidFill>
              </a:rPr>
              <a:t>Analogia: </a:t>
            </a:r>
            <a:r>
              <a:rPr lang="en-US" sz="1400" dirty="0">
                <a:solidFill>
                  <a:srgbClr val="B44F00"/>
                </a:solidFill>
              </a:rPr>
              <a:t>O ‘Cardápio’ (o que está disponível)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33008" y="3931920"/>
            <a:ext cx="541004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07328" y="4251960"/>
            <a:ext cx="868680" cy="8686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04608" y="4160520"/>
            <a:ext cx="38098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Service Binding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Função: </a:t>
            </a:r>
            <a:r>
              <a:rPr lang="en-US" sz="1400" dirty="0">
                <a:solidFill>
                  <a:srgbClr val="556B82"/>
                </a:solidFill>
              </a:rPr>
              <a:t>Protocolo de Comunicação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Camada: </a:t>
            </a:r>
            <a:r>
              <a:rPr lang="en-US" sz="1400" dirty="0">
                <a:solidFill>
                  <a:srgbClr val="556B82"/>
                </a:solidFill>
              </a:rPr>
              <a:t>Service Provisioning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B44F00"/>
                </a:solidFill>
              </a:rPr>
              <a:t>Analogia: </a:t>
            </a:r>
            <a:r>
              <a:rPr lang="en-US" sz="1400" dirty="0">
                <a:solidFill>
                  <a:srgbClr val="B44F00"/>
                </a:solidFill>
              </a:rPr>
              <a:t>O ‘Garçom’ (entrega o pedido em OData)</a:t>
            </a:r>
            <a:endParaRPr lang="en-US" sz="16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443" y="2128723"/>
            <a:ext cx="451714" cy="451714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811" y="2128723"/>
            <a:ext cx="451714" cy="451714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443" y="4460443"/>
            <a:ext cx="451714" cy="451714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811" y="4460443"/>
            <a:ext cx="451714" cy="45171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DB1FF"/>
                </a:solidFill>
              </a:rPr>
              <a:t>Conclusão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Construindo o Futuro com ABAP RAP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C9D3DE"/>
                </a:solidFill>
              </a:rPr>
              <a:t>O ABAP RESTful Application Programming Model é a base para o desenvolvimento de aplicações S/4HANA e ABAP Cloud. Dominar sua arquitetura, decisões e fluxo de trabalho é essencial para qualquer arquiteto de software SAP moderno.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5204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FFFFF"/>
                </a:solidFill>
              </a:rPr>
              <a:t>A planta baixa foi apresentada. As ferramentas estão prontas.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605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DB1FF"/>
                </a:solidFill>
              </a:rPr>
              <a:t>Você está pronto para construir.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396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7858FF"/>
      </a:accent5>
      <a:accent6>
        <a:srgbClr val="07838F"/>
      </a:accent6>
      <a:hlink>
        <a:srgbClr val="0064D9"/>
      </a:hlink>
      <a:folHlink>
        <a:srgbClr val="5D36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Arquiteto de Software: Dominando o ABAP RAP</dc:title>
  <dc:subject>ABAP Moderno – Módulo 01</dc:subject>
  <dc:creator>Adriano Bispo</dc:creator>
  <cp:lastModifiedBy>Adriano Bispo</cp:lastModifiedBy>
  <cp:revision>1</cp:revision>
  <dcterms:created xsi:type="dcterms:W3CDTF">2026-10-25T03:47:51Z</dcterms:created>
  <dcterms:modified xsi:type="dcterms:W3CDTF">2026-10-25T03:47:51Z</dcterms:modified>
</cp:coreProperties>
</file>