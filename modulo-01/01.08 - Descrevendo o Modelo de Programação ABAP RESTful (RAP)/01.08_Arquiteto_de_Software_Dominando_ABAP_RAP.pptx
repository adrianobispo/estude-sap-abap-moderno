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8 de 8 — Modelo RAP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8 de 8 — Modelo RAP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08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 modelo de programação ABAP RESTful (RAP)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As camadas do RAP, do banco de dados ao serviço OData, a lógica de negócio com validações e os ajustes de UI.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8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46691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46691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geramos um serviço OData de UI para conexões de voo, garantimos a chave semântica com uma validação e ajustamos o app Fiori.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modelo para apps Fiori e APIs na nuvem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RAP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RESTful ABAP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modelo para serviços e apps no ABAP Cloud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0775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0892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CDS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0892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Modelo de dados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views e comportamento definidos em código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6873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68041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OData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268041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Protocolo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V4 para apps de UI e V2/V4 para APIs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2599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2715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UUID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52715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 técnica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gerada pelo runtime no cenário managed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8510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627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ETag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78627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Concorrência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protege dados em um mundo stateless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o RAP entrega pronto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cenário </a:t>
            </a:r>
            <a:r>
              <a:rPr lang="en-US" sz="1200" b="1" dirty="0">
                <a:solidFill>
                  <a:srgbClr val="556B82"/>
                </a:solidFill>
              </a:rPr>
              <a:t>managed</a:t>
            </a:r>
            <a:r>
              <a:rPr lang="en-US" sz="1200" dirty="0">
                <a:solidFill>
                  <a:srgbClr val="556B82"/>
                </a:solidFill>
              </a:rPr>
              <a:t>, o runtime cuida de criar, ler, alterar, apagar, bloquear e gravar. O desenvolvedor concentra-se no que é específico do negócio: validações, determinações e ações.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977640"/>
            <a:ext cx="1020470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77640"/>
            <a:ext cx="1020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Managed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15630" y="397764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15630" y="3977640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12326" y="3977640"/>
            <a:ext cx="77906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12326" y="3977640"/>
            <a:ext cx="77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ETag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28555" y="397764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28555" y="397764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Validations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4416552"/>
            <a:ext cx="1583741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4416552"/>
            <a:ext cx="15837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Determinations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78901" y="4416552"/>
            <a:ext cx="1020470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78901" y="4416552"/>
            <a:ext cx="1020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Actions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36531" y="4416552"/>
            <a:ext cx="1583741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36531" y="4416552"/>
            <a:ext cx="15837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Fiori Elements</a:t>
            </a:r>
            <a:endParaRPr lang="en-US" sz="10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arquitetura em camadas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RAP separa o </a:t>
            </a:r>
            <a:r>
              <a:rPr lang="en-US" sz="1600" b="1" dirty="0">
                <a:solidFill>
                  <a:srgbClr val="D1EFFF"/>
                </a:solidFill>
              </a:rPr>
              <a:t>modelo de dados e comportamento</a:t>
            </a:r>
            <a:r>
              <a:rPr lang="en-US" sz="1600" dirty="0">
                <a:solidFill>
                  <a:srgbClr val="D1EFFF"/>
                </a:solidFill>
              </a:rPr>
              <a:t>, a </a:t>
            </a:r>
            <a:r>
              <a:rPr lang="en-US" sz="1600" b="1" dirty="0">
                <a:solidFill>
                  <a:srgbClr val="D1EFFF"/>
                </a:solidFill>
              </a:rPr>
              <a:t>exposição como serviço</a:t>
            </a:r>
            <a:r>
              <a:rPr lang="en-US" sz="1600" dirty="0">
                <a:solidFill>
                  <a:srgbClr val="D1EFFF"/>
                </a:solidFill>
              </a:rPr>
              <a:t> e o </a:t>
            </a:r>
            <a:r>
              <a:rPr lang="en-US" sz="1600" b="1" dirty="0">
                <a:solidFill>
                  <a:srgbClr val="D1EFFF"/>
                </a:solidFill>
              </a:rPr>
              <a:t>consumo</a:t>
            </a:r>
            <a:r>
              <a:rPr lang="en-US" sz="1600" dirty="0">
                <a:solidFill>
                  <a:srgbClr val="D1EFFF"/>
                </a:solidFill>
              </a:rPr>
              <a:t>, cada um com seus objetos.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e comportamento</a:t>
            </a:r>
            <a:r>
              <a:rPr lang="en-US" sz="1000" dirty="0">
                <a:solidFill>
                  <a:srgbClr val="D1EFFF"/>
                </a:solidFill>
              </a:rPr>
              <a:t>  CDS + BDEF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Exposição</a:t>
            </a:r>
            <a:r>
              <a:rPr lang="en-US" sz="1000" dirty="0">
                <a:solidFill>
                  <a:srgbClr val="D1EFFF"/>
                </a:solidFill>
              </a:rPr>
              <a:t>  service definition e binding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</a:t>
            </a:r>
            <a:r>
              <a:rPr lang="en-US" sz="1000" dirty="0">
                <a:solidFill>
                  <a:srgbClr val="D1EFFF"/>
                </a:solidFill>
              </a:rPr>
              <a:t>  Fiori, API, EML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TRÊS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modelo de dados ao consumidor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Modelagem e comportamento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Tabelas, CDS view entities, behavior definition e behavior pool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Exposição do serviço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Projeção, service definition e service binding (OData)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Consumo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App SAP Fiori Elements, Web API ou EML em código ABAP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RESTful e stateless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servidor ABAP atua como um servidor web sem estado; o estado da sessão pode ir para o banco (rascunhos).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protocolo REST usado entre o app e o serviço, com metadados que o Fiori Elements interpreta.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OBJETOS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gerador cria a partir de uma tabela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462430"/>
                <a:gridCol w="2596823"/>
                <a:gridCol w="476084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CDS view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Z_R_…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+ behavior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business object: dados e comportamento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Behavior pool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ZBP_R_…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Classe com a lógica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Projection view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Z_C_…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+ BDEF de projeção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recorte do BO para este serviço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Metadata extension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Anotações de UI separadas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Service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Quais entidades o serviço oferece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Service binding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Protocolo (OData V4, UI) e publicação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Gerador  </a:t>
            </a:r>
            <a:r>
              <a:rPr lang="en-US" sz="1200" dirty="0">
                <a:solidFill>
                  <a:srgbClr val="1D2D3E"/>
                </a:solidFill>
              </a:rPr>
              <a:t>no ADT, botão direito na tabela → </a:t>
            </a:r>
            <a:r>
              <a:rPr lang="en-US" sz="1200" b="1" dirty="0">
                <a:solidFill>
                  <a:srgbClr val="1D2D3E"/>
                </a:solidFill>
              </a:rPr>
              <a:t>Generate ABAP Repository Objects</a:t>
            </a:r>
            <a:r>
              <a:rPr lang="en-US" sz="1200" dirty="0">
                <a:solidFill>
                  <a:srgbClr val="1D2D3E"/>
                </a:solidFill>
              </a:rPr>
              <a:t> → </a:t>
            </a:r>
            <a:r>
              <a:rPr lang="en-US" sz="1200" i="1" dirty="0">
                <a:solidFill>
                  <a:srgbClr val="1D2D3E"/>
                </a:solidFill>
              </a:rPr>
              <a:t>OData UI Service</a:t>
            </a:r>
            <a:r>
              <a:rPr lang="en-US" sz="1200" dirty="0">
                <a:solidFill>
                  <a:srgbClr val="1D2D3E"/>
                </a:solidFill>
              </a:rPr>
              <a:t>. Depois, publique o binding e use a </a:t>
            </a:r>
            <a:r>
              <a:rPr lang="en-US" sz="1200" b="1" dirty="0">
                <a:solidFill>
                  <a:srgbClr val="1D2D3E"/>
                </a:solidFill>
              </a:rPr>
              <a:t>Preview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banco de dados ao serviço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ponto de partida é uma tabela com </a:t>
            </a:r>
            <a:r>
              <a:rPr lang="en-US" sz="1600" b="1" dirty="0">
                <a:solidFill>
                  <a:srgbClr val="D1EFFF"/>
                </a:solidFill>
              </a:rPr>
              <a:t>chave UUID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campos administrativos</a:t>
            </a:r>
            <a:r>
              <a:rPr lang="en-US" sz="1600" dirty="0">
                <a:solidFill>
                  <a:srgbClr val="D1EFFF"/>
                </a:solidFill>
              </a:rPr>
              <a:t>, que o RAP usa para controle de concorrência.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+ uuid</a:t>
            </a:r>
            <a:r>
              <a:rPr lang="en-US" sz="1000" dirty="0">
                <a:solidFill>
                  <a:srgbClr val="D1EFFF"/>
                </a:solidFill>
              </a:rPr>
              <a:t>  chave técnica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 · …_at</a:t>
            </a:r>
            <a:r>
              <a:rPr lang="en-US" sz="1000" dirty="0">
                <a:solidFill>
                  <a:srgbClr val="D1EFFF"/>
                </a:solidFill>
              </a:rPr>
              <a:t>  auditoria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000" dirty="0">
                <a:solidFill>
                  <a:srgbClr val="D1EFFF"/>
                </a:solidFill>
              </a:rPr>
              <a:t>  ETag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elements</a:t>
            </a:r>
            <a:r>
              <a:rPr lang="en-US" sz="1000" dirty="0">
                <a:solidFill>
                  <a:srgbClr val="D1EFFF"/>
                </a:solidFill>
              </a:rPr>
              <a:t>  rótulos da UI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A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Chave técnica e campos administrativos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zconnection.tabl.abap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ZS4D400_##_RAP › ZCONNECTION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'Flight connections'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zconnection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/dmo/connection_id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local_created_by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abp_creation_user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local_created_at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abp_locinst_lastchange_user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abp_locinst_lastchange_tstmpl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 técnica que o runtime pode preencher sozinho ao criar.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 semântica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Companhia + voo também devem ser únicos: isso exige uma validação.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Campos administrativos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Quem e quando criou ou alterou; exigidos pelo gerador com esses tipos.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Data elements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Trazem rótulos que aparecem automaticamente no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CONCORRÊNCIA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o RAP evita conflitos sem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Bloqueios exclusivos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Enquanto um usuário edita, o registro fica bloqueado para os demais.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ETag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campo que muda a cada alteração. Se o valor lido não bate com o atual, alguém mudou o dado no meio do caminho.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Timestamps como ETag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1300" dirty="0">
                <a:solidFill>
                  <a:srgbClr val="556B82"/>
                </a:solidFill>
              </a:rPr>
              <a:t> são ótimos ETags: mudam sempre que o registro é gravado.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Lógica de negócio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Regras que o modelo não garante sozinho viram </a:t>
            </a:r>
            <a:r>
              <a:rPr lang="en-US" sz="1600" b="1" dirty="0">
                <a:solidFill>
                  <a:srgbClr val="D1EFFF"/>
                </a:solidFill>
              </a:rPr>
              <a:t>validações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determinações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ações</a:t>
            </a:r>
            <a:r>
              <a:rPr lang="en-US" sz="1600" dirty="0">
                <a:solidFill>
                  <a:srgbClr val="D1EFFF"/>
                </a:solidFill>
              </a:rPr>
              <a:t> declaradas na behavior definition.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… on save</a:t>
            </a:r>
            <a:r>
              <a:rPr lang="en-US" sz="1000" dirty="0">
                <a:solidFill>
                  <a:srgbClr val="D1EFFF"/>
                </a:solidFill>
              </a:rPr>
              <a:t>  declaração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VALIDATE ON SAVE</a:t>
            </a:r>
            <a:r>
              <a:rPr lang="en-US" sz="1000" dirty="0">
                <a:solidFill>
                  <a:srgbClr val="D1EFFF"/>
                </a:solidFill>
              </a:rPr>
              <a:t>  método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r>
              <a:rPr lang="en-US" sz="1000" dirty="0">
                <a:solidFill>
                  <a:srgbClr val="D1EFFF"/>
                </a:solidFill>
              </a:rPr>
              <a:t>  EML interna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· reported</a:t>
            </a:r>
            <a:r>
              <a:rPr lang="en-US" sz="1000" dirty="0">
                <a:solidFill>
                  <a:srgbClr val="D1EFFF"/>
                </a:solidFill>
              </a:rPr>
              <a:t>  rejeitar com mensagem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DECLARAÇÃO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validação na behavior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z_r_connection.bdef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ZS4D400_##_RAP › Z_R_CONNECTION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Z_R_CONNECTION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CheckSemanticKey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mapping for zconnection 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 : managed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runtime gera o UUID ao criar a instância.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 master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o campo usado como ETag.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save { create; update; 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validação roda ao gravar instâncias novas ou alteradas.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cria o método no behavior pool.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IMPLEMENTAÇÃO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Rejeitar a gravação com uma mensagem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24154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24154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058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zbp_r_connection.clas.locals_imp.abap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ZBP_R_CONNECTION › Local Types › lhc_connection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CheckSemanticKey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z_r_connection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zconnection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connection-CarrierID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connection-ConnectionID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connection-Uuid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failed-connection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new_message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'ZS4D400'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'001'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if_abap_behv_message=&gt;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severity-error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connection-CarrierID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connection-ConnectionID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reported-connection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chaves das instâncias criadas ou alteradas.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 dentro do próprio BO, sem checar autorização nem controle de campo.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Marca a instância como inválida: a gravação é recusada.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250" b="1" dirty="0">
                <a:solidFill>
                  <a:srgbClr val="1D2D3E"/>
                </a:solidFill>
              </a:rPr>
              <a:t> +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%msg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Mensagem da message class, com até 4 placeholders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&amp;1</a:t>
            </a:r>
            <a:r>
              <a:rPr lang="en-US" sz="1050" dirty="0">
                <a:solidFill>
                  <a:srgbClr val="556B82"/>
                </a:solidFill>
              </a:rPr>
              <a:t>…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&amp;4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TRÊS TIPOS DE LÓGICA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Validação, determinação e 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Confere a consistência ao gravar e recusa dados inválidos com mensagem. Ex.: aeroportos de origem e destino iguais.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Determination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Calcula ou completa valores quando algo muda (</a:t>
            </a:r>
            <a:r>
              <a:rPr lang="en-US" sz="1300" i="1" dirty="0">
                <a:solidFill>
                  <a:srgbClr val="556B82"/>
                </a:solidFill>
              </a:rPr>
              <a:t>on modify</a:t>
            </a:r>
            <a:r>
              <a:rPr lang="en-US" sz="1300" dirty="0">
                <a:solidFill>
                  <a:srgbClr val="556B82"/>
                </a:solidFill>
              </a:rPr>
              <a:t>) ou ao gravar (</a:t>
            </a:r>
            <a:r>
              <a:rPr lang="en-US" sz="1300" i="1" dirty="0">
                <a:solidFill>
                  <a:srgbClr val="556B82"/>
                </a:solidFill>
              </a:rPr>
              <a:t>on save</a:t>
            </a:r>
            <a:r>
              <a:rPr lang="en-US" sz="1300" dirty="0">
                <a:solidFill>
                  <a:srgbClr val="556B82"/>
                </a:solidFill>
              </a:rPr>
              <a:t>). Ex.: status inicial.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Operação de negócio chamada pelo usuário ou por EML. Ex.: aprovar, cancelar, copiar.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Mensagens  </a:t>
            </a:r>
            <a:r>
              <a:rPr lang="en-US" sz="1200" dirty="0">
                <a:solidFill>
                  <a:srgbClr val="1D2D3E"/>
                </a:solidFill>
              </a:rPr>
              <a:t>os textos ficam em uma </a:t>
            </a:r>
            <a:r>
              <a:rPr lang="en-US" sz="1200" b="1" dirty="0">
                <a:solidFill>
                  <a:srgbClr val="1D2D3E"/>
                </a:solidFill>
              </a:rPr>
              <a:t>message class</a:t>
            </a:r>
            <a:r>
              <a:rPr lang="en-US" sz="1200" dirty="0">
                <a:solidFill>
                  <a:srgbClr val="1D2D3E"/>
                </a:solidFill>
              </a:rPr>
              <a:t> (até 1000 mensagens numeradas), traduzíveis e com placeholders.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Melhorando a experiência do usuário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app Fiori Elements é guiado por metadados: a </a:t>
            </a:r>
            <a:r>
              <a:rPr lang="en-US" sz="1600" b="1" dirty="0">
                <a:solidFill>
                  <a:srgbClr val="D1EFFF"/>
                </a:solidFill>
              </a:rPr>
              <a:t>projeção</a:t>
            </a:r>
            <a:r>
              <a:rPr lang="en-US" sz="1600" dirty="0">
                <a:solidFill>
                  <a:srgbClr val="D1EFFF"/>
                </a:solidFill>
              </a:rPr>
              <a:t> decide o que é permitido e a </a:t>
            </a:r>
            <a:r>
              <a:rPr lang="en-US" sz="1600" b="1" dirty="0">
                <a:solidFill>
                  <a:srgbClr val="D1EFFF"/>
                </a:solidFill>
              </a:rPr>
              <a:t>metadata extension</a:t>
            </a:r>
            <a:r>
              <a:rPr lang="en-US" sz="1600" dirty="0">
                <a:solidFill>
                  <a:srgbClr val="D1EFFF"/>
                </a:solidFill>
              </a:rPr>
              <a:t>, como aparece.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 · use delete</a:t>
            </a:r>
            <a:r>
              <a:rPr lang="en-US" sz="1000" dirty="0">
                <a:solidFill>
                  <a:srgbClr val="D1EFFF"/>
                </a:solidFill>
              </a:rPr>
              <a:t>  operações do serviço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( readonly )</a:t>
            </a:r>
            <a:r>
              <a:rPr lang="en-US" sz="1000" dirty="0">
                <a:solidFill>
                  <a:srgbClr val="D1EFFF"/>
                </a:solidFill>
              </a:rPr>
              <a:t>  controle de campo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D1EFFF"/>
                </a:solidFill>
              </a:rPr>
              <a:t>  lista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00" dirty="0">
                <a:solidFill>
                  <a:srgbClr val="D1EFFF"/>
                </a:solidFill>
              </a:rPr>
              <a:t>  Object Page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UI · PROJEÇÃO E ANOTAÇÕES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serviço permite e como a tela mostra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86024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86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Behavior definition da projeção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z_c_connection.bdef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AirportFromID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use create;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use delete;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Comentar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delete</a:t>
            </a:r>
            <a:r>
              <a:rPr lang="en-US" sz="1200" dirty="0">
                <a:solidFill>
                  <a:srgbClr val="556B82"/>
                </a:solidFill>
              </a:rPr>
              <a:t> tira os botões </a:t>
            </a:r>
            <a:r>
              <a:rPr lang="en-US" sz="1200" b="1" dirty="0">
                <a:solidFill>
                  <a:srgbClr val="556B82"/>
                </a:solidFill>
              </a:rPr>
              <a:t>Criar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b="1" dirty="0">
                <a:solidFill>
                  <a:srgbClr val="556B82"/>
                </a:solidFill>
              </a:rPr>
              <a:t>Excluir</a:t>
            </a:r>
            <a:r>
              <a:rPr lang="en-US" sz="1200" dirty="0">
                <a:solidFill>
                  <a:srgbClr val="556B82"/>
                </a:solidFill>
              </a:rPr>
              <a:t> só deste app; o business object continua permitindo.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81417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Metadata extension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z_c_connection.ddlx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200" dirty="0">
                <a:solidFill>
                  <a:srgbClr val="556B82"/>
                </a:solidFill>
              </a:rPr>
              <a:t> posiciona colunas na lista,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200" dirty="0">
                <a:solidFill>
                  <a:srgbClr val="556B82"/>
                </a:solidFill>
              </a:rPr>
              <a:t> campos na Object Page,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200" dirty="0">
                <a:solidFill>
                  <a:srgbClr val="556B82"/>
                </a:solidFill>
              </a:rPr>
              <a:t> filtros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r>
              <a:rPr lang="en-US" sz="1200" dirty="0">
                <a:solidFill>
                  <a:srgbClr val="556B82"/>
                </a:solidFill>
              </a:rPr>
              <a:t> esconde.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r>
              <a:rPr lang="en-US" sz="1400" dirty="0">
                <a:solidFill>
                  <a:srgbClr val="FFFFFF"/>
                </a:solidFill>
              </a:rPr>
              <a:t> organiza o desenvolvimento em modelagem/comportamento, exposição e consumo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gerador cria do business object ao </a:t>
            </a:r>
            <a:r>
              <a:rPr lang="en-US" sz="1400" b="1" dirty="0">
                <a:solidFill>
                  <a:srgbClr val="FFFFFF"/>
                </a:solidFill>
              </a:rPr>
              <a:t>service binding</a:t>
            </a:r>
            <a:r>
              <a:rPr lang="en-US" sz="1400" dirty="0">
                <a:solidFill>
                  <a:srgbClr val="FFFFFF"/>
                </a:solidFill>
              </a:rPr>
              <a:t> a partir de uma tabela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Chave </a:t>
            </a:r>
            <a:r>
              <a:rPr lang="en-US" sz="1400" b="1" dirty="0">
                <a:solidFill>
                  <a:srgbClr val="FFFFFF"/>
                </a:solidFill>
              </a:rPr>
              <a:t>UUID</a:t>
            </a:r>
            <a:r>
              <a:rPr lang="en-US" sz="1400" dirty="0">
                <a:solidFill>
                  <a:srgbClr val="FFFFFF"/>
                </a:solidFill>
              </a:rPr>
              <a:t>, campos administrativos e </a:t>
            </a:r>
            <a:r>
              <a:rPr lang="en-US" sz="1400" b="1" dirty="0">
                <a:solidFill>
                  <a:srgbClr val="FFFFFF"/>
                </a:solidFill>
              </a:rPr>
              <a:t>ETag</a:t>
            </a:r>
            <a:r>
              <a:rPr lang="en-US" sz="1400" dirty="0">
                <a:solidFill>
                  <a:srgbClr val="FFFFFF"/>
                </a:solidFill>
              </a:rPr>
              <a:t> sustentam a concorrência stateless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Validações</a:t>
            </a:r>
            <a:r>
              <a:rPr lang="en-US" sz="1400" dirty="0">
                <a:solidFill>
                  <a:srgbClr val="FFFFFF"/>
                </a:solidFill>
              </a:rPr>
              <a:t> usam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VALIDATE ON SAVE</a:t>
            </a:r>
            <a:r>
              <a:rPr lang="en-US" sz="1400" dirty="0">
                <a:solidFill>
                  <a:srgbClr val="FFFFFF"/>
                </a:solidFill>
              </a:rPr>
              <a:t>, EML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Determinações calculam valores; </a:t>
            </a:r>
            <a:r>
              <a:rPr lang="en-US" sz="1400" b="1" dirty="0">
                <a:solidFill>
                  <a:srgbClr val="FFFFFF"/>
                </a:solidFill>
              </a:rPr>
              <a:t>ações</a:t>
            </a:r>
            <a:r>
              <a:rPr lang="en-US" sz="1400" dirty="0">
                <a:solidFill>
                  <a:srgbClr val="FFFFFF"/>
                </a:solidFill>
              </a:rPr>
              <a:t> expõem operações de negócio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</a:t>
            </a:r>
            <a:r>
              <a:rPr lang="en-US" sz="1400" b="1" dirty="0">
                <a:solidFill>
                  <a:srgbClr val="FFFFFF"/>
                </a:solidFill>
              </a:rPr>
              <a:t>projeção</a:t>
            </a:r>
            <a:r>
              <a:rPr lang="en-US" sz="1400" dirty="0">
                <a:solidFill>
                  <a:srgbClr val="FFFFFF"/>
                </a:solidFill>
              </a:rPr>
              <a:t> limita operações e campos; a </a:t>
            </a:r>
            <a:r>
              <a:rPr lang="en-US" sz="1400" b="1" dirty="0">
                <a:solidFill>
                  <a:srgbClr val="FFFFFF"/>
                </a:solidFill>
              </a:rPr>
              <a:t>metadata extension</a:t>
            </a:r>
            <a:r>
              <a:rPr lang="en-US" sz="1400" dirty="0">
                <a:solidFill>
                  <a:srgbClr val="FFFFFF"/>
                </a:solidFill>
              </a:rPr>
              <a:t> organiza a tela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etapa  </a:t>
            </a:r>
            <a:r>
              <a:rPr lang="en-US" sz="1500" dirty="0">
                <a:solidFill>
                  <a:srgbClr val="FFFFFF"/>
                </a:solidFill>
              </a:rPr>
              <a:t>Módulo 04 (ordem recomendada) ou Módulo 02: Dicionário e CDS em profundidade.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01.08 O modelo de programação ABAP RESTful (RAP)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2026-10-28T04:13:56Z</dcterms:created>
  <dcterms:modified xsi:type="dcterms:W3CDTF">2026-10-28T04:13:56Z</dcterms:modified>
</cp:coreProperties>
</file>