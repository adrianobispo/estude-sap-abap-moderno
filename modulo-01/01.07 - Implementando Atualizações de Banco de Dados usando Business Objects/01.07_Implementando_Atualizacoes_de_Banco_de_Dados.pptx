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C7"/>
                </a:solidFill>
              </a:rPr>
              <a:t>ABAP Moderno · Módulo 01 — Fundamentos do ABAP Moderno  ·  Aula 7 de 8 — Business Objects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rgbClr val="0064D9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D2D3E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ABAP Moderno · Módulo 01 — Fundamentos do ABAP Moderno  ·  Aula 7 de 8 — Business Objects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4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MÓDULO 01 · AULA 07 DE 08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Atualizando dados com Business Objects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9476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1EFFF"/>
                </a:solidFill>
              </a:rPr>
              <a:t>A anatomia de um business object RAP e a Entity Manipulation Language (EML) para ler, criar e alterar dados.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183880" y="1325880"/>
            <a:ext cx="3246120" cy="3246120"/>
          </a:xfrm>
          <a:prstGeom prst="roundRect">
            <a:avLst>
              <a:gd name="adj" fmla="val 15493"/>
            </a:avLst>
          </a:prstGeom>
          <a:solidFill>
            <a:srgbClr val="1B3A7A"/>
          </a:solidFill>
          <a:ln/>
        </p:spPr>
      </p:sp>
      <p:sp>
        <p:nvSpPr>
          <p:cNvPr id="6" name="Shape 4"/>
          <p:cNvSpPr/>
          <p:nvPr/>
        </p:nvSpPr>
        <p:spPr>
          <a:xfrm>
            <a:off x="8732520" y="1874520"/>
            <a:ext cx="2148840" cy="2148840"/>
          </a:xfrm>
          <a:prstGeom prst="roundRect">
            <a:avLst>
              <a:gd name="adj" fmla="val 17021"/>
            </a:avLst>
          </a:prstGeom>
          <a:solidFill>
            <a:srgbClr val="0070F2"/>
          </a:solidFill>
          <a:ln/>
        </p:spPr>
      </p:sp>
      <p:sp>
        <p:nvSpPr>
          <p:cNvPr id="7" name="Shape 5"/>
          <p:cNvSpPr/>
          <p:nvPr/>
        </p:nvSpPr>
        <p:spPr>
          <a:xfrm>
            <a:off x="8183880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8" name="Shape 6"/>
          <p:cNvSpPr/>
          <p:nvPr/>
        </p:nvSpPr>
        <p:spPr>
          <a:xfrm>
            <a:off x="8601075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9" name="Shape 7"/>
          <p:cNvSpPr/>
          <p:nvPr/>
        </p:nvSpPr>
        <p:spPr>
          <a:xfrm>
            <a:off x="9018270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0" name="Shape 8"/>
          <p:cNvSpPr/>
          <p:nvPr/>
        </p:nvSpPr>
        <p:spPr>
          <a:xfrm>
            <a:off x="9435465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1" name="Shape 9"/>
          <p:cNvSpPr/>
          <p:nvPr/>
        </p:nvSpPr>
        <p:spPr>
          <a:xfrm>
            <a:off x="9852660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69855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87050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89D1F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04245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183880" y="51206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Aula 7 de 8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989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A3C7"/>
                </a:solidFill>
              </a:rPr>
              <a:t>ABAP Moderno · Módulo 01 — Fundamentos do ABAP Moderno · Design System SAP Horizon</a:t>
            </a:r>
            <a:endParaRPr lang="en-US" sz="11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2468880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 SÉRIE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Módulo 01 em 8 aulas: Fundamentos do ABAP Moderno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1</a:t>
            </a:r>
            <a:endParaRPr lang="en-US" sz="126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Iniciando a jornada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ADT, ABAP Cloud, pacotes e o primeiro programa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67964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32556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3255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2</a:t>
            </a:r>
            <a:endParaRPr lang="en-US" sz="1260" dirty="0"/>
          </a:p>
        </p:txBody>
      </p:sp>
      <p:sp>
        <p:nvSpPr>
          <p:cNvPr id="12" name="Text 10"/>
          <p:cNvSpPr txBox="1"/>
          <p:nvPr/>
        </p:nvSpPr>
        <p:spPr>
          <a:xfrm>
            <a:off x="3532556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Técnicas básicas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532556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Dados, expressões, controle de fluxo e debugger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7288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51880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5188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3</a:t>
            </a:r>
            <a:endParaRPr lang="en-US" sz="1260" dirty="0"/>
          </a:p>
        </p:txBody>
      </p:sp>
      <p:sp>
        <p:nvSpPr>
          <p:cNvPr id="17" name="Text 15"/>
          <p:cNvSpPr txBox="1"/>
          <p:nvPr/>
        </p:nvSpPr>
        <p:spPr>
          <a:xfrm>
            <a:off x="6351880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Classes locais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351880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Definição, instâncias, métodos e encapsulamento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006611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71203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71203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4</a:t>
            </a:r>
            <a:endParaRPr lang="en-US" sz="1260" dirty="0"/>
          </a:p>
        </p:txBody>
      </p:sp>
      <p:sp>
        <p:nvSpPr>
          <p:cNvPr id="22" name="Text 20"/>
          <p:cNvSpPr txBox="1"/>
          <p:nvPr/>
        </p:nvSpPr>
        <p:spPr>
          <a:xfrm>
            <a:off x="9171203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Lendo dados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171203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SELECT moderno, host variables e CDS views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13232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5</a:t>
            </a:r>
            <a:endParaRPr lang="en-US" sz="1260" dirty="0"/>
          </a:p>
        </p:txBody>
      </p:sp>
      <p:sp>
        <p:nvSpPr>
          <p:cNvPr id="27" name="Text 25"/>
          <p:cNvSpPr txBox="1"/>
          <p:nvPr/>
        </p:nvSpPr>
        <p:spPr>
          <a:xfrm>
            <a:off x="713232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Dados estruturados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713232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Estruturas, CORRESPONDING e tipos profundos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367964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532556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532556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6</a:t>
            </a:r>
            <a:endParaRPr lang="en-US" sz="1260" dirty="0"/>
          </a:p>
        </p:txBody>
      </p:sp>
      <p:sp>
        <p:nvSpPr>
          <p:cNvPr id="32" name="Text 30"/>
          <p:cNvSpPr txBox="1"/>
          <p:nvPr/>
        </p:nvSpPr>
        <p:spPr>
          <a:xfrm>
            <a:off x="3532556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Tabelas internas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3532556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Tipos de tabela, chaves e expressões de tabela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187288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351880" y="384048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35188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</a:rPr>
              <a:t>7</a:t>
            </a:r>
            <a:endParaRPr lang="en-US" sz="1260" dirty="0"/>
          </a:p>
        </p:txBody>
      </p:sp>
      <p:sp>
        <p:nvSpPr>
          <p:cNvPr id="37" name="Text 35"/>
          <p:cNvSpPr txBox="1"/>
          <p:nvPr/>
        </p:nvSpPr>
        <p:spPr>
          <a:xfrm>
            <a:off x="6351880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Business Objects</a:t>
            </a:r>
            <a:endParaRPr lang="en-US" sz="1350" dirty="0"/>
          </a:p>
        </p:txBody>
      </p:sp>
      <p:sp>
        <p:nvSpPr>
          <p:cNvPr id="38" name="Text 36"/>
          <p:cNvSpPr txBox="1"/>
          <p:nvPr/>
        </p:nvSpPr>
        <p:spPr>
          <a:xfrm>
            <a:off x="6351880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EML: ler, criar e alterar via RAP BO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827368" y="3904488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827368" y="39044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4D9"/>
                </a:solidFill>
              </a:rPr>
              <a:t>Você está aqui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006611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9171203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9171203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8</a:t>
            </a:r>
            <a:endParaRPr lang="en-US" sz="1260" dirty="0"/>
          </a:p>
        </p:txBody>
      </p:sp>
      <p:sp>
        <p:nvSpPr>
          <p:cNvPr id="44" name="Text 42"/>
          <p:cNvSpPr txBox="1"/>
          <p:nvPr/>
        </p:nvSpPr>
        <p:spPr>
          <a:xfrm>
            <a:off x="9171203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Modelo RAP</a:t>
            </a:r>
            <a:endParaRPr lang="en-US" sz="1350" dirty="0"/>
          </a:p>
        </p:txBody>
      </p:sp>
      <p:sp>
        <p:nvSpPr>
          <p:cNvPr id="45" name="Text 43"/>
          <p:cNvSpPr txBox="1"/>
          <p:nvPr/>
        </p:nvSpPr>
        <p:spPr>
          <a:xfrm>
            <a:off x="9171203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Camadas, managed x unmanaged e o ciclo completo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48640" y="562356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207008" y="562356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Nesta aula  </a:t>
            </a:r>
            <a:r>
              <a:rPr lang="en-US" sz="1200" dirty="0">
                <a:solidFill>
                  <a:srgbClr val="1D2D3E"/>
                </a:solidFill>
              </a:rPr>
              <a:t>deixamos o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r>
              <a:rPr lang="en-US" sz="1200" dirty="0">
                <a:solidFill>
                  <a:srgbClr val="1D2D3E"/>
                </a:solidFill>
              </a:rPr>
              <a:t> direto no banco e passamos a alterar agências de viagem pelo business object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/DMO/I_AgencyTP</a:t>
            </a:r>
            <a:r>
              <a:rPr lang="en-US" sz="1200" dirty="0">
                <a:solidFill>
                  <a:srgbClr val="1D2D3E"/>
                </a:solidFill>
              </a:rPr>
              <a:t>.</a:t>
            </a:r>
            <a:endParaRPr lang="en-US" sz="1400" dirty="0"/>
          </a:p>
        </p:txBody>
      </p:sp>
      <p:pic>
        <p:nvPicPr>
          <p:cNvPr id="4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55768" y="1847088"/>
            <a:ext cx="347472" cy="347472"/>
          </a:xfrm>
          <a:prstGeom prst="rect">
            <a:avLst/>
          </a:prstGeom>
        </p:spPr>
      </p:pic>
      <p:pic>
        <p:nvPicPr>
          <p:cNvPr id="4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6444" y="1847088"/>
            <a:ext cx="347472" cy="347472"/>
          </a:xfrm>
          <a:prstGeom prst="rect">
            <a:avLst/>
          </a:prstGeom>
        </p:spPr>
      </p:pic>
      <p:pic>
        <p:nvPicPr>
          <p:cNvPr id="5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091" y="1847088"/>
            <a:ext cx="347472" cy="347472"/>
          </a:xfrm>
          <a:prstGeom prst="rect">
            <a:avLst/>
          </a:prstGeom>
        </p:spPr>
      </p:pic>
      <p:pic>
        <p:nvPicPr>
          <p:cNvPr id="5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4415" y="1847088"/>
            <a:ext cx="347472" cy="347472"/>
          </a:xfrm>
          <a:prstGeom prst="rect">
            <a:avLst/>
          </a:prstGeom>
        </p:spPr>
      </p:pic>
      <p:pic>
        <p:nvPicPr>
          <p:cNvPr id="5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5768" y="3858768"/>
            <a:ext cx="347472" cy="347472"/>
          </a:xfrm>
          <a:prstGeom prst="rect">
            <a:avLst/>
          </a:prstGeom>
        </p:spPr>
      </p:pic>
      <p:pic>
        <p:nvPicPr>
          <p:cNvPr id="5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36444" y="3858768"/>
            <a:ext cx="347472" cy="347472"/>
          </a:xfrm>
          <a:prstGeom prst="rect">
            <a:avLst/>
          </a:prstGeom>
        </p:spPr>
      </p:pic>
      <p:pic>
        <p:nvPicPr>
          <p:cNvPr id="5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5091" y="3858768"/>
            <a:ext cx="347472" cy="347472"/>
          </a:xfrm>
          <a:prstGeom prst="rect">
            <a:avLst/>
          </a:prstGeom>
        </p:spPr>
      </p:pic>
      <p:pic>
        <p:nvPicPr>
          <p:cNvPr id="5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94415" y="3858768"/>
            <a:ext cx="347472" cy="347472"/>
          </a:xfrm>
          <a:prstGeom prst="rect">
            <a:avLst/>
          </a:prstGeom>
        </p:spPr>
      </p:pic>
      <p:pic>
        <p:nvPicPr>
          <p:cNvPr id="5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" y="5751576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Por que não gravar direto na tabela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734564"/>
            <a:ext cx="3545738" cy="2348992"/>
          </a:xfrm>
          <a:prstGeom prst="roundRect">
            <a:avLst>
              <a:gd name="adj" fmla="val 389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293573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3539236"/>
            <a:ext cx="3143402" cy="143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UPDATE direto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Grava sem validações, sem bloqueio, sem rascunho e sem checar autorização. No ABAP Cloud, tabelas SAP nem podem ser alteradas assim.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22978" y="2734564"/>
            <a:ext cx="3545738" cy="2348992"/>
          </a:xfrm>
          <a:prstGeom prst="roundRect">
            <a:avLst>
              <a:gd name="adj" fmla="val 389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24146" y="293573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24146" y="3539236"/>
            <a:ext cx="3143402" cy="143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Business object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Concentra dados </a:t>
            </a:r>
            <a:r>
              <a:rPr lang="en-US" sz="1300" b="1" dirty="0">
                <a:solidFill>
                  <a:srgbClr val="556B82"/>
                </a:solidFill>
              </a:rPr>
              <a:t>e</a:t>
            </a:r>
            <a:r>
              <a:rPr lang="en-US" sz="1300" dirty="0">
                <a:solidFill>
                  <a:srgbClr val="556B82"/>
                </a:solidFill>
              </a:rPr>
              <a:t> comportamento: operações permitidas, validações, determinações, ações e bloqueios.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97317" y="2734564"/>
            <a:ext cx="3545738" cy="2348992"/>
          </a:xfrm>
          <a:prstGeom prst="roundRect">
            <a:avLst>
              <a:gd name="adj" fmla="val 389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98485" y="293573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98485" y="3539236"/>
            <a:ext cx="3143402" cy="143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EML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Comandos ABAP para usar o business object a partir do código, com as mesmas regras que um app Fiori respeita.</a:t>
            </a:r>
            <a:endParaRPr lang="en-US" sz="14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24730" y="3036316"/>
            <a:ext cx="256032" cy="256032"/>
          </a:xfrm>
          <a:prstGeom prst="rect">
            <a:avLst/>
          </a:prstGeom>
        </p:spPr>
      </p:pic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9069" y="3036316"/>
            <a:ext cx="256032" cy="256032"/>
          </a:xfrm>
          <a:prstGeom prst="rect">
            <a:avLst/>
          </a:prstGeom>
        </p:spPr>
      </p:pic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3036316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01.07 · SEÇÃO 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Anatomia de um business object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Um business object RAP é formado por </a:t>
            </a:r>
            <a:r>
              <a:rPr lang="en-US" sz="1600" b="1" dirty="0">
                <a:solidFill>
                  <a:srgbClr val="D1EFFF"/>
                </a:solidFill>
              </a:rPr>
              <a:t>CDS views</a:t>
            </a:r>
            <a:r>
              <a:rPr lang="en-US" sz="1600" dirty="0">
                <a:solidFill>
                  <a:srgbClr val="D1EFFF"/>
                </a:solidFill>
              </a:rPr>
              <a:t> (a estrutura), uma </a:t>
            </a:r>
            <a:r>
              <a:rPr lang="en-US" sz="1600" b="1" dirty="0">
                <a:solidFill>
                  <a:srgbClr val="D1EFFF"/>
                </a:solidFill>
              </a:rPr>
              <a:t>behavior definition</a:t>
            </a:r>
            <a:r>
              <a:rPr lang="en-US" sz="1600" dirty="0">
                <a:solidFill>
                  <a:srgbClr val="D1EFFF"/>
                </a:solidFill>
              </a:rPr>
              <a:t> (o que ele faz) e uma </a:t>
            </a:r>
            <a:r>
              <a:rPr lang="en-US" sz="1600" b="1" dirty="0">
                <a:solidFill>
                  <a:srgbClr val="D1EFFF"/>
                </a:solidFill>
              </a:rPr>
              <a:t>behavior implementation</a:t>
            </a:r>
            <a:r>
              <a:rPr lang="en-US" sz="1600" dirty="0">
                <a:solidFill>
                  <a:srgbClr val="D1EFFF"/>
                </a:solidFill>
              </a:rPr>
              <a:t> (como faz).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CDS view entity</a:t>
            </a:r>
            <a:r>
              <a:rPr lang="en-US" sz="1000" dirty="0">
                <a:solidFill>
                  <a:srgbClr val="D1EFFF"/>
                </a:solidFill>
              </a:rPr>
              <a:t>  estrutura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 definition</a:t>
            </a:r>
            <a:r>
              <a:rPr lang="en-US" sz="1000" dirty="0">
                <a:solidFill>
                  <a:srgbClr val="D1EFFF"/>
                </a:solidFill>
              </a:rPr>
              <a:t>  o que pode fazer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 pool</a:t>
            </a:r>
            <a:r>
              <a:rPr lang="en-US" sz="1000" dirty="0">
                <a:solidFill>
                  <a:srgbClr val="D1EFFF"/>
                </a:solidFill>
              </a:rPr>
              <a:t>  a implementação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r>
              <a:rPr lang="en-US" sz="1000" dirty="0">
                <a:solidFill>
                  <a:srgbClr val="D1EFFF"/>
                </a:solidFill>
              </a:rPr>
              <a:t>  nome usado na EML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BUSINESS OBJECT · TRÊS PARTES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Estrutura, comportamento e implementação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423818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2514600"/>
            <a:ext cx="32409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064D9"/>
                </a:solidFill>
              </a:rPr>
              <a:t>CDS view entity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Os campos do objeto, ex.: </a:t>
            </a: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/DMO/R_AgencyTP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045610" y="2532888"/>
            <a:ext cx="265176" cy="237744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7" name="Shape 5"/>
          <p:cNvSpPr/>
          <p:nvPr/>
        </p:nvSpPr>
        <p:spPr>
          <a:xfrm>
            <a:off x="4383938" y="1920240"/>
            <a:ext cx="3423818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475378" y="2514600"/>
            <a:ext cx="32409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064D9"/>
                </a:solidFill>
              </a:rPr>
              <a:t>Behavior definition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Operações, validações, determinações, ações, bloqueio e rascunho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880909" y="2532888"/>
            <a:ext cx="265176" cy="237744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10" name="Shape 8"/>
          <p:cNvSpPr/>
          <p:nvPr/>
        </p:nvSpPr>
        <p:spPr>
          <a:xfrm>
            <a:off x="8219237" y="1920240"/>
            <a:ext cx="3423818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30914C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10677" y="2514600"/>
            <a:ext cx="32409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56F3A"/>
                </a:solidFill>
              </a:rPr>
              <a:t>Behavior implementation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Classe global </a:t>
            </a: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BEHAVIOR OF</a:t>
            </a:r>
            <a:r>
              <a:rPr lang="en-US" sz="1000" dirty="0">
                <a:solidFill>
                  <a:srgbClr val="556B82"/>
                </a:solidFill>
              </a:rPr>
              <a:t> com classes locais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3545738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38404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4343400"/>
            <a:ext cx="31799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Validations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Conferem os dados ao criar ou alterar, ex.: o nome da agência é obrigatório.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322978" y="3657600"/>
            <a:ext cx="3545738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05858" y="38404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05858" y="4343400"/>
            <a:ext cx="31799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Determinations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Calculam ou ajustam valores quando algo acontece, ex.: preencher um status inicial.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097317" y="3657600"/>
            <a:ext cx="3545738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80197" y="38404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80197" y="4343400"/>
            <a:ext cx="31799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Actions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Operações de negócio além de criar, alterar e apagar, ex.: aprovar ou cancelar.</a:t>
            </a:r>
            <a:endParaRPr lang="en-US" sz="14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7669" y="2084832"/>
            <a:ext cx="365760" cy="365760"/>
          </a:xfrm>
          <a:prstGeom prst="rect">
            <a:avLst/>
          </a:prstGeom>
        </p:spPr>
      </p:pic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2968" y="2084832"/>
            <a:ext cx="365760" cy="365760"/>
          </a:xfrm>
          <a:prstGeom prst="rect">
            <a:avLst/>
          </a:prstGeom>
        </p:spPr>
      </p:pic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8266" y="2084832"/>
            <a:ext cx="365760" cy="365760"/>
          </a:xfrm>
          <a:prstGeom prst="rect">
            <a:avLst/>
          </a:prstGeom>
        </p:spPr>
      </p:pic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034" y="3928994"/>
            <a:ext cx="225308" cy="225308"/>
          </a:xfrm>
          <a:prstGeom prst="rect">
            <a:avLst/>
          </a:prstGeom>
        </p:spPr>
      </p:pic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4372" y="3928994"/>
            <a:ext cx="225308" cy="225308"/>
          </a:xfrm>
          <a:prstGeom prst="rect">
            <a:avLst/>
          </a:prstGeom>
        </p:spPr>
      </p:pic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8711" y="3928994"/>
            <a:ext cx="225308" cy="2253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BUSINESS OBJECT · BEHAVIOR DEFINITION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O que o business object da agência pode fazer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1920240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1920240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/dmo/r_agencytp.bdef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/DMO/FLIGHT_DRAFT › /DMO/R_AGENCYTP (simplificada)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/dmo/bp_r_agencytp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/DMO/R_AgencyTP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/DMO/Agency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persistent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/dmo/agency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/dmo/agency_d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lock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LastChangedAt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authorization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AgencyID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validateName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save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… ações de rascunho e mapeamento de campos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 runtime implementa criar, alterar e apagar; a classe só traz a lógica específica.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Nome da entidade usado na EML (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 /dmo/agency</a:t>
            </a:r>
            <a:r>
              <a:rPr lang="en-US" sz="1050" dirty="0">
                <a:solidFill>
                  <a:srgbClr val="556B82"/>
                </a:solidFill>
              </a:rPr>
              <a:t>).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Tabelas e controle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Tabela ativa, de rascunho, bloqueio, ETag e autorização, cuidados pelo runtime.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 … on save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Roda ao criar e quando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r>
              <a:rPr lang="en-US" sz="1050" dirty="0">
                <a:solidFill>
                  <a:srgbClr val="556B82"/>
                </a:solidFill>
              </a:rPr>
              <a:t> muda; o código fica no behavior pool.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BUSINESS OBJECT · CENÁRIOS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Managed ou unmanaged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568607"/>
            <a:ext cx="5410048" cy="2680907"/>
          </a:xfrm>
          <a:prstGeom prst="roundRect">
            <a:avLst>
              <a:gd name="adj" fmla="val 341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2568607"/>
            <a:ext cx="5410048" cy="73152"/>
          </a:xfrm>
          <a:prstGeom prst="rect">
            <a:avLst/>
          </a:prstGeom>
          <a:solidFill>
            <a:srgbClr val="556B82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842927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FF1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842927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3548"/>
                </a:solidFill>
              </a:rPr>
              <a:t>Unmanaged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483007"/>
            <a:ext cx="4952848" cy="1629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Criar, alterar, apagar e bloquear são implementados no behavior pool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Indicado para reaproveitar lógica legada existente (BAPIs, funções)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Mais código e mais responsabilidade do desenvolvedor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33008" y="2568607"/>
            <a:ext cx="5410048" cy="2680907"/>
          </a:xfrm>
          <a:prstGeom prst="roundRect">
            <a:avLst>
              <a:gd name="adj" fmla="val 341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33008" y="2568607"/>
            <a:ext cx="5410048" cy="7315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11" name="Shape 9"/>
          <p:cNvSpPr/>
          <p:nvPr/>
        </p:nvSpPr>
        <p:spPr>
          <a:xfrm>
            <a:off x="6461608" y="2842927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55968" y="2842927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4D9"/>
                </a:solidFill>
              </a:rPr>
              <a:t>Managed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61608" y="3483007"/>
            <a:ext cx="4952848" cy="1629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O runtime cuida das operações padrão e da gravação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O desenvolvedor implementa só validações, determinações e ações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O cenário recomendado para aplicações novas (</a:t>
            </a:r>
            <a:r>
              <a:rPr lang="en-US" sz="1350" i="1" dirty="0">
                <a:solidFill>
                  <a:srgbClr val="1D2D3E"/>
                </a:solidFill>
              </a:rPr>
              <a:t>greenfield</a:t>
            </a:r>
            <a:r>
              <a:rPr lang="en-US" sz="1350" dirty="0">
                <a:solidFill>
                  <a:srgbClr val="1D2D3E"/>
                </a:solidFill>
              </a:rPr>
              <a:t>)</a:t>
            </a:r>
            <a:endParaRPr lang="en-US" sz="14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943511"/>
            <a:ext cx="256032" cy="256032"/>
          </a:xfrm>
          <a:prstGeom prst="rect">
            <a:avLst/>
          </a:prstGeom>
        </p:spPr>
      </p:pic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2943511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01.07 · SEÇÃO 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Consumindo com segurança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Um business object raramente é consumido direto. Serviços usam uma </a:t>
            </a:r>
            <a:r>
              <a:rPr lang="en-US" sz="1600" b="1" dirty="0">
                <a:solidFill>
                  <a:srgbClr val="D1EFFF"/>
                </a:solidFill>
              </a:rPr>
              <a:t>projeção</a:t>
            </a:r>
            <a:r>
              <a:rPr lang="en-US" sz="1600" dirty="0">
                <a:solidFill>
                  <a:srgbClr val="D1EFFF"/>
                </a:solidFill>
              </a:rPr>
              <a:t>; código ABAP usa a </a:t>
            </a:r>
            <a:r>
              <a:rPr lang="en-US" sz="1600" b="1" dirty="0">
                <a:solidFill>
                  <a:srgbClr val="D1EFFF"/>
                </a:solidFill>
              </a:rPr>
              <a:t>interface</a:t>
            </a:r>
            <a:r>
              <a:rPr lang="en-US" sz="1600" dirty="0">
                <a:solidFill>
                  <a:srgbClr val="D1EFFF"/>
                </a:solidFill>
              </a:rPr>
              <a:t> liberada.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 projection</a:t>
            </a:r>
            <a:r>
              <a:rPr lang="en-US" sz="1000" dirty="0">
                <a:solidFill>
                  <a:srgbClr val="D1EFFF"/>
                </a:solidFill>
              </a:rPr>
              <a:t>  para serviços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 interface</a:t>
            </a:r>
            <a:r>
              <a:rPr lang="en-US" sz="1000" dirty="0">
                <a:solidFill>
                  <a:srgbClr val="D1EFFF"/>
                </a:solidFill>
              </a:rPr>
              <a:t>  para EML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create · use update</a:t>
            </a:r>
            <a:r>
              <a:rPr lang="en-US" sz="1000" dirty="0">
                <a:solidFill>
                  <a:srgbClr val="D1EFFF"/>
                </a:solidFill>
              </a:rPr>
              <a:t>  operações expostas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released</a:t>
            </a:r>
            <a:r>
              <a:rPr lang="en-US" sz="1000" dirty="0">
                <a:solidFill>
                  <a:srgbClr val="D1EFFF"/>
                </a:solidFill>
              </a:rPr>
              <a:t>  contrato estável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CONSUMO · CAMADAS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Projeção para serviços, interface para código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734564"/>
            <a:ext cx="3545738" cy="2348992"/>
          </a:xfrm>
          <a:prstGeom prst="roundRect">
            <a:avLst>
              <a:gd name="adj" fmla="val 389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293573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3539236"/>
            <a:ext cx="3143402" cy="143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BO projection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Recorte do business object para </a:t>
            </a:r>
            <a:r>
              <a:rPr lang="en-US" sz="1300" b="1" dirty="0">
                <a:solidFill>
                  <a:srgbClr val="556B82"/>
                </a:solidFill>
              </a:rPr>
              <a:t>um serviço</a:t>
            </a:r>
            <a:r>
              <a:rPr lang="en-US" sz="1300" dirty="0">
                <a:solidFill>
                  <a:srgbClr val="556B82"/>
                </a:solidFill>
              </a:rPr>
              <a:t> (ex.: um app Fiori): quais campos e operações ele expõe, e lógica específica do serviço.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22978" y="2734564"/>
            <a:ext cx="3545738" cy="2348992"/>
          </a:xfrm>
          <a:prstGeom prst="roundRect">
            <a:avLst>
              <a:gd name="adj" fmla="val 389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24146" y="293573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24146" y="3539236"/>
            <a:ext cx="3143402" cy="143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BO interface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Acesso </a:t>
            </a:r>
            <a:r>
              <a:rPr lang="en-US" sz="1300" b="1" dirty="0">
                <a:solidFill>
                  <a:srgbClr val="556B82"/>
                </a:solidFill>
              </a:rPr>
              <a:t>estável</a:t>
            </a:r>
            <a:r>
              <a:rPr lang="en-US" sz="1300" dirty="0">
                <a:solidFill>
                  <a:srgbClr val="556B82"/>
                </a:solidFill>
              </a:rPr>
              <a:t> aos dados e às operações. Costuma ser liberada para outros componentes: se existir, a EML deve usá-la.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97317" y="2734564"/>
            <a:ext cx="3545738" cy="2348992"/>
          </a:xfrm>
          <a:prstGeom prst="roundRect">
            <a:avLst>
              <a:gd name="adj" fmla="val 389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98485" y="293573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98485" y="3539236"/>
            <a:ext cx="3143402" cy="143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Não use o BO direto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Embora tecnicamente possível, consumir o business object sem projeção ou interface acopla o consumidor aos detalhes internos.</a:t>
            </a:r>
            <a:endParaRPr lang="en-US" sz="14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3036316"/>
            <a:ext cx="256032" cy="256032"/>
          </a:xfrm>
          <a:prstGeom prst="rect">
            <a:avLst/>
          </a:prstGeom>
        </p:spPr>
      </p:pic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4730" y="3036316"/>
            <a:ext cx="256032" cy="256032"/>
          </a:xfrm>
          <a:prstGeom prst="rect">
            <a:avLst/>
          </a:prstGeom>
        </p:spPr>
      </p:pic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9069" y="3036316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CONSUMO · BO INTERFACE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A interface define o que o consumidor pode usar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3108960"/>
          </a:xfrm>
          <a:prstGeom prst="roundRect">
            <a:avLst>
              <a:gd name="adj" fmla="val 2353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1920240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1920240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/dmo/i_agencytp.bdef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/DMO/FLIGHT_DRAFT › /DMO/I_AGENCYTP (simplificada)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/DMO/I_AgencyTP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/DMO/Agency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interface;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Uma camada de comportamento sobre o business object, sem implementação própria.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7889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788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770632"/>
            <a:ext cx="33677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create</a:t>
            </a:r>
            <a:r>
              <a:rPr lang="en-US" sz="1250" b="1" dirty="0">
                <a:solidFill>
                  <a:srgbClr val="1D2D3E"/>
                </a:solidFill>
              </a:rPr>
              <a:t> …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Só as operações listadas podem ser usadas pela EML; as outras dão erro de sintaxe.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7033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685032"/>
            <a:ext cx="33677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Mesmo alias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Os consumidores endereçam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 /dmo/agency</a:t>
            </a:r>
            <a:r>
              <a:rPr lang="en-US" sz="10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4864608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207008" y="486460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No exercício oficial  </a:t>
            </a:r>
            <a:r>
              <a:rPr lang="en-US" sz="1200" dirty="0">
                <a:solidFill>
                  <a:srgbClr val="1D2D3E"/>
                </a:solidFill>
              </a:rPr>
              <a:t>a EML acessa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/DMO/I_AgencyTP</a:t>
            </a:r>
            <a:r>
              <a:rPr lang="en-US" sz="1200" dirty="0">
                <a:solidFill>
                  <a:srgbClr val="1D2D3E"/>
                </a:solidFill>
              </a:rPr>
              <a:t>, a interface liberada, e não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/DMO/R_AgencyTP</a:t>
            </a:r>
            <a:r>
              <a:rPr lang="en-US" sz="1200" dirty="0">
                <a:solidFill>
                  <a:srgbClr val="1D2D3E"/>
                </a:solidFill>
              </a:rPr>
              <a:t>.</a:t>
            </a:r>
            <a:endParaRPr lang="en-US" sz="14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4960620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01.07 · SEÇÃO 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EML: lendo dados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A EML usa </a:t>
            </a:r>
            <a:r>
              <a:rPr lang="en-US" sz="1600" b="1" dirty="0">
                <a:solidFill>
                  <a:srgbClr val="D1EFFF"/>
                </a:solidFill>
              </a:rPr>
              <a:t>tipos derivados</a:t>
            </a:r>
            <a:r>
              <a:rPr lang="en-US" sz="1600" dirty="0">
                <a:solidFill>
                  <a:srgbClr val="D1EFFF"/>
                </a:solidFill>
              </a:rPr>
              <a:t> da behavior definition: tabelas com os campos da entidade mais campos de controle como </a:t>
            </a:r>
            <a:r>
              <a:rPr lang="en-US" sz="1600" b="1" dirty="0">
                <a:solidFill>
                  <a:srgbClr val="D1EFFF"/>
                </a:solidFill>
              </a:rPr>
              <a:t>%control</a:t>
            </a:r>
            <a:r>
              <a:rPr lang="en-US" sz="1600" dirty="0">
                <a:solidFill>
                  <a:srgbClr val="D1EFFF"/>
                </a:solidFill>
              </a:rPr>
              <a:t> e </a:t>
            </a:r>
            <a:r>
              <a:rPr lang="en-US" sz="1600" b="1" dirty="0">
                <a:solidFill>
                  <a:srgbClr val="D1EFFF"/>
                </a:solidFill>
              </a:rPr>
              <a:t>%is_draft</a:t>
            </a:r>
            <a:r>
              <a:rPr lang="en-US" sz="1600" dirty="0">
                <a:solidFill>
                  <a:srgbClr val="D1EFFF"/>
                </a:solidFill>
              </a:rPr>
              <a:t>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 ENTITIES OF</a:t>
            </a:r>
            <a:r>
              <a:rPr lang="en-US" sz="1000" dirty="0">
                <a:solidFill>
                  <a:srgbClr val="D1EFFF"/>
                </a:solidFill>
              </a:rPr>
              <a:t>  leitura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 FOR READ IMPORT</a:t>
            </a:r>
            <a:r>
              <a:rPr lang="en-US" sz="1000" dirty="0">
                <a:solidFill>
                  <a:srgbClr val="D1EFFF"/>
                </a:solidFill>
              </a:rPr>
              <a:t>  chaves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 FOR READ RESULT</a:t>
            </a:r>
            <a:r>
              <a:rPr lang="en-US" sz="1000" dirty="0">
                <a:solidFill>
                  <a:srgbClr val="D1EFFF"/>
                </a:solidFill>
              </a:rPr>
              <a:t>  resultado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 ( ) · ALL FIELDS</a:t>
            </a:r>
            <a:r>
              <a:rPr lang="en-US" sz="1000" dirty="0">
                <a:solidFill>
                  <a:srgbClr val="D1EFFF"/>
                </a:solidFill>
              </a:rPr>
              <a:t>  colunas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READ ENTITIES · LEITURA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READ ENTITIES com tipos derivados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1920240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1920240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zcl_07_eml.clas.abap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ZS4D400_## › ZCL_07_EML › main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agencies_in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/dmo/i_agencytp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agencies_out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/dmo/i_agencytp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agencies_in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agencyid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'070001'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/dmo/i_agencytp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/dmo/agency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agencies_in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agencies_out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agencies_out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1250" b="1" dirty="0">
                <a:solidFill>
                  <a:srgbClr val="1D2D3E"/>
                </a:solidFill>
              </a:rPr>
              <a:t> + </a:t>
            </a: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Após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1050" dirty="0">
                <a:solidFill>
                  <a:srgbClr val="556B82"/>
                </a:solidFill>
              </a:rPr>
              <a:t>, o nome da behavior definition; após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r>
              <a:rPr lang="en-US" sz="1050" dirty="0">
                <a:solidFill>
                  <a:srgbClr val="556B82"/>
                </a:solidFill>
              </a:rPr>
              <a:t>, o alias da entidade.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 IMPORT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Tabela com as chaves e os campos de controle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%is_draft</a:t>
            </a:r>
            <a:r>
              <a:rPr lang="en-US" sz="1050" dirty="0">
                <a:solidFill>
                  <a:srgbClr val="556B82"/>
                </a:solidFill>
              </a:rPr>
              <a:t> e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%control</a:t>
            </a:r>
            <a:r>
              <a:rPr lang="en-US" sz="10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 ( … )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Lista sem vírgulas;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FIELDS</a:t>
            </a:r>
            <a:r>
              <a:rPr lang="en-US" sz="1050" dirty="0">
                <a:solidFill>
                  <a:srgbClr val="556B82"/>
                </a:solidFill>
              </a:rPr>
              <a:t> lê tudo. As chaves sempre voltam.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 RESULT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Recebe os dados lidos, inclusive o indicador de rascunho.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READ ENTITIES · TIPOS DERIVADOS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Os tipos que a behavior definition gera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3282696"/>
          </a:xfrm>
          <a:prstGeom prst="roundRect">
            <a:avLst>
              <a:gd name="adj" fmla="val 2786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10820095" cy="914400"/>
        </p:xfrm>
        <a:graphic>
          <a:graphicData uri="http://schemas.openxmlformats.org/drawingml/2006/table">
            <a:tbl>
              <a:tblPr/>
              <a:tblGrid>
                <a:gridCol w="4233950"/>
                <a:gridCol w="6586145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Conteúdo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TABLE FOR READ IMPORT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Chaves das instâncias a ler,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%is_draft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 e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%control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TABLE FOR READ RESULT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Todos os campos da entidade, preenchidos conforme o pedido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TABLE FOR CREATE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Campos da nova instância e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%cid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, o identificador temporário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TABLE FOR UPDATE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Chave, campos alterados e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%control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 indicando quais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TABLE FOR DELETE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Chaves das instâncias a apagar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FAILED · REPORTED · MAPPED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Respostas: falhas, mensagens e chaves geradas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111496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207008" y="5111496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%control  </a:t>
            </a:r>
            <a:r>
              <a:rPr lang="en-US" sz="1200" dirty="0">
                <a:solidFill>
                  <a:srgbClr val="1D2D3E"/>
                </a:solidFill>
              </a:rPr>
              <a:t>marca quais campos participam da operação. Com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 ( … )</a:t>
            </a:r>
            <a:r>
              <a:rPr lang="en-US" sz="1200" dirty="0">
                <a:solidFill>
                  <a:srgbClr val="1D2D3E"/>
                </a:solidFill>
              </a:rPr>
              <a:t>, o framework preenche o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%control</a:t>
            </a:r>
            <a:r>
              <a:rPr lang="en-US" sz="1200" dirty="0">
                <a:solidFill>
                  <a:srgbClr val="1D2D3E"/>
                </a:solidFill>
              </a:rPr>
              <a:t> sozinho.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239512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01.07 · SEÇÃO 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EML: modificando e gravando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D1EFFF"/>
                </a:solidFill>
              </a:rPr>
              <a:t>MODIFY ENTITIES</a:t>
            </a:r>
            <a:r>
              <a:rPr lang="en-US" sz="1600" dirty="0">
                <a:solidFill>
                  <a:srgbClr val="D1EFFF"/>
                </a:solidFill>
              </a:rPr>
              <a:t> altera o </a:t>
            </a:r>
            <a:r>
              <a:rPr lang="en-US" sz="1600" b="1" dirty="0">
                <a:solidFill>
                  <a:srgbClr val="D1EFFF"/>
                </a:solidFill>
              </a:rPr>
              <a:t>buffer transacional</a:t>
            </a:r>
            <a:r>
              <a:rPr lang="en-US" sz="1600" dirty="0">
                <a:solidFill>
                  <a:srgbClr val="D1EFFF"/>
                </a:solidFill>
              </a:rPr>
              <a:t>; só o </a:t>
            </a:r>
            <a:r>
              <a:rPr lang="en-US" sz="1600" b="1" dirty="0">
                <a:solidFill>
                  <a:srgbClr val="D1EFFF"/>
                </a:solidFill>
              </a:rPr>
              <a:t>COMMIT ENTITIES</a:t>
            </a:r>
            <a:r>
              <a:rPr lang="en-US" sz="1600" dirty="0">
                <a:solidFill>
                  <a:srgbClr val="D1EFFF"/>
                </a:solidFill>
              </a:rPr>
              <a:t> dispara a sequência que grava no banco.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 · CREATE · DELETE</a:t>
            </a:r>
            <a:r>
              <a:rPr lang="en-US" sz="1000" dirty="0">
                <a:solidFill>
                  <a:srgbClr val="D1EFFF"/>
                </a:solidFill>
              </a:rPr>
              <a:t>  operações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%cid</a:t>
            </a:r>
            <a:r>
              <a:rPr lang="en-US" sz="1000" dirty="0">
                <a:solidFill>
                  <a:srgbClr val="D1EFFF"/>
                </a:solidFill>
              </a:rPr>
              <a:t>  id temporário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 ENTITIES</a:t>
            </a:r>
            <a:r>
              <a:rPr lang="en-US" sz="1000" dirty="0">
                <a:solidFill>
                  <a:srgbClr val="D1EFFF"/>
                </a:solidFill>
              </a:rPr>
              <a:t>  grava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 · REPORTED</a:t>
            </a:r>
            <a:r>
              <a:rPr lang="en-US" sz="1000" dirty="0">
                <a:solidFill>
                  <a:srgbClr val="D1EFFF"/>
                </a:solidFill>
              </a:rPr>
              <a:t>  respostas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MODIFY ENTITIES · ALTERAR E GRAVAR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MODIFY ENTITIES seguido de COMMIT ENTITIES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1920240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1920240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zcl_07_eml.clas.abap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ZS4D400_## › ZCL_07_EML › main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agencies_upd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/dmo/i_agencytp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agencies_upd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agencyid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'070001'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'ABAP Travel'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/dmo/i_agencytp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/dmo/agency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agencies_upd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`Agência atualizada`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 FIELDS ( … )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Só os campos listados mudam; os demais ficam como estão.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r>
              <a:rPr lang="en-US" sz="1250" b="1" dirty="0">
                <a:solidFill>
                  <a:srgbClr val="1D2D3E"/>
                </a:solidFill>
              </a:rPr>
              <a:t> · </a:t>
            </a: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Quais instâncias falharam e as mensagens geradas pelas validações.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 ENTITIES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Fora do business object, é obrigatório para persistir a mudança.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Dentro do BO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No behavior pool, o commit não é necessário nem permitido.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MODIFY ENTITIES · CRIAR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CREATE com %cid e o retorno MAPPED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3749040"/>
          </a:xfrm>
          <a:prstGeom prst="roundRect">
            <a:avLst>
              <a:gd name="adj" fmla="val 1951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153412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153412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19705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zcl_07_create.clas.abap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ZS4D400_## › ZCL_07_CREATE › main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/dmo/i_agencytp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/dmo/agency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countrycode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'AG1'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'Nova Agência'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'Walldorf'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countrycode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'DE'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MAPPED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mapped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37490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108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%cid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Identificador temporário do pedido de criação, antes de existir a chave.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30022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30022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983992"/>
            <a:ext cx="3367735" cy="108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MAPPED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Liga o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%cid</a:t>
            </a:r>
            <a:r>
              <a:rPr lang="en-US" sz="1050" dirty="0">
                <a:solidFill>
                  <a:srgbClr val="556B82"/>
                </a:solidFill>
              </a:rPr>
              <a:t> à chave que o business object gerou.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413004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4130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4111752"/>
            <a:ext cx="3367735" cy="108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Validações rodam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 o nome faltar,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r>
              <a:rPr lang="en-US" sz="1050" dirty="0">
                <a:solidFill>
                  <a:srgbClr val="556B82"/>
                </a:solidFill>
              </a:rPr>
              <a:t> e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</a:t>
            </a:r>
            <a:r>
              <a:rPr lang="en-US" sz="1050" dirty="0">
                <a:solidFill>
                  <a:srgbClr val="556B82"/>
                </a:solidFill>
              </a:rPr>
              <a:t> explicam o motivo.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5504688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207008" y="55046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DELETE  </a:t>
            </a:r>
            <a:r>
              <a:rPr lang="en-US" sz="1200" dirty="0">
                <a:solidFill>
                  <a:srgbClr val="1D2D3E"/>
                </a:solidFill>
              </a:rPr>
              <a:t>usa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 FOR DELETE</a:t>
            </a:r>
            <a:r>
              <a:rPr lang="en-US" sz="1200" dirty="0">
                <a:solidFill>
                  <a:srgbClr val="1D2D3E"/>
                </a:solidFill>
              </a:rPr>
              <a:t> só com as chaves: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FROM VALUE #( ( agencyid = '070001' ) )</a:t>
            </a:r>
            <a:r>
              <a:rPr lang="en-US" sz="1200" dirty="0">
                <a:solidFill>
                  <a:srgbClr val="1D2D3E"/>
                </a:solidFill>
              </a:rPr>
              <a:t>.</a:t>
            </a:r>
            <a:endParaRPr lang="en-US" sz="14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600700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MODIFY ENTITIES · TRANSAÇÃO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Do buffer transacional ao banco de dados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860004" y="1993392"/>
            <a:ext cx="8471687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1512532" y="164592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512532" y="164592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1</a:t>
            </a:r>
            <a:endParaRPr lang="en-US" sz="228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2622728" cy="2697480"/>
          </a:xfrm>
          <a:prstGeom prst="roundRect">
            <a:avLst>
              <a:gd name="adj" fmla="val 3486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31520" y="2697480"/>
            <a:ext cx="18454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Interação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r>
              <a:rPr lang="en-US" sz="1150" dirty="0">
                <a:solidFill>
                  <a:srgbClr val="556B82"/>
                </a:solidFill>
              </a:rPr>
              <a:t> e </a:t>
            </a:r>
            <a:r>
              <a:rPr lang="en-US" sz="11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 ENTITIES</a:t>
            </a:r>
            <a:r>
              <a:rPr lang="en-US" sz="1150" dirty="0">
                <a:solidFill>
                  <a:srgbClr val="556B82"/>
                </a:solidFill>
              </a:rPr>
              <a:t> trabalham no buffer transacional, sem tocar o banco.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36428" y="164592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36428" y="164592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2</a:t>
            </a:r>
            <a:endParaRPr lang="en-US" sz="2280" dirty="0"/>
          </a:p>
        </p:txBody>
      </p:sp>
      <p:sp>
        <p:nvSpPr>
          <p:cNvPr id="11" name="Shape 9"/>
          <p:cNvSpPr/>
          <p:nvPr/>
        </p:nvSpPr>
        <p:spPr>
          <a:xfrm>
            <a:off x="3372536" y="2514600"/>
            <a:ext cx="2622728" cy="2697480"/>
          </a:xfrm>
          <a:prstGeom prst="roundRect">
            <a:avLst>
              <a:gd name="adj" fmla="val 3486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555416" y="2697480"/>
            <a:ext cx="18454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Verificação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No </a:t>
            </a:r>
            <a:r>
              <a:rPr lang="en-US" sz="11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 ENTITIES</a:t>
            </a:r>
            <a:r>
              <a:rPr lang="en-US" sz="1150" dirty="0">
                <a:solidFill>
                  <a:srgbClr val="556B82"/>
                </a:solidFill>
              </a:rPr>
              <a:t>, determinações e validações </a:t>
            </a:r>
            <a:r>
              <a:rPr lang="en-US" sz="1150" i="1" dirty="0">
                <a:solidFill>
                  <a:srgbClr val="556B82"/>
                </a:solidFill>
              </a:rPr>
              <a:t>on save</a:t>
            </a:r>
            <a:r>
              <a:rPr lang="en-US" sz="1150" dirty="0">
                <a:solidFill>
                  <a:srgbClr val="556B82"/>
                </a:solidFill>
              </a:rPr>
              <a:t> conferem os dados.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160324" y="164592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60324" y="164592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3</a:t>
            </a:r>
            <a:endParaRPr lang="en-US" sz="2280" dirty="0"/>
          </a:p>
        </p:txBody>
      </p:sp>
      <p:sp>
        <p:nvSpPr>
          <p:cNvPr id="15" name="Shape 13"/>
          <p:cNvSpPr/>
          <p:nvPr/>
        </p:nvSpPr>
        <p:spPr>
          <a:xfrm>
            <a:off x="6196432" y="2514600"/>
            <a:ext cx="2622728" cy="2697480"/>
          </a:xfrm>
          <a:prstGeom prst="roundRect">
            <a:avLst>
              <a:gd name="adj" fmla="val 3486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379312" y="2697480"/>
            <a:ext cx="18454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Gravação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Se tudo estiver certo, o runtime grava as mudanças (no managed, sozinho).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984219" y="164592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984219" y="164592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4</a:t>
            </a:r>
            <a:endParaRPr lang="en-US" sz="2280" dirty="0"/>
          </a:p>
        </p:txBody>
      </p:sp>
      <p:sp>
        <p:nvSpPr>
          <p:cNvPr id="19" name="Shape 17"/>
          <p:cNvSpPr/>
          <p:nvPr/>
        </p:nvSpPr>
        <p:spPr>
          <a:xfrm>
            <a:off x="9020327" y="2514600"/>
            <a:ext cx="2622728" cy="2697480"/>
          </a:xfrm>
          <a:prstGeom prst="roundRect">
            <a:avLst>
              <a:gd name="adj" fmla="val 3486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203207" y="2697480"/>
            <a:ext cx="18454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Ou desfaz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 ENTITIES</a:t>
            </a:r>
            <a:r>
              <a:rPr lang="en-US" sz="1150" dirty="0">
                <a:solidFill>
                  <a:srgbClr val="556B82"/>
                </a:solidFill>
              </a:rPr>
              <a:t> descarta tudo o que estava no buffer.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539496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207008" y="539496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Unidade de trabalho  </a:t>
            </a:r>
            <a:r>
              <a:rPr lang="en-US" sz="1200" dirty="0">
                <a:solidFill>
                  <a:srgbClr val="1D2D3E"/>
                </a:solidFill>
              </a:rPr>
              <a:t>todas as mudanças de um commit são gravadas juntas ou nenhuma é: a mesma lógica da LUW que você verá no módulo 05.</a:t>
            </a:r>
            <a:endParaRPr lang="en-US" sz="14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2728" y="2670048"/>
            <a:ext cx="329184" cy="329184"/>
          </a:xfrm>
          <a:prstGeom prst="rect">
            <a:avLst/>
          </a:prstGeom>
        </p:spPr>
      </p:pic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6624" y="2670048"/>
            <a:ext cx="329184" cy="329184"/>
          </a:xfrm>
          <a:prstGeom prst="rect">
            <a:avLst/>
          </a:prstGeom>
        </p:spPr>
      </p:pic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415" y="2670048"/>
            <a:ext cx="329184" cy="329184"/>
          </a:xfrm>
          <a:prstGeom prst="rect">
            <a:avLst/>
          </a:prstGeom>
        </p:spPr>
      </p:pic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0519" y="2670048"/>
            <a:ext cx="329184" cy="329184"/>
          </a:xfrm>
          <a:prstGeom prst="rect">
            <a:avLst/>
          </a:prstGeom>
        </p:spPr>
      </p:pic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5522976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RESUMO DA AULA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que aprendemos na aula 01.07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5331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Um </a:t>
            </a:r>
            <a:r>
              <a:rPr lang="en-US" sz="1400" b="1" dirty="0">
                <a:solidFill>
                  <a:srgbClr val="FFFFFF"/>
                </a:solidFill>
              </a:rPr>
              <a:t>business object</a:t>
            </a:r>
            <a:r>
              <a:rPr lang="en-US" sz="1400" dirty="0">
                <a:solidFill>
                  <a:srgbClr val="FFFFFF"/>
                </a:solidFill>
              </a:rPr>
              <a:t> une CDS views, behavior definition e behavior implementation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6364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8543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 behavior definition declara operações, validações, determinações, ações, bloqueio e rascunho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5331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No cenário </a:t>
            </a:r>
            <a:r>
              <a:rPr lang="en-US" sz="1400" b="1" dirty="0">
                <a:solidFill>
                  <a:srgbClr val="FFFFFF"/>
                </a:solidFill>
              </a:rPr>
              <a:t>managed</a:t>
            </a:r>
            <a:r>
              <a:rPr lang="en-US" sz="1400" dirty="0">
                <a:solidFill>
                  <a:srgbClr val="FFFFFF"/>
                </a:solidFill>
              </a:rPr>
              <a:t>, o runtime faz o CRUD; no </a:t>
            </a:r>
            <a:r>
              <a:rPr lang="en-US" sz="1400" b="1" dirty="0">
                <a:solidFill>
                  <a:srgbClr val="FFFFFF"/>
                </a:solidFill>
              </a:rPr>
              <a:t>unmanaged</a:t>
            </a:r>
            <a:r>
              <a:rPr lang="en-US" sz="1400" dirty="0">
                <a:solidFill>
                  <a:srgbClr val="FFFFFF"/>
                </a:solidFill>
              </a:rPr>
              <a:t>, o desenvolvedor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8543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Serviços consomem </a:t>
            </a:r>
            <a:r>
              <a:rPr lang="en-US" sz="1400" b="1" dirty="0">
                <a:solidFill>
                  <a:srgbClr val="FFFFFF"/>
                </a:solidFill>
              </a:rPr>
              <a:t>projeções</a:t>
            </a:r>
            <a:r>
              <a:rPr lang="en-US" sz="1400" dirty="0">
                <a:solidFill>
                  <a:srgbClr val="FFFFFF"/>
                </a:solidFill>
              </a:rPr>
              <a:t>; código ABAP consome a </a:t>
            </a:r>
            <a:r>
              <a:rPr lang="en-US" sz="1400" b="1" dirty="0">
                <a:solidFill>
                  <a:srgbClr val="FFFFFF"/>
                </a:solidFill>
              </a:rPr>
              <a:t>BO interface</a:t>
            </a:r>
            <a:r>
              <a:rPr lang="en-US" sz="1400" dirty="0">
                <a:solidFill>
                  <a:srgbClr val="FFFFFF"/>
                </a:solidFill>
              </a:rPr>
              <a:t> liberada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5331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READ</a:t>
            </a:r>
            <a:r>
              <a:rPr lang="en-US" sz="1400" dirty="0">
                <a:solidFill>
                  <a:srgbClr val="FFFFFF"/>
                </a:solidFill>
              </a:rPr>
              <a:t> e </a:t>
            </a:r>
            <a:r>
              <a:rPr lang="en-US" sz="1400" b="1" dirty="0">
                <a:solidFill>
                  <a:srgbClr val="FFFFFF"/>
                </a:solidFill>
              </a:rPr>
              <a:t>MODIFY ENTITIES</a:t>
            </a:r>
            <a:r>
              <a:rPr lang="en-US" sz="1400" dirty="0">
                <a:solidFill>
                  <a:srgbClr val="FFFFFF"/>
                </a:solidFill>
              </a:rPr>
              <a:t> usam tipos derivados com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%control</a:t>
            </a:r>
            <a:r>
              <a:rPr lang="en-US" sz="1400" dirty="0">
                <a:solidFill>
                  <a:srgbClr val="FFFFFF"/>
                </a:solidFill>
              </a:rPr>
              <a:t>,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%cid</a:t>
            </a:r>
            <a:r>
              <a:rPr lang="en-US" sz="1400" dirty="0">
                <a:solidFill>
                  <a:srgbClr val="FFFFFF"/>
                </a:solidFill>
              </a:rPr>
              <a:t> e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%is_draft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6364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8543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 ENTITIES</a:t>
            </a:r>
            <a:r>
              <a:rPr lang="en-US" sz="1400" dirty="0">
                <a:solidFill>
                  <a:srgbClr val="FFFFFF"/>
                </a:solidFill>
              </a:rPr>
              <a:t> grava o buffer transacional;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r>
              <a:rPr lang="en-US" sz="1400" dirty="0">
                <a:solidFill>
                  <a:srgbClr val="FFFFFF"/>
                </a:solidFill>
              </a:rPr>
              <a:t> e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</a:t>
            </a:r>
            <a:r>
              <a:rPr lang="en-US" sz="1400" dirty="0">
                <a:solidFill>
                  <a:srgbClr val="FFFFFF"/>
                </a:solidFill>
              </a:rPr>
              <a:t> explicam as falhas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5349240"/>
            <a:ext cx="10698480" cy="749808"/>
          </a:xfrm>
          <a:prstGeom prst="roundRect">
            <a:avLst>
              <a:gd name="adj" fmla="val 12195"/>
            </a:avLst>
          </a:prstGeom>
          <a:solidFill>
            <a:srgbClr val="1B3A7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08760" y="5349240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9D1FF"/>
                </a:solidFill>
              </a:rPr>
              <a:t>Próxima aula · 01.08  </a:t>
            </a:r>
            <a:r>
              <a:rPr lang="en-US" sz="1500" dirty="0">
                <a:solidFill>
                  <a:srgbClr val="FFFFFF"/>
                </a:solidFill>
              </a:rPr>
              <a:t>Modelo RAP: Camadas, managed x unmanaged e o ciclo completo.</a:t>
            </a:r>
            <a:endParaRPr lang="en-US" sz="15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965960"/>
            <a:ext cx="256032" cy="256032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926080"/>
            <a:ext cx="256032" cy="256032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965960"/>
            <a:ext cx="256032" cy="256032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886200"/>
            <a:ext cx="256032" cy="256032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2926080"/>
            <a:ext cx="256032" cy="256032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3886200"/>
            <a:ext cx="256032" cy="256032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41264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BAP Moderno">
  <a:themeElements>
    <a:clrScheme name="ABAP Moderno">
      <a:dk1>
        <a:srgbClr val="1D2D3E"/>
      </a:dk1>
      <a:lt1>
        <a:srgbClr val="FFFFFF"/>
      </a:lt1>
      <a:dk2>
        <a:srgbClr val="556B82"/>
      </a:dk2>
      <a:lt2>
        <a:srgbClr val="F5F6F7"/>
      </a:lt2>
      <a:accent1>
        <a:srgbClr val="0070F2"/>
      </a:accent1>
      <a:accent2>
        <a:srgbClr val="30914C"/>
      </a:accent2>
      <a:accent3>
        <a:srgbClr val="E76500"/>
      </a:accent3>
      <a:accent4>
        <a:srgbClr val="D20A0A"/>
      </a:accent4>
      <a:accent5>
        <a:srgbClr val="1B3A7A"/>
      </a:accent5>
      <a:accent6>
        <a:srgbClr val="89D1FF"/>
      </a:accent6>
      <a:hlink>
        <a:srgbClr val="0064D9"/>
      </a:hlink>
      <a:folHlink>
        <a:srgbClr val="1B3A7A"/>
      </a:folHlink>
    </a:clrScheme>
    <a:fontScheme name="ABAP Modern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01.07 Atualizando dados com Business Objects</dc:title>
  <dc:subject>ABAP Moderno – Módulo 01: Fundamentos do ABAP Moderno</dc:subject>
  <dc:creator>Adriano Bispo</dc:creator>
  <cp:lastModifiedBy>Adriano Bispo</cp:lastModifiedBy>
  <cp:revision>1</cp:revision>
  <dcterms:created xsi:type="dcterms:W3CDTF">2026-10-28T04:12:37Z</dcterms:created>
  <dcterms:modified xsi:type="dcterms:W3CDTF">2026-10-28T04:12:37Z</dcterms:modified>
</cp:coreProperties>
</file>