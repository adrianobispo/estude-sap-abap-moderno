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01 — Fundamentos do ABAP Moderno  ·  Aula 7 de 8 — Business Objects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01 — Fundamentos do ABAP Moderno  ·  Aula 7 de 8 — Business Objects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01 · AULA 07 DE 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Atualizando dados com Business Objects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A anatomia de um business object RAP e a Entity Manipulation Language (EML) para ler, criar e alterar dados.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0107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01827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43546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85266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985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8705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0424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7 de 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01 — Fundamentos do ABAP Moderno · Design System SAP Horizon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01 em 8 aulas: Fundamentos do ABAP Moderno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Iniciando a jornada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ADT, ABAP Cloud, pacotes e o primeiro programa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Técnicas básicas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Dados, expressões, controle de fluxo e debugger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locais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Definição, instâncias, métodos e encapsulamento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Lendo dados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SELECT moderno, host variables e CDS 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Dados estruturados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Estruturas, CORRESPONDING e tipos profundos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internas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de tabela, chaves e expressões de tabela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Business Objects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EML: ler, criar e alterar via RAP BO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27368" y="390448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827368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006611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71203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171203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4" name="Text 42"/>
          <p:cNvSpPr txBox="1"/>
          <p:nvPr/>
        </p:nvSpPr>
        <p:spPr>
          <a:xfrm>
            <a:off x="9171203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RAP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9171203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Camadas, managed x unmanaged e o ciclo completo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deixamos 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200" dirty="0">
                <a:solidFill>
                  <a:srgbClr val="1D2D3E"/>
                </a:solidFill>
              </a:rPr>
              <a:t> direto no banco e passamos a alterar agências de viagem pelo business object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/DMO/I_AgencyTP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4415" y="3858768"/>
            <a:ext cx="347472" cy="347472"/>
          </a:xfrm>
          <a:prstGeom prst="rect">
            <a:avLst/>
          </a:prstGeom>
        </p:spPr>
      </p:pic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Por que não gravar direto na tabela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UPDATE direto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Grava sem validações, sem bloqueio, sem rascunho e sem checar autorização. No ABAP Cloud, tabelas SAP nem podem ser alteradas assim.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Business object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Concentra dados </a:t>
            </a:r>
            <a:r>
              <a:rPr lang="en-US" sz="1300" b="1" dirty="0">
                <a:solidFill>
                  <a:srgbClr val="556B82"/>
                </a:solidFill>
              </a:rPr>
              <a:t>e</a:t>
            </a:r>
            <a:r>
              <a:rPr lang="en-US" sz="1300" dirty="0">
                <a:solidFill>
                  <a:srgbClr val="556B82"/>
                </a:solidFill>
              </a:rPr>
              <a:t> comportamento: operações permitidas, validações, determinações, ações e bloqueios.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EML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Comandos ABAP para usar o business object a partir do código, com as mesmas regras que um app Fiori respeita.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036316"/>
            <a:ext cx="256032" cy="25603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3036316"/>
            <a:ext cx="256032" cy="256032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303631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01.07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Anatomia de um business object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business object RAP é formado por </a:t>
            </a:r>
            <a:r>
              <a:rPr lang="en-US" sz="1600" b="1" dirty="0">
                <a:solidFill>
                  <a:srgbClr val="D1EFFF"/>
                </a:solidFill>
              </a:rPr>
              <a:t>CDS views</a:t>
            </a:r>
            <a:r>
              <a:rPr lang="en-US" sz="1600" dirty="0">
                <a:solidFill>
                  <a:srgbClr val="D1EFFF"/>
                </a:solidFill>
              </a:rPr>
              <a:t> (a estrutura), uma </a:t>
            </a:r>
            <a:r>
              <a:rPr lang="en-US" sz="1600" b="1" dirty="0">
                <a:solidFill>
                  <a:srgbClr val="D1EFFF"/>
                </a:solidFill>
              </a:rPr>
              <a:t>behavior definition</a:t>
            </a:r>
            <a:r>
              <a:rPr lang="en-US" sz="1600" dirty="0">
                <a:solidFill>
                  <a:srgbClr val="D1EFFF"/>
                </a:solidFill>
              </a:rPr>
              <a:t> (o que ele faz) e uma </a:t>
            </a:r>
            <a:r>
              <a:rPr lang="en-US" sz="1600" b="1" dirty="0">
                <a:solidFill>
                  <a:srgbClr val="D1EFFF"/>
                </a:solidFill>
              </a:rPr>
              <a:t>behavior implementation</a:t>
            </a:r>
            <a:r>
              <a:rPr lang="en-US" sz="1600" dirty="0">
                <a:solidFill>
                  <a:srgbClr val="D1EFFF"/>
                </a:solidFill>
              </a:rPr>
              <a:t> (como faz).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CDS view entity</a:t>
            </a:r>
            <a:r>
              <a:rPr lang="en-US" sz="1000" dirty="0">
                <a:solidFill>
                  <a:srgbClr val="D1EFFF"/>
                </a:solidFill>
              </a:rPr>
              <a:t>  estrutura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 definition</a:t>
            </a:r>
            <a:r>
              <a:rPr lang="en-US" sz="1000" dirty="0">
                <a:solidFill>
                  <a:srgbClr val="D1EFFF"/>
                </a:solidFill>
              </a:rPr>
              <a:t>  o que pode fazer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 pool</a:t>
            </a:r>
            <a:r>
              <a:rPr lang="en-US" sz="1000" dirty="0">
                <a:solidFill>
                  <a:srgbClr val="D1EFFF"/>
                </a:solidFill>
              </a:rPr>
              <a:t>  a implementação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r>
              <a:rPr lang="en-US" sz="1000" dirty="0">
                <a:solidFill>
                  <a:srgbClr val="D1EFFF"/>
                </a:solidFill>
              </a:rPr>
              <a:t>  nome usado na EML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BUSINESS OBJECT · TRÊS PARTES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Estrutura, comportamento e implementação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CDS view entity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Os campos do objeto, ex.: </a:t>
            </a: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/DMO/R_AgencyTP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4561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4383938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75378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Behavior definition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Operações, validações, determinações, ações, bloqueio e rascunho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80909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8219237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30914C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10677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56F3A"/>
                </a:solidFill>
              </a:rPr>
              <a:t>Behavior implementation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Classe global </a:t>
            </a: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BEHAVIOR OF</a:t>
            </a:r>
            <a:r>
              <a:rPr lang="en-US" sz="1000" dirty="0">
                <a:solidFill>
                  <a:srgbClr val="556B82"/>
                </a:solidFill>
              </a:rPr>
              <a:t> com classes locais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Validations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Conferem os dados ao criar ou alterar, ex.: o nome da agência é obrigatório.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Determinations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Calculam ou ajustam valores quando algo acontece, ex.: preencher um status inicial.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Actions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Operações de negócio além de criar, alterar e apagar, ex.: aprovar ou cancelar.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7669" y="2084832"/>
            <a:ext cx="365760" cy="365760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8266" y="2084832"/>
            <a:ext cx="365760" cy="36576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968" y="2084832"/>
            <a:ext cx="365760" cy="365760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BUSINESS OBJECT · BEHAVIOR DEFINITION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o business object da agência pode fazer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2024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2024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/dmo/r_agencytp.bdef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/DMO/FLIGHT_DRAFT › /DMO/R_AGENCYTP (simplificada)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/dmo/bp_r_agencytp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/DMO/R_AgencyTP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/DMO/Agency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/dmo/agency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/dmo/agency_d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LastChangedAt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… ações de rascunho e mapeamento de campos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runtime implementa criar, alterar e apagar; a classe só traz a lógica específica.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Nome da entidade usado na EML (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/dmo/agency</a:t>
            </a:r>
            <a:r>
              <a:rPr lang="en-US" sz="1050" dirty="0">
                <a:solidFill>
                  <a:srgbClr val="556B82"/>
                </a:solidFill>
              </a:rPr>
              <a:t>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Tabelas e controle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Tabela ativa, de rascunho, bloqueio, ETag e autorização, cuidados pelo runtime.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… on save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Roda ao criar e quando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556B82"/>
                </a:solidFill>
              </a:rPr>
              <a:t> muda; o código fica no behavior pool.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BUSINESS OBJECT · CENÁRIOS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Managed ou unmanaged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68607"/>
            <a:ext cx="5410048" cy="2680907"/>
          </a:xfrm>
          <a:prstGeom prst="roundRect">
            <a:avLst>
              <a:gd name="adj" fmla="val 341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568607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84292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842927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Unmanaged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83007"/>
            <a:ext cx="4952848" cy="162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Criar, alterar, apagar e bloquear são implementados no behavior pool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Indicado para reaproveitar lógica legada existente (BAPIs, funções)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Mais código e mais responsabilidade do desenvolvedor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568607"/>
            <a:ext cx="5410048" cy="2680907"/>
          </a:xfrm>
          <a:prstGeom prst="roundRect">
            <a:avLst>
              <a:gd name="adj" fmla="val 341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568607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84292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842927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Managed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483007"/>
            <a:ext cx="4952848" cy="162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O runtime cuida das operações padrão e da gravação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O desenvolvedor implementa só validações, determinações e ações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O cenário recomendado para aplicações novas (</a:t>
            </a:r>
            <a:r>
              <a:rPr lang="en-US" sz="1350" i="1" dirty="0">
                <a:solidFill>
                  <a:srgbClr val="1D2D3E"/>
                </a:solidFill>
              </a:rPr>
              <a:t>greenfield</a:t>
            </a:r>
            <a:r>
              <a:rPr lang="en-US" sz="1350" dirty="0">
                <a:solidFill>
                  <a:srgbClr val="1D2D3E"/>
                </a:solidFill>
              </a:rPr>
              <a:t>)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943511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943511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01.07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Consumindo com segurança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business object raramente é consumido direto. Serviços usam uma </a:t>
            </a:r>
            <a:r>
              <a:rPr lang="en-US" sz="1600" b="1" dirty="0">
                <a:solidFill>
                  <a:srgbClr val="D1EFFF"/>
                </a:solidFill>
              </a:rPr>
              <a:t>projeção</a:t>
            </a:r>
            <a:r>
              <a:rPr lang="en-US" sz="1600" dirty="0">
                <a:solidFill>
                  <a:srgbClr val="D1EFFF"/>
                </a:solidFill>
              </a:rPr>
              <a:t>; código ABAP usa a </a:t>
            </a:r>
            <a:r>
              <a:rPr lang="en-US" sz="1600" b="1" dirty="0">
                <a:solidFill>
                  <a:srgbClr val="D1EFFF"/>
                </a:solidFill>
              </a:rPr>
              <a:t>interface</a:t>
            </a:r>
            <a:r>
              <a:rPr lang="en-US" sz="1600" dirty="0">
                <a:solidFill>
                  <a:srgbClr val="D1EFFF"/>
                </a:solidFill>
              </a:rPr>
              <a:t> liberada.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 projection</a:t>
            </a:r>
            <a:r>
              <a:rPr lang="en-US" sz="1000" dirty="0">
                <a:solidFill>
                  <a:srgbClr val="D1EFFF"/>
                </a:solidFill>
              </a:rPr>
              <a:t>  para serviços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 interface</a:t>
            </a:r>
            <a:r>
              <a:rPr lang="en-US" sz="1000" dirty="0">
                <a:solidFill>
                  <a:srgbClr val="D1EFFF"/>
                </a:solidFill>
              </a:rPr>
              <a:t>  para EML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create · use update</a:t>
            </a:r>
            <a:r>
              <a:rPr lang="en-US" sz="1000" dirty="0">
                <a:solidFill>
                  <a:srgbClr val="D1EFFF"/>
                </a:solidFill>
              </a:rPr>
              <a:t>  operações expostas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released</a:t>
            </a:r>
            <a:r>
              <a:rPr lang="en-US" sz="1000" dirty="0">
                <a:solidFill>
                  <a:srgbClr val="D1EFFF"/>
                </a:solidFill>
              </a:rPr>
              <a:t>  contrato estável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CONSUMO · CAMADAS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Projeção para serviços, interface para código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BO projection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Recorte do business object para </a:t>
            </a:r>
            <a:r>
              <a:rPr lang="en-US" sz="1300" b="1" dirty="0">
                <a:solidFill>
                  <a:srgbClr val="556B82"/>
                </a:solidFill>
              </a:rPr>
              <a:t>um serviço</a:t>
            </a:r>
            <a:r>
              <a:rPr lang="en-US" sz="1300" dirty="0">
                <a:solidFill>
                  <a:srgbClr val="556B82"/>
                </a:solidFill>
              </a:rPr>
              <a:t> (ex.: um app Fiori): quais campos e operações ele expõe, e lógica específica do serviço.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BO interface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Acesso </a:t>
            </a:r>
            <a:r>
              <a:rPr lang="en-US" sz="1300" b="1" dirty="0">
                <a:solidFill>
                  <a:srgbClr val="556B82"/>
                </a:solidFill>
              </a:rPr>
              <a:t>estável</a:t>
            </a:r>
            <a:r>
              <a:rPr lang="en-US" sz="1300" dirty="0">
                <a:solidFill>
                  <a:srgbClr val="556B82"/>
                </a:solidFill>
              </a:rPr>
              <a:t> aos dados e às operações. Costuma ser liberada para outros componentes: se existir, a EML deve usá-la.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Não use o BO direto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Embora tecnicamente possível, consumir o business object sem projeção ou interface acopla o consumidor aos detalhes internos.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036316"/>
            <a:ext cx="256032" cy="25603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3036316"/>
            <a:ext cx="256032" cy="256032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303631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CONSUMO · BO INTERFACE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 interface define o que o consumidor pode usar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3108960"/>
          </a:xfrm>
          <a:prstGeom prst="roundRect">
            <a:avLst>
              <a:gd name="adj" fmla="val 2353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2024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2024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/dmo/i_agencytp.bdef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/DMO/FLIGHT_DRAFT › /DMO/I_AGENCYTP (simplificada)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/DMO/I_AgencyTP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/DMO/Agency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interface;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Uma camada de comportamento sobre o business object, sem implementação própria.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7889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770632"/>
            <a:ext cx="3367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create</a:t>
            </a:r>
            <a:r>
              <a:rPr lang="en-US" sz="1250" b="1" dirty="0">
                <a:solidFill>
                  <a:srgbClr val="1D2D3E"/>
                </a:solidFill>
              </a:rPr>
              <a:t> …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Só as operações listadas podem ser usadas pela EML; as outras dão erro de sintaxe.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7033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685032"/>
            <a:ext cx="3367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Mesmo alias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Os consumidores endereçam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/dmo/agency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864608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07008" y="486460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No exercício oficial  </a:t>
            </a:r>
            <a:r>
              <a:rPr lang="en-US" sz="1200" dirty="0">
                <a:solidFill>
                  <a:srgbClr val="1D2D3E"/>
                </a:solidFill>
              </a:rPr>
              <a:t>a EML acessa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/DMO/I_AgencyTP</a:t>
            </a:r>
            <a:r>
              <a:rPr lang="en-US" sz="1200" dirty="0">
                <a:solidFill>
                  <a:srgbClr val="1D2D3E"/>
                </a:solidFill>
              </a:rPr>
              <a:t>, a interface liberada, e não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/DMO/R_AgencyTP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6062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01.07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EML: lendo dados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 EML usa </a:t>
            </a:r>
            <a:r>
              <a:rPr lang="en-US" sz="1600" b="1" dirty="0">
                <a:solidFill>
                  <a:srgbClr val="D1EFFF"/>
                </a:solidFill>
              </a:rPr>
              <a:t>tipos derivados</a:t>
            </a:r>
            <a:r>
              <a:rPr lang="en-US" sz="1600" dirty="0">
                <a:solidFill>
                  <a:srgbClr val="D1EFFF"/>
                </a:solidFill>
              </a:rPr>
              <a:t> da behavior definition: tabelas com os campos da entidade mais campos de controle como </a:t>
            </a:r>
            <a:r>
              <a:rPr lang="en-US" sz="1600" b="1" dirty="0">
                <a:solidFill>
                  <a:srgbClr val="D1EFFF"/>
                </a:solidFill>
              </a:rPr>
              <a:t>%control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%is_draft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ENTITIES OF</a:t>
            </a:r>
            <a:r>
              <a:rPr lang="en-US" sz="1000" dirty="0">
                <a:solidFill>
                  <a:srgbClr val="D1EFFF"/>
                </a:solidFill>
              </a:rPr>
              <a:t>  leitura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FOR READ IMPORT</a:t>
            </a:r>
            <a:r>
              <a:rPr lang="en-US" sz="1000" dirty="0">
                <a:solidFill>
                  <a:srgbClr val="D1EFFF"/>
                </a:solidFill>
              </a:rPr>
              <a:t>  chaves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FOR READ RESULT</a:t>
            </a:r>
            <a:r>
              <a:rPr lang="en-US" sz="1000" dirty="0">
                <a:solidFill>
                  <a:srgbClr val="D1EFFF"/>
                </a:solidFill>
              </a:rPr>
              <a:t>  resultado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 ( ) · ALL FIELDS</a:t>
            </a:r>
            <a:r>
              <a:rPr lang="en-US" sz="1000" dirty="0">
                <a:solidFill>
                  <a:srgbClr val="D1EFFF"/>
                </a:solidFill>
              </a:rPr>
              <a:t>  colunas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READ ENTITIES · LEITURA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READ ENTITIES com tipos derivados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2024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2024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zcl_07_eml.clas.abap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ZCL_07_EML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agencies_in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/dmo/i_agencytp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agencies_out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/dmo/i_agencytp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agencies_in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'070001'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/dmo/i_agencytp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/dmo/agency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agencies_in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agencies_out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agencies_out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250" b="1" dirty="0">
                <a:solidFill>
                  <a:srgbClr val="1D2D3E"/>
                </a:solidFill>
              </a:rPr>
              <a:t> +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Após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556B82"/>
                </a:solidFill>
              </a:rPr>
              <a:t>, o nome da behavior definition; após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556B82"/>
                </a:solidFill>
              </a:rPr>
              <a:t>, o alias da entidade.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IMPORT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Tabela com as chaves e os campos de controle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%is_draft</a:t>
            </a:r>
            <a:r>
              <a:rPr lang="en-US" sz="1050" dirty="0">
                <a:solidFill>
                  <a:srgbClr val="556B82"/>
                </a:solidFill>
              </a:rPr>
              <a:t>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%control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 ( …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Lista sem vírgulas;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FIELDS</a:t>
            </a:r>
            <a:r>
              <a:rPr lang="en-US" sz="1050" dirty="0">
                <a:solidFill>
                  <a:srgbClr val="556B82"/>
                </a:solidFill>
              </a:rPr>
              <a:t> lê tudo. As chaves sempre voltam.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RESULT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Recebe os dados lidos, inclusive o indicador de rascunho.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READ ENTITIES · TIPOS DERIVADOS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tipos que a behavior definition gera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282696"/>
          </a:xfrm>
          <a:prstGeom prst="roundRect">
            <a:avLst>
              <a:gd name="adj" fmla="val 278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4233950"/>
                <a:gridCol w="6586145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Conteúdo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 FOR READ IMPORT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Chaves das instâncias a ler,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%is_draft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e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%control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 FOR READ RESULT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Todos os campos da entidade, preenchidos conforme o pedido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 FOR CREATE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Campos da nova instância e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%cid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, o identificador temporário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 FOR UPDATE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Chave, campos alterados e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%control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indicando quais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 FOR DELETE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Chaves das instâncias a apagar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FAILED · REPORTED · MAPPED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Respostas: falhas, mensagens e chaves geradas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11496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5111496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%control  </a:t>
            </a:r>
            <a:r>
              <a:rPr lang="en-US" sz="1200" dirty="0">
                <a:solidFill>
                  <a:srgbClr val="1D2D3E"/>
                </a:solidFill>
              </a:rPr>
              <a:t>marca quais campos participam da operação. Com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 ( … )</a:t>
            </a:r>
            <a:r>
              <a:rPr lang="en-US" sz="1200" dirty="0">
                <a:solidFill>
                  <a:srgbClr val="1D2D3E"/>
                </a:solidFill>
              </a:rPr>
              <a:t>, o framework preenche 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%control</a:t>
            </a:r>
            <a:r>
              <a:rPr lang="en-US" sz="1200" dirty="0">
                <a:solidFill>
                  <a:srgbClr val="1D2D3E"/>
                </a:solidFill>
              </a:rPr>
              <a:t> sozinho.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23951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01.07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EML: modificando e gravando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1EFFF"/>
                </a:solidFill>
              </a:rPr>
              <a:t>MODIFY ENTITIES</a:t>
            </a:r>
            <a:r>
              <a:rPr lang="en-US" sz="1600" dirty="0">
                <a:solidFill>
                  <a:srgbClr val="D1EFFF"/>
                </a:solidFill>
              </a:rPr>
              <a:t> altera o </a:t>
            </a:r>
            <a:r>
              <a:rPr lang="en-US" sz="1600" b="1" dirty="0">
                <a:solidFill>
                  <a:srgbClr val="D1EFFF"/>
                </a:solidFill>
              </a:rPr>
              <a:t>buffer transacional</a:t>
            </a:r>
            <a:r>
              <a:rPr lang="en-US" sz="1600" dirty="0">
                <a:solidFill>
                  <a:srgbClr val="D1EFFF"/>
                </a:solidFill>
              </a:rPr>
              <a:t>; só o </a:t>
            </a:r>
            <a:r>
              <a:rPr lang="en-US" sz="1600" b="1" dirty="0">
                <a:solidFill>
                  <a:srgbClr val="D1EFFF"/>
                </a:solidFill>
              </a:rPr>
              <a:t>COMMIT ENTITIES</a:t>
            </a:r>
            <a:r>
              <a:rPr lang="en-US" sz="1600" dirty="0">
                <a:solidFill>
                  <a:srgbClr val="D1EFFF"/>
                </a:solidFill>
              </a:rPr>
              <a:t> dispara a sequência que grava no banco.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· CREATE · DELETE</a:t>
            </a:r>
            <a:r>
              <a:rPr lang="en-US" sz="1000" dirty="0">
                <a:solidFill>
                  <a:srgbClr val="D1EFFF"/>
                </a:solidFill>
              </a:rPr>
              <a:t>  operações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%cid</a:t>
            </a:r>
            <a:r>
              <a:rPr lang="en-US" sz="1000" dirty="0">
                <a:solidFill>
                  <a:srgbClr val="D1EFFF"/>
                </a:solidFill>
              </a:rPr>
              <a:t>  id temporário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ENTITIES</a:t>
            </a:r>
            <a:r>
              <a:rPr lang="en-US" sz="1000" dirty="0">
                <a:solidFill>
                  <a:srgbClr val="D1EFFF"/>
                </a:solidFill>
              </a:rPr>
              <a:t>  grava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 · REPORTED</a:t>
            </a:r>
            <a:r>
              <a:rPr lang="en-US" sz="1000" dirty="0">
                <a:solidFill>
                  <a:srgbClr val="D1EFFF"/>
                </a:solidFill>
              </a:rPr>
              <a:t>  respostas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MODIFY ENTITIES · ALTERAR E GRAVAR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MODIFY ENTITIES seguido de COMMIT ENTITIES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2024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2024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zcl_07_eml.clas.abap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ZCL_07_EML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agencies_upd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/dmo/i_agencytp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agencies_upd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'070001'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'ABAP Travel'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/dmo/i_agencytp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/dmo/agency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agencies_upd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`Agência atualizada`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FIELDS ( …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Só os campos listados mudam; os demais ficam como estão.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r>
              <a:rPr lang="en-US" sz="1250" b="1" dirty="0">
                <a:solidFill>
                  <a:srgbClr val="1D2D3E"/>
                </a:solidFill>
              </a:rPr>
              <a:t> ·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Quais instâncias falharam e as mensagens geradas pelas validações.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ENTITIES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Fora do business object, é obrigatório para persistir a mudança.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Dentro do BO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No behavior pool, o commit não é necessário nem permitido.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MODIFY ENTITIES · CRIAR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CREATE com %cid e o retorno MAPPED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3749040"/>
          </a:xfrm>
          <a:prstGeom prst="roundRect">
            <a:avLst>
              <a:gd name="adj" fmla="val 1951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15341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15341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970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zcl_07_create.clas.abap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ZS4D400_## › ZCL_07_CREATE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/dmo/i_agencytp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/dmo/agency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countrycode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'AG1'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'Nova Agência'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'Walldorf'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countrycode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%cid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Identificador temporário do pedido de criação, antes de existir a chave.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30022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3002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983992"/>
            <a:ext cx="336773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MAPPED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Liga 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%cid</a:t>
            </a:r>
            <a:r>
              <a:rPr lang="en-US" sz="1050" dirty="0">
                <a:solidFill>
                  <a:srgbClr val="556B82"/>
                </a:solidFill>
              </a:rPr>
              <a:t> à chave que o business object gerou.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413004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4130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4111752"/>
            <a:ext cx="336773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Validações rodam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 o nome faltar,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r>
              <a:rPr lang="en-US" sz="1050" dirty="0">
                <a:solidFill>
                  <a:srgbClr val="556B82"/>
                </a:solidFill>
              </a:rPr>
              <a:t>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</a:t>
            </a:r>
            <a:r>
              <a:rPr lang="en-US" sz="1050" dirty="0">
                <a:solidFill>
                  <a:srgbClr val="556B82"/>
                </a:solidFill>
              </a:rPr>
              <a:t> explicam o motivo.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504688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07008" y="55046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DELETE  </a:t>
            </a:r>
            <a:r>
              <a:rPr lang="en-US" sz="1200" dirty="0">
                <a:solidFill>
                  <a:srgbClr val="1D2D3E"/>
                </a:solidFill>
              </a:rPr>
              <a:t>usa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FOR DELETE</a:t>
            </a:r>
            <a:r>
              <a:rPr lang="en-US" sz="1200" dirty="0">
                <a:solidFill>
                  <a:srgbClr val="1D2D3E"/>
                </a:solidFill>
              </a:rPr>
              <a:t> só com as chaves: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VALUE #( ( agencyid = '070001' ) )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0070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MODIFY ENTITIES · TRANSAÇÃO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buffer transacional ao banco de dados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60004" y="2656332"/>
            <a:ext cx="847168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12532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12532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360420"/>
            <a:ext cx="184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Interação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</a:t>
            </a:r>
            <a:r>
              <a:rPr lang="en-US" sz="1150" dirty="0">
                <a:solidFill>
                  <a:srgbClr val="556B82"/>
                </a:solidFill>
              </a:rPr>
              <a:t> e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ENTITIES</a:t>
            </a:r>
            <a:r>
              <a:rPr lang="en-US" sz="1150" dirty="0">
                <a:solidFill>
                  <a:srgbClr val="556B82"/>
                </a:solidFill>
              </a:rPr>
              <a:t> trabalham no buffer transacional, sem tocar o banco.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6428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6428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3372536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55416" y="3360420"/>
            <a:ext cx="184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Verificação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No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ENTITIES</a:t>
            </a:r>
            <a:r>
              <a:rPr lang="en-US" sz="1150" dirty="0">
                <a:solidFill>
                  <a:srgbClr val="556B82"/>
                </a:solidFill>
              </a:rPr>
              <a:t>, determinações e validações </a:t>
            </a:r>
            <a:r>
              <a:rPr lang="en-US" sz="1150" i="1" dirty="0">
                <a:solidFill>
                  <a:srgbClr val="556B82"/>
                </a:solidFill>
              </a:rPr>
              <a:t>on save</a:t>
            </a:r>
            <a:r>
              <a:rPr lang="en-US" sz="1150" dirty="0">
                <a:solidFill>
                  <a:srgbClr val="556B82"/>
                </a:solidFill>
              </a:rPr>
              <a:t> conferem os dados.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0324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60324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6196432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79312" y="3360420"/>
            <a:ext cx="184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Gravação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Se tudo estiver certo, o runtime grava as mudanças (no managed, sozinho).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84219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84219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9020327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03207" y="3360420"/>
            <a:ext cx="184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Ou desfaz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 ENTITIES</a:t>
            </a:r>
            <a:r>
              <a:rPr lang="en-US" sz="1150" dirty="0">
                <a:solidFill>
                  <a:srgbClr val="556B82"/>
                </a:solidFill>
              </a:rPr>
              <a:t> descarta tudo o que estava no buffer.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9423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07008" y="49423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Unidade de trabalho  </a:t>
            </a:r>
            <a:r>
              <a:rPr lang="en-US" sz="1200" dirty="0">
                <a:solidFill>
                  <a:srgbClr val="1D2D3E"/>
                </a:solidFill>
              </a:rPr>
              <a:t>todas as mudanças de um commit são gravadas juntas ou nenhuma é: a mesma lógica da LUW que você verá no módulo 05.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2728" y="3332988"/>
            <a:ext cx="329184" cy="329184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624" y="3332988"/>
            <a:ext cx="329184" cy="329184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519" y="3332988"/>
            <a:ext cx="329184" cy="329184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3332988"/>
            <a:ext cx="329184" cy="329184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07034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01.07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Um </a:t>
            </a:r>
            <a:r>
              <a:rPr lang="en-US" sz="1400" b="1" dirty="0">
                <a:solidFill>
                  <a:srgbClr val="FFFFFF"/>
                </a:solidFill>
              </a:rPr>
              <a:t>business object</a:t>
            </a:r>
            <a:r>
              <a:rPr lang="en-US" sz="1400" dirty="0">
                <a:solidFill>
                  <a:srgbClr val="FFFFFF"/>
                </a:solidFill>
              </a:rPr>
              <a:t> une CDS views, behavior definition e behavior implementation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behavior definition declara operações, validações, determinações, ações, bloqueio e rascunho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No cenário </a:t>
            </a:r>
            <a:r>
              <a:rPr lang="en-US" sz="1400" b="1" dirty="0">
                <a:solidFill>
                  <a:srgbClr val="FFFFFF"/>
                </a:solidFill>
              </a:rPr>
              <a:t>managed</a:t>
            </a:r>
            <a:r>
              <a:rPr lang="en-US" sz="1400" dirty="0">
                <a:solidFill>
                  <a:srgbClr val="FFFFFF"/>
                </a:solidFill>
              </a:rPr>
              <a:t>, o runtime faz o CRUD; no </a:t>
            </a:r>
            <a:r>
              <a:rPr lang="en-US" sz="1400" b="1" dirty="0">
                <a:solidFill>
                  <a:srgbClr val="FFFFFF"/>
                </a:solidFill>
              </a:rPr>
              <a:t>unmanaged</a:t>
            </a:r>
            <a:r>
              <a:rPr lang="en-US" sz="1400" dirty="0">
                <a:solidFill>
                  <a:srgbClr val="FFFFFF"/>
                </a:solidFill>
              </a:rPr>
              <a:t>, o desenvolvedor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Serviços consomem </a:t>
            </a:r>
            <a:r>
              <a:rPr lang="en-US" sz="1400" b="1" dirty="0">
                <a:solidFill>
                  <a:srgbClr val="FFFFFF"/>
                </a:solidFill>
              </a:rPr>
              <a:t>projeções</a:t>
            </a:r>
            <a:r>
              <a:rPr lang="en-US" sz="1400" dirty="0">
                <a:solidFill>
                  <a:srgbClr val="FFFFFF"/>
                </a:solidFill>
              </a:rPr>
              <a:t>; código ABAP consome a </a:t>
            </a:r>
            <a:r>
              <a:rPr lang="en-US" sz="1400" b="1" dirty="0">
                <a:solidFill>
                  <a:srgbClr val="FFFFFF"/>
                </a:solidFill>
              </a:rPr>
              <a:t>BO interface</a:t>
            </a:r>
            <a:r>
              <a:rPr lang="en-US" sz="1400" dirty="0">
                <a:solidFill>
                  <a:srgbClr val="FFFFFF"/>
                </a:solidFill>
              </a:rPr>
              <a:t> liberada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READ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MODIFY ENTITIES</a:t>
            </a:r>
            <a:r>
              <a:rPr lang="en-US" sz="1400" dirty="0">
                <a:solidFill>
                  <a:srgbClr val="FFFFFF"/>
                </a:solidFill>
              </a:rPr>
              <a:t> usam tipos derivados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%control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%cid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%is_draft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ENTITIES</a:t>
            </a:r>
            <a:r>
              <a:rPr lang="en-US" sz="1400" dirty="0">
                <a:solidFill>
                  <a:srgbClr val="FFFFFF"/>
                </a:solidFill>
              </a:rPr>
              <a:t> grava o buffer transacional;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</a:t>
            </a:r>
            <a:r>
              <a:rPr lang="en-US" sz="1400" dirty="0">
                <a:solidFill>
                  <a:srgbClr val="FFFFFF"/>
                </a:solidFill>
              </a:rPr>
              <a:t> explicam as falhas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01.08  </a:t>
            </a:r>
            <a:r>
              <a:rPr lang="en-US" sz="1500" dirty="0">
                <a:solidFill>
                  <a:srgbClr val="FFFFFF"/>
                </a:solidFill>
              </a:rPr>
              <a:t>Modelo RAP: Camadas, managed x unmanaged e o ciclo completo.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01.07 Atualizando dados com Business Objects</dc:title>
  <dc:subject>ABAP Moderno – Módulo 01: Fundamentos do ABAP Moderno</dc:subject>
  <dc:creator>Adriano Bispo</dc:creator>
  <cp:lastModifiedBy>Adriano Bispo</cp:lastModifiedBy>
  <cp:revision>1</cp:revision>
  <dcterms:created xsi:type="dcterms:W3CDTF">2026-10-28T04:16:34Z</dcterms:created>
  <dcterms:modified xsi:type="dcterms:W3CDTF">2026-10-28T04:16:34Z</dcterms:modified>
</cp:coreProperties>
</file>