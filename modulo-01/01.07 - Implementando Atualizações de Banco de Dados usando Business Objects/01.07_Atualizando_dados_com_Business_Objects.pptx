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7 de 8 — Business Objects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7 de 8 — Business Objects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07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Atualizando dados com Business Objects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 anatomia de um business object RAP e a Entity Manipulation Language (EML) para ler, criar e alterar dados.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7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27368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27368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deixamos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200" dirty="0">
                <a:solidFill>
                  <a:srgbClr val="1D2D3E"/>
                </a:solidFill>
              </a:rPr>
              <a:t> direto no banco e passamos a alterar itens de estoque pelo business object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200" dirty="0">
                <a:solidFill>
                  <a:srgbClr val="1D2D3E"/>
                </a:solidFill>
              </a:rPr>
              <a:t> do projeto Pedidos de Compras.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Por que não gravar direto na tabela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UPDATE direto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Grava sem validações, sem bloqueio, sem rascunho e sem checar autorização. No ABAP Cloud, tabelas SAP nem podem ser alteradas assim.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Business object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Concentra dados </a:t>
            </a:r>
            <a:r>
              <a:rPr lang="en-US" sz="1300" b="1" dirty="0">
                <a:solidFill>
                  <a:srgbClr val="556B82"/>
                </a:solidFill>
              </a:rPr>
              <a:t>e</a:t>
            </a:r>
            <a:r>
              <a:rPr lang="en-US" sz="1300" dirty="0">
                <a:solidFill>
                  <a:srgbClr val="556B82"/>
                </a:solidFill>
              </a:rPr>
              <a:t> comportamento: operações permitidas, validações, determinações, ações e bloqueios.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EML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Comandos ABAP para usar o business object a partir do código, com as mesmas regras que um app Fiori respeita.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de um business object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business object RAP é formado por </a:t>
            </a:r>
            <a:r>
              <a:rPr lang="en-US" sz="1600" b="1" dirty="0">
                <a:solidFill>
                  <a:srgbClr val="D1EFFF"/>
                </a:solidFill>
              </a:rPr>
              <a:t>CDS views</a:t>
            </a:r>
            <a:r>
              <a:rPr lang="en-US" sz="1600" dirty="0">
                <a:solidFill>
                  <a:srgbClr val="D1EFFF"/>
                </a:solidFill>
              </a:rPr>
              <a:t> (a estrutura), uma </a:t>
            </a:r>
            <a:r>
              <a:rPr lang="en-US" sz="1600" b="1" dirty="0">
                <a:solidFill>
                  <a:srgbClr val="D1EFFF"/>
                </a:solidFill>
              </a:rPr>
              <a:t>behavior definition</a:t>
            </a:r>
            <a:r>
              <a:rPr lang="en-US" sz="1600" dirty="0">
                <a:solidFill>
                  <a:srgbClr val="D1EFFF"/>
                </a:solidFill>
              </a:rPr>
              <a:t> (o que ele faz) e uma </a:t>
            </a:r>
            <a:r>
              <a:rPr lang="en-US" sz="1600" b="1" dirty="0">
                <a:solidFill>
                  <a:srgbClr val="D1EFFF"/>
                </a:solidFill>
              </a:rPr>
              <a:t>behavior implementation</a:t>
            </a:r>
            <a:r>
              <a:rPr lang="en-US" sz="1600" dirty="0">
                <a:solidFill>
                  <a:srgbClr val="D1EFFF"/>
                </a:solidFill>
              </a:rPr>
              <a:t> (como faz).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 view entity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definition</a:t>
            </a:r>
            <a:r>
              <a:rPr lang="en-US" sz="1000" dirty="0">
                <a:solidFill>
                  <a:srgbClr val="D1EFFF"/>
                </a:solidFill>
              </a:rPr>
              <a:t>  o que pode fazer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pool</a:t>
            </a:r>
            <a:r>
              <a:rPr lang="en-US" sz="1000" dirty="0">
                <a:solidFill>
                  <a:srgbClr val="D1EFFF"/>
                </a:solidFill>
              </a:rPr>
              <a:t>  a implementação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00" dirty="0">
                <a:solidFill>
                  <a:srgbClr val="D1EFFF"/>
                </a:solidFill>
              </a:rPr>
              <a:t>  nome usado na EML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TRÊS PARTES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Estrutura, comportamento e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CDS view 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Os campos do objeto, ex.: </a:t>
            </a: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Behavior definition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Operações, validações, determinações, ações, bloqueio e rascunho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Behavior implementation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Classe global </a:t>
            </a: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BEHAVIOR OF</a:t>
            </a:r>
            <a:r>
              <a:rPr lang="en-US" sz="1000" dirty="0">
                <a:solidFill>
                  <a:srgbClr val="556B82"/>
                </a:solidFill>
              </a:rPr>
              <a:t> com classes locais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Validations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Conferem os dados ao criar ou alterar, ex.: nome, categoria e preço do item são obrigatórios.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Determinations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Calculam ou ajustam valores quando algo acontece, ex.: o status do estoque quando a quantidade muda.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Actions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Operações de negócio além de criar, alterar e apagar, ex.: reservar estoque ou aprovar um pedido.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BEHAVIOR DEFINITION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business object do item pode fazer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zr_pc_item.bdef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ZAVBS_PC_ESTOQUE › ZR_PC_ITEM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LastChangedAt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precheck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ZPC_A_QTDE_INPUT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 ações de rascunho, determinações e mapeamento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runtime implementa criar, alterar e apagar; a classe só traz a lógica específica.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Nome da entidade usado na EML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 Item</a:t>
            </a:r>
            <a:r>
              <a:rPr lang="en-US" sz="10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Tabelas e controle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 ativa, de rascunho, bloqueio, ETag e autorização, cuidados pelo runtime.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ValidarItem</a:t>
            </a:r>
            <a:r>
              <a:rPr lang="en-US" sz="1050" dirty="0">
                <a:solidFill>
                  <a:srgbClr val="556B82"/>
                </a:solidFill>
              </a:rPr>
              <a:t> roda ao criar e quando os campos mudam;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</a:t>
            </a:r>
            <a:r>
              <a:rPr lang="en-US" sz="1050" dirty="0">
                <a:solidFill>
                  <a:srgbClr val="556B82"/>
                </a:solidFill>
              </a:rPr>
              <a:t> é chamada pelo BO Pedido.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BUSINESS OBJECT · CENÁRIOS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Managed ou unmanaged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860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568607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429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84292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Unmanaged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8300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Criar, alterar, apagar e bloquear são implementados no behavior pool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Indicado para reaproveitar lógica legada existente (BAPIs, funções)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Mais código e mais responsabilidade do desenvolvedor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56860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56860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84292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84292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Managed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48300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runtime cuida das operações padrão e da gravação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desenvolvedor implementa só validações, determinações e ações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O cenário recomendado para aplicações novas (</a:t>
            </a:r>
            <a:r>
              <a:rPr lang="en-US" sz="1350" i="1" dirty="0">
                <a:solidFill>
                  <a:srgbClr val="1D2D3E"/>
                </a:solidFill>
              </a:rPr>
              <a:t>greenfield</a:t>
            </a:r>
            <a:r>
              <a:rPr lang="en-US" sz="1350" dirty="0">
                <a:solidFill>
                  <a:srgbClr val="1D2D3E"/>
                </a:solidFill>
              </a:rPr>
              <a:t>)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943511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94351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Consumindo com segurança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business object raramente é consumido direto. Serviços usam uma </a:t>
            </a:r>
            <a:r>
              <a:rPr lang="en-US" sz="1600" b="1" dirty="0">
                <a:solidFill>
                  <a:srgbClr val="D1EFFF"/>
                </a:solidFill>
              </a:rPr>
              <a:t>projeção</a:t>
            </a:r>
            <a:r>
              <a:rPr lang="en-US" sz="1600" dirty="0">
                <a:solidFill>
                  <a:srgbClr val="D1EFFF"/>
                </a:solidFill>
              </a:rPr>
              <a:t>; código ABAP usa a </a:t>
            </a:r>
            <a:r>
              <a:rPr lang="en-US" sz="1600" b="1" dirty="0">
                <a:solidFill>
                  <a:srgbClr val="D1EFFF"/>
                </a:solidFill>
              </a:rPr>
              <a:t>interface</a:t>
            </a:r>
            <a:r>
              <a:rPr lang="en-US" sz="1600" dirty="0">
                <a:solidFill>
                  <a:srgbClr val="D1EFFF"/>
                </a:solidFill>
              </a:rPr>
              <a:t> liberada.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 projection</a:t>
            </a:r>
            <a:r>
              <a:rPr lang="en-US" sz="1000" dirty="0">
                <a:solidFill>
                  <a:srgbClr val="D1EFFF"/>
                </a:solidFill>
              </a:rPr>
              <a:t>  para serviços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 interface</a:t>
            </a:r>
            <a:r>
              <a:rPr lang="en-US" sz="1000" dirty="0">
                <a:solidFill>
                  <a:srgbClr val="D1EFFF"/>
                </a:solidFill>
              </a:rPr>
              <a:t>  para EML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 · use update</a:t>
            </a:r>
            <a:r>
              <a:rPr lang="en-US" sz="1000" dirty="0">
                <a:solidFill>
                  <a:srgbClr val="D1EFFF"/>
                </a:solidFill>
              </a:rPr>
              <a:t>  operações expostas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</a:t>
            </a:r>
            <a:r>
              <a:rPr lang="en-US" sz="1000" dirty="0">
                <a:solidFill>
                  <a:srgbClr val="D1EFFF"/>
                </a:solidFill>
              </a:rPr>
              <a:t>  contrato estável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CONSUMO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Projeção para serviços, interface para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BO projection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Recorte do business object para </a:t>
            </a:r>
            <a:r>
              <a:rPr lang="en-US" sz="1300" b="1" dirty="0">
                <a:solidFill>
                  <a:srgbClr val="556B82"/>
                </a:solidFill>
              </a:rPr>
              <a:t>um serviço</a:t>
            </a:r>
            <a:r>
              <a:rPr lang="en-US" sz="1300" dirty="0">
                <a:solidFill>
                  <a:srgbClr val="556B82"/>
                </a:solidFill>
              </a:rPr>
              <a:t> (ex.: um app Fiori): quais campos e operações ele expõe, e lógica específica do serviço.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BO interface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Acesso </a:t>
            </a:r>
            <a:r>
              <a:rPr lang="en-US" sz="1300" b="1" dirty="0">
                <a:solidFill>
                  <a:srgbClr val="556B82"/>
                </a:solidFill>
              </a:rPr>
              <a:t>estável</a:t>
            </a:r>
            <a:r>
              <a:rPr lang="en-US" sz="1300" dirty="0">
                <a:solidFill>
                  <a:srgbClr val="556B82"/>
                </a:solidFill>
              </a:rPr>
              <a:t> aos dados e às operações. Costuma ser liberada para outros componentes: se existir, a EML deve usá-la.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Não use o BO direto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Embora tecnicamente possível, consumir o business object sem projeção ou interface acopla o consumidor aos detalhes internos.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CONSUMO · BO PROJECTION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projeção define o que o app pode usar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611880"/>
          </a:xfrm>
          <a:prstGeom prst="roundRect">
            <a:avLst>
              <a:gd name="adj" fmla="val 2025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zc_pc_item_app.bdef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ZAVBS_PC_ESTOQUE › ZC_PC_ITEM_APP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ReservarEstoque, LiberarReserva e BaixarEstoque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ã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expostas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ó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movimenta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camada de comportamento sobre o business object, voltada a um serviço.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565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56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38272"/>
            <a:ext cx="3367735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</a:t>
            </a:r>
            <a:r>
              <a:rPr lang="en-US" sz="1250" b="1" dirty="0">
                <a:solidFill>
                  <a:srgbClr val="1D2D3E"/>
                </a:solidFill>
              </a:rPr>
              <a:t> …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o que for listado fica disponível; as actions de estoque ficam escondidas do app.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0386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038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020312"/>
            <a:ext cx="3367735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BO interface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Tem a mesma forma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interface;</a:t>
            </a:r>
            <a:r>
              <a:rPr lang="en-US" sz="1050" dirty="0">
                <a:solidFill>
                  <a:srgbClr val="556B82"/>
                </a:solidFill>
              </a:rPr>
              <a:t>), mas serve ao consumo por EML de outros componentes.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36752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536752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projeto  </a:t>
            </a:r>
            <a:r>
              <a:rPr lang="en-US" sz="1200" dirty="0">
                <a:solidFill>
                  <a:srgbClr val="1D2D3E"/>
                </a:solidFill>
              </a:rPr>
              <a:t>só existem projeções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ZC_*</a:t>
            </a:r>
            <a:r>
              <a:rPr lang="en-US" sz="1200" dirty="0">
                <a:solidFill>
                  <a:srgbClr val="1D2D3E"/>
                </a:solidFill>
              </a:rPr>
              <a:t>), uma por app. A EML do pedido chama direto o BO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200" dirty="0">
                <a:solidFill>
                  <a:srgbClr val="1D2D3E"/>
                </a:solidFill>
              </a:rPr>
              <a:t>, que está no mesmo projeto.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46354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EML: lendo dados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EML usa </a:t>
            </a:r>
            <a:r>
              <a:rPr lang="en-US" sz="1600" b="1" dirty="0">
                <a:solidFill>
                  <a:srgbClr val="D1EFFF"/>
                </a:solidFill>
              </a:rPr>
              <a:t>tipos derivados</a:t>
            </a:r>
            <a:r>
              <a:rPr lang="en-US" sz="1600" dirty="0">
                <a:solidFill>
                  <a:srgbClr val="D1EFFF"/>
                </a:solidFill>
              </a:rPr>
              <a:t> da behavior definition: tabelas com os campos da entidade mais campos de controle como </a:t>
            </a:r>
            <a:r>
              <a:rPr lang="en-US" sz="1600" b="1" dirty="0">
                <a:solidFill>
                  <a:srgbClr val="D1EFFF"/>
                </a:solidFill>
              </a:rPr>
              <a:t>%control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%is_draft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ENTITIES OF</a:t>
            </a:r>
            <a:r>
              <a:rPr lang="en-US" sz="1000" dirty="0">
                <a:solidFill>
                  <a:srgbClr val="D1EFFF"/>
                </a:solidFill>
              </a:rPr>
              <a:t>  leitura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READ IMPORT</a:t>
            </a:r>
            <a:r>
              <a:rPr lang="en-US" sz="1000" dirty="0">
                <a:solidFill>
                  <a:srgbClr val="D1EFFF"/>
                </a:solidFill>
              </a:rPr>
              <a:t>  chaves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READ RESULT</a:t>
            </a:r>
            <a:r>
              <a:rPr lang="en-US" sz="1000" dirty="0">
                <a:solidFill>
                  <a:srgbClr val="D1EFFF"/>
                </a:solidFill>
              </a:rPr>
              <a:t>  resultado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) · ALL FIELDS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READ ENTITIES · LEITURA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READ ENTITIES com tipos derivados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zcl_pc_eml_demo.clas.abap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o BO ZR_PC_ITEM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itens_in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itens_out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50" b="1" dirty="0">
                <a:solidFill>
                  <a:srgbClr val="1D2D3E"/>
                </a:solidFill>
              </a:rPr>
              <a:t> +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556B82"/>
                </a:solidFill>
              </a:rPr>
              <a:t>, o nome da behavior definition; após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556B82"/>
                </a:solidFill>
              </a:rPr>
              <a:t>, o alias da entidade.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IMPORT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Tabela com as chaves e os campos de controle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%is_draft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Lista sem vírgulas;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FIELDS</a:t>
            </a:r>
            <a:r>
              <a:rPr lang="en-US" sz="1050" dirty="0">
                <a:solidFill>
                  <a:srgbClr val="556B82"/>
                </a:solidFill>
              </a:rPr>
              <a:t> lê tudo. As chaves sempre voltam.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RESULT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Recebe os dados lidos, inclusive o indicador de rascunho.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READ ENTITIES · TIPOS DERIVADOS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tipos que a behavior definition gera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282696"/>
          </a:xfrm>
          <a:prstGeom prst="roundRect">
            <a:avLst>
              <a:gd name="adj" fmla="val 278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4233950"/>
                <a:gridCol w="658614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Conteúdo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READ IMPORT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Chaves das instâncias a ler,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%is_draft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%control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READ RESULT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Todos os campos da entidade, preenchidos conforme o pedido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CREATE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Campos da nova instância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%cid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o identificador temporário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UPDATE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Chave, campos alterados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%control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indicando quais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 FOR DELETE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Chaves das instâncias a apagar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FAILED · REPORTED · MAPPED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Respostas: falhas, mensagens e chaves geradas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1149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11496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%control  </a:t>
            </a:r>
            <a:r>
              <a:rPr lang="en-US" sz="1200" dirty="0">
                <a:solidFill>
                  <a:srgbClr val="1D2D3E"/>
                </a:solidFill>
              </a:rPr>
              <a:t>marca quais campos participam da operação.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 ( … )</a:t>
            </a:r>
            <a:r>
              <a:rPr lang="en-US" sz="1200" dirty="0">
                <a:solidFill>
                  <a:srgbClr val="1D2D3E"/>
                </a:solidFill>
              </a:rPr>
              <a:t>, o framework preenche 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200" dirty="0">
                <a:solidFill>
                  <a:srgbClr val="1D2D3E"/>
                </a:solidFill>
              </a:rPr>
              <a:t> sozinho.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2395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01.07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EML: modificando e gravando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MODIFY ENTITIES</a:t>
            </a:r>
            <a:r>
              <a:rPr lang="en-US" sz="1600" dirty="0">
                <a:solidFill>
                  <a:srgbClr val="D1EFFF"/>
                </a:solidFill>
              </a:rPr>
              <a:t> altera o </a:t>
            </a:r>
            <a:r>
              <a:rPr lang="en-US" sz="1600" b="1" dirty="0">
                <a:solidFill>
                  <a:srgbClr val="D1EFFF"/>
                </a:solidFill>
              </a:rPr>
              <a:t>buffer transacional</a:t>
            </a:r>
            <a:r>
              <a:rPr lang="en-US" sz="1600" dirty="0">
                <a:solidFill>
                  <a:srgbClr val="D1EFFF"/>
                </a:solidFill>
              </a:rPr>
              <a:t>; só o </a:t>
            </a:r>
            <a:r>
              <a:rPr lang="en-US" sz="1600" b="1" dirty="0">
                <a:solidFill>
                  <a:srgbClr val="D1EFFF"/>
                </a:solidFill>
              </a:rPr>
              <a:t>COMMIT ENTITIES</a:t>
            </a:r>
            <a:r>
              <a:rPr lang="en-US" sz="1600" dirty="0">
                <a:solidFill>
                  <a:srgbClr val="D1EFFF"/>
                </a:solidFill>
              </a:rPr>
              <a:t> dispara a sequência que grava no banco.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· CREATE · DELETE</a:t>
            </a:r>
            <a:r>
              <a:rPr lang="en-US" sz="1000" dirty="0">
                <a:solidFill>
                  <a:srgbClr val="D1EFFF"/>
                </a:solidFill>
              </a:rPr>
              <a:t>  operações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000" dirty="0">
                <a:solidFill>
                  <a:srgbClr val="D1EFFF"/>
                </a:solidFill>
              </a:rPr>
              <a:t>  id temporário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000" dirty="0">
                <a:solidFill>
                  <a:srgbClr val="D1EFFF"/>
                </a:solidFill>
              </a:rPr>
              <a:t>  grava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· REPORTED</a:t>
            </a:r>
            <a:r>
              <a:rPr lang="en-US" sz="1000" dirty="0">
                <a:solidFill>
                  <a:srgbClr val="D1EFFF"/>
                </a:solidFill>
              </a:rPr>
              <a:t>  respostas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ALTERAR E GRAVAR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MODIFY ENTITIES seguido de COMMIT ENTITIES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zcl_pc_eml_demo.clas.abap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o BO ZR_PC_ITEM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itens_upd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itens_upd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itens_upd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`Estoque atualizado`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FIELDS ( …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os campos listados mudam; os demais ficam como estão.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Quais instâncias falharam e as mensagens das validações,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ValidarQuantidades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Fora do business object, é obrigatório para persistir a mudança.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Dentro do BO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No behavior pool, o commit não é necessário nem permitido.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CRIAR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CREATE com %cid e o retorno MAPPED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49040"/>
          </a:xfrm>
          <a:prstGeom prst="roundRect">
            <a:avLst>
              <a:gd name="adj" fmla="val 1951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zcl_pc_eml_demo.clas.abap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Exemplo sobre o BO ZR_PC_ITEM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'ITM'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'Mouse sem fio'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'INFORMATICA'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PrecoUnitario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'89.90'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Identificador temporário do pedido de criação, antes de existir a chave.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0022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002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8399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050" dirty="0">
                <a:solidFill>
                  <a:srgbClr val="556B82"/>
                </a:solidFill>
              </a:rPr>
              <a:t> ao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r>
              <a:rPr lang="en-US" sz="1050" dirty="0">
                <a:solidFill>
                  <a:srgbClr val="556B82"/>
                </a:solidFill>
              </a:rPr>
              <a:t> que o runtime gerou (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 : managed</a:t>
            </a:r>
            <a:r>
              <a:rPr lang="en-US" sz="10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13004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130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111752"/>
            <a:ext cx="3367735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Validações rodam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 nome ou categoria,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050" dirty="0">
                <a:solidFill>
                  <a:srgbClr val="556B82"/>
                </a:solidFill>
              </a:rPr>
              <a:t> explicam o motivo; o SKU vem da determination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GerarSku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50468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07008" y="550468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DELETE  </a:t>
            </a:r>
            <a:r>
              <a:rPr lang="en-US" sz="1200" dirty="0">
                <a:solidFill>
                  <a:srgbClr val="1D2D3E"/>
                </a:solidFill>
              </a:rPr>
              <a:t>usa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FOR DELETE</a:t>
            </a:r>
            <a:r>
              <a:rPr lang="en-US" sz="1200" dirty="0">
                <a:solidFill>
                  <a:srgbClr val="1D2D3E"/>
                </a:solidFill>
              </a:rPr>
              <a:t> só com as chaves: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VALUE #( ( ItemUUID = item_uuid ) 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070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MODIFY ENTITIES · TRANSAÇÃO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buffer transacional ao banco de dados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Interação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</a:t>
            </a:r>
            <a:r>
              <a:rPr lang="en-US" sz="1150" dirty="0">
                <a:solidFill>
                  <a:srgbClr val="556B82"/>
                </a:solidFill>
              </a:rPr>
              <a:t> 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ENTITIES</a:t>
            </a:r>
            <a:r>
              <a:rPr lang="en-US" sz="1150" dirty="0">
                <a:solidFill>
                  <a:srgbClr val="556B82"/>
                </a:solidFill>
              </a:rPr>
              <a:t> trabalham no buffer transacional, sem tocar o banco.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Verificação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150" dirty="0">
                <a:solidFill>
                  <a:srgbClr val="556B82"/>
                </a:solidFill>
              </a:rPr>
              <a:t>, determinações e validações </a:t>
            </a:r>
            <a:r>
              <a:rPr lang="en-US" sz="1150" i="1" dirty="0">
                <a:solidFill>
                  <a:srgbClr val="556B82"/>
                </a:solidFill>
              </a:rPr>
              <a:t>on save</a:t>
            </a:r>
            <a:r>
              <a:rPr lang="en-US" sz="1150" dirty="0">
                <a:solidFill>
                  <a:srgbClr val="556B82"/>
                </a:solidFill>
              </a:rPr>
              <a:t> conferem os dados.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Gravação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Se tudo estiver certo, o runtime grava as mudanças (no managed, sozinho).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Ou desfaz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 ENTITIES</a:t>
            </a:r>
            <a:r>
              <a:rPr lang="en-US" sz="1150" dirty="0">
                <a:solidFill>
                  <a:srgbClr val="556B82"/>
                </a:solidFill>
              </a:rPr>
              <a:t> descarta tudo o que estava no buffer.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Unidade de trabalho  </a:t>
            </a:r>
            <a:r>
              <a:rPr lang="en-US" sz="1200" dirty="0">
                <a:solidFill>
                  <a:srgbClr val="1D2D3E"/>
                </a:solidFill>
              </a:rPr>
              <a:t>todas as mudanças de um commit são gravadas juntas ou nenhuma é: a mesma lógica da LUW que você verá no módulo 04.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4" y="333298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519" y="333298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33298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2728" y="3332988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 </a:t>
            </a:r>
            <a:r>
              <a:rPr lang="en-US" sz="1400" b="1" dirty="0">
                <a:solidFill>
                  <a:srgbClr val="FFFFFF"/>
                </a:solidFill>
              </a:rPr>
              <a:t>business object</a:t>
            </a:r>
            <a:r>
              <a:rPr lang="en-US" sz="1400" dirty="0">
                <a:solidFill>
                  <a:srgbClr val="FFFFFF"/>
                </a:solidFill>
              </a:rPr>
              <a:t> une CDS views, behavior definition e behavior implementation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behavior definition declara operações, validações, determinações, ações, bloqueio e rascunho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cenário </a:t>
            </a:r>
            <a:r>
              <a:rPr lang="en-US" sz="1400" b="1" dirty="0">
                <a:solidFill>
                  <a:srgbClr val="FFFFFF"/>
                </a:solidFill>
              </a:rPr>
              <a:t>managed</a:t>
            </a:r>
            <a:r>
              <a:rPr lang="en-US" sz="1400" dirty="0">
                <a:solidFill>
                  <a:srgbClr val="FFFFFF"/>
                </a:solidFill>
              </a:rPr>
              <a:t>, o runtime faz o CRUD; no </a:t>
            </a:r>
            <a:r>
              <a:rPr lang="en-US" sz="1400" b="1" dirty="0">
                <a:solidFill>
                  <a:srgbClr val="FFFFFF"/>
                </a:solidFill>
              </a:rPr>
              <a:t>unmanaged</a:t>
            </a:r>
            <a:r>
              <a:rPr lang="en-US" sz="1400" dirty="0">
                <a:solidFill>
                  <a:srgbClr val="FFFFFF"/>
                </a:solidFill>
              </a:rPr>
              <a:t>, o desenvolvedor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Serviços consomem </a:t>
            </a:r>
            <a:r>
              <a:rPr lang="en-US" sz="1400" b="1" dirty="0">
                <a:solidFill>
                  <a:srgbClr val="FFFFFF"/>
                </a:solidFill>
              </a:rPr>
              <a:t>projeções</a:t>
            </a:r>
            <a:r>
              <a:rPr lang="en-US" sz="1400" dirty="0">
                <a:solidFill>
                  <a:srgbClr val="FFFFFF"/>
                </a:solidFill>
              </a:rPr>
              <a:t>; código ABAP consome a </a:t>
            </a:r>
            <a:r>
              <a:rPr lang="en-US" sz="1400" b="1" dirty="0">
                <a:solidFill>
                  <a:srgbClr val="FFFFFF"/>
                </a:solidFill>
              </a:rPr>
              <a:t>BO interface</a:t>
            </a:r>
            <a:r>
              <a:rPr lang="en-US" sz="1400" dirty="0">
                <a:solidFill>
                  <a:srgbClr val="FFFFFF"/>
                </a:solidFill>
              </a:rPr>
              <a:t> liberada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MODIFY ENTITIES</a:t>
            </a:r>
            <a:r>
              <a:rPr lang="en-US" sz="1400" dirty="0">
                <a:solidFill>
                  <a:srgbClr val="FFFFFF"/>
                </a:solidFill>
              </a:rPr>
              <a:t> usam tipos derivados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%control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%cid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%is_draft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ENTITIES</a:t>
            </a:r>
            <a:r>
              <a:rPr lang="en-US" sz="1400" dirty="0">
                <a:solidFill>
                  <a:srgbClr val="FFFFFF"/>
                </a:solidFill>
              </a:rPr>
              <a:t> grava o buffer transacional;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400" dirty="0">
                <a:solidFill>
                  <a:srgbClr val="FFFFFF"/>
                </a:solidFill>
              </a:rPr>
              <a:t> explicam as falhas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01.08  </a:t>
            </a:r>
            <a:r>
              <a:rPr lang="en-US" sz="1500" dirty="0">
                <a:solidFill>
                  <a:srgbClr val="FFFFFF"/>
                </a:solidFill>
              </a:rPr>
              <a:t>Modelo RAP: Camadas, managed x unmanaged e o ciclo completo.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01.07 Atualizando dados com Business Objects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2026-10-29T13:18:28Z</dcterms:created>
  <dcterms:modified xsi:type="dcterms:W3CDTF">2026-10-29T13:18:28Z</dcterms:modified>
</cp:coreProperties>
</file>