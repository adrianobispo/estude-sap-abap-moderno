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Title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DE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01.07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ontent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dirty="0">
                <a:solidFill>
                  <a:srgbClr val="0070F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ABAP Moderno  ·  Módulo 01  ·  01.07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rizon Closing">
    <p:bg>
      <p:bgPr>
        <a:solidFill>
          <a:srgbClr val="1D2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4DB1FF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396A8"/>
                </a:solidFill>
              </a:rPr>
              <a:t>ABAP Moderno  ·  Módulo 01  ·  01.07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body" hasCustomPrompt="1"/>
          </p:nvPr>
        </p:nvSpPr>
        <p:spPr>
          <a:xfrm>
            <a:off x="548640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DB1FF"/>
                </a:solidFill>
              </a:rPr>
              <a:t>Módulo 01  ·  01.07</a:t>
            </a:r>
            <a:endParaRPr lang="en-US" sz="1600" dirty="0"/>
          </a:p>
        </p:txBody>
      </p:sp>
      <p:sp>
        <p:nvSpPr>
          <p:cNvPr id="3" name="Text 0"/>
          <p:cNvSpPr/>
          <p:nvPr>
            <p:ph idx="103" type="title" hasCustomPrompt="1"/>
          </p:nvPr>
        </p:nvSpPr>
        <p:spPr>
          <a:xfrm>
            <a:off x="548640" y="205740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Implementando Atualizações de Banco de Dados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4" type="body" hasCustomPrompt="1"/>
          </p:nvPr>
        </p:nvSpPr>
        <p:spPr>
          <a:xfrm>
            <a:off x="548640" y="4206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DE"/>
                </a:solidFill>
              </a:rPr>
              <a:t>Arquitetura transacional e EML no ABAP RESTful Application Programming Model (RAP).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15400" y="160020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33302B"/>
          </a:solidFill>
          <a:ln w="9525">
            <a:solidFill>
              <a:srgbClr val="6B5E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0" y="160020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/ UPDATE ztable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21671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DB1FF"/>
                </a:solidFill>
              </a:rPr>
              <a:t>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915400" y="2350008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760" y="2350008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Object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15400" y="3099816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509760" y="309981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 ENTITIES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3849624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0" y="3849624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ENTITIES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5400" y="4599432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A3B4E"/>
          </a:solidFill>
          <a:ln w="9525">
            <a:solidFill>
              <a:srgbClr val="3D50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509760" y="459943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/ REPORTED</a:t>
            </a:r>
            <a:endParaRPr lang="en-US" sz="13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737360"/>
            <a:ext cx="292608" cy="292608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236976"/>
            <a:ext cx="292608" cy="292608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487168"/>
            <a:ext cx="292608" cy="292608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3986784"/>
            <a:ext cx="292608" cy="292608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4736592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Objetivos de Aprendizagem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1581912"/>
            <a:ext cx="10317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Compreender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 arquitetura transacional do RAP e os riscos do SQL direto.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496312"/>
            <a:ext cx="10317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Dominar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 sintaxe EML (Entity Manipulation Language) para interagir com Business Objects.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4290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325880" y="3410712"/>
            <a:ext cx="10317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Aplicar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o comando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 ENTITIES</a:t>
            </a:r>
            <a:r>
              <a:rPr lang="en-US" sz="1500" dirty="0">
                <a:solidFill>
                  <a:srgbClr val="556B82"/>
                </a:solidFill>
              </a:rPr>
              <a:t> para criar, atualizar e executar ações.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343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325880" y="4325112"/>
            <a:ext cx="10317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Gerenciar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a transacionalidade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ENTITIES</a:t>
            </a:r>
            <a:r>
              <a:rPr lang="en-US" sz="1500" dirty="0">
                <a:solidFill>
                  <a:srgbClr val="556B82"/>
                </a:solidFill>
              </a:rPr>
              <a:t>) e o Buffer Transacional.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2578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25880" y="5239512"/>
            <a:ext cx="103171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Manipular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estruturas de retorno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500" dirty="0">
                <a:solidFill>
                  <a:srgbClr val="556B82"/>
                </a:solidFill>
              </a:rPr>
              <a:t>,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MAPPED</a:t>
            </a:r>
            <a:r>
              <a:rPr lang="en-US" sz="1500" dirty="0">
                <a:solidFill>
                  <a:srgbClr val="556B82"/>
                </a:solidFill>
              </a:rPr>
              <a:t>,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500" dirty="0">
                <a:solidFill>
                  <a:srgbClr val="556B82"/>
                </a:solidFill>
              </a:rPr>
              <a:t>) para tratamento de erros.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646274"/>
            <a:ext cx="285293" cy="285293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1731874"/>
            <a:ext cx="285293" cy="285293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3560674"/>
            <a:ext cx="285293" cy="285293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4475074"/>
            <a:ext cx="285293" cy="285293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314" y="5389474"/>
            <a:ext cx="285293" cy="285293"/>
          </a:xfrm>
          <a:prstGeom prst="rect">
            <a:avLst/>
          </a:prstGeom>
        </p:spPr>
      </p:pic>
      <p:sp>
        <p:nvSpPr>
          <p:cNvPr id="18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Fim do SQL Direto (INSERT/UPDATE)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BF4F6"/>
          </a:solidFill>
          <a:ln w="9525">
            <a:solidFill>
              <a:srgbClr val="F5B8C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83080"/>
            <a:ext cx="4815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A0808"/>
                </a:solidFill>
              </a:rPr>
              <a:t>ABAP Clássico (Problema)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560320"/>
            <a:ext cx="777240" cy="777240"/>
          </a:xfrm>
          <a:prstGeom prst="ellipse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6" name="Shape 4"/>
          <p:cNvSpPr/>
          <p:nvPr/>
        </p:nvSpPr>
        <p:spPr>
          <a:xfrm>
            <a:off x="1737360" y="2606040"/>
            <a:ext cx="1234440" cy="685800"/>
          </a:xfrm>
          <a:prstGeom prst="roundRect">
            <a:avLst>
              <a:gd name="adj" fmla="val 13333"/>
            </a:avLst>
          </a:prstGeom>
          <a:solidFill>
            <a:srgbClr val="D20A0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783080" y="260604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SQL Direto →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81528" y="2606040"/>
            <a:ext cx="1234440" cy="685800"/>
          </a:xfrm>
          <a:prstGeom prst="roundRect">
            <a:avLst>
              <a:gd name="adj" fmla="val 13333"/>
            </a:avLst>
          </a:prstGeom>
          <a:solidFill>
            <a:srgbClr val="EEF1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127248" y="260604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Regras de Negócio (ignoradas)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25696" y="2606040"/>
            <a:ext cx="1234440" cy="685800"/>
          </a:xfrm>
          <a:prstGeom prst="roundRect">
            <a:avLst>
              <a:gd name="adj" fmla="val 13333"/>
            </a:avLst>
          </a:prstGeom>
          <a:solidFill>
            <a:srgbClr val="6A7B8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71416" y="260604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3840480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Validações ignoradas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4526280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Cálculos não executados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5212080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Logs de auditoria perdidos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53048" y="1783080"/>
            <a:ext cx="4815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64D9"/>
                </a:solidFill>
              </a:rPr>
              <a:t>Modelo RAP (Solução)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553048" y="2560320"/>
            <a:ext cx="777240" cy="777240"/>
          </a:xfrm>
          <a:prstGeom prst="ellipse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18" name="Shape 16"/>
          <p:cNvSpPr/>
          <p:nvPr/>
        </p:nvSpPr>
        <p:spPr>
          <a:xfrm>
            <a:off x="7467448" y="2606040"/>
            <a:ext cx="1234440" cy="685800"/>
          </a:xfrm>
          <a:prstGeom prst="roundRect">
            <a:avLst>
              <a:gd name="adj" fmla="val 13333"/>
            </a:avLst>
          </a:prstGeom>
          <a:solidFill>
            <a:srgbClr val="0070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13168" y="260604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EML 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811616" y="2606040"/>
            <a:ext cx="1234440" cy="685800"/>
          </a:xfrm>
          <a:prstGeom prst="roundRect">
            <a:avLst>
              <a:gd name="adj" fmla="val 13333"/>
            </a:avLst>
          </a:prstGeom>
          <a:solidFill>
            <a:srgbClr val="1D2D3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857336" y="260604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Business Object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155784" y="2606040"/>
            <a:ext cx="1234440" cy="685800"/>
          </a:xfrm>
          <a:prstGeom prst="roundRect">
            <a:avLst>
              <a:gd name="adj" fmla="val 13333"/>
            </a:avLst>
          </a:prstGeom>
          <a:solidFill>
            <a:srgbClr val="0064D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201504" y="260604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Database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47408" y="3840480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Encapsulamento total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147408" y="4526280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Guardião da integridade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147408" y="5212080"/>
            <a:ext cx="4175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D2D3E"/>
                </a:solidFill>
              </a:rPr>
              <a:t>Banco de dados privado</a:t>
            </a:r>
            <a:endParaRPr lang="en-US" sz="17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746858"/>
            <a:ext cx="404165" cy="404165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931920"/>
            <a:ext cx="384048" cy="384048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617720"/>
            <a:ext cx="384048" cy="384048"/>
          </a:xfrm>
          <a:prstGeom prst="rect">
            <a:avLst/>
          </a:prstGeom>
        </p:spPr>
      </p:pic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585" y="2746858"/>
            <a:ext cx="404165" cy="404165"/>
          </a:xfrm>
          <a:prstGeom prst="rect">
            <a:avLst/>
          </a:prstGeom>
        </p:spPr>
      </p:pic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03520"/>
            <a:ext cx="384048" cy="384048"/>
          </a:xfrm>
          <a:prstGeom prst="rect">
            <a:avLst/>
          </a:prstGeom>
        </p:spPr>
      </p:pic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8768" y="3931920"/>
            <a:ext cx="384048" cy="384048"/>
          </a:xfrm>
          <a:prstGeom prst="rect">
            <a:avLst/>
          </a:prstGeom>
        </p:spPr>
      </p:pic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8768" y="4617720"/>
            <a:ext cx="384048" cy="384048"/>
          </a:xfrm>
          <a:prstGeom prst="rect">
            <a:avLst/>
          </a:prstGeom>
        </p:spPr>
      </p:pic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8768" y="5303520"/>
            <a:ext cx="384048" cy="384048"/>
          </a:xfrm>
          <a:prstGeom prst="rect">
            <a:avLst/>
          </a:prstGeom>
        </p:spPr>
      </p:pic>
      <p:sp>
        <p:nvSpPr>
          <p:cNvPr id="35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Que é EML (Entity Manipulation Language)?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27884" y="1920240"/>
            <a:ext cx="1005840" cy="1005840"/>
          </a:xfrm>
          <a:prstGeom prst="ellipse">
            <a:avLst>
              <a:gd name="adj" fmla="val 22000"/>
            </a:avLst>
          </a:prstGeom>
          <a:solidFill>
            <a:srgbClr val="EAEC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3063240"/>
            <a:ext cx="536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2D3E"/>
                </a:solidFill>
              </a:rPr>
              <a:t>ABAP SQL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11880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6B82"/>
                </a:solidFill>
              </a:rPr>
              <a:t>Foco: Leitura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4251960"/>
            <a:ext cx="3535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600" dirty="0">
                <a:solidFill>
                  <a:srgbClr val="1D2D3E"/>
                </a:solidFill>
              </a:rPr>
              <a:t> em tabelas ou CDS Views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Usado para relatórios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Não altera dados no RAP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78728" y="1600200"/>
            <a:ext cx="5364328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0070F2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57971" y="1920240"/>
            <a:ext cx="1005840" cy="1005840"/>
          </a:xfrm>
          <a:prstGeom prst="ellipse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78728" y="3063240"/>
            <a:ext cx="5364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D2D3E"/>
                </a:solidFill>
              </a:rPr>
              <a:t>EML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278728" y="3611880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64D9"/>
                </a:solidFill>
              </a:rPr>
              <a:t>Foco: Transação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376008" y="4251960"/>
            <a:ext cx="3535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600" dirty="0">
                <a:solidFill>
                  <a:srgbClr val="1D2D3E"/>
                </a:solidFill>
              </a:rPr>
              <a:t> /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ENTITIES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Única via para alterar dados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Tipagem forte e abstração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D2D3E"/>
                </a:solidFill>
              </a:rPr>
              <a:t>Opera no Buffer (memória)</a:t>
            </a:r>
            <a:endParaRPr lang="en-US" sz="16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9285" y="2161642"/>
            <a:ext cx="523037" cy="523037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373" y="2161642"/>
            <a:ext cx="523037" cy="523037"/>
          </a:xfrm>
          <a:prstGeom prst="rect">
            <a:avLst/>
          </a:prstGeom>
        </p:spPr>
      </p:pic>
      <p:sp>
        <p:nvSpPr>
          <p:cNvPr id="15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O Canivete Suíço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MODIFY ENTITIES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2D3E"/>
                </a:solidFill>
              </a:rPr>
              <a:t>Um único comando para </a:t>
            </a:r>
            <a:r>
              <a:rPr lang="en-US" sz="1800" b="1" dirty="0">
                <a:solidFill>
                  <a:srgbClr val="1D2D3E"/>
                </a:solidFill>
              </a:rPr>
              <a:t>Criar</a:t>
            </a:r>
            <a:r>
              <a:rPr lang="en-US" sz="1800" dirty="0">
                <a:solidFill>
                  <a:srgbClr val="1D2D3E"/>
                </a:solidFill>
              </a:rPr>
              <a:t>, </a:t>
            </a:r>
            <a:r>
              <a:rPr lang="en-US" sz="1800" b="1" dirty="0">
                <a:solidFill>
                  <a:srgbClr val="1D2D3E"/>
                </a:solidFill>
              </a:rPr>
              <a:t>Alterar</a:t>
            </a:r>
            <a:r>
              <a:rPr lang="en-US" sz="1800" dirty="0">
                <a:solidFill>
                  <a:srgbClr val="1D2D3E"/>
                </a:solidFill>
              </a:rPr>
              <a:t>, </a:t>
            </a:r>
            <a:r>
              <a:rPr lang="en-US" sz="1800" b="1" dirty="0">
                <a:solidFill>
                  <a:srgbClr val="1D2D3E"/>
                </a:solidFill>
              </a:rPr>
              <a:t>Deletar</a:t>
            </a:r>
            <a:r>
              <a:rPr lang="en-US" sz="1800" dirty="0">
                <a:solidFill>
                  <a:srgbClr val="1D2D3E"/>
                </a:solidFill>
              </a:rPr>
              <a:t> e </a:t>
            </a:r>
            <a:r>
              <a:rPr lang="en-US" sz="1800" b="1" dirty="0">
                <a:solidFill>
                  <a:srgbClr val="1D2D3E"/>
                </a:solidFill>
              </a:rPr>
              <a:t>Executar</a:t>
            </a:r>
            <a:r>
              <a:rPr lang="en-US" sz="1800" dirty="0">
                <a:solidFill>
                  <a:srgbClr val="1D2D3E"/>
                </a:solidFill>
              </a:rPr>
              <a:t>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017520" y="2286000"/>
            <a:ext cx="6217920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246120" y="2450592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Nome_Do_Behavior_Definition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Nome_Da_Entidade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lt_novos_dados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lt_dados_alterados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nome_acao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lt_chaves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ls_reported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MAPPED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ls_mapped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2194560" cy="685800"/>
          </a:xfrm>
          <a:prstGeom prst="roundRect">
            <a:avLst>
              <a:gd name="adj" fmla="val 13333"/>
            </a:avLst>
          </a:prstGeom>
          <a:solidFill>
            <a:srgbClr val="FFF8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2004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44F00"/>
                </a:solidFill>
              </a:rPr>
              <a:t>Operações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788920" y="3383280"/>
            <a:ext cx="411480" cy="320040"/>
          </a:xfrm>
          <a:prstGeom prst="rightArrow">
            <a:avLst/>
          </a:prstGeom>
          <a:solidFill>
            <a:srgbClr val="E76500"/>
          </a:solidFill>
          <a:ln/>
        </p:spPr>
      </p:sp>
      <p:sp>
        <p:nvSpPr>
          <p:cNvPr id="10" name="Shape 8"/>
          <p:cNvSpPr/>
          <p:nvPr/>
        </p:nvSpPr>
        <p:spPr>
          <a:xfrm>
            <a:off x="9509760" y="4389120"/>
            <a:ext cx="2133295" cy="868680"/>
          </a:xfrm>
          <a:prstGeom prst="roundRect">
            <a:avLst>
              <a:gd name="adj" fmla="val 10526"/>
            </a:avLst>
          </a:prstGeom>
          <a:solidFill>
            <a:srgbClr val="FFF8D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509760" y="4389120"/>
            <a:ext cx="21332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44F00"/>
                </a:solidFill>
              </a:rPr>
              <a:t>Retornos Obrigatórios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052560" y="4663440"/>
            <a:ext cx="411480" cy="320040"/>
          </a:xfrm>
          <a:prstGeom prst="leftArrow">
            <a:avLst/>
          </a:prstGeom>
          <a:solidFill>
            <a:srgbClr val="E76500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Estruturas de Retorno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Interpretando o Feedback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03349" y="1920240"/>
            <a:ext cx="1005840" cy="1005840"/>
          </a:xfrm>
          <a:prstGeom prst="ellipse">
            <a:avLst>
              <a:gd name="adj" fmla="val 22000"/>
            </a:avLst>
          </a:prstGeom>
          <a:solidFill>
            <a:srgbClr val="FFEAF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306324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6616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Quem falhou?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Contém as chaves das instâncias que não passaram nas validações. A operação é abortada para esses registros.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92928" y="1920240"/>
            <a:ext cx="1005840" cy="1005840"/>
          </a:xfrm>
          <a:prstGeom prst="ellipse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8218" y="306324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338218" y="356616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Por que falhou?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411480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Contém as mensagens de erro (classe T100). Explica a causa — ex.: ‘Data inválida’, ‘Cliente bloqueado’.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27797" y="1600200"/>
            <a:ext cx="3515258" cy="4572000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82506" y="1920240"/>
            <a:ext cx="1005840" cy="1005840"/>
          </a:xfrm>
          <a:prstGeom prst="ellipse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27797" y="306324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4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MAPPED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127797" y="3566160"/>
            <a:ext cx="35152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2D3E"/>
                </a:solidFill>
              </a:rPr>
              <a:t>Onde está?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4114800"/>
            <a:ext cx="29666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Mapeia o ID temporário (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r>
              <a:rPr lang="en-US" sz="1500" dirty="0">
                <a:solidFill>
                  <a:srgbClr val="556B82"/>
                </a:solidFill>
              </a:rPr>
              <a:t>) para o ID final gerado pelo sistema. Vital para operações </a:t>
            </a:r>
            <a:r>
              <a:rPr lang="en-US" sz="15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500" dirty="0">
                <a:solidFill>
                  <a:srgbClr val="556B82"/>
                </a:solidFill>
              </a:rPr>
              <a:t>.</a:t>
            </a:r>
            <a:endParaRPr lang="en-US" sz="16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4329" y="2161642"/>
            <a:ext cx="523037" cy="523037"/>
          </a:xfrm>
          <a:prstGeom prst="rect">
            <a:avLst/>
          </a:prstGeom>
        </p:spPr>
      </p:pic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4751" y="2161642"/>
            <a:ext cx="523037" cy="523037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3908" y="2161642"/>
            <a:ext cx="523037" cy="52303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O Ciclo de Vida da Transação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2148840"/>
            <a:ext cx="4206240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2377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D2D3E"/>
                </a:solidFill>
              </a:rPr>
              <a:t>1. Interaction Phase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240280" y="3063240"/>
            <a:ext cx="1188720" cy="118872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44348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 ENTITIES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Dados no Transactional Buffer (apenas memória).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53935" y="2148840"/>
            <a:ext cx="4206240" cy="3566160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253935" y="2377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D2D3E"/>
                </a:solidFill>
              </a:rPr>
              <a:t>2. Save Phase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762695" y="3063240"/>
            <a:ext cx="1188720" cy="118872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528255" y="44348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Validações finais (Save Sequence)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Persistência física no banco.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95848" y="1600200"/>
            <a:ext cx="0" cy="457200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029200" y="3703320"/>
            <a:ext cx="2133295" cy="548640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61408" y="1645920"/>
            <a:ext cx="2468880" cy="502920"/>
          </a:xfrm>
          <a:prstGeom prst="roundRect">
            <a:avLst>
              <a:gd name="adj" fmla="val 49091"/>
            </a:avLst>
          </a:prstGeom>
          <a:solidFill>
            <a:srgbClr val="0070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61408" y="1645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 ENTITIES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5573" y="3348533"/>
            <a:ext cx="618134" cy="618134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988" y="3348533"/>
            <a:ext cx="618134" cy="618134"/>
          </a:xfrm>
          <a:prstGeom prst="rect">
            <a:avLst/>
          </a:prstGeom>
        </p:spPr>
      </p:pic>
      <p:sp>
        <p:nvSpPr>
          <p:cNvPr id="17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Persistindo Dados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COMMIT ENTITIES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D2D3E"/>
                </a:solidFill>
              </a:rPr>
              <a:t>O comando que </a:t>
            </a:r>
            <a:r>
              <a:rPr lang="en-US" sz="1800" b="1" dirty="0">
                <a:solidFill>
                  <a:srgbClr val="1D2D3E"/>
                </a:solidFill>
              </a:rPr>
              <a:t>transforma o estado da memória</a:t>
            </a:r>
            <a:r>
              <a:rPr lang="en-US" sz="1800" dirty="0">
                <a:solidFill>
                  <a:srgbClr val="1D2D3E"/>
                </a:solidFill>
              </a:rPr>
              <a:t> em dados persistentes.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4480560" cy="1463040"/>
          </a:xfrm>
          <a:prstGeom prst="roundRect">
            <a:avLst>
              <a:gd name="adj" fmla="val 7500"/>
            </a:avLst>
          </a:prstGeom>
          <a:solidFill>
            <a:srgbClr val="EBF8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3246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Recomendação:</a:t>
            </a:r>
            <a:r>
              <a:rPr lang="en-US" sz="1600" dirty="0">
                <a:solidFill>
                  <a:srgbClr val="1D2D3E"/>
                </a:solidFill>
              </a:rPr>
              <a:t> sempre utilize a variante com </a:t>
            </a:r>
            <a:r>
              <a:rPr lang="en-US" sz="16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r>
              <a:rPr lang="en-US" sz="1600" dirty="0">
                <a:solidFill>
                  <a:srgbClr val="1D2D3E"/>
                </a:solidFill>
              </a:rPr>
              <a:t> para capturar erros de última hora (Save Validations).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0" y="1965960"/>
            <a:ext cx="6156655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715000" y="2130552"/>
            <a:ext cx="56994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Nome_Do_BDEF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ls_commit_failed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ls_commit_reported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7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0" y="4617720"/>
            <a:ext cx="6156655" cy="822960"/>
          </a:xfrm>
          <a:prstGeom prst="roundRect">
            <a:avLst>
              <a:gd name="adj" fmla="val 13333"/>
            </a:avLst>
          </a:prstGeom>
          <a:solidFill>
            <a:srgbClr val="FFF8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4617720"/>
            <a:ext cx="5150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D2D3E"/>
                </a:solidFill>
              </a:rPr>
              <a:t>Se ocorrer erro aqui, os dados </a:t>
            </a:r>
            <a:r>
              <a:rPr lang="en-US" sz="1600" b="1" dirty="0">
                <a:solidFill>
                  <a:srgbClr val="1D2D3E"/>
                </a:solidFill>
              </a:rPr>
              <a:t>NÃO</a:t>
            </a:r>
            <a:r>
              <a:rPr lang="en-US" sz="1600" dirty="0">
                <a:solidFill>
                  <a:srgbClr val="1D2D3E"/>
                </a:solidFill>
              </a:rPr>
              <a:t> são gravados no banco.</a:t>
            </a:r>
            <a:endParaRPr lang="en-US" sz="16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803904"/>
            <a:ext cx="347472" cy="347472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4855464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Prática 1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Preparação e Criação (Interaction Phase)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13232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66751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lt_create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/dmo/t_travel_create_in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'TEMP_01'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1500" i="1" dirty="0">
                <a:solidFill>
                  <a:srgbClr val="6A7B8C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&lt;- %cid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agency_id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'070001'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'O'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/DMO/I_Travel_M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lt_create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ls_failed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MAPPED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ls_mapped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955280" y="2148840"/>
            <a:ext cx="3687775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0" y="242316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0" y="242316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64D9"/>
                </a:solidFill>
              </a:rPr>
              <a:t>O papel do %cid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3200400"/>
            <a:ext cx="31391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Content ID: um identificador temporário (string) definido por você. Permite rastrear a linha no buffer antes que o banco gere o número final.</a:t>
            </a:r>
            <a:endParaRPr lang="en-US" sz="15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2246" y="2565806"/>
            <a:ext cx="309067" cy="3090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Prática 2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Atualização no Mesmo Contexto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134563" cy="329184"/>
          </a:xfrm>
          <a:prstGeom prst="roundRect">
            <a:avLst>
              <a:gd name="adj" fmla="val 50000"/>
            </a:avLst>
          </a:prstGeom>
          <a:solidFill>
            <a:srgbClr val="FFF8D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31345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ls_mapped do slide anterior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7132320" cy="402336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2267712"/>
            <a:ext cx="66751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6A7B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Recupera o ID gerado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lv_travel_id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ls_mapped-travel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B44F00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travel_id</a:t>
            </a:r>
            <a:r>
              <a:rPr lang="en-US" sz="1500" dirty="0">
                <a:solidFill>
                  <a:srgbClr val="1D2D3E"/>
                </a:solidFill>
                <a:highlight>
                  <a:srgbClr val="FFF3B8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/DMO/I_Travel_M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booking_fee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travel_id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lv_travel_id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booking_fee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'50.00'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5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955280" y="2103120"/>
            <a:ext cx="3687775" cy="310896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0" y="237744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961120" y="237744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4D9"/>
                </a:solidFill>
              </a:rPr>
              <a:t>Chaining (Encadeamento)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54680"/>
            <a:ext cx="313913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D2D3E"/>
                </a:solidFill>
              </a:rPr>
              <a:t>Como estamos na mesma transação (LUW), o UPDATE lê o buffer. A alteração é aplicada sobre o objeto que acabamos de criar, garantindo consistência imediata.</a:t>
            </a:r>
            <a:endParaRPr lang="en-US" sz="15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2246" y="2520086"/>
            <a:ext cx="309067" cy="3090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Prática 3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Efetivando a Transação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589520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71323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/DMO/I_Travel_M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ls_commit_failed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ls_commit_failed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'Sucesso! Dados persistidos no DB.'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out-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'Erro na fase de salvamento.'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16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503920" y="2240280"/>
            <a:ext cx="3139135" cy="1463040"/>
          </a:xfrm>
          <a:prstGeom prst="roundRect">
            <a:avLst>
              <a:gd name="adj" fmla="val 8750"/>
            </a:avLst>
          </a:prstGeom>
          <a:solidFill>
            <a:srgbClr val="F5FAE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0" y="2240280"/>
            <a:ext cx="20418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ls_commit_failed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56F3A"/>
                </a:solidFill>
              </a:rPr>
              <a:t>vazio → sucesso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503920" y="3977640"/>
            <a:ext cx="3139135" cy="1463040"/>
          </a:xfrm>
          <a:prstGeom prst="roundRect">
            <a:avLst>
              <a:gd name="adj" fmla="val 8750"/>
            </a:avLst>
          </a:prstGeom>
          <a:solidFill>
            <a:srgbClr val="FFEA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0" y="3977640"/>
            <a:ext cx="20418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ls_commit_failed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A0808"/>
                </a:solidFill>
              </a:rPr>
              <a:t>preenchido → erro no salvamento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389120"/>
            <a:ext cx="640080" cy="6400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651760"/>
            <a:ext cx="640080" cy="640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0F2"/>
                </a:solidFill>
              </a:rPr>
              <a:t>De/Para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ABAP Clássico vs. ABAP Moderno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840480"/>
                <a:gridCol w="4507992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Operação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ABAP Clássico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556B82"/>
                          </a:solidFill>
                        </a:rPr>
                        <a:t>ABAP Moderno (RAP)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Criar Dados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 ztable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MODIFY ENTITIES ... CREATE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Alterar Dados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ztable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MODIFY ENTITIES ... UPDATE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Persistir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 WORK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 ENTITIES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Erro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AA080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sy-subrc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56F3A"/>
                          </a:solidFill>
                        </a:rPr>
                        <a:t>Estruturas </a:t>
                      </a: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FAILED</a:t>
                      </a:r>
                      <a:r>
                        <a:rPr lang="en-US" sz="1600" dirty="0">
                          <a:solidFill>
                            <a:srgbClr val="256F3A"/>
                          </a:solidFill>
                        </a:rPr>
                        <a:t> / </a:t>
                      </a: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REPORTED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D2D3E"/>
                          </a:solidFill>
                        </a:rPr>
                        <a:t>Identificação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AA0808"/>
                          </a:solidFill>
                        </a:rPr>
                        <a:t>Chave da tabela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56F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%cid</a:t>
                      </a:r>
                      <a:r>
                        <a:rPr lang="en-US" sz="1600" dirty="0">
                          <a:solidFill>
                            <a:srgbClr val="256F3A"/>
                          </a:solidFill>
                        </a:rPr>
                        <a:t> (temp.) / Chave (final)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Glossário Técnico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185623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4672" y="243230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BO (Business Object)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Representação virtual de uma entidade (dados + comportamento).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94250" y="185623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4250" y="243230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Transactional Buffer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Área de memória que armazena o estado das entidades antes do Commit.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7797" y="160020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383829" y="185623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83829" y="243230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EML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Linguagem para manipulação transacional de BOs.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04672" y="427939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485546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Late Numbering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Geração do ID final apenas no momento do salvamento.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94250" y="427939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4250" y="485546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Behavior Pool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Classe ABAP onde a lógica do BO é implementada.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27797" y="4023360"/>
            <a:ext cx="3515258" cy="214884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83829" y="427939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BF8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83829" y="4855464"/>
            <a:ext cx="300319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D2D3E"/>
                </a:solidFill>
              </a:rPr>
              <a:t>%cid (Content ID)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56B82"/>
                </a:solidFill>
              </a:rPr>
              <a:t>Identificador temporário usado durante a criação.</a:t>
            </a:r>
            <a:endParaRPr lang="en-US" sz="16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427" y="1954987"/>
            <a:ext cx="213970" cy="213970"/>
          </a:xfrm>
          <a:prstGeom prst="rect">
            <a:avLst/>
          </a:prstGeom>
        </p:spPr>
      </p:pic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006" y="1954987"/>
            <a:ext cx="213970" cy="213970"/>
          </a:xfrm>
          <a:prstGeom prst="rect">
            <a:avLst/>
          </a:prstGeom>
        </p:spPr>
      </p:pic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2584" y="1954987"/>
            <a:ext cx="213970" cy="213970"/>
          </a:xfrm>
          <a:prstGeom prst="rect">
            <a:avLst/>
          </a:prstGeom>
        </p:spPr>
      </p:pic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27" y="4378147"/>
            <a:ext cx="213970" cy="213970"/>
          </a:xfrm>
          <a:prstGeom prst="rect">
            <a:avLst/>
          </a:prstGeom>
        </p:spPr>
      </p:pic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3006" y="4378147"/>
            <a:ext cx="213970" cy="213970"/>
          </a:xfrm>
          <a:prstGeom prst="rect">
            <a:avLst/>
          </a:prstGeom>
        </p:spPr>
      </p:pic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82584" y="4378147"/>
            <a:ext cx="213970" cy="213970"/>
          </a:xfrm>
          <a:prstGeom prst="rect">
            <a:avLst/>
          </a:prstGeom>
        </p:spPr>
      </p:pic>
      <p:sp>
        <p:nvSpPr>
          <p:cNvPr id="27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2D3E"/>
                </a:solidFill>
              </a:rPr>
              <a:t>Quiz de Fixação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541004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769968" y="1691640"/>
            <a:ext cx="1005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DCEBFA"/>
                </a:solidFill>
              </a:rPr>
              <a:t>?</a:t>
            </a:r>
            <a:endParaRPr lang="en-US" sz="10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920240"/>
            <a:ext cx="3947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2D3E"/>
                </a:solidFill>
              </a:rPr>
              <a:t>Por que o </a:t>
            </a:r>
            <a:r>
              <a:rPr lang="en-US" sz="19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1900" b="1" dirty="0">
                <a:solidFill>
                  <a:srgbClr val="1D2D3E"/>
                </a:solidFill>
              </a:rPr>
              <a:t> direto é desencorajado no RAP?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08960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Dica: </a:t>
            </a:r>
            <a:r>
              <a:rPr lang="en-US" sz="1400" dirty="0">
                <a:solidFill>
                  <a:srgbClr val="556B82"/>
                </a:solidFill>
              </a:rPr>
              <a:t>Pense em validações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33008" y="1600200"/>
            <a:ext cx="541004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454335" y="1691640"/>
            <a:ext cx="1005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DCEBFA"/>
                </a:solidFill>
              </a:rPr>
              <a:t>?</a:t>
            </a:r>
            <a:endParaRPr lang="en-US" sz="100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1920240"/>
            <a:ext cx="3947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2D3E"/>
                </a:solidFill>
              </a:rPr>
              <a:t>Qual a função do parâmetro </a:t>
            </a:r>
            <a:r>
              <a:rPr lang="en-US" sz="19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%cid</a:t>
            </a:r>
            <a:r>
              <a:rPr lang="en-US" sz="1900" b="1" dirty="0">
                <a:solidFill>
                  <a:srgbClr val="1D2D3E"/>
                </a:solidFill>
              </a:rPr>
              <a:t> no </a:t>
            </a:r>
            <a:r>
              <a:rPr lang="en-US" sz="19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900" b="1" dirty="0">
                <a:solidFill>
                  <a:srgbClr val="1D2D3E"/>
                </a:solidFill>
              </a:rPr>
              <a:t>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108960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Dica: </a:t>
            </a:r>
            <a:r>
              <a:rPr lang="en-US" sz="1400" dirty="0">
                <a:solidFill>
                  <a:srgbClr val="556B82"/>
                </a:solidFill>
              </a:rPr>
              <a:t>Pense em identificação temporária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769968" y="4023360"/>
            <a:ext cx="1005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DCEBFA"/>
                </a:solidFill>
              </a:rPr>
              <a:t>?</a:t>
            </a:r>
            <a:endParaRPr lang="en-US" sz="100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4251960"/>
            <a:ext cx="3947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2D3E"/>
                </a:solidFill>
              </a:rPr>
              <a:t>O comando </a:t>
            </a:r>
            <a:r>
              <a:rPr lang="en-US" sz="19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 ENTITIES</a:t>
            </a:r>
            <a:r>
              <a:rPr lang="en-US" sz="1900" b="1" dirty="0">
                <a:solidFill>
                  <a:srgbClr val="1D2D3E"/>
                </a:solidFill>
              </a:rPr>
              <a:t> grava no banco imediatamente?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440680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Dica: </a:t>
            </a:r>
            <a:r>
              <a:rPr lang="en-US" sz="1400" dirty="0">
                <a:solidFill>
                  <a:srgbClr val="556B82"/>
                </a:solidFill>
              </a:rPr>
              <a:t>Interaction vs. Save Phase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76200" dist="19050" dir="5400000">
              <a:srgbClr val="1D2D3E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0454335" y="4023360"/>
            <a:ext cx="1005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b="1" dirty="0">
                <a:solidFill>
                  <a:srgbClr val="DCEBFA"/>
                </a:solidFill>
              </a:rPr>
              <a:t>?</a:t>
            </a:r>
            <a:endParaRPr lang="en-US" sz="10000" dirty="0"/>
          </a:p>
        </p:txBody>
      </p:sp>
      <p:sp>
        <p:nvSpPr>
          <p:cNvPr id="17" name="Text 15"/>
          <p:cNvSpPr txBox="1"/>
          <p:nvPr/>
        </p:nvSpPr>
        <p:spPr>
          <a:xfrm>
            <a:off x="6553048" y="4251960"/>
            <a:ext cx="39470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2D3E"/>
                </a:solidFill>
              </a:rPr>
              <a:t>Onde devo verificar se houve erro em uma operação EML?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53048" y="5440680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56B82"/>
                </a:solidFill>
              </a:rPr>
              <a:t>Dica: </a:t>
            </a:r>
            <a:r>
              <a:rPr lang="en-US" sz="1400" dirty="0">
                <a:solidFill>
                  <a:srgbClr val="556B82"/>
                </a:solidFill>
              </a:rPr>
              <a:t>Esqueça o sy-subrc</a:t>
            </a:r>
            <a:endParaRPr lang="en-US" sz="1400" dirty="0"/>
          </a:p>
        </p:txBody>
      </p:sp>
      <p:sp>
        <p:nvSpPr>
          <p:cNvPr id="19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502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DB1FF"/>
                </a:solidFill>
              </a:rPr>
              <a:t>Conclusão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868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 Banco é o Destino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FFFFFF"/>
                </a:solidFill>
              </a:rPr>
              <a:t>No RAP, o banco de dados é o </a:t>
            </a:r>
            <a:r>
              <a:rPr lang="en-US" sz="3400" b="1" dirty="0">
                <a:solidFill>
                  <a:srgbClr val="FFFFFF"/>
                </a:solidFill>
              </a:rPr>
              <a:t>destino</a:t>
            </a:r>
            <a:r>
              <a:rPr lang="en-US" sz="3400" dirty="0">
                <a:solidFill>
                  <a:srgbClr val="FFFFFF"/>
                </a:solidFill>
              </a:rPr>
              <a:t>,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51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4DB1FF"/>
                </a:solidFill>
              </a:rPr>
              <a:t>não o ponto de partida.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3DE"/>
                </a:solidFill>
              </a:rPr>
              <a:t>Comece a refatorar seus códigos </a:t>
            </a:r>
            <a:r>
              <a:rPr lang="en-US" sz="200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</a:t>
            </a:r>
            <a:r>
              <a:rPr lang="en-US" sz="2000" dirty="0">
                <a:solidFill>
                  <a:srgbClr val="C9D3DE"/>
                </a:solidFill>
              </a:rPr>
              <a:t> hoje. Utilize o EML para garantir integridade, segurança e robustez em suas aplicações SAP.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8396A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">
  <a:themeElements>
    <a:clrScheme name="SAP Horizon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7858FF"/>
      </a:accent5>
      <a:accent6>
        <a:srgbClr val="07838F"/>
      </a:accent6>
      <a:hlink>
        <a:srgbClr val="0064D9"/>
      </a:hlink>
      <a:folHlink>
        <a:srgbClr val="5D36FF"/>
      </a:folHlink>
    </a:clrScheme>
    <a:fontScheme name="SAP Horiz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Implementando Atualizações de Banco de Dados</dc:title>
  <dc:subject>ABAP Moderno – Módulo 01</dc:subject>
  <dc:creator>Adriano Bispo</dc:creator>
  <cp:lastModifiedBy>Adriano Bispo</cp:lastModifiedBy>
  <cp:revision>1</cp:revision>
  <dcterms:created xsi:type="dcterms:W3CDTF">2026-10-25T03:45:15Z</dcterms:created>
  <dcterms:modified xsi:type="dcterms:W3CDTF">2026-10-25T03:45:15Z</dcterms:modified>
</cp:coreProperties>
</file>