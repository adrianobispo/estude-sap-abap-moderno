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6 de 8 — Tabelas internas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6 de 8 — Tabelas internas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06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Trabalhando com tabelas internas complexas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Tipos de acesso, chaves, preenchimento com VALUE e CORRESPONDING, leitura por chave e alteração de linhas.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6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08044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008044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passamos de tabelas de uma coluna para tabelas com linhas estruturadas e escolhemos o tipo certo para cada forma de acesso.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 uma coluna sem nome a colunas com nome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Tabela simples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tipo da linha é escalar (ex.: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00" dirty="0">
                <a:solidFill>
                  <a:srgbClr val="556B82"/>
                </a:solidFill>
              </a:rPr>
              <a:t>). A tabela tem </a:t>
            </a:r>
            <a:r>
              <a:rPr lang="en-US" sz="1200" b="1" dirty="0">
                <a:solidFill>
                  <a:srgbClr val="556B82"/>
                </a:solidFill>
              </a:rPr>
              <a:t>uma coluna sem nome</a:t>
            </a:r>
            <a:r>
              <a:rPr lang="en-US" sz="1200" dirty="0">
                <a:solidFill>
                  <a:srgbClr val="556B82"/>
                </a:solidFill>
              </a:rPr>
              <a:t> e é lida pela posição.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Tabela complexa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tipo da linha é uma </a:t>
            </a:r>
            <a:r>
              <a:rPr lang="en-US" sz="1200" b="1" dirty="0">
                <a:solidFill>
                  <a:srgbClr val="556B82"/>
                </a:solidFill>
              </a:rPr>
              <a:t>estrutura</a:t>
            </a:r>
            <a:r>
              <a:rPr lang="en-US" sz="1200" dirty="0">
                <a:solidFill>
                  <a:srgbClr val="556B82"/>
                </a:solidFill>
              </a:rPr>
              <a:t>: cada componente vira uma coluna com nome e tipo.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1816" y="4297680"/>
            <a:ext cx="84856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1816" y="4297680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rápido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Acesso por índice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Pela posição da linha: sempre rápido, qualquer que seja o tamanho da tabela.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1316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2857" y="42976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2857" y="42976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depende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Acesso por chave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Pelo conteúdo de colunas. Pode ficar lento em tabelas grandes, por isso o </a:t>
            </a:r>
            <a:r>
              <a:rPr lang="en-US" sz="1200" b="1" dirty="0">
                <a:solidFill>
                  <a:srgbClr val="556B82"/>
                </a:solidFill>
              </a:rPr>
              <a:t>tipo de acesso</a:t>
            </a:r>
            <a:r>
              <a:rPr lang="en-US" sz="1200" dirty="0">
                <a:solidFill>
                  <a:srgbClr val="556B82"/>
                </a:solidFill>
              </a:rPr>
              <a:t> importa.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09800"/>
            <a:ext cx="256032" cy="25603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325112"/>
            <a:ext cx="256032" cy="256032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09800"/>
            <a:ext cx="256032" cy="256032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43251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Declarando tabelas complexas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Toda tabela interna tem um </a:t>
            </a:r>
            <a:r>
              <a:rPr lang="en-US" sz="1600" b="1" dirty="0">
                <a:solidFill>
                  <a:srgbClr val="D1EFFF"/>
                </a:solidFill>
              </a:rPr>
              <a:t>tipo de acesso</a:t>
            </a:r>
            <a:r>
              <a:rPr lang="en-US" sz="1600" dirty="0">
                <a:solidFill>
                  <a:srgbClr val="D1EFFF"/>
                </a:solidFill>
              </a:rPr>
              <a:t> (standard, sorted ou hashed) e uma </a:t>
            </a:r>
            <a:r>
              <a:rPr lang="en-US" sz="1600" b="1" dirty="0">
                <a:solidFill>
                  <a:srgbClr val="D1EFFF"/>
                </a:solidFill>
              </a:rPr>
              <a:t>chave</a:t>
            </a:r>
            <a:r>
              <a:rPr lang="en-US" sz="1600" dirty="0">
                <a:solidFill>
                  <a:srgbClr val="D1EFFF"/>
                </a:solidFill>
              </a:rPr>
              <a:t>, que pode ser única ou não.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r>
              <a:rPr lang="en-US" sz="1000" dirty="0">
                <a:solidFill>
                  <a:srgbClr val="D1EFFF"/>
                </a:solidFill>
              </a:rPr>
              <a:t>  sem ordem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00" dirty="0">
                <a:solidFill>
                  <a:srgbClr val="D1EFFF"/>
                </a:solidFill>
              </a:rPr>
              <a:t>  ordenada pela chave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1000" dirty="0">
                <a:solidFill>
                  <a:srgbClr val="D1EFFF"/>
                </a:solidFill>
              </a:rPr>
              <a:t>  algoritmo hash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tt_…</a:t>
            </a:r>
            <a:r>
              <a:rPr lang="en-US" sz="1000" dirty="0">
                <a:solidFill>
                  <a:srgbClr val="D1EFFF"/>
                </a:solidFill>
              </a:rPr>
              <a:t>  tipo de tabela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TIPOS DE ACESSO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Standard, sorted e hashed lado a 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967290"/>
                <a:gridCol w="2950935"/>
                <a:gridCol w="2950935"/>
                <a:gridCol w="295093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STANDARD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SORTED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HASHED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Armazenamento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Na ordem de inclusão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Sempre ordenada pela chave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Gerida por algoritmo hash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Leitura pela chave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Sequencial: lenta em tabelas grandes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Busca binária: rápida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Tempo constante: muito rápida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Acesso por índice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Duplicidades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Sempre permitidas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ou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NON-UNIQUE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Nunca: chave sempre única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480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 </a:t>
            </a:r>
            <a:r>
              <a:rPr lang="en-US" sz="1200" dirty="0">
                <a:solidFill>
                  <a:srgbClr val="1D2D3E"/>
                </a:solidFill>
              </a:rPr>
              <a:t>sorted e hashed só são mais rápidas quando a leitura usa todos os campos da chave (ou, na sorted, o início dela).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08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TIPOS DE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Primeiro o tipo, depois a variável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zcl_06_itab.clas.abap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ZCL_06_ITAB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da linha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estrutura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</a:t>
            </a:r>
            <a:r>
              <a:rPr lang="en-US" sz="1050" dirty="0">
                <a:solidFill>
                  <a:srgbClr val="556B82"/>
                </a:solidFill>
              </a:rPr>
              <a:t> define as colunas da tabela.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de tabela nomeado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tt_…</a:t>
            </a:r>
            <a:r>
              <a:rPr lang="en-US" sz="1050" dirty="0">
                <a:solidFill>
                  <a:srgbClr val="556B82"/>
                </a:solidFill>
              </a:rPr>
              <a:t> reúne tipo de acesso e chave; é o estilo recomendado.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LINE OF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</a:t>
            </a:r>
            <a:r>
              <a:rPr lang="en-US" sz="1050" i="1" dirty="0">
                <a:solidFill>
                  <a:srgbClr val="556B82"/>
                </a:solidFill>
              </a:rPr>
              <a:t>work area</a:t>
            </a:r>
            <a:r>
              <a:rPr lang="en-US" sz="1050" dirty="0">
                <a:solidFill>
                  <a:srgbClr val="556B82"/>
                </a:solidFill>
              </a:rPr>
              <a:t> acompanha a tabela mesmo se a definição mudar.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global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 vários objetos usam o tipo, crie um </a:t>
            </a:r>
            <a:r>
              <a:rPr lang="en-US" sz="1050" i="1" dirty="0">
                <a:solidFill>
                  <a:srgbClr val="556B82"/>
                </a:solidFill>
              </a:rPr>
              <a:t>table type</a:t>
            </a:r>
            <a:r>
              <a:rPr lang="en-US" sz="1050" dirty="0">
                <a:solidFill>
                  <a:srgbClr val="556B82"/>
                </a:solidFill>
              </a:rPr>
              <a:t> no Dicionário.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Preenchendo tabelas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Linhas entram uma a uma com </a:t>
            </a:r>
            <a:r>
              <a:rPr lang="en-US" sz="1600" b="1" dirty="0">
                <a:solidFill>
                  <a:srgbClr val="D1EFFF"/>
                </a:solidFill>
              </a:rPr>
              <a:t>INSERT/APPEND</a:t>
            </a:r>
            <a:r>
              <a:rPr lang="en-US" sz="1600" dirty="0">
                <a:solidFill>
                  <a:srgbClr val="D1EFFF"/>
                </a:solidFill>
              </a:rPr>
              <a:t>, várias de uma vez com </a:t>
            </a:r>
            <a:r>
              <a:rPr lang="en-US" sz="1600" b="1" dirty="0">
                <a:solidFill>
                  <a:srgbClr val="D1EFFF"/>
                </a:solidFill>
              </a:rPr>
              <a:t>VALUE</a:t>
            </a:r>
            <a:r>
              <a:rPr lang="en-US" sz="1600" dirty="0">
                <a:solidFill>
                  <a:srgbClr val="D1EFFF"/>
                </a:solidFill>
              </a:rPr>
              <a:t>, ou copiadas de outra tabela com </a:t>
            </a:r>
            <a:r>
              <a:rPr lang="en-US" sz="1600" b="1" dirty="0">
                <a:solidFill>
                  <a:srgbClr val="D1EFFF"/>
                </a:solidFill>
              </a:rPr>
              <a:t>CORRESPONDING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… INTO TABLE</a:t>
            </a:r>
            <a:r>
              <a:rPr lang="en-US" sz="1000" dirty="0">
                <a:solidFill>
                  <a:srgbClr val="D1EFFF"/>
                </a:solidFill>
              </a:rPr>
              <a:t>  qualquer tipo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00" dirty="0">
                <a:solidFill>
                  <a:srgbClr val="D1EFFF"/>
                </a:solidFill>
              </a:rPr>
              <a:t>  no fim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( ) ( ) )</a:t>
            </a:r>
            <a:r>
              <a:rPr lang="en-US" sz="1000" dirty="0">
                <a:solidFill>
                  <a:srgbClr val="D1EFFF"/>
                </a:solidFill>
              </a:rPr>
              <a:t>  várias linhas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 #( )</a:t>
            </a:r>
            <a:r>
              <a:rPr lang="en-US" sz="1000" dirty="0">
                <a:solidFill>
                  <a:srgbClr val="D1EFFF"/>
                </a:solidFill>
              </a:rPr>
              <a:t>  de outra tabela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PREENCHIMENTO · QUATRO FORMAS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work area ao VALUE com várias linhas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zcl_06_itab.clas.abap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ZCL_06_ITAB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1) com work area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'NN'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'ABC'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'XYZ'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2) sem work area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'0400'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3) várias linhas de uma vez (apaga o conteúdo anterior)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carrier_list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'AA'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'American'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'JL'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'Japan'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'SQ'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'Singapore'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4) de outra tabela, componente a componente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carrier_list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… INTO TABLE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Funciona com os três tipos: respeita a ordem da sorted e a chave da hashed.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Inclui no fim; em sorted, só se não quebrar a ordenação.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Parênteses por linha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r>
              <a:rPr lang="en-US" sz="1050" dirty="0">
                <a:solidFill>
                  <a:srgbClr val="556B82"/>
                </a:solidFill>
              </a:rPr>
              <a:t>, cada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… )</a:t>
            </a:r>
            <a:r>
              <a:rPr lang="en-US" sz="1050" dirty="0">
                <a:solidFill>
                  <a:srgbClr val="556B82"/>
                </a:solidFill>
              </a:rPr>
              <a:t> é uma linha nova.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linha no destino para cada linha da origem; colunas sem par ficam iniciais.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Lendo e alterando linhas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Expressões de tabela leem uma linha por chave; </a:t>
            </a:r>
            <a:r>
              <a:rPr lang="en-US" sz="1600" b="1" dirty="0">
                <a:solidFill>
                  <a:srgbClr val="D1EFFF"/>
                </a:solidFill>
              </a:rPr>
              <a:t>LOOP … WHERE</a:t>
            </a:r>
            <a:r>
              <a:rPr lang="en-US" sz="1600" dirty="0">
                <a:solidFill>
                  <a:srgbClr val="D1EFFF"/>
                </a:solidFill>
              </a:rPr>
              <a:t> percorre várias; </a:t>
            </a:r>
            <a:r>
              <a:rPr lang="en-US" sz="1600" b="1" dirty="0">
                <a:solidFill>
                  <a:srgbClr val="D1EFFF"/>
                </a:solidFill>
              </a:rPr>
              <a:t>MODIFY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DELETE</a:t>
            </a:r>
            <a:r>
              <a:rPr lang="en-US" sz="1600" dirty="0">
                <a:solidFill>
                  <a:srgbClr val="D1EFFF"/>
                </a:solidFill>
              </a:rPr>
              <a:t> alteram o conteúdo.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campo = … ]</a:t>
            </a:r>
            <a:r>
              <a:rPr lang="en-US" sz="1000" dirty="0">
                <a:solidFill>
                  <a:srgbClr val="D1EFFF"/>
                </a:solidFill>
              </a:rPr>
              <a:t>  uma linha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line_exists( )</a:t>
            </a:r>
            <a:r>
              <a:rPr lang="en-US" sz="1000" dirty="0">
                <a:solidFill>
                  <a:srgbClr val="D1EFFF"/>
                </a:solidFill>
              </a:rPr>
              <a:t>  existe?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WHERE</a:t>
            </a:r>
            <a:r>
              <a:rPr lang="en-US" sz="1000" dirty="0">
                <a:solidFill>
                  <a:srgbClr val="D1EFFF"/>
                </a:solidFill>
              </a:rPr>
              <a:t>  várias linhas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· DELETE · SORT</a:t>
            </a:r>
            <a:r>
              <a:rPr lang="en-US" sz="1000" dirty="0">
                <a:solidFill>
                  <a:srgbClr val="D1EFFF"/>
                </a:solidFill>
              </a:rPr>
              <a:t>  alterar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UMA LINHA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Expressões de tabela com acesso por chave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zcl_06_read.clas.abap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ZCL_06_READ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'SFO'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'SIN'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cx_sy_itab_line_not_found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`Rota não encontrada`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`Há voos da Lufthansa`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'XX'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'desconhecida'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Qualquer coluna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busca pode usar colunas que não são chave; em standard, volta a primeira encontrada.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Linha inexistente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Levanta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CX_SY_ITAB_LINE_NOT_FOUND</a:t>
            </a:r>
            <a:r>
              <a:rPr lang="en-US" sz="1050" dirty="0">
                <a:solidFill>
                  <a:srgbClr val="556B82"/>
                </a:solidFill>
              </a:rPr>
              <a:t>: trate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… CATCH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testa a existência, sem ler a linha.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Dentro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556B82"/>
                </a:solidFill>
              </a:rPr>
              <a:t>, devolve um valor padrão em vez da exceção.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VÁRIAS LINHAS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LOOP com WHERE, MODIFY, DELETE e SORT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zcl_06_change.clas.abap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ZCL_06_CHANGE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'FRA'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c-carrier_id } { c-connection_id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carrier-currency_code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'JPY'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acha a linha pela chave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carrier_list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FIELD-SYMBOL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to_upper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'XYZ'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carrier_list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… WHERE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Processa só as linhas que satisfazem a condição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r>
              <a:rPr lang="en-US" sz="1050" dirty="0">
                <a:solidFill>
                  <a:srgbClr val="556B82"/>
                </a:solidFill>
              </a:rPr>
              <a:t>…).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TABLE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Localiza a linha pelos campos-chave do work area; não altera a chave.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Field symbol aponta para a própria linha: alterar é imediato, sem cópia.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Removem por condição e ordenam por quaisquer colunas;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556B82"/>
                </a:solidFill>
              </a:rPr>
              <a:t> não vale para tabelas sorted.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01.06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Escolhendo o tipo certo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tipo de acesso é uma decisão de </a:t>
            </a:r>
            <a:r>
              <a:rPr lang="en-US" sz="1600" b="1" dirty="0">
                <a:solidFill>
                  <a:srgbClr val="D1EFFF"/>
                </a:solidFill>
              </a:rPr>
              <a:t>desempenho</a:t>
            </a:r>
            <a:r>
              <a:rPr lang="en-US" sz="1600" dirty="0">
                <a:solidFill>
                  <a:srgbClr val="D1EFFF"/>
                </a:solidFill>
              </a:rPr>
              <a:t>: escolha pelo jeito como a tabela será lida com mais frequência.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r>
              <a:rPr lang="en-US" sz="1000" dirty="0">
                <a:solidFill>
                  <a:srgbClr val="D1EFFF"/>
                </a:solidFill>
              </a:rPr>
              <a:t>  índice e loops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00" dirty="0">
                <a:solidFill>
                  <a:srgbClr val="D1EFFF"/>
                </a:solidFill>
              </a:rPr>
              <a:t>  chave parcial ou total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1000" dirty="0">
                <a:solidFill>
                  <a:srgbClr val="D1EFFF"/>
                </a:solidFill>
              </a:rPr>
              <a:t>  chave única completa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Chaves secundárias</a:t>
            </a:r>
            <a:r>
              <a:rPr lang="en-US" sz="1000" dirty="0">
                <a:solidFill>
                  <a:srgbClr val="D1EFFF"/>
                </a:solidFill>
              </a:rPr>
              <a:t>  aula 04.05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ESCOLHA · GUIA DE DECISÃO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Qual tipo de tabela usar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37715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2388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842387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STANDARD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Preenchida e percorrida inteira com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Acesso principalmente por índice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Tabelas pequenas ou leituras raras por chave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037715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2388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2842387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SORTED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Leituras pela chave inteira ou pelo seu início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Precisa dos dados sempre em ordem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… WHERE</a:t>
            </a:r>
            <a:r>
              <a:rPr lang="en-US" sz="1300" dirty="0">
                <a:solidFill>
                  <a:srgbClr val="556B82"/>
                </a:solidFill>
              </a:rPr>
              <a:t> pela chave fica otimizado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037715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2388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2842387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HASHED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Muitas leituras pela chave </a:t>
            </a:r>
            <a:r>
              <a:rPr lang="en-US" sz="1300" b="1" dirty="0">
                <a:solidFill>
                  <a:srgbClr val="556B82"/>
                </a:solidFill>
              </a:rPr>
              <a:t>completa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Chave sempre única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Volumes grandes, como buffers de leitura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1347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521347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 se eu ler por outras colunas?  </a:t>
            </a:r>
            <a:r>
              <a:rPr lang="en-US" sz="1200" dirty="0">
                <a:solidFill>
                  <a:srgbClr val="1D2D3E"/>
                </a:solidFill>
              </a:rPr>
              <a:t>tabelas também podem ter </a:t>
            </a:r>
            <a:r>
              <a:rPr lang="en-US" sz="1200" b="1" dirty="0">
                <a:solidFill>
                  <a:srgbClr val="1D2D3E"/>
                </a:solidFill>
              </a:rPr>
              <a:t>chaves secundárias</a:t>
            </a:r>
            <a:r>
              <a:rPr lang="en-US" sz="1200" dirty="0">
                <a:solidFill>
                  <a:srgbClr val="1D2D3E"/>
                </a:solidFill>
              </a:rPr>
              <a:t>, assunto da aula 04.05.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3946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33946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33946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34149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 </a:t>
            </a:r>
            <a:r>
              <a:rPr lang="en-US" sz="1400" b="1" dirty="0">
                <a:solidFill>
                  <a:srgbClr val="FFFFFF"/>
                </a:solidFill>
              </a:rPr>
              <a:t>complexa</a:t>
            </a:r>
            <a:r>
              <a:rPr lang="en-US" sz="1400" dirty="0">
                <a:solidFill>
                  <a:srgbClr val="FFFFFF"/>
                </a:solidFill>
              </a:rPr>
              <a:t> tem linhas estruturadas: uma coluna por componente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Tipos de acesso </a:t>
            </a:r>
            <a:r>
              <a:rPr lang="en-US" sz="1400" b="1" dirty="0">
                <a:solidFill>
                  <a:srgbClr val="FFFFFF"/>
                </a:solidFill>
              </a:rPr>
              <a:t>STANDARD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SORTED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HASHED</a:t>
            </a:r>
            <a:r>
              <a:rPr lang="en-US" sz="1400" dirty="0">
                <a:solidFill>
                  <a:srgbClr val="FFFFFF"/>
                </a:solidFill>
              </a:rPr>
              <a:t>, com chave única ou não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Declare primeiro o </a:t>
            </a:r>
            <a:r>
              <a:rPr lang="en-US" sz="1400" b="1" dirty="0">
                <a:solidFill>
                  <a:srgbClr val="FFFFFF"/>
                </a:solidFill>
              </a:rPr>
              <a:t>tipo de tabela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400" dirty="0">
                <a:solidFill>
                  <a:srgbClr val="FFFFFF"/>
                </a:solidFill>
              </a:rPr>
              <a:t>; a work area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LINE OF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Preencha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… INTO TABLE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( ) ( ) )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 #( 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Leia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… ]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line_exists( )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… WHERE</a:t>
            </a:r>
            <a:r>
              <a:rPr lang="en-US" sz="1400" dirty="0">
                <a:solidFill>
                  <a:srgbClr val="FFFFFF"/>
                </a:solidFill>
              </a:rPr>
              <a:t>; trate a linha inexistente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Altere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TABLE</a:t>
            </a:r>
            <a:r>
              <a:rPr lang="en-US" sz="1400" dirty="0">
                <a:solidFill>
                  <a:srgbClr val="FFFFFF"/>
                </a:solidFill>
              </a:rPr>
              <a:t>, field symbols,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… WHERE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01.07  </a:t>
            </a:r>
            <a:r>
              <a:rPr lang="en-US" sz="1500" dirty="0">
                <a:solidFill>
                  <a:srgbClr val="FFFFFF"/>
                </a:solidFill>
              </a:rPr>
              <a:t>Business Objects: EML: ler, criar e alterar via RAP BO.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01.06 Trabalhando com tabelas internas complexas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2026-10-28T04:11:20Z</dcterms:created>
  <dcterms:modified xsi:type="dcterms:W3CDTF">2026-10-28T04:11:20Z</dcterms:modified>
</cp:coreProperties>
</file>