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C7"/>
                </a:solidFill>
              </a:rPr>
              <a:t>ABAP Moderno · Módulo 01 — Fundamentos do ABAP Moderno  ·  Aula 6 de 8 — Tabelas internas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rgbClr val="0064D9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D2D3E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ABAP Moderno · Módulo 01 — Fundamentos do ABAP Moderno  ·  Aula 6 de 8 — Tabelas internas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slideLayout" Target="../slideLayouts/slideLayout4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MÓDULO 01 · AULA 06 DE 08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Trabalhando com tabelas internas complexas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9476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1EFFF"/>
                </a:solidFill>
              </a:rPr>
              <a:t>Tipos de acesso, chaves, preenchimento com VALUE e CORRESPONDING, leitura por chave e alteração de linhas.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183880" y="1325880"/>
            <a:ext cx="3246120" cy="3246120"/>
          </a:xfrm>
          <a:prstGeom prst="roundRect">
            <a:avLst>
              <a:gd name="adj" fmla="val 15493"/>
            </a:avLst>
          </a:prstGeom>
          <a:solidFill>
            <a:srgbClr val="1B3A7A"/>
          </a:solidFill>
          <a:ln/>
        </p:spPr>
      </p:sp>
      <p:sp>
        <p:nvSpPr>
          <p:cNvPr id="6" name="Shape 4"/>
          <p:cNvSpPr/>
          <p:nvPr/>
        </p:nvSpPr>
        <p:spPr>
          <a:xfrm>
            <a:off x="8732520" y="1874520"/>
            <a:ext cx="2148840" cy="2148840"/>
          </a:xfrm>
          <a:prstGeom prst="roundRect">
            <a:avLst>
              <a:gd name="adj" fmla="val 17021"/>
            </a:avLst>
          </a:prstGeom>
          <a:solidFill>
            <a:srgbClr val="0070F2"/>
          </a:solidFill>
          <a:ln/>
        </p:spPr>
      </p:sp>
      <p:sp>
        <p:nvSpPr>
          <p:cNvPr id="7" name="Shape 5"/>
          <p:cNvSpPr/>
          <p:nvPr/>
        </p:nvSpPr>
        <p:spPr>
          <a:xfrm>
            <a:off x="8183880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8" name="Shape 6"/>
          <p:cNvSpPr/>
          <p:nvPr/>
        </p:nvSpPr>
        <p:spPr>
          <a:xfrm>
            <a:off x="8601075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9" name="Shape 7"/>
          <p:cNvSpPr/>
          <p:nvPr/>
        </p:nvSpPr>
        <p:spPr>
          <a:xfrm>
            <a:off x="9018270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0" name="Shape 8"/>
          <p:cNvSpPr/>
          <p:nvPr/>
        </p:nvSpPr>
        <p:spPr>
          <a:xfrm>
            <a:off x="9435465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1" name="Shape 9"/>
          <p:cNvSpPr/>
          <p:nvPr/>
        </p:nvSpPr>
        <p:spPr>
          <a:xfrm>
            <a:off x="9852660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2" name="Shape 10"/>
          <p:cNvSpPr/>
          <p:nvPr/>
        </p:nvSpPr>
        <p:spPr>
          <a:xfrm>
            <a:off x="10269855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89D1F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87050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04245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183880" y="51206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Aula 6 de 8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5989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FA3C7"/>
                </a:solidFill>
              </a:rPr>
              <a:t>ABAP Moderno · Módulo 01 — Fundamentos do ABAP Moderno · Design System SAP Horizon</a:t>
            </a:r>
            <a:endParaRPr lang="en-US" sz="11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0" y="2468880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A SÉRIE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Módulo 01 em 8 aulas: Fundamentos do ABAP Moderno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1</a:t>
            </a:r>
            <a:endParaRPr lang="en-US" sz="126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3172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Iniciando a jornada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78892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ADT, ABAP Cloud, pacotes e o primeiro programa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67964" y="164592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32556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3255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2</a:t>
            </a:r>
            <a:endParaRPr lang="en-US" sz="1260" dirty="0"/>
          </a:p>
        </p:txBody>
      </p:sp>
      <p:sp>
        <p:nvSpPr>
          <p:cNvPr id="12" name="Text 10"/>
          <p:cNvSpPr txBox="1"/>
          <p:nvPr/>
        </p:nvSpPr>
        <p:spPr>
          <a:xfrm>
            <a:off x="3532556" y="233172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Técnicas básicas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532556" y="278892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Dados, expressões, controle de fluxo e debugger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87288" y="164592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351880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35188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3</a:t>
            </a:r>
            <a:endParaRPr lang="en-US" sz="1260" dirty="0"/>
          </a:p>
        </p:txBody>
      </p:sp>
      <p:sp>
        <p:nvSpPr>
          <p:cNvPr id="17" name="Text 15"/>
          <p:cNvSpPr txBox="1"/>
          <p:nvPr/>
        </p:nvSpPr>
        <p:spPr>
          <a:xfrm>
            <a:off x="6351880" y="233172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Classes locais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351880" y="278892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Definição, instâncias, métodos e encapsulamento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006611" y="164592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171203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71203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4</a:t>
            </a:r>
            <a:endParaRPr lang="en-US" sz="1260" dirty="0"/>
          </a:p>
        </p:txBody>
      </p:sp>
      <p:sp>
        <p:nvSpPr>
          <p:cNvPr id="22" name="Text 20"/>
          <p:cNvSpPr txBox="1"/>
          <p:nvPr/>
        </p:nvSpPr>
        <p:spPr>
          <a:xfrm>
            <a:off x="9171203" y="233172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Lendo dados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9171203" y="278892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SELECT moderno, host variables e CDS views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365760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13232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5</a:t>
            </a:r>
            <a:endParaRPr lang="en-US" sz="1260" dirty="0"/>
          </a:p>
        </p:txBody>
      </p:sp>
      <p:sp>
        <p:nvSpPr>
          <p:cNvPr id="27" name="Text 25"/>
          <p:cNvSpPr txBox="1"/>
          <p:nvPr/>
        </p:nvSpPr>
        <p:spPr>
          <a:xfrm>
            <a:off x="713232" y="434340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Dados estruturados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713232" y="480060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Estruturas, CORRESPONDING e tipos profundos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367964" y="365760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532556" y="3840480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532556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</a:rPr>
              <a:t>6</a:t>
            </a:r>
            <a:endParaRPr lang="en-US" sz="1260" dirty="0"/>
          </a:p>
        </p:txBody>
      </p:sp>
      <p:sp>
        <p:nvSpPr>
          <p:cNvPr id="32" name="Text 30"/>
          <p:cNvSpPr txBox="1"/>
          <p:nvPr/>
        </p:nvSpPr>
        <p:spPr>
          <a:xfrm>
            <a:off x="3532556" y="434340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Tabelas internas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3532556" y="480060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Tipos de tabela, chaves e expressões de tabela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008044" y="3904488"/>
            <a:ext cx="1188720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008044" y="390448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64D9"/>
                </a:solidFill>
              </a:rPr>
              <a:t>Você está aqui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187288" y="365760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351880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351880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7</a:t>
            </a:r>
            <a:endParaRPr lang="en-US" sz="1260" dirty="0"/>
          </a:p>
        </p:txBody>
      </p:sp>
      <p:sp>
        <p:nvSpPr>
          <p:cNvPr id="39" name="Text 37"/>
          <p:cNvSpPr txBox="1"/>
          <p:nvPr/>
        </p:nvSpPr>
        <p:spPr>
          <a:xfrm>
            <a:off x="6351880" y="434340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Business Objects</a:t>
            </a:r>
            <a:endParaRPr lang="en-US" sz="1350" dirty="0"/>
          </a:p>
        </p:txBody>
      </p:sp>
      <p:sp>
        <p:nvSpPr>
          <p:cNvPr id="40" name="Text 38"/>
          <p:cNvSpPr txBox="1"/>
          <p:nvPr/>
        </p:nvSpPr>
        <p:spPr>
          <a:xfrm>
            <a:off x="6351880" y="480060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EML: ler, criar e alterar via RAP BO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9006611" y="365760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9171203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9171203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8</a:t>
            </a:r>
            <a:endParaRPr lang="en-US" sz="1260" dirty="0"/>
          </a:p>
        </p:txBody>
      </p:sp>
      <p:sp>
        <p:nvSpPr>
          <p:cNvPr id="44" name="Text 42"/>
          <p:cNvSpPr txBox="1"/>
          <p:nvPr/>
        </p:nvSpPr>
        <p:spPr>
          <a:xfrm>
            <a:off x="9171203" y="434340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Modelo RAP</a:t>
            </a:r>
            <a:endParaRPr lang="en-US" sz="1350" dirty="0"/>
          </a:p>
        </p:txBody>
      </p:sp>
      <p:sp>
        <p:nvSpPr>
          <p:cNvPr id="45" name="Text 43"/>
          <p:cNvSpPr txBox="1"/>
          <p:nvPr/>
        </p:nvSpPr>
        <p:spPr>
          <a:xfrm>
            <a:off x="9171203" y="480060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Camadas, managed x unmanaged e o ciclo completo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548640" y="562356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207008" y="5623560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Nesta aula  </a:t>
            </a:r>
            <a:r>
              <a:rPr lang="en-US" sz="1200" dirty="0">
                <a:solidFill>
                  <a:srgbClr val="1D2D3E"/>
                </a:solidFill>
              </a:rPr>
              <a:t>passamos de tabelas de uma coluna para tabelas com linhas estruturadas e escolhemos o tipo certo para cada forma de acesso.</a:t>
            </a:r>
            <a:endParaRPr lang="en-US" sz="1400" dirty="0"/>
          </a:p>
        </p:txBody>
      </p:sp>
      <p:pic>
        <p:nvPicPr>
          <p:cNvPr id="4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36444" y="1847088"/>
            <a:ext cx="347472" cy="347472"/>
          </a:xfrm>
          <a:prstGeom prst="rect">
            <a:avLst/>
          </a:prstGeom>
        </p:spPr>
      </p:pic>
      <p:pic>
        <p:nvPicPr>
          <p:cNvPr id="4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5768" y="1847088"/>
            <a:ext cx="347472" cy="347472"/>
          </a:xfrm>
          <a:prstGeom prst="rect">
            <a:avLst/>
          </a:prstGeom>
        </p:spPr>
      </p:pic>
      <p:pic>
        <p:nvPicPr>
          <p:cNvPr id="5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091" y="1847088"/>
            <a:ext cx="347472" cy="347472"/>
          </a:xfrm>
          <a:prstGeom prst="rect">
            <a:avLst/>
          </a:prstGeom>
        </p:spPr>
      </p:pic>
      <p:pic>
        <p:nvPicPr>
          <p:cNvPr id="5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5768" y="3858768"/>
            <a:ext cx="347472" cy="347472"/>
          </a:xfrm>
          <a:prstGeom prst="rect">
            <a:avLst/>
          </a:prstGeom>
        </p:spPr>
      </p:pic>
      <p:pic>
        <p:nvPicPr>
          <p:cNvPr id="5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4415" y="1847088"/>
            <a:ext cx="347472" cy="347472"/>
          </a:xfrm>
          <a:prstGeom prst="rect">
            <a:avLst/>
          </a:prstGeom>
        </p:spPr>
      </p:pic>
      <p:pic>
        <p:nvPicPr>
          <p:cNvPr id="5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36444" y="3858768"/>
            <a:ext cx="347472" cy="347472"/>
          </a:xfrm>
          <a:prstGeom prst="rect">
            <a:avLst/>
          </a:prstGeom>
        </p:spPr>
      </p:pic>
      <p:pic>
        <p:nvPicPr>
          <p:cNvPr id="5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5091" y="3858768"/>
            <a:ext cx="347472" cy="347472"/>
          </a:xfrm>
          <a:prstGeom prst="rect">
            <a:avLst/>
          </a:prstGeom>
        </p:spPr>
      </p:pic>
      <p:pic>
        <p:nvPicPr>
          <p:cNvPr id="5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94415" y="3858768"/>
            <a:ext cx="347472" cy="347472"/>
          </a:xfrm>
          <a:prstGeom prst="rect">
            <a:avLst/>
          </a:prstGeom>
        </p:spPr>
      </p:pic>
      <p:pic>
        <p:nvPicPr>
          <p:cNvPr id="5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9808" y="5751576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VISÃO GERAL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De uma coluna sem nome a colunas com nome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908048"/>
            <a:ext cx="5432908" cy="1886712"/>
          </a:xfrm>
          <a:prstGeom prst="roundRect">
            <a:avLst>
              <a:gd name="adj" fmla="val 484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2109216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2712720"/>
            <a:ext cx="503057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Tabela simples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O tipo da linha é escalar (ex.: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r>
              <a:rPr lang="en-US" sz="1200" dirty="0">
                <a:solidFill>
                  <a:srgbClr val="556B82"/>
                </a:solidFill>
              </a:rPr>
              <a:t>). A tabela tem </a:t>
            </a:r>
            <a:r>
              <a:rPr lang="en-US" sz="1200" b="1" dirty="0">
                <a:solidFill>
                  <a:srgbClr val="556B82"/>
                </a:solidFill>
              </a:rPr>
              <a:t>uma coluna sem nome</a:t>
            </a:r>
            <a:r>
              <a:rPr lang="en-US" sz="1200" dirty="0">
                <a:solidFill>
                  <a:srgbClr val="556B82"/>
                </a:solidFill>
              </a:rPr>
              <a:t> e é lida pela posição.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0148" y="1908048"/>
            <a:ext cx="5432908" cy="1886712"/>
          </a:xfrm>
          <a:prstGeom prst="roundRect">
            <a:avLst>
              <a:gd name="adj" fmla="val 484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11316" y="2109216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11316" y="2712720"/>
            <a:ext cx="503057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Tabela complexa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O tipo da linha é uma </a:t>
            </a:r>
            <a:r>
              <a:rPr lang="en-US" sz="1200" b="1" dirty="0">
                <a:solidFill>
                  <a:srgbClr val="556B82"/>
                </a:solidFill>
              </a:rPr>
              <a:t>estrutura</a:t>
            </a:r>
            <a:r>
              <a:rPr lang="en-US" sz="1200" dirty="0">
                <a:solidFill>
                  <a:srgbClr val="556B82"/>
                </a:solidFill>
              </a:rPr>
              <a:t>: cada componente vira uma coluna com nome e tipo.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4023360"/>
            <a:ext cx="5432908" cy="1886712"/>
          </a:xfrm>
          <a:prstGeom prst="roundRect">
            <a:avLst>
              <a:gd name="adj" fmla="val 484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49808" y="422452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sp>
        <p:nvSpPr>
          <p:cNvPr id="12" name="Shape 10"/>
          <p:cNvSpPr/>
          <p:nvPr/>
        </p:nvSpPr>
        <p:spPr>
          <a:xfrm>
            <a:off x="4931816" y="4297680"/>
            <a:ext cx="84856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931816" y="4297680"/>
            <a:ext cx="8485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</a:rPr>
              <a:t>rápido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49808" y="4828032"/>
            <a:ext cx="503057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Acesso por índice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Pela posição da linha: sempre rápido, qualquer que seja o tamanho da tabela.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210148" y="4023360"/>
            <a:ext cx="5432908" cy="1886712"/>
          </a:xfrm>
          <a:prstGeom prst="roundRect">
            <a:avLst>
              <a:gd name="adj" fmla="val 484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11316" y="422452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10512857" y="4297680"/>
            <a:ext cx="929030" cy="274320"/>
          </a:xfrm>
          <a:prstGeom prst="roundRect">
            <a:avLst>
              <a:gd name="adj" fmla="val 50000"/>
            </a:avLst>
          </a:prstGeom>
          <a:solidFill>
            <a:srgbClr val="FFF8D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2857" y="4297680"/>
            <a:ext cx="9290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4F00"/>
                </a:solidFill>
              </a:rPr>
              <a:t>depende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411316" y="4828032"/>
            <a:ext cx="503057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Acesso por chave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Pelo conteúdo de colunas. Pode ficar lento em tabelas grandes, por isso o </a:t>
            </a:r>
            <a:r>
              <a:rPr lang="en-US" sz="1200" b="1" dirty="0">
                <a:solidFill>
                  <a:srgbClr val="556B82"/>
                </a:solidFill>
              </a:rPr>
              <a:t>tipo de acesso</a:t>
            </a:r>
            <a:r>
              <a:rPr lang="en-US" sz="1200" dirty="0">
                <a:solidFill>
                  <a:srgbClr val="556B82"/>
                </a:solidFill>
              </a:rPr>
              <a:t> importa.</a:t>
            </a:r>
            <a:endParaRPr lang="en-US" sz="140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2209800"/>
            <a:ext cx="256032" cy="256032"/>
          </a:xfrm>
          <a:prstGeom prst="rect">
            <a:avLst/>
          </a:prstGeom>
        </p:spPr>
      </p:pic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1900" y="2209800"/>
            <a:ext cx="256032" cy="256032"/>
          </a:xfrm>
          <a:prstGeom prst="rect">
            <a:avLst/>
          </a:prstGeom>
        </p:spPr>
      </p:pic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4325112"/>
            <a:ext cx="256032" cy="256032"/>
          </a:xfrm>
          <a:prstGeom prst="rect">
            <a:avLst/>
          </a:prstGeom>
        </p:spPr>
      </p:pic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1900" y="4325112"/>
            <a:ext cx="256032" cy="256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01.06 · SEÇÃO 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Declarando tabelas complexas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Toda tabela interna tem um </a:t>
            </a:r>
            <a:r>
              <a:rPr lang="en-US" sz="1600" b="1" dirty="0">
                <a:solidFill>
                  <a:srgbClr val="D1EFFF"/>
                </a:solidFill>
              </a:rPr>
              <a:t>tipo de acesso</a:t>
            </a:r>
            <a:r>
              <a:rPr lang="en-US" sz="1600" dirty="0">
                <a:solidFill>
                  <a:srgbClr val="D1EFFF"/>
                </a:solidFill>
              </a:rPr>
              <a:t> (standard, sorted ou hashed) e uma </a:t>
            </a:r>
            <a:r>
              <a:rPr lang="en-US" sz="1600" b="1" dirty="0">
                <a:solidFill>
                  <a:srgbClr val="D1EFFF"/>
                </a:solidFill>
              </a:rPr>
              <a:t>chave</a:t>
            </a:r>
            <a:r>
              <a:rPr lang="en-US" sz="1600" dirty="0">
                <a:solidFill>
                  <a:srgbClr val="D1EFFF"/>
                </a:solidFill>
              </a:rPr>
              <a:t>, que pode ser única ou não.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STANDARD</a:t>
            </a:r>
            <a:r>
              <a:rPr lang="en-US" sz="1000" dirty="0">
                <a:solidFill>
                  <a:srgbClr val="D1EFFF"/>
                </a:solidFill>
              </a:rPr>
              <a:t>  sem ordem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SORTED</a:t>
            </a:r>
            <a:r>
              <a:rPr lang="en-US" sz="1000" dirty="0">
                <a:solidFill>
                  <a:srgbClr val="D1EFFF"/>
                </a:solidFill>
              </a:rPr>
              <a:t>  ordenada pela chave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HASHED</a:t>
            </a:r>
            <a:r>
              <a:rPr lang="en-US" sz="1000" dirty="0">
                <a:solidFill>
                  <a:srgbClr val="D1EFFF"/>
                </a:solidFill>
              </a:rPr>
              <a:t>  algoritmo hash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 tt_…</a:t>
            </a:r>
            <a:r>
              <a:rPr lang="en-US" sz="1000" dirty="0">
                <a:solidFill>
                  <a:srgbClr val="D1EFFF"/>
                </a:solidFill>
              </a:rPr>
              <a:t>  tipo de tabela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DECLARAÇÃO · TIPOS DE ACESSO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Standard, sorted e hashed lado a lado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83080"/>
          <a:ext cx="10820095" cy="914400"/>
        </p:xfrm>
        <a:graphic>
          <a:graphicData uri="http://schemas.openxmlformats.org/drawingml/2006/table">
            <a:tbl>
              <a:tblPr/>
              <a:tblGrid>
                <a:gridCol w="1967290"/>
                <a:gridCol w="2950935"/>
                <a:gridCol w="2950935"/>
                <a:gridCol w="2950935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STANDARD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SORTED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HASHED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Armazenamento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Na ordem de inclusão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Sempre ordenada pela chave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Gerida por algoritmo hash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Leitura pela chave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44F00"/>
                          </a:solidFill>
                        </a:rPr>
                        <a:t>Sequencial: lenta em tabelas grandes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56F3A"/>
                          </a:solidFill>
                        </a:rPr>
                        <a:t>Busca binária: rápida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56F3A"/>
                          </a:solidFill>
                        </a:rPr>
                        <a:t>Tempo constante: muito rápida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Acesso por índice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56F3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56F3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A0808"/>
                          </a:solidFill>
                        </a:rPr>
                        <a:t>✗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Duplicidades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Sempre permitidas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UNIQUE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 ou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NON-UNIQUE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Nunca: chave sempre única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48056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207008" y="4480560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Regra  </a:t>
            </a:r>
            <a:r>
              <a:rPr lang="en-US" sz="1200" dirty="0">
                <a:solidFill>
                  <a:srgbClr val="1D2D3E"/>
                </a:solidFill>
              </a:rPr>
              <a:t>sorted e hashed só são mais rápidas quando a leitura usa todos os campos da chave (ou, na sorted, o início dela).</a:t>
            </a:r>
            <a:endParaRPr lang="en-US" sz="1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4608576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DECLARAÇÃO · TIPOS DE TABELA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Primeiro o tipo, depois a variável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1997964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1997964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18150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zcl_06_itab.clas.abap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ZS4D400_## › ZCL_06_ITAB › main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st_connection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/dmo/carrier_id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/dmo/connection_id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airport_from_id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/dmo/airport_from_id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airport_to_id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/dmo/airport_to_id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carrier_name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/dmo/carrier_name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st_connection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tt_connections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SORTED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st_connection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UNIQUE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tt_connections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LIKE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HASHED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/dmo/carrier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UNIQUE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Tipo da linha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 estrutura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st_connection</a:t>
            </a:r>
            <a:r>
              <a:rPr lang="en-US" sz="1050" dirty="0">
                <a:solidFill>
                  <a:srgbClr val="556B82"/>
                </a:solidFill>
              </a:rPr>
              <a:t> define as colunas da tabela.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Tipo de tabela nomeado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 tt_…</a:t>
            </a:r>
            <a:r>
              <a:rPr lang="en-US" sz="1050" dirty="0">
                <a:solidFill>
                  <a:srgbClr val="556B82"/>
                </a:solidFill>
              </a:rPr>
              <a:t> reúne tipo de acesso e chave; é o estilo recomendado.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LIKE LINE OF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 </a:t>
            </a:r>
            <a:r>
              <a:rPr lang="en-US" sz="1050" i="1" dirty="0">
                <a:solidFill>
                  <a:srgbClr val="556B82"/>
                </a:solidFill>
              </a:rPr>
              <a:t>work area</a:t>
            </a:r>
            <a:r>
              <a:rPr lang="en-US" sz="1050" dirty="0">
                <a:solidFill>
                  <a:srgbClr val="556B82"/>
                </a:solidFill>
              </a:rPr>
              <a:t> acompanha a tabela mesmo se a definição mudar.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Tipo global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 vários objetos usam o tipo, crie um </a:t>
            </a:r>
            <a:r>
              <a:rPr lang="en-US" sz="1050" i="1" dirty="0">
                <a:solidFill>
                  <a:srgbClr val="556B82"/>
                </a:solidFill>
              </a:rPr>
              <a:t>table type</a:t>
            </a:r>
            <a:r>
              <a:rPr lang="en-US" sz="1050" dirty="0">
                <a:solidFill>
                  <a:srgbClr val="556B82"/>
                </a:solidFill>
              </a:rPr>
              <a:t> no Dicionário.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01.06 · SEÇÃO 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Preenchendo tabelas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Linhas entram uma a uma com </a:t>
            </a:r>
            <a:r>
              <a:rPr lang="en-US" sz="1600" b="1" dirty="0">
                <a:solidFill>
                  <a:srgbClr val="D1EFFF"/>
                </a:solidFill>
              </a:rPr>
              <a:t>INSERT/APPEND</a:t>
            </a:r>
            <a:r>
              <a:rPr lang="en-US" sz="1600" dirty="0">
                <a:solidFill>
                  <a:srgbClr val="D1EFFF"/>
                </a:solidFill>
              </a:rPr>
              <a:t>, várias de uma vez com </a:t>
            </a:r>
            <a:r>
              <a:rPr lang="en-US" sz="1600" b="1" dirty="0">
                <a:solidFill>
                  <a:srgbClr val="D1EFFF"/>
                </a:solidFill>
              </a:rPr>
              <a:t>VALUE</a:t>
            </a:r>
            <a:r>
              <a:rPr lang="en-US" sz="1600" dirty="0">
                <a:solidFill>
                  <a:srgbClr val="D1EFFF"/>
                </a:solidFill>
              </a:rPr>
              <a:t>, ou copiadas de outra tabela com </a:t>
            </a:r>
            <a:r>
              <a:rPr lang="en-US" sz="1600" b="1" dirty="0">
                <a:solidFill>
                  <a:srgbClr val="D1EFFF"/>
                </a:solidFill>
              </a:rPr>
              <a:t>CORRESPONDING</a:t>
            </a:r>
            <a:r>
              <a:rPr lang="en-US" sz="1600" dirty="0">
                <a:solidFill>
                  <a:srgbClr val="D1EFFF"/>
                </a:solidFill>
              </a:rPr>
              <a:t>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 … INTO TABLE</a:t>
            </a:r>
            <a:r>
              <a:rPr lang="en-US" sz="1000" dirty="0">
                <a:solidFill>
                  <a:srgbClr val="D1EFFF"/>
                </a:solidFill>
              </a:rPr>
              <a:t>  qualquer tipo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r>
              <a:rPr lang="en-US" sz="1000" dirty="0">
                <a:solidFill>
                  <a:srgbClr val="D1EFFF"/>
                </a:solidFill>
              </a:rPr>
              <a:t>  no fim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#( ( ) ( ) )</a:t>
            </a:r>
            <a:r>
              <a:rPr lang="en-US" sz="1000" dirty="0">
                <a:solidFill>
                  <a:srgbClr val="D1EFFF"/>
                </a:solidFill>
              </a:rPr>
              <a:t>  várias linhas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CORRESPONDING #( )</a:t>
            </a:r>
            <a:r>
              <a:rPr lang="en-US" sz="1000" dirty="0">
                <a:solidFill>
                  <a:srgbClr val="D1EFFF"/>
                </a:solidFill>
              </a:rPr>
              <a:t>  de outra tabela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PREENCHIMENTO · QUATRO FORMAS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Do work area ao VALUE com várias linhas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1997964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1997964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18150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zcl_06_itab.clas.abap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ZS4D400_## › ZCL_06_ITAB › main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1) com work area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'NN'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connection_id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'1234'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airport_from_id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'ABC'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airport_to_id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'XYZ'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2) sem work area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'LH'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connection_id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'0400'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3) várias linhas de uma vez (apaga o conteúdo anterior)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carrier_list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'AA'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carrier_name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'American'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'JL'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carrier_name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'Japan'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'SQ'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carrier_name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'Singapore'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4) de outra tabela, componente a componente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CORRESPONDING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carrier_list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 … INTO TABLE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Funciona com os três tipos: respeita a ordem da sorted e a chave da hashed.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Inclui no fim; em sorted, só se não quebrar a ordenação.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Parênteses por linha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No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#( )</a:t>
            </a:r>
            <a:r>
              <a:rPr lang="en-US" sz="1050" dirty="0">
                <a:solidFill>
                  <a:srgbClr val="556B82"/>
                </a:solidFill>
              </a:rPr>
              <a:t>, cada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 … )</a:t>
            </a:r>
            <a:r>
              <a:rPr lang="en-US" sz="1050" dirty="0">
                <a:solidFill>
                  <a:srgbClr val="556B82"/>
                </a:solidFill>
              </a:rPr>
              <a:t> é uma linha nova.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CORRESPONDING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Uma linha no destino para cada linha da origem; colunas sem par ficam iniciais.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01.06 · SEÇÃO 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Lendo e alterando linhas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Expressões de tabela leem uma linha por chave; </a:t>
            </a:r>
            <a:r>
              <a:rPr lang="en-US" sz="1600" b="1" dirty="0">
                <a:solidFill>
                  <a:srgbClr val="D1EFFF"/>
                </a:solidFill>
              </a:rPr>
              <a:t>LOOP … WHERE</a:t>
            </a:r>
            <a:r>
              <a:rPr lang="en-US" sz="1600" dirty="0">
                <a:solidFill>
                  <a:srgbClr val="D1EFFF"/>
                </a:solidFill>
              </a:rPr>
              <a:t> percorre várias; </a:t>
            </a:r>
            <a:r>
              <a:rPr lang="en-US" sz="1600" b="1" dirty="0">
                <a:solidFill>
                  <a:srgbClr val="D1EFFF"/>
                </a:solidFill>
              </a:rPr>
              <a:t>MODIFY</a:t>
            </a:r>
            <a:r>
              <a:rPr lang="en-US" sz="1600" dirty="0">
                <a:solidFill>
                  <a:srgbClr val="D1EFFF"/>
                </a:solidFill>
              </a:rPr>
              <a:t> e </a:t>
            </a:r>
            <a:r>
              <a:rPr lang="en-US" sz="1600" b="1" dirty="0">
                <a:solidFill>
                  <a:srgbClr val="D1EFFF"/>
                </a:solidFill>
              </a:rPr>
              <a:t>DELETE</a:t>
            </a:r>
            <a:r>
              <a:rPr lang="en-US" sz="1600" dirty="0">
                <a:solidFill>
                  <a:srgbClr val="D1EFFF"/>
                </a:solidFill>
              </a:rPr>
              <a:t> alteram o conteúdo.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itab[ campo = … ]</a:t>
            </a:r>
            <a:r>
              <a:rPr lang="en-US" sz="1000" dirty="0">
                <a:solidFill>
                  <a:srgbClr val="D1EFFF"/>
                </a:solidFill>
              </a:rPr>
              <a:t>  uma linha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line_exists( )</a:t>
            </a:r>
            <a:r>
              <a:rPr lang="en-US" sz="1000" dirty="0">
                <a:solidFill>
                  <a:srgbClr val="D1EFFF"/>
                </a:solidFill>
              </a:rPr>
              <a:t>  existe?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 AT … WHERE</a:t>
            </a:r>
            <a:r>
              <a:rPr lang="en-US" sz="1000" dirty="0">
                <a:solidFill>
                  <a:srgbClr val="D1EFFF"/>
                </a:solidFill>
              </a:rPr>
              <a:t>  várias linhas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 · DELETE · SORT</a:t>
            </a:r>
            <a:r>
              <a:rPr lang="en-US" sz="1000" dirty="0">
                <a:solidFill>
                  <a:srgbClr val="D1EFFF"/>
                </a:solidFill>
              </a:rPr>
              <a:t>  alterar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ACESSO · UMA LINHA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Expressões de tabela com acesso por chave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1997964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1997964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18150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zcl_06_read.clas.abap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ZS4D400_## › ZCL_06_READ › main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airport_from_id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'SFO'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airport_to_id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'SIN'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CATCH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cx_sy_itab_line_not_found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`Rota não encontrada`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ENDTRY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line_exists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'LH'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`Há voos da Lufthansa`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/dmo/carrier_name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'XX'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'desconhecida'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Qualquer coluna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 busca pode usar colunas que não são chave; em standard, volta a primeira encontrada.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Linha inexistente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Levanta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CX_SY_ITAB_LINE_NOT_FOUND</a:t>
            </a:r>
            <a:r>
              <a:rPr lang="en-US" sz="1050" dirty="0">
                <a:solidFill>
                  <a:srgbClr val="556B82"/>
                </a:solidFill>
              </a:rPr>
              <a:t>: trate com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 … CATCH</a:t>
            </a:r>
            <a:r>
              <a:rPr lang="en-US" sz="105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line_exists( )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Só testa a existência, sem ler a linha.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</a:t>
            </a:r>
            <a:r>
              <a:rPr lang="en-US" sz="1250" b="1" dirty="0">
                <a:solidFill>
                  <a:srgbClr val="1D2D3E"/>
                </a:solidFill>
              </a:rPr>
              <a:t> · </a:t>
            </a: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Dentro de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1050" dirty="0">
                <a:solidFill>
                  <a:srgbClr val="556B82"/>
                </a:solidFill>
              </a:rPr>
              <a:t>, devolve um valor padrão em vez da exceção.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ACESSO · VÁRIAS LINHAS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LOOP com WHERE, MODIFY, DELETE e SORT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2153412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2153412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19705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zcl_06_change.clas.abap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ZS4D400_## › ZCL_06_CHANGE › main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airport_from_id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'FRA'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|{ c-carrier_id } { c-connection_id }|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'JL'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carrier-currency_code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'JPY'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acha a linha pela chave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carrier_list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ASSIGNING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FIELD-SYMBOL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carrier_name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to_upper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carrier_name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airport_to_id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'XYZ'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SORT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carrier_list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carrier_name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DESCENDING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 … WHERE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Processa só as linhas que satisfazem a condição (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556B82"/>
                </a:solidFill>
              </a:rPr>
              <a:t>,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556B82"/>
                </a:solidFill>
              </a:rPr>
              <a:t>,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BETWEEN</a:t>
            </a:r>
            <a:r>
              <a:rPr lang="en-US" sz="1050" dirty="0">
                <a:solidFill>
                  <a:srgbClr val="556B82"/>
                </a:solidFill>
              </a:rPr>
              <a:t>…).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 TABLE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Localiza a linha pelos campos-chave do work area; não altera a chave.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ASSIGNING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Field symbol aponta para a própria linha: alterar é imediato, sem cópia.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r>
              <a:rPr lang="en-US" sz="1250" b="1" dirty="0">
                <a:solidFill>
                  <a:srgbClr val="1D2D3E"/>
                </a:solidFill>
              </a:rPr>
              <a:t> · </a:t>
            </a: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SORT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Removem por condição e ordenam por quaisquer colunas;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SORT</a:t>
            </a:r>
            <a:r>
              <a:rPr lang="en-US" sz="1050" dirty="0">
                <a:solidFill>
                  <a:srgbClr val="556B82"/>
                </a:solidFill>
              </a:rPr>
              <a:t> não vale para tabelas sorted.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01.06 · SEÇÃO 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Escolhendo o tipo certo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O tipo de acesso é uma decisão de </a:t>
            </a:r>
            <a:r>
              <a:rPr lang="en-US" sz="1600" b="1" dirty="0">
                <a:solidFill>
                  <a:srgbClr val="D1EFFF"/>
                </a:solidFill>
              </a:rPr>
              <a:t>desempenho</a:t>
            </a:r>
            <a:r>
              <a:rPr lang="en-US" sz="1600" dirty="0">
                <a:solidFill>
                  <a:srgbClr val="D1EFFF"/>
                </a:solidFill>
              </a:rPr>
              <a:t>: escolha pelo jeito como a tabela será lida com mais frequência.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Standard</a:t>
            </a:r>
            <a:r>
              <a:rPr lang="en-US" sz="1000" dirty="0">
                <a:solidFill>
                  <a:srgbClr val="D1EFFF"/>
                </a:solidFill>
              </a:rPr>
              <a:t>  índice e loops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Sorted</a:t>
            </a:r>
            <a:r>
              <a:rPr lang="en-US" sz="1000" dirty="0">
                <a:solidFill>
                  <a:srgbClr val="D1EFFF"/>
                </a:solidFill>
              </a:rPr>
              <a:t>  chave parcial ou total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Hashed</a:t>
            </a:r>
            <a:r>
              <a:rPr lang="en-US" sz="1000" dirty="0">
                <a:solidFill>
                  <a:srgbClr val="D1EFFF"/>
                </a:solidFill>
              </a:rPr>
              <a:t>  chave única completa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Chaves secundárias</a:t>
            </a:r>
            <a:r>
              <a:rPr lang="en-US" sz="1000" dirty="0">
                <a:solidFill>
                  <a:srgbClr val="D1EFFF"/>
                </a:solidFill>
              </a:rPr>
              <a:t>  aula 04.05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ESCOLHA · GUIA DE DECISÃO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Qual tipo de tabela usar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037715"/>
            <a:ext cx="3545738" cy="2992882"/>
          </a:xfrm>
          <a:prstGeom prst="roundRect">
            <a:avLst>
              <a:gd name="adj" fmla="val 3055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2238883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2842387"/>
            <a:ext cx="3143402" cy="20784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STANDARD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56B82"/>
                </a:solidFill>
              </a:rPr>
              <a:t>Preenchida e percorrida inteira com </a:t>
            </a:r>
            <a:r>
              <a:rPr lang="en-US" sz="13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56B82"/>
                </a:solidFill>
              </a:rPr>
              <a:t>Acesso principalmente por índice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56B82"/>
                </a:solidFill>
              </a:rPr>
              <a:t>Tabelas pequenas ou leituras raras por chave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22978" y="2037715"/>
            <a:ext cx="3545738" cy="2992882"/>
          </a:xfrm>
          <a:prstGeom prst="roundRect">
            <a:avLst>
              <a:gd name="adj" fmla="val 3055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24146" y="2238883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24146" y="2842387"/>
            <a:ext cx="3143402" cy="20784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SORTED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56B82"/>
                </a:solidFill>
              </a:rPr>
              <a:t>Leituras pela chave inteira ou pelo seu início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56B82"/>
                </a:solidFill>
              </a:rPr>
              <a:t>Precisa dos dados sempre em ordem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 … WHERE</a:t>
            </a:r>
            <a:r>
              <a:rPr lang="en-US" sz="1300" dirty="0">
                <a:solidFill>
                  <a:srgbClr val="556B82"/>
                </a:solidFill>
              </a:rPr>
              <a:t> pela chave fica otimizado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97317" y="2037715"/>
            <a:ext cx="3545738" cy="2992882"/>
          </a:xfrm>
          <a:prstGeom prst="roundRect">
            <a:avLst>
              <a:gd name="adj" fmla="val 3055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98485" y="2238883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98485" y="2842387"/>
            <a:ext cx="3143402" cy="20784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HASHED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56B82"/>
                </a:solidFill>
              </a:rPr>
              <a:t>Muitas leituras pela chave </a:t>
            </a:r>
            <a:r>
              <a:rPr lang="en-US" sz="1300" b="1" dirty="0">
                <a:solidFill>
                  <a:srgbClr val="556B82"/>
                </a:solidFill>
              </a:rPr>
              <a:t>completa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56B82"/>
                </a:solidFill>
              </a:rPr>
              <a:t>Chave sempre única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56B82"/>
                </a:solidFill>
              </a:rPr>
              <a:t>Volumes grandes, como buffers de leitura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5213477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5213477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E se eu ler por outras colunas?  </a:t>
            </a:r>
            <a:r>
              <a:rPr lang="en-US" sz="1200" dirty="0">
                <a:solidFill>
                  <a:srgbClr val="1D2D3E"/>
                </a:solidFill>
              </a:rPr>
              <a:t>tabelas também podem ter </a:t>
            </a:r>
            <a:r>
              <a:rPr lang="en-US" sz="1200" b="1" dirty="0">
                <a:solidFill>
                  <a:srgbClr val="1D2D3E"/>
                </a:solidFill>
              </a:rPr>
              <a:t>chaves secundárias</a:t>
            </a:r>
            <a:r>
              <a:rPr lang="en-US" sz="1200" dirty="0">
                <a:solidFill>
                  <a:srgbClr val="1D2D3E"/>
                </a:solidFill>
              </a:rPr>
              <a:t>, assunto da aula 04.05.</a:t>
            </a:r>
            <a:endParaRPr lang="en-US" sz="140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2339467"/>
            <a:ext cx="256032" cy="256032"/>
          </a:xfrm>
          <a:prstGeom prst="rect">
            <a:avLst/>
          </a:prstGeom>
        </p:spPr>
      </p:pic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4730" y="2339467"/>
            <a:ext cx="256032" cy="256032"/>
          </a:xfrm>
          <a:prstGeom prst="rect">
            <a:avLst/>
          </a:prstGeom>
        </p:spPr>
      </p:pic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9069" y="2339467"/>
            <a:ext cx="256032" cy="256032"/>
          </a:xfrm>
          <a:prstGeom prst="rect">
            <a:avLst/>
          </a:prstGeom>
        </p:spPr>
      </p:pic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5341493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RESUMO DA AULA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 que aprendemos na aula 01.06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5331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Tabela </a:t>
            </a:r>
            <a:r>
              <a:rPr lang="en-US" sz="1400" b="1" dirty="0">
                <a:solidFill>
                  <a:srgbClr val="FFFFFF"/>
                </a:solidFill>
              </a:rPr>
              <a:t>complexa</a:t>
            </a:r>
            <a:r>
              <a:rPr lang="en-US" sz="1400" dirty="0">
                <a:solidFill>
                  <a:srgbClr val="FFFFFF"/>
                </a:solidFill>
              </a:rPr>
              <a:t> tem linhas estruturadas: uma coluna por componente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6364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8543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Tipos de acesso </a:t>
            </a:r>
            <a:r>
              <a:rPr lang="en-US" sz="1400" b="1" dirty="0">
                <a:solidFill>
                  <a:srgbClr val="FFFFFF"/>
                </a:solidFill>
              </a:rPr>
              <a:t>STANDARD</a:t>
            </a:r>
            <a:r>
              <a:rPr lang="en-US" sz="1400" dirty="0">
                <a:solidFill>
                  <a:srgbClr val="FFFFFF"/>
                </a:solidFill>
              </a:rPr>
              <a:t>, </a:t>
            </a:r>
            <a:r>
              <a:rPr lang="en-US" sz="1400" b="1" dirty="0">
                <a:solidFill>
                  <a:srgbClr val="FFFFFF"/>
                </a:solidFill>
              </a:rPr>
              <a:t>SORTED</a:t>
            </a:r>
            <a:r>
              <a:rPr lang="en-US" sz="1400" dirty="0">
                <a:solidFill>
                  <a:srgbClr val="FFFFFF"/>
                </a:solidFill>
              </a:rPr>
              <a:t> e </a:t>
            </a:r>
            <a:r>
              <a:rPr lang="en-US" sz="1400" b="1" dirty="0">
                <a:solidFill>
                  <a:srgbClr val="FFFFFF"/>
                </a:solidFill>
              </a:rPr>
              <a:t>HASHED</a:t>
            </a:r>
            <a:r>
              <a:rPr lang="en-US" sz="1400" dirty="0">
                <a:solidFill>
                  <a:srgbClr val="FFFFFF"/>
                </a:solidFill>
              </a:rPr>
              <a:t>, com chave única ou não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5331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Declare primeiro o </a:t>
            </a:r>
            <a:r>
              <a:rPr lang="en-US" sz="1400" b="1" dirty="0">
                <a:solidFill>
                  <a:srgbClr val="FFFFFF"/>
                </a:solidFill>
              </a:rPr>
              <a:t>tipo de tabela</a:t>
            </a:r>
            <a:r>
              <a:rPr lang="en-US" sz="1400" dirty="0">
                <a:solidFill>
                  <a:srgbClr val="FFFFFF"/>
                </a:solidFill>
              </a:rPr>
              <a:t> com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</a:t>
            </a:r>
            <a:r>
              <a:rPr lang="en-US" sz="1400" dirty="0">
                <a:solidFill>
                  <a:srgbClr val="FFFFFF"/>
                </a:solidFill>
              </a:rPr>
              <a:t>; a work area com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LIKE LINE OF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8543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Preencha com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 … INTO TABLE</a:t>
            </a:r>
            <a:r>
              <a:rPr lang="en-US" sz="1400" dirty="0">
                <a:solidFill>
                  <a:srgbClr val="FFFFFF"/>
                </a:solidFill>
              </a:rPr>
              <a:t>,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#( ( ) ( ) )</a:t>
            </a:r>
            <a:r>
              <a:rPr lang="en-US" sz="1400" dirty="0">
                <a:solidFill>
                  <a:srgbClr val="FFFFFF"/>
                </a:solidFill>
              </a:rPr>
              <a:t> e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CORRESPONDING #( 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5331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Leia com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itab[ … ]</a:t>
            </a:r>
            <a:r>
              <a:rPr lang="en-US" sz="1400" dirty="0">
                <a:solidFill>
                  <a:srgbClr val="FFFFFF"/>
                </a:solidFill>
              </a:rPr>
              <a:t>,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line_exists( )</a:t>
            </a:r>
            <a:r>
              <a:rPr lang="en-US" sz="1400" dirty="0">
                <a:solidFill>
                  <a:srgbClr val="FFFFFF"/>
                </a:solidFill>
              </a:rPr>
              <a:t> e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 … WHERE</a:t>
            </a:r>
            <a:r>
              <a:rPr lang="en-US" sz="1400" dirty="0">
                <a:solidFill>
                  <a:srgbClr val="FFFFFF"/>
                </a:solidFill>
              </a:rPr>
              <a:t>; trate a linha inexistente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6364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8543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Altere com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 TABLE</a:t>
            </a:r>
            <a:r>
              <a:rPr lang="en-US" sz="1400" dirty="0">
                <a:solidFill>
                  <a:srgbClr val="FFFFFF"/>
                </a:solidFill>
              </a:rPr>
              <a:t>, field symbols,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… WHERE</a:t>
            </a:r>
            <a:r>
              <a:rPr lang="en-US" sz="1400" dirty="0">
                <a:solidFill>
                  <a:srgbClr val="FFFFFF"/>
                </a:solidFill>
              </a:rPr>
              <a:t> e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SORT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5349240"/>
            <a:ext cx="10698480" cy="749808"/>
          </a:xfrm>
          <a:prstGeom prst="roundRect">
            <a:avLst>
              <a:gd name="adj" fmla="val 12195"/>
            </a:avLst>
          </a:prstGeom>
          <a:solidFill>
            <a:srgbClr val="1B3A7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508760" y="5349240"/>
            <a:ext cx="969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9D1FF"/>
                </a:solidFill>
              </a:rPr>
              <a:t>Próxima aula · 01.07  </a:t>
            </a:r>
            <a:r>
              <a:rPr lang="en-US" sz="1500" dirty="0">
                <a:solidFill>
                  <a:srgbClr val="FFFFFF"/>
                </a:solidFill>
              </a:rPr>
              <a:t>Business Objects: EML: ler, criar e alterar via RAP BO.</a:t>
            </a:r>
            <a:endParaRPr lang="en-US" sz="15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965960"/>
            <a:ext cx="256032" cy="256032"/>
          </a:xfrm>
          <a:prstGeom prst="rect">
            <a:avLst/>
          </a:prstGeom>
        </p:spPr>
      </p:pic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926080"/>
            <a:ext cx="256032" cy="256032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965960"/>
            <a:ext cx="256032" cy="256032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2926080"/>
            <a:ext cx="256032" cy="256032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886200"/>
            <a:ext cx="256032" cy="256032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3886200"/>
            <a:ext cx="256032" cy="256032"/>
          </a:xfrm>
          <a:prstGeom prst="rect">
            <a:avLst/>
          </a:prstGeom>
        </p:spPr>
      </p:pic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5541264"/>
            <a:ext cx="365760" cy="3657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ABAP Moderno">
  <a:themeElements>
    <a:clrScheme name="ABAP Moderno">
      <a:dk1>
        <a:srgbClr val="1D2D3E"/>
      </a:dk1>
      <a:lt1>
        <a:srgbClr val="FFFFFF"/>
      </a:lt1>
      <a:dk2>
        <a:srgbClr val="556B82"/>
      </a:dk2>
      <a:lt2>
        <a:srgbClr val="F5F6F7"/>
      </a:lt2>
      <a:accent1>
        <a:srgbClr val="0070F2"/>
      </a:accent1>
      <a:accent2>
        <a:srgbClr val="30914C"/>
      </a:accent2>
      <a:accent3>
        <a:srgbClr val="E76500"/>
      </a:accent3>
      <a:accent4>
        <a:srgbClr val="D20A0A"/>
      </a:accent4>
      <a:accent5>
        <a:srgbClr val="1B3A7A"/>
      </a:accent5>
      <a:accent6>
        <a:srgbClr val="89D1FF"/>
      </a:accent6>
      <a:hlink>
        <a:srgbClr val="0064D9"/>
      </a:hlink>
      <a:folHlink>
        <a:srgbClr val="1B3A7A"/>
      </a:folHlink>
    </a:clrScheme>
    <a:fontScheme name="ABAP Modern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01.06 Trabalhando com tabelas internas complexas</dc:title>
  <dc:subject>ABAP Moderno – Módulo 01: Fundamentos do ABAP Moderno</dc:subject>
  <dc:creator>Adriano Bispo</dc:creator>
  <cp:lastModifiedBy>Adriano Bispo</cp:lastModifiedBy>
  <cp:revision>1</cp:revision>
  <dcterms:created xsi:type="dcterms:W3CDTF">2026-10-28T04:16:31Z</dcterms:created>
  <dcterms:modified xsi:type="dcterms:W3CDTF">2026-10-28T04:16:31Z</dcterms:modified>
</cp:coreProperties>
</file>