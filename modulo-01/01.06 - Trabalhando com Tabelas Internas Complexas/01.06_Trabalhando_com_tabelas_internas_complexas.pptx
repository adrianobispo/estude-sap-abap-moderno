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01 — Fundamentos do ABAP Moderno  ·  Aula 6 de 8 — Tabelas internas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01 — Fundamentos do ABAP Moderno  ·  Aula 6 de 8 — Tabelas internas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01 · AULA 06 DE 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Trabalhando com tabelas internas complexas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Tipos de acesso, chaves, preenchimento com VALUE e CORRESPONDING, leitura por chave e alteração de linhas.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0107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01827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43546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85266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985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8705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0424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6 de 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01 — Fundamentos do ABAP Moderno · Design System SAP Horizon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01 em 8 aulas: Fundamentos do ABAP Moderno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Iniciando a jornada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ADT, ABAP Cloud, pacotes e o primeiro programa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Técnicas básicas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Dados, expressões, controle de fluxo e debugger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locais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Definição, instâncias, métodos e encapsulamento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Lendo dados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SELECT moderno, host variables e CDS 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Dados estruturados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Estruturas, CORRESPONDING e tipos profundos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internas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de tabela, chaves e expressões de tabela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008044" y="390448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008044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Business Objects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EML: ler, criar e alterar via RAP BO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06611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71203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171203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4" name="Text 42"/>
          <p:cNvSpPr txBox="1"/>
          <p:nvPr/>
        </p:nvSpPr>
        <p:spPr>
          <a:xfrm>
            <a:off x="9171203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RAP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9171203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Camadas, managed x unmanaged e o ciclo completo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passamos de tabelas de uma coluna para tabelas com linhas estruturadas, como a lista de itens de estoque e as listas de códigos do projeto, e escolhemos o tipo certo para cada forma de acesso.</a:t>
            </a:r>
            <a:endParaRPr lang="en-US" sz="14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94415" y="3858768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De uma coluna sem nome a colunas com nome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08048"/>
            <a:ext cx="5432908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10921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712720"/>
            <a:ext cx="503057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Tabela simples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tipo da linha é escalar (ex.: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200" dirty="0">
                <a:solidFill>
                  <a:srgbClr val="556B82"/>
                </a:solidFill>
              </a:rPr>
              <a:t>). A tabela tem </a:t>
            </a:r>
            <a:r>
              <a:rPr lang="en-US" sz="1200" b="1" dirty="0">
                <a:solidFill>
                  <a:srgbClr val="556B82"/>
                </a:solidFill>
              </a:rPr>
              <a:t>uma coluna sem nome</a:t>
            </a:r>
            <a:r>
              <a:rPr lang="en-US" sz="1200" dirty="0">
                <a:solidFill>
                  <a:srgbClr val="556B82"/>
                </a:solidFill>
              </a:rPr>
              <a:t> e é lida pela posição.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0148" y="1908048"/>
            <a:ext cx="5432908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11316" y="210921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11316" y="2712720"/>
            <a:ext cx="503057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Tabela complexa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tipo da linha é uma </a:t>
            </a:r>
            <a:r>
              <a:rPr lang="en-US" sz="1200" b="1" dirty="0">
                <a:solidFill>
                  <a:srgbClr val="556B82"/>
                </a:solidFill>
              </a:rPr>
              <a:t>estrutura</a:t>
            </a:r>
            <a:r>
              <a:rPr lang="en-US" sz="1200" dirty="0">
                <a:solidFill>
                  <a:srgbClr val="556B82"/>
                </a:solidFill>
              </a:rPr>
              <a:t>: cada componente vira uma coluna com nome e tipo.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432908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42245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1816" y="4297680"/>
            <a:ext cx="848563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1816" y="4297680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rápido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828032"/>
            <a:ext cx="503057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Acesso por índice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Pela posição da linha: sempre rápido, qualquer que seja o tamanho da tabela.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0148" y="4023360"/>
            <a:ext cx="5432908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1316" y="42245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12857" y="4297680"/>
            <a:ext cx="929030" cy="274320"/>
          </a:xfrm>
          <a:prstGeom prst="roundRect">
            <a:avLst>
              <a:gd name="adj" fmla="val 50000"/>
            </a:avLst>
          </a:prstGeom>
          <a:solidFill>
            <a:srgbClr val="FFF8D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2857" y="4297680"/>
            <a:ext cx="92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depende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11316" y="4828032"/>
            <a:ext cx="503057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Acesso por chave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Pelo conteúdo de colunas. Pode ficar lento em tabelas grandes, por isso o </a:t>
            </a:r>
            <a:r>
              <a:rPr lang="en-US" sz="1200" b="1" dirty="0">
                <a:solidFill>
                  <a:srgbClr val="556B82"/>
                </a:solidFill>
              </a:rPr>
              <a:t>tipo de acesso</a:t>
            </a:r>
            <a:r>
              <a:rPr lang="en-US" sz="1200" dirty="0">
                <a:solidFill>
                  <a:srgbClr val="556B82"/>
                </a:solidFill>
              </a:rPr>
              <a:t> importa.</a:t>
            </a:r>
            <a:endParaRPr lang="en-US" sz="14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4325112"/>
            <a:ext cx="256032" cy="256032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209800"/>
            <a:ext cx="256032" cy="256032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2209800"/>
            <a:ext cx="256032" cy="256032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900" y="4325112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01.06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Declarando tabelas complexas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Toda tabela interna tem um </a:t>
            </a:r>
            <a:r>
              <a:rPr lang="en-US" sz="1600" b="1" dirty="0">
                <a:solidFill>
                  <a:srgbClr val="D1EFFF"/>
                </a:solidFill>
              </a:rPr>
              <a:t>tipo de acesso</a:t>
            </a:r>
            <a:r>
              <a:rPr lang="en-US" sz="1600" dirty="0">
                <a:solidFill>
                  <a:srgbClr val="D1EFFF"/>
                </a:solidFill>
              </a:rPr>
              <a:t> (standard, sorted ou hashed) e uma </a:t>
            </a:r>
            <a:r>
              <a:rPr lang="en-US" sz="1600" b="1" dirty="0">
                <a:solidFill>
                  <a:srgbClr val="D1EFFF"/>
                </a:solidFill>
              </a:rPr>
              <a:t>chave</a:t>
            </a:r>
            <a:r>
              <a:rPr lang="en-US" sz="1600" dirty="0">
                <a:solidFill>
                  <a:srgbClr val="D1EFFF"/>
                </a:solidFill>
              </a:rPr>
              <a:t>, que pode ser única ou não.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</a:t>
            </a:r>
            <a:r>
              <a:rPr lang="en-US" sz="1000" dirty="0">
                <a:solidFill>
                  <a:srgbClr val="D1EFFF"/>
                </a:solidFill>
              </a:rPr>
              <a:t>  sem ordem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r>
              <a:rPr lang="en-US" sz="1000" dirty="0">
                <a:solidFill>
                  <a:srgbClr val="D1EFFF"/>
                </a:solidFill>
              </a:rPr>
              <a:t>  ordenada pela chave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HASHED</a:t>
            </a:r>
            <a:r>
              <a:rPr lang="en-US" sz="1000" dirty="0">
                <a:solidFill>
                  <a:srgbClr val="D1EFFF"/>
                </a:solidFill>
              </a:rPr>
              <a:t>  algoritmo hash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 tt_…</a:t>
            </a:r>
            <a:r>
              <a:rPr lang="en-US" sz="1000" dirty="0">
                <a:solidFill>
                  <a:srgbClr val="D1EFFF"/>
                </a:solidFill>
              </a:rPr>
              <a:t>  tipo de tabela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DECLARAÇÃO · TIPOS DE ACESSO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Standard, sorted e hashed lado a lado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1967290"/>
                <a:gridCol w="2950935"/>
                <a:gridCol w="2950935"/>
                <a:gridCol w="295093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STANDARD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SORTED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HASHED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Armazenamento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Na ordem de inclusão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Sempre ordenada pela chave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Gerida por algoritmo hash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Leitura pela chave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4F00"/>
                          </a:solidFill>
                        </a:rPr>
                        <a:t>Sequencial: lenta em tabelas grandes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Busca binária: rápida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Tempo constante: muito rápida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Acesso por índice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0808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Duplicidades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Sempre permitidas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UNIQUE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ou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NON-UNIQUE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Nunca: chave sempre única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80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480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Regra  </a:t>
            </a:r>
            <a:r>
              <a:rPr lang="en-US" sz="1200" dirty="0">
                <a:solidFill>
                  <a:srgbClr val="1D2D3E"/>
                </a:solidFill>
              </a:rPr>
              <a:t>sorted e hashed só são mais rápidas quando a leitura usa todos os campos da chave (ou, na sorted, o início dela).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608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DECLARAÇÃO · TIPOS DE TABELA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Primeiro o tipo, depois a variável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1975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1975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43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zcl_pc_tabelas_demo.clas.abap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Exemplo sobre ZAVBS_PC_ESTOQUE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zta_pc_item-sku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zta_pc_item-nome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zta_pc_item-categoria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qtde_disponivel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zta_pc_item-qtde_disponivel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tt_itens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st_item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tt_itens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zta_pc_codelist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Tipo da linha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estrutura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st_item</a:t>
            </a:r>
            <a:r>
              <a:rPr lang="en-US" sz="1050" dirty="0">
                <a:solidFill>
                  <a:srgbClr val="556B82"/>
                </a:solidFill>
              </a:rPr>
              <a:t> define as colunas da tabela.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Tipo de tabela nomeado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 tt_…</a:t>
            </a:r>
            <a:r>
              <a:rPr lang="en-US" sz="1050" dirty="0">
                <a:solidFill>
                  <a:srgbClr val="556B82"/>
                </a:solidFill>
              </a:rPr>
              <a:t> reúne tipo de acesso e chave; é o estilo recomendado.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LINE OF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</a:t>
            </a:r>
            <a:r>
              <a:rPr lang="en-US" sz="1050" i="1" dirty="0">
                <a:solidFill>
                  <a:srgbClr val="556B82"/>
                </a:solidFill>
              </a:rPr>
              <a:t>work area</a:t>
            </a:r>
            <a:r>
              <a:rPr lang="en-US" sz="1050" dirty="0">
                <a:solidFill>
                  <a:srgbClr val="556B82"/>
                </a:solidFill>
              </a:rPr>
              <a:t> acompanha a tabela mesmo se a definição mudar.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Tipo global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 vários objetos usam o tipo, crie um </a:t>
            </a:r>
            <a:r>
              <a:rPr lang="en-US" sz="1050" i="1" dirty="0">
                <a:solidFill>
                  <a:srgbClr val="556B82"/>
                </a:solidFill>
              </a:rPr>
              <a:t>table type</a:t>
            </a:r>
            <a:r>
              <a:rPr lang="en-US" sz="1050" dirty="0">
                <a:solidFill>
                  <a:srgbClr val="556B82"/>
                </a:solidFill>
              </a:rPr>
              <a:t> no Dicionário.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01.06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Preenchendo tabelas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Linhas entram uma a uma com </a:t>
            </a:r>
            <a:r>
              <a:rPr lang="en-US" sz="1600" b="1" dirty="0">
                <a:solidFill>
                  <a:srgbClr val="D1EFFF"/>
                </a:solidFill>
              </a:rPr>
              <a:t>INSERT/APPEND</a:t>
            </a:r>
            <a:r>
              <a:rPr lang="en-US" sz="1600" dirty="0">
                <a:solidFill>
                  <a:srgbClr val="D1EFFF"/>
                </a:solidFill>
              </a:rPr>
              <a:t>, várias de uma vez com </a:t>
            </a:r>
            <a:r>
              <a:rPr lang="en-US" sz="1600" b="1" dirty="0">
                <a:solidFill>
                  <a:srgbClr val="D1EFFF"/>
                </a:solidFill>
              </a:rPr>
              <a:t>VALUE</a:t>
            </a:r>
            <a:r>
              <a:rPr lang="en-US" sz="1600" dirty="0">
                <a:solidFill>
                  <a:srgbClr val="D1EFFF"/>
                </a:solidFill>
              </a:rPr>
              <a:t>, ou copiadas de outra tabela com </a:t>
            </a:r>
            <a:r>
              <a:rPr lang="en-US" sz="1600" b="1" dirty="0">
                <a:solidFill>
                  <a:srgbClr val="D1EFFF"/>
                </a:solidFill>
              </a:rPr>
              <a:t>CORRESPONDING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… INTO TABLE</a:t>
            </a:r>
            <a:r>
              <a:rPr lang="en-US" sz="1000" dirty="0">
                <a:solidFill>
                  <a:srgbClr val="D1EFFF"/>
                </a:solidFill>
              </a:rPr>
              <a:t>  qualquer tipo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000" dirty="0">
                <a:solidFill>
                  <a:srgbClr val="D1EFFF"/>
                </a:solidFill>
              </a:rPr>
              <a:t>  no fim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#( ( ) ( ) )</a:t>
            </a:r>
            <a:r>
              <a:rPr lang="en-US" sz="1000" dirty="0">
                <a:solidFill>
                  <a:srgbClr val="D1EFFF"/>
                </a:solidFill>
              </a:rPr>
              <a:t>  várias linhas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 #( )</a:t>
            </a:r>
            <a:r>
              <a:rPr lang="en-US" sz="1000" dirty="0">
                <a:solidFill>
                  <a:srgbClr val="D1EFFF"/>
                </a:solidFill>
              </a:rPr>
              <a:t>  de outra tabela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PREENCHIMENTO · QUATRO FORMAS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work area ao VALUE com várias linhas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1975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1975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43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zcl_pc_tabelas_demo.clas.abap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Exemplo sobre ZAVBS_PC_ESTOQUE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1) com work area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'SKU-ELE-0000000001'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'Fone Bluetooth'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'ELETRONICOS'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qtde_disponivel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2) sem work area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'SKU-INF-0000000002'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'Mouse sem fio'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3) várias linhas de uma vez (apaga o conteúdo anterior)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pedido_itens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'SKU-ELE-0000000001'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'SKU-INF-0000000002'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'SKU-ESC-0000000003'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4) de outra tabela, componente a componente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pedido_itens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… INTO TABLE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Funciona com os três tipos: respeita a ordem da sorted e a chave da hashed.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Inclui no fim; em sorted, só se não quebrar a ordenação.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Parênteses por linha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#( )</a:t>
            </a:r>
            <a:r>
              <a:rPr lang="en-US" sz="1050" dirty="0">
                <a:solidFill>
                  <a:srgbClr val="556B82"/>
                </a:solidFill>
              </a:rPr>
              <a:t>, cada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… )</a:t>
            </a:r>
            <a:r>
              <a:rPr lang="en-US" sz="1050" dirty="0">
                <a:solidFill>
                  <a:srgbClr val="556B82"/>
                </a:solidFill>
              </a:rPr>
              <a:t> é uma linha nova.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Uma linha no destino para cada linha da origem; colunas sem par ficam iniciais.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01.06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Lendo e alterando linhas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Expressões de tabela leem uma linha por chave; </a:t>
            </a:r>
            <a:r>
              <a:rPr lang="en-US" sz="1600" b="1" dirty="0">
                <a:solidFill>
                  <a:srgbClr val="D1EFFF"/>
                </a:solidFill>
              </a:rPr>
              <a:t>LOOP … WHERE</a:t>
            </a:r>
            <a:r>
              <a:rPr lang="en-US" sz="1600" dirty="0">
                <a:solidFill>
                  <a:srgbClr val="D1EFFF"/>
                </a:solidFill>
              </a:rPr>
              <a:t> percorre várias; </a:t>
            </a:r>
            <a:r>
              <a:rPr lang="en-US" sz="1600" b="1" dirty="0">
                <a:solidFill>
                  <a:srgbClr val="D1EFFF"/>
                </a:solidFill>
              </a:rPr>
              <a:t>MODIFY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DELETE</a:t>
            </a:r>
            <a:r>
              <a:rPr lang="en-US" sz="1600" dirty="0">
                <a:solidFill>
                  <a:srgbClr val="D1EFFF"/>
                </a:solidFill>
              </a:rPr>
              <a:t> alteram o conteúdo.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itab[ campo = … ]</a:t>
            </a:r>
            <a:r>
              <a:rPr lang="en-US" sz="1000" dirty="0">
                <a:solidFill>
                  <a:srgbClr val="D1EFFF"/>
                </a:solidFill>
              </a:rPr>
              <a:t>  uma linha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line_exists( )</a:t>
            </a:r>
            <a:r>
              <a:rPr lang="en-US" sz="1000" dirty="0">
                <a:solidFill>
                  <a:srgbClr val="D1EFFF"/>
                </a:solidFill>
              </a:rPr>
              <a:t>  existe?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AT … WHERE</a:t>
            </a:r>
            <a:r>
              <a:rPr lang="en-US" sz="1000" dirty="0">
                <a:solidFill>
                  <a:srgbClr val="D1EFFF"/>
                </a:solidFill>
              </a:rPr>
              <a:t>  várias linhas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 · DELETE · SORT</a:t>
            </a:r>
            <a:r>
              <a:rPr lang="en-US" sz="1000" dirty="0">
                <a:solidFill>
                  <a:srgbClr val="D1EFFF"/>
                </a:solidFill>
              </a:rPr>
              <a:t>  alterar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ACESSO · UMA LINHA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Expressões de tabela com acesso por chave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1975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1975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43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zcl_pc_tabelas_demo.clas.abap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Exemplo sobre ZAVBS_PC_ESTOQUE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'Fone Bluetooth'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'ELETRONICOS'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cx_sy_itab_line_not_found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`Item não encontrado`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line_exists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'INFORMATICA'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`Há itens de informática`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zta_pc_codelist-descricao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'STATUS_PEDIDO'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'XX'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descricao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'desconhecido'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Qualquer coluna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busca pode usar colunas que não são chave; em standard, volta a primeira encontrada.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Linha inexistente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Levanta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CX_SY_ITAB_LINE_NOT_FOUND</a:t>
            </a:r>
            <a:r>
              <a:rPr lang="en-US" sz="1050" dirty="0">
                <a:solidFill>
                  <a:srgbClr val="556B82"/>
                </a:solidFill>
              </a:rPr>
              <a:t>: trate com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… CATCH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line_exists(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Só testa a existência, sem ler a linha.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250" b="1" dirty="0">
                <a:solidFill>
                  <a:srgbClr val="1D2D3E"/>
                </a:solidFill>
              </a:rPr>
              <a:t> ·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Dentro de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556B82"/>
                </a:solidFill>
              </a:rPr>
              <a:t>, devolve um valor padrão em vez da exceção.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ACESSO · VÁRIAS LINHAS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LOOP com WHERE, MODIFY, DELETE e SORT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1975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1975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43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zcl_pc_tabelas_demo.clas.abap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Exemplo sobre ZAVBS_PC_ESTOQUE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qtde_disponivel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|{ i-sku } está acabando|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'STATUS_PEDIDO'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'ABERTO'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texto-descricao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 aberto'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acha a linha pela chave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pedido_itens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FIELD-SYMBOL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to_upper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qtde_disponivel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pedido_itens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DESCENDING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… WHERE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Processa só as linhas que satisfazem a condição (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</a:t>
            </a:r>
            <a:r>
              <a:rPr lang="en-US" sz="1050" dirty="0">
                <a:solidFill>
                  <a:srgbClr val="556B82"/>
                </a:solidFill>
              </a:rPr>
              <a:t>…).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 TABLE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Localiza a linha pelos campos-chave do work area; não altera a chave.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ASSIGNING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Field symbol aponta para a própria linha: alterar é imediato, sem cópia.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250" b="1" dirty="0">
                <a:solidFill>
                  <a:srgbClr val="1D2D3E"/>
                </a:solidFill>
              </a:rPr>
              <a:t> ·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Removem por condição e ordenam por quaisquer colunas;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r>
              <a:rPr lang="en-US" sz="1050" dirty="0">
                <a:solidFill>
                  <a:srgbClr val="556B82"/>
                </a:solidFill>
              </a:rPr>
              <a:t> não vale para tabelas sorted.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01.06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Escolhendo o tipo certo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tipo de acesso é uma decisão de </a:t>
            </a:r>
            <a:r>
              <a:rPr lang="en-US" sz="1600" b="1" dirty="0">
                <a:solidFill>
                  <a:srgbClr val="D1EFFF"/>
                </a:solidFill>
              </a:rPr>
              <a:t>desempenho</a:t>
            </a:r>
            <a:r>
              <a:rPr lang="en-US" sz="1600" dirty="0">
                <a:solidFill>
                  <a:srgbClr val="D1EFFF"/>
                </a:solidFill>
              </a:rPr>
              <a:t>: escolha pelo jeito como a tabela será lida com mais frequência.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</a:t>
            </a:r>
            <a:r>
              <a:rPr lang="en-US" sz="1000" dirty="0">
                <a:solidFill>
                  <a:srgbClr val="D1EFFF"/>
                </a:solidFill>
              </a:rPr>
              <a:t>  índice e loops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r>
              <a:rPr lang="en-US" sz="1000" dirty="0">
                <a:solidFill>
                  <a:srgbClr val="D1EFFF"/>
                </a:solidFill>
              </a:rPr>
              <a:t>  chave parcial ou total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Hashed</a:t>
            </a:r>
            <a:r>
              <a:rPr lang="en-US" sz="1000" dirty="0">
                <a:solidFill>
                  <a:srgbClr val="D1EFFF"/>
                </a:solidFill>
              </a:rPr>
              <a:t>  chave única completa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Chaves secundárias</a:t>
            </a:r>
            <a:r>
              <a:rPr lang="en-US" sz="1000" dirty="0">
                <a:solidFill>
                  <a:srgbClr val="D1EFFF"/>
                </a:solidFill>
              </a:rPr>
              <a:t>  aula 02.05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ESCOLHA · GUIA DE DECISÃO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Qual tipo de tabela usar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37715"/>
            <a:ext cx="3545738" cy="2992882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23888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842387"/>
            <a:ext cx="3143402" cy="207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STANDARD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Preenchida e percorrida inteira com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Acesso principalmente por índice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Tabelas pequenas ou leituras raras por chave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037715"/>
            <a:ext cx="3545738" cy="2992882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23888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2842387"/>
            <a:ext cx="3143402" cy="207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SORTED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Leituras pela chave inteira ou pelo seu início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Precisa dos dados sempre em ordem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… WHERE</a:t>
            </a:r>
            <a:r>
              <a:rPr lang="en-US" sz="1300" dirty="0">
                <a:solidFill>
                  <a:srgbClr val="556B82"/>
                </a:solidFill>
              </a:rPr>
              <a:t> pela chave fica otimizado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037715"/>
            <a:ext cx="3545738" cy="2992882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23888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2842387"/>
            <a:ext cx="3143402" cy="207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HASHED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Muitas leituras pela chave </a:t>
            </a:r>
            <a:r>
              <a:rPr lang="en-US" sz="1300" b="1" dirty="0">
                <a:solidFill>
                  <a:srgbClr val="556B82"/>
                </a:solidFill>
              </a:rPr>
              <a:t>completa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Chave sempre única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Volumes grandes, como buffers de leitura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213477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5213477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E se eu ler por outras colunas?  </a:t>
            </a:r>
            <a:r>
              <a:rPr lang="en-US" sz="1200" dirty="0">
                <a:solidFill>
                  <a:srgbClr val="1D2D3E"/>
                </a:solidFill>
              </a:rPr>
              <a:t>tabelas também podem ter </a:t>
            </a:r>
            <a:r>
              <a:rPr lang="en-US" sz="1200" b="1" dirty="0">
                <a:solidFill>
                  <a:srgbClr val="1D2D3E"/>
                </a:solidFill>
              </a:rPr>
              <a:t>chaves secundárias</a:t>
            </a:r>
            <a:r>
              <a:rPr lang="en-US" sz="1200" dirty="0">
                <a:solidFill>
                  <a:srgbClr val="1D2D3E"/>
                </a:solidFill>
              </a:rPr>
              <a:t>, assunto da aula 02.05.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4730" y="2339467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69" y="2339467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339467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341493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01.06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Tabela </a:t>
            </a:r>
            <a:r>
              <a:rPr lang="en-US" sz="1400" b="1" dirty="0">
                <a:solidFill>
                  <a:srgbClr val="FFFFFF"/>
                </a:solidFill>
              </a:rPr>
              <a:t>complexa</a:t>
            </a:r>
            <a:r>
              <a:rPr lang="en-US" sz="1400" dirty="0">
                <a:solidFill>
                  <a:srgbClr val="FFFFFF"/>
                </a:solidFill>
              </a:rPr>
              <a:t> tem linhas estruturadas: uma coluna por componente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Tipos de acesso </a:t>
            </a:r>
            <a:r>
              <a:rPr lang="en-US" sz="1400" b="1" dirty="0">
                <a:solidFill>
                  <a:srgbClr val="FFFFFF"/>
                </a:solidFill>
              </a:rPr>
              <a:t>STANDARD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SORTED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HASHED</a:t>
            </a:r>
            <a:r>
              <a:rPr lang="en-US" sz="1400" dirty="0">
                <a:solidFill>
                  <a:srgbClr val="FFFFFF"/>
                </a:solidFill>
              </a:rPr>
              <a:t>, com chave única ou não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Declare primeiro o </a:t>
            </a:r>
            <a:r>
              <a:rPr lang="en-US" sz="1400" b="1" dirty="0">
                <a:solidFill>
                  <a:srgbClr val="FFFFFF"/>
                </a:solidFill>
              </a:rPr>
              <a:t>tipo de tabela</a:t>
            </a:r>
            <a:r>
              <a:rPr lang="en-US" sz="1400" dirty="0">
                <a:solidFill>
                  <a:srgbClr val="FFFFFF"/>
                </a:solidFill>
              </a:rPr>
              <a:t>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400" dirty="0">
                <a:solidFill>
                  <a:srgbClr val="FFFFFF"/>
                </a:solidFill>
              </a:rPr>
              <a:t>; a work area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LINE OF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Preencha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… INTO TABLE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#( ( ) ( ) )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 #( 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Leia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itab[ … ]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line_exists( )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… WHERE</a:t>
            </a:r>
            <a:r>
              <a:rPr lang="en-US" sz="1400" dirty="0">
                <a:solidFill>
                  <a:srgbClr val="FFFFFF"/>
                </a:solidFill>
              </a:rPr>
              <a:t>; trate a linha inexistente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Altere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 TABLE</a:t>
            </a:r>
            <a:r>
              <a:rPr lang="en-US" sz="1400" dirty="0">
                <a:solidFill>
                  <a:srgbClr val="FFFFFF"/>
                </a:solidFill>
              </a:rPr>
              <a:t>, field symbols,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… WHERE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01.07  </a:t>
            </a:r>
            <a:r>
              <a:rPr lang="en-US" sz="1500" dirty="0">
                <a:solidFill>
                  <a:srgbClr val="FFFFFF"/>
                </a:solidFill>
              </a:rPr>
              <a:t>Business Objects: EML: ler, criar e alterar via RAP BO.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01.06 Trabalhando com tabelas internas complexas</dc:title>
  <dc:subject>ABAP Moderno – Módulo 01: Fundamentos do ABAP Moderno</dc:subject>
  <dc:creator>Adriano Bispo</dc:creator>
  <cp:lastModifiedBy>Adriano Bispo</cp:lastModifiedBy>
  <cp:revision>1</cp:revision>
  <dcterms:created xsi:type="dcterms:W3CDTF">2026-10-29T13:18:24Z</dcterms:created>
  <dcterms:modified xsi:type="dcterms:W3CDTF">2026-10-29T13:18:24Z</dcterms:modified>
</cp:coreProperties>
</file>