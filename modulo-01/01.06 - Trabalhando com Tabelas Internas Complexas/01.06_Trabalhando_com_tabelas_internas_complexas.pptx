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D3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D3E"/>
                </a:solidFill>
                <a:latin typeface="+mn-lt"/>
              </a:rPr>
              <a:t>Tempo de processamento × volume de dados (n)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O(n)</c:v>
                </c:pt>
              </c:strCache>
            </c:strRef>
          </c:tx>
          <c:spPr>
            <a:solidFill>
              <a:srgbClr val="D20A0A"/>
            </a:solidFill>
            <a:ln w="38100" cap="flat">
              <a:solidFill>
                <a:srgbClr val="D20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0A0A"/>
              </a:solidFill>
              <a:ln w="9525" cap="flat">
                <a:solidFill>
                  <a:srgbClr val="D20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Sorted O(log n)</c:v>
                </c:pt>
              </c:strCache>
            </c:strRef>
          </c:tx>
          <c:spPr>
            <a:solidFill>
              <a:srgbClr val="0070F2"/>
            </a:solidFill>
            <a:ln w="38100" cap="flat">
              <a:solidFill>
                <a:srgbClr val="0070F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70F2"/>
              </a:solidFill>
              <a:ln w="9525" cap="flat">
                <a:solidFill>
                  <a:srgbClr val="0070F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1.5</c:v>
                </c:pt>
                <c:pt idx="2">
                  <c:v>2.377443751081734</c:v>
                </c:pt>
                <c:pt idx="3">
                  <c:v>3</c:v>
                </c:pt>
                <c:pt idx="4">
                  <c:v>3.4828921423310435</c:v>
                </c:pt>
                <c:pt idx="5">
                  <c:v>3.877443751081734</c:v>
                </c:pt>
                <c:pt idx="6">
                  <c:v>4.2110323830864065</c:v>
                </c:pt>
                <c:pt idx="7">
                  <c:v>4.5</c:v>
                </c:pt>
                <c:pt idx="8">
                  <c:v>4.754887502163468</c:v>
                </c:pt>
                <c:pt idx="9">
                  <c:v>4.9828921423310435</c:v>
                </c:pt>
                <c:pt idx="10">
                  <c:v>5.189147427955946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Hashed O(1)</c:v>
                </c:pt>
              </c:strCache>
            </c:strRef>
          </c:tx>
          <c:spPr>
            <a:solidFill>
              <a:srgbClr val="30914C"/>
            </a:solidFill>
            <a:ln w="38100" cap="flat">
              <a:solidFill>
                <a:srgbClr val="3091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0914C"/>
              </a:solidFill>
              <a:ln w="9525" cap="flat">
                <a:solidFill>
                  <a:srgbClr val="3091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0.6</c:v>
                </c:pt>
                <c:pt idx="1">
                  <c:v>0.6</c:v>
                </c:pt>
                <c:pt idx="2">
                  <c:v>0.6</c:v>
                </c:pt>
                <c:pt idx="3">
                  <c:v>0.6</c:v>
                </c:pt>
                <c:pt idx="4">
                  <c:v>0.6</c:v>
                </c:pt>
                <c:pt idx="5">
                  <c:v>0.6</c:v>
                </c:pt>
                <c:pt idx="6">
                  <c:v>0.6</c:v>
                </c:pt>
                <c:pt idx="7">
                  <c:v>0.6</c:v>
                </c:pt>
                <c:pt idx="8">
                  <c:v>0.6</c:v>
                </c:pt>
                <c:pt idx="9">
                  <c:v>0.6</c:v>
                </c:pt>
                <c:pt idx="10">
                  <c:v>0.6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D2D3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01.06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ABAP Moderno: Dominando Tabelas Internas Complexas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Estratégias de performance, sintaxe moderna e otimização com RAP.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… INTO wa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 / SORTED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 TABLE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lt_tab[ key = … 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SECONDARY KEY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Objetivos de Aprendizagem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965960"/>
            <a:ext cx="502920" cy="502920"/>
          </a:xfrm>
          <a:prstGeom prst="ellipse">
            <a:avLst/>
          </a:prstGeom>
          <a:solidFill>
            <a:srgbClr val="F5FA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Distinguir tecnicamente</a:t>
            </a:r>
            <a:r>
              <a:rPr lang="en-US" sz="1700" dirty="0">
                <a:solidFill>
                  <a:srgbClr val="1D2D3E"/>
                </a:solidFill>
              </a:rPr>
              <a:t> entre tabelas Standard, Sorted e Hashed, compreendendo a complexidade algorítmica (Big O Notation).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990088"/>
            <a:ext cx="502920" cy="502920"/>
          </a:xfrm>
          <a:prstGeom prst="ellipse">
            <a:avLst/>
          </a:prstGeom>
          <a:solidFill>
            <a:srgbClr val="F5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45920" y="2898648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Utilizar Expressões de Tabela</a:t>
            </a:r>
            <a:r>
              <a:rPr lang="en-US" sz="1700" dirty="0">
                <a:solidFill>
                  <a:srgbClr val="1D2D3E"/>
                </a:solidFill>
              </a:rPr>
              <a:t> (</a:t>
            </a:r>
            <a:r>
              <a:rPr lang="en-US" sz="17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lt_tab[...]</a:t>
            </a:r>
            <a:r>
              <a:rPr lang="en-US" sz="1700" dirty="0">
                <a:solidFill>
                  <a:srgbClr val="1D2D3E"/>
                </a:solidFill>
              </a:rPr>
              <a:t>) para leituras diretas, encadeamentos e gerenciamento de exceções.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4014216"/>
            <a:ext cx="502920" cy="502920"/>
          </a:xfrm>
          <a:prstGeom prst="ellipse">
            <a:avLst/>
          </a:prstGeom>
          <a:solidFill>
            <a:srgbClr val="F5FAE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45920" y="3922776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Manipular dados</a:t>
            </a:r>
            <a:r>
              <a:rPr lang="en-US" sz="1700" dirty="0">
                <a:solidFill>
                  <a:srgbClr val="1D2D3E"/>
                </a:solidFill>
              </a:rPr>
              <a:t> com agilidade usando o operador construtor </a:t>
            </a:r>
            <a:r>
              <a:rPr lang="en-US" sz="17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700" dirty="0">
                <a:solidFill>
                  <a:srgbClr val="1D2D3E"/>
                </a:solidFill>
              </a:rPr>
              <a:t> e a adição de linhas com </a:t>
            </a:r>
            <a:r>
              <a:rPr lang="en-US" sz="17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7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14400" y="5038344"/>
            <a:ext cx="502920" cy="502920"/>
          </a:xfrm>
          <a:prstGeom prst="ellipse">
            <a:avLst/>
          </a:prstGeom>
          <a:solidFill>
            <a:srgbClr val="F5FA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45920" y="4946904"/>
            <a:ext cx="9631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Implementar Chaves Secundárias</a:t>
            </a:r>
            <a:r>
              <a:rPr lang="en-US" sz="1700" dirty="0">
                <a:solidFill>
                  <a:srgbClr val="1D2D3E"/>
                </a:solidFill>
              </a:rPr>
              <a:t> para otimizar buscas em tabelas sem alterar a estrutura primária.</a:t>
            </a:r>
            <a:endParaRPr lang="en-US" sz="16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099816"/>
            <a:ext cx="283464" cy="283464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123944"/>
            <a:ext cx="283464" cy="283464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075688"/>
            <a:ext cx="283464" cy="283464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5148072"/>
            <a:ext cx="283464" cy="283464"/>
          </a:xfrm>
          <a:prstGeom prst="rect">
            <a:avLst/>
          </a:prstGeom>
        </p:spPr>
      </p:pic>
      <p:sp>
        <p:nvSpPr>
          <p:cNvPr id="16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Impacto da Escolha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Complexidade Algorítmica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No S/4HANA, processar milhões de registros exige a estrutura correta. A escolha errada resulta em </a:t>
            </a:r>
            <a:r>
              <a:rPr lang="en-US" sz="1700" b="1" dirty="0">
                <a:solidFill>
                  <a:srgbClr val="1D2D3E"/>
                </a:solidFill>
              </a:rPr>
              <a:t>Timeouts</a:t>
            </a:r>
            <a:r>
              <a:rPr lang="en-US" sz="17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4D9"/>
                </a:solidFill>
              </a:rPr>
              <a:t>Big O Notation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FFEA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808"/>
                </a:solidFill>
              </a:rPr>
              <a:t>O(n) – Linear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O tempo dobra se o volume de dados dobrar.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EBF8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</a:rPr>
              <a:t>O(log n) – Logarítmico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Extremamente rápido: divide a busca ao meio.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F5FAE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</a:rPr>
              <a:t>O(1) – Constante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D3E"/>
                </a:solidFill>
              </a:rPr>
              <a:t>Tempo de resposta imediato, independente do volume.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5608015" cy="443484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graphicFrame>
        <p:nvGraphicFramePr>
          <p:cNvPr id="13" name="Chart 0" descr=""/>
          <p:cNvGraphicFramePr/>
          <p:nvPr/>
        </p:nvGraphicFramePr>
        <p:xfrm>
          <a:off x="6172200" y="1737360"/>
          <a:ext cx="533369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Standard vs. Sorted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Flexibilidade ou Ordem?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45920" y="18288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2D3E"/>
                </a:solidFill>
              </a:rPr>
              <a:t>Standard Table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O Coringa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58488" y="201168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58488" y="2011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0808"/>
                </a:solidFill>
              </a:rPr>
              <a:t>O(n)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48156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Estrutura:</a:t>
            </a:r>
            <a:r>
              <a:rPr lang="en-US" sz="1600" dirty="0">
                <a:solidFill>
                  <a:srgbClr val="1D2D3E"/>
                </a:solidFill>
              </a:rPr>
              <a:t> array lógico. Ordem de inserção (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600" dirty="0">
                <a:solidFill>
                  <a:srgbClr val="1D2D3E"/>
                </a:solidFill>
              </a:rPr>
              <a:t>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Busca:</a:t>
            </a:r>
            <a:r>
              <a:rPr lang="en-US" sz="1600" dirty="0">
                <a:solidFill>
                  <a:srgbClr val="1D2D3E"/>
                </a:solidFill>
              </a:rPr>
              <a:t> linear O(n). Percorre linha a linha.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Uso ideal:</a:t>
            </a:r>
            <a:r>
              <a:rPr lang="en-US" sz="1600" dirty="0">
                <a:solidFill>
                  <a:srgbClr val="1D2D3E"/>
                </a:solidFill>
              </a:rPr>
              <a:t> listas pequenas (&lt; 100 linhas) ou buffers de inserção sequencial.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1874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76008" y="18288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2D3E"/>
                </a:solidFill>
              </a:rPr>
              <a:t>Sorted Table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Árvore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88575" y="201168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88575" y="20116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4D9"/>
                </a:solidFill>
              </a:rPr>
              <a:t>O(log n)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2834640"/>
            <a:ext cx="48156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Estrutura:</a:t>
            </a:r>
            <a:r>
              <a:rPr lang="en-US" sz="1600" dirty="0">
                <a:solidFill>
                  <a:srgbClr val="1D2D3E"/>
                </a:solidFill>
              </a:rPr>
              <a:t> mantém os dados ordenados automaticamente.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Busca:</a:t>
            </a:r>
            <a:r>
              <a:rPr lang="en-US" sz="1600" dirty="0">
                <a:solidFill>
                  <a:srgbClr val="1D2D3E"/>
                </a:solidFill>
              </a:rPr>
              <a:t> binária O(log n). Divide a tabela para encontrar o valor.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D2D3E"/>
                </a:solidFill>
              </a:rPr>
              <a:t>Trade-off:</a:t>
            </a:r>
            <a:r>
              <a:rPr lang="en-US" sz="1600" dirty="0">
                <a:solidFill>
                  <a:srgbClr val="1D2D3E"/>
                </a:solidFill>
              </a:rPr>
              <a:t> inserção (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600" dirty="0">
                <a:solidFill>
                  <a:srgbClr val="1D2D3E"/>
                </a:solidFill>
              </a:rPr>
              <a:t>) mais lenta que na Standard, pois o sistema precisa calcular a posição correta.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667" y="202813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Hashed Tables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Velocidade Máxima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7273"/>
            </a:avLst>
          </a:prstGeom>
          <a:solidFill>
            <a:srgbClr val="1D2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1600200"/>
            <a:ext cx="90827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3DE"/>
                </a:solidFill>
              </a:rPr>
              <a:t>Acesso direto via algoritmo de hash</a:t>
            </a:r>
            <a:endParaRPr lang="en-US" sz="16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Performance: O(1) — Tempo Constante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DB1FF"/>
                </a:solidFill>
              </a:rPr>
              <a:t>O tempo de resposta é o mesmo para 10 ou 10 milhões de linhas.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3515258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41422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4764024"/>
            <a:ext cx="300319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Regra de Ouro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Exige </a:t>
            </a:r>
            <a:r>
              <a:rPr lang="en-US" sz="1500" b="1" dirty="0">
                <a:solidFill>
                  <a:srgbClr val="556B82"/>
                </a:solidFill>
              </a:rPr>
              <a:t>UNIQUE KEY</a:t>
            </a:r>
            <a:r>
              <a:rPr lang="en-US" sz="1500" dirty="0">
                <a:solidFill>
                  <a:srgbClr val="556B82"/>
                </a:solidFill>
              </a:rPr>
              <a:t>. Não permite chaves duplicadas.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3886200"/>
            <a:ext cx="3515258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4250" y="41422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4250" y="4764024"/>
            <a:ext cx="300319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Restrição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Não acessível por índice numérico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sy-tabix</a:t>
            </a:r>
            <a:r>
              <a:rPr lang="en-US" sz="1500" dirty="0">
                <a:solidFill>
                  <a:srgbClr val="556B82"/>
                </a:solidFill>
              </a:rPr>
              <a:t>), apenas pela chave.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7797" y="3886200"/>
            <a:ext cx="3515258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83829" y="41422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83829" y="4764024"/>
            <a:ext cx="300319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D3E"/>
                </a:solidFill>
              </a:rPr>
              <a:t>Uso Ideal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Caches e tabelas mestras (clientes, materiais) onde o acesso é sempre pelo ID.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48840"/>
            <a:ext cx="914400" cy="914400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251960"/>
            <a:ext cx="237744" cy="237744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3978" y="4251960"/>
            <a:ext cx="237744" cy="237744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3557" y="4251960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Modernizando a Leitura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Expressões de Tabela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81328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82"/>
                </a:solidFill>
              </a:rPr>
              <a:t>Legado (READ TABLE)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815688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724912"/>
            <a:ext cx="43584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Processar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562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11416" y="1856232"/>
            <a:ext cx="415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Moderno (Table Expression)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553048" y="2560320"/>
            <a:ext cx="4815688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81648" y="2724912"/>
            <a:ext cx="43584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ls_flight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lt_flights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3333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80160" y="534924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Sintaxe funcional (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itab[...]</a:t>
            </a:r>
            <a:r>
              <a:rPr lang="en-US" sz="1600" dirty="0">
                <a:solidFill>
                  <a:srgbClr val="1D2D3E"/>
                </a:solidFill>
              </a:rPr>
              <a:t>) que aproxima o ABAP de linguagens como Java ou Python. </a:t>
            </a:r>
            <a:r>
              <a:rPr lang="en-US" sz="1600" b="1" dirty="0">
                <a:solidFill>
                  <a:srgbClr val="1D2D3E"/>
                </a:solidFill>
              </a:rPr>
              <a:t>Adeus,</a:t>
            </a:r>
            <a:r>
              <a:rPr lang="en-US" sz="1600" dirty="0">
                <a:solidFill>
                  <a:srgbClr val="1D2D3E"/>
                </a:solidFill>
              </a:rPr>
              <a:t>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79127"/>
            <a:ext cx="266273" cy="266273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943" y="1979127"/>
            <a:ext cx="266273" cy="266273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58698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Tratamento de Exceções e Encadeamento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00200" y="187452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Exceções (Exceptions)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Diferente do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 = 4</a:t>
            </a:r>
            <a:r>
              <a:rPr lang="en-US" sz="1600" dirty="0">
                <a:solidFill>
                  <a:srgbClr val="1D2D3E"/>
                </a:solidFill>
              </a:rPr>
              <a:t>, a falha na expressão </a:t>
            </a:r>
            <a:r>
              <a:rPr lang="en-US" sz="1600" b="1" dirty="0">
                <a:solidFill>
                  <a:srgbClr val="1D2D3E"/>
                </a:solidFill>
              </a:rPr>
              <a:t>lança uma exceção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65760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382219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cx_sy_itab_line_not_found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Tratar erro (opcional)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30288" y="1874520"/>
            <a:ext cx="4084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D3E"/>
                </a:solidFill>
              </a:rPr>
              <a:t>Encadeamento (Chaining)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2697480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Acesso direto a campos ou sub-tabelas </a:t>
            </a:r>
            <a:r>
              <a:rPr lang="en-US" sz="1600" b="1" dirty="0">
                <a:solidFill>
                  <a:srgbClr val="1D2D3E"/>
                </a:solidFill>
              </a:rPr>
              <a:t>sem Work Area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53048" y="3657600"/>
            <a:ext cx="4815688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81648" y="3822192"/>
            <a:ext cx="43584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Acessa o preço diretamente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lv_price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lt_products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'123'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2017166"/>
            <a:ext cx="309067" cy="309067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Funções Predicativas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Verificações Inteligentes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45920" y="187452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line_exists( … 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4815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Substitui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… TRANSPORTING NO FIELDS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Retorna um booleano. Ideal para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6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4815688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4873752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187452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76008" y="1874520"/>
            <a:ext cx="399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line_index( … )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788920"/>
            <a:ext cx="4815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Retorna o número da linha (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sy-tabix</a:t>
            </a:r>
            <a:r>
              <a:rPr lang="en-US" sz="1600" dirty="0">
                <a:solidFill>
                  <a:srgbClr val="1D2D3E"/>
                </a:solidFill>
              </a:rPr>
              <a:t>) ou 0 se não encontrar.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Acesso direto ao metadado da tabela.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53048" y="4709160"/>
            <a:ext cx="4815688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781648" y="4873752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line_index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lt_tab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028139"/>
            <a:ext cx="332842" cy="33284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667" y="2028139"/>
            <a:ext cx="332842" cy="3328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Operador VALUE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Construção e Carga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005840" cy="502920"/>
          </a:xfrm>
          <a:prstGeom prst="roundRect">
            <a:avLst>
              <a:gd name="adj" fmla="val 14545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USD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554480" y="23042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8640" y="2743200"/>
            <a:ext cx="1005840" cy="502920"/>
          </a:xfrm>
          <a:prstGeom prst="roundRect">
            <a:avLst>
              <a:gd name="adj" fmla="val 14545"/>
            </a:avLst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EUR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554480" y="29900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23160" y="1965960"/>
            <a:ext cx="1737360" cy="21945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60320" y="2103120"/>
            <a:ext cx="1463040" cy="548640"/>
          </a:xfrm>
          <a:prstGeom prst="rect">
            <a:avLst/>
          </a:prstGeom>
          <a:solidFill>
            <a:srgbClr val="F5F6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21031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560320" y="2724912"/>
            <a:ext cx="1463040" cy="548640"/>
          </a:xfrm>
          <a:prstGeom prst="rect">
            <a:avLst/>
          </a:prstGeom>
          <a:solidFill>
            <a:srgbClr val="F5F6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7249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3346704"/>
            <a:ext cx="1463040" cy="548640"/>
          </a:xfrm>
          <a:prstGeom prst="rect">
            <a:avLst/>
          </a:prstGeom>
          <a:solidFill>
            <a:srgbClr val="F5FAE5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97480" y="3346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538728"/>
            <a:ext cx="1005840" cy="502920"/>
          </a:xfrm>
          <a:prstGeom prst="roundRect">
            <a:avLst>
              <a:gd name="adj" fmla="val 14545"/>
            </a:avLst>
          </a:prstGeom>
          <a:solidFill>
            <a:srgbClr val="30914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53872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BRL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554480" y="3794760"/>
            <a:ext cx="1143000" cy="0"/>
          </a:xfrm>
          <a:prstGeom prst="line">
            <a:avLst/>
          </a:prstGeom>
          <a:noFill/>
          <a:ln w="19050">
            <a:solidFill>
              <a:srgbClr val="30914C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423160" y="4251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lt_curr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80560" y="1600200"/>
            <a:ext cx="3444088" cy="4572000"/>
          </a:xfrm>
          <a:prstGeom prst="roundRect">
            <a:avLst>
              <a:gd name="adj" fmla="val 371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754880" y="1828800"/>
            <a:ext cx="289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Inicialização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2377440"/>
            <a:ext cx="289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Criação em massa limpa e visual.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709160" y="3886200"/>
            <a:ext cx="298688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937760" y="4050792"/>
            <a:ext cx="2529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lt_curr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ty_tab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'USD'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'EUR'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198968" y="1600200"/>
            <a:ext cx="3444088" cy="4572000"/>
          </a:xfrm>
          <a:prstGeom prst="roundRect">
            <a:avLst>
              <a:gd name="adj" fmla="val 371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73288" y="1828800"/>
            <a:ext cx="289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56F3A"/>
                </a:solidFill>
              </a:rPr>
              <a:t>O Poder do BASE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473288" y="2377440"/>
            <a:ext cx="289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Sem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500" dirty="0">
                <a:solidFill>
                  <a:srgbClr val="1D2D3E"/>
                </a:solidFill>
              </a:rPr>
              <a:t>, a tabela é limpa antes da inserção. Com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500" dirty="0">
                <a:solidFill>
                  <a:srgbClr val="1D2D3E"/>
                </a:solidFill>
              </a:rPr>
              <a:t>, novas linhas são anexadas preservando o conteúdo existente.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27568" y="3886200"/>
            <a:ext cx="2986888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656168" y="4050792"/>
            <a:ext cx="25296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lt_curr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lt_curr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4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Chaves Secundárias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Otimização Cirúrgica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7373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6B82"/>
                </a:solidFill>
              </a:rPr>
              <a:t>Tabela Principal (Standard)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05840" y="2148840"/>
            <a:ext cx="3840480" cy="256032"/>
          </a:xfrm>
          <a:prstGeom prst="rect">
            <a:avLst/>
          </a:prstGeom>
          <a:solidFill>
            <a:srgbClr val="EEF1F4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73936" y="2148840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42032" y="2148840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10128" y="2148840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78224" y="2148840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404872"/>
            <a:ext cx="3840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3936" y="2404872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42032" y="2404872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2404872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78224" y="2404872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660904"/>
            <a:ext cx="3840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3936" y="2660904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42032" y="2660904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0128" y="2660904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78224" y="2660904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2916936"/>
            <a:ext cx="3840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3936" y="2916936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42032" y="2916936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0128" y="2916936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78224" y="2916936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72968"/>
            <a:ext cx="38404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3936" y="3172968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42032" y="3172968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0128" y="3172968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78224" y="3172968"/>
            <a:ext cx="0" cy="256032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60320" y="3474720"/>
            <a:ext cx="0" cy="320040"/>
          </a:xfrm>
          <a:prstGeom prst="line">
            <a:avLst/>
          </a:prstGeom>
          <a:noFill/>
          <a:ln w="19050">
            <a:solidFill>
              <a:srgbClr val="D20A0A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283464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Busca por campo não-chave: O(n) lento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869680" y="1737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Secondary Key (Index)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326880" y="2148840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400032" y="21488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10/05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326880" y="2404872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400032" y="24048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11/05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0" y="2660904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400032" y="2660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12/05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326880" y="2916936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00032" y="291693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13/05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326880" y="3172968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400032" y="317296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14/05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9326880" y="3429000"/>
            <a:ext cx="1463040" cy="256032"/>
          </a:xfrm>
          <a:prstGeom prst="rect">
            <a:avLst/>
          </a:prstGeom>
          <a:solidFill>
            <a:srgbClr val="EBF8FF"/>
          </a:solidFill>
          <a:ln w="6350">
            <a:solidFill>
              <a:srgbClr val="BDE6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400032" y="342900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15/05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 flipH="1">
            <a:off x="4937760" y="2788920"/>
            <a:ext cx="42976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5212080" y="2423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4D9"/>
                </a:solidFill>
              </a:rPr>
              <a:t>Ponteiro rápido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486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234440" y="4325112"/>
            <a:ext cx="10408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 Problema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Filtrar uma tabela Standard gigante por um campo que </a:t>
            </a:r>
            <a:r>
              <a:rPr lang="en-US" sz="1400" b="1" dirty="0">
                <a:solidFill>
                  <a:srgbClr val="556B82"/>
                </a:solidFill>
              </a:rPr>
              <a:t>não</a:t>
            </a:r>
            <a:r>
              <a:rPr lang="en-US" sz="1400" dirty="0">
                <a:solidFill>
                  <a:srgbClr val="556B82"/>
                </a:solidFill>
              </a:rPr>
              <a:t> é a chave primária (ex.: data de venda) gera uma busca O(n) lenta.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486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234440" y="4965192"/>
            <a:ext cx="10408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 Solução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Criar uma </a:t>
            </a:r>
            <a:r>
              <a:rPr lang="en-US" sz="14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SECONDARY KEY</a:t>
            </a:r>
            <a:r>
              <a:rPr lang="en-US" sz="1400" dirty="0">
                <a:solidFill>
                  <a:srgbClr val="556B82"/>
                </a:solidFill>
              </a:rPr>
              <a:t> (Sorted ou Hashed) na definição da tabela.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548640" y="56235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234440" y="5605272"/>
            <a:ext cx="10408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 Resultado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Transforma a busca linear em </a:t>
            </a:r>
            <a:r>
              <a:rPr lang="en-US" sz="1400" b="1" dirty="0">
                <a:solidFill>
                  <a:srgbClr val="556B82"/>
                </a:solidFill>
              </a:rPr>
              <a:t>O(log n)</a:t>
            </a:r>
            <a:r>
              <a:rPr lang="en-US" sz="1400" dirty="0">
                <a:solidFill>
                  <a:srgbClr val="556B82"/>
                </a:solidFill>
              </a:rPr>
              <a:t> ou </a:t>
            </a:r>
            <a:r>
              <a:rPr lang="en-US" sz="1400" b="1" dirty="0">
                <a:solidFill>
                  <a:srgbClr val="556B82"/>
                </a:solidFill>
              </a:rPr>
              <a:t>O(1)</a:t>
            </a:r>
            <a:r>
              <a:rPr lang="en-US" sz="1400" dirty="0">
                <a:solidFill>
                  <a:srgbClr val="556B82"/>
                </a:solidFill>
              </a:rPr>
              <a:t> sem alterar a estrutura base.</a:t>
            </a:r>
            <a:endParaRPr lang="en-US" sz="1600" dirty="0"/>
          </a:p>
        </p:txBody>
      </p:sp>
      <p:pic>
        <p:nvPicPr>
          <p:cNvPr id="5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3794760"/>
            <a:ext cx="274320" cy="274320"/>
          </a:xfrm>
          <a:prstGeom prst="rect">
            <a:avLst/>
          </a:prstGeom>
        </p:spPr>
      </p:pic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pic>
        <p:nvPicPr>
          <p:cNvPr id="5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53128"/>
            <a:ext cx="237744" cy="237744"/>
          </a:xfrm>
          <a:prstGeom prst="rect">
            <a:avLst/>
          </a:prstGeom>
        </p:spPr>
      </p:pic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733288"/>
            <a:ext cx="237744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Estudo de Caso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Performance na Prática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7406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Definição da tabela com chave secundária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ty_prod_hashed_table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HASHED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ty_product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NON-UNIQUE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sk_cat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Ação: busca por 'Categoria' (não é a chave primária)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 uso de USING KEY ativa a busca binária O(log n)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lt_products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ls_prod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sk_cat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'HW'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|Produto: { ls_prod-name }|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3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0" y="1600200"/>
            <a:ext cx="2956255" cy="1371600"/>
          </a:xfrm>
          <a:prstGeom prst="roundRect">
            <a:avLst>
              <a:gd name="adj" fmla="val 8000"/>
            </a:avLst>
          </a:prstGeom>
          <a:solidFill>
            <a:srgbClr val="EBF8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0" y="1600200"/>
            <a:ext cx="1950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Cenário:</a:t>
            </a:r>
            <a:r>
              <a:rPr lang="en-US" sz="1500" dirty="0">
                <a:solidFill>
                  <a:srgbClr val="1D2D3E"/>
                </a:solidFill>
              </a:rPr>
              <a:t> tabela Hashed por ID, mas a busca é por Categoria.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FF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80160" y="53949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Sem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KEY</a:t>
            </a:r>
            <a:r>
              <a:rPr lang="en-US" sz="1600" dirty="0">
                <a:solidFill>
                  <a:srgbClr val="1D2D3E"/>
                </a:solidFill>
              </a:rPr>
              <a:t>, esta operação forçaria um loop </a:t>
            </a:r>
            <a:r>
              <a:rPr lang="en-US" sz="1600" b="1" dirty="0">
                <a:solidFill>
                  <a:srgbClr val="1D2D3E"/>
                </a:solidFill>
              </a:rPr>
              <a:t>linear</a:t>
            </a:r>
            <a:r>
              <a:rPr lang="en-US" sz="1600" dirty="0">
                <a:solidFill>
                  <a:srgbClr val="1D2D3E"/>
                </a:solidFill>
              </a:rPr>
              <a:t> lento em uma tabela Hashed.</a:t>
            </a:r>
            <a:endParaRPr lang="en-US" sz="16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112264"/>
            <a:ext cx="347472" cy="347472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098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Pontos de Atenção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Legado vs. Moderno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42232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Operação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Legado (Antigo)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Moderno (Novo)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Ler Linha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TABLE ... INTO wa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wa = tab[ ... 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Verificar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TRANSPORTING NO FIELDS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line_exists( ... 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Obter Índice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</a:rPr>
                        <a:t>Verificar </a:t>
                      </a: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sy-tabix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line_index( ... 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Adicionar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 ... BASE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Performance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LOOP</a:t>
                      </a:r>
                      <a:r>
                        <a:rPr lang="en-US" sz="1600" dirty="0">
                          <a:solidFill>
                            <a:srgbClr val="AA0808"/>
                          </a:solidFill>
                        </a:rPr>
                        <a:t> simples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LOOP ... USING KEY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5FAE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280160" y="5623560"/>
            <a:ext cx="10088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Código limpo e performático é o novo padrão.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72414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Glossário Técnico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Standard Table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Acesso não otimizado (linear O(n)). Ideal para índices/buffers.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94250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4250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Hashed Table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Acesso otimizado por hash (constante O(1)). Chave única obrigatória.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383829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83829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Sorted Table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Mantida ordenada (binária O(log n)). Boa para leitura, lenta na inserção.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Secondary Key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Índice adicional para buscas rápidas em campos não-chave.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94250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4250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Big O Notation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Medida de eficiência: O(1) &gt; O(log n) &gt; O(n).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83829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83829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Table Expression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Sintaxe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itab[...]</a:t>
            </a:r>
            <a:r>
              <a:rPr lang="en-US" sz="1500" dirty="0">
                <a:solidFill>
                  <a:srgbClr val="556B82"/>
                </a:solidFill>
              </a:rPr>
              <a:t>. Leitura direta e funcional.</a:t>
            </a:r>
            <a:endParaRPr lang="en-US" sz="1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3006" y="1954987"/>
            <a:ext cx="213970" cy="213970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" y="1954987"/>
            <a:ext cx="213970" cy="213970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4378147"/>
            <a:ext cx="213970" cy="213970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2584" y="1954987"/>
            <a:ext cx="213970" cy="213970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3006" y="4378147"/>
            <a:ext cx="213970" cy="21397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2584" y="4378147"/>
            <a:ext cx="213970" cy="213970"/>
          </a:xfrm>
          <a:prstGeom prst="rect">
            <a:avLst/>
          </a:prstGeom>
        </p:spPr>
      </p:pic>
      <p:sp>
        <p:nvSpPr>
          <p:cNvPr id="2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Quiz de Fixação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70F2"/>
                </a:solidFill>
              </a:rPr>
              <a:t>Q1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56032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Qual tabela garante acesso </a:t>
            </a:r>
            <a:r>
              <a:rPr lang="en-US" sz="18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800" dirty="0">
                <a:solidFill>
                  <a:srgbClr val="1D2D3E"/>
                </a:solidFill>
              </a:rPr>
              <a:t>, mas exige chave única?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53048" y="1783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70F2"/>
                </a:solidFill>
              </a:rPr>
              <a:t>Q2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553048" y="256032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Qual exceção ocorre se </a:t>
            </a:r>
            <a:r>
              <a:rPr lang="en-US" sz="18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itab[...]</a:t>
            </a:r>
            <a:r>
              <a:rPr lang="en-US" sz="1800" dirty="0">
                <a:solidFill>
                  <a:srgbClr val="1D2D3E"/>
                </a:solidFill>
              </a:rPr>
              <a:t> falhar na busca?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114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70F2"/>
                </a:solidFill>
              </a:rPr>
              <a:t>Q3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89204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Como otimizar o filtro por campo não-chave em tabela </a:t>
            </a:r>
            <a:r>
              <a:rPr lang="en-US" sz="18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</a:t>
            </a:r>
            <a:r>
              <a:rPr lang="en-US" sz="1800" dirty="0">
                <a:solidFill>
                  <a:srgbClr val="1D2D3E"/>
                </a:solidFill>
              </a:rPr>
              <a:t>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53048" y="4114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70F2"/>
                </a:solidFill>
              </a:rPr>
              <a:t>Q4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4892040"/>
            <a:ext cx="47699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Qual o ‘trade-off’ (custo) da tabela </a:t>
            </a:r>
            <a:r>
              <a:rPr lang="en-US" sz="18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</a:t>
            </a:r>
            <a:r>
              <a:rPr lang="en-US" sz="1800" dirty="0">
                <a:solidFill>
                  <a:srgbClr val="1D2D3E"/>
                </a:solidFill>
              </a:rPr>
              <a:t> no </a:t>
            </a:r>
            <a:r>
              <a:rPr lang="en-US" sz="18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800" dirty="0">
                <a:solidFill>
                  <a:srgbClr val="1D2D3E"/>
                </a:solidFill>
              </a:rPr>
              <a:t>?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Performance e Escalabilidade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</a:rPr>
              <a:t>Código limpo não é apenas estética.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DB1FF"/>
                </a:solidFill>
              </a:rPr>
              <a:t>É performance e escalabilidade.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3DE"/>
                </a:solidFill>
              </a:rPr>
              <a:t>Revise seus códigos antigos. Substitua </a:t>
            </a:r>
            <a:r>
              <a:rPr lang="en-US" sz="2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</a:t>
            </a:r>
            <a:r>
              <a:rPr lang="en-US" sz="2000" dirty="0">
                <a:solidFill>
                  <a:srgbClr val="C9D3DE"/>
                </a:solidFill>
              </a:rPr>
              <a:t> por expressões modernas e implemente chaves secundárias onde a performance for crítica.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ABAP Moderno: Dominando Tabelas Internas Complexas</dc:title>
  <dc:subject>ABAP Moderno – Módulo 01</dc:subject>
  <dc:creator>Adriano Bispo</dc:creator>
  <cp:lastModifiedBy>Adriano Bispo</cp:lastModifiedBy>
  <cp:revision>1</cp:revision>
  <dcterms:created xsi:type="dcterms:W3CDTF">2026-10-25T03:43:03Z</dcterms:created>
  <dcterms:modified xsi:type="dcterms:W3CDTF">2026-10-25T03:43:03Z</dcterms:modified>
</cp:coreProperties>
</file>