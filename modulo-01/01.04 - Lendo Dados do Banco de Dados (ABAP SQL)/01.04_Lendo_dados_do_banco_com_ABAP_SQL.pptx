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01  ·  01.04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01  ·  01.04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01  ·  01.04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01  ·  01.04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Lendo Dados do Banco de Dados (ABAP SQL)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Programação ABAP Básica: sintaxe moderna e melhores práticas.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…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a, b, 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@lv_host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@DATA(lt_result)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 / sy-dbcnt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Objetivos de Aprendizagem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15819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Sintaxe Robusta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Escrever comandos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500" dirty="0">
                <a:solidFill>
                  <a:srgbClr val="556B82"/>
                </a:solidFill>
              </a:rPr>
              <a:t> utilizando a sintaxe moderna (Strict Mode).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4963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Host Variables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Compreender o uso do caractere de escape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500" dirty="0">
                <a:solidFill>
                  <a:srgbClr val="556B82"/>
                </a:solidFill>
              </a:rPr>
              <a:t> para diferenciar variáveis ABAP de colunas SQL.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34107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Declarações Inline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Utilizar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</a:t>
            </a:r>
            <a:r>
              <a:rPr lang="en-US" sz="1500" dirty="0">
                <a:solidFill>
                  <a:srgbClr val="556B82"/>
                </a:solidFill>
              </a:rPr>
              <a:t> para criação automática de tabelas e estruturas.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43251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Filtros e Ordenação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Aplicar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rgbClr val="556B82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500" dirty="0">
                <a:solidFill>
                  <a:srgbClr val="556B82"/>
                </a:solidFill>
              </a:rPr>
              <a:t> e limitação de linhas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TO n ROWS</a:t>
            </a:r>
            <a:r>
              <a:rPr lang="en-US" sz="1500" dirty="0">
                <a:solidFill>
                  <a:srgbClr val="556B82"/>
                </a:solidFill>
              </a:rPr>
              <a:t>) com eficiência.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52395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Leitura de Dados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Diferenciar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SINGLE</a:t>
            </a:r>
            <a:r>
              <a:rPr lang="en-US" sz="1500" dirty="0">
                <a:solidFill>
                  <a:srgbClr val="556B82"/>
                </a:solidFill>
              </a:rPr>
              <a:t> vs.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TO 1 ROWS</a:t>
            </a:r>
            <a:r>
              <a:rPr lang="en-US" sz="1500" dirty="0">
                <a:solidFill>
                  <a:srgbClr val="556B82"/>
                </a:solidFill>
              </a:rPr>
              <a:t> e monitorar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731874"/>
            <a:ext cx="285293" cy="28529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646274"/>
            <a:ext cx="285293" cy="285293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560674"/>
            <a:ext cx="285293" cy="285293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4475074"/>
            <a:ext cx="285293" cy="285293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389474"/>
            <a:ext cx="285293" cy="285293"/>
          </a:xfrm>
          <a:prstGeom prst="rect">
            <a:avLst/>
          </a:prstGeom>
        </p:spPr>
      </p:pic>
      <p:sp>
        <p:nvSpPr>
          <p:cNvPr id="1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Evolução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Do ‘Open SQL’ ao ABAP SQL Moderno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56B82"/>
                </a:solidFill>
              </a:rPr>
              <a:t>O Passado  </a:t>
            </a:r>
            <a:r>
              <a:rPr lang="en-US" sz="1500" dirty="0">
                <a:solidFill>
                  <a:srgbClr val="556B82"/>
                </a:solidFill>
              </a:rPr>
              <a:t>Open SQL Clássico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377440"/>
            <a:ext cx="164592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237744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App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08760" y="3154680"/>
            <a:ext cx="548640" cy="960120"/>
          </a:xfrm>
          <a:prstGeom prst="upArrow">
            <a:avLst/>
          </a:prstGeom>
          <a:solidFill>
            <a:srgbClr val="8396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30552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Dados Brutos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4206240"/>
            <a:ext cx="1645920" cy="685800"/>
          </a:xfrm>
          <a:prstGeom prst="roundRect">
            <a:avLst>
              <a:gd name="adj" fmla="val 16000"/>
            </a:avLst>
          </a:prstGeom>
          <a:solidFill>
            <a:srgbClr val="EEF1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42062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Database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209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Dados ao código:</a:t>
            </a:r>
            <a:r>
              <a:rPr lang="en-US" sz="1500" dirty="0">
                <a:solidFill>
                  <a:srgbClr val="1D2D3E"/>
                </a:solidFill>
              </a:rPr>
              <a:t> tráfego pesado, processamento na aplicação.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8728" y="1600200"/>
            <a:ext cx="5364328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53048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O Futuro  </a:t>
            </a:r>
            <a:r>
              <a:rPr lang="en-US" sz="1500" dirty="0">
                <a:solidFill>
                  <a:srgbClr val="556B82"/>
                </a:solidFill>
              </a:rPr>
              <a:t>ABAP SQL Moderno / HANA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90208" y="2377440"/>
            <a:ext cx="164592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38848" y="237744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App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38848" y="3154680"/>
            <a:ext cx="548640" cy="685800"/>
          </a:xfrm>
          <a:prstGeom prst="upArrow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0640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Resultados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90208" y="4206240"/>
            <a:ext cx="1645920" cy="685800"/>
          </a:xfrm>
          <a:prstGeom prst="roundRect">
            <a:avLst>
              <a:gd name="adj" fmla="val 16000"/>
            </a:avLst>
          </a:prstGeom>
          <a:solidFill>
            <a:srgbClr val="1D2D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38848" y="42062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(HANA)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204808" y="2514600"/>
            <a:ext cx="2209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Code Pushdown:</a:t>
            </a:r>
            <a:r>
              <a:rPr lang="en-US" sz="1500" dirty="0">
                <a:solidFill>
                  <a:srgbClr val="1D2D3E"/>
                </a:solidFill>
              </a:rPr>
              <a:t> a lógica é ‘empurrada’ para o banco. Retorna apenas o necessário.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80160" y="54864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A Mudança de Paradigma:</a:t>
            </a:r>
            <a:r>
              <a:rPr lang="en-US" sz="1600" dirty="0">
                <a:solidFill>
                  <a:srgbClr val="1D2D3E"/>
                </a:solidFill>
              </a:rPr>
              <a:t> com a chegada do SAP HANA e do ABAP 7.40+, o foco mudou para </a:t>
            </a:r>
            <a:r>
              <a:rPr lang="en-US" sz="1600" b="1" dirty="0">
                <a:solidFill>
                  <a:srgbClr val="1D2D3E"/>
                </a:solidFill>
              </a:rPr>
              <a:t>Code Pushdown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560320"/>
            <a:ext cx="320040" cy="32004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389120"/>
            <a:ext cx="320040" cy="32004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800" y="2560320"/>
            <a:ext cx="320040" cy="32004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55564"/>
            <a:ext cx="347472" cy="347472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800" y="4389120"/>
            <a:ext cx="320040" cy="320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‘Strict Mode’ (Modo Estrito)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B82"/>
                </a:solidFill>
              </a:rPr>
              <a:t>Regras ativadas automaticamente pelo compilador ao usar a sintaxe moderna.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1525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9631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392424"/>
            <a:ext cx="300319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1. Vírgulas Obrigatórias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Ao contrário do estilo antigo (espaços), os campos devem ser separados por vírgula na lista de seleção.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2240280"/>
            <a:ext cx="351525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4250" y="249631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4250" y="3392424"/>
            <a:ext cx="300319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2. INTO no Final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A cláusula de destino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500" dirty="0">
                <a:solidFill>
                  <a:srgbClr val="556B82"/>
                </a:solidFill>
              </a:rPr>
              <a:t>) deve vir após as cláusulas de seleção, filtro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rgbClr val="556B82"/>
                </a:solidFill>
              </a:rPr>
              <a:t>) e ordenação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5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2240280"/>
            <a:ext cx="351525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3829" y="249631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3392424"/>
            <a:ext cx="300319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3. Escape (@) Obrigatório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Toda variável do programa ABAP usada na query deve ter o prefixo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500" dirty="0">
                <a:solidFill>
                  <a:srgbClr val="556B82"/>
                </a:solidFill>
              </a:rPr>
              <a:t> para diferenciá-la das colunas.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2671877"/>
            <a:ext cx="380390" cy="38039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815" y="2671877"/>
            <a:ext cx="380390" cy="38039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394" y="2671877"/>
            <a:ext cx="380390" cy="380390"/>
          </a:xfrm>
          <a:prstGeom prst="rect">
            <a:avLst/>
          </a:prstGeom>
        </p:spPr>
      </p:pic>
      <p:sp>
        <p:nvSpPr>
          <p:cNvPr id="1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Anatomia do SELECT Moderno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76656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64792"/>
            <a:ext cx="63093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</a:t>
            </a: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&lt;- 1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departure_airport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&lt;- 2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@lv_airline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&lt;- 3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DESCENDING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lt_flights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1600200"/>
            <a:ext cx="4053535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54112" y="17785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54112" y="1778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600200"/>
            <a:ext cx="3276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Lista de colunas</a:t>
            </a:r>
            <a:r>
              <a:rPr lang="en-US" sz="1400" dirty="0">
                <a:solidFill>
                  <a:srgbClr val="1D2D3E"/>
                </a:solidFill>
              </a:rPr>
              <a:t> (vírgulas obrigatórias).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2450592"/>
            <a:ext cx="4053535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2628900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54112" y="2628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450592"/>
            <a:ext cx="3276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ALIAS:</a:t>
            </a:r>
            <a:r>
              <a:rPr lang="en-US" sz="1400" dirty="0">
                <a:solidFill>
                  <a:srgbClr val="1D2D3E"/>
                </a:solidFill>
              </a:rPr>
              <a:t> renomeação na projeção.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3300984"/>
            <a:ext cx="4053535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54112" y="3479292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54112" y="34792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300984"/>
            <a:ext cx="3276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Host Variable</a:t>
            </a:r>
            <a:r>
              <a:rPr lang="en-US" sz="1400" dirty="0">
                <a:solidFill>
                  <a:srgbClr val="1D2D3E"/>
                </a:solidFill>
              </a:rPr>
              <a:t> usada como filtro.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89520" y="4151376"/>
            <a:ext cx="4053535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4112" y="4329684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54112" y="4329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3276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Destino no final</a:t>
            </a:r>
            <a:r>
              <a:rPr lang="en-US" sz="1400" dirty="0">
                <a:solidFill>
                  <a:srgbClr val="1D2D3E"/>
                </a:solidFill>
              </a:rPr>
              <a:t> + declaração inline.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889699" cy="914400"/>
          </a:xfrm>
          <a:prstGeom prst="roundRect">
            <a:avLst>
              <a:gd name="adj" fmla="val 14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5193792"/>
            <a:ext cx="170681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FROM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 onde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11491" y="544068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24" name="Shape 22"/>
          <p:cNvSpPr/>
          <p:nvPr/>
        </p:nvSpPr>
        <p:spPr>
          <a:xfrm>
            <a:off x="2849819" y="5120640"/>
            <a:ext cx="1889699" cy="914400"/>
          </a:xfrm>
          <a:prstGeom prst="roundRect">
            <a:avLst>
              <a:gd name="adj" fmla="val 14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941259" y="5193792"/>
            <a:ext cx="170681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FIELDS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quê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12670" y="544068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27" name="Shape 25"/>
          <p:cNvSpPr/>
          <p:nvPr/>
        </p:nvSpPr>
        <p:spPr>
          <a:xfrm>
            <a:off x="5150998" y="5120640"/>
            <a:ext cx="1889699" cy="914400"/>
          </a:xfrm>
          <a:prstGeom prst="roundRect">
            <a:avLst>
              <a:gd name="adj" fmla="val 14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242438" y="5193792"/>
            <a:ext cx="170681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WHERE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Filtro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13849" y="544068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30" name="Shape 28"/>
          <p:cNvSpPr/>
          <p:nvPr/>
        </p:nvSpPr>
        <p:spPr>
          <a:xfrm>
            <a:off x="7452177" y="5120640"/>
            <a:ext cx="1889699" cy="914400"/>
          </a:xfrm>
          <a:prstGeom prst="roundRect">
            <a:avLst>
              <a:gd name="adj" fmla="val 14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543617" y="5193792"/>
            <a:ext cx="170681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ORDER BY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Ordem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15028" y="544068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33" name="Shape 31"/>
          <p:cNvSpPr/>
          <p:nvPr/>
        </p:nvSpPr>
        <p:spPr>
          <a:xfrm>
            <a:off x="9753356" y="5120640"/>
            <a:ext cx="1889699" cy="914400"/>
          </a:xfrm>
          <a:prstGeom prst="roundRect">
            <a:avLst>
              <a:gd name="adj" fmla="val 14000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844796" y="5193792"/>
            <a:ext cx="170681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INTO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Destino</a:t>
            </a:r>
            <a:endParaRPr lang="en-US" sz="1600" dirty="0"/>
          </a:p>
        </p:txBody>
      </p:sp>
      <p:sp>
        <p:nvSpPr>
          <p:cNvPr id="3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Lendo uma Única Linha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Precisão vs. Amostragem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364328" cy="731520"/>
          </a:xfrm>
          <a:prstGeom prst="roundRect">
            <a:avLst>
              <a:gd name="adj" fmla="val 17500"/>
            </a:avLst>
          </a:prstGeom>
          <a:solidFill>
            <a:srgbClr val="0070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5364328" cy="274320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SINGLE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2560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00200" y="25603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Leitura por Chave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91840"/>
            <a:ext cx="4724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Uso:</a:t>
            </a:r>
            <a:r>
              <a:rPr lang="en-US" sz="1600" dirty="0">
                <a:solidFill>
                  <a:srgbClr val="1D2D3E"/>
                </a:solidFill>
              </a:rPr>
              <a:t> quando se tem a chave primária completa.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Objetivo:</a:t>
            </a:r>
            <a:r>
              <a:rPr lang="en-US" sz="1600" dirty="0">
                <a:solidFill>
                  <a:srgbClr val="1D2D3E"/>
                </a:solidFill>
              </a:rPr>
              <a:t> validar existência ou ler atributos específicos.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4892040"/>
            <a:ext cx="4724248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97280" y="5056632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'AA'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'0017'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8728" y="1600200"/>
            <a:ext cx="5364328" cy="731520"/>
          </a:xfrm>
          <a:prstGeom prst="roundRect">
            <a:avLst>
              <a:gd name="adj" fmla="val 17500"/>
            </a:avLst>
          </a:prstGeom>
          <a:solidFill>
            <a:srgbClr val="6A7B8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8728" y="2057400"/>
            <a:ext cx="5364328" cy="274320"/>
          </a:xfrm>
          <a:prstGeom prst="rect">
            <a:avLst/>
          </a:prstGeom>
          <a:solidFill>
            <a:srgbClr val="6A7B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78728" y="1600200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TO 1 ROWS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98768" y="2560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30288" y="25603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Amostragem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98768" y="3291840"/>
            <a:ext cx="4724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Uso:</a:t>
            </a:r>
            <a:r>
              <a:rPr lang="en-US" sz="1600" dirty="0">
                <a:solidFill>
                  <a:srgbClr val="1D2D3E"/>
                </a:solidFill>
              </a:rPr>
              <a:t> quando </a:t>
            </a:r>
            <a:r>
              <a:rPr lang="en-US" sz="1600" b="1" dirty="0">
                <a:solidFill>
                  <a:srgbClr val="1D2D3E"/>
                </a:solidFill>
              </a:rPr>
              <a:t>não</a:t>
            </a:r>
            <a:r>
              <a:rPr lang="en-US" sz="1600" dirty="0">
                <a:solidFill>
                  <a:srgbClr val="1D2D3E"/>
                </a:solidFill>
              </a:rPr>
              <a:t> se tem a chave completa.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Objetivo:</a:t>
            </a:r>
            <a:r>
              <a:rPr lang="en-US" sz="1600" dirty="0">
                <a:solidFill>
                  <a:srgbClr val="1D2D3E"/>
                </a:solidFill>
              </a:rPr>
              <a:t> buscar ‘o primeiro encontrado’ ou o mais recente/antigo.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98768" y="4892040"/>
            <a:ext cx="4724248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27368" y="5056632"/>
            <a:ext cx="426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ASCENDING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endParaRPr lang="en-US" sz="1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691994"/>
            <a:ext cx="285293" cy="285293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41" y="269199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Poder do ‘@’ (Host Variables)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691640"/>
            <a:ext cx="3017520" cy="1920240"/>
          </a:xfrm>
          <a:prstGeom prst="roundRect">
            <a:avLst>
              <a:gd name="adj" fmla="val 9524"/>
            </a:avLst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657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Banco de Dados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Colunas SQL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74152" y="1691640"/>
            <a:ext cx="301752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D2D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74152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lv_airline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lv_id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lt_flights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74152" y="3657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Programa ABAP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Memória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2651760"/>
            <a:ext cx="3776472" cy="0"/>
          </a:xfrm>
          <a:prstGeom prst="line">
            <a:avLst/>
          </a:prstGeom>
          <a:noFill/>
          <a:ln w="50800">
            <a:solidFill>
              <a:srgbClr val="0070F2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47208" y="2103120"/>
            <a:ext cx="1097280" cy="1097280"/>
          </a:xfrm>
          <a:prstGeom prst="ellipse">
            <a:avLst/>
          </a:prstGeom>
          <a:solidFill>
            <a:srgbClr val="0070F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47208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@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4325112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 Distinção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parser SQL precisa diferenciar colunas da tabela de variáveis na memória.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5193792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Segurança &amp; Performance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400" dirty="0">
                <a:solidFill>
                  <a:srgbClr val="556B82"/>
                </a:solidFill>
              </a:rPr>
              <a:t> evita ambiguidades e permite que o banco reaproveite o plano de execução.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8080" y="4343400"/>
            <a:ext cx="4144975" cy="777240"/>
          </a:xfrm>
          <a:prstGeom prst="roundRect">
            <a:avLst>
              <a:gd name="adj" fmla="val 14118"/>
            </a:avLst>
          </a:prstGeom>
          <a:solidFill>
            <a:srgbClr val="F5FA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4343400"/>
            <a:ext cx="3322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carrier_id = @lv_id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5257800"/>
            <a:ext cx="4144975" cy="868680"/>
          </a:xfrm>
          <a:prstGeom prst="roundRect">
            <a:avLst>
              <a:gd name="adj" fmla="val 12632"/>
            </a:avLst>
          </a:prstGeom>
          <a:solidFill>
            <a:srgbClr val="FFEA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5257800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carrier_id = lv_id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A0808"/>
                </a:solidFill>
              </a:rPr>
              <a:t>Erro de sintaxe no Strict Mode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74520"/>
            <a:ext cx="365760" cy="36576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874520"/>
            <a:ext cx="365760" cy="36576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453128"/>
            <a:ext cx="237744" cy="237744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321808"/>
            <a:ext cx="237744" cy="237744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544568"/>
            <a:ext cx="365760" cy="365760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5504688"/>
            <a:ext cx="365760" cy="365760"/>
          </a:xfrm>
          <a:prstGeom prst="rect">
            <a:avLst/>
          </a:prstGeom>
        </p:spPr>
      </p:pic>
      <p:sp>
        <p:nvSpPr>
          <p:cNvPr id="2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Painel de Controle (Variáveis de Sistema)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54480" y="18288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2000" dirty="0">
                <a:solidFill>
                  <a:srgbClr val="556B82"/>
                </a:solidFill>
              </a:rPr>
              <a:t>  (Return Code)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685800" cy="685800"/>
          </a:xfrm>
          <a:prstGeom prst="ellipse">
            <a:avLst/>
          </a:prstGeom>
          <a:solidFill>
            <a:srgbClr val="3091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651760"/>
            <a:ext cx="380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Sucesso (dados encontrados)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520440"/>
            <a:ext cx="685800" cy="685800"/>
          </a:xfrm>
          <a:prstGeom prst="ellipse">
            <a:avLst/>
          </a:prstGeom>
          <a:solidFill>
            <a:srgbClr val="E765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520440"/>
            <a:ext cx="380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Aviso (nenhum dado atende ao filtro)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389120"/>
            <a:ext cx="685800" cy="685800"/>
          </a:xfrm>
          <a:prstGeom prst="ellipse">
            <a:avLst/>
          </a:prstGeom>
          <a:solidFill>
            <a:srgbClr val="D2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389120"/>
            <a:ext cx="380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Erro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34924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6B82"/>
                </a:solidFill>
              </a:rPr>
              <a:t>Dica:</a:t>
            </a:r>
            <a:r>
              <a:rPr lang="en-US" sz="1500" dirty="0">
                <a:solidFill>
                  <a:srgbClr val="556B82"/>
                </a:solidFill>
              </a:rPr>
              <a:t> verificar imediatamente após 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3048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84568" y="18288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sy-dbcnt</a:t>
            </a:r>
            <a:r>
              <a:rPr lang="en-US" sz="2000" dirty="0">
                <a:solidFill>
                  <a:srgbClr val="556B82"/>
                </a:solidFill>
              </a:rPr>
              <a:t>  (Database Count)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772171" y="2651760"/>
            <a:ext cx="2377440" cy="1097280"/>
          </a:xfrm>
          <a:prstGeom prst="roundRect">
            <a:avLst>
              <a:gd name="adj" fmla="val 11667"/>
            </a:avLst>
          </a:prstGeom>
          <a:solidFill>
            <a:srgbClr val="1D2D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171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4023360"/>
            <a:ext cx="4632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Contém o número de linhas processadas.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Fundamental para validação de volume e relatórios.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Se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 = 0</a:t>
            </a:r>
            <a:r>
              <a:rPr lang="en-US" sz="1500" dirty="0">
                <a:solidFill>
                  <a:srgbClr val="1D2D3E"/>
                </a:solidFill>
              </a:rPr>
              <a:t>, mostra quantos registros retornaram.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721" y="1960474"/>
            <a:ext cx="285293" cy="285293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1960474"/>
            <a:ext cx="285293" cy="285293"/>
          </a:xfrm>
          <a:prstGeom prst="rect">
            <a:avLst/>
          </a:prstGeom>
        </p:spPr>
      </p:pic>
      <p:sp>
        <p:nvSpPr>
          <p:cNvPr id="24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Exemplo Prático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Code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22376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6766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1. Preparação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lv_carrier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'UA'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lv_min_dist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2. Consulta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distance_unit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@lv_carrier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@lv_min_dist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DESCENDING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lt_results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3. Validação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|Encontrados: { sy-dbcnt }|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'Nenhum voo encontrado.'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0" y="1783080"/>
            <a:ext cx="3596335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11312" y="21442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11312" y="2144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0" y="1783080"/>
            <a:ext cx="2819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Preparação:</a:t>
            </a:r>
            <a:r>
              <a:rPr lang="en-US" sz="1500" dirty="0">
                <a:solidFill>
                  <a:srgbClr val="1D2D3E"/>
                </a:solidFill>
              </a:rPr>
              <a:t> definição das variáveis de filtro.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3246120"/>
            <a:ext cx="3596335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11312" y="36073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11312" y="3607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3246120"/>
            <a:ext cx="2819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Consulta:</a:t>
            </a:r>
            <a:r>
              <a:rPr lang="en-US" sz="1500" dirty="0">
                <a:solidFill>
                  <a:srgbClr val="1D2D3E"/>
                </a:solidFill>
              </a:rPr>
              <a:t> filtro composto e ordenação decrescente.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4709160"/>
            <a:ext cx="3596335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50703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11312" y="5070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4709160"/>
            <a:ext cx="2819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Validação:</a:t>
            </a:r>
            <a:r>
              <a:rPr lang="en-US" sz="1500" dirty="0">
                <a:solidFill>
                  <a:srgbClr val="1D2D3E"/>
                </a:solidFill>
              </a:rPr>
              <a:t> verificação obrigatória do status.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Técnico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47802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ABAP SQL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Abstração independente de banco (antigo Open SQL). Converte ABAP para SQL nativo.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47802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Host Variable (@)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Variável ABAP usada dentro do SQL. Obrigatória no Strict Mode.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47802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Code Pushdown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Mover a lógica de processamento para o banco de dados para ganho de performance.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90118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FIELDS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Palavra-chave para listar colunas explicitamente.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4250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4250" y="490118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Inline Declaration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Criação de dados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</a:t>
            </a:r>
            <a:r>
              <a:rPr lang="en-US" sz="1400" dirty="0">
                <a:solidFill>
                  <a:srgbClr val="556B82"/>
                </a:solidFill>
              </a:rPr>
              <a:t>) em tempo de execução, inferindo tipos.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7797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3829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3829" y="490118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Strict Mode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Regras de sintaxe ativadas automaticamente ao usar recursos modernos.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3557" y="1965960"/>
            <a:ext cx="237744" cy="237744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1965960"/>
            <a:ext cx="237744" cy="237744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37744" cy="237744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120"/>
            <a:ext cx="237744" cy="237744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8" y="4389120"/>
            <a:ext cx="237744" cy="237744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557" y="4389120"/>
            <a:ext cx="237744" cy="237744"/>
          </a:xfrm>
          <a:prstGeom prst="rect">
            <a:avLst/>
          </a:prstGeom>
        </p:spPr>
      </p:pic>
      <p:sp>
        <p:nvSpPr>
          <p:cNvPr id="27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Pontos de Atenção e Melhores Práticas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840480"/>
                <a:gridCol w="304495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Prática Ruim (Legado)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Prática Boa (Moderno)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Por quê?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*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field1, field2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Economia de memória e rede.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… UP TO 1 ROWS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 (para checar existência)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SINGLE @abap_true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Performance otimizada.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 dentro de 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ALL ENTRIES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ou 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Evita múltiplas idas ao banco.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id = lv_id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id = @lv_id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Segurança e clareza (Strict Mode).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Quiz de Fixação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2567864" cy="292608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que acontece se esquecer o símbolo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600" dirty="0">
                <a:solidFill>
                  <a:srgbClr val="1D2D3E"/>
                </a:solidFill>
              </a:rPr>
              <a:t> antes de uma variável no Strict Mode?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90824" y="1965960"/>
            <a:ext cx="2567864" cy="292608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65144" y="2240280"/>
            <a:ext cx="640080" cy="64008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6514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310896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Por que devemos evitar o uso de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r>
              <a:rPr lang="en-US" sz="1600" dirty="0">
                <a:solidFill>
                  <a:srgbClr val="1D2D3E"/>
                </a:solidFill>
              </a:rPr>
              <a:t> em aplicações de alta performance?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3008" y="1965960"/>
            <a:ext cx="2567864" cy="292608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07328" y="2240280"/>
            <a:ext cx="640080" cy="64008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732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310896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Qual a diferença fundamental entre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sy-subrc</a:t>
            </a:r>
            <a:r>
              <a:rPr lang="en-US" sz="1600" dirty="0">
                <a:solidFill>
                  <a:srgbClr val="1D2D3E"/>
                </a:solidFill>
              </a:rPr>
              <a:t> 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sy-dbcnt</a:t>
            </a:r>
            <a:r>
              <a:rPr lang="en-US" sz="1600" dirty="0">
                <a:solidFill>
                  <a:srgbClr val="1D2D3E"/>
                </a:solidFill>
              </a:rPr>
              <a:t>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75191" y="1965960"/>
            <a:ext cx="2567864" cy="292608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49511" y="2240280"/>
            <a:ext cx="640080" cy="640080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49511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349511" y="310896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Quando é preferível usar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SINGLE</a:t>
            </a:r>
            <a:r>
              <a:rPr lang="en-US" sz="1600" dirty="0">
                <a:solidFill>
                  <a:srgbClr val="1D2D3E"/>
                </a:solidFill>
              </a:rPr>
              <a:t> em vez de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TO 1 ROWS</a:t>
            </a:r>
            <a:r>
              <a:rPr lang="en-US" sz="1600" dirty="0">
                <a:solidFill>
                  <a:srgbClr val="1D2D3E"/>
                </a:solidFill>
              </a:rPr>
              <a:t>?</a:t>
            </a:r>
            <a:endParaRPr lang="en-US" sz="1600" dirty="0"/>
          </a:p>
        </p:txBody>
      </p:sp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Escreva Código para o Futuro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</a:rPr>
              <a:t>Limpo, eficiente e </a:t>
            </a:r>
            <a:r>
              <a:rPr lang="en-US" sz="3400" b="1" dirty="0">
                <a:solidFill>
                  <a:srgbClr val="FFFFFF"/>
                </a:solidFill>
              </a:rPr>
              <a:t>otimizado para HANA</a:t>
            </a:r>
            <a:r>
              <a:rPr lang="en-US" sz="3400" dirty="0">
                <a:solidFill>
                  <a:srgbClr val="FFFFFF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4572000" cy="0"/>
          </a:xfrm>
          <a:prstGeom prst="line">
            <a:avLst/>
          </a:prstGeom>
          <a:noFill/>
          <a:ln w="19050">
            <a:solidFill>
              <a:srgbClr val="4DB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2900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3DE"/>
                </a:solidFill>
              </a:rPr>
              <a:t>Revise seus programas antigos hoje mesmo: substitua </a:t>
            </a:r>
            <a:r>
              <a:rPr lang="en-US" sz="2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r>
              <a:rPr lang="en-US" sz="2000" dirty="0">
                <a:solidFill>
                  <a:srgbClr val="C9D3DE"/>
                </a:solidFill>
              </a:rPr>
              <a:t> por listas de campos e aplique o Strict Mode para maior segurança e performance.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Lendo Dados do Banco de Dados (ABAP SQL)</dc:title>
  <dc:subject>ABAP Moderno – Módulo 01</dc:subject>
  <dc:creator>Adriano Bispo</dc:creator>
  <cp:lastModifiedBy>Adriano Bispo</cp:lastModifiedBy>
  <cp:revision>1</cp:revision>
  <dcterms:created xsi:type="dcterms:W3CDTF">2026-10-25T03:38:08Z</dcterms:created>
  <dcterms:modified xsi:type="dcterms:W3CDTF">2026-10-25T03:38:08Z</dcterms:modified>
</cp:coreProperties>
</file>