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01 — Fundamentos do ABAP Moderno  ·  Aula 4 de 8 — Lendo dados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01 — Fundamentos do ABAP Moderno  ·  Aula 4 de 8 — Lendo dados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01 · AULA 04 DE 08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Lendo dados do banco com ABAP SQL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Tabelas, o SELECT moderno, o tratamento do resultado e a leitura a partir de CDS view entities.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0107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01827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43546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1" name="Shape 9"/>
          <p:cNvSpPr/>
          <p:nvPr/>
        </p:nvSpPr>
        <p:spPr>
          <a:xfrm>
            <a:off x="985266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6985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8705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0424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4 de 8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01 — Fundamentos do ABAP Moderno · Design System SAP Horizon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01 em 8 aulas: Fundamentos do ABAP Moderno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Iniciando a jornada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ADT, ABAP Cloud, pacotes e o primeiro programa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Técnicas básicas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Dados, expressões, controle de fluxo e debugger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locais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Definição, instâncias, métodos e encapsulamento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Lendo dados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moderno, host variables e CDS views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46691" y="189280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46691" y="18928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Dados estruturados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Estruturas, CORRESPONDING e tipos profundos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internas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de tabela, chaves e expressões de tabela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Business Objects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EML: ler, criar e alterar via RAP BO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006611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171203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171203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9171203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Modelo RAP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9171203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Camadas, managed x unmanaged e o ciclo completo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lemos os voos do cenário de referência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</a:t>
            </a:r>
            <a:r>
              <a:rPr lang="en-US" sz="1200" dirty="0">
                <a:solidFill>
                  <a:srgbClr val="1D2D3E"/>
                </a:solidFill>
              </a:rPr>
              <a:t> primeiro direto da tabela e depois por uma CDS view com associação.</a:t>
            </a:r>
            <a:endParaRPr lang="en-US" sz="14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4415" y="3858768"/>
            <a:ext cx="347472" cy="347472"/>
          </a:xfrm>
          <a:prstGeom prst="rect">
            <a:avLst/>
          </a:prstGeom>
        </p:spPr>
      </p:pic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SELECT no ABAP até o SAP HANA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ABAP SQL é integrado à linguagem e independe do banco. A </a:t>
            </a:r>
            <a:r>
              <a:rPr lang="en-US" sz="1400" b="1" dirty="0">
                <a:solidFill>
                  <a:srgbClr val="556B82"/>
                </a:solidFill>
              </a:rPr>
              <a:t>interface de banco de dados</a:t>
            </a:r>
            <a:r>
              <a:rPr lang="en-US" sz="1400" dirty="0">
                <a:solidFill>
                  <a:srgbClr val="556B82"/>
                </a:solidFill>
              </a:rPr>
              <a:t> traduz cada instrução.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ABAP SQL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SELECT, INSERT, UPDATE e DELETE dentro do código ABAP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86786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16554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Interface de BD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Traduz a instrução e cuida do mandante automaticamente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63260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1588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93028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Native SQL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O dialeto que o banco entende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39733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4" name="Shape 12"/>
          <p:cNvSpPr/>
          <p:nvPr/>
        </p:nvSpPr>
        <p:spPr>
          <a:xfrm>
            <a:off x="9178061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30914C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69501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56F3A"/>
                </a:solidFill>
              </a:rPr>
              <a:t>SAP HANA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O único banco suportado desde o ABAP 7.53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DML no código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Ler e gravar dados é feito com </a:t>
            </a:r>
            <a:r>
              <a:rPr lang="en-US" sz="1200" b="1" dirty="0">
                <a:solidFill>
                  <a:srgbClr val="556B82"/>
                </a:solidFill>
              </a:rPr>
              <a:t>ABAP SQL</a:t>
            </a:r>
            <a:r>
              <a:rPr lang="en-US" sz="1200" dirty="0">
                <a:solidFill>
                  <a:srgbClr val="556B82"/>
                </a:solidFill>
              </a:rPr>
              <a:t> dentro dos programas.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22978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05858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05858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DDL nos editores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Tabelas e views são criadas nos editores do ADT, não por instruções em programas.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97317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80197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80197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DCL do ABAP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Os usuários do banco não são os usuários finais; o ABAP tem o próprio conceito de autorização.</a:t>
            </a:r>
            <a:endParaRPr lang="en-US" sz="14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257" y="2084832"/>
            <a:ext cx="365760" cy="365760"/>
          </a:xfrm>
          <a:prstGeom prst="rect">
            <a:avLst/>
          </a:prstGeom>
        </p:spPr>
      </p:pic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731" y="2084832"/>
            <a:ext cx="365760" cy="365760"/>
          </a:xfrm>
          <a:prstGeom prst="rect">
            <a:avLst/>
          </a:prstGeom>
        </p:spPr>
      </p:pic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205" y="2084832"/>
            <a:ext cx="365760" cy="365760"/>
          </a:xfrm>
          <a:prstGeom prst="rect">
            <a:avLst/>
          </a:prstGeom>
        </p:spPr>
      </p:pic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7678" y="2084832"/>
            <a:ext cx="365760" cy="365760"/>
          </a:xfrm>
          <a:prstGeom prst="rect">
            <a:avLst/>
          </a:prstGeom>
        </p:spPr>
      </p:pic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034" y="3928994"/>
            <a:ext cx="225308" cy="225308"/>
          </a:xfrm>
          <a:prstGeom prst="rect">
            <a:avLst/>
          </a:prstGeom>
        </p:spPr>
      </p:pic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372" y="3928994"/>
            <a:ext cx="225308" cy="225308"/>
          </a:xfrm>
          <a:prstGeom prst="rect">
            <a:avLst/>
          </a:prstGeom>
        </p:spPr>
      </p:pic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8711" y="3928994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01.04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Tabelas de banco de dados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Em um banco relacional, cada linha é um registro identificado pela </a:t>
            </a:r>
            <a:r>
              <a:rPr lang="en-US" sz="1600" b="1" dirty="0">
                <a:solidFill>
                  <a:srgbClr val="D1EFFF"/>
                </a:solidFill>
              </a:rPr>
              <a:t>chave</a:t>
            </a:r>
            <a:r>
              <a:rPr lang="en-US" sz="1600" dirty="0">
                <a:solidFill>
                  <a:srgbClr val="D1EFFF"/>
                </a:solidFill>
              </a:rPr>
              <a:t>; em sistemas SAP, a maioria das tabelas separa os dados por </a:t>
            </a:r>
            <a:r>
              <a:rPr lang="en-US" sz="1600" b="1" dirty="0">
                <a:solidFill>
                  <a:srgbClr val="D1EFFF"/>
                </a:solidFill>
              </a:rPr>
              <a:t>mandante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table</a:t>
            </a:r>
            <a:r>
              <a:rPr lang="en-US" sz="1000" dirty="0">
                <a:solidFill>
                  <a:srgbClr val="D1EFFF"/>
                </a:solidFill>
              </a:rPr>
              <a:t>  definição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00" dirty="0">
                <a:solidFill>
                  <a:srgbClr val="D1EFFF"/>
                </a:solidFill>
              </a:rPr>
              <a:t>  chave primária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1000" dirty="0">
                <a:solidFill>
                  <a:srgbClr val="D1EFFF"/>
                </a:solidFill>
              </a:rPr>
              <a:t>  mandante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F8</a:t>
            </a:r>
            <a:r>
              <a:rPr lang="en-US" sz="1000" dirty="0">
                <a:solidFill>
                  <a:srgbClr val="D1EFFF"/>
                </a:solidFill>
              </a:rPr>
              <a:t>  Data Preview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TABELAS · DEFINIÇÃO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Como uma tabela é definida no ADT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30886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30886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125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/dmo/connection.tabl.abap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/DMO/FLIGHT_LEGACY › /DMO/CONNECTION (simplificada)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'Flight Reference Scenario: Connection'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@AbapCatalog.dataMaintenance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#RESTRICTED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departure_time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/dmo/flight_departure_time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arrival_time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/dmo/flight_arrival_time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Chave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As primeiras colunas (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556B82"/>
                </a:solidFill>
              </a:rPr>
              <a:t>) identificam cada linha de forma única.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Primeiro campo-chave das tabelas dependentes de mandante; o ABAP SQL filtra por ele sozinho.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Tipos do Dicionário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Cada campo usa um data element, com tipo técnico e rótulos.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Data Preview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F8</a:t>
            </a:r>
            <a:r>
              <a:rPr lang="en-US" sz="1050" dirty="0">
                <a:solidFill>
                  <a:srgbClr val="556B82"/>
                </a:solidFill>
              </a:rPr>
              <a:t> na definição mostra o conteúdo, com filtros e ordenação.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01.04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SELECT moderno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SELECT é formado por </a:t>
            </a:r>
            <a:r>
              <a:rPr lang="en-US" sz="1600" b="1" dirty="0">
                <a:solidFill>
                  <a:srgbClr val="D1EFFF"/>
                </a:solidFill>
              </a:rPr>
              <a:t>cláusulas</a:t>
            </a:r>
            <a:r>
              <a:rPr lang="en-US" sz="1600" dirty="0">
                <a:solidFill>
                  <a:srgbClr val="D1EFFF"/>
                </a:solidFill>
              </a:rPr>
              <a:t> em ordem fixa; a verificação de sintaxe confere tabelas e campos já na ativação.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00" dirty="0">
                <a:solidFill>
                  <a:srgbClr val="D1EFFF"/>
                </a:solidFill>
              </a:rPr>
              <a:t>  fonte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00" dirty="0">
                <a:solidFill>
                  <a:srgbClr val="D1EFFF"/>
                </a:solidFill>
              </a:rPr>
              <a:t>  colunas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00" dirty="0">
                <a:solidFill>
                  <a:srgbClr val="D1EFFF"/>
                </a:solidFill>
              </a:rPr>
              <a:t>  filtro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00" dirty="0">
                <a:solidFill>
                  <a:srgbClr val="D1EFFF"/>
                </a:solidFill>
              </a:rPr>
              <a:t>  destino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356616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00" dirty="0">
                <a:solidFill>
                  <a:srgbClr val="D1EFFF"/>
                </a:solidFill>
              </a:rPr>
              <a:t>  variável ABAP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SELECT · CLÁUSULAS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As cláusulas do SELECT, na ordem em que aparecem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1822332"/>
                <a:gridCol w="3758559"/>
                <a:gridCol w="523920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Cláusula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Papel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Atenção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FROM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Tabela ou view de onde ler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Também aceita joins e CDS view entities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Colunas, separadas por vírgula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FIELDS *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lê tudo e dá mais trabalho ao banco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WHERE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Condições com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,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,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Única cláusula opcional; sem ela, lê o mandante inteiro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Variável, estrutura ou tabela interna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Mesma ordem de componentes que o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80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480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Sintaxe moderna  </a:t>
            </a:r>
            <a:r>
              <a:rPr lang="en-US" sz="1200" dirty="0">
                <a:solidFill>
                  <a:srgbClr val="1D2D3E"/>
                </a:solidFill>
              </a:rPr>
              <a:t>o código antigo usa outra forma (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… INTO … FROM</a:t>
            </a:r>
            <a:r>
              <a:rPr lang="en-US" sz="1200" dirty="0">
                <a:solidFill>
                  <a:srgbClr val="1D2D3E"/>
                </a:solidFill>
              </a:rPr>
              <a:t>), mantida por compatibilidade. Prefira a forma com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200" dirty="0">
                <a:solidFill>
                  <a:srgbClr val="1D2D3E"/>
                </a:solidFill>
              </a:rPr>
              <a:t>: ela oferece mais recursos.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608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SELECT · UM REGISTRO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SELECT SINGLE e o teste de sy-subrc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15341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15341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970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zcl_04_select.clas.abap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ZCL_04_SELECT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'LH'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'0400'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|LH 400: { airport_from_id } → { airport_to_id }|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`Voo não encontrado`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Lê no máximo uma linha; identifique-a pela chave completa.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250" b="1" dirty="0">
                <a:solidFill>
                  <a:srgbClr val="1D2D3E"/>
                </a:solidFill>
              </a:rPr>
              <a:t> obrigatório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Marca variáveis ABAP e evita confusão com nomes de colunas.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Vários campos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Destino entre parênteses, na mesma ordem do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0 = encontrou; 4 = vazio. Sem resultado, o destino </a:t>
            </a:r>
            <a:r>
              <a:rPr lang="en-US" sz="1050" b="1" dirty="0">
                <a:solidFill>
                  <a:srgbClr val="556B82"/>
                </a:solidFill>
              </a:rPr>
              <a:t>não</a:t>
            </a:r>
            <a:r>
              <a:rPr lang="en-US" sz="1050" dirty="0">
                <a:solidFill>
                  <a:srgbClr val="556B82"/>
                </a:solidFill>
              </a:rPr>
              <a:t> é alterado.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SELECT · VÁRIAS LINHAS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INTO TABLE com declaração inline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15341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15341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970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zcl_04_select.clas.abap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ZCL_04_SELECT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sy-dbcnt } conexões lidas|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connection-carrier_id } { connection-connection_id }|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 TABLE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Preenche uma tabela interna com todas as linhas encontradas.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@DATA(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Declara a tabela no ponto de uso, com uma coluna por campo.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250" b="1" dirty="0">
                <a:solidFill>
                  <a:srgbClr val="1D2D3E"/>
                </a:solidFill>
              </a:rPr>
              <a:t> ·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 TO n ROWS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Ordenação garantida e limite de linhas feitos no banco.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sy-dbcnt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Quantidade de linhas lidas pela instrução.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01.04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Lendo de CDS views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Uma </a:t>
            </a:r>
            <a:r>
              <a:rPr lang="en-US" sz="1600" b="1" dirty="0">
                <a:solidFill>
                  <a:srgbClr val="D1EFFF"/>
                </a:solidFill>
              </a:rPr>
              <a:t>CDS view entity</a:t>
            </a:r>
            <a:r>
              <a:rPr lang="en-US" sz="1600" dirty="0">
                <a:solidFill>
                  <a:srgbClr val="D1EFFF"/>
                </a:solidFill>
              </a:rPr>
              <a:t> guarda lógica SQL reutilizável e relações (associações). No SELECT ela é usada como se fosse uma tabela.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view entity</a:t>
            </a:r>
            <a:r>
              <a:rPr lang="en-US" sz="1000" dirty="0">
                <a:solidFill>
                  <a:srgbClr val="D1EFFF"/>
                </a:solidFill>
              </a:rPr>
              <a:t>  data definition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AirlineID</a:t>
            </a:r>
            <a:r>
              <a:rPr lang="en-US" sz="1000" dirty="0">
                <a:solidFill>
                  <a:srgbClr val="D1EFFF"/>
                </a:solidFill>
              </a:rPr>
              <a:t>  nome de elemento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\_Airline</a:t>
            </a:r>
            <a:r>
              <a:rPr lang="en-US" sz="1000" dirty="0">
                <a:solidFill>
                  <a:srgbClr val="D1EFFF"/>
                </a:solidFill>
              </a:rPr>
              <a:t>  path expression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Follow Association</a:t>
            </a:r>
            <a:r>
              <a:rPr lang="en-US" sz="1000" dirty="0">
                <a:solidFill>
                  <a:srgbClr val="D1EFFF"/>
                </a:solidFill>
              </a:rPr>
              <a:t>  Data Preview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CDS · A 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CDS view entity sobre a tabela de conexões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61975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61975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4368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/dmo/i_connection.ddls.asddls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/DMO/FLIGHT_REUSE › /DMO/I_CONNECTION (simplificada)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@AccessControl.authorizationCheck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#NOT_REQUIRED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'Flight Connection'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/DMO/I_Connection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/DMO/I_Carrier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_Airline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$projection.AirlineID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_Airline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AirlineID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DepartureAirport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DestinationAirport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_Airline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view entity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Nome da view e, após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556B82"/>
                </a:solidFill>
              </a:rPr>
              <a:t>, a fonte de dados com um alias.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Elementos com alias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AirlineID</a:t>
            </a:r>
            <a:r>
              <a:rPr lang="en-US" sz="1050" dirty="0">
                <a:solidFill>
                  <a:srgbClr val="556B82"/>
                </a:solidFill>
              </a:rPr>
              <a:t> dá nomes legíveis às colunas.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Relação com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/DMO/I_Carrier</a:t>
            </a:r>
            <a:r>
              <a:rPr lang="en-US" sz="1050" dirty="0">
                <a:solidFill>
                  <a:srgbClr val="556B82"/>
                </a:solidFill>
              </a:rPr>
              <a:t>; ao listar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_Airline</a:t>
            </a:r>
            <a:r>
              <a:rPr lang="en-US" sz="1050" dirty="0">
                <a:solidFill>
                  <a:srgbClr val="556B82"/>
                </a:solidFill>
              </a:rPr>
              <a:t>, ela é </a:t>
            </a:r>
            <a:r>
              <a:rPr lang="en-US" sz="1050" b="1" dirty="0">
                <a:solidFill>
                  <a:srgbClr val="556B82"/>
                </a:solidFill>
              </a:rPr>
              <a:t>exposta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Anotações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@…</a:t>
            </a:r>
            <a:r>
              <a:rPr lang="en-US" sz="1050" dirty="0">
                <a:solidFill>
                  <a:srgbClr val="556B82"/>
                </a:solidFill>
              </a:rPr>
              <a:t> enriquecem a view com metadados para os frameworks.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CDS · O SELECT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SELECT na view, com path expression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2024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2024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zcl_04_cds.clas.abap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ZCL_04_CDS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/DMO/I_Connection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_Airline-Name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DepartureAirport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DestinationAirport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'LH'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Nomes de elemento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556B82"/>
                </a:solidFill>
              </a:rPr>
              <a:t> e no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556B82"/>
                </a:solidFill>
              </a:rPr>
              <a:t> valem os aliases da view, não os nomes das colunas.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\_Airline-Name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Path expression: lê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050" dirty="0">
                <a:solidFill>
                  <a:srgbClr val="556B82"/>
                </a:solidFill>
              </a:rPr>
              <a:t> da view associada. A barra invertida é obrigatória.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Ferramentas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F8</a:t>
            </a:r>
            <a:r>
              <a:rPr lang="en-US" sz="1050" dirty="0">
                <a:solidFill>
                  <a:srgbClr val="556B82"/>
                </a:solidFill>
              </a:rPr>
              <a:t> abre o Data Preview da view; o menu </a:t>
            </a:r>
            <a:r>
              <a:rPr lang="en-US" sz="1050" i="1" dirty="0">
                <a:solidFill>
                  <a:srgbClr val="556B82"/>
                </a:solidFill>
              </a:rPr>
              <a:t>Follow Association</a:t>
            </a:r>
            <a:r>
              <a:rPr lang="en-US" sz="1050" dirty="0">
                <a:solidFill>
                  <a:srgbClr val="556B82"/>
                </a:solidFill>
              </a:rPr>
              <a:t> navega pela relação.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Where-used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Ctrl+Shift+G</a:t>
            </a:r>
            <a:r>
              <a:rPr lang="en-US" sz="1050" dirty="0">
                <a:solidFill>
                  <a:srgbClr val="556B82"/>
                </a:solidFill>
              </a:rPr>
              <a:t> na tabela mostra quais views já a leem.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CDS · POR QUE USAR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Vantagens de ler por uma CDS 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866644"/>
            <a:ext cx="2602154" cy="2084832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306781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671316"/>
            <a:ext cx="219981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Reuso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Cálculos, joins e filtros ficam na view e não são reescritos em cada programa.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79394" y="2866644"/>
            <a:ext cx="2602154" cy="2084832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580562" y="306781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80562" y="3671316"/>
            <a:ext cx="219981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Associações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Dados relacionados vêm com uma path expression, sem escrever o join.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0148" y="2866644"/>
            <a:ext cx="2602154" cy="2084832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11316" y="306781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11316" y="3671316"/>
            <a:ext cx="219981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Nomes legíveis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DepartureAirport</a:t>
            </a:r>
            <a:r>
              <a:rPr lang="en-US" sz="1200" dirty="0">
                <a:solidFill>
                  <a:srgbClr val="556B82"/>
                </a:solidFill>
              </a:rPr>
              <a:t> comunica mais que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40901" y="2866644"/>
            <a:ext cx="2602154" cy="2084832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42069" y="306781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42069" y="3671316"/>
            <a:ext cx="219981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ABAP Cloud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Dados SAP são lidos só por CDS views liberadas, como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I_Product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1900" y="3168396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3168396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1146" y="3168396"/>
            <a:ext cx="256032" cy="256032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2653" y="3168396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01.04 · SEÇÃO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Boas práticas de leitura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banco é rápido, mas cada ida e volta custa. Leia </a:t>
            </a:r>
            <a:r>
              <a:rPr lang="en-US" sz="1600" b="1" dirty="0">
                <a:solidFill>
                  <a:srgbClr val="D1EFFF"/>
                </a:solidFill>
              </a:rPr>
              <a:t>só o necessário</a:t>
            </a:r>
            <a:r>
              <a:rPr lang="en-US" sz="1600" dirty="0">
                <a:solidFill>
                  <a:srgbClr val="D1EFFF"/>
                </a:solidFill>
              </a:rPr>
              <a:t>, de uma vez, e deixe o banco filtrar e ordenar.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 lista</a:t>
            </a:r>
            <a:r>
              <a:rPr lang="en-US" sz="1000" dirty="0">
                <a:solidFill>
                  <a:srgbClr val="D1EFFF"/>
                </a:solidFill>
              </a:rPr>
              <a:t>  não *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00" dirty="0">
                <a:solidFill>
                  <a:srgbClr val="D1EFFF"/>
                </a:solidFill>
              </a:rPr>
              <a:t>  sempre que possível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 SELECT</a:t>
            </a:r>
            <a:r>
              <a:rPr lang="en-US" sz="1000" dirty="0">
                <a:solidFill>
                  <a:srgbClr val="D1EFFF"/>
                </a:solidFill>
              </a:rPr>
              <a:t>  não um por linha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1000" dirty="0">
                <a:solidFill>
                  <a:srgbClr val="D1EFFF"/>
                </a:solidFill>
              </a:rPr>
              <a:t>  logo após o SELECT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BOAS PRÁTICAS · ANTES E DEPOIS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Hábitos que custam caro e como evitá-los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255139"/>
            <a:ext cx="5410048" cy="2576322"/>
          </a:xfrm>
          <a:prstGeom prst="roundRect">
            <a:avLst>
              <a:gd name="adj" fmla="val 354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255139"/>
            <a:ext cx="5410048" cy="73152"/>
          </a:xfrm>
          <a:prstGeom prst="rect">
            <a:avLst/>
          </a:prstGeom>
          <a:solidFill>
            <a:srgbClr val="D20A0A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2945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52945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A0808"/>
                </a:solidFill>
              </a:rPr>
              <a:t>Evite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69539"/>
            <a:ext cx="4952848" cy="1524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 *</a:t>
            </a:r>
            <a:r>
              <a:rPr lang="en-US" sz="1350" dirty="0">
                <a:solidFill>
                  <a:srgbClr val="1D2D3E"/>
                </a:solidFill>
              </a:rPr>
              <a:t> quando o programa usa três colunas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SELECT sem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350" dirty="0">
                <a:solidFill>
                  <a:srgbClr val="1D2D3E"/>
                </a:solidFill>
              </a:rPr>
              <a:t> em tabelas grandes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SINGLE</a:t>
            </a:r>
            <a:r>
              <a:rPr lang="en-US" sz="1350" dirty="0">
                <a:solidFill>
                  <a:srgbClr val="1D2D3E"/>
                </a:solidFill>
              </a:rPr>
              <a:t> dentro de um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350" dirty="0">
                <a:solidFill>
                  <a:srgbClr val="1D2D3E"/>
                </a:solidFill>
              </a:rPr>
              <a:t>, um acesso por linha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Usar o destino sem conferir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255139"/>
            <a:ext cx="5410048" cy="2576322"/>
          </a:xfrm>
          <a:prstGeom prst="roundRect">
            <a:avLst>
              <a:gd name="adj" fmla="val 354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255139"/>
            <a:ext cx="5410048" cy="73152"/>
          </a:xfrm>
          <a:prstGeom prst="rect">
            <a:avLst/>
          </a:prstGeom>
          <a:solidFill>
            <a:srgbClr val="30914C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52945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52945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F3A"/>
                </a:solidFill>
              </a:rPr>
              <a:t>Prefira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169539"/>
            <a:ext cx="4952848" cy="1524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 lista exata de colunas no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Filtros no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350" dirty="0">
                <a:solidFill>
                  <a:srgbClr val="1D2D3E"/>
                </a:solidFill>
              </a:rPr>
              <a:t>, de preferência pela chave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Um único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… INTO TABLE</a:t>
            </a:r>
            <a:r>
              <a:rPr lang="en-US" sz="1350" dirty="0">
                <a:solidFill>
                  <a:srgbClr val="1D2D3E"/>
                </a:solidFill>
              </a:rPr>
              <a:t> e leitura em memória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Testar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1350" dirty="0">
                <a:solidFill>
                  <a:srgbClr val="1D2D3E"/>
                </a:solidFill>
              </a:rPr>
              <a:t> logo após cada leitura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996053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996053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Para medir  </a:t>
            </a:r>
            <a:r>
              <a:rPr lang="en-US" sz="1200" dirty="0">
                <a:solidFill>
                  <a:srgbClr val="1D2D3E"/>
                </a:solidFill>
              </a:rPr>
              <a:t>o SQL Trace mostra quantas vezes cada tabela foi acessada (aula 04.01).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630043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5124069"/>
            <a:ext cx="310896" cy="310896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630043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01.04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Tabelas têm </a:t>
            </a:r>
            <a:r>
              <a:rPr lang="en-US" sz="1400" b="1" dirty="0">
                <a:solidFill>
                  <a:srgbClr val="FFFFFF"/>
                </a:solidFill>
              </a:rPr>
              <a:t>chave</a:t>
            </a:r>
            <a:r>
              <a:rPr lang="en-US" sz="1400" dirty="0">
                <a:solidFill>
                  <a:srgbClr val="FFFFFF"/>
                </a:solidFill>
              </a:rPr>
              <a:t> e, em geral, o campo </a:t>
            </a:r>
            <a:r>
              <a:rPr lang="en-US" sz="1400" b="1" dirty="0">
                <a:solidFill>
                  <a:srgbClr val="FFFFFF"/>
                </a:solidFill>
              </a:rPr>
              <a:t>client</a:t>
            </a:r>
            <a:r>
              <a:rPr lang="en-US" sz="1400" dirty="0">
                <a:solidFill>
                  <a:srgbClr val="FFFFFF"/>
                </a:solidFill>
              </a:rPr>
              <a:t>; a definição é feita no editor do ADT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</a:t>
            </a:r>
            <a:r>
              <a:rPr lang="en-US" sz="1400" b="1" dirty="0">
                <a:solidFill>
                  <a:srgbClr val="FFFFFF"/>
                </a:solidFill>
              </a:rPr>
              <a:t>ABAP SQL</a:t>
            </a:r>
            <a:r>
              <a:rPr lang="en-US" sz="1400" dirty="0">
                <a:solidFill>
                  <a:srgbClr val="FFFFFF"/>
                </a:solidFill>
              </a:rPr>
              <a:t> é traduzido pela interface de banco para o Native SQL do SAP HANA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SELECT com </a:t>
            </a:r>
            <a:r>
              <a:rPr lang="en-US" sz="1400" b="1" dirty="0">
                <a:solidFill>
                  <a:srgbClr val="FFFFFF"/>
                </a:solidFill>
              </a:rPr>
              <a:t>FROM, FIELDS, WHERE, INTO</a:t>
            </a:r>
            <a:r>
              <a:rPr lang="en-US" sz="1400" dirty="0">
                <a:solidFill>
                  <a:srgbClr val="FFFFFF"/>
                </a:solidFill>
              </a:rPr>
              <a:t>; variáveis ABAP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SINGLE</a:t>
            </a:r>
            <a:r>
              <a:rPr lang="en-US" sz="1400" dirty="0">
                <a:solidFill>
                  <a:srgbClr val="FFFFFF"/>
                </a:solidFill>
              </a:rPr>
              <a:t> para um registro,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 TABLE</a:t>
            </a:r>
            <a:r>
              <a:rPr lang="en-US" sz="1400" dirty="0">
                <a:solidFill>
                  <a:srgbClr val="FFFFFF"/>
                </a:solidFill>
              </a:rPr>
              <a:t> para vários, testando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CDS view entities</a:t>
            </a:r>
            <a:r>
              <a:rPr lang="en-US" sz="1400" dirty="0">
                <a:solidFill>
                  <a:srgbClr val="FFFFFF"/>
                </a:solidFill>
              </a:rPr>
              <a:t> podem ser lidas como tabelas, com nomes legíveis e </a:t>
            </a:r>
            <a:r>
              <a:rPr lang="en-US" sz="1400" b="1" dirty="0">
                <a:solidFill>
                  <a:srgbClr val="FFFFFF"/>
                </a:solidFill>
              </a:rPr>
              <a:t>path expressions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Leia só o necessário, de uma vez, filtrando no banco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01.05  </a:t>
            </a:r>
            <a:r>
              <a:rPr lang="en-US" sz="1500" dirty="0">
                <a:solidFill>
                  <a:srgbClr val="FFFFFF"/>
                </a:solidFill>
              </a:rPr>
              <a:t>Dados estruturados: Estruturas, CORRESPONDING e tipos profundos.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01.04 Lendo dados do banco com ABAP SQL</dc:title>
  <dc:subject>ABAP Moderno – Módulo 01: Fundamentos do ABAP Moderno</dc:subject>
  <dc:creator>Adriano Bispo</dc:creator>
  <cp:lastModifiedBy>Adriano Bispo</cp:lastModifiedBy>
  <cp:revision>1</cp:revision>
  <dcterms:created xsi:type="dcterms:W3CDTF">2026-10-28T04:16:25Z</dcterms:created>
  <dcterms:modified xsi:type="dcterms:W3CDTF">2026-10-28T04:16:25Z</dcterms:modified>
</cp:coreProperties>
</file>