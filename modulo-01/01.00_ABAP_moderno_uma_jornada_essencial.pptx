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01 — Fundamentos do ABAP Moderno  ·  Visão geral do módulo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01 — Fundamentos do ABAP Moderno  ·  Visão geral do módulo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01 · VISÃO GERAL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ABAP moderno: uma jornada essencial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Visão geral do módulo 01: o que mudou no ABAP e o caminho das oito aulas, do primeiro programa ao RAP.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0107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01827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43546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85266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985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8705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0424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8 aulas neste módulo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01 — Fundamentos do ABAP Moderno · Design System SAP Horizon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Oito aulas, do primeiro programa ao RAP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Iniciando a jornada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ADT, ABAP Cloud, pacotes e o primeiro programa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Técnicas básicas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Dados, expressões, controle de fluxo e debugger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locais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Definição, instâncias, métodos e encapsulamento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Lendo dados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SELECT moderno, host variables e CDS 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Dados estruturados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Estruturas, CORRESPONDING e tipos profundos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internas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de tabela, chaves e expressões de tabela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Business Objects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EML: ler, criar e alterar via RAP BO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06611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71203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171203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2" name="Text 40"/>
          <p:cNvSpPr txBox="1"/>
          <p:nvPr/>
        </p:nvSpPr>
        <p:spPr>
          <a:xfrm>
            <a:off x="9171203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RAP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9171203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Camadas, managed x unmanaged e o ciclo completo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Base oficial  </a:t>
            </a:r>
            <a:r>
              <a:rPr lang="en-US" sz="1200" dirty="0">
                <a:solidFill>
                  <a:srgbClr val="1D2D3E"/>
                </a:solidFill>
              </a:rPr>
              <a:t>o módulo segue o curso </a:t>
            </a:r>
            <a:r>
              <a:rPr lang="en-US" sz="1200" b="1" dirty="0">
                <a:solidFill>
                  <a:srgbClr val="1D2D3E"/>
                </a:solidFill>
              </a:rPr>
              <a:t>Learning Basic ABAP Programming (S4D400)</a:t>
            </a:r>
            <a:r>
              <a:rPr lang="en-US" sz="1200" dirty="0">
                <a:solidFill>
                  <a:srgbClr val="1D2D3E"/>
                </a:solidFill>
              </a:rPr>
              <a:t> da jornada </a:t>
            </a:r>
            <a:r>
              <a:rPr lang="en-US" sz="1200" i="1" dirty="0">
                <a:solidFill>
                  <a:srgbClr val="1D2D3E"/>
                </a:solidFill>
              </a:rPr>
              <a:t>Acquiring Core ABAP Skills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94415" y="3858768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módulo em números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0F2"/>
                </a:solidFill>
              </a:rPr>
              <a:t>8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Aulas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do ambiente ao RAP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2536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73704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S4D400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73704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Curso oficial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SAP Learning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6432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7600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~17 h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397600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Carga do curso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lições e exercícios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20327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21495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BTP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221495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Ambiente dos exercícios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SAP BTP, ABAP environment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1094415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931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08760" y="3977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Para quem é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720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Para quem já programa em uma linguagem moderna (Java, JavaScript, C# ou Python) e para profissionais SAP que querem o ABAP atual. O conteúdo vale para a SAP BTP, o S/4HANA Cloud e o S/4HANA 2020 ou posterior.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0" y="397764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397764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ABAP Cloud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57032" y="3977640"/>
            <a:ext cx="1503274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57032" y="3977640"/>
            <a:ext cx="1503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ADT · Eclipse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97466" y="3977640"/>
            <a:ext cx="1100938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897466" y="3977640"/>
            <a:ext cx="1100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ABAP SQL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4416552"/>
            <a:ext cx="698602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0" y="4416552"/>
            <a:ext cx="698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CDS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93762" y="4416552"/>
            <a:ext cx="698602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93762" y="4416552"/>
            <a:ext cx="698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RAP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29523" y="4416552"/>
            <a:ext cx="698602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29523" y="4416552"/>
            <a:ext cx="698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EML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365285" y="4416552"/>
            <a:ext cx="859536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365285" y="4416552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Joule</a:t>
            </a:r>
            <a:endParaRPr lang="en-US" sz="10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4042562"/>
            <a:ext cx="281635" cy="2816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MÓDULO 01 · VISÃO GERAL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evolução do ABAP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ABAP continua sendo a linguagem do coração do SAP, mas a forma de programar mudou: </a:t>
            </a:r>
            <a:r>
              <a:rPr lang="en-US" sz="1600" b="1" dirty="0">
                <a:solidFill>
                  <a:srgbClr val="D1EFFF"/>
                </a:solidFill>
              </a:rPr>
              <a:t>mesmos problemas, ferramentas e sintaxe novas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 GUI → ADT</a:t>
            </a:r>
            <a:r>
              <a:rPr lang="en-US" sz="1000" dirty="0">
                <a:solidFill>
                  <a:srgbClr val="D1EFFF"/>
                </a:solidFill>
              </a:rPr>
              <a:t>  ferramenta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 → classes</a:t>
            </a:r>
            <a:r>
              <a:rPr lang="en-US" sz="1000" dirty="0">
                <a:solidFill>
                  <a:srgbClr val="D1EFFF"/>
                </a:solidFill>
              </a:rPr>
              <a:t>  programa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Dynpro → Fiori</a:t>
            </a:r>
            <a:r>
              <a:rPr lang="en-US" sz="1000" dirty="0">
                <a:solidFill>
                  <a:srgbClr val="D1EFFF"/>
                </a:solidFill>
              </a:rPr>
              <a:t>  interface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Modificar → estender</a:t>
            </a:r>
            <a:r>
              <a:rPr lang="en-US" sz="1000" dirty="0">
                <a:solidFill>
                  <a:srgbClr val="D1EFFF"/>
                </a:solidFill>
              </a:rPr>
              <a:t>  Clean Core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EVOLUÇÃO · ANTES E AGORA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mudou no jeito de desenvolver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13743"/>
            <a:ext cx="5410048" cy="2790635"/>
          </a:xfrm>
          <a:prstGeom prst="roundRect">
            <a:avLst>
              <a:gd name="adj" fmla="val 327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513743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78806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78806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ABAP clássico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28143"/>
            <a:ext cx="4952848" cy="173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SAP GUI e transação SE80 como ambiente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Programas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r>
              <a:rPr lang="en-US" sz="1350" dirty="0">
                <a:solidFill>
                  <a:srgbClr val="1D2D3E"/>
                </a:solidFill>
              </a:rPr>
              <a:t> com listas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350" dirty="0">
                <a:solidFill>
                  <a:srgbClr val="1D2D3E"/>
                </a:solidFill>
              </a:rPr>
              <a:t> e telas Dynpro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Leitura de qualquer tabela e lógica em loops no servidor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Customização por modificação do código standard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513743"/>
            <a:ext cx="5410048" cy="2790635"/>
          </a:xfrm>
          <a:prstGeom prst="roundRect">
            <a:avLst>
              <a:gd name="adj" fmla="val 327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513743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78806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78806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ABAP moderno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428143"/>
            <a:ext cx="4952848" cy="173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D2D3E"/>
                </a:solidFill>
              </a:rPr>
              <a:t>ADT</a:t>
            </a:r>
            <a:r>
              <a:rPr lang="en-US" sz="1350" dirty="0">
                <a:solidFill>
                  <a:srgbClr val="1D2D3E"/>
                </a:solidFill>
              </a:rPr>
              <a:t> no Eclipse, com refatoração e o Joule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Classes, interfaces e apps </a:t>
            </a:r>
            <a:r>
              <a:rPr lang="en-US" sz="1350" b="1" dirty="0">
                <a:solidFill>
                  <a:srgbClr val="1D2D3E"/>
                </a:solidFill>
              </a:rPr>
              <a:t>SAP Fiori</a:t>
            </a:r>
            <a:r>
              <a:rPr lang="en-US" sz="1350" dirty="0">
                <a:solidFill>
                  <a:srgbClr val="1D2D3E"/>
                </a:solidFill>
              </a:rPr>
              <a:t> sobre o </a:t>
            </a:r>
            <a:r>
              <a:rPr lang="en-US" sz="1350" b="1" dirty="0">
                <a:solidFill>
                  <a:srgbClr val="1D2D3E"/>
                </a:solidFill>
              </a:rPr>
              <a:t>RAP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D2D3E"/>
                </a:solidFill>
              </a:rPr>
              <a:t>CDS views</a:t>
            </a:r>
            <a:r>
              <a:rPr lang="en-US" sz="1350" dirty="0">
                <a:solidFill>
                  <a:srgbClr val="1D2D3E"/>
                </a:solidFill>
              </a:rPr>
              <a:t> e </a:t>
            </a:r>
            <a:r>
              <a:rPr lang="en-US" sz="1350" i="1" dirty="0">
                <a:solidFill>
                  <a:srgbClr val="1D2D3E"/>
                </a:solidFill>
              </a:rPr>
              <a:t>code pushdown</a:t>
            </a:r>
            <a:r>
              <a:rPr lang="en-US" sz="1350" dirty="0">
                <a:solidFill>
                  <a:srgbClr val="1D2D3E"/>
                </a:solidFill>
              </a:rPr>
              <a:t>: o banco faz o trabalho pesado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Extensões em pontos liberados: o </a:t>
            </a:r>
            <a:r>
              <a:rPr lang="en-US" sz="1350" b="1" dirty="0">
                <a:solidFill>
                  <a:srgbClr val="1D2D3E"/>
                </a:solidFill>
              </a:rPr>
              <a:t>Clean Core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888647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888647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EVOLUÇÃO · SINTAXE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Mesmo problema, sintaxe nova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712464"/>
          </a:xfrm>
          <a:prstGeom prst="roundRect">
            <a:avLst>
              <a:gd name="adj" fmla="val 24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604838"/>
                <a:gridCol w="3406326"/>
                <a:gridCol w="3606698"/>
                <a:gridCol w="1202233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Tarefa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Estilo clássico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Estilo moderno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Aula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Declarar e atribuir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no topo, depois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MOVE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DATA(x) = …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inline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01.02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Montar texto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CONCATENATE … INTO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String template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|…{ x }…|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01.02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Criar objeto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OBJECT ref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ref = NEW #(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01.03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Ler do banco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… ENDSELECT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… INTO TABLE @DATA(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01.04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Copiar por nome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MOVE-CORRESPONDING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CORRESPONDING #(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01.05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Ler linha da tabela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 TABLE … WITH KEY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itab[ campo = valor ]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01.06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Gravar dados de negócio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na tabela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MODIFY ENTITIES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(EML)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01.07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MÓDULO 01 · VISÃO GERAL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 roteiro do módulo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As oito aulas formam três blocos: </a:t>
            </a:r>
            <a:r>
              <a:rPr lang="en-US" sz="1600" b="1" dirty="0">
                <a:solidFill>
                  <a:srgbClr val="D1EFFF"/>
                </a:solidFill>
              </a:rPr>
              <a:t>fundamentos da linguagem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dados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transações com RAP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1837944"/>
          </a:xfrm>
          <a:prstGeom prst="roundRect">
            <a:avLst>
              <a:gd name="adj" fmla="val 497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01.01 – 01.03</a:t>
            </a:r>
            <a:r>
              <a:rPr lang="en-US" sz="1000" dirty="0">
                <a:solidFill>
                  <a:srgbClr val="D1EFFF"/>
                </a:solidFill>
              </a:rPr>
              <a:t>  fundamentos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01.04 – 01.06</a:t>
            </a:r>
            <a:r>
              <a:rPr lang="en-US" sz="1000" dirty="0">
                <a:solidFill>
                  <a:srgbClr val="D1EFFF"/>
                </a:solidFill>
              </a:rPr>
              <a:t>  dados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01.07 – 01.08</a:t>
            </a:r>
            <a:r>
              <a:rPr lang="en-US" sz="1000" dirty="0">
                <a:solidFill>
                  <a:srgbClr val="D1EFFF"/>
                </a:solidFill>
              </a:rPr>
              <a:t>  RAP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ROTEIRO · TRÊS BLOCOS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Da primeira classe ao primeiro serviço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330653" y="2884932"/>
            <a:ext cx="7530389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983181" y="25374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83181" y="25374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406140"/>
            <a:ext cx="356402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589020"/>
            <a:ext cx="278678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Fundamentos · 01.01 a 01.03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Ambiente ADT e ABAP Cloud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Dados, expressões, controle de fluxo e debugger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Classes locais, métodos e encapsulamento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48376" y="25374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48376" y="25374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4313834" y="3406140"/>
            <a:ext cx="356402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496714" y="3589020"/>
            <a:ext cx="278678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Dados · 01.04 a 01.06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ABAP SQL e leitura por CDS views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Estruturas,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150" dirty="0">
                <a:solidFill>
                  <a:srgbClr val="556B82"/>
                </a:solidFill>
              </a:rPr>
              <a:t> e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Tabelas internas e tipos de acesso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513570" y="25374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513570" y="25374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8079029" y="3406140"/>
            <a:ext cx="356402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61909" y="3589020"/>
            <a:ext cx="278678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RAP · 01.07 e 01.08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Business objects e EML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Camadas do RAP e o gerador de serviço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556B82"/>
                </a:solidFill>
              </a:rPr>
              <a:t>Validações e ajustes de UI</a:t>
            </a:r>
            <a:endParaRPr lang="en-US" sz="14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4026" y="3561588"/>
            <a:ext cx="329184" cy="329184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221" y="3561588"/>
            <a:ext cx="329184" cy="329184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15" y="3561588"/>
            <a:ext cx="329184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ROTEIRO · UM GOSTINHO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 programa curto que usa quase todo o módulo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85292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85292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zcl_pc_pedidos_abertos.clas.abap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Projeto Pedidos de Compras › consulta sobre ZR_PC_PEDIDO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zcl_pc_pedidos_abertos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if_oo_adt_classrun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zcl_pc_pedidos_abertos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if_oo_adt_classrun~main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zr_pc_pedido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_Cliente-Nome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'ABERTO'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|{ pedido-NumeroPedido }: { pedido-Cliente }|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Classe executável · 01.01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IF_OO_ADT_CLASSRUN</a:t>
            </a:r>
            <a:r>
              <a:rPr lang="en-US" sz="1050" dirty="0">
                <a:solidFill>
                  <a:srgbClr val="556B82"/>
                </a:solidFill>
              </a:rPr>
              <a:t> torna a classe um console app.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CDS e path expression · 01.04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Lê a view do BO Pedido e, pela associação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_Cliente</a:t>
            </a:r>
            <a:r>
              <a:rPr lang="en-US" sz="1050" dirty="0">
                <a:solidFill>
                  <a:srgbClr val="556B82"/>
                </a:solidFill>
              </a:rPr>
              <a:t>, o nome do cliente.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Tabela inline · 01.06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@DATA( )</a:t>
            </a:r>
            <a:r>
              <a:rPr lang="en-US" sz="1050" dirty="0">
                <a:solidFill>
                  <a:srgbClr val="556B82"/>
                </a:solidFill>
              </a:rPr>
              <a:t> cria a tabela com as colunas do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String template · 01.02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Formata a saída sem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CONCATENATE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MÓDULO 01 · VISÃO GERAL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Como estudar este módulo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Cada aula tem </a:t>
            </a:r>
            <a:r>
              <a:rPr lang="en-US" sz="1600" b="1" dirty="0">
                <a:solidFill>
                  <a:srgbClr val="D1EFFF"/>
                </a:solidFill>
              </a:rPr>
              <a:t>slides</a:t>
            </a:r>
            <a:r>
              <a:rPr lang="en-US" sz="1600" dirty="0">
                <a:solidFill>
                  <a:srgbClr val="D1EFFF"/>
                </a:solidFill>
              </a:rPr>
              <a:t>, um </a:t>
            </a:r>
            <a:r>
              <a:rPr lang="en-US" sz="1600" b="1" dirty="0">
                <a:solidFill>
                  <a:srgbClr val="D1EFFF"/>
                </a:solidFill>
              </a:rPr>
              <a:t>README</a:t>
            </a:r>
            <a:r>
              <a:rPr lang="en-US" sz="1600" dirty="0">
                <a:solidFill>
                  <a:srgbClr val="D1EFFF"/>
                </a:solidFill>
              </a:rPr>
              <a:t> com teoria, exemplos e quiz, e aponta para a lição oficial e a documentação da SAP.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</a:t>
            </a:r>
            <a:r>
              <a:rPr lang="en-US" sz="1000" dirty="0">
                <a:solidFill>
                  <a:srgbClr val="D1EFFF"/>
                </a:solidFill>
              </a:rPr>
              <a:t>  .pptx da aula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</a:t>
            </a:r>
            <a:r>
              <a:rPr lang="en-US" sz="1000" dirty="0">
                <a:solidFill>
                  <a:srgbClr val="D1EFFF"/>
                </a:solidFill>
              </a:rPr>
              <a:t>  teoria e quiz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Prática</a:t>
            </a:r>
            <a:r>
              <a:rPr lang="en-US" sz="1000" dirty="0">
                <a:solidFill>
                  <a:srgbClr val="D1EFFF"/>
                </a:solidFill>
              </a:rPr>
              <a:t>  sistema da SAP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 Docs</a:t>
            </a:r>
            <a:r>
              <a:rPr lang="en-US" sz="1000" dirty="0">
                <a:solidFill>
                  <a:srgbClr val="D1EFFF"/>
                </a:solidFill>
              </a:rPr>
              <a:t>  referência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ESTUDO · MATERIAIS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Quatro apoios para cada aula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Slides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 visão guiada da aula, em seções, com o resumo no final.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9394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80562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0562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README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Teoria completa, código comentado, glossário e quiz de fixação.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0148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1316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1316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Prática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Os exercícios oficiais rodam no </a:t>
            </a:r>
            <a:r>
              <a:rPr lang="en-US" sz="1200" i="1" dirty="0">
                <a:solidFill>
                  <a:srgbClr val="556B82"/>
                </a:solidFill>
              </a:rPr>
              <a:t>practice system</a:t>
            </a:r>
            <a:r>
              <a:rPr lang="en-US" sz="1200" dirty="0">
                <a:solidFill>
                  <a:srgbClr val="556B82"/>
                </a:solidFill>
              </a:rPr>
              <a:t> da SAP Learning ou em uma conta trial.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40901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42069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42069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Keyword Docs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Cada README aponta para o capítulo da ABAP Keyword Documentation.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5851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07008" y="485851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Certificação  </a:t>
            </a:r>
            <a:r>
              <a:rPr lang="en-US" sz="1200" dirty="0">
                <a:solidFill>
                  <a:srgbClr val="1D2D3E"/>
                </a:solidFill>
              </a:rPr>
              <a:t>a jornada completa prepara para a </a:t>
            </a:r>
            <a:r>
              <a:rPr lang="en-US" sz="1200" b="1" dirty="0">
                <a:solidFill>
                  <a:srgbClr val="1D2D3E"/>
                </a:solidFill>
              </a:rPr>
              <a:t>SAP Certified – Back-End Developer – ABAP Cloud (C_ABAPD)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694432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146" y="2694432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653" y="2694432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900" y="2694432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98652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DO MÓDULO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este módulo vai ensinar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Trabalhar no </a:t>
            </a:r>
            <a:r>
              <a:rPr lang="en-US" sz="1400" b="1" dirty="0">
                <a:solidFill>
                  <a:srgbClr val="FFFFFF"/>
                </a:solidFill>
              </a:rPr>
              <a:t>ADT</a:t>
            </a:r>
            <a:r>
              <a:rPr lang="en-US" sz="1400" dirty="0">
                <a:solidFill>
                  <a:srgbClr val="FFFFFF"/>
                </a:solidFill>
              </a:rPr>
              <a:t> e entender as regras do </a:t>
            </a:r>
            <a:r>
              <a:rPr lang="en-US" sz="1400" b="1" dirty="0">
                <a:solidFill>
                  <a:srgbClr val="FFFFFF"/>
                </a:solidFill>
              </a:rPr>
              <a:t>ABAP Cloud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Declarar dados, montar expressões, controlar o fluxo e </a:t>
            </a:r>
            <a:r>
              <a:rPr lang="en-US" sz="1400" b="1" dirty="0">
                <a:solidFill>
                  <a:srgbClr val="FFFFFF"/>
                </a:solidFill>
              </a:rPr>
              <a:t>depurar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Modelar com </a:t>
            </a:r>
            <a:r>
              <a:rPr lang="en-US" sz="1400" b="1" dirty="0">
                <a:solidFill>
                  <a:srgbClr val="FFFFFF"/>
                </a:solidFill>
              </a:rPr>
              <a:t>classes locais</a:t>
            </a:r>
            <a:r>
              <a:rPr lang="en-US" sz="1400" dirty="0">
                <a:solidFill>
                  <a:srgbClr val="FFFFFF"/>
                </a:solidFill>
              </a:rPr>
              <a:t>, métodos e encapsulamento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Ler dados com </a:t>
            </a:r>
            <a:r>
              <a:rPr lang="en-US" sz="1400" b="1" dirty="0">
                <a:solidFill>
                  <a:srgbClr val="FFFFFF"/>
                </a:solidFill>
              </a:rPr>
              <a:t>ABAP SQL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CDS views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Manipular </a:t>
            </a:r>
            <a:r>
              <a:rPr lang="en-US" sz="1400" b="1" dirty="0">
                <a:solidFill>
                  <a:srgbClr val="FFFFFF"/>
                </a:solidFill>
              </a:rPr>
              <a:t>estruturas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tabelas internas</a:t>
            </a:r>
            <a:r>
              <a:rPr lang="en-US" sz="1400" dirty="0">
                <a:solidFill>
                  <a:srgbClr val="FFFFFF"/>
                </a:solidFill>
              </a:rPr>
              <a:t> com a sintaxe moderna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Alterar dados com </a:t>
            </a:r>
            <a:r>
              <a:rPr lang="en-US" sz="1400" b="1" dirty="0">
                <a:solidFill>
                  <a:srgbClr val="FFFFFF"/>
                </a:solidFill>
              </a:rPr>
              <a:t>EML</a:t>
            </a:r>
            <a:r>
              <a:rPr lang="en-US" sz="1400" dirty="0">
                <a:solidFill>
                  <a:srgbClr val="FFFFFF"/>
                </a:solidFill>
              </a:rPr>
              <a:t> e construir serviços com o </a:t>
            </a:r>
            <a:r>
              <a:rPr lang="en-US" sz="1400" b="1" dirty="0">
                <a:solidFill>
                  <a:srgbClr val="FFFFFF"/>
                </a:solidFill>
              </a:rPr>
              <a:t>RAP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01.01  </a:t>
            </a:r>
            <a:r>
              <a:rPr lang="en-US" sz="1500" dirty="0">
                <a:solidFill>
                  <a:srgbClr val="FFFFFF"/>
                </a:solidFill>
              </a:rPr>
              <a:t>Iniciando a jornada: ADT, ABAP Cloud, pacotes e o primeiro programa.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01.00 ABAP moderno: uma jornada essencial</dc:title>
  <dc:subject>ABAP Moderno – Módulo 01: Fundamentos do ABAP Moderno</dc:subject>
  <dc:creator>Adriano Bispo</dc:creator>
  <cp:lastModifiedBy>Adriano Bispo</cp:lastModifiedBy>
  <cp:revision>1</cp:revision>
  <dcterms:created xsi:type="dcterms:W3CDTF">2026-10-29T13:18:01Z</dcterms:created>
  <dcterms:modified xsi:type="dcterms:W3CDTF">2026-10-29T13:18:01Z</dcterms:modified>
</cp:coreProperties>
</file>