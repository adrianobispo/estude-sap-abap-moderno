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Segurança e Autorização no SAP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Implementando RBAC, AUTHORITY-CHECK e DCL em aplicações modernas.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RBAC · Roles (PFCG)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Objeto de Autorização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AUTHORITY-CHECK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CDS Access Control (DCL)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SU53 · ST01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da Jornada Arquitetural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Do </a:t>
            </a:r>
            <a:r>
              <a:rPr lang="en-US" sz="1700" b="1" dirty="0">
                <a:solidFill>
                  <a:srgbClr val="1D2D3E"/>
                </a:solidFill>
              </a:rPr>
              <a:t>conceito macro de arquitetura</a:t>
            </a:r>
            <a:r>
              <a:rPr lang="en-US" sz="1700" dirty="0">
                <a:solidFill>
                  <a:srgbClr val="1D2D3E"/>
                </a:solidFill>
              </a:rPr>
              <a:t> até a </a:t>
            </a:r>
            <a:r>
              <a:rPr lang="en-US" sz="1700" b="1" dirty="0">
                <a:solidFill>
                  <a:srgbClr val="1D2D3E"/>
                </a:solidFill>
              </a:rPr>
              <a:t>implementação técnica micro</a:t>
            </a:r>
            <a:r>
              <a:rPr lang="en-US" sz="1700" dirty="0">
                <a:solidFill>
                  <a:srgbClr val="1D2D3E"/>
                </a:solidFill>
              </a:rPr>
              <a:t>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7864" cy="39776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5059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300984"/>
            <a:ext cx="205580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Arquitetura RBAC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Compreender a hierarquia entre Usuários, Roles, Perfis e Objetos de Autorização.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0824" y="2194560"/>
            <a:ext cx="2567864" cy="39776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46856" y="245059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46856" y="3300984"/>
            <a:ext cx="205580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Verificação Explícita (ABAP)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Implementar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1400" dirty="0">
                <a:solidFill>
                  <a:srgbClr val="556B82"/>
                </a:solidFill>
              </a:rPr>
              <a:t> e tratar retornos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400" dirty="0">
                <a:solidFill>
                  <a:srgbClr val="556B82"/>
                </a:solidFill>
              </a:rPr>
              <a:t>) para proteger ações.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2194560"/>
            <a:ext cx="2567864" cy="39776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89040" y="245059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89040" y="3300984"/>
            <a:ext cx="205580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Segurança de Dados (DCL)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Criar ‘Row-Level Security’ automático em CDS Views com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 pfcg_auth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75191" y="2194560"/>
            <a:ext cx="2567864" cy="39776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31223" y="245059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1223" y="3300984"/>
            <a:ext cx="205580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Diagnóstico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Utilizar SU53 e ST01 para resolver falhas de acesso.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615184"/>
            <a:ext cx="356616" cy="35661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448" y="2615184"/>
            <a:ext cx="356616" cy="35661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32" y="2615184"/>
            <a:ext cx="356616" cy="356616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815" y="2615184"/>
            <a:ext cx="356616" cy="356616"/>
          </a:xfrm>
          <a:prstGeom prst="rect">
            <a:avLst/>
          </a:prstGeom>
        </p:spPr>
      </p:pic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Alicerce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Role-Based Access Control (RBAC)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segurança no SAP é granular e baseada em contexto, não binária. As permissões são agrupadas por função de negócio.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7607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User Master Record  </a:t>
            </a:r>
            <a:r>
              <a:rPr lang="en-US" sz="1300" dirty="0">
                <a:solidFill>
                  <a:srgbClr val="556B82"/>
                </a:solidFill>
              </a:rPr>
              <a:t>Identidade (ex.: JOAO_SILVA)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3246120"/>
            <a:ext cx="0" cy="13716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3383280"/>
            <a:ext cx="57607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349300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0604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Role (Papel / PFCG)  </a:t>
            </a:r>
            <a:r>
              <a:rPr lang="en-US" sz="1300" dirty="0">
                <a:solidFill>
                  <a:srgbClr val="556B82"/>
                </a:solidFill>
              </a:rPr>
              <a:t>Função de negócio (ex.: Comprador). Um usuário pode ter múltiplos papéis.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94560" y="4160520"/>
            <a:ext cx="0" cy="137160"/>
          </a:xfrm>
          <a:prstGeom prst="line">
            <a:avLst/>
          </a:prstGeom>
          <a:noFill/>
          <a:ln w="25400">
            <a:solidFill>
              <a:srgbClr val="3091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297680"/>
            <a:ext cx="57607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7858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440740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0" y="4297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Profile (Perfil)  </a:t>
            </a:r>
            <a:r>
              <a:rPr lang="en-US" sz="1300" dirty="0">
                <a:solidFill>
                  <a:srgbClr val="556B82"/>
                </a:solidFill>
              </a:rPr>
              <a:t>Objeto técnico (gerado pela Role).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9000" y="5074920"/>
            <a:ext cx="0" cy="137160"/>
          </a:xfrm>
          <a:prstGeom prst="line">
            <a:avLst/>
          </a:prstGeom>
          <a:noFill/>
          <a:ln w="25400">
            <a:solidFill>
              <a:srgbClr val="785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5212080"/>
            <a:ext cx="57607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532180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5212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Authorization Object  </a:t>
            </a:r>
            <a:r>
              <a:rPr lang="en-US" sz="1300" dirty="0">
                <a:solidFill>
                  <a:srgbClr val="556B82"/>
                </a:solidFill>
              </a:rPr>
              <a:t>A ‘fechadura’ (unidade de verificação).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95360" y="2788920"/>
            <a:ext cx="3047695" cy="1188720"/>
          </a:xfrm>
          <a:prstGeom prst="roundRect">
            <a:avLst>
              <a:gd name="adj" fmla="val 9231"/>
            </a:avLst>
          </a:prstGeom>
          <a:solidFill>
            <a:srgbClr val="FFF8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788920"/>
            <a:ext cx="2041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</a:t>
            </a:r>
            <a:r>
              <a:rPr lang="en-US" sz="1500" b="1" dirty="0">
                <a:solidFill>
                  <a:srgbClr val="1D2D3E"/>
                </a:solidFill>
              </a:rPr>
              <a:t>Kernel do ABAP</a:t>
            </a:r>
            <a:r>
              <a:rPr lang="en-US" sz="1500" dirty="0">
                <a:solidFill>
                  <a:srgbClr val="1D2D3E"/>
                </a:solidFill>
              </a:rPr>
              <a:t> verifica o </a:t>
            </a:r>
            <a:r>
              <a:rPr lang="en-US" sz="1500" b="1" dirty="0">
                <a:solidFill>
                  <a:srgbClr val="1D2D3E"/>
                </a:solidFill>
              </a:rPr>
              <a:t>Perfil</a:t>
            </a:r>
            <a:r>
              <a:rPr lang="en-US" sz="1500" dirty="0">
                <a:solidFill>
                  <a:srgbClr val="1D2D3E"/>
                </a:solidFill>
              </a:rPr>
              <a:t>, não a Role.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710282"/>
            <a:ext cx="285293" cy="285293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914" y="3624682"/>
            <a:ext cx="285293" cy="285293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354" y="4539082"/>
            <a:ext cx="285293" cy="285293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94" y="5453482"/>
            <a:ext cx="285293" cy="285293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32095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‘Fechadura’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Objeto de Autorização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Uma estrutura lógica (definida na SU21) que agrupa até 10 campos para definir o que proteger e como.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377440"/>
            <a:ext cx="6035040" cy="3749040"/>
          </a:xfrm>
          <a:prstGeom prst="roundRect">
            <a:avLst>
              <a:gd name="adj" fmla="val 3902"/>
            </a:avLst>
          </a:prstGeom>
          <a:solidFill>
            <a:srgbClr val="1D2D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2514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Authorization Object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3DE"/>
                </a:solidFill>
              </a:rPr>
              <a:t>Fields (contexto)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3383280"/>
            <a:ext cx="2743200" cy="457200"/>
          </a:xfrm>
          <a:prstGeom prst="rect">
            <a:avLst/>
          </a:prstGeom>
          <a:solidFill>
            <a:srgbClr val="2A3B4E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Company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3931920"/>
            <a:ext cx="2743200" cy="457200"/>
          </a:xfrm>
          <a:prstGeom prst="rect">
            <a:avLst/>
          </a:prstGeom>
          <a:solidFill>
            <a:srgbClr val="2A3B4E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Sales Org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48840" y="4480560"/>
            <a:ext cx="2743200" cy="457200"/>
          </a:xfrm>
          <a:prstGeom prst="rect">
            <a:avLst/>
          </a:prstGeom>
          <a:solidFill>
            <a:srgbClr val="2A3B4E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48840" y="5029200"/>
            <a:ext cx="2743200" cy="457200"/>
          </a:xfrm>
          <a:prstGeom prst="rect">
            <a:avLst/>
          </a:prstGeom>
          <a:solidFill>
            <a:srgbClr val="2A3B4E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4884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4206240"/>
            <a:ext cx="457200" cy="365760"/>
          </a:xfrm>
          <a:prstGeom prst="rightArrow">
            <a:avLst/>
          </a:prstGeom>
          <a:solidFill>
            <a:srgbClr val="4DB1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3560" y="32004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0783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23560" y="320040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ACTVT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(Activity)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0" y="2880360"/>
            <a:ext cx="3230575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41080" y="301752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Valores padrão de ACTVT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41080" y="356616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E0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41080" y="35661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01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566160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Criar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41080" y="402336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E0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41080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02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4023360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Alterar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41080" y="448056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E0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41080" y="4480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4480560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Exibir (leitura universal)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41080" y="493776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E0F7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49377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C76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4937760"/>
            <a:ext cx="2133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Excluir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Estratégia de Defesa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Aplicação vs. Dados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36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Segurança de Aplicação (Ação)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73604" y="24688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56616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Posso clicar neste botão? Posso executar este método?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Lógica processual (BAdIs, ações RAP).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4632808" cy="914400"/>
          </a:xfrm>
          <a:prstGeom prst="roundRect">
            <a:avLst>
              <a:gd name="adj" fmla="val 12000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5029200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Verificação Explícita (ABAP AUTHORITY-CHECK)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78728" y="1828800"/>
            <a:ext cx="536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F3A"/>
                </a:solidFill>
              </a:rPr>
              <a:t>Segurança de Dados (Leitura)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03691" y="24688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44488" y="356616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Quais linhas eu posso ver nesta lista?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43891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Relatórios, listas Fiori, Analytics.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44488" y="5029200"/>
            <a:ext cx="4632808" cy="914400"/>
          </a:xfrm>
          <a:prstGeom prst="roundRect">
            <a:avLst>
              <a:gd name="adj" fmla="val 12000"/>
            </a:avLst>
          </a:prstGeom>
          <a:solidFill>
            <a:srgbClr val="F5FAE5"/>
          </a:solidFill>
          <a:ln w="19050">
            <a:solidFill>
              <a:srgbClr val="3091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35928" y="5029200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Verificação Implícita (CDS Access Control / DCL)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3060" y="2688336"/>
            <a:ext cx="475488" cy="475488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147" y="2688336"/>
            <a:ext cx="475488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Verificação Explícita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Comando AUTHORITY-CHECK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Utilizado dentro de métodos ou BAdIs para consultar o buffer de autorizações do usuário.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9494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04872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'S_AGENCY'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'AGENCYNUM'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'000001'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'ACTVT'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2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'02'</a:t>
            </a:r>
            <a:r>
              <a:rPr lang="en-US" sz="2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0" y="2240280"/>
            <a:ext cx="387065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6992" y="23728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36992" y="2372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240280"/>
            <a:ext cx="3093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Nome do objeto</a:t>
            </a:r>
            <a:r>
              <a:rPr lang="en-US" sz="1400" dirty="0">
                <a:solidFill>
                  <a:srgbClr val="1D2D3E"/>
                </a:solidFill>
              </a:rPr>
              <a:t> (definido na SU21).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2990088"/>
            <a:ext cx="387065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6992" y="3122676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36992" y="31226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90088"/>
            <a:ext cx="3093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Valor específico</a:t>
            </a:r>
            <a:r>
              <a:rPr lang="en-US" sz="1400" dirty="0">
                <a:solidFill>
                  <a:srgbClr val="1D2D3E"/>
                </a:solidFill>
              </a:rPr>
              <a:t> a checar (constraint).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3739896"/>
            <a:ext cx="387065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387248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36992" y="38724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39896"/>
            <a:ext cx="3093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Atividade requerida</a:t>
            </a:r>
            <a:r>
              <a:rPr lang="en-US" sz="1400" dirty="0">
                <a:solidFill>
                  <a:srgbClr val="1D2D3E"/>
                </a:solidFill>
              </a:rPr>
              <a:t> (02 = Alterar).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8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80160" y="47091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Atenção:</a:t>
            </a:r>
            <a:r>
              <a:rPr lang="en-US" sz="1700" dirty="0">
                <a:solidFill>
                  <a:srgbClr val="1D2D3E"/>
                </a:solidFill>
              </a:rPr>
              <a:t> se um campo for omitido (‘dummy check’), o sistema assume que </a:t>
            </a:r>
            <a:r>
              <a:rPr lang="en-US" sz="1700" b="1" dirty="0">
                <a:solidFill>
                  <a:srgbClr val="1D2D3E"/>
                </a:solidFill>
              </a:rPr>
              <a:t>qualquer</a:t>
            </a:r>
            <a:r>
              <a:rPr lang="en-US" sz="1700" dirty="0">
                <a:solidFill>
                  <a:srgbClr val="1D2D3E"/>
                </a:solidFill>
              </a:rPr>
              <a:t> valor é aceitável para aquele campo.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926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Veredito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Interpretando o sy-subrc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554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Falha silenciosa:</a:t>
            </a:r>
            <a:r>
              <a:rPr lang="en-US" sz="1700" dirty="0">
                <a:solidFill>
                  <a:srgbClr val="1D2D3E"/>
                </a:solidFill>
              </a:rPr>
              <a:t> o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1700" dirty="0">
                <a:solidFill>
                  <a:srgbClr val="1D2D3E"/>
                </a:solidFill>
              </a:rPr>
              <a:t> não para o programa sozinho. É mandatório checar o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384048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 = 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Sucesso / Green Light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377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usuário tem permissão. O código prossegue.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8218" y="260604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D20A0A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8218" y="384048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 = 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21098" y="44348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Falha de Negócio / Red Light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49377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Bloquear processo e lançar exceção (ex.: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cx_demo_auth_failure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260604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27797" y="384048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 = 12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10677" y="44348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Falha Técnica / Yellow Light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49377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Objeto de autorização não existe. Reportar bug ao desenvolvedor.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69364"/>
            <a:ext cx="347472" cy="34747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89" y="2880360"/>
            <a:ext cx="822960" cy="82296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2880360"/>
            <a:ext cx="822960" cy="82296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946" y="2880360"/>
            <a:ext cx="822960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Abordagem Antiga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Dilema da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6499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21992"/>
            <a:ext cx="228211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B82"/>
                </a:solidFill>
              </a:rPr>
              <a:t>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10 milhões de registros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86786" y="28346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2148840"/>
            <a:ext cx="246499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221992"/>
            <a:ext cx="228211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SELECT *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tudo vai para o servidor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3260" y="28346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2148840"/>
            <a:ext cx="246499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221992"/>
            <a:ext cx="228211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LOOP + AUTHORITY-CHECK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linha a linha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39733" y="28346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2148840"/>
            <a:ext cx="246499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20A0A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221992"/>
            <a:ext cx="228211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DELETE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remove o que não pode ver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FFEA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434340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Impacto:</a:t>
            </a:r>
            <a:r>
              <a:rPr lang="en-US" sz="1800" dirty="0">
                <a:solidFill>
                  <a:srgbClr val="1D2D3E"/>
                </a:solidFill>
              </a:rPr>
              <a:t> estouro de memória e lentidão. O dado proibido trafegou desnecessariamente pela rede.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725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 Moderna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CDS Access Control (DCL)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Code Pushdown:</a:t>
            </a:r>
            <a:r>
              <a:rPr lang="en-US" sz="1800" dirty="0">
                <a:solidFill>
                  <a:srgbClr val="1D2D3E"/>
                </a:solidFill>
              </a:rPr>
              <a:t> a segurança é aplicada diretamente na consulta ao banco de dados.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381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404872"/>
            <a:ext cx="32409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F3A"/>
                </a:solidFill>
              </a:rPr>
              <a:t>Database (HANA)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DCL / Row-Level Security filtra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45610" y="30175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2331720"/>
            <a:ext cx="342381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2404872"/>
            <a:ext cx="32409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Result Set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apenas as linhas permitidas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80909" y="30175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2331720"/>
            <a:ext cx="342381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2404872"/>
            <a:ext cx="324093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Application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recebe dados já filtrados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5FA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4348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Benefícios:</a:t>
            </a:r>
            <a:r>
              <a:rPr lang="en-US" sz="1800" dirty="0">
                <a:solidFill>
                  <a:srgbClr val="1D2D3E"/>
                </a:solidFill>
              </a:rPr>
              <a:t> performance nativa e segurança universal (impossível de burlar por esquecimento).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7183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Anatomia do DCL (.dcls)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 artefato separado que protege uma CDS View.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749808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404872"/>
            <a:ext cx="7040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@MappingRole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Z_I_TRAVEL_DCL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pfcg_auth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S_AGENCY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AGENCYNUM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'03'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21040" y="2240280"/>
            <a:ext cx="33220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25100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85632" y="2510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2240280"/>
            <a:ext cx="2544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Objeto de autorização</a:t>
            </a:r>
            <a:r>
              <a:rPr lang="en-US" sz="1300" dirty="0">
                <a:solidFill>
                  <a:srgbClr val="1D2D3E"/>
                </a:solidFill>
              </a:rPr>
              <a:t>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S_AGENCY</a:t>
            </a:r>
            <a:r>
              <a:rPr lang="en-US" sz="13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3246120"/>
            <a:ext cx="33220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85632" y="35158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85632" y="3515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3246120"/>
            <a:ext cx="2544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 mágica:</a:t>
            </a:r>
            <a:r>
              <a:rPr lang="en-US" sz="1300" dirty="0">
                <a:solidFill>
                  <a:srgbClr val="1D2D3E"/>
                </a:solidFill>
              </a:rPr>
              <a:t> conecta dinamicamente os campos da view com os valores no perfil do usuário (PFCG).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4251960"/>
            <a:ext cx="33220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45217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4521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4251960"/>
            <a:ext cx="2544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Filtro fixo:</a:t>
            </a:r>
            <a:r>
              <a:rPr lang="en-US" sz="1300" dirty="0">
                <a:solidFill>
                  <a:srgbClr val="1D2D3E"/>
                </a:solidFill>
              </a:rPr>
              <a:t>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 = '03'</a:t>
            </a:r>
            <a:r>
              <a:rPr lang="en-US" sz="1300" dirty="0">
                <a:solidFill>
                  <a:srgbClr val="1D2D3E"/>
                </a:solidFill>
              </a:rPr>
              <a:t> (apenas leitura).</a:t>
            </a:r>
            <a:endParaRPr lang="en-US" sz="1600" dirty="0"/>
          </a:p>
        </p:txBody>
      </p:sp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DCL em Ação (Runtime)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Cenário: </a:t>
            </a:r>
            <a:r>
              <a:rPr lang="en-US" sz="1700" dirty="0">
                <a:solidFill>
                  <a:srgbClr val="1D2D3E"/>
                </a:solidFill>
              </a:rPr>
              <a:t>usuário solicita dados de viagens.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6576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5511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Query original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35224"/>
            <a:ext cx="3657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06324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3063240"/>
            <a:ext cx="548640" cy="41148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9" name="Shape 7"/>
          <p:cNvSpPr/>
          <p:nvPr/>
        </p:nvSpPr>
        <p:spPr>
          <a:xfrm>
            <a:off x="5440680" y="2606040"/>
            <a:ext cx="1188720" cy="11887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Database DCL Injection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User Role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3063240"/>
            <a:ext cx="548640" cy="41148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2423160"/>
            <a:ext cx="4053535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818120" y="2551176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Query executada (internal rewrite)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935224"/>
            <a:ext cx="40535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3063240"/>
            <a:ext cx="35963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'Rio'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489204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O </a:t>
            </a:r>
            <a:r>
              <a:rPr lang="en-US" sz="1800" b="1" dirty="0">
                <a:solidFill>
                  <a:srgbClr val="1D2D3E"/>
                </a:solidFill>
              </a:rPr>
              <a:t>filtro</a:t>
            </a:r>
            <a:r>
              <a:rPr lang="en-US" sz="1800" dirty="0">
                <a:solidFill>
                  <a:srgbClr val="1D2D3E"/>
                </a:solidFill>
              </a:rPr>
              <a:t> funciona como um </a:t>
            </a:r>
            <a:r>
              <a:rPr lang="en-US" sz="18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800" dirty="0">
                <a:solidFill>
                  <a:srgbClr val="1D2D3E"/>
                </a:solidFill>
              </a:rPr>
              <a:t> dinâmico e invisível.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973" y="2891333"/>
            <a:ext cx="618134" cy="618134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29784"/>
            <a:ext cx="347472" cy="347472"/>
          </a:xfrm>
          <a:prstGeom prst="rect">
            <a:avLst/>
          </a:prstGeom>
        </p:spPr>
      </p:pic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Abordagem Híbrida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Exemplo Prático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Cenário: </a:t>
            </a:r>
            <a:r>
              <a:rPr lang="en-US" sz="1700" dirty="0">
                <a:solidFill>
                  <a:srgbClr val="1D2D3E"/>
                </a:solidFill>
              </a:rPr>
              <a:t>usuário visualiza uma lista e tenta aprovar uma viagem.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935442" y="2811780"/>
            <a:ext cx="8320811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1102" y="23774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1102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70F2"/>
                </a:solidFill>
              </a:rPr>
              <a:t>1</a:t>
            </a:r>
            <a:endParaRPr lang="en-US" sz="28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74720"/>
            <a:ext cx="26273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Visualização (DCL)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DCL filtra a lista. Usuário vê o item.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4706" y="23774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4706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70F2"/>
                </a:solidFill>
              </a:rPr>
              <a:t>2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3395396" y="3474720"/>
            <a:ext cx="26273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Ação (Usuário)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Usuário clica no botão “Aprovar”.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8310" y="23774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831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70F2"/>
                </a:solidFill>
              </a:rPr>
              <a:t>3</a:t>
            </a:r>
            <a:endParaRPr lang="en-US" sz="2850" dirty="0"/>
          </a:p>
        </p:txBody>
      </p:sp>
      <p:sp>
        <p:nvSpPr>
          <p:cNvPr id="14" name="Text 12"/>
          <p:cNvSpPr txBox="1"/>
          <p:nvPr/>
        </p:nvSpPr>
        <p:spPr>
          <a:xfrm>
            <a:off x="6169000" y="3474720"/>
            <a:ext cx="26273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Verificação (ABAP)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1400" dirty="0">
                <a:solidFill>
                  <a:srgbClr val="556B82"/>
                </a:solidFill>
              </a:rPr>
              <a:t> verifica se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 = 02</a:t>
            </a:r>
            <a:r>
              <a:rPr lang="en-US" sz="1400" dirty="0">
                <a:solidFill>
                  <a:srgbClr val="556B82"/>
                </a:solidFill>
              </a:rPr>
              <a:t> (Change).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821913" y="2377440"/>
            <a:ext cx="868680" cy="868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1913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70F2"/>
                </a:solidFill>
              </a:rPr>
              <a:t>4</a:t>
            </a:r>
            <a:endParaRPr lang="en-US" sz="2850" dirty="0"/>
          </a:p>
        </p:txBody>
      </p:sp>
      <p:sp>
        <p:nvSpPr>
          <p:cNvPr id="17" name="Text 15"/>
          <p:cNvSpPr txBox="1"/>
          <p:nvPr/>
        </p:nvSpPr>
        <p:spPr>
          <a:xfrm>
            <a:off x="8942603" y="3474720"/>
            <a:ext cx="26273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Resultado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Aprovação permitida somente se ambas as camadas validarem.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8D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534924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Use </a:t>
            </a:r>
            <a:r>
              <a:rPr lang="en-US" sz="1800" b="1" dirty="0">
                <a:solidFill>
                  <a:srgbClr val="1D2D3E"/>
                </a:solidFill>
              </a:rPr>
              <a:t>ambas</a:t>
            </a:r>
            <a:r>
              <a:rPr lang="en-US" sz="1800" dirty="0">
                <a:solidFill>
                  <a:srgbClr val="1D2D3E"/>
                </a:solidFill>
              </a:rPr>
              <a:t> as camadas </a:t>
            </a:r>
            <a:r>
              <a:rPr lang="en-US" sz="1800" b="1" dirty="0">
                <a:solidFill>
                  <a:srgbClr val="1D2D3E"/>
                </a:solidFill>
              </a:rPr>
              <a:t>juntas</a:t>
            </a:r>
            <a:r>
              <a:rPr lang="en-US" sz="1800" dirty="0">
                <a:solidFill>
                  <a:srgbClr val="1D2D3E"/>
                </a:solidFill>
              </a:rPr>
              <a:t> para cobertura completa.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412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Batalha de Paradigmas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ABAP Check vs. DCL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AUTHORITY-CHECK (ABAP)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Access Control (DCL)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Local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Servidor de Aplicação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Banco de Dados (HANA/SQL)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Objetivo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Proteger uma </a:t>
                      </a: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Ação</a:t>
                      </a: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 (botão)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Filtrar </a:t>
                      </a: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Dados</a:t>
                      </a: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 (lista)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Lento para listas (loops)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Rápido (nativo no DB)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Comportamento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Explícito (dev escreve IF)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Implícito (automático)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Resultado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Código de erro (</a:t>
                      </a: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sy-subrc</a:t>
                      </a: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Conjunto de dados reduzido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Diagnóstico e Troubleshooting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que fazer quando o usuário relata ‘Acesso Negado’ ou ‘Lista Vazia’.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15258" cy="1005840"/>
          </a:xfrm>
          <a:prstGeom prst="roundRect">
            <a:avLst>
              <a:gd name="adj" fmla="val 12727"/>
            </a:avLst>
          </a:prstGeom>
          <a:solidFill>
            <a:srgbClr val="1D2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37360" y="2194560"/>
            <a:ext cx="2143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SU53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515258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34747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Primeiro Socorro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Verifica a </a:t>
            </a:r>
            <a:r>
              <a:rPr lang="en-US" sz="1600" b="1" dirty="0">
                <a:solidFill>
                  <a:srgbClr val="1D2D3E"/>
                </a:solidFill>
              </a:rPr>
              <a:t>última</a:t>
            </a:r>
            <a:r>
              <a:rPr lang="en-US" sz="1600" dirty="0">
                <a:solidFill>
                  <a:srgbClr val="1D2D3E"/>
                </a:solidFill>
              </a:rPr>
              <a:t> falha de autorização. Deve ser executada imediatamente após o erro.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2194560"/>
            <a:ext cx="3515258" cy="1005840"/>
          </a:xfrm>
          <a:prstGeom prst="roundRect">
            <a:avLst>
              <a:gd name="adj" fmla="val 12727"/>
            </a:avLst>
          </a:prstGeom>
          <a:solidFill>
            <a:srgbClr val="1D2D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26938" y="2194560"/>
            <a:ext cx="2143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ST01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38218" y="3291840"/>
            <a:ext cx="3515258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38218" y="34747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Investigador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397764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System-wide trace. Rastreia todas as verificações. Ideal para falhas silenciosas de DCL.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2194560"/>
            <a:ext cx="3515258" cy="1005840"/>
          </a:xfrm>
          <a:prstGeom prst="roundRect">
            <a:avLst>
              <a:gd name="adj" fmla="val 12727"/>
            </a:avLst>
          </a:prstGeom>
          <a:solidFill>
            <a:srgbClr val="1D2D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16517" y="2194560"/>
            <a:ext cx="2143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SACF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127797" y="3291840"/>
            <a:ext cx="3515258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27797" y="34747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Simulador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47837" y="397764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Permite simular cenários de verificação complexos sem alterar roles.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8258" y="2377440"/>
            <a:ext cx="640080" cy="64008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837" y="2377440"/>
            <a:ext cx="640080" cy="640080"/>
          </a:xfrm>
          <a:prstGeom prst="rect">
            <a:avLst/>
          </a:prstGeom>
        </p:spPr>
      </p:pic>
      <p:sp>
        <p:nvSpPr>
          <p:cNvPr id="2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Resumo e Glossário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Quiz de fixação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64328" cy="914400"/>
          </a:xfrm>
          <a:prstGeom prst="roundRect">
            <a:avLst>
              <a:gd name="adj" fmla="val 14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Q: </a:t>
            </a:r>
            <a:r>
              <a:rPr lang="en-US" sz="1400" dirty="0">
                <a:solidFill>
                  <a:srgbClr val="FFFFFF"/>
                </a:solidFill>
              </a:rPr>
              <a:t>O que acontece sem um arquivo DCL?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</a:rPr>
              <a:t>R: </a:t>
            </a:r>
            <a:r>
              <a:rPr lang="en-US" sz="1400" dirty="0">
                <a:solidFill>
                  <a:srgbClr val="C9D3DE"/>
                </a:solidFill>
              </a:rPr>
              <a:t>Acesso total (‘full access’) aos dados.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64328" cy="914400"/>
          </a:xfrm>
          <a:prstGeom prst="roundRect">
            <a:avLst>
              <a:gd name="adj" fmla="val 14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Q: </a:t>
            </a:r>
            <a:r>
              <a:rPr lang="en-US" sz="1400" dirty="0">
                <a:solidFill>
                  <a:srgbClr val="FFFFFF"/>
                </a:solidFill>
              </a:rPr>
              <a:t>Qual o valor universal para leitura?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</a:rPr>
              <a:t>R: </a:t>
            </a:r>
            <a:r>
              <a:rPr lang="en-US" sz="1400" dirty="0">
                <a:solidFill>
                  <a:srgbClr val="C9D3DE"/>
                </a:solidFill>
              </a:rPr>
              <a:t>ACTVT = '03'.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364328" cy="914400"/>
          </a:xfrm>
          <a:prstGeom prst="roundRect">
            <a:avLst>
              <a:gd name="adj" fmla="val 14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29768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Q: </a:t>
            </a:r>
            <a:r>
              <a:rPr lang="en-US" sz="1400" dirty="0">
                <a:solidFill>
                  <a:srgbClr val="FFFFFF"/>
                </a:solidFill>
              </a:rPr>
              <a:t>Por que usar DCL?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</a:rPr>
              <a:t>R: </a:t>
            </a:r>
            <a:r>
              <a:rPr lang="en-US" sz="1400" dirty="0">
                <a:solidFill>
                  <a:srgbClr val="C9D3DE"/>
                </a:solidFill>
              </a:rPr>
              <a:t>Code pushdown e performance superior.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73736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Glossário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19456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ACTVT: </a:t>
            </a:r>
            <a:r>
              <a:rPr lang="en-US" sz="1500" dirty="0">
                <a:solidFill>
                  <a:srgbClr val="C9D3DE"/>
                </a:solidFill>
              </a:rPr>
              <a:t>Define a operação (criar, alterar, exibir).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324612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PFCG_AUTH: </a:t>
            </a:r>
            <a:r>
              <a:rPr lang="en-US" sz="1500" dirty="0">
                <a:solidFill>
                  <a:srgbClr val="C9D3DE"/>
                </a:solidFill>
              </a:rPr>
              <a:t>Função DCL para mapear campos do CDS contra o perfil.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429768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SU53: </a:t>
            </a:r>
            <a:r>
              <a:rPr lang="en-US" sz="1500" dirty="0">
                <a:solidFill>
                  <a:srgbClr val="C9D3DE"/>
                </a:solidFill>
              </a:rPr>
              <a:t>Transação para visualizar falhas de acesso.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“Segurança robusta é a combinação de </a:t>
            </a:r>
            <a:r>
              <a:rPr lang="en-US" sz="1800" b="1" dirty="0">
                <a:solidFill>
                  <a:srgbClr val="FFFFFF"/>
                </a:solidFill>
              </a:rPr>
              <a:t>arquitetura correta</a:t>
            </a:r>
            <a:r>
              <a:rPr lang="en-US" sz="1800" dirty="0">
                <a:solidFill>
                  <a:srgbClr val="FFFFFF"/>
                </a:solidFill>
              </a:rPr>
              <a:t> e </a:t>
            </a:r>
            <a:r>
              <a:rPr lang="en-US" sz="1800" b="1" dirty="0">
                <a:solidFill>
                  <a:srgbClr val="FFFFFF"/>
                </a:solidFill>
              </a:rPr>
              <a:t>código limpo</a:t>
            </a:r>
            <a:r>
              <a:rPr lang="en-US" sz="1800" dirty="0">
                <a:solidFill>
                  <a:srgbClr val="FFFFFF"/>
                </a:solidFill>
              </a:rPr>
              <a:t>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e Autorização no SAP</dc:title>
  <dc:subject>ABAP Moderno – Módulo 04</dc:subject>
  <dc:creator>Adriano Bispo</dc:creator>
  <cp:lastModifiedBy>Adriano Bispo</cp:lastModifiedBy>
  <cp:revision>1</cp:revision>
  <dcterms:created xsi:type="dcterms:W3CDTF">2026-10-28T00:25:34Z</dcterms:created>
  <dcterms:modified xsi:type="dcterms:W3CDTF">2026-10-28T00:25:34Z</dcterms:modified>
</cp:coreProperties>
</file>