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04 — Extensibilidade Clean Core  ·  Aula 1 de 5 — Clean Core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04 — Extensibilidade Clean Core  ·  Aula 1 de 5 — Clean Core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04 · AULA 01 DE 05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SAP S/4HANA Cloud, extensões e Clean Core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Por que extensões existem, como o modelo clássico gerou dívida técnica e como o Clean Core muda a jornada para o S/4HANA.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576072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8" name="Shape 6"/>
          <p:cNvSpPr/>
          <p:nvPr/>
        </p:nvSpPr>
        <p:spPr>
          <a:xfrm>
            <a:off x="8851392" y="4937760"/>
            <a:ext cx="576072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9518904" y="4937760"/>
            <a:ext cx="576072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10186416" y="4937760"/>
            <a:ext cx="576072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10853928" y="4937760"/>
            <a:ext cx="576072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1 de 5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04 — Extensibilidade Clean Core · Design System SAP Horizon</a:t>
            </a:r>
            <a:endParaRPr lang="en-US" sz="1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04 em 5 aulas: Clean Core e extensibilidade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072579" cy="38404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Clean Core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174339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Extensões, núcleo limpo e transição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188720" y="1892808"/>
            <a:ext cx="792419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88720" y="1892808"/>
            <a:ext cx="7924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804099" y="1645920"/>
            <a:ext cx="2072579" cy="38404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68691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968691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4" name="Text 12"/>
          <p:cNvSpPr txBox="1"/>
          <p:nvPr/>
        </p:nvSpPr>
        <p:spPr>
          <a:xfrm>
            <a:off x="2968691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UX de consumidor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2968691" y="2788920"/>
            <a:ext cx="174339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Princípios Fiori, launchpad e SAP Build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59558" y="1645920"/>
            <a:ext cx="2072579" cy="38404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2415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22415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9" name="Text 17"/>
          <p:cNvSpPr txBox="1"/>
          <p:nvPr/>
        </p:nvSpPr>
        <p:spPr>
          <a:xfrm>
            <a:off x="5224150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ABAP Cloud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224150" y="2788920"/>
            <a:ext cx="174339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Language version 5, released APIs e wrappers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017" y="1645920"/>
            <a:ext cx="2072579" cy="38404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79609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79609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4" name="Text 22"/>
          <p:cNvSpPr txBox="1"/>
          <p:nvPr/>
        </p:nvSpPr>
        <p:spPr>
          <a:xfrm>
            <a:off x="7479609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Modelo de extensibilidade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7479609" y="2788920"/>
            <a:ext cx="174339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Key user, developer e side-by-side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570476" y="1645920"/>
            <a:ext cx="2072579" cy="38404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735068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73506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9" name="Text 27"/>
          <p:cNvSpPr txBox="1"/>
          <p:nvPr/>
        </p:nvSpPr>
        <p:spPr>
          <a:xfrm>
            <a:off x="9735068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Private Edition e On-Premise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9735068" y="2788920"/>
            <a:ext cx="174339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Níveis A–D, ATC e coexistência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entendemos o problema que o Clean Core resolve e o que acontece com o código customizado na migração para o S/4HANA.</a:t>
            </a:r>
            <a:endParaRPr lang="en-US" sz="140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497" y="1847088"/>
            <a:ext cx="347472" cy="347472"/>
          </a:xfrm>
          <a:prstGeom prst="rect">
            <a:avLst/>
          </a:prstGeom>
        </p:spPr>
      </p:pic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2579" y="1847088"/>
            <a:ext cx="347472" cy="347472"/>
          </a:xfrm>
          <a:prstGeom prst="rect">
            <a:avLst/>
          </a:prstGeom>
        </p:spPr>
      </p:pic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8956" y="1847088"/>
            <a:ext cx="347472" cy="347472"/>
          </a:xfrm>
          <a:prstGeom prst="rect">
            <a:avLst/>
          </a:prstGeom>
        </p:spPr>
      </p:pic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8038" y="1847088"/>
            <a:ext cx="347472" cy="347472"/>
          </a:xfrm>
          <a:prstGeom prst="rect">
            <a:avLst/>
          </a:prstGeom>
        </p:spPr>
      </p:pic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Escopo e flexibilidade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Todo software é desenhado para um </a:t>
            </a:r>
            <a:r>
              <a:rPr lang="en-US" sz="1500" b="1" dirty="0">
                <a:solidFill>
                  <a:srgbClr val="556B82"/>
                </a:solidFill>
              </a:rPr>
              <a:t>escopo</a:t>
            </a:r>
            <a:r>
              <a:rPr lang="en-US" sz="1500" dirty="0">
                <a:solidFill>
                  <a:srgbClr val="556B82"/>
                </a:solidFill>
              </a:rPr>
              <a:t>. O valor do SAP sempre esteve em cobrir quase todos os processos e, ainda assim, deixar cada cliente </a:t>
            </a:r>
            <a:r>
              <a:rPr lang="en-US" sz="1500" b="1" dirty="0">
                <a:solidFill>
                  <a:srgbClr val="556B82"/>
                </a:solidFill>
              </a:rPr>
              <a:t>adaptá-los</a:t>
            </a:r>
            <a:r>
              <a:rPr lang="en-US" sz="150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008884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321005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3813556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Escopo amplo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Logística, finanças e RH para mais de 30 indústrias, cada uma com seus processos.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22978" y="3008884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4146" y="321005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24146" y="3813556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Flexibilidade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Cada empresa executa os processos do seu jeito: extensões ajustam o escopo entregue.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97317" y="3008884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98485" y="321005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98485" y="3813556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O dilema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Um sistema "congelado" é fácil de atualizar; um sistema livremente alterável é difícil. O Clean Core busca o meio-termo.</a:t>
            </a:r>
            <a:endParaRPr lang="en-US" sz="14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9069" y="3310636"/>
            <a:ext cx="256032" cy="256032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3310636"/>
            <a:ext cx="256032" cy="256032"/>
          </a:xfrm>
          <a:prstGeom prst="rect">
            <a:avLst/>
          </a:prstGeom>
        </p:spPr>
      </p:pic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730" y="3310636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04.01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Como chegamos aqui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No ERP clássico, a SAP oferecia </a:t>
            </a:r>
            <a:r>
              <a:rPr lang="en-US" sz="1600" b="1" dirty="0">
                <a:solidFill>
                  <a:srgbClr val="D1EFFF"/>
                </a:solidFill>
              </a:rPr>
              <a:t>exits</a:t>
            </a:r>
            <a:r>
              <a:rPr lang="en-US" sz="1600" dirty="0">
                <a:solidFill>
                  <a:srgbClr val="D1EFFF"/>
                </a:solidFill>
              </a:rPr>
              <a:t> em cada camada, e clientes também </a:t>
            </a:r>
            <a:r>
              <a:rPr lang="en-US" sz="1600" b="1" dirty="0">
                <a:solidFill>
                  <a:srgbClr val="D1EFFF"/>
                </a:solidFill>
              </a:rPr>
              <a:t>modificavam</a:t>
            </a:r>
            <a:r>
              <a:rPr lang="en-US" sz="1600" dirty="0">
                <a:solidFill>
                  <a:srgbClr val="D1EFFF"/>
                </a:solidFill>
              </a:rPr>
              <a:t> o código standard. Funcionava, mas com um custo.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append</a:t>
            </a:r>
            <a:r>
              <a:rPr lang="en-US" sz="1000" dirty="0">
                <a:solidFill>
                  <a:srgbClr val="D1EFFF"/>
                </a:solidFill>
              </a:rPr>
              <a:t>  dados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 · menu exits</a:t>
            </a:r>
            <a:r>
              <a:rPr lang="en-US" sz="1000" dirty="0">
                <a:solidFill>
                  <a:srgbClr val="D1EFFF"/>
                </a:solidFill>
              </a:rPr>
              <a:t>  interface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exits</a:t>
            </a:r>
            <a:r>
              <a:rPr lang="en-US" sz="1000" dirty="0">
                <a:solidFill>
                  <a:srgbClr val="D1EFFF"/>
                </a:solidFill>
              </a:rPr>
              <a:t>  lógica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Modificações</a:t>
            </a:r>
            <a:r>
              <a:rPr lang="en-US" sz="1000" dirty="0">
                <a:solidFill>
                  <a:srgbClr val="D1EFFF"/>
                </a:solidFill>
              </a:rPr>
              <a:t>  SPDD · SPAU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LEGADO · EXITS EM CAMADAS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Um campo de lucro, três tipos de exit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Exemplo oficial: exibir um </a:t>
            </a:r>
            <a:r>
              <a:rPr lang="en-US" sz="1400" b="1" dirty="0">
                <a:solidFill>
                  <a:srgbClr val="556B82"/>
                </a:solidFill>
              </a:rPr>
              <a:t>lucro</a:t>
            </a:r>
            <a:r>
              <a:rPr lang="en-US" sz="1400" dirty="0">
                <a:solidFill>
                  <a:srgbClr val="556B82"/>
                </a:solidFill>
              </a:rPr>
              <a:t> calculado com receita, custo e um fator próprio do cliente.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42381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2514600"/>
            <a:ext cx="3240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Camada de dados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Table append com o fator do cliente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045610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8" name="Shape 6"/>
          <p:cNvSpPr/>
          <p:nvPr/>
        </p:nvSpPr>
        <p:spPr>
          <a:xfrm>
            <a:off x="4383938" y="1920240"/>
            <a:ext cx="342381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475378" y="2514600"/>
            <a:ext cx="3240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Camada de código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Code exit (user/customer exit, BAdI) que calcula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880909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1" name="Shape 9"/>
          <p:cNvSpPr/>
          <p:nvPr/>
        </p:nvSpPr>
        <p:spPr>
          <a:xfrm>
            <a:off x="8219237" y="1920240"/>
            <a:ext cx="342381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E76500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310677" y="2514600"/>
            <a:ext cx="3240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B44F00"/>
                </a:solidFill>
              </a:rPr>
              <a:t>Camada visual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Screen e menu exits mostram o campo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Acoplamento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O código do cliente lia tabelas internas e dependia de detalhes que a SAP podia mudar.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22978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05858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05858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Upgrades caros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A cada versão,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SPDD</a:t>
            </a:r>
            <a:r>
              <a:rPr lang="en-US" sz="1200" dirty="0">
                <a:solidFill>
                  <a:srgbClr val="556B82"/>
                </a:solidFill>
              </a:rPr>
              <a:t> e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SPAU</a:t>
            </a:r>
            <a:r>
              <a:rPr lang="en-US" sz="1200" dirty="0">
                <a:solidFill>
                  <a:srgbClr val="556B82"/>
                </a:solidFill>
              </a:rPr>
              <a:t> ajustavam modificações: projetos longos e arriscados.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97317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80197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80197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Incompatível com a nuvem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Atualizações frequentes e automáticas não convivem com núcleo modificado.</a:t>
            </a:r>
            <a:endParaRPr lang="en-US" sz="14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8711" y="3928994"/>
            <a:ext cx="225308" cy="225308"/>
          </a:xfrm>
          <a:prstGeom prst="rect">
            <a:avLst/>
          </a:prstGeom>
        </p:spPr>
      </p:pic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7669" y="2084832"/>
            <a:ext cx="365760" cy="365760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8266" y="2084832"/>
            <a:ext cx="365760" cy="365760"/>
          </a:xfrm>
          <a:prstGeom prst="rect">
            <a:avLst/>
          </a:prstGeom>
        </p:spPr>
      </p:pic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2968" y="2084832"/>
            <a:ext cx="365760" cy="365760"/>
          </a:xfrm>
          <a:prstGeom prst="rect">
            <a:avLst/>
          </a:prstGeom>
        </p:spPr>
      </p:pic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0034" y="3928994"/>
            <a:ext cx="225308" cy="225308"/>
          </a:xfrm>
          <a:prstGeom prst="rect">
            <a:avLst/>
          </a:prstGeom>
        </p:spPr>
      </p:pic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94372" y="3928994"/>
            <a:ext cx="225308" cy="2253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LEGADO · O QUE AVALIAR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Modificações, cópias e enhancements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466975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66814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271647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Modificação direta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Alteração em um objeto SAP, às vezes por instrução de uma SAP Note.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22978" y="2466975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24146" y="266814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4146" y="3271647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Cópias e indiretas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Clones de objetos SAP, enhancements implícitos e explícitos que dependem de internos.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7317" y="2466975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98485" y="266814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98485" y="3271647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Como achar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SPDD</a:t>
            </a:r>
            <a:r>
              <a:rPr lang="en-US" sz="1300" dirty="0">
                <a:solidFill>
                  <a:srgbClr val="556B82"/>
                </a:solidFill>
              </a:rPr>
              <a:t>,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SPAU</a:t>
            </a:r>
            <a:r>
              <a:rPr lang="en-US" sz="1300" dirty="0">
                <a:solidFill>
                  <a:srgbClr val="556B82"/>
                </a:solidFill>
              </a:rPr>
              <a:t>/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SPAU_ENH</a:t>
            </a:r>
            <a:r>
              <a:rPr lang="en-US" sz="1300" dirty="0">
                <a:solidFill>
                  <a:srgbClr val="556B82"/>
                </a:solidFill>
              </a:rPr>
              <a:t> e o </a:t>
            </a:r>
            <a:r>
              <a:rPr lang="en-US" sz="1300" i="1" dirty="0">
                <a:solidFill>
                  <a:srgbClr val="556B82"/>
                </a:solidFill>
              </a:rPr>
              <a:t>clone finder</a:t>
            </a:r>
            <a:r>
              <a:rPr lang="en-US" sz="1300" dirty="0">
                <a:solidFill>
                  <a:srgbClr val="556B82"/>
                </a:solidFill>
              </a:rPr>
              <a:t> mostram o que existe.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784217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07008" y="4784217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Princípio  </a:t>
            </a:r>
            <a:r>
              <a:rPr lang="en-US" sz="1200" b="1" dirty="0">
                <a:solidFill>
                  <a:srgbClr val="1D2D3E"/>
                </a:solidFill>
              </a:rPr>
              <a:t>zero modificação</a:t>
            </a:r>
            <a:r>
              <a:rPr lang="en-US" sz="1200" dirty="0">
                <a:solidFill>
                  <a:srgbClr val="1D2D3E"/>
                </a:solidFill>
              </a:rPr>
              <a:t>. Na análise, quase sempre a modificação é obsoleta, não usada, irrelevante ou substituível por uma extensão in-app.</a:t>
            </a:r>
            <a:endParaRPr lang="en-US" sz="14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9069" y="2768727"/>
            <a:ext cx="256032" cy="256032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2768727"/>
            <a:ext cx="256032" cy="256032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4730" y="2768727"/>
            <a:ext cx="256032" cy="256032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912233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04.01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 abordagem Clean Core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1EFFF"/>
                </a:solidFill>
              </a:rPr>
              <a:t>Clean Core</a:t>
            </a:r>
            <a:r>
              <a:rPr lang="en-US" sz="1600" dirty="0">
                <a:solidFill>
                  <a:srgbClr val="D1EFFF"/>
                </a:solidFill>
              </a:rPr>
              <a:t> separa o núcleo SAP das extensões, que passam a usar só </a:t>
            </a:r>
            <a:r>
              <a:rPr lang="en-US" sz="1600" b="1" dirty="0">
                <a:solidFill>
                  <a:srgbClr val="D1EFFF"/>
                </a:solidFill>
              </a:rPr>
              <a:t>APIs liberadas</a:t>
            </a:r>
            <a:r>
              <a:rPr lang="en-US" sz="1600" dirty="0">
                <a:solidFill>
                  <a:srgbClr val="D1EFFF"/>
                </a:solidFill>
              </a:rPr>
              <a:t> e pontos de extensão oficiais.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Núcleo intocado</a:t>
            </a:r>
            <a:r>
              <a:rPr lang="en-US" sz="1000" dirty="0">
                <a:solidFill>
                  <a:srgbClr val="D1EFFF"/>
                </a:solidFill>
              </a:rPr>
              <a:t>  zero modificação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Released APIs</a:t>
            </a:r>
            <a:r>
              <a:rPr lang="en-US" sz="1000" dirty="0">
                <a:solidFill>
                  <a:srgbClr val="D1EFFF"/>
                </a:solidFill>
              </a:rPr>
              <a:t>  contrato estável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Extensões separadas</a:t>
            </a:r>
            <a:r>
              <a:rPr lang="en-US" sz="1000" dirty="0">
                <a:solidFill>
                  <a:srgbClr val="D1EFFF"/>
                </a:solidFill>
              </a:rPr>
              <a:t>  on-stack ou BTP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Upgrades</a:t>
            </a:r>
            <a:r>
              <a:rPr lang="en-US" sz="1000" dirty="0">
                <a:solidFill>
                  <a:srgbClr val="D1EFFF"/>
                </a:solidFill>
              </a:rPr>
              <a:t>  sem retrabalho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CLEAN CORE · ANTES E DEPOIS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Do núcleo modificado ao núcleo limpo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255139"/>
            <a:ext cx="5410048" cy="2576322"/>
          </a:xfrm>
          <a:prstGeom prst="roundRect">
            <a:avLst>
              <a:gd name="adj" fmla="val 354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255139"/>
            <a:ext cx="5410048" cy="73152"/>
          </a:xfrm>
          <a:prstGeom prst="rect">
            <a:avLst/>
          </a:prstGeom>
          <a:solidFill>
            <a:srgbClr val="D20A0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52945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52945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A0808"/>
                </a:solidFill>
              </a:rPr>
              <a:t>Núcleo modificado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69539"/>
            <a:ext cx="4952848" cy="1524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Lógica do cliente misturada ao código SAP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Leitura e escrita direta em tabelas internas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Cada upgrade exige análise e retrabalho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Inovações da SAP chegam devagar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255139"/>
            <a:ext cx="5410048" cy="2576322"/>
          </a:xfrm>
          <a:prstGeom prst="roundRect">
            <a:avLst>
              <a:gd name="adj" fmla="val 354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255139"/>
            <a:ext cx="5410048" cy="73152"/>
          </a:xfrm>
          <a:prstGeom prst="rect">
            <a:avLst/>
          </a:prstGeom>
          <a:solidFill>
            <a:srgbClr val="30914C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252945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252945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F3A"/>
                </a:solidFill>
              </a:rPr>
              <a:t>Clean Core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169539"/>
            <a:ext cx="4952848" cy="1524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Extensões fora do núcleo, em pontos oficiais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Acesso só por </a:t>
            </a:r>
            <a:r>
              <a:rPr lang="en-US" sz="1350" b="1" dirty="0">
                <a:solidFill>
                  <a:srgbClr val="1D2D3E"/>
                </a:solidFill>
              </a:rPr>
              <a:t>APIs liberadas</a:t>
            </a:r>
            <a:r>
              <a:rPr lang="en-US" sz="1350" dirty="0">
                <a:solidFill>
                  <a:srgbClr val="1D2D3E"/>
                </a:solidFill>
              </a:rPr>
              <a:t> e estáveis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Upgrades previsíveis e frequentes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Base pronta para nuvem, IA e novos processos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996053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07008" y="4996053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Níveis A–D  </a:t>
            </a:r>
            <a:r>
              <a:rPr lang="en-US" sz="1200" dirty="0">
                <a:solidFill>
                  <a:srgbClr val="1D2D3E"/>
                </a:solidFill>
              </a:rPr>
              <a:t>a SAP classifica extensões de </a:t>
            </a:r>
            <a:r>
              <a:rPr lang="en-US" sz="1200" b="1" dirty="0">
                <a:solidFill>
                  <a:srgbClr val="1D2D3E"/>
                </a:solidFill>
              </a:rPr>
              <a:t>A</a:t>
            </a:r>
            <a:r>
              <a:rPr lang="en-US" sz="1200" dirty="0">
                <a:solidFill>
                  <a:srgbClr val="1D2D3E"/>
                </a:solidFill>
              </a:rPr>
              <a:t> (APIs liberadas) a </a:t>
            </a:r>
            <a:r>
              <a:rPr lang="en-US" sz="1200" b="1" dirty="0">
                <a:solidFill>
                  <a:srgbClr val="1D2D3E"/>
                </a:solidFill>
              </a:rPr>
              <a:t>D</a:t>
            </a:r>
            <a:r>
              <a:rPr lang="en-US" sz="1200" dirty="0">
                <a:solidFill>
                  <a:srgbClr val="1D2D3E"/>
                </a:solidFill>
              </a:rPr>
              <a:t> (não recomendado). Detalhes na aula 04.05.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124069"/>
            <a:ext cx="310896" cy="310896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630043"/>
            <a:ext cx="256032" cy="256032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192" y="2630043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04.01 · SEÇÃO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 jornada para o S/4HANA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O caminho escolhido define quanto código legado vem junto e quanto trabalho de limpeza é necessário.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conversion</a:t>
            </a:r>
            <a:r>
              <a:rPr lang="en-US" sz="1000" dirty="0">
                <a:solidFill>
                  <a:srgbClr val="D1EFFF"/>
                </a:solidFill>
              </a:rPr>
              <a:t>  brownfield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implementation</a:t>
            </a:r>
            <a:r>
              <a:rPr lang="en-US" sz="1000" dirty="0">
                <a:solidFill>
                  <a:srgbClr val="D1EFFF"/>
                </a:solidFill>
              </a:rPr>
              <a:t>  greenfield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Landscape transformation</a:t>
            </a:r>
            <a:r>
              <a:rPr lang="en-US" sz="1000" dirty="0">
                <a:solidFill>
                  <a:srgbClr val="D1EFFF"/>
                </a:solidFill>
              </a:rPr>
              <a:t>  consolidação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SCMON · SUSG</a:t>
            </a:r>
            <a:r>
              <a:rPr lang="en-US" sz="1000" dirty="0">
                <a:solidFill>
                  <a:srgbClr val="D1EFFF"/>
                </a:solidFill>
              </a:rPr>
              <a:t>  uso real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TRANSIÇÃO · TRÊS CAMINHOS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Conversão, nova implementação ou transformação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2542032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3155861"/>
                <a:gridCol w="3832117"/>
                <a:gridCol w="3832117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Caminho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Ponto de partida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Meta de Clean Core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System conversion (brownfield)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O ERP atual vira o novo sistema, com o código Z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2D3E"/>
                          </a:solidFill>
                        </a:rPr>
                        <a:t>Limpar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o núcleo após a conversão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New implementation (greenfield)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Sistema novo, sem legado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2D3E"/>
                          </a:solidFill>
                        </a:rPr>
                        <a:t>Manter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o núcleo limpo desde o início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Landscape transformation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Vários ERPs consolidados (</a:t>
                      </a:r>
                      <a:r>
                        <a:rPr lang="en-US" sz="1100" i="1" dirty="0">
                          <a:solidFill>
                            <a:srgbClr val="1D2D3E"/>
                          </a:solidFill>
                        </a:rPr>
                        <a:t>Selective Data Transition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Limpar ao consolidar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7083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437083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Public Edition  </a:t>
            </a:r>
            <a:r>
              <a:rPr lang="en-US" sz="1200" dirty="0">
                <a:solidFill>
                  <a:srgbClr val="1D2D3E"/>
                </a:solidFill>
              </a:rPr>
              <a:t>só aceita nova implementação. Private Edition e on-premise aceitam os três caminhos. Na prática, metade dos clientes converte e metade reimplementa.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498848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TRANSIÇÃO · CÓDIGO CUSTOMIZADO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que fazer com o código Z na conversão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60004" y="2564892"/>
            <a:ext cx="8471687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512532" y="221742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12532" y="221742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1</a:t>
            </a:r>
            <a:endParaRPr lang="en-US" sz="2280" dirty="0"/>
          </a:p>
        </p:txBody>
      </p:sp>
      <p:sp>
        <p:nvSpPr>
          <p:cNvPr id="7" name="Shape 5"/>
          <p:cNvSpPr/>
          <p:nvPr/>
        </p:nvSpPr>
        <p:spPr>
          <a:xfrm>
            <a:off x="548640" y="3086100"/>
            <a:ext cx="2622728" cy="1764792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3268980"/>
            <a:ext cx="184548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Medir o uso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SCMON</a:t>
            </a:r>
            <a:r>
              <a:rPr lang="en-US" sz="1150" dirty="0">
                <a:solidFill>
                  <a:srgbClr val="556B82"/>
                </a:solidFill>
              </a:rPr>
              <a:t> ou UPL </a:t>
            </a:r>
            <a:r>
              <a:rPr lang="en-US" sz="1150" b="1" dirty="0">
                <a:solidFill>
                  <a:srgbClr val="556B82"/>
                </a:solidFill>
              </a:rPr>
              <a:t>na produção</a:t>
            </a:r>
            <a:r>
              <a:rPr lang="en-US" sz="1150" dirty="0">
                <a:solidFill>
                  <a:srgbClr val="556B82"/>
                </a:solidFill>
              </a:rPr>
              <a:t>, por 6 a 18 meses, incluindo um fechamento anual. </a:t>
            </a: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SUSG</a:t>
            </a:r>
            <a:r>
              <a:rPr lang="en-US" sz="1150" dirty="0">
                <a:solidFill>
                  <a:srgbClr val="556B82"/>
                </a:solidFill>
              </a:rPr>
              <a:t> agrega os dados.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36428" y="221742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36428" y="221742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2</a:t>
            </a:r>
            <a:endParaRPr lang="en-US" sz="2280" dirty="0"/>
          </a:p>
        </p:txBody>
      </p:sp>
      <p:sp>
        <p:nvSpPr>
          <p:cNvPr id="11" name="Shape 9"/>
          <p:cNvSpPr/>
          <p:nvPr/>
        </p:nvSpPr>
        <p:spPr>
          <a:xfrm>
            <a:off x="3372536" y="3086100"/>
            <a:ext cx="2622728" cy="1764792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555416" y="3268980"/>
            <a:ext cx="184548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Analisar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App </a:t>
            </a:r>
            <a:r>
              <a:rPr lang="en-US" sz="1150" b="1" dirty="0">
                <a:solidFill>
                  <a:srgbClr val="556B82"/>
                </a:solidFill>
              </a:rPr>
              <a:t>Custom Code Migration</a:t>
            </a:r>
            <a:r>
              <a:rPr lang="en-US" sz="1150" dirty="0">
                <a:solidFill>
                  <a:srgbClr val="556B82"/>
                </a:solidFill>
              </a:rPr>
              <a:t> ou ATC cruzam código e uso e mostram o que não é usado.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60324" y="221742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60324" y="221742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3</a:t>
            </a:r>
            <a:endParaRPr lang="en-US" sz="2280" dirty="0"/>
          </a:p>
        </p:txBody>
      </p:sp>
      <p:sp>
        <p:nvSpPr>
          <p:cNvPr id="15" name="Shape 13"/>
          <p:cNvSpPr/>
          <p:nvPr/>
        </p:nvSpPr>
        <p:spPr>
          <a:xfrm>
            <a:off x="6196432" y="3086100"/>
            <a:ext cx="2622728" cy="1764792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379312" y="3268980"/>
            <a:ext cx="184548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Guardar e remover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Backup (ex.: gCTS) e remoção do código não usado durante a conversão.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984219" y="221742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984219" y="221742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4</a:t>
            </a:r>
            <a:endParaRPr lang="en-US" sz="2280" dirty="0"/>
          </a:p>
        </p:txBody>
      </p:sp>
      <p:sp>
        <p:nvSpPr>
          <p:cNvPr id="19" name="Shape 17"/>
          <p:cNvSpPr/>
          <p:nvPr/>
        </p:nvSpPr>
        <p:spPr>
          <a:xfrm>
            <a:off x="9020327" y="3086100"/>
            <a:ext cx="2622728" cy="1764792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203207" y="3268980"/>
            <a:ext cx="184548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Adaptar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Quick fixes do ATC para o automático; SAP Notes do </a:t>
            </a:r>
            <a:r>
              <a:rPr lang="en-US" sz="1150" i="1" dirty="0">
                <a:solidFill>
                  <a:srgbClr val="556B82"/>
                </a:solidFill>
              </a:rPr>
              <a:t>Readiness Check</a:t>
            </a:r>
            <a:r>
              <a:rPr lang="en-US" sz="1150" dirty="0">
                <a:solidFill>
                  <a:srgbClr val="556B82"/>
                </a:solidFill>
              </a:rPr>
              <a:t> para o manual.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503377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8D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207008" y="503377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4F00"/>
                </a:solidFill>
              </a:rPr>
              <a:t>Evite lift and shift  </a:t>
            </a:r>
            <a:r>
              <a:rPr lang="en-US" sz="1200" dirty="0">
                <a:solidFill>
                  <a:srgbClr val="1D2D3E"/>
                </a:solidFill>
              </a:rPr>
              <a:t>levar todo o código para um sistema novo sem limpar encarece a migração e mantém a dívida técnica.</a:t>
            </a:r>
            <a:endParaRPr lang="en-US" sz="14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6624" y="3241548"/>
            <a:ext cx="329184" cy="329184"/>
          </a:xfrm>
          <a:prstGeom prst="rect">
            <a:avLst/>
          </a:prstGeom>
        </p:spPr>
      </p:pic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2728" y="3241548"/>
            <a:ext cx="329184" cy="329184"/>
          </a:xfrm>
          <a:prstGeom prst="rect">
            <a:avLst/>
          </a:prstGeom>
        </p:spPr>
      </p:pic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4415" y="3241548"/>
            <a:ext cx="329184" cy="329184"/>
          </a:xfrm>
          <a:prstGeom prst="rect">
            <a:avLst/>
          </a:prstGeom>
        </p:spPr>
      </p:pic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0519" y="3241548"/>
            <a:ext cx="329184" cy="329184"/>
          </a:xfrm>
          <a:prstGeom prst="rect">
            <a:avLst/>
          </a:prstGeom>
        </p:spPr>
      </p:pic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5161788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04.01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Extensões existem porque cada empresa precisa ajustar o </a:t>
            </a:r>
            <a:r>
              <a:rPr lang="en-US" sz="1400" b="1" dirty="0">
                <a:solidFill>
                  <a:srgbClr val="FFFFFF"/>
                </a:solidFill>
              </a:rPr>
              <a:t>escopo</a:t>
            </a:r>
            <a:r>
              <a:rPr lang="en-US" sz="1400" dirty="0">
                <a:solidFill>
                  <a:srgbClr val="FFFFFF"/>
                </a:solidFill>
              </a:rPr>
              <a:t> entregue pela SAP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Exits e modificações do ERP clássico geraram </a:t>
            </a:r>
            <a:r>
              <a:rPr lang="en-US" sz="1400" b="1" dirty="0">
                <a:solidFill>
                  <a:srgbClr val="FFFFFF"/>
                </a:solidFill>
              </a:rPr>
              <a:t>dívida técnica</a:t>
            </a:r>
            <a:r>
              <a:rPr lang="en-US" sz="1400" dirty="0">
                <a:solidFill>
                  <a:srgbClr val="FFFFFF"/>
                </a:solidFill>
              </a:rPr>
              <a:t> e upgrades caros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Clean Core</a:t>
            </a:r>
            <a:r>
              <a:rPr lang="en-US" sz="1400" dirty="0">
                <a:solidFill>
                  <a:srgbClr val="FFFFFF"/>
                </a:solidFill>
              </a:rPr>
              <a:t>: núcleo intocado, extensões separadas e só </a:t>
            </a:r>
            <a:r>
              <a:rPr lang="en-US" sz="1400" b="1" dirty="0">
                <a:solidFill>
                  <a:srgbClr val="FFFFFF"/>
                </a:solidFill>
              </a:rPr>
              <a:t>APIs liberadas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Conversão, nova implementação e transformação de landscape levam ao S/4HANA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Na conversão, </a:t>
            </a:r>
            <a:r>
              <a:rPr lang="en-US" sz="1400" b="1" dirty="0">
                <a:solidFill>
                  <a:srgbClr val="FFFFFF"/>
                </a:solidFill>
              </a:rPr>
              <a:t>medir uso</a:t>
            </a:r>
            <a:r>
              <a:rPr lang="en-US" sz="1400" dirty="0">
                <a:solidFill>
                  <a:srgbClr val="FFFFFF"/>
                </a:solidFill>
              </a:rPr>
              <a:t> (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SCMON</a:t>
            </a:r>
            <a:r>
              <a:rPr lang="en-US" sz="1400" dirty="0">
                <a:solidFill>
                  <a:srgbClr val="FFFFFF"/>
                </a:solidFill>
              </a:rPr>
              <a:t>/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SUSG</a:t>
            </a:r>
            <a:r>
              <a:rPr lang="en-US" sz="1400" dirty="0">
                <a:solidFill>
                  <a:srgbClr val="FFFFFF"/>
                </a:solidFill>
              </a:rPr>
              <a:t>), remover o não usado e adaptar o resto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Modificações tendem a ser eliminadas ou redesenhadas como extensões oficiais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04.02  </a:t>
            </a:r>
            <a:r>
              <a:rPr lang="en-US" sz="1500" dirty="0">
                <a:solidFill>
                  <a:srgbClr val="FFFFFF"/>
                </a:solidFill>
              </a:rPr>
              <a:t>UX de consumidor: Princípios Fiori, launchpad e SAP Build.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04.01 SAP S/4HANA Cloud, extensões e Clean Core</dc:title>
  <dc:subject>ABAP Moderno – Módulo 04: Extensibilidade Clean Core</dc:subject>
  <dc:creator>Adriano Bispo</dc:creator>
  <cp:lastModifiedBy>Adriano Bispo</cp:lastModifiedBy>
  <cp:revision>1</cp:revision>
  <dcterms:created xsi:type="dcterms:W3CDTF">2026-10-29T13:39:00Z</dcterms:created>
  <dcterms:modified xsi:type="dcterms:W3CDTF">2026-10-29T13:39:00Z</dcterms:modified>
</cp:coreProperties>
</file>