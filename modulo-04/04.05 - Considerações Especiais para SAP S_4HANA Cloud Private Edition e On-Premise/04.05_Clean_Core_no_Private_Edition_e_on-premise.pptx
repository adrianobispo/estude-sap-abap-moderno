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Extensibilidade Clean Core  ·  Aula 5 de 5 — Private Edition e On-Premise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Extensibilidade Clean Core  ·  Aula 5 de 5 — Private Edition e On-Premise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05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Clean Core no Private Edition e on-premise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Onde o ABAP Cloud convive com o clássico: dos três tiers aos níveis A–D, setup do sistema, ATC e wrappers.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210556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10556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vemos como governar extensões quando ABAP Cloud e ABAP Classic coexistem no mesmo sistema.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Por que o Private Edition é diferente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Public Edition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Updates automáticos, para todos ao mesmo tempo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Sem modificações; só APIs liberadas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ABAP Cloud é o </a:t>
            </a:r>
            <a:r>
              <a:rPr lang="en-US" sz="1350" b="1" dirty="0">
                <a:solidFill>
                  <a:srgbClr val="1D2D3E"/>
                </a:solidFill>
              </a:rPr>
              <a:t>único</a:t>
            </a:r>
            <a:r>
              <a:rPr lang="en-US" sz="1350" dirty="0">
                <a:solidFill>
                  <a:srgbClr val="1D2D3E"/>
                </a:solidFill>
              </a:rPr>
              <a:t> modelo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Private Edition · on-premise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 em </a:t>
            </a:r>
            <a:r>
              <a:rPr lang="en-US" sz="1350" b="1" dirty="0">
                <a:solidFill>
                  <a:srgbClr val="1D2D3E"/>
                </a:solidFill>
              </a:rPr>
              <a:t>projeto próprio</a:t>
            </a:r>
            <a:r>
              <a:rPr lang="en-US" sz="1350" dirty="0">
                <a:solidFill>
                  <a:srgbClr val="1D2D3E"/>
                </a:solidFill>
              </a:rPr>
              <a:t> do cliente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Escopo funcional mais amplo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ABAP Cloud </a:t>
            </a:r>
            <a:r>
              <a:rPr lang="en-US" sz="1350" b="1" dirty="0">
                <a:solidFill>
                  <a:srgbClr val="1D2D3E"/>
                </a:solidFill>
              </a:rPr>
              <a:t>coexiste</a:t>
            </a:r>
            <a:r>
              <a:rPr lang="en-US" sz="1350" dirty="0">
                <a:solidFill>
                  <a:srgbClr val="1D2D3E"/>
                </a:solidFill>
              </a:rPr>
              <a:t> com o ABAP Classic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Recomendação SAP  </a:t>
            </a:r>
            <a:r>
              <a:rPr lang="en-US" sz="1200" dirty="0">
                <a:solidFill>
                  <a:srgbClr val="1D2D3E"/>
                </a:solidFill>
              </a:rPr>
              <a:t>use ABAP Cloud </a:t>
            </a:r>
            <a:r>
              <a:rPr lang="en-US" sz="1200" b="1" dirty="0">
                <a:solidFill>
                  <a:srgbClr val="1D2D3E"/>
                </a:solidFill>
              </a:rPr>
              <a:t>sempre que possível</a:t>
            </a:r>
            <a:r>
              <a:rPr lang="en-US" sz="1200" dirty="0">
                <a:solidFill>
                  <a:srgbClr val="1D2D3E"/>
                </a:solidFill>
              </a:rPr>
              <a:t>, principalmente se houver plano de ir para o Public Edition.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Dos tiers aos níveis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modelo de </a:t>
            </a:r>
            <a:r>
              <a:rPr lang="en-US" sz="1600" b="1" dirty="0">
                <a:solidFill>
                  <a:srgbClr val="D1EFFF"/>
                </a:solidFill>
              </a:rPr>
              <a:t>três tiers</a:t>
            </a:r>
            <a:r>
              <a:rPr lang="en-US" sz="1600" dirty="0">
                <a:solidFill>
                  <a:srgbClr val="D1EFFF"/>
                </a:solidFill>
              </a:rPr>
              <a:t> foi aposentado. Os </a:t>
            </a:r>
            <a:r>
              <a:rPr lang="en-US" sz="1600" b="1" dirty="0">
                <a:solidFill>
                  <a:srgbClr val="D1EFFF"/>
                </a:solidFill>
              </a:rPr>
              <a:t>níveis A–D</a:t>
            </a:r>
            <a:r>
              <a:rPr lang="en-US" sz="1600" dirty="0">
                <a:solidFill>
                  <a:srgbClr val="D1EFFF"/>
                </a:solidFill>
              </a:rPr>
              <a:t> do Clean Core avaliam o risco de cada extensão de forma mais pragmática.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1–3</a:t>
            </a:r>
            <a:r>
              <a:rPr lang="en-US" sz="1000" dirty="0">
                <a:solidFill>
                  <a:srgbClr val="D1EFFF"/>
                </a:solidFill>
              </a:rPr>
              <a:t>  1ª geração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Níveis A–D</a:t>
            </a:r>
            <a:r>
              <a:rPr lang="en-US" sz="1000" dirty="0">
                <a:solidFill>
                  <a:srgbClr val="D1EFFF"/>
                </a:solidFill>
              </a:rPr>
              <a:t>  2ª geração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 APIs</a:t>
            </a:r>
            <a:r>
              <a:rPr lang="en-US" sz="1000" dirty="0">
                <a:solidFill>
                  <a:srgbClr val="D1EFFF"/>
                </a:solidFill>
              </a:rPr>
              <a:t>  nível 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</a:t>
            </a:r>
            <a:r>
              <a:rPr lang="en-US" sz="1000" dirty="0">
                <a:solidFill>
                  <a:srgbClr val="D1EFFF"/>
                </a:solidFill>
              </a:rPr>
              <a:t>  risco do nível C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NÍVEIS · 1ª GERAÇÃO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modelo de três tiers, agora aposentado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766423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Tier 1 · ABAP Cloud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Caminho preferido para todo desenvolvimento novo; só APIs liberadas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Tier 2 · Cloud API Enablement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 "ponte": </a:t>
                      </a: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wrappers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que expõem código ou objetos não liberados ao Tier 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Tier 3 · ABAP Classic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Código legado e extensões profundas; último recurso, com risco em upgrades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708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Sem migração forçada  </a:t>
            </a:r>
            <a:r>
              <a:rPr lang="en-US" sz="1200" dirty="0">
                <a:solidFill>
                  <a:srgbClr val="1D2D3E"/>
                </a:solidFill>
              </a:rPr>
              <a:t>código feito pelas regras dos tiers, inclusive wrappers do Tier 2, não precisa ser refeito.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988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NÍVEIS · 2ª GERAÇÃO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níveis A–D do Clean 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803349"/>
                <a:gridCol w="2930442"/>
                <a:gridCol w="4282954"/>
                <a:gridCol w="1803349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ATC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Released APIs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ABAP Cloud on-stack, key user, side-by-side no BTP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 achado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Classic APIs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Wrapper de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BAPI_PO_CREATE1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; ALV 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CL_GUI_ALV_GRID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prioridade 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Internal objects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Módulos de função internos; leitura de tabelas SAP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prioridade 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Not recommended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Modificações, enhancements implícitos, escrita em tabelas SAP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prioridade 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206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uma extensão recebe o nível da </a:t>
            </a:r>
            <a:r>
              <a:rPr lang="en-US" sz="1200" b="1" dirty="0">
                <a:solidFill>
                  <a:srgbClr val="1D2D3E"/>
                </a:solidFill>
              </a:rPr>
              <a:t>tecnologia de pior nível</a:t>
            </a:r>
            <a:r>
              <a:rPr lang="en-US" sz="1200" dirty="0">
                <a:solidFill>
                  <a:srgbClr val="1D2D3E"/>
                </a:solidFill>
              </a:rPr>
              <a:t> que ela usa. Busque o nível mais alto possível.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4865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NÍVEIS · FERRAMENTAS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saber o nível de um objeto SAP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Cloudification Repository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Lista o estado de cada objeto: liberado, classic API, sucessor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noAPI</a:t>
            </a:r>
            <a:r>
              <a:rPr lang="en-US" sz="1300" dirty="0">
                <a:solidFill>
                  <a:srgbClr val="556B82"/>
                </a:solidFill>
              </a:rPr>
              <a:t> (nível D).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Changelog de objetos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Mostra mudanças incompatíveis futuras em objetos internos e alimenta checks do ATC.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Reclassificação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SAP pode promover um objeto interno a classic API (B) ou rebaixá-lo a não recomendado (D).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3143631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3143631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4363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Preparando o sistema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Software components, autorizações, versões de linguagem e ATC separam o código </a:t>
            </a:r>
            <a:r>
              <a:rPr lang="en-US" sz="1600" b="1" dirty="0">
                <a:solidFill>
                  <a:srgbClr val="D1EFFF"/>
                </a:solidFill>
              </a:rPr>
              <a:t>nível A</a:t>
            </a:r>
            <a:r>
              <a:rPr lang="en-US" sz="1600" dirty="0">
                <a:solidFill>
                  <a:srgbClr val="D1EFFF"/>
                </a:solidFill>
              </a:rPr>
              <a:t> do restante.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RSMAINTAIN_SWCOMPONENTS</a:t>
            </a:r>
            <a:r>
              <a:rPr lang="en-US" sz="1000" dirty="0">
                <a:solidFill>
                  <a:srgbClr val="D1EFFF"/>
                </a:solidFill>
              </a:rPr>
              <a:t>  componentes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S_ABPLNGVS</a:t>
            </a:r>
            <a:r>
              <a:rPr lang="en-US" sz="1000" dirty="0">
                <a:solidFill>
                  <a:srgbClr val="D1EFFF"/>
                </a:solidFill>
              </a:rPr>
              <a:t>  autorização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ATC variants</a:t>
            </a:r>
            <a:r>
              <a:rPr lang="en-US" sz="1000" dirty="0">
                <a:solidFill>
                  <a:srgbClr val="D1EFFF"/>
                </a:solidFill>
              </a:rPr>
              <a:t>  governança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 · C1</a:t>
            </a:r>
            <a:r>
              <a:rPr lang="en-US" sz="1000" dirty="0">
                <a:solidFill>
                  <a:srgbClr val="D1EFFF"/>
                </a:solidFill>
              </a:rPr>
              <a:t>  liberar objetos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SETUP · SETUP INICIAL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software component ao desenvolvedor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Software component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RSMAINTAIN_SWCOMPONENTS</a:t>
            </a:r>
            <a:r>
              <a:rPr lang="en-US" sz="1150" dirty="0">
                <a:solidFill>
                  <a:srgbClr val="556B82"/>
                </a:solidFill>
              </a:rPr>
              <a:t> cria componentes </a:t>
            </a:r>
            <a:r>
              <a:rPr lang="en-US" sz="1150" b="1" dirty="0">
                <a:solidFill>
                  <a:srgbClr val="556B82"/>
                </a:solidFill>
              </a:rPr>
              <a:t>ABAP Cloud</a:t>
            </a:r>
            <a:r>
              <a:rPr lang="en-US" sz="1150" dirty="0">
                <a:solidFill>
                  <a:srgbClr val="556B82"/>
                </a:solidFill>
              </a:rPr>
              <a:t> (nível A) ou </a:t>
            </a:r>
            <a:r>
              <a:rPr lang="en-US" sz="1150" b="1" dirty="0">
                <a:solidFill>
                  <a:srgbClr val="556B82"/>
                </a:solidFill>
              </a:rPr>
              <a:t>ABAP Classic</a:t>
            </a:r>
            <a:r>
              <a:rPr lang="en-US" sz="1150" dirty="0">
                <a:solidFill>
                  <a:srgbClr val="556B82"/>
                </a:solidFill>
              </a:rPr>
              <a:t> (B–D).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Pacotes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Um </a:t>
            </a:r>
            <a:r>
              <a:rPr lang="en-US" sz="1150" b="1" dirty="0">
                <a:solidFill>
                  <a:srgbClr val="556B82"/>
                </a:solidFill>
              </a:rPr>
              <a:t>structure package</a:t>
            </a:r>
            <a:r>
              <a:rPr lang="en-US" sz="1150" dirty="0">
                <a:solidFill>
                  <a:srgbClr val="556B82"/>
                </a:solidFill>
              </a:rPr>
              <a:t> por componente e development packages abaixo dele.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Ative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S_ABPLNGVS</a:t>
            </a:r>
            <a:r>
              <a:rPr lang="en-US" sz="1150" dirty="0">
                <a:solidFill>
                  <a:srgbClr val="556B82"/>
                </a:solidFill>
              </a:rPr>
              <a:t> na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SACF</a:t>
            </a:r>
            <a:r>
              <a:rPr lang="en-US" sz="1150" dirty="0">
                <a:solidFill>
                  <a:srgbClr val="556B82"/>
                </a:solidFill>
              </a:rPr>
              <a:t> e copie o role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SAP_BC_ABAP_DEVELOPER_5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Dois perfis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ABP_LNG_VS</a:t>
            </a:r>
            <a:r>
              <a:rPr lang="en-US" sz="1150" dirty="0">
                <a:solidFill>
                  <a:srgbClr val="556B82"/>
                </a:solidFill>
              </a:rPr>
              <a:t>: </a:t>
            </a:r>
            <a:r>
              <a:rPr lang="en-US" sz="1150" i="1" dirty="0">
                <a:solidFill>
                  <a:srgbClr val="556B82"/>
                </a:solidFill>
              </a:rPr>
              <a:t>ABAP for Cloud Development</a:t>
            </a:r>
            <a:r>
              <a:rPr lang="en-US" sz="1150" dirty="0">
                <a:solidFill>
                  <a:srgbClr val="556B82"/>
                </a:solidFill>
              </a:rPr>
              <a:t> só para nível A; </a:t>
            </a:r>
            <a:r>
              <a:rPr lang="en-US" sz="1150" i="1" dirty="0">
                <a:solidFill>
                  <a:srgbClr val="556B82"/>
                </a:solidFill>
              </a:rPr>
              <a:t>todas</a:t>
            </a:r>
            <a:r>
              <a:rPr lang="en-US" sz="1150" dirty="0">
                <a:solidFill>
                  <a:srgbClr val="556B82"/>
                </a:solidFill>
              </a:rPr>
              <a:t> para B–D.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Administração  </a:t>
            </a:r>
            <a:r>
              <a:rPr lang="en-US" sz="1200" dirty="0">
                <a:solidFill>
                  <a:srgbClr val="1D2D3E"/>
                </a:solidFill>
              </a:rPr>
              <a:t>criar software components exige o objeto de autorização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S_CTS_ADMI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SETUP · ATC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Variantes do ATC para Clean 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395664"/>
                <a:gridCol w="6424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Variante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ABAP_CLOUD_DEVELOPMENT_DEFAULT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Garante as regras básicas do ABAP Cloud no código novo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ABAP_CLOUD_READINESS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Verifica se código existente está pronto para ABAP Cloud; gera worklist com quick fixes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Variante própria (cópia da DEFAULT)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Soma checks de APIs, enhancements, comandos críticos, modificações e CVA; mostra o nível A–D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708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Achados  </a:t>
            </a:r>
            <a:r>
              <a:rPr lang="en-US" sz="1200" dirty="0">
                <a:solidFill>
                  <a:srgbClr val="1D2D3E"/>
                </a:solidFill>
              </a:rPr>
              <a:t>classic API → info (3), objeto interno → warning (2), não recomendado → erro (1). APIs liberadas não geram achado.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988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SETUP · LIBERAR OBJETOS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Release state, contrato e visibilidade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Release state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Marca o objeto como </a:t>
            </a:r>
            <a:r>
              <a:rPr lang="en-US" sz="1300" b="1" dirty="0">
                <a:solidFill>
                  <a:srgbClr val="556B82"/>
                </a:solidFill>
              </a:rPr>
              <a:t>liberado</a:t>
            </a:r>
            <a:r>
              <a:rPr lang="en-US" sz="1300" dirty="0">
                <a:solidFill>
                  <a:srgbClr val="556B82"/>
                </a:solidFill>
              </a:rPr>
              <a:t>, disponível para outros usarem.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Contrato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C0 Extend</a:t>
            </a:r>
            <a:r>
              <a:rPr lang="en-US" sz="1300" dirty="0">
                <a:solidFill>
                  <a:srgbClr val="556B82"/>
                </a:solidFill>
              </a:rPr>
              <a:t> para pontos de extensão; </a:t>
            </a:r>
            <a:r>
              <a:rPr lang="en-US" sz="1300" b="1" dirty="0">
                <a:solidFill>
                  <a:srgbClr val="556B82"/>
                </a:solidFill>
              </a:rPr>
              <a:t>C1 Use System-Internally</a:t>
            </a:r>
            <a:r>
              <a:rPr lang="en-US" sz="1300" dirty="0">
                <a:solidFill>
                  <a:srgbClr val="556B82"/>
                </a:solidFill>
              </a:rPr>
              <a:t> para consumo, exigido no nível 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Visibilidade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</a:rPr>
              <a:t>Use in Key User Apps</a:t>
            </a:r>
            <a:r>
              <a:rPr lang="en-US" sz="1300" dirty="0">
                <a:solidFill>
                  <a:srgbClr val="556B82"/>
                </a:solidFill>
              </a:rPr>
              <a:t> e/ou </a:t>
            </a:r>
            <a:r>
              <a:rPr lang="en-US" sz="1300" i="1" dirty="0">
                <a:solidFill>
                  <a:srgbClr val="556B82"/>
                </a:solidFill>
              </a:rPr>
              <a:t>Use in Cloud Development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ADT  </a:t>
            </a:r>
            <a:r>
              <a:rPr lang="en-US" sz="1200" dirty="0">
                <a:solidFill>
                  <a:srgbClr val="1D2D3E"/>
                </a:solidFill>
              </a:rPr>
              <a:t>os três são mantidos juntos na aba </a:t>
            </a:r>
            <a:r>
              <a:rPr lang="en-US" sz="1200" b="1" dirty="0">
                <a:solidFill>
                  <a:srgbClr val="1D2D3E"/>
                </a:solidFill>
              </a:rPr>
              <a:t>API State</a:t>
            </a:r>
            <a:r>
              <a:rPr lang="en-US" sz="1200" dirty="0">
                <a:solidFill>
                  <a:srgbClr val="1D2D3E"/>
                </a:solidFill>
              </a:rPr>
              <a:t> das propriedades do objeto.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Wrappers e conversão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Sem API liberada? Um </a:t>
            </a:r>
            <a:r>
              <a:rPr lang="en-US" sz="1600" b="1" dirty="0">
                <a:solidFill>
                  <a:srgbClr val="D1EFFF"/>
                </a:solidFill>
              </a:rPr>
              <a:t>wrapper</a:t>
            </a:r>
            <a:r>
              <a:rPr lang="en-US" sz="1600" dirty="0">
                <a:solidFill>
                  <a:srgbClr val="D1EFFF"/>
                </a:solidFill>
              </a:rPr>
              <a:t> em ABAP Classic chama a API clássica e expõe uma interface liberada (C1) ao código ABAP Cloud.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r>
              <a:rPr lang="en-US" sz="1000" dirty="0">
                <a:solidFill>
                  <a:srgbClr val="D1EFFF"/>
                </a:solidFill>
              </a:rPr>
              <a:t>  nível 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C1</a:t>
            </a:r>
            <a:r>
              <a:rPr lang="en-US" sz="1000" dirty="0">
                <a:solidFill>
                  <a:srgbClr val="D1EFFF"/>
                </a:solidFill>
              </a:rPr>
              <a:t>  contrato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Consumidor</a:t>
            </a:r>
            <a:r>
              <a:rPr lang="en-US" sz="1000" dirty="0">
                <a:solidFill>
                  <a:srgbClr val="D1EFFF"/>
                </a:solidFill>
              </a:rPr>
              <a:t>  nível 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Workstreams</a:t>
            </a:r>
            <a:r>
              <a:rPr lang="en-US" sz="1000" dirty="0">
                <a:solidFill>
                  <a:srgbClr val="D1EFFF"/>
                </a:solidFill>
              </a:rPr>
              <a:t>  evaluate → optimize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WRAPPERS · PADRÃO WRAPPER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ponte liberada para uma API clássica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36038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Wrapper · ABAP Classic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zcl_po_wrapper.clas.abap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zif_po_wrapper~create_po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Classic API: permitido aqui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'BAPI_PO_CREATE1'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poheaderx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exppurchaseorder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poitemx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line_exists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zcx_po_wrapper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Fica num software component </a:t>
            </a:r>
            <a:r>
              <a:rPr lang="en-US" sz="1200" b="1" dirty="0">
                <a:solidFill>
                  <a:srgbClr val="556B82"/>
                </a:solidFill>
              </a:rPr>
              <a:t>ABAP Classic</a:t>
            </a:r>
            <a:r>
              <a:rPr lang="en-US" sz="1200" dirty="0">
                <a:solidFill>
                  <a:srgbClr val="556B82"/>
                </a:solidFill>
              </a:rPr>
              <a:t>. A interface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ZIF_PO_WRAPPER</a:t>
            </a:r>
            <a:r>
              <a:rPr lang="en-US" sz="1200" dirty="0">
                <a:solidFill>
                  <a:srgbClr val="556B82"/>
                </a:solidFill>
              </a:rPr>
              <a:t> e o factory são liberados com </a:t>
            </a:r>
            <a:r>
              <a:rPr lang="en-US" sz="1200" b="1" dirty="0">
                <a:solidFill>
                  <a:srgbClr val="556B82"/>
                </a:solidFill>
              </a:rPr>
              <a:t>C1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i="1" dirty="0">
                <a:solidFill>
                  <a:srgbClr val="556B82"/>
                </a:solidFill>
              </a:rPr>
              <a:t>Use in Cloud Development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216506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21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Consumidor · ABAP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23113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23113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zcl_po_creator.clas.abap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zcl_po_wrapper=&gt;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create_po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zcx_po_wrapper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Só enxerga a interface liberada. Quando a SAP liberar uma API oficial, troca-se o wrapper sem mexer aqui.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WRAPPERS · BROWNFIELD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Quatro workstreams depois da conversão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Evaluate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ABAP call monitor (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</a:t>
            </a:r>
            <a:r>
              <a:rPr lang="en-US" sz="1150" dirty="0">
                <a:solidFill>
                  <a:srgbClr val="556B82"/>
                </a:solidFill>
              </a:rPr>
              <a:t>) e app </a:t>
            </a:r>
            <a:r>
              <a:rPr lang="en-US" sz="1150" b="1" dirty="0">
                <a:solidFill>
                  <a:srgbClr val="556B82"/>
                </a:solidFill>
              </a:rPr>
              <a:t>Custom Code Migration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Adapt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Quick fixes no ADT e ajustes manuais onde não há automação.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Review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Modificações obsoletas, não usadas, irrelevantes ou substituíveis.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Optimize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SQL Monitor, SQL Trace e Performance Monitor no código mantido.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Greenfield  </a:t>
            </a:r>
            <a:r>
              <a:rPr lang="en-US" sz="1200" dirty="0">
                <a:solidFill>
                  <a:srgbClr val="1D2D3E"/>
                </a:solidFill>
              </a:rPr>
              <a:t>uma nova implementação já nasce limpa; o trabalho é </a:t>
            </a:r>
            <a:r>
              <a:rPr lang="en-US" sz="1200" b="1" dirty="0">
                <a:solidFill>
                  <a:srgbClr val="1D2D3E"/>
                </a:solidFill>
              </a:rPr>
              <a:t>manter</a:t>
            </a:r>
            <a:r>
              <a:rPr lang="en-US" sz="1200" dirty="0">
                <a:solidFill>
                  <a:srgbClr val="1D2D3E"/>
                </a:solidFill>
              </a:rPr>
              <a:t> o núcleo limpo.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33298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33298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19" y="333298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333298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Private Edition e on-premise, ABAP Cloud </a:t>
            </a:r>
            <a:r>
              <a:rPr lang="en-US" sz="1400" b="1" dirty="0">
                <a:solidFill>
                  <a:srgbClr val="FFFFFF"/>
                </a:solidFill>
              </a:rPr>
              <a:t>coexiste</a:t>
            </a:r>
            <a:r>
              <a:rPr lang="en-US" sz="1400" dirty="0">
                <a:solidFill>
                  <a:srgbClr val="FFFFFF"/>
                </a:solidFill>
              </a:rPr>
              <a:t> com o clássico, mas continua o preferido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três tiers foram aposentados; wrappers do Tier 2 seguem válidos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Níveis A–D</a:t>
            </a:r>
            <a:r>
              <a:rPr lang="en-US" sz="1400" dirty="0">
                <a:solidFill>
                  <a:srgbClr val="FFFFFF"/>
                </a:solidFill>
              </a:rPr>
              <a:t>: released, classic, internal e not recommended; vale o pior nível usado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Software components,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S_ABPLNGVS</a:t>
            </a:r>
            <a:r>
              <a:rPr lang="en-US" sz="1400" dirty="0">
                <a:solidFill>
                  <a:srgbClr val="FFFFFF"/>
                </a:solidFill>
              </a:rPr>
              <a:t> e versões de linguagem separam o código nível 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ABAP_CLOUD_DEVELOPMENT_DEFAULT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ABAP_CLOUD_READINESS</a:t>
            </a:r>
            <a:r>
              <a:rPr lang="en-US" sz="1400" dirty="0">
                <a:solidFill>
                  <a:srgbClr val="FFFFFF"/>
                </a:solidFill>
              </a:rPr>
              <a:t> e uma variante própria mostram o nível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Wrappers</a:t>
            </a:r>
            <a:r>
              <a:rPr lang="en-US" sz="1400" dirty="0">
                <a:solidFill>
                  <a:srgbClr val="FFFFFF"/>
                </a:solidFill>
              </a:rPr>
              <a:t> liberados com C1 levam APIs clássicas ao ABAP 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Fim do módulo  </a:t>
            </a:r>
            <a:r>
              <a:rPr lang="en-US" sz="1500" dirty="0">
                <a:solidFill>
                  <a:srgbClr val="FFFFFF"/>
                </a:solidFill>
              </a:rPr>
              <a:t>Revise a visão geral 05.00 e pratique os níveis A–D no seu próprio código.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05.05 Clean Core no Private Edition e on-premise</dc:title>
  <dc:subject>ABAP Moderno – Módulo 05: Extensibilidade Clean Core</dc:subject>
  <dc:creator>Adriano Bispo</dc:creator>
  <cp:lastModifiedBy>Adriano Bispo</cp:lastModifiedBy>
  <cp:revision>1</cp:revision>
  <dcterms:created xsi:type="dcterms:W3CDTF">2026-10-29T01:29:38Z</dcterms:created>
  <dcterms:modified xsi:type="dcterms:W3CDTF">2026-10-29T01:29:38Z</dcterms:modified>
</cp:coreProperties>
</file>