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04 — Programação ABAP Intermediária  ·  Aula 4 de 9 — Code pushdown no SQL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04 — Programação ABAP Intermediária  ·  Aula 4 de 9 — Code pushdown no SQL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04 · AULA 04 DE 09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Code pushdown no ABAP SQL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Joins, expressões, cálculos, funções de data, ordenação, DISTINCT e agregações direto no SELECT.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5547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89255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2964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1" name="Shape 9"/>
          <p:cNvSpPr/>
          <p:nvPr/>
        </p:nvSpPr>
        <p:spPr>
          <a:xfrm>
            <a:off x="966724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380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089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797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506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4 de 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04 — Programação ABAP Intermediária · Design System SAP Horizon</a:t>
            </a:r>
            <a:endParaRPr 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04 em 9 aulas: ABAP intermediário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Analisar e testar código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ATC, ABAP Unit, Profiling e SQL Trace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04099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6869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869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e conversões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968691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técnicos, conversões e datas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9558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2415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2415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5224150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Campos de caracteres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224150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Funções, regex e textos traduzíveis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15017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79609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7960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7479609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no SQL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479609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joins, agregações e UNION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955097" y="1892808"/>
            <a:ext cx="792419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55097" y="1892808"/>
            <a:ext cx="7924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570476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73506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73506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9735068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Performance de tabelas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735068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Chaves, field symbols e chaves secundárias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Autorizações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713232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Conceito, CDS DCL e AUTHORITY-CHECK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804099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968691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96869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2968691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OO eficaz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2968691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Herança, interfaces e factory methods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059558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22415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22415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5224150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de exceção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5224150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Categorias, T100 e tratamento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315017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47960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47960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9</a:t>
            </a:r>
            <a:endParaRPr lang="en-US" sz="1260" dirty="0"/>
          </a:p>
        </p:txBody>
      </p:sp>
      <p:sp>
        <p:nvSpPr>
          <p:cNvPr id="49" name="Text 47"/>
          <p:cNvSpPr txBox="1"/>
          <p:nvPr/>
        </p:nvSpPr>
        <p:spPr>
          <a:xfrm>
            <a:off x="7479609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ABAP Doc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7479609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Documentação no código e no ADT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substituímos loops de cálculo no servidor por um único SELECT que já devolve os voos com dados da companhia, assentos livres e totais.</a:t>
            </a:r>
            <a:endParaRPr lang="en-US" sz="14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8038" y="1847088"/>
            <a:ext cx="347472" cy="347472"/>
          </a:xfrm>
          <a:prstGeom prst="rect">
            <a:avLst/>
          </a:prstGeom>
        </p:spPr>
      </p:pic>
      <p:pic>
        <p:nvPicPr>
          <p:cNvPr id="5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579" y="1847088"/>
            <a:ext cx="347472" cy="347472"/>
          </a:xfrm>
          <a:prstGeom prst="rect">
            <a:avLst/>
          </a:prstGeom>
        </p:spPr>
      </p:pic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8956" y="1847088"/>
            <a:ext cx="347472" cy="347472"/>
          </a:xfrm>
          <a:prstGeom prst="rect">
            <a:avLst/>
          </a:prstGeom>
        </p:spPr>
      </p:pic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497" y="1847088"/>
            <a:ext cx="347472" cy="347472"/>
          </a:xfrm>
          <a:prstGeom prst="rect">
            <a:avLst/>
          </a:prstGeom>
        </p:spPr>
      </p:pic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2579" y="3858768"/>
            <a:ext cx="347472" cy="347472"/>
          </a:xfrm>
          <a:prstGeom prst="rect">
            <a:avLst/>
          </a:prstGeom>
        </p:spPr>
      </p:pic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8038" y="3858768"/>
            <a:ext cx="347472" cy="347472"/>
          </a:xfrm>
          <a:prstGeom prst="rect">
            <a:avLst/>
          </a:prstGeom>
        </p:spPr>
      </p:pic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497" y="3858768"/>
            <a:ext cx="347472" cy="347472"/>
          </a:xfrm>
          <a:prstGeom prst="rect">
            <a:avLst/>
          </a:prstGeom>
        </p:spPr>
      </p:pic>
      <p:pic>
        <p:nvPicPr>
          <p:cNvPr id="6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38956" y="3858768"/>
            <a:ext cx="347472" cy="347472"/>
          </a:xfrm>
          <a:prstGeom prst="rect">
            <a:avLst/>
          </a:prstGeom>
        </p:spPr>
      </p:pic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ABAP SQL ou CDS view?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41715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417159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69147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69147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ABAP SQL no código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155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Lógica específica de </a:t>
            </a:r>
            <a:r>
              <a:rPr lang="en-US" sz="1350" b="1" dirty="0">
                <a:solidFill>
                  <a:srgbClr val="1D2D3E"/>
                </a:solidFill>
              </a:rPr>
              <a:t>um</a:t>
            </a:r>
            <a:r>
              <a:rPr lang="en-US" sz="1350" dirty="0">
                <a:solidFill>
                  <a:srgbClr val="1D2D3E"/>
                </a:solidFill>
              </a:rPr>
              <a:t> método ou relatório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Consulta pontual, sem outros consumidores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Prototipar antes de levar para uma view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41715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417159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69147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69147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CDS view (módulo 02)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33155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Lógica </a:t>
            </a:r>
            <a:r>
              <a:rPr lang="en-US" sz="1350" b="1" dirty="0">
                <a:solidFill>
                  <a:srgbClr val="1D2D3E"/>
                </a:solidFill>
              </a:rPr>
              <a:t>reutilizada</a:t>
            </a:r>
            <a:r>
              <a:rPr lang="en-US" sz="1350" dirty="0">
                <a:solidFill>
                  <a:srgbClr val="1D2D3E"/>
                </a:solidFill>
              </a:rPr>
              <a:t> por vários programas, apps e APIs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Precisa de anotações, associações ou controle de acesso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Base de business objects RAP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834033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834033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Mesma linguagem  </a:t>
            </a:r>
            <a:r>
              <a:rPr lang="en-US" sz="1200" dirty="0">
                <a:solidFill>
                  <a:srgbClr val="1D2D3E"/>
                </a:solidFill>
              </a:rPr>
              <a:t>o ABAP SQL moderno tem quase todos os recursos de expressões do CDS: mover a lógica de um para o outro é simples.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792063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4962049"/>
            <a:ext cx="310896" cy="310896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792063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04.04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Joins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</a:t>
            </a:r>
            <a:r>
              <a:rPr lang="en-US" sz="1600" b="1" dirty="0">
                <a:solidFill>
                  <a:srgbClr val="D1EFFF"/>
                </a:solidFill>
              </a:rPr>
              <a:t>join</a:t>
            </a:r>
            <a:r>
              <a:rPr lang="en-US" sz="1600" dirty="0">
                <a:solidFill>
                  <a:srgbClr val="D1EFFF"/>
                </a:solidFill>
              </a:rPr>
              <a:t> combina colunas de duas fontes em um só resultado, ligadas pela condição </a:t>
            </a:r>
            <a:r>
              <a:rPr lang="en-US" sz="1600" b="1" dirty="0">
                <a:solidFill>
                  <a:srgbClr val="D1EFFF"/>
                </a:solidFill>
              </a:rPr>
              <a:t>ON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 JOIN</a:t>
            </a:r>
            <a:r>
              <a:rPr lang="en-US" sz="1000" dirty="0">
                <a:solidFill>
                  <a:srgbClr val="D1EFFF"/>
                </a:solidFill>
              </a:rPr>
              <a:t>  só correspondências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OUTER JOIN</a:t>
            </a:r>
            <a:r>
              <a:rPr lang="en-US" sz="1000" dirty="0">
                <a:solidFill>
                  <a:srgbClr val="D1EFFF"/>
                </a:solidFill>
              </a:rPr>
              <a:t>  toda a esquerda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r>
              <a:rPr lang="en-US" sz="1000" dirty="0">
                <a:solidFill>
                  <a:srgbClr val="D1EFFF"/>
                </a:solidFill>
              </a:rPr>
              <a:t>  seletor de coluna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00" dirty="0">
                <a:solidFill>
                  <a:srgbClr val="D1EFFF"/>
                </a:solidFill>
              </a:rPr>
              <a:t>  alias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JOINS · SINTAXE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Companhias e conexões em um único SELECT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zcl_04_join.clas.abap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ZS4D401_## › ZCL_04_JOIN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a~carrier_id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c~carrier_id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a~carrier_id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'EUR'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r>
              <a:rPr lang="en-US" sz="1250" b="1" dirty="0">
                <a:solidFill>
                  <a:srgbClr val="1D2D3E"/>
                </a:solidFill>
              </a:rPr>
              <a:t> e não ponto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Qualifica a coluna pela fonte; o ponto já encerra a instrução no ABAP.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Alias obrigatório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a</a:t>
            </a:r>
            <a:r>
              <a:rPr lang="en-US" sz="1050" dirty="0">
                <a:solidFill>
                  <a:srgbClr val="556B82"/>
                </a:solidFill>
              </a:rPr>
              <a:t>, o alias substitui o nome da tabela em todo o comando.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Só quando ambíguo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556B82"/>
                </a:solidFill>
              </a:rPr>
              <a:t> existe nas duas fontes;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050" dirty="0">
                <a:solidFill>
                  <a:srgbClr val="556B82"/>
                </a:solidFill>
              </a:rPr>
              <a:t> só em uma.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Self-join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Unir uma tabela com ela mesma exige aliases, ex.: conexões com escala.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JOINS · TIPOS DE JOIN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Quais linhas cada join devolve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46697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66814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27164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INNER JOIN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Só as linhas com correspondência nos dois lados. Companhias sem conexões não aparecem.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46697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66814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27164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LEFT OUTER JOIN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Todas as linhas da esquerda. Sem correspondência, as colunas da direita chegam com o </a:t>
            </a:r>
            <a:r>
              <a:rPr lang="en-US" sz="1300" b="1" dirty="0">
                <a:solidFill>
                  <a:srgbClr val="556B82"/>
                </a:solidFill>
              </a:rPr>
              <a:t>valor inicial</a:t>
            </a:r>
            <a:r>
              <a:rPr lang="en-US" sz="1300" dirty="0">
                <a:solidFill>
                  <a:srgbClr val="556B82"/>
                </a:solidFill>
              </a:rPr>
              <a:t> do tipo.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46697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66814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27164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RIGHT OUTER JOIN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espelho: todas as linhas da direita, mesmo sem correspondência à esquerda.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784217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784217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Reutilizável?  </a:t>
            </a:r>
            <a:r>
              <a:rPr lang="en-US" sz="1200" dirty="0">
                <a:solidFill>
                  <a:srgbClr val="1D2D3E"/>
                </a:solidFill>
              </a:rPr>
              <a:t>se várias leituras precisam da mesma relação, modele uma </a:t>
            </a:r>
            <a:r>
              <a:rPr lang="en-US" sz="1200" b="1" dirty="0">
                <a:solidFill>
                  <a:srgbClr val="1D2D3E"/>
                </a:solidFill>
              </a:rPr>
              <a:t>associação</a:t>
            </a:r>
            <a:r>
              <a:rPr lang="en-US" sz="1200" dirty="0">
                <a:solidFill>
                  <a:srgbClr val="1D2D3E"/>
                </a:solidFill>
              </a:rPr>
              <a:t> em uma CDS view (aula 02.05).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768727"/>
            <a:ext cx="256032" cy="256032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2768727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2768727"/>
            <a:ext cx="256032" cy="256032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912233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04.04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Expressões e cálculos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Literais, constantes,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1600" dirty="0">
                <a:solidFill>
                  <a:srgbClr val="D1EFFF"/>
                </a:solidFill>
              </a:rPr>
              <a:t>, aritmética,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1600" dirty="0">
                <a:solidFill>
                  <a:srgbClr val="D1EFFF"/>
                </a:solidFill>
              </a:rPr>
              <a:t> e funções podem compor a lista de campos e o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@constante</a:t>
            </a:r>
            <a:r>
              <a:rPr lang="en-US" sz="1000" dirty="0">
                <a:solidFill>
                  <a:srgbClr val="D1EFFF"/>
                </a:solidFill>
              </a:rPr>
              <a:t>  valores do ABAP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CAST( … AS … )</a:t>
            </a:r>
            <a:r>
              <a:rPr lang="en-US" sz="1000" dirty="0">
                <a:solidFill>
                  <a:srgbClr val="D1EFFF"/>
                </a:solidFill>
              </a:rPr>
              <a:t>  sem conversão implícita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 · DIVISION</a:t>
            </a:r>
            <a:r>
              <a:rPr lang="en-US" sz="1000" dirty="0">
                <a:solidFill>
                  <a:srgbClr val="D1EFFF"/>
                </a:solidFill>
              </a:rPr>
              <a:t>  inteira e decimal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 · concat</a:t>
            </a:r>
            <a:r>
              <a:rPr lang="en-US" sz="1000" dirty="0">
                <a:solidFill>
                  <a:srgbClr val="D1EFFF"/>
                </a:solidFill>
              </a:rPr>
              <a:t>  texto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EXPRESSÕES · CÁLCULOS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Assentos livres, percentuais e textos no banco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zcl_04_calc.clas.abap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ZS4D401_## › ZCL_04_CALC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c_hundred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/dmo/flight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flight_date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seats_max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seats_occupied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seats_free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seats_occupied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c_hundred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seats_max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pct_int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seats_occupied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seats_max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pct_dec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seats_occupied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FLTP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FLTP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seats_max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FLTP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pct_fltp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flight_code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seats_occupied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seats_max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is_full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Sem conversão implícita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Ao contrário do ABAP, o SQL exige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1050" dirty="0">
                <a:solidFill>
                  <a:srgbClr val="556B82"/>
                </a:solidFill>
              </a:rPr>
              <a:t> explícito; data elements não servem de destino.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Três aritméticas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Inteira, decimal e ponto flutuante;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050" dirty="0">
                <a:solidFill>
                  <a:srgbClr val="556B82"/>
                </a:solidFill>
              </a:rPr>
              <a:t> só existe em ponto flutuante.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</a:t>
            </a:r>
            <a:r>
              <a:rPr lang="en-US" sz="1250" b="1" dirty="0">
                <a:solidFill>
                  <a:srgbClr val="1D2D3E"/>
                </a:solidFill>
              </a:rPr>
              <a:t> x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Inteira corta o resto (48); decimal arredonda (48.79).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Constantes com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Mais legíveis que literais e com mais tipos que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1050" dirty="0">
                <a:solidFill>
                  <a:srgbClr val="556B82"/>
                </a:solidFill>
              </a:rPr>
              <a:t> 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EXPRESSÕES · DATAS E HORAS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Funções de data, hora e timestamp no SQL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282696"/>
          </a:xfrm>
          <a:prstGeom prst="roundRect">
            <a:avLst>
              <a:gd name="adj" fmla="val 27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4057536"/>
                <a:gridCol w="67625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Uso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is_valid( 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1 se a data, hora ou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utclong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for válida, senão 0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add_days( ) · add_months( 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Soma dias ou meses a uma data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days_between( 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Diferença em dias entre duas datas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extract_year( ) · _month( ) · _day( 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Partes de uma data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dats_from_datn( ) · dats_to_datn( 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Converte entre os formatos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DATS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e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tstmp_to_dats( ) · tstmp_to_tims( 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Separa timestamps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DEC(15,0)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em data e hora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11496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5111496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Prefira as genéricas  </a:t>
            </a:r>
            <a:r>
              <a:rPr lang="en-US" sz="1200" dirty="0">
                <a:solidFill>
                  <a:srgbClr val="1D2D3E"/>
                </a:solidFill>
              </a:rPr>
              <a:t>funções como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is_valid( )</a:t>
            </a:r>
            <a:r>
              <a:rPr lang="en-US" sz="1200" dirty="0">
                <a:solidFill>
                  <a:srgbClr val="1D2D3E"/>
                </a:solidFill>
              </a:rPr>
              <a:t> 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days_between( )</a:t>
            </a:r>
            <a:r>
              <a:rPr lang="en-US" sz="1200" dirty="0">
                <a:solidFill>
                  <a:srgbClr val="1D2D3E"/>
                </a:solidFill>
              </a:rPr>
              <a:t> aceitam vários formatos; as específicas (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dats_…</a:t>
            </a:r>
            <a:r>
              <a:rPr lang="en-US" sz="1200" dirty="0">
                <a:solidFill>
                  <a:srgbClr val="1D2D3E"/>
                </a:solidFill>
              </a:rPr>
              <a:t>) continuam para tipos antigos.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239512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04.04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Ordenar, condensar e agregar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banco também ordena, remove duplicatas e resume milhares de linhas em uma só, com </a:t>
            </a:r>
            <a:r>
              <a:rPr lang="en-US" sz="1600" b="1" dirty="0">
                <a:solidFill>
                  <a:srgbClr val="D1EFFF"/>
                </a:solidFill>
              </a:rPr>
              <a:t>agregações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GROUP BY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000" dirty="0">
                <a:solidFill>
                  <a:srgbClr val="D1EFFF"/>
                </a:solidFill>
              </a:rPr>
              <a:t>  ordenação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DISTINCT</a:t>
            </a:r>
            <a:r>
              <a:rPr lang="en-US" sz="1000" dirty="0">
                <a:solidFill>
                  <a:srgbClr val="D1EFFF"/>
                </a:solidFill>
              </a:rPr>
              <a:t>  sem duplicatas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· AVG · COUNT</a:t>
            </a:r>
            <a:r>
              <a:rPr lang="en-US" sz="1000" dirty="0">
                <a:solidFill>
                  <a:srgbClr val="D1EFFF"/>
                </a:solidFill>
              </a:rPr>
              <a:t>  agregação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· HAVING</a:t>
            </a:r>
            <a:r>
              <a:rPr lang="en-US" sz="1000" dirty="0">
                <a:solidFill>
                  <a:srgbClr val="D1EFFF"/>
                </a:solidFill>
              </a:rPr>
              <a:t>  grupos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CONJUNTOS · AGREGAÇÕES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Totais por companhia, filtrados e ordenados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3794760"/>
          </a:xfrm>
          <a:prstGeom prst="roundRect">
            <a:avLst>
              <a:gd name="adj" fmla="val 192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zcl_04_aggr.clas.abap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ZS4D401_## › ZCL_04_AGGR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/dmo/flight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seats_occupied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passengers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seats_occupied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avg_seats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last_flight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DISTINCT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lv_from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seats_occupied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passengers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DESCENDING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Obrigatório para campos fora das agregações.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731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7317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7134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Filtra os grupos depois da agregação (o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556B82"/>
                </a:solidFill>
              </a:rPr>
              <a:t> filtra antes).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5890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589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5707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AVG( … AS …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Define o tipo do resultado; sem isso, vira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FLTP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4462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446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4279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Só agregações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Sem outros campos, o resultado tem sempre exatamente uma linha.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5040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07008" y="555040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DISTINCT  </a:t>
            </a:r>
            <a:r>
              <a:rPr lang="en-US" sz="1200" dirty="0">
                <a:solidFill>
                  <a:srgbClr val="1D2D3E"/>
                </a:solidFill>
              </a:rPr>
              <a:t>logo antes da lista de campos remove linhas repetidas; dentro de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COUNT( DISTINCT … )</a:t>
            </a:r>
            <a:r>
              <a:rPr lang="en-US" sz="1200" dirty="0">
                <a:solidFill>
                  <a:srgbClr val="1D2D3E"/>
                </a:solidFill>
              </a:rPr>
              <a:t>, conta valores diferentes.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4642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CONJUNTOS · ANTES E DEPOIS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Loop no servidor ou SQL no banco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67576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675763"/>
            <a:ext cx="5410048" cy="73152"/>
          </a:xfrm>
          <a:prstGeom prst="rect">
            <a:avLst/>
          </a:prstGeom>
          <a:solidFill>
            <a:srgbClr val="D20A0A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95008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95008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A0808"/>
                </a:solidFill>
              </a:rPr>
              <a:t>Loop no ABAP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9016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</a:t>
            </a:r>
            <a:r>
              <a:rPr lang="en-US" sz="1350" dirty="0">
                <a:solidFill>
                  <a:srgbClr val="1D2D3E"/>
                </a:solidFill>
              </a:rPr>
              <a:t> traz todas as linhas e colunas pela rede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Um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350" dirty="0">
                <a:solidFill>
                  <a:srgbClr val="1D2D3E"/>
                </a:solidFill>
              </a:rPr>
              <a:t> soma, agrupa e formata no servidor de aplicação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Lento em volumes grandes e difícil de manter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67576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675763"/>
            <a:ext cx="5410048" cy="73152"/>
          </a:xfrm>
          <a:prstGeom prst="rect">
            <a:avLst/>
          </a:prstGeom>
          <a:solidFill>
            <a:srgbClr val="30914C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95008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95008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F3A"/>
                </a:solidFill>
              </a:rPr>
              <a:t>Code pushdown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59016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O SAP HANA calcula onde os dados estão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Só o resultado volta para o ABAP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Uma instrução declarativa, fácil de ler e de mover para uma CDS view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2192" y="3050667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3050667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04.04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Use ABAP SQL para lógica pontual e </a:t>
            </a:r>
            <a:r>
              <a:rPr lang="en-US" sz="1400" b="1" dirty="0">
                <a:solidFill>
                  <a:srgbClr val="FFFFFF"/>
                </a:solidFill>
              </a:rPr>
              <a:t>CDS views</a:t>
            </a:r>
            <a:r>
              <a:rPr lang="en-US" sz="1400" dirty="0">
                <a:solidFill>
                  <a:srgbClr val="FFFFFF"/>
                </a:solidFill>
              </a:rPr>
              <a:t> para lógica reutilizável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Joins</a:t>
            </a:r>
            <a:r>
              <a:rPr lang="en-US" sz="1400" dirty="0">
                <a:solidFill>
                  <a:srgbClr val="FFFFFF"/>
                </a:solidFill>
              </a:rPr>
              <a:t>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en-US" sz="1400" dirty="0">
                <a:solidFill>
                  <a:srgbClr val="FFFFFF"/>
                </a:solidFill>
              </a:rPr>
              <a:t>, aliases e o seletor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r>
              <a:rPr lang="en-US" sz="1400" dirty="0">
                <a:solidFill>
                  <a:srgbClr val="FFFFFF"/>
                </a:solidFill>
              </a:rPr>
              <a:t>;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OUTER</a:t>
            </a:r>
            <a:r>
              <a:rPr lang="en-US" sz="1400" dirty="0">
                <a:solidFill>
                  <a:srgbClr val="FFFFFF"/>
                </a:solidFill>
              </a:rPr>
              <a:t> mantém a esquerda inteira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SQL não converte sozinho: use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1400" dirty="0">
                <a:solidFill>
                  <a:srgbClr val="FFFFFF"/>
                </a:solidFill>
              </a:rPr>
              <a:t>;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DIVISION</a:t>
            </a:r>
            <a:r>
              <a:rPr lang="en-US" sz="1400" dirty="0">
                <a:solidFill>
                  <a:srgbClr val="FFFFFF"/>
                </a:solidFill>
              </a:rPr>
              <a:t> para divisões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Funções genéricas de data como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is_valid( )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days_between( 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Agregações</a:t>
            </a:r>
            <a:r>
              <a:rPr lang="en-US" sz="1400" dirty="0">
                <a:solidFill>
                  <a:srgbClr val="FFFFFF"/>
                </a:solidFill>
              </a:rPr>
              <a:t>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</a:t>
            </a:r>
            <a:r>
              <a:rPr lang="en-US" sz="1400" dirty="0">
                <a:solidFill>
                  <a:srgbClr val="FFFFFF"/>
                </a:solidFill>
              </a:rPr>
              <a:t>;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DISTINCT</a:t>
            </a:r>
            <a:r>
              <a:rPr lang="en-US" sz="1400" dirty="0">
                <a:solidFill>
                  <a:srgbClr val="FFFFFF"/>
                </a:solidFill>
              </a:rPr>
              <a:t> no banco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Code pushdown devolve só o resultado e substitui loops de cálculo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04.05  </a:t>
            </a:r>
            <a:r>
              <a:rPr lang="en-US" sz="1500" dirty="0">
                <a:solidFill>
                  <a:srgbClr val="FFFFFF"/>
                </a:solidFill>
              </a:rPr>
              <a:t>Performance de tabelas: Chaves, field symbols e chaves secundárias.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04.04 Code pushdown no ABAP SQL</dc:title>
  <dc:subject>ABAP Moderno – Módulo 04: Programação ABAP Intermediária</dc:subject>
  <dc:creator>Adriano Bispo</dc:creator>
  <cp:lastModifiedBy>Adriano Bispo</cp:lastModifiedBy>
  <cp:revision>1</cp:revision>
  <dcterms:created xsi:type="dcterms:W3CDTF">2026-10-29T01:10:59Z</dcterms:created>
  <dcterms:modified xsi:type="dcterms:W3CDTF">2026-10-29T01:10:59Z</dcterms:modified>
</cp:coreProperties>
</file>