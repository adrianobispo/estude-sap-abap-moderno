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04.04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04  ·  04.04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04  ·  04.04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04  ·  04.04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Usando Code Pushdown no ABAP SQL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Otimizando a lógica no banco de dados.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AT … SUM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( a + b ) AS total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… END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SUM · GROUP BY · HAVING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UNION ALL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Objetivos de Aprendizagem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325880" y="15819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Expressões no SELECT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Aplicar expressões aritméticas e de string diretamente no SELECT, eliminando pós-processamento.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325880" y="24963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Lógica condicional com CASE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Transformar códigos técnicos em regras de negócio na fonte.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34290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25880" y="34107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Agregações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Realizar agregações (SUM, AVG, MIN, MAX) e agrupamentos obrigatórios (GROUP BY).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43434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25880" y="43251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UNION e UNION ALL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Combinar seleções heterogêneas, entendendo impactos de performance.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257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325880" y="5239512"/>
            <a:ext cx="103171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Robustez</a:t>
            </a:r>
            <a:endParaRPr lang="en-US" sz="16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Garantir cálculos matemáticos robustos com tratamento de nulos (COALESCE).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3560674"/>
            <a:ext cx="285293" cy="285293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646274"/>
            <a:ext cx="285293" cy="285293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4" y="4475074"/>
            <a:ext cx="285293" cy="285293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4" y="5389474"/>
            <a:ext cx="285293" cy="285293"/>
          </a:xfrm>
          <a:prstGeom prst="rect">
            <a:avLst/>
          </a:prstGeom>
        </p:spPr>
      </p:pic>
      <p:sp>
        <p:nvSpPr>
          <p:cNvPr id="18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Decisão Arquitetural · Reutilização vs. Especificidade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ABAP SQL ou CDS Views?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CDS Views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Single Source of Truth.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Ideal para modelos reutilizáveis.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Exemplo: cálculo de impostos consumido por 3 relatórios e 1 Fiori App.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Regra:</a:t>
            </a:r>
            <a:r>
              <a:rPr lang="en-US" sz="1500" dirty="0">
                <a:solidFill>
                  <a:srgbClr val="1D2D3E"/>
                </a:solidFill>
              </a:rPr>
              <a:t> se a lógica é compartilhada, use CDS.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46C76"/>
                </a:solidFill>
              </a:rPr>
              <a:t>ABAP SQL Moderno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Lógica ad-hoc e específica.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Ideal para processamento batch único ou lógica exclusiva de um método.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Regra:</a:t>
            </a:r>
            <a:r>
              <a:rPr lang="en-US" sz="1500" dirty="0">
                <a:solidFill>
                  <a:srgbClr val="1D2D3E"/>
                </a:solidFill>
              </a:rPr>
              <a:t> não polua o dicionário de dados com views de uso único.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303520"/>
            <a:ext cx="11094415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303520"/>
            <a:ext cx="1008857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Nota do arquiteto:</a:t>
            </a:r>
            <a:r>
              <a:rPr lang="en-US" sz="1500" dirty="0">
                <a:solidFill>
                  <a:srgbClr val="1D2D3E"/>
                </a:solidFill>
              </a:rPr>
              <a:t> o ABAP SQL (7.50+) herdou os ‘superpoderes’ das CDS Views. Prototipar no ABAP SQL facilita a refatoração futura para CDS, se necessário.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64124"/>
            <a:ext cx="347472" cy="34747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Aritmética no SELECT (Code Pushdown)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6B82"/>
                </a:solidFill>
              </a:rPr>
              <a:t>Old Way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2270684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556B8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130552"/>
            <a:ext cx="20878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56B82"/>
                </a:solidFill>
              </a:rPr>
              <a:t>DB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892476" y="2423160"/>
            <a:ext cx="6766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3642284" y="2057400"/>
            <a:ext cx="2270684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733724" y="2130552"/>
            <a:ext cx="20878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44F00"/>
                </a:solidFill>
              </a:rPr>
              <a:t>App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loop de cálculo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Lento: selecionar tudo e calcular no loop.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278728" y="1554480"/>
            <a:ext cx="5364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64D9"/>
                </a:solidFill>
              </a:rPr>
              <a:t>Modern Way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78728" y="2057400"/>
            <a:ext cx="2270684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370168" y="2130552"/>
            <a:ext cx="20878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F3A"/>
                </a:solidFill>
              </a:rPr>
              <a:t>DB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calcula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22563" y="2423160"/>
            <a:ext cx="6766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4" name="Shape 12"/>
          <p:cNvSpPr/>
          <p:nvPr/>
        </p:nvSpPr>
        <p:spPr>
          <a:xfrm>
            <a:off x="9372371" y="2057400"/>
            <a:ext cx="2270684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463811" y="2130552"/>
            <a:ext cx="208780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64D9"/>
                </a:solidFill>
              </a:rPr>
              <a:t>App Server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recebe o resultado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278728" y="3154680"/>
            <a:ext cx="536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D2D3E"/>
                </a:solidFill>
              </a:rPr>
              <a:t>Rápido: o banco é otimizado para matemática vetorial.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15258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77240" y="387705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Soma simples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26110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389120"/>
            <a:ext cx="30580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grand_total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38218" y="3749040"/>
            <a:ext cx="3515258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4566818" y="387705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Casting &amp; tipagem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338218" y="426110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566818" y="4389120"/>
            <a:ext cx="30580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CAST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'0.9'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4338218" y="534924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Literal '0.9' (10% de desconto). CAST garante formato moeda.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127797" y="3749040"/>
            <a:ext cx="3515258" cy="1508760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356397" y="387705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Divisão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127797" y="426110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56397" y="4389120"/>
            <a:ext cx="305805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DIVISION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2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127797" y="5349240"/>
            <a:ext cx="35152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DIVISION para inteiros; operador / para decimais.</a:t>
            </a:r>
            <a:endParaRPr lang="en-US" sz="1300" dirty="0"/>
          </a:p>
        </p:txBody>
      </p:sp>
      <p:sp>
        <p:nvSpPr>
          <p:cNvPr id="31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Ponto de Atenção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Perigo dos Nulos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1D2D3E"/>
                </a:solidFill>
              </a:rPr>
              <a:t>5 + NULL = </a:t>
            </a:r>
            <a:r>
              <a:rPr lang="en-US" sz="6400" b="1" dirty="0">
                <a:solidFill>
                  <a:srgbClr val="D20A0A"/>
                </a:solidFill>
              </a:rPr>
              <a:t>NULL</a:t>
            </a:r>
            <a:endParaRPr lang="en-US" sz="6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880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Um campo vazio pode anular todo o cálculo de uma linha.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80160" y="3566160"/>
            <a:ext cx="9631375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554480" y="3703320"/>
            <a:ext cx="9082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D2D3E"/>
                </a:solidFill>
              </a:rPr>
              <a:t>A solução: </a:t>
            </a:r>
            <a:r>
              <a:rPr lang="en-US" sz="20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COALESCE( campo, 0 )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4206240"/>
            <a:ext cx="90827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Retorna o primeiro valor não nulo da lista de argumentos. Indispensável em operações aritméticas para garantir a integridade da query.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554480" y="5120640"/>
            <a:ext cx="9082735" cy="777240"/>
          </a:xfrm>
          <a:prstGeom prst="roundRect">
            <a:avLst>
              <a:gd name="adj" fmla="val 16471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1783080" y="5285232"/>
            <a:ext cx="8625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COALESCE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booking_fee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final_amount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Manipulação de Strings no Banco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Elimine loops ABAP para tratamento de texto: use funções nativas.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351525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232257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Concatenação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70662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834640"/>
            <a:ext cx="30580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concat_with_space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first_name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123389" y="475488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5166360"/>
            <a:ext cx="3515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‘João Silva’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38218" y="2194560"/>
            <a:ext cx="351525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566818" y="232257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Normalização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38218" y="270662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66818" y="2834640"/>
            <a:ext cx="30580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12968" y="475488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38218" y="5166360"/>
            <a:ext cx="3515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‘SILVA’: padronização para buscas insensíveis a maiúsculas.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27797" y="2194560"/>
            <a:ext cx="351525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356397" y="2322576"/>
            <a:ext cx="30580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Extração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127797" y="2706624"/>
            <a:ext cx="3515258" cy="0"/>
          </a:xfrm>
          <a:prstGeom prst="line">
            <a:avLst/>
          </a:prstGeom>
          <a:noFill/>
          <a:ln w="9525">
            <a:solidFill>
              <a:srgbClr val="E5E5E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56397" y="2834640"/>
            <a:ext cx="3058058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substring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last_name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02546" y="4754880"/>
            <a:ext cx="365760" cy="3200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27797" y="5166360"/>
            <a:ext cx="35152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‘Sil’: recorte de texto posicional.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Lógica Condicional (CASE)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Transforme códigos técnicos em informações de negócio na fonte.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536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Simple CASE (tradução direta)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Compara um campo contra valores fixos.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536432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3136392"/>
            <a:ext cx="4907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'Aceito'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'Rejeitado'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'Pendente'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5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status_text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278728" y="2148840"/>
            <a:ext cx="53643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D2D3E"/>
                </a:solidFill>
              </a:rPr>
              <a:t>Complex CASE (lógica de valor)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Condições baseadas em comparadores (&lt;, &gt;, BETWEEN).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2971800"/>
            <a:ext cx="5364328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6507328" y="3136392"/>
            <a:ext cx="490712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'Econômica'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5000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'Primeira Classe'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4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5486400"/>
            <a:ext cx="11094415" cy="640080"/>
          </a:xfrm>
          <a:prstGeom prst="roundRect">
            <a:avLst>
              <a:gd name="adj" fmla="val 17143"/>
            </a:avLst>
          </a:prstGeom>
          <a:solidFill>
            <a:srgbClr val="F5FAE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280160" y="5486400"/>
            <a:ext cx="100885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Benefício:</a:t>
            </a:r>
            <a:r>
              <a:rPr lang="en-US" sz="1600" dirty="0">
                <a:solidFill>
                  <a:srgbClr val="1D2D3E"/>
                </a:solidFill>
              </a:rPr>
              <a:t> elimina IF/ELSE no loop. A informação chega pronta.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632704"/>
            <a:ext cx="347472" cy="347472"/>
          </a:xfrm>
          <a:prstGeom prst="rect">
            <a:avLst/>
          </a:prstGeom>
        </p:spPr>
      </p:pic>
      <p:sp>
        <p:nvSpPr>
          <p:cNvPr id="1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Agregações e Agrupamento (GROUP BY)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SUM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16002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AVG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108960" y="16002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10896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MIN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89120" y="16002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8912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MAX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0" y="1600200"/>
            <a:ext cx="1097280" cy="457200"/>
          </a:xfrm>
          <a:prstGeom prst="roundRect">
            <a:avLst>
              <a:gd name="adj" fmla="val 50000"/>
            </a:avLst>
          </a:prstGeom>
          <a:solidFill>
            <a:srgbClr val="EBF8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669280" y="16002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COUNT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47548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645920"/>
                <a:gridCol w="1554480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customer_id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currency_code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total_price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150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EUR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200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486400" y="2971800"/>
            <a:ext cx="822960" cy="457200"/>
          </a:xfrm>
          <a:prstGeom prst="rightArrow">
            <a:avLst/>
          </a:prstGeom>
          <a:solidFill>
            <a:srgbClr val="0070F2"/>
          </a:solidFill>
          <a:ln/>
        </p:spPr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468880"/>
          <a:ext cx="51508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45920"/>
                <a:gridCol w="20391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customer_id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currency_code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556B82"/>
                          </a:solidFill>
                        </a:rPr>
                        <a:t>SUM(total_price)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EUR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80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USD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D2D3E"/>
                          </a:solidFill>
                        </a:rPr>
                        <a:t>300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ext 12"/>
          <p:cNvSpPr txBox="1"/>
          <p:nvPr/>
        </p:nvSpPr>
        <p:spPr>
          <a:xfrm>
            <a:off x="548640" y="42976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Raw data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6492240" y="4023360"/>
            <a:ext cx="5150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56B82"/>
                </a:solidFill>
              </a:rPr>
              <a:t>Aggregated data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548640" y="466344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FFF8D6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1280160" y="466344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Regra de ouro:</a:t>
            </a:r>
            <a:r>
              <a:rPr lang="en-US" sz="1400" dirty="0">
                <a:solidFill>
                  <a:srgbClr val="1D2D3E"/>
                </a:solidFill>
              </a:rPr>
              <a:t> se usar função de agregação, </a:t>
            </a:r>
            <a:r>
              <a:rPr lang="en-US" sz="1400" b="1" dirty="0">
                <a:solidFill>
                  <a:srgbClr val="1D2D3E"/>
                </a:solidFill>
              </a:rPr>
              <a:t>TODO</a:t>
            </a:r>
            <a:r>
              <a:rPr lang="en-US" sz="1400" dirty="0">
                <a:solidFill>
                  <a:srgbClr val="1D2D3E"/>
                </a:solidFill>
              </a:rPr>
              <a:t> campo no FIELDS que não for agregado deve estar no GROUP BY. O banco precisa saber “somar o quê por quem”.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8667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1" name="Text 17"/>
          <p:cNvSpPr txBox="1"/>
          <p:nvPr/>
        </p:nvSpPr>
        <p:spPr>
          <a:xfrm>
            <a:off x="777240" y="5696712"/>
            <a:ext cx="106372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78324"/>
            <a:ext cx="347472" cy="347472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Filtragem Avançada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WHERE vs. HAVING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28800" y="2423160"/>
            <a:ext cx="5120640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196596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7160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1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108960"/>
            <a:ext cx="24140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WHERE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Filtra dados </a:t>
            </a:r>
            <a:r>
              <a:rPr lang="en-US" sz="1500" b="1" dirty="0">
                <a:solidFill>
                  <a:srgbClr val="556B82"/>
                </a:solidFill>
              </a:rPr>
              <a:t>ANTES</a:t>
            </a:r>
            <a:r>
              <a:rPr lang="en-US" sz="1500" dirty="0">
                <a:solidFill>
                  <a:srgbClr val="556B82"/>
                </a:solidFill>
              </a:rPr>
              <a:t> de agrupar.
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 &gt;= '20230101'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931920" y="196596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93192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182112" y="3108960"/>
            <a:ext cx="24140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Aggregation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 banco processa a soma/média.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92240" y="1965960"/>
            <a:ext cx="914400" cy="914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965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70F2"/>
                </a:solidFill>
              </a:rPr>
              <a:t>3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5742432" y="3108960"/>
            <a:ext cx="241401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HAVING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Filtra dados </a:t>
            </a:r>
            <a:r>
              <a:rPr lang="en-US" sz="1500" b="1" dirty="0">
                <a:solidFill>
                  <a:srgbClr val="556B82"/>
                </a:solidFill>
              </a:rPr>
              <a:t>DEPOIS</a:t>
            </a:r>
            <a:r>
              <a:rPr lang="en-US" sz="1500" dirty="0">
                <a:solidFill>
                  <a:srgbClr val="556B82"/>
                </a:solidFill>
              </a:rPr>
              <a:t> de agrupar.
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 total_price ) &gt; 50000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03920" y="1965960"/>
            <a:ext cx="3139135" cy="2377440"/>
          </a:xfrm>
          <a:prstGeom prst="roundRect">
            <a:avLst>
              <a:gd name="adj" fmla="val 4615"/>
            </a:avLst>
          </a:prstGeom>
          <a:solidFill>
            <a:srgbClr val="FFF8D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235440" y="1965960"/>
            <a:ext cx="21332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Dica de performance:</a:t>
            </a:r>
            <a:r>
              <a:rPr lang="en-US" sz="1600" dirty="0">
                <a:solidFill>
                  <a:srgbClr val="1D2D3E"/>
                </a:solidFill>
              </a:rPr>
              <a:t> filtre o máximo possível no WHERE para reduzir o trabalho do agrupador.</a:t>
            </a:r>
            <a:endParaRPr lang="en-US" sz="16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298094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Combinando Resultados (UNION)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Juntar dados de tabelas diferentes em uma única ida ao banco.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23774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 ALL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Recomendado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489808" y="24231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F5FAE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89808" y="24231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F3A"/>
                </a:solidFill>
              </a:rPr>
              <a:t>Alta performance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42900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Junta os resultados “como estão”.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278728" y="2194560"/>
            <a:ext cx="5364328" cy="2377440"/>
          </a:xfrm>
          <a:prstGeom prst="roundRect">
            <a:avLst>
              <a:gd name="adj" fmla="val 53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553048" y="2377440"/>
            <a:ext cx="48156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Cuidado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219895" y="2423160"/>
            <a:ext cx="2148840" cy="347472"/>
          </a:xfrm>
          <a:prstGeom prst="roundRect">
            <a:avLst>
              <a:gd name="adj" fmla="val 50000"/>
            </a:avLst>
          </a:prstGeom>
          <a:solidFill>
            <a:srgbClr val="FFEAF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19895" y="242316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A0808"/>
                </a:solidFill>
              </a:rPr>
              <a:t>Processamento custoso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3429000"/>
            <a:ext cx="48156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Junta, ordena e remove duplicatas.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4415" cy="1371600"/>
          </a:xfrm>
          <a:prstGeom prst="roundRect">
            <a:avLst>
              <a:gd name="adj" fmla="val 933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4919472"/>
            <a:ext cx="106372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table_A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UNION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ALL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6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table_B</a:t>
            </a:r>
            <a:endParaRPr lang="en-US" sz="1600" dirty="0"/>
          </a:p>
        </p:txBody>
      </p:sp>
      <p:sp>
        <p:nvSpPr>
          <p:cNvPr id="16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Exemplo Prático · Performance de Agências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Relatório Analítico (zcl_sql_pushdown)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75895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71323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number_of_travels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&lt;- 1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average_ticket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&lt;- 3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100000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'Platinum'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'Standard'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partner_category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&lt;- 2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</a:t>
            </a:r>
            <a:r>
              <a:rPr lang="en-US" sz="13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 &lt;- 4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total_amount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DESCENDING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INTO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@DATA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lt_report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r>
              <a:rPr lang="en-US" sz="13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412480" y="1783080"/>
            <a:ext cx="323057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577072" y="20528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577072" y="20528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052560" y="1783080"/>
            <a:ext cx="2453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Agregação</a:t>
            </a:r>
            <a:r>
              <a:rPr lang="en-US" sz="1400" dirty="0">
                <a:solidFill>
                  <a:srgbClr val="1D2D3E"/>
                </a:solidFill>
              </a:rPr>
              <a:t> (soma/contagem).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412480" y="2880360"/>
            <a:ext cx="323057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77072" y="31501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577072" y="31501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9052560" y="2880360"/>
            <a:ext cx="2453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Code pushdown lógico</a:t>
            </a:r>
            <a:r>
              <a:rPr lang="en-US" sz="1400" dirty="0">
                <a:solidFill>
                  <a:srgbClr val="1D2D3E"/>
                </a:solidFill>
              </a:rPr>
              <a:t> (classificação).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412480" y="3977640"/>
            <a:ext cx="323057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7072" y="424738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77072" y="42473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3977640"/>
            <a:ext cx="2453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Casting interno</a:t>
            </a:r>
            <a:r>
              <a:rPr lang="en-US" sz="1400" dirty="0">
                <a:solidFill>
                  <a:srgbClr val="1D2D3E"/>
                </a:solidFill>
              </a:rPr>
              <a:t> para média precisa.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412480" y="5074920"/>
            <a:ext cx="3230575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77072" y="534466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77072" y="53446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052560" y="5074920"/>
            <a:ext cx="24533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Filtro pós-agregação</a:t>
            </a:r>
            <a:r>
              <a:rPr lang="en-US" sz="1400" dirty="0">
                <a:solidFill>
                  <a:srgbClr val="1D2D3E"/>
                </a:solidFill>
              </a:rPr>
              <a:t> (remove irrelevantes).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Tabela Comparativa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Loop ABAP vs. Code Pushdown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97680"/>
                <a:gridCol w="4233672"/>
              </a:tblGrid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ABAP Clássico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ABAP SQL Moderno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Soma de totais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</a:rPr>
                        <a:t>Loop / variável acumuladora (lento)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</a:rPr>
                        <a:t>SELECT SUM (rápido/índices)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Status texto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</a:rPr>
                        <a:t>Loop / IF-ELSE / modificar tabela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</a:rPr>
                        <a:t>SELECT CASE (centralizado)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Juntar tabelas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</a:rPr>
                        <a:t>2 SELECTs / loop / APPEND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</a:rPr>
                        <a:t>UNION (single roundtrip)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1D2D3E"/>
                          </a:solidFill>
                        </a:rPr>
                        <a:t>Filtro de soma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AA0808"/>
                          </a:solidFill>
                        </a:rPr>
                        <a:t>Loop / DELETE se &lt; X (desperdício)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256F3A"/>
                          </a:solidFill>
                        </a:rPr>
                        <a:t>HAVING (retorno preciso)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Glossário Técnico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2523744"/>
            <a:ext cx="300319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Aggregation Function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Operam em conjuntos para retornar um valor resumido (SUM, AVG).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2523744"/>
            <a:ext cx="300319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GROUP BY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Define os ‘baldes’ de agrupamento. Obrigatório ao misturar colunas e agregações.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60020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185623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2523744"/>
            <a:ext cx="300319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COALESCE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Retorna o primeiro valor não nulo. Vital para evitar a propagação de NULL.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42793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" y="4946904"/>
            <a:ext cx="300319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Literals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Valores fixos (‘Ativo’, 100) usados diretamente na query.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4250" y="4279392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94250" y="4946904"/>
            <a:ext cx="300319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Roundtrip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rgbClr val="556B82"/>
                </a:solidFill>
              </a:rPr>
              <a:t>A viagem de ida e volta entre o Servidor de Aplicação e o Banco de Dados.</a:t>
            </a:r>
            <a:endParaRPr lang="en-US" sz="16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976933"/>
            <a:ext cx="261518" cy="261518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951" y="1976933"/>
            <a:ext cx="261518" cy="261518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400093"/>
            <a:ext cx="261518" cy="261518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951" y="4400093"/>
            <a:ext cx="261518" cy="261518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4530" y="1976933"/>
            <a:ext cx="261518" cy="261518"/>
          </a:xfrm>
          <a:prstGeom prst="rect">
            <a:avLst/>
          </a:prstGeom>
        </p:spPr>
      </p:pic>
      <p:sp>
        <p:nvSpPr>
          <p:cNvPr id="23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Quiz de Fixação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769968" y="169164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DCEBFA"/>
                </a:solidFill>
              </a:rPr>
              <a:t>?</a:t>
            </a:r>
            <a:endParaRPr lang="en-US" sz="10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0F2"/>
                </a:solidFill>
              </a:rPr>
              <a:t>Q1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Qual a diferença de performance entre WHERE e HAVING?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233008" y="1600200"/>
            <a:ext cx="54100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10454335" y="169164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DCEBFA"/>
                </a:solidFill>
              </a:rPr>
              <a:t>?</a:t>
            </a:r>
            <a:endParaRPr lang="en-US" sz="100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18288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0F2"/>
                </a:solidFill>
              </a:rPr>
              <a:t>Q2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553048" y="242316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Por que UNION ALL é mais rápido que UNION?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4100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69968" y="402336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DCEBFA"/>
                </a:solidFill>
              </a:rPr>
              <a:t>?</a:t>
            </a:r>
            <a:endParaRPr lang="en-US" sz="100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0F2"/>
                </a:solidFill>
              </a:rPr>
              <a:t>Q3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475488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Ao usar SUM( ), o que fazer com os campos não somados?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6233008" y="3931920"/>
            <a:ext cx="5410048" cy="210312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454335" y="4023360"/>
            <a:ext cx="1005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DCEBFA"/>
                </a:solidFill>
              </a:rPr>
              <a:t>?</a:t>
            </a:r>
            <a:endParaRPr lang="en-US" sz="10000" dirty="0"/>
          </a:p>
        </p:txBody>
      </p:sp>
      <p:sp>
        <p:nvSpPr>
          <p:cNvPr id="17" name="Text 15"/>
          <p:cNvSpPr txBox="1"/>
          <p:nvPr/>
        </p:nvSpPr>
        <p:spPr>
          <a:xfrm>
            <a:off x="6553048" y="4160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070F2"/>
                </a:solidFill>
              </a:rPr>
              <a:t>Q4</a:t>
            </a:r>
            <a:endParaRPr lang="en-US" sz="2600" dirty="0"/>
          </a:p>
        </p:txBody>
      </p:sp>
      <p:sp>
        <p:nvSpPr>
          <p:cNvPr id="18" name="Text 16"/>
          <p:cNvSpPr txBox="1"/>
          <p:nvPr/>
        </p:nvSpPr>
        <p:spPr>
          <a:xfrm>
            <a:off x="6553048" y="4754880"/>
            <a:ext cx="38555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Em que cenário a função COALESCE é indispensável?</a:t>
            </a:r>
            <a:endParaRPr lang="en-US" sz="1900" dirty="0"/>
          </a:p>
        </p:txBody>
      </p:sp>
      <p:sp>
        <p:nvSpPr>
          <p:cNvPr id="19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Deixe o Banco de Dados Fazer o Trabalho Pesado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FFFFF"/>
                </a:solidFill>
              </a:rPr>
              <a:t>Otimize seu ABAP: o </a:t>
            </a:r>
            <a:r>
              <a:rPr lang="en-US" sz="3000" b="1" dirty="0">
                <a:solidFill>
                  <a:srgbClr val="FFFFFF"/>
                </a:solidFill>
              </a:rPr>
              <a:t>banco de dados</a:t>
            </a:r>
            <a:r>
              <a:rPr lang="en-US" sz="3000" dirty="0">
                <a:solidFill>
                  <a:srgbClr val="FFFFFF"/>
                </a:solidFill>
              </a:rPr>
              <a:t> é o lugar certo para calcular, filtrar e agregar.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65760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C9D3DE"/>
                </a:solidFill>
              </a:rPr>
              <a:t>Revise seus códigos antigos. Identifique onde loops de cálculo podem ser substituídos por SQL moderno hoje mesmo.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Usando Code Pushdown no ABAP SQL</dc:title>
  <dc:subject>ABAP Moderno – Módulo 04</dc:subject>
  <dc:creator>Adriano Bispo</dc:creator>
  <cp:lastModifiedBy>Adriano Bispo</cp:lastModifiedBy>
  <cp:revision>1</cp:revision>
  <dcterms:created xsi:type="dcterms:W3CDTF">2026-10-28T00:21:08Z</dcterms:created>
  <dcterms:modified xsi:type="dcterms:W3CDTF">2026-10-28T00:21:08Z</dcterms:modified>
</cp:coreProperties>
</file>