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04.02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04  ·  04.02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04  ·  04.02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ABAP Moderno: Tipos de Dados e Conversões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Estratégias para um código seguro, performático e livre de dumps.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lv_num = '100,9'.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 · P · F · C · STRING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CONV tipo( valor 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ALPHA = IN / 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TRY ... CATCH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Objetivos de Aprendizagem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63040" y="1719072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Identificar e selecionar tipos primitivos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(I, P, C, STRING) considerando memória e precisão.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816352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Diferenciar conversão implícita de explícita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e reconhecer seus riscos.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3913632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Utilizar o operador CONV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para conversões seguras e legíveis.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63040" y="5010912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Prevenir erros de Overflow e Truncation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em ambientes produtivos.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356616" cy="356616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99232"/>
            <a:ext cx="356616" cy="35661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96512"/>
            <a:ext cx="356616" cy="356616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93792"/>
            <a:ext cx="356616" cy="356616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Escolha Estratégica de Tipos Primitivos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569464"/>
            <a:ext cx="300319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Numéricos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556B82"/>
                </a:solidFill>
              </a:rPr>
              <a:t>I (Integer):</a:t>
            </a:r>
            <a:r>
              <a:rPr lang="en-US" sz="1400" dirty="0">
                <a:solidFill>
                  <a:srgbClr val="556B82"/>
                </a:solidFill>
              </a:rPr>
              <a:t> 4 bytes. Ideal para contadores e índices. Risco: arredonda decimais.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556B82"/>
                </a:solidFill>
              </a:rPr>
              <a:t>P (Packed):</a:t>
            </a:r>
            <a:r>
              <a:rPr lang="en-US" sz="1400" dirty="0">
                <a:solidFill>
                  <a:srgbClr val="556B82"/>
                </a:solidFill>
              </a:rPr>
              <a:t> ponto fixo. Ideal para dinheiro e pesos. Garante precisão exata.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556B82"/>
                </a:solidFill>
              </a:rPr>
              <a:t>F (Float):</a:t>
            </a:r>
            <a:r>
              <a:rPr lang="en-US" sz="1400" dirty="0">
                <a:solidFill>
                  <a:srgbClr val="556B82"/>
                </a:solidFill>
              </a:rPr>
              <a:t> ponto flutuante. Ideal para cálculos científicos. Risco: nunca usar para saldo bancário.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569464"/>
            <a:ext cx="300319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Texto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556B82"/>
                </a:solidFill>
              </a:rPr>
              <a:t>C (Char):</a:t>
            </a:r>
            <a:r>
              <a:rPr lang="en-US" sz="1400" dirty="0">
                <a:solidFill>
                  <a:srgbClr val="556B82"/>
                </a:solidFill>
              </a:rPr>
              <a:t> tamanho fixo. Preenche espaço vazio na memória. Uso: códigos/IDs.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556B82"/>
                </a:solidFill>
              </a:rPr>
              <a:t>STRING:</a:t>
            </a:r>
            <a:r>
              <a:rPr lang="en-US" sz="1400" dirty="0">
                <a:solidFill>
                  <a:srgbClr val="556B82"/>
                </a:solidFill>
              </a:rPr>
              <a:t> tamanho dinâmico. Aloca só o necessário. Uso: descrições e logs (padrão moderno).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569464"/>
            <a:ext cx="300319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Data e Hora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556B82"/>
                </a:solidFill>
              </a:rPr>
              <a:t>D (Date):</a:t>
            </a:r>
            <a:r>
              <a:rPr lang="en-US" sz="1400" dirty="0">
                <a:solidFill>
                  <a:srgbClr val="556B82"/>
                </a:solidFill>
              </a:rPr>
              <a:t> formato interno AAAAMMDD. Permite aritmética de dias.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556B82"/>
                </a:solidFill>
              </a:rPr>
              <a:t>T (Time):</a:t>
            </a:r>
            <a:r>
              <a:rPr lang="en-US" sz="1400" dirty="0">
                <a:solidFill>
                  <a:srgbClr val="556B82"/>
                </a:solidFill>
              </a:rPr>
              <a:t> formato interno HHMMSS. Permite aritmética de segundos.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987906"/>
            <a:ext cx="285293" cy="28529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924" y="1987906"/>
            <a:ext cx="285293" cy="285293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502" y="1987906"/>
            <a:ext cx="285293" cy="285293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Ilusão da ‘Mágica’ do Compilador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1D2D3E"/>
                </a:solidFill>
              </a:rPr>
              <a:t>O ABAP é permissivo: tenta converter tipos automaticamente na atribuição (=).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Isso gera o ‘bug silencioso’: o código compila, mas falha ou corrompe dados em execução.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303520" y="1783080"/>
            <a:ext cx="6339535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532120" y="1947672"/>
            <a:ext cx="58823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lv_num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lv_num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'100'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OK: vira 100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lv_num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'100.9'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PERIGO: arredonda para 101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lv_num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'100,9'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ERRO CRÍTICO: dump (depende do usuário)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0" y="4434840"/>
            <a:ext cx="6339535" cy="777240"/>
          </a:xfrm>
          <a:prstGeom prst="roundRect">
            <a:avLst>
              <a:gd name="adj" fmla="val 14118"/>
            </a:avLst>
          </a:prstGeom>
          <a:solidFill>
            <a:srgbClr val="FFF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35040" y="4434840"/>
            <a:ext cx="5333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conversão implícita </a:t>
            </a:r>
            <a:r>
              <a:rPr lang="en-US" sz="1600" b="1" dirty="0">
                <a:solidFill>
                  <a:srgbClr val="1D2D3E"/>
                </a:solidFill>
              </a:rPr>
              <a:t>esconde a intenção</a:t>
            </a:r>
            <a:r>
              <a:rPr lang="en-US" sz="1600" dirty="0">
                <a:solidFill>
                  <a:srgbClr val="1D2D3E"/>
                </a:solidFill>
              </a:rPr>
              <a:t> do código.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4649724"/>
            <a:ext cx="347472" cy="347472"/>
          </a:xfrm>
          <a:prstGeom prst="rect">
            <a:avLst/>
          </a:prstGeom>
        </p:spPr>
      </p:pic>
      <p:sp>
        <p:nvSpPr>
          <p:cNvPr id="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Principais Causas de Dumps em Produção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F00"/>
                </a:solidFill>
              </a:rPr>
              <a:t>Truncation (corte silencioso)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D2D3E"/>
                </a:solidFill>
              </a:rPr>
              <a:t>Conceito:</a:t>
            </a:r>
            <a:r>
              <a:rPr lang="en-US" sz="1700" dirty="0">
                <a:solidFill>
                  <a:srgbClr val="1D2D3E"/>
                </a:solidFill>
              </a:rPr>
              <a:t> mover texto longo para variável curta.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D2D3E"/>
                </a:solidFill>
              </a:rPr>
              <a:t>Exemplo:</a:t>
            </a:r>
            <a:r>
              <a:rPr lang="en-US" sz="1700" dirty="0">
                <a:solidFill>
                  <a:srgbClr val="1D2D3E"/>
                </a:solidFill>
              </a:rPr>
              <a:t> 'Bananas' (7 chars) → CHAR(3).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D2D3E"/>
                </a:solidFill>
              </a:rPr>
              <a:t>Resultado:</a:t>
            </a:r>
            <a:r>
              <a:rPr lang="en-US" sz="1700" dirty="0">
                <a:solidFill>
                  <a:srgbClr val="1D2D3E"/>
                </a:solidFill>
              </a:rPr>
              <a:t> 'Ban' (dados perdidos sem aviso).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0808"/>
                </a:solidFill>
              </a:rPr>
              <a:t>Overflow (estouro numérico)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D2D3E"/>
                </a:solidFill>
              </a:rPr>
              <a:t>Conceito:</a:t>
            </a:r>
            <a:r>
              <a:rPr lang="en-US" sz="1700" dirty="0">
                <a:solidFill>
                  <a:srgbClr val="1D2D3E"/>
                </a:solidFill>
              </a:rPr>
              <a:t> número maior que a capacidade da variável.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D2D3E"/>
                </a:solidFill>
              </a:rPr>
              <a:t>Exemplo:</a:t>
            </a:r>
            <a:r>
              <a:rPr lang="en-US" sz="1700" dirty="0">
                <a:solidFill>
                  <a:srgbClr val="1D2D3E"/>
                </a:solidFill>
              </a:rPr>
              <a:t> jogar valor milionário em variável pequena.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D2D3E"/>
                </a:solidFill>
              </a:rPr>
              <a:t>Resultado:</a:t>
            </a:r>
            <a:r>
              <a:rPr lang="en-US" sz="1700" dirty="0">
                <a:solidFill>
                  <a:srgbClr val="1D2D3E"/>
                </a:solidFill>
              </a:rPr>
              <a:t> DUMP (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CX_SY_CONVERSION_OVERFLOW</a:t>
            </a:r>
            <a:r>
              <a:rPr lang="en-US" sz="1700" dirty="0">
                <a:solidFill>
                  <a:srgbClr val="1D2D3E"/>
                </a:solidFill>
              </a:rPr>
              <a:t>). O programa cai.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1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Conversão Explícita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Código Limpo e Robusto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64D9"/>
                </a:solidFill>
              </a:rPr>
              <a:t>O operador construtor </a:t>
            </a:r>
            <a:r>
              <a:rPr lang="en-US" sz="2400" b="1" dirty="0">
                <a:solidFill>
                  <a:srgbClr val="0064D9"/>
                </a:solidFill>
              </a:rPr>
              <a:t>CONV</a:t>
            </a:r>
            <a:r>
              <a:rPr lang="en-US" sz="2400" dirty="0">
                <a:solidFill>
                  <a:srgbClr val="0064D9"/>
                </a:solidFill>
              </a:rPr>
              <a:t> deixa clara a transformação e permite controle total.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2651760"/>
            <a:ext cx="8534095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57400" y="2816352"/>
            <a:ext cx="8076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tipo_destino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valor_origem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2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749040"/>
            <a:ext cx="29208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Legibilidade: </a:t>
            </a:r>
            <a:r>
              <a:rPr lang="en-US" sz="1600" dirty="0">
                <a:solidFill>
                  <a:srgbClr val="1D2D3E"/>
                </a:solidFill>
              </a:rPr>
              <a:t>Óbvio para quem lê que o tipo mudou.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2578" y="3749040"/>
            <a:ext cx="29208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Inline: </a:t>
            </a:r>
            <a:r>
              <a:rPr lang="en-US" sz="1600" dirty="0">
                <a:solidFill>
                  <a:srgbClr val="1D2D3E"/>
                </a:solidFill>
              </a:rPr>
              <a:t>Uso direto em métodos e concatenações.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722157" y="3749040"/>
            <a:ext cx="29208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Segurança: </a:t>
            </a:r>
            <a:r>
              <a:rPr lang="en-US" sz="1600" dirty="0">
                <a:solidFill>
                  <a:srgbClr val="1D2D3E"/>
                </a:solidFill>
              </a:rPr>
              <a:t>Facilita o tratamento de exceções (TRY...CATCH).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0" y="5029200"/>
            <a:ext cx="5973775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37560" y="5193792"/>
            <a:ext cx="5516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lo_calc-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iv_val1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457200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218" y="3840480"/>
            <a:ext cx="457200" cy="4572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3840480"/>
            <a:ext cx="45720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Materiais e Clientes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Tratamento de Identificadores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064D9"/>
                </a:solidFill>
              </a:rPr>
              <a:t>No SAP, IDs (ex.: Cliente) são textos que exigem zeros à esquerda no banco de dados. Sem ALPHA, o SELECT falha.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478938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679192"/>
            <a:ext cx="229605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Usuário digita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56B82"/>
                </a:solidFill>
              </a:rPr>
              <a:t>'123'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00730" y="3063240"/>
            <a:ext cx="168249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8" name="Shape 6"/>
          <p:cNvSpPr/>
          <p:nvPr/>
        </p:nvSpPr>
        <p:spPr>
          <a:xfrm>
            <a:off x="4856378" y="2606040"/>
            <a:ext cx="2478938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47818" y="2679192"/>
            <a:ext cx="229605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Banco de dados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56B82"/>
                </a:solidFill>
              </a:rPr>
              <a:t>'0000000123'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8469" y="3063240"/>
            <a:ext cx="168249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9164117" y="2606040"/>
            <a:ext cx="2478938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255557" y="2679192"/>
            <a:ext cx="229605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Tela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56B82"/>
                </a:solidFill>
              </a:rPr>
              <a:t>'123'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10458" y="27889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10458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ALPHA = 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18197" y="27889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18197" y="2788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ALPHA = OUT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94415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4279392"/>
            <a:ext cx="10637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'0000000123'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Exemplo Real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Processando Arquivos Externos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Cenário: </a:t>
            </a:r>
            <a:r>
              <a:rPr lang="en-US" sz="1700" dirty="0">
                <a:solidFill>
                  <a:srgbClr val="1D2D3E"/>
                </a:solidFill>
              </a:rPr>
              <a:t>recebimento de valor em String ('150.55') vindo de API/Arquivo.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786384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13432"/>
            <a:ext cx="7406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lv_string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'150.55'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Converte String para KBETR (moeda) explicitamente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lv_valor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kbetr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lv_string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cx_sy_conversion_no_number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Tratamento de erro robusto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'Erro: O texto não é numérico.'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0" y="3794760"/>
            <a:ext cx="2956255" cy="1188720"/>
          </a:xfrm>
          <a:prstGeom prst="roundRect">
            <a:avLst>
              <a:gd name="adj" fmla="val 9231"/>
            </a:avLst>
          </a:prstGeom>
          <a:solidFill>
            <a:srgbClr val="F5FA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0" y="3794760"/>
            <a:ext cx="1950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uso de </a:t>
            </a:r>
            <a:r>
              <a:rPr lang="en-US" sz="1600" b="1" dirty="0">
                <a:solidFill>
                  <a:srgbClr val="1D2D3E"/>
                </a:solidFill>
              </a:rPr>
              <a:t>TRY...CATCH</a:t>
            </a:r>
            <a:r>
              <a:rPr lang="en-US" sz="1600" dirty="0">
                <a:solidFill>
                  <a:srgbClr val="1D2D3E"/>
                </a:solidFill>
              </a:rPr>
              <a:t> evita o dump fatal.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42153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Tabela Comparativa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Melhores Práticas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  <a:gridCol w="2103120"/>
                <a:gridCol w="4507992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Cenário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Tipo recomendado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Tipo a evitar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Por quê?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Dinheiro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56F3A"/>
                          </a:solidFill>
                        </a:rPr>
                        <a:t>Packed (P)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Float (F)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Float possui imprecisão binária (perda de centavos).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Contadores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56F3A"/>
                          </a:solidFill>
                        </a:rPr>
                        <a:t>Integer (I)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Packed (P)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Inteiros são processados mais rápido pela CPU.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Texto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56F3A"/>
                          </a:solidFill>
                        </a:rPr>
                        <a:t>String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Char (C)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String economiza memória e evita truncamento.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IDs (Mat/Cli)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56F3A"/>
                          </a:solidFill>
                        </a:rPr>
                        <a:t>Char / Numc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IDs possuem zeros à esquerda que o Inteiro remove.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Técnico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47802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Type Casting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Processo de transformar um tipo de dado em outro.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47802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Implicit Conversion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Conversão automática e arriscada feita pelo compilador.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1856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47802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Explicit Conversion (CONV)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Conversão forçada via código, segura e legível.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90118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Overflow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Erro crítico (dump) quando o número excede a capacidade da variável.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4250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4250" y="490118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Truncation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Perda de dados (corte) ao mover texto longo para variável curta.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7797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3829" y="42793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3829" y="4901184"/>
            <a:ext cx="300319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Alpha Conversion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Rotina padrão SAP para gerenciar zeros à esquerda em IDs.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237744" cy="237744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1965960"/>
            <a:ext cx="237744" cy="237744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557" y="1965960"/>
            <a:ext cx="237744" cy="237744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120"/>
            <a:ext cx="237744" cy="237744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978" y="4389120"/>
            <a:ext cx="237744" cy="237744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557" y="4389120"/>
            <a:ext cx="237744" cy="237744"/>
          </a:xfrm>
          <a:prstGeom prst="rect">
            <a:avLst/>
          </a:prstGeom>
        </p:spPr>
      </p:pic>
      <p:sp>
        <p:nvSpPr>
          <p:cNvPr id="27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Teste seu Conhecimento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515258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2057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Q1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9718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O que acontece se converter a string ‘ABC’ para Inteiro usando CONV sem tratamento de erro?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38218" y="1874520"/>
            <a:ext cx="3515258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58258" y="2057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Q2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58258" y="29718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Qual a principal diferença de alocação de memória entre CHAR e STRING?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27797" y="1874520"/>
            <a:ext cx="3515258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47837" y="2057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Q3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47837" y="29718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Qual a sintaxe de String Template para adicionar zeros à esquerda em um número de material (Alpha Input)?</a:t>
            </a:r>
            <a:endParaRPr lang="en-US" sz="1800" dirty="0"/>
          </a:p>
        </p:txBody>
      </p:sp>
      <p:sp>
        <p:nvSpPr>
          <p:cNvPr id="1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Clareza Gera Estabilidade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A clareza do código define a </a:t>
            </a:r>
            <a:r>
              <a:rPr lang="en-US" sz="3600" b="1" dirty="0">
                <a:solidFill>
                  <a:srgbClr val="FFFFFF"/>
                </a:solidFill>
              </a:rPr>
              <a:t>estabilidade da solução</a:t>
            </a:r>
            <a:r>
              <a:rPr lang="en-US" sz="3600" dirty="0">
                <a:solidFill>
                  <a:srgbClr val="FFFFFF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3DE"/>
                </a:solidFill>
              </a:rPr>
              <a:t>Revise seus programas Z. Substitua conversões implícitas por </a:t>
            </a:r>
            <a:r>
              <a:rPr lang="en-US" sz="20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2000" dirty="0">
                <a:solidFill>
                  <a:srgbClr val="C9D3DE"/>
                </a:solidFill>
              </a:rPr>
              <a:t> e garanta a integridade dos seus dados hoje.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Moderno: Tipos de Dados e Conversões</dc:title>
  <dc:subject>ABAP Moderno – Módulo 04</dc:subject>
  <dc:creator>Adriano Bispo</dc:creator>
  <cp:lastModifiedBy>Adriano Bispo</cp:lastModifiedBy>
  <cp:revision>1</cp:revision>
  <dcterms:created xsi:type="dcterms:W3CDTF">2026-10-25T23:52:53Z</dcterms:created>
  <dcterms:modified xsi:type="dcterms:W3CDTF">2026-10-25T23:52:53Z</dcterms:modified>
</cp:coreProperties>
</file>