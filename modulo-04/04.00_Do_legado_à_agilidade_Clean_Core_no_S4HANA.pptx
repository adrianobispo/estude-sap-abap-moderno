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Extensibilidade Clean Core  ·  Visão geral do módulo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Extensibilidade Clean Core  ·  Visão geral do módulo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VISÃO GERAL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Do legado à agilidade: Clean Core no S/4HANA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Visão geral do módulo 04: por que o núcleo limpo importa, como estender o S/4HANA sem modificá-lo e como governar o código existente.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851392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518904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3928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5 aulas neste módulo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Extensibilidade Clean Core · Design System SAP Horizon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Cinco aulas, do problema à governança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Extensões, núcleo limpo e transição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804099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UX de consumidor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968691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Princípios Fiori, launchpad e SAP Build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59558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Cloud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24150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Language version 5, released APIs e wrappers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315017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de extensibilidade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79609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Key user, developer e side-by-side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570476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Private Edition e On-Premise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735068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Níveis A–D, ATC e coexistência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Base oficial  </a:t>
            </a:r>
            <a:r>
              <a:rPr lang="en-US" sz="1200" dirty="0">
                <a:solidFill>
                  <a:srgbClr val="1D2D3E"/>
                </a:solidFill>
              </a:rPr>
              <a:t>o módulo segue o curso </a:t>
            </a:r>
            <a:r>
              <a:rPr lang="en-US" sz="1200" b="1" dirty="0">
                <a:solidFill>
                  <a:srgbClr val="1D2D3E"/>
                </a:solidFill>
              </a:rPr>
              <a:t>Practicing Clean Core Extensibility for SAP S/4HANA Cloud (S4D426)</a:t>
            </a:r>
            <a:r>
              <a:rPr lang="en-US" sz="1200" dirty="0">
                <a:solidFill>
                  <a:srgbClr val="1D2D3E"/>
                </a:solidFill>
              </a:rPr>
              <a:t>.</a:t>
            </a:r>
            <a:endParaRPr lang="en-US" sz="14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módulo em números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49808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70F2"/>
                </a:solidFill>
              </a:rPr>
              <a:t>5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Aulas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estratégia, UX, ABAP Cloud e extensões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72536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73704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2D3E"/>
                </a:solidFill>
              </a:rPr>
              <a:t>S4D426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73704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Curso oficial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SAP Learning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196432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97600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3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6397600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Tipos de extensão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key user, developer, side-by-side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20327" y="1645920"/>
            <a:ext cx="262272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221495" y="1783080"/>
            <a:ext cx="222039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2D3E"/>
                </a:solidFill>
              </a:rPr>
              <a:t>A–D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9221495" y="2514600"/>
            <a:ext cx="2220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D2D3E"/>
                </a:solidFill>
              </a:rPr>
              <a:t>Níveis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Clean Core no Private Edition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11094415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" y="393192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508760" y="3977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Onde ele entra na jornada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57200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É o último módulo da jornada </a:t>
            </a:r>
            <a:r>
              <a:rPr lang="en-US" sz="1200" b="1" dirty="0">
                <a:solidFill>
                  <a:srgbClr val="556B82"/>
                </a:solidFill>
              </a:rPr>
              <a:t>01 → 02 → 03 → 04</a:t>
            </a:r>
            <a:r>
              <a:rPr lang="en-US" sz="1200" dirty="0">
                <a:solidFill>
                  <a:srgbClr val="556B82"/>
                </a:solidFill>
              </a:rPr>
              <a:t>. Ele junta linguagem, qualidade e modelagem em uma visão de arquitetura: </a:t>
            </a:r>
            <a:r>
              <a:rPr lang="en-US" sz="1200" b="1" dirty="0">
                <a:solidFill>
                  <a:srgbClr val="556B82"/>
                </a:solidFill>
              </a:rPr>
              <a:t>como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b="1" dirty="0">
                <a:solidFill>
                  <a:srgbClr val="556B82"/>
                </a:solidFill>
              </a:rPr>
              <a:t>onde</a:t>
            </a:r>
            <a:r>
              <a:rPr lang="en-US" sz="1200" dirty="0">
                <a:solidFill>
                  <a:srgbClr val="556B82"/>
                </a:solidFill>
              </a:rPr>
              <a:t> cada extensão deve ser construída.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858000" y="3977640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858000" y="397764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Clean Core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257032" y="3977640"/>
            <a:ext cx="1181405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57032" y="3977640"/>
            <a:ext cx="11814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SAP Fiori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575597" y="3977640"/>
            <a:ext cx="1181405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575597" y="3977640"/>
            <a:ext cx="11814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SAP Build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4416552"/>
            <a:ext cx="1261872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0" y="441655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ABAP Cloud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57032" y="4416552"/>
            <a:ext cx="1503274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57032" y="4416552"/>
            <a:ext cx="150327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Released APIs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58000" y="4855464"/>
            <a:ext cx="1664208" cy="329184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858000" y="4855464"/>
            <a:ext cx="1664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Extensibilidade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659368" y="4855464"/>
            <a:ext cx="698602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659368" y="4855464"/>
            <a:ext cx="69860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ATC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495130" y="4855464"/>
            <a:ext cx="1100938" cy="329184"/>
          </a:xfrm>
          <a:prstGeom prst="roundRect">
            <a:avLst>
              <a:gd name="adj" fmla="val 50000"/>
            </a:avLst>
          </a:prstGeom>
          <a:solidFill>
            <a:srgbClr val="EFF1F2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95130" y="4855464"/>
            <a:ext cx="110093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3548"/>
                </a:solidFill>
              </a:rPr>
              <a:t>Wrappers</a:t>
            </a:r>
            <a:endParaRPr lang="en-US" sz="10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602" y="4042562"/>
            <a:ext cx="281635" cy="2816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MÓDULO 04 · VISÃO GERAL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ideia central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Separar o </a:t>
            </a:r>
            <a:r>
              <a:rPr lang="en-US" sz="1600" b="1" dirty="0">
                <a:solidFill>
                  <a:srgbClr val="D1EFFF"/>
                </a:solidFill>
              </a:rPr>
              <a:t>núcleo SAP</a:t>
            </a:r>
            <a:r>
              <a:rPr lang="en-US" sz="1600" dirty="0">
                <a:solidFill>
                  <a:srgbClr val="D1EFFF"/>
                </a:solidFill>
              </a:rPr>
              <a:t> das </a:t>
            </a:r>
            <a:r>
              <a:rPr lang="en-US" sz="1600" b="1" dirty="0">
                <a:solidFill>
                  <a:srgbClr val="D1EFFF"/>
                </a:solidFill>
              </a:rPr>
              <a:t>extensões do cliente</a:t>
            </a:r>
            <a:r>
              <a:rPr lang="en-US" sz="1600" dirty="0">
                <a:solidFill>
                  <a:srgbClr val="D1EFFF"/>
                </a:solidFill>
              </a:rPr>
              <a:t> para receber inovação sem projetos de upgrade dolorosos.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 quê</a:t>
            </a:r>
            <a:r>
              <a:rPr lang="en-US" sz="1000" dirty="0">
                <a:solidFill>
                  <a:srgbClr val="D1EFFF"/>
                </a:solidFill>
              </a:rPr>
              <a:t>  04.01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quem</a:t>
            </a:r>
            <a:r>
              <a:rPr lang="en-US" sz="1000" dirty="0">
                <a:solidFill>
                  <a:srgbClr val="D1EFFF"/>
                </a:solidFill>
              </a:rPr>
              <a:t>  04.02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 o quê</a:t>
            </a:r>
            <a:r>
              <a:rPr lang="en-US" sz="1000" dirty="0">
                <a:solidFill>
                  <a:srgbClr val="D1EFFF"/>
                </a:solidFill>
              </a:rPr>
              <a:t>  04.03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Onde · como governar</a:t>
            </a:r>
            <a:r>
              <a:rPr lang="en-US" sz="1000" dirty="0">
                <a:solidFill>
                  <a:srgbClr val="D1EFFF"/>
                </a:solidFill>
              </a:rPr>
              <a:t>  04.04 · 04.05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ANTES E DEPOIS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legado modificado ao núcleo limpo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782919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ERP clássico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Exits, modificações e cópias de objetos SAP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Acesso direto a tabelas internas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Upgrades longos com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SPDD</a:t>
            </a:r>
            <a:r>
              <a:rPr lang="en-US" sz="1350" dirty="0">
                <a:solidFill>
                  <a:srgbClr val="1D2D3E"/>
                </a:solidFill>
              </a:rPr>
              <a:t> e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SPAU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78291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782919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305723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305723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Clean Core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69731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Extensões key user, developer e side-by-side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Somente </a:t>
            </a:r>
            <a:r>
              <a:rPr lang="en-US" sz="1350" b="1" dirty="0">
                <a:solidFill>
                  <a:srgbClr val="1D2D3E"/>
                </a:solidFill>
              </a:rPr>
              <a:t>APIs liberadas</a:t>
            </a:r>
            <a:r>
              <a:rPr lang="en-US" sz="1350" dirty="0">
                <a:solidFill>
                  <a:srgbClr val="1D2D3E"/>
                </a:solidFill>
              </a:rPr>
              <a:t> e pontos de extensão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Updates frequentes e previsíveis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157823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15782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· AS AULAS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cada aula entrega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Shape 4"/>
          <p:cNvSpPr/>
          <p:nvPr/>
        </p:nvSpPr>
        <p:spPr>
          <a:xfrm>
            <a:off x="1615379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15379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04.01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Clean Core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Por que extensões existem e como migrar o código Z.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13243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014411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1" name="Shape 9"/>
          <p:cNvSpPr/>
          <p:nvPr/>
        </p:nvSpPr>
        <p:spPr>
          <a:xfrm>
            <a:off x="3879982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3879982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04.02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014411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UX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Princípios Fiori, Fiori elements, launchpad e SAP Build.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77846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279014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6" name="Shape 14"/>
          <p:cNvSpPr/>
          <p:nvPr/>
        </p:nvSpPr>
        <p:spPr>
          <a:xfrm>
            <a:off x="6144585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44585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04.03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279014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ABAP Cloud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Linguagem restrita, RAP, contratos e APIs liberadas.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42449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543617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9188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409188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04.04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7543617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Extensibilidade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Key user, developer e side-by-side, e como escolher.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607052" y="2891409"/>
            <a:ext cx="2036003" cy="2035302"/>
          </a:xfrm>
          <a:prstGeom prst="roundRect">
            <a:avLst>
              <a:gd name="adj" fmla="val 44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808220" y="309257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73791" y="3165729"/>
            <a:ext cx="768096" cy="274320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673791" y="3165729"/>
            <a:ext cx="768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4D9"/>
                </a:solidFill>
              </a:rPr>
              <a:t>04.05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808220" y="3696081"/>
            <a:ext cx="1633667" cy="1120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Private Edition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Níveis A–D, setup, ATC e wrappers.</a:t>
            </a:r>
            <a:endParaRPr lang="en-US" sz="14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44201" y="3193161"/>
            <a:ext cx="256032" cy="256032"/>
          </a:xfrm>
          <a:prstGeom prst="rect">
            <a:avLst/>
          </a:prstGeom>
        </p:spPr>
      </p:pic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193161"/>
            <a:ext cx="256032" cy="256032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598" y="3193161"/>
            <a:ext cx="256032" cy="256032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4995" y="3193161"/>
            <a:ext cx="256032" cy="256032"/>
          </a:xfrm>
          <a:prstGeom prst="rect">
            <a:avLst/>
          </a:prstGeom>
        </p:spPr>
      </p:pic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8804" y="319316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DO MÓDULO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este módulo vai ensinar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Por que o </a:t>
            </a:r>
            <a:r>
              <a:rPr lang="en-US" sz="1400" b="1" dirty="0">
                <a:solidFill>
                  <a:srgbClr val="FFFFFF"/>
                </a:solidFill>
              </a:rPr>
              <a:t>Clean Core</a:t>
            </a:r>
            <a:r>
              <a:rPr lang="en-US" sz="1400" dirty="0">
                <a:solidFill>
                  <a:srgbClr val="FFFFFF"/>
                </a:solidFill>
              </a:rPr>
              <a:t> é a base para receber inovação da SAP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Como tratar o código customizado na </a:t>
            </a:r>
            <a:r>
              <a:rPr lang="en-US" sz="1400" b="1" dirty="0">
                <a:solidFill>
                  <a:srgbClr val="FFFFFF"/>
                </a:solidFill>
              </a:rPr>
              <a:t>conversão</a:t>
            </a:r>
            <a:r>
              <a:rPr lang="en-US" sz="1400" dirty="0">
                <a:solidFill>
                  <a:srgbClr val="FFFFFF"/>
                </a:solidFill>
              </a:rPr>
              <a:t> para o S/4HANA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Os princípios do </a:t>
            </a:r>
            <a:r>
              <a:rPr lang="en-US" sz="1400" b="1" dirty="0">
                <a:solidFill>
                  <a:srgbClr val="FFFFFF"/>
                </a:solidFill>
              </a:rPr>
              <a:t>SAP Fiori</a:t>
            </a:r>
            <a:r>
              <a:rPr lang="en-US" sz="1400" dirty="0">
                <a:solidFill>
                  <a:srgbClr val="FFFFFF"/>
                </a:solidFill>
              </a:rPr>
              <a:t> e o papel do </a:t>
            </a:r>
            <a:r>
              <a:rPr lang="en-US" sz="1400" b="1" dirty="0">
                <a:solidFill>
                  <a:srgbClr val="FFFFFF"/>
                </a:solidFill>
              </a:rPr>
              <a:t>SAP Build</a:t>
            </a:r>
            <a:r>
              <a:rPr lang="en-US" sz="1400" dirty="0">
                <a:solidFill>
                  <a:srgbClr val="FFFFFF"/>
                </a:solidFill>
              </a:rPr>
              <a:t> para builders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que muda no </a:t>
            </a:r>
            <a:r>
              <a:rPr lang="en-US" sz="1400" b="1" dirty="0">
                <a:solidFill>
                  <a:srgbClr val="FFFFFF"/>
                </a:solidFill>
              </a:rPr>
              <a:t>ABAP Cloud</a:t>
            </a:r>
            <a:r>
              <a:rPr lang="en-US" sz="1400" dirty="0">
                <a:solidFill>
                  <a:srgbClr val="FFFFFF"/>
                </a:solidFill>
              </a:rPr>
              <a:t> e como achar </a:t>
            </a:r>
            <a:r>
              <a:rPr lang="en-US" sz="1400" b="1" dirty="0">
                <a:solidFill>
                  <a:srgbClr val="FFFFFF"/>
                </a:solidFill>
              </a:rPr>
              <a:t>APIs liberadas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Os três tipos de extensão: </a:t>
            </a:r>
            <a:r>
              <a:rPr lang="en-US" sz="1400" b="1" dirty="0">
                <a:solidFill>
                  <a:srgbClr val="FFFFFF"/>
                </a:solidFill>
              </a:rPr>
              <a:t>key user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developer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side-by-side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Os </a:t>
            </a:r>
            <a:r>
              <a:rPr lang="en-US" sz="1400" b="1" dirty="0">
                <a:solidFill>
                  <a:srgbClr val="FFFFFF"/>
                </a:solidFill>
              </a:rPr>
              <a:t>níveis A–D</a:t>
            </a:r>
            <a:r>
              <a:rPr lang="en-US" sz="1400" dirty="0">
                <a:solidFill>
                  <a:srgbClr val="FFFFFF"/>
                </a:solidFill>
              </a:rPr>
              <a:t>, as variantes do </a:t>
            </a:r>
            <a:r>
              <a:rPr lang="en-US" sz="1400" b="1" dirty="0">
                <a:solidFill>
                  <a:srgbClr val="FFFFFF"/>
                </a:solidFill>
              </a:rPr>
              <a:t>ATC</a:t>
            </a:r>
            <a:r>
              <a:rPr lang="en-US" sz="1400" dirty="0">
                <a:solidFill>
                  <a:srgbClr val="FFFFFF"/>
                </a:solidFill>
              </a:rPr>
              <a:t> e o padrão </a:t>
            </a:r>
            <a:r>
              <a:rPr lang="en-US" sz="1400" b="1" dirty="0">
                <a:solidFill>
                  <a:srgbClr val="FFFFFF"/>
                </a:solidFill>
              </a:rPr>
              <a:t>wrapper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04.01  </a:t>
            </a:r>
            <a:r>
              <a:rPr lang="en-US" sz="1500" dirty="0">
                <a:solidFill>
                  <a:srgbClr val="FFFFFF"/>
                </a:solidFill>
              </a:rPr>
              <a:t>Clean Core: Extensões, núcleo limpo e transição.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04.00 Do legado à agilidade: Clean Core no S/4HANA</dc:title>
  <dc:subject>ABAP Moderno – Módulo 04: Extensibilidade Clean Core</dc:subject>
  <dc:creator>Adriano Bispo</dc:creator>
  <cp:lastModifiedBy>Adriano Bispo</cp:lastModifiedBy>
  <cp:revision>1</cp:revision>
  <dcterms:created xsi:type="dcterms:W3CDTF">2026-10-29T13:38:55Z</dcterms:created>
  <dcterms:modified xsi:type="dcterms:W3CDTF">2026-10-29T13:38:55Z</dcterms:modified>
</cp:coreProperties>
</file>