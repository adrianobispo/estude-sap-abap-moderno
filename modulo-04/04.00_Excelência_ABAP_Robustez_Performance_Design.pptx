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D2D3E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D2D3E"/>
                </a:solidFill>
                <a:latin typeface="+mn-lt"/>
              </a:rPr>
              <a:t>Tempo de busca × tamanho dos dados (n)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O(n) – Linear</c:v>
                </c:pt>
              </c:strCache>
            </c:strRef>
          </c:tx>
          <c:spPr>
            <a:solidFill>
              <a:srgbClr val="D20A0A"/>
            </a:solidFill>
            <a:ln w="38100" cap="flat">
              <a:solidFill>
                <a:srgbClr val="D20A0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20A0A"/>
              </a:solidFill>
              <a:ln w="9525" cap="flat">
                <a:solidFill>
                  <a:srgbClr val="D20A0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O(log n) – Logarítmica</c:v>
                </c:pt>
              </c:strCache>
            </c:strRef>
          </c:tx>
          <c:spPr>
            <a:solidFill>
              <a:srgbClr val="0070F2"/>
            </a:solidFill>
            <a:ln w="38100" cap="flat">
              <a:solidFill>
                <a:srgbClr val="0070F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70F2"/>
              </a:solidFill>
              <a:ln w="9525" cap="flat">
                <a:solidFill>
                  <a:srgbClr val="0070F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</c:v>
                </c:pt>
                <c:pt idx="1">
                  <c:v>1.4</c:v>
                </c:pt>
                <c:pt idx="2">
                  <c:v>2.2189475010096182</c:v>
                </c:pt>
                <c:pt idx="3">
                  <c:v>2.8</c:v>
                </c:pt>
                <c:pt idx="4">
                  <c:v>3.250699332842307</c:v>
                </c:pt>
                <c:pt idx="5">
                  <c:v>3.618947501009618</c:v>
                </c:pt>
                <c:pt idx="6">
                  <c:v>3.9302968908806455</c:v>
                </c:pt>
                <c:pt idx="7">
                  <c:v>4.199999999999999</c:v>
                </c:pt>
                <c:pt idx="8">
                  <c:v>4.4378950020192365</c:v>
                </c:pt>
                <c:pt idx="9">
                  <c:v>4.650699332842307</c:v>
                </c:pt>
                <c:pt idx="10">
                  <c:v>4.843204266092216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O(1) – Constante</c:v>
                </c:pt>
              </c:strCache>
            </c:strRef>
          </c:tx>
          <c:spPr>
            <a:solidFill>
              <a:srgbClr val="30914C"/>
            </a:solidFill>
            <a:ln w="38100" cap="flat">
              <a:solidFill>
                <a:srgbClr val="3091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0914C"/>
              </a:solidFill>
              <a:ln w="9525" cap="flat">
                <a:solidFill>
                  <a:srgbClr val="30914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D2D3E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rizon Title">
    <p:bg>
      <p:bgPr>
        <a:solidFill>
          <a:srgbClr val="1D2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1554480"/>
            <a:ext cx="786384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4DB1FF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2057400"/>
            <a:ext cx="813816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4" type="body" hasCustomPrompt="1"/>
          </p:nvPr>
        </p:nvSpPr>
        <p:spPr>
          <a:xfrm>
            <a:off x="548640" y="4206240"/>
            <a:ext cx="76809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D3DE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396A8"/>
                </a:solidFill>
              </a:rPr>
              <a:t>ABAP Moderno  ·  Módulo 04  ·  04.00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rizon Content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0070F2"/>
                </a:solidFill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D2D3E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ABAP Moderno  ·  Módulo 04  ·  04.00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rizon Closing">
    <p:bg>
      <p:bgPr>
        <a:solidFill>
          <a:srgbClr val="1D2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502920"/>
            <a:ext cx="11094415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4DB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396A8"/>
                </a:solidFill>
              </a:rPr>
              <a:t>ABAP Moderno  ·  Módulo 04  ·  04.00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396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15544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4DB1FF"/>
                </a:solidFill>
              </a:rPr>
              <a:t>Módulo 04  ·  Guia Essencial</a:t>
            </a:r>
            <a:endParaRPr lang="en-US" sz="1600" dirty="0"/>
          </a:p>
        </p:txBody>
      </p:sp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205740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Os Pilares da Excelência em ABAP Moderno</a:t>
            </a:r>
            <a:endParaRPr lang="en-US" sz="4000" dirty="0"/>
          </a:p>
        </p:txBody>
      </p:sp>
      <p:sp>
        <p:nvSpPr>
          <p:cNvPr id="4" name="Text 0"/>
          <p:cNvSpPr/>
          <p:nvPr>
            <p:ph idx="104" type="body" hasCustomPrompt="1"/>
          </p:nvPr>
        </p:nvSpPr>
        <p:spPr>
          <a:xfrm>
            <a:off x="548640" y="42062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DE"/>
                </a:solidFill>
              </a:rPr>
              <a:t>Dominando Robustez, Performance e Design no S/4HANA.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915400" y="160020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0" y="1600200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Robustez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915400" y="2350008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509760" y="2350008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Performance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915400" y="3099816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509760" y="3099816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Design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915400" y="3849624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509760" y="3849624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ATC · ABAP Unit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915400" y="4599432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509760" y="4599432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Code Pushdown</a:t>
            </a:r>
            <a:endParaRPr lang="en-US" sz="13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98280" y="1737360"/>
            <a:ext cx="292608" cy="292608"/>
          </a:xfrm>
          <a:prstGeom prst="rect">
            <a:avLst/>
          </a:prstGeom>
        </p:spPr>
      </p:pic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3236976"/>
            <a:ext cx="292608" cy="292608"/>
          </a:xfrm>
          <a:prstGeom prst="rect">
            <a:avLst/>
          </a:prstGeom>
        </p:spPr>
      </p:pic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2487168"/>
            <a:ext cx="292608" cy="292608"/>
          </a:xfrm>
          <a:prstGeom prst="rect">
            <a:avLst/>
          </a:prstGeom>
        </p:spPr>
      </p:pic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8280" y="3986784"/>
            <a:ext cx="292608" cy="292608"/>
          </a:xfrm>
          <a:prstGeom prst="rect">
            <a:avLst/>
          </a:prstGeom>
        </p:spPr>
      </p:pic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4736592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Os Três Pilares da Excelência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3515258" cy="2971800"/>
          </a:xfrm>
          <a:prstGeom prst="roundRect">
            <a:avLst>
              <a:gd name="adj" fmla="val 4308"/>
            </a:avLst>
          </a:prstGeom>
          <a:solidFill>
            <a:srgbClr val="EBF8FF"/>
          </a:solidFill>
          <a:ln w="25400">
            <a:solidFill>
              <a:srgbClr val="0070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200400"/>
            <a:ext cx="3515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64D9"/>
                </a:solidFill>
              </a:rPr>
              <a:t>ROBUSTEZ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749040"/>
            <a:ext cx="29666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D2D3E"/>
                </a:solidFill>
              </a:rPr>
              <a:t>Qualidade, Segurança, Testes, Tipos, Exceções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338218" y="1600200"/>
            <a:ext cx="3515258" cy="3291840"/>
          </a:xfrm>
          <a:prstGeom prst="roundRect">
            <a:avLst>
              <a:gd name="adj" fmla="val 3889"/>
            </a:avLst>
          </a:prstGeom>
          <a:solidFill>
            <a:srgbClr val="FFF8D6"/>
          </a:solidFill>
          <a:ln w="25400">
            <a:solidFill>
              <a:srgbClr val="E765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38218" y="3200400"/>
            <a:ext cx="3515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44F00"/>
                </a:solidFill>
              </a:rPr>
              <a:t>PERFORMANCE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4612538" y="3749040"/>
            <a:ext cx="29666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D2D3E"/>
                </a:solidFill>
              </a:rPr>
              <a:t>Code Pushdown, ABAP SQL, Tabelas Internas, Algoritmos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127797" y="1920240"/>
            <a:ext cx="3515258" cy="2971800"/>
          </a:xfrm>
          <a:prstGeom prst="roundRect">
            <a:avLst>
              <a:gd name="adj" fmla="val 4308"/>
            </a:avLst>
          </a:prstGeom>
          <a:solidFill>
            <a:srgbClr val="E0F7F7"/>
          </a:solidFill>
          <a:ln w="25400">
            <a:solidFill>
              <a:srgbClr val="07838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27797" y="3200400"/>
            <a:ext cx="3515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46C76"/>
                </a:solidFill>
              </a:rPr>
              <a:t>DESIGN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402117" y="3749040"/>
            <a:ext cx="29666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D2D3E"/>
                </a:solidFill>
              </a:rPr>
              <a:t>Desacoplamento, Interfaces, Padrões, Código Limpo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4892040"/>
            <a:ext cx="11277295" cy="13716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52120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D2D3E"/>
                </a:solidFill>
              </a:rPr>
              <a:t>Vamos além da sintaxe: exploraremos os três princípios fundamentais que transformam um desenvolvedor funcional em um verdadeiro arquiteto de software, construindo soluções que não apenas funcionam, mas que são seguras, rápidas e prontas para o futuro.</a:t>
            </a:r>
            <a:endParaRPr lang="en-US" sz="15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3349" y="2194560"/>
            <a:ext cx="1005840" cy="1005840"/>
          </a:xfrm>
          <a:prstGeom prst="rect">
            <a:avLst/>
          </a:prstGeom>
        </p:spPr>
      </p:pic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2506" y="2194560"/>
            <a:ext cx="1005840" cy="1005840"/>
          </a:xfrm>
          <a:prstGeom prst="rect">
            <a:avLst/>
          </a:prstGeom>
        </p:spPr>
      </p:pic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2928" y="1920240"/>
            <a:ext cx="1005840" cy="1005840"/>
          </a:xfrm>
          <a:prstGeom prst="rect">
            <a:avLst/>
          </a:prstGeom>
        </p:spPr>
      </p:pic>
      <p:sp>
        <p:nvSpPr>
          <p:cNvPr id="17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Pilar 1 · Robustez — Construindo um Alicerce Inabalável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A Tríade da Qualidade de Código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D2D3E"/>
                </a:solidFill>
              </a:rPr>
              <a:t>No S/4HANA, ‘funcionar’ não é suficiente. A qualidade de um software profissional se apoia em três eixos de verificação, garantindo conformidade, correção e eficiência.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423160"/>
            <a:ext cx="3515258" cy="3063240"/>
          </a:xfrm>
          <a:prstGeom prst="roundRect">
            <a:avLst>
              <a:gd name="adj" fmla="val 417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67919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04672" y="3392424"/>
            <a:ext cx="3003194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D2D3E"/>
                </a:solidFill>
              </a:rPr>
              <a:t>Conformidade</a:t>
            </a:r>
            <a:endParaRPr lang="en-US" sz="16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556B82"/>
                </a:solidFill>
              </a:rPr>
              <a:t>Ferramenta:</a:t>
            </a:r>
            <a:r>
              <a:rPr lang="en-US" sz="1400" dirty="0">
                <a:solidFill>
                  <a:srgbClr val="556B82"/>
                </a:solidFill>
              </a:rPr>
              <a:t> ATC (análise estática).</a:t>
            </a:r>
            <a:endParaRPr lang="en-US" sz="16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556B82"/>
                </a:solidFill>
              </a:rPr>
              <a:t>Pergunta:</a:t>
            </a:r>
            <a:r>
              <a:rPr lang="en-US" sz="1400" dirty="0">
                <a:solidFill>
                  <a:srgbClr val="556B82"/>
                </a:solidFill>
              </a:rPr>
              <a:t> o código segue as regras da empresa e da SAP? É seguro? Está pronto para a nuvem?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338218" y="2423160"/>
            <a:ext cx="3515258" cy="3063240"/>
          </a:xfrm>
          <a:prstGeom prst="roundRect">
            <a:avLst>
              <a:gd name="adj" fmla="val 417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94250" y="267919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0F7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94250" y="3392424"/>
            <a:ext cx="3003194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D2D3E"/>
                </a:solidFill>
              </a:rPr>
              <a:t>Correção</a:t>
            </a:r>
            <a:endParaRPr lang="en-US" sz="16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556B82"/>
                </a:solidFill>
              </a:rPr>
              <a:t>Ferramenta:</a:t>
            </a:r>
            <a:r>
              <a:rPr lang="en-US" sz="1400" dirty="0">
                <a:solidFill>
                  <a:srgbClr val="556B82"/>
                </a:solidFill>
              </a:rPr>
              <a:t> ABAP Unit (análise dinâmica).</a:t>
            </a:r>
            <a:endParaRPr lang="en-US" sz="16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556B82"/>
                </a:solidFill>
              </a:rPr>
              <a:t>Pergunta:</a:t>
            </a:r>
            <a:r>
              <a:rPr lang="en-US" sz="1400" dirty="0">
                <a:solidFill>
                  <a:srgbClr val="556B82"/>
                </a:solidFill>
              </a:rPr>
              <a:t> o código faz o que a regra de negócio pede? Uma mudança hoje quebrou algo antigo (regressão)?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127797" y="2423160"/>
            <a:ext cx="3515258" cy="3063240"/>
          </a:xfrm>
          <a:prstGeom prst="roundRect">
            <a:avLst>
              <a:gd name="adj" fmla="val 417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383829" y="267919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8D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383829" y="3392424"/>
            <a:ext cx="3003194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D2D3E"/>
                </a:solidFill>
              </a:rPr>
              <a:t>Performance</a:t>
            </a:r>
            <a:endParaRPr lang="en-US" sz="16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556B82"/>
                </a:solidFill>
              </a:rPr>
              <a:t>Ferramenta:</a:t>
            </a:r>
            <a:r>
              <a:rPr lang="en-US" sz="1400" dirty="0">
                <a:solidFill>
                  <a:srgbClr val="556B82"/>
                </a:solidFill>
              </a:rPr>
              <a:t> ABAP Profiling (análise dinâmica).</a:t>
            </a:r>
            <a:endParaRPr lang="en-US" sz="16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556B82"/>
                </a:solidFill>
              </a:rPr>
              <a:t>Pergunta:</a:t>
            </a:r>
            <a:r>
              <a:rPr lang="en-US" sz="1400" dirty="0">
                <a:solidFill>
                  <a:srgbClr val="556B82"/>
                </a:solidFill>
              </a:rPr>
              <a:t> o código é eficiente? Consome recursos excessivos ou faz chamadas desnecessárias ao banco?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5669280"/>
            <a:ext cx="11094415" cy="548640"/>
          </a:xfrm>
          <a:prstGeom prst="roundRect">
            <a:avLst>
              <a:gd name="adj" fmla="val 20000"/>
            </a:avLst>
          </a:prstGeom>
          <a:solidFill>
            <a:srgbClr val="EBF8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80160" y="5669280"/>
            <a:ext cx="100885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2D3E"/>
                </a:solidFill>
              </a:rPr>
              <a:t>Esses pilares são a base de esteiras de </a:t>
            </a:r>
            <a:r>
              <a:rPr lang="en-US" sz="1500" b="1" dirty="0">
                <a:solidFill>
                  <a:srgbClr val="1D2D3E"/>
                </a:solidFill>
              </a:rPr>
              <a:t>CI/CD modernas</a:t>
            </a:r>
            <a:r>
              <a:rPr lang="en-US" sz="1500" dirty="0">
                <a:solidFill>
                  <a:srgbClr val="1D2D3E"/>
                </a:solidFill>
              </a:rPr>
              <a:t>, automatizando a qualidade antes do transporte.</a:t>
            </a:r>
            <a:endParaRPr lang="en-US" sz="16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346" y="2810866"/>
            <a:ext cx="285293" cy="285293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5924" y="2810866"/>
            <a:ext cx="285293" cy="285293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5502" y="2810866"/>
            <a:ext cx="285293" cy="285293"/>
          </a:xfrm>
          <a:prstGeom prst="rect">
            <a:avLst/>
          </a:prstGeom>
        </p:spPr>
      </p:pic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769864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Análise Estática com ATC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O Guardião do Padrão e do Clean Core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2D3E"/>
                </a:solidFill>
              </a:rPr>
              <a:t>O ABAP Test Cockpit (ATC) lê seu código sem executá-lo, como um revisor experiente procurando padrões de má programação, vulnerabilidades e código obsoleto antes que cheguem em produção.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3172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48472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556B82"/>
                          </a:solidFill>
                        </a:rPr>
                        <a:t>Categoria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556B82"/>
                          </a:solidFill>
                        </a:rPr>
                        <a:t>Descrição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D2D3E"/>
                          </a:solidFill>
                        </a:rPr>
                        <a:t>Sintaxe e Modernização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MOVE</a:t>
                      </a:r>
                      <a:r>
                        <a:rPr lang="en-US" sz="1300" dirty="0">
                          <a:solidFill>
                            <a:srgbClr val="1D2D3E"/>
                          </a:solidFill>
                        </a:rPr>
                        <a:t>, </a:t>
                      </a:r>
                      <a:r>
                        <a:rPr lang="en-US" sz="13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COMPUTE</a:t>
                      </a:r>
                      <a:r>
                        <a:rPr lang="en-US" sz="1300" dirty="0">
                          <a:solidFill>
                            <a:srgbClr val="1D2D3E"/>
                          </a:solidFill>
                        </a:rPr>
                        <a:t> em vez de expressões inline. </a:t>
                      </a:r>
                      <a:r>
                        <a:rPr lang="en-US" sz="13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SELECT *</a:t>
                      </a:r>
                      <a:r>
                        <a:rPr lang="en-US" sz="1300" dirty="0">
                          <a:solidFill>
                            <a:srgbClr val="1D2D3E"/>
                          </a:solidFill>
                        </a:rPr>
                        <a:t> ineficiente.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D2D3E"/>
                          </a:solidFill>
                        </a:rPr>
                        <a:t>Performance (HANA)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D2D3E"/>
                          </a:solidFill>
                        </a:rPr>
                        <a:t>O </a:t>
                      </a:r>
                      <a:r>
                        <a:rPr lang="en-US" sz="1300" b="1" dirty="0">
                          <a:solidFill>
                            <a:srgbClr val="1D2D3E"/>
                          </a:solidFill>
                        </a:rPr>
                        <a:t>pecado capital</a:t>
                      </a:r>
                      <a:r>
                        <a:rPr lang="en-US" sz="1300" dirty="0">
                          <a:solidFill>
                            <a:srgbClr val="1D2D3E"/>
                          </a:solidFill>
                        </a:rPr>
                        <a:t>: </a:t>
                      </a:r>
                      <a:r>
                        <a:rPr lang="en-US" sz="13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SELECT</a:t>
                      </a:r>
                      <a:r>
                        <a:rPr lang="en-US" sz="1300" dirty="0">
                          <a:solidFill>
                            <a:srgbClr val="1D2D3E"/>
                          </a:solidFill>
                        </a:rPr>
                        <a:t> dentro de </a:t>
                      </a:r>
                      <a:r>
                        <a:rPr lang="en-US" sz="13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LOOP</a:t>
                      </a:r>
                      <a:r>
                        <a:rPr lang="en-US" sz="1300" dirty="0">
                          <a:solidFill>
                            <a:srgbClr val="1D2D3E"/>
                          </a:solidFill>
                        </a:rPr>
                        <a:t>. Leitura de tabelas sem </a:t>
                      </a:r>
                      <a:r>
                        <a:rPr lang="en-US" sz="13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WHERE</a:t>
                      </a:r>
                      <a:r>
                        <a:rPr lang="en-US" sz="1300" dirty="0">
                          <a:solidFill>
                            <a:srgbClr val="1D2D3E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D2D3E"/>
                          </a:solidFill>
                        </a:rPr>
                        <a:t>Segurança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D2D3E"/>
                          </a:solidFill>
                        </a:rPr>
                        <a:t>Falta de </a:t>
                      </a:r>
                      <a:r>
                        <a:rPr lang="en-US" sz="13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AUTHORITY-CHECK</a:t>
                      </a:r>
                      <a:r>
                        <a:rPr lang="en-US" sz="1300" dirty="0">
                          <a:solidFill>
                            <a:srgbClr val="1D2D3E"/>
                          </a:solidFill>
                        </a:rPr>
                        <a:t> antes de operações críticas. Risco de SQL Injection.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D2D3E"/>
                          </a:solidFill>
                        </a:rPr>
                        <a:t>Robustez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D2D3E"/>
                          </a:solidFill>
                        </a:rPr>
                        <a:t>Código morto (variáveis não usadas). Tipos incompatíveis que podem causar dumps.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D2D3E"/>
                          </a:solidFill>
                        </a:rPr>
                        <a:t>Cloud Readiness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D2D3E"/>
                          </a:solidFill>
                        </a:rPr>
                        <a:t>Uso de objetos não liberados. Acesso direto ao sistema operacional.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937760"/>
            <a:ext cx="11094415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5102352"/>
            <a:ext cx="106372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Para silenciar um falso-positivo, usamos pragmas.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Ex.: ignorar aviso de texto 'hardcoded' em uma variável de teste.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064D9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lv_dummy</a:t>
            </a: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256F3A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'Teste'</a:t>
            </a: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NO_TEXT</a:t>
            </a: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1200" i="1" dirty="0">
                <a:solidFill>
                  <a:srgbClr val="6A7B8C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o ATC ignora este aviso nesta linha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Quick Fixes (Ctrl+1 no ADT) corrigem muitos erros automaticamente.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Análise Dinâmica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ABAP Unit: Sua Rede de Segurança Contra Regressões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2D3E"/>
                </a:solidFill>
              </a:rPr>
              <a:t>Enquanto o ATC olha a forma, o ABAP Unit testa a função: uma coleção de testes automatizados que garante que novas funcionalidades não quebrem as existentes.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448056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250545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</a:rPr>
              <a:t>Anatomia de um teste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889504"/>
            <a:ext cx="448056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017520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lcl_test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DEFINITION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TESTING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LEVEL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HARMLESS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DURATION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03320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TESTING</a:t>
            </a:r>
            <a:r>
              <a:rPr lang="en-US" sz="1200" dirty="0">
                <a:solidFill>
                  <a:srgbClr val="1D2D3E"/>
                </a:solidFill>
              </a:rPr>
              <a:t>: classe local visível apenas para o framework de testes.</a:t>
            </a:r>
            <a:endParaRPr lang="en-US" sz="16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LEVEL HARMLESS</a:t>
            </a:r>
            <a:r>
              <a:rPr lang="en-US" sz="1200" dirty="0">
                <a:solidFill>
                  <a:srgbClr val="1D2D3E"/>
                </a:solidFill>
              </a:rPr>
              <a:t>: garante que o teste não altera dados (não faz COMMIT), sendo seguro para automação.</a:t>
            </a:r>
            <a:endParaRPr lang="en-US" sz="16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DURATION SHORT</a:t>
            </a:r>
            <a:r>
              <a:rPr lang="en-US" sz="1200" dirty="0">
                <a:solidFill>
                  <a:srgbClr val="1D2D3E"/>
                </a:solidFill>
              </a:rPr>
              <a:t>: execução rápida para não atrasar a esteira de CI/CD.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5394960"/>
            <a:ext cx="4480560" cy="822960"/>
          </a:xfrm>
          <a:prstGeom prst="roundRect">
            <a:avLst>
              <a:gd name="adj" fmla="val 13333"/>
            </a:avLst>
          </a:prstGeom>
          <a:solidFill>
            <a:srgbClr val="EBF8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280160" y="53949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3E"/>
                </a:solidFill>
              </a:rPr>
              <a:t>Fixtures:</a:t>
            </a:r>
            <a:r>
              <a:rPr lang="en-US" sz="1200" dirty="0">
                <a:solidFill>
                  <a:srgbClr val="1D2D3E"/>
                </a:solidFill>
              </a:rPr>
              <a:t> os métodos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setup</a:t>
            </a:r>
            <a:r>
              <a:rPr lang="en-US" sz="1200" dirty="0">
                <a:solidFill>
                  <a:srgbClr val="1D2D3E"/>
                </a:solidFill>
              </a:rPr>
              <a:t> e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teardown</a:t>
            </a:r>
            <a:r>
              <a:rPr lang="en-US" sz="1200" dirty="0">
                <a:solidFill>
                  <a:srgbClr val="1D2D3E"/>
                </a:solidFill>
              </a:rPr>
              <a:t> garantem o isolamento, criando um ambiente limpo para cada teste.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303520" y="2377440"/>
            <a:ext cx="6339535" cy="38404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5532120" y="2505456"/>
            <a:ext cx="58823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</a:rPr>
              <a:t>Padrão AAA (Arrange · Act · Assert)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303520" y="2889504"/>
            <a:ext cx="633953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532120" y="3017520"/>
            <a:ext cx="5882335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test_divisao_sucesso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ARRANGE: mo_cut foi criado no setup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ACT: executa o método a ser testado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lv_result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mo_cut-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dividir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iv_a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44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iv_b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44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ASSERT: verifica se o resultado é o esperado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cl_abap_unit_assert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assert_equals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lv_result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44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'Divisão de 10 / 2 deve ser 5'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test_divisao_por_zero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mo_cut-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dividir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iv_a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44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iv_b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44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cl_abap_unit_assert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'Deveria ter lançado exceção'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cx_sy_zerodivide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SUCESSO: o erro era esperado. O teste passa.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ENDTRY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632704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Escrevendo Código Seguro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Conversões Explícitas e Exceções Ricas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64D9"/>
                </a:solidFill>
              </a:rPr>
              <a:t>O perigo da conversão implícita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D3E"/>
                </a:solidFill>
              </a:rPr>
              <a:t>O ABAP clássico tenta ‘adivinhar’ as conversões, o que leva a erros silenciosos como truncamento de texto e estouro numérico (dumps). A robustez exige intenção clara.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54880" y="1600200"/>
            <a:ext cx="333756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983480" y="1728216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A0808"/>
                </a:solidFill>
              </a:rPr>
              <a:t>Antes (implícito · risco)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2112264"/>
            <a:ext cx="333756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83480" y="2240280"/>
            <a:ext cx="28803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'100.9'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Arredonda para 101 sem aviso!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75320" y="1600200"/>
            <a:ext cx="3367735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503920" y="1728216"/>
            <a:ext cx="2910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F3A"/>
                </a:solidFill>
              </a:rPr>
              <a:t>Depois (explícito · seguro)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75320" y="2112264"/>
            <a:ext cx="336773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503920" y="2240280"/>
            <a:ext cx="2910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'100.9'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Intenção clara.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Envolva em TRY...CATCH.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520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64D9"/>
                </a:solidFill>
              </a:rPr>
              <a:t>Tratamento de erros moderno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886200"/>
            <a:ext cx="4023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D3E"/>
                </a:solidFill>
              </a:rPr>
              <a:t>Esqueça sy-subrc. Erros de negócio devem ser tratados com objetos de exceção, que carregam contexto, podem ser vinculados a mensagens traduzíveis (T100) e seguem um contrato claro.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3520440"/>
          <a:ext cx="688817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377440"/>
                <a:gridCol w="2679192"/>
              </a:tblGrid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56B82"/>
                          </a:solidFill>
                        </a:rPr>
                        <a:t>Categoria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56B82"/>
                          </a:solidFill>
                        </a:rPr>
                        <a:t>Quando usar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56B82"/>
                          </a:solidFill>
                        </a:rPr>
                        <a:t>Contrato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CX_STATIC_CHECK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Erros de negócio previsíveis (saldo insuficiente, cliente bloqueado).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O consumidor é </a:t>
                      </a: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obrigado</a:t>
                      </a: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 a tratar com TRY...CATCH.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CX_NO_CHECK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Erros técnicos graves (divisão por zero, ponteiro nulo).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Tratamento opcional; se não tratado, gera um dump.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4754880" y="5486400"/>
            <a:ext cx="6888175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4983480" y="5650992"/>
            <a:ext cx="6430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RAISE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EXCEPTION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zcx_travel_error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zcx_travel_error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negative_amount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Pilar 2 · Performance — Otimizando para Velocidade Máxima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Code Pushdown: Leve a Lógica até os Dados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2D3E"/>
                </a:solidFill>
              </a:rPr>
              <a:t>O maior inimigo da performance em HANA é transferir milhões de linhas para o servidor de aplicação apenas para calcular, filtrar ou agregar. A regra moderna: empurre a lógica para o banco de dados.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5364328" cy="27432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633472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81328" y="2633472"/>
            <a:ext cx="415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A0808"/>
                </a:solidFill>
              </a:rPr>
              <a:t>ABAP Clássico · Ineficiente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37560"/>
            <a:ext cx="48156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zrap_travel INTO TABLE @lt_data.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 AT lt_data ... lv_total = lv_total + ...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D2D3E"/>
                </a:solidFill>
              </a:rPr>
              <a:t>Muito tráfego de rede: milhões de linhas para poucas linhas agregadas.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78728" y="2377440"/>
            <a:ext cx="5364328" cy="27432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53048" y="2633472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11416" y="2633472"/>
            <a:ext cx="415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56F3A"/>
                </a:solidFill>
              </a:rPr>
              <a:t>ABAP SQL Moderno · Eficiente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553048" y="3337560"/>
            <a:ext cx="48156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... SUM( ... ) ... CASE ...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D2D3E"/>
                </a:solidFill>
              </a:rPr>
              <a:t>O banco processa </a:t>
            </a:r>
            <a:r>
              <a:rPr lang="en-US" sz="14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1400" dirty="0">
                <a:solidFill>
                  <a:srgbClr val="1D2D3E"/>
                </a:solidFill>
              </a:rPr>
              <a:t>, </a:t>
            </a:r>
            <a:r>
              <a:rPr lang="en-US" sz="14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</a:t>
            </a:r>
            <a:r>
              <a:rPr lang="en-US" sz="1400" dirty="0">
                <a:solidFill>
                  <a:srgbClr val="1D2D3E"/>
                </a:solidFill>
              </a:rPr>
              <a:t>, </a:t>
            </a:r>
            <a:r>
              <a:rPr lang="en-US" sz="14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r>
              <a:rPr lang="en-US" sz="1400" dirty="0">
                <a:solidFill>
                  <a:srgbClr val="1D2D3E"/>
                </a:solidFill>
              </a:rPr>
              <a:t> etc.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D2D3E"/>
                </a:solidFill>
              </a:rPr>
              <a:t>Resultado: apenas os dados necessários.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BF8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80160" y="5303520"/>
            <a:ext cx="100885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2D3E"/>
                </a:solidFill>
              </a:rPr>
              <a:t>A escolha não é entre ABAP SQL e CDS Views, mas entre </a:t>
            </a:r>
            <a:r>
              <a:rPr lang="en-US" sz="1500" b="1" dirty="0">
                <a:solidFill>
                  <a:srgbClr val="1D2D3E"/>
                </a:solidFill>
              </a:rPr>
              <a:t>lógica na aplicação</a:t>
            </a:r>
            <a:r>
              <a:rPr lang="en-US" sz="1500" dirty="0">
                <a:solidFill>
                  <a:srgbClr val="1D2D3E"/>
                </a:solidFill>
              </a:rPr>
              <a:t> vs. </a:t>
            </a:r>
            <a:r>
              <a:rPr lang="en-US" sz="1500" b="1" dirty="0">
                <a:solidFill>
                  <a:srgbClr val="1D2D3E"/>
                </a:solidFill>
              </a:rPr>
              <a:t>lógica no banco</a:t>
            </a:r>
            <a:r>
              <a:rPr lang="en-US" sz="1500" dirty="0">
                <a:solidFill>
                  <a:srgbClr val="1D2D3E"/>
                </a:solidFill>
              </a:rPr>
              <a:t>. Use ABAP SQL para queries específicas e CDS Views para modelos de dados reutilizáveis.</a:t>
            </a:r>
            <a:endParaRPr lang="en-US" sz="16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5855" y="2756367"/>
            <a:ext cx="266273" cy="266273"/>
          </a:xfrm>
          <a:prstGeom prst="rect">
            <a:avLst/>
          </a:prstGeom>
        </p:spPr>
      </p:pic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943" y="2756367"/>
            <a:ext cx="266273" cy="266273"/>
          </a:xfrm>
          <a:prstGeom prst="rect">
            <a:avLst/>
          </a:prstGeom>
        </p:spPr>
      </p:pic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564124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Expressões, Lógica e Agregações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ABAP SQL Avançado: Tudo em Uma Só Chamada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2D3E"/>
                </a:solidFill>
              </a:rPr>
              <a:t>O ABAP SQL moderno herdou os superpoderes do CDS, permitindo relatórios analíticos complexos diretamente na query, eliminando o pós-processamento em ABAP.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7223760" cy="393192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2450592"/>
            <a:ext cx="67665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zrap_travel</a:t>
            </a: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agency_id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currency_code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number_of_travels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r>
              <a:rPr lang="en-US" sz="11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&lt;- 1</a:t>
            </a: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total_price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total_amount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total_price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B44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100" dirty="0">
                <a:solidFill>
                  <a:srgbClr val="B44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average_ticket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r>
              <a:rPr lang="en-US" sz="11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&lt;- 2</a:t>
            </a: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</a:t>
            </a:r>
            <a:r>
              <a:rPr lang="en-US" sz="11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&lt;- 3</a:t>
            </a: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total_price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B44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100000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'Platinum Partner'</a:t>
            </a: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total_price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B44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10000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'Gold Partner'</a:t>
            </a: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'Standard Partner'</a:t>
            </a: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partner_category</a:t>
            </a: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agency_id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currency_code</a:t>
            </a: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HAVING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total_price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B44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r>
              <a:rPr lang="en-US" sz="11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&lt;- 4</a:t>
            </a: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total_amount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DESCENDING</a:t>
            </a: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@DATA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lt_report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046720" y="2286000"/>
            <a:ext cx="3596335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11312" y="2450592"/>
            <a:ext cx="329184" cy="32918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11312" y="2450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686800" y="2286000"/>
            <a:ext cx="28190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Agregação:</a:t>
            </a:r>
            <a:r>
              <a:rPr lang="en-US" sz="1300" dirty="0">
                <a:solidFill>
                  <a:srgbClr val="1D2D3E"/>
                </a:solidFill>
              </a:rPr>
              <a:t> contar e somar direto no banco.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046720" y="3054096"/>
            <a:ext cx="3596335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11312" y="3218688"/>
            <a:ext cx="329184" cy="32918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11312" y="32186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0" y="3054096"/>
            <a:ext cx="28190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Expressão aritmética:</a:t>
            </a:r>
            <a:r>
              <a:rPr lang="en-US" sz="1300" dirty="0">
                <a:solidFill>
                  <a:srgbClr val="1D2D3E"/>
                </a:solidFill>
              </a:rPr>
              <a:t> ticket médio com casting.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046720" y="3822192"/>
            <a:ext cx="3596335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11312" y="3986784"/>
            <a:ext cx="329184" cy="32918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11312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0" y="3822192"/>
            <a:ext cx="28190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Lógica condicional:</a:t>
            </a:r>
            <a:r>
              <a:rPr lang="en-US" sz="1300" dirty="0">
                <a:solidFill>
                  <a:srgbClr val="1D2D3E"/>
                </a:solidFill>
              </a:rPr>
              <a:t> categorizar parceiros com 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r>
              <a:rPr lang="en-US" sz="1300" dirty="0">
                <a:solidFill>
                  <a:srgbClr val="1D2D3E"/>
                </a:solidFill>
              </a:rPr>
              <a:t>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46720" y="4590288"/>
            <a:ext cx="3596335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11312" y="4754880"/>
            <a:ext cx="329184" cy="32918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11312" y="4754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686800" y="4590288"/>
            <a:ext cx="28190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Filtro pós-agregação:</a:t>
            </a:r>
            <a:r>
              <a:rPr lang="en-US" sz="1300" dirty="0">
                <a:solidFill>
                  <a:srgbClr val="1D2D3E"/>
                </a:solidFill>
              </a:rPr>
              <a:t> 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HAVING</a:t>
            </a:r>
            <a:r>
              <a:rPr lang="en-US" sz="1300" dirty="0">
                <a:solidFill>
                  <a:srgbClr val="1D2D3E"/>
                </a:solidFill>
              </a:rPr>
              <a:t> usa o resultado da soma.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046720" y="5394960"/>
            <a:ext cx="3596335" cy="822960"/>
          </a:xfrm>
          <a:prstGeom prst="roundRect">
            <a:avLst>
              <a:gd name="adj" fmla="val 13333"/>
            </a:avLst>
          </a:prstGeom>
          <a:solidFill>
            <a:srgbClr val="FFF8D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778240" y="5394960"/>
            <a:ext cx="2590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3E"/>
                </a:solidFill>
              </a:rPr>
              <a:t>Robustez:</a:t>
            </a:r>
            <a:r>
              <a:rPr lang="en-US" sz="1200" dirty="0">
                <a:solidFill>
                  <a:srgbClr val="1D2D3E"/>
                </a:solidFill>
              </a:rPr>
              <a:t> use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COALESCE( campo, 0 )</a:t>
            </a:r>
            <a:r>
              <a:rPr lang="en-US" sz="1200" dirty="0">
                <a:solidFill>
                  <a:srgbClr val="1D2D3E"/>
                </a:solidFill>
              </a:rPr>
              <a:t> em cálculos para tratar valores nulos.</a:t>
            </a:r>
            <a:endParaRPr lang="en-US" sz="1600" dirty="0"/>
          </a:p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5632704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Dominando Tabelas Internas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Do Custo O(n) à Velocidade O(1)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51206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84632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O custo oculto da busca linear:</a:t>
            </a:r>
            <a:r>
              <a:rPr lang="en-US" sz="1300" dirty="0">
                <a:solidFill>
                  <a:srgbClr val="1D2D3E"/>
                </a:solidFill>
              </a:rPr>
              <a:t> 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 ... WHERE</a:t>
            </a:r>
            <a:r>
              <a:rPr lang="en-US" sz="1300" dirty="0">
                <a:solidFill>
                  <a:srgbClr val="1D2D3E"/>
                </a:solidFill>
              </a:rPr>
              <a:t> em uma tabela Standard é o erro de performance mais comum. O tempo cresce linearmente com os dados, causando timeouts em produção.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035040" y="1600200"/>
            <a:ext cx="56080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 solução:</a:t>
            </a:r>
            <a:r>
              <a:rPr lang="en-US" sz="1400" dirty="0">
                <a:solidFill>
                  <a:srgbClr val="1D2D3E"/>
                </a:solidFill>
              </a:rPr>
              <a:t> crie ‘índices’ em memória com </a:t>
            </a:r>
            <a:r>
              <a:rPr lang="en-US" sz="14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SECONDARY KEYS</a:t>
            </a:r>
            <a:r>
              <a:rPr lang="en-US" sz="1400" dirty="0">
                <a:solidFill>
                  <a:srgbClr val="1D2D3E"/>
                </a:solidFill>
              </a:rPr>
              <a:t> e use referências para evitar cópias de memória custosas.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035040" y="2468880"/>
            <a:ext cx="5608015" cy="27432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263640" y="2633472"/>
            <a:ext cx="5150815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ty_t_data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STANDARD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ty_data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HASHED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key_id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COMPONENTS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LENTO: varre a tabela inteira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lt_data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ls_data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B44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RÁPIDO: salta direto para a linha usando o índice hash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lt_data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ASSIGNING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fs_data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key_id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B44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035040" y="5349240"/>
            <a:ext cx="5608015" cy="868680"/>
          </a:xfrm>
          <a:prstGeom prst="roundRect">
            <a:avLst>
              <a:gd name="adj" fmla="val 12632"/>
            </a:avLst>
          </a:prstGeom>
          <a:solidFill>
            <a:srgbClr val="FFF8D6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766560" y="5349240"/>
            <a:ext cx="46021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D3E"/>
                </a:solidFill>
              </a:rPr>
              <a:t>Refatorar um ‘nested loop’ com chaves secundárias pode resultar em ganhos de performance de </a:t>
            </a:r>
            <a:r>
              <a:rPr lang="en-US" sz="1400" b="1" dirty="0">
                <a:solidFill>
                  <a:srgbClr val="1D2D3E"/>
                </a:solidFill>
              </a:rPr>
              <a:t>mais de 5.000 vezes</a:t>
            </a:r>
            <a:r>
              <a:rPr lang="en-US" sz="1400" dirty="0">
                <a:solidFill>
                  <a:srgbClr val="1D2D3E"/>
                </a:solidFill>
              </a:rPr>
              <a:t>.</a:t>
            </a:r>
            <a:endParaRPr lang="en-US" sz="16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5609844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Pilar 3 · Design &amp; Elegância — Refinando a Obra com Inteligência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O Contrato é a Interface, não a Classe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2D3E"/>
                </a:solidFill>
              </a:rPr>
              <a:t>Um sinal de senioridade é programar para interfaces (o ‘o quê’), não para implementações concretas (o ‘como’). Isso cria um código desacoplado, testável e flexível a mudanças.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3172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206240"/>
                <a:gridCol w="469087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556B82"/>
                          </a:solidFill>
                        </a:rPr>
                        <a:t>Característica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556B82"/>
                          </a:solidFill>
                        </a:rPr>
                        <a:t>Herança (INHERITING FROM)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556B82"/>
                          </a:solidFill>
                        </a:rPr>
                        <a:t>Interface (INTERFACES)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D2D3E"/>
                          </a:solidFill>
                        </a:rPr>
                        <a:t>Relacionamento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D2D3E"/>
                          </a:solidFill>
                        </a:rPr>
                        <a:t>“É um” (Cachorro é um Animal) — rígido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46C76"/>
                          </a:solidFill>
                        </a:rPr>
                        <a:t>“Faz algo” (Cachorro é Latidor) — flexível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D2D3E"/>
                          </a:solidFill>
                        </a:rPr>
                        <a:t>Acoplamento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AA0808"/>
                          </a:solidFill>
                        </a:rPr>
                        <a:t>Alto/forte.</a:t>
                      </a:r>
                      <a:r>
                        <a:rPr lang="en-US" sz="1300" dirty="0">
                          <a:solidFill>
                            <a:srgbClr val="AA0808"/>
                          </a:solidFill>
                        </a:rPr>
                        <a:t> Mudanças na mãe quebram os filhos.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56F3A"/>
                          </a:solidFill>
                        </a:rPr>
                        <a:t>Baixo/fraco.</a:t>
                      </a:r>
                      <a:r>
                        <a:rPr lang="en-US" sz="1300" dirty="0">
                          <a:solidFill>
                            <a:srgbClr val="256F3A"/>
                          </a:solidFill>
                        </a:rPr>
                        <a:t> A implementação pode mudar, o contrato não.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D2D3E"/>
                          </a:solidFill>
                        </a:rPr>
                        <a:t>Multiplicidade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D2D3E"/>
                          </a:solidFill>
                        </a:rPr>
                        <a:t>Não.</a:t>
                      </a:r>
                      <a:r>
                        <a:rPr lang="en-US" sz="1300" dirty="0">
                          <a:solidFill>
                            <a:srgbClr val="1D2D3E"/>
                          </a:solidFill>
                        </a:rPr>
                        <a:t> ABAP só permite herança simples.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D2D3E"/>
                          </a:solidFill>
                        </a:rPr>
                        <a:t>Sim.</a:t>
                      </a:r>
                      <a:r>
                        <a:rPr lang="en-US" sz="1300" dirty="0">
                          <a:solidFill>
                            <a:srgbClr val="1D2D3E"/>
                          </a:solidFill>
                        </a:rPr>
                        <a:t> Uma classe pode implementar N interfaces.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D2D3E"/>
                          </a:solidFill>
                        </a:rPr>
                        <a:t>Testabilidade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D2D3E"/>
                          </a:solidFill>
                        </a:rPr>
                        <a:t>Difícil: acoplado à classe concreta.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56F3A"/>
                          </a:solidFill>
                        </a:rPr>
                        <a:t>Fácil.</a:t>
                      </a:r>
                      <a:r>
                        <a:rPr lang="en-US" sz="1300" dirty="0">
                          <a:solidFill>
                            <a:srgbClr val="256F3A"/>
                          </a:solidFill>
                        </a:rPr>
                        <a:t> Permite injetar ‘mocks’ que seguem o mesmo contrato.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709160"/>
            <a:ext cx="11094415" cy="150876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4873752"/>
            <a:ext cx="1063721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RUIM: acoplado à implementação concreta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lo_calc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zcl_travel_calc_br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lo_calc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BOM: desacoplado, depende apenas do contrato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lo_calc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zif_travel_calc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lo_calc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zcl_travel_factory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get_calculator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'BR'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Padrão Factory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Centralizando a Criação de Objetos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2D3E"/>
                </a:solidFill>
              </a:rPr>
              <a:t>Evite espalhar 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zcl_minha_classe( )</a:t>
            </a:r>
            <a:r>
              <a:rPr lang="en-US" sz="1500" dirty="0">
                <a:solidFill>
                  <a:srgbClr val="1D2D3E"/>
                </a:solidFill>
              </a:rPr>
              <a:t> pelo código: isso cria um acoplamento forte. Uma classe ‘Fábrica’ centraliza a decisão de qual objeto instanciar, escondendo a complexidade dos consumidores.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57607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377440"/>
            <a:ext cx="5394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Código Consumidor</a:t>
            </a:r>
            <a:endParaRPr lang="en-US" sz="1600" dirty="0"/>
          </a:p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Preciso de um calculador de impostos para o Brasil.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291840" y="3035808"/>
            <a:ext cx="228600" cy="118872"/>
          </a:xfrm>
          <a:prstGeom prst="downArrow">
            <a:avLst/>
          </a:prstGeom>
          <a:solidFill>
            <a:srgbClr val="556B82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3154680"/>
            <a:ext cx="57607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154680"/>
            <a:ext cx="5394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Chamada à Fábrica</a:t>
            </a:r>
            <a:endParaRPr lang="en-US" sz="1600" dirty="0"/>
          </a:p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lo_calc = zcl_tax_factory=&gt;get_instance( iv_country = 'BR' 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291840" y="3813048"/>
            <a:ext cx="228600" cy="118872"/>
          </a:xfrm>
          <a:prstGeom prst="downArrow">
            <a:avLst/>
          </a:prstGeom>
          <a:solidFill>
            <a:srgbClr val="556B82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3931920"/>
            <a:ext cx="57607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0070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931920"/>
            <a:ext cx="5394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Classe Factory (get_instance)</a:t>
            </a:r>
            <a:endParaRPr lang="en-US" sz="1600" dirty="0"/>
          </a:p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CASE iv_country: 'BR' → zcl_tax_calc_br · 'US' → zcl_tax_calc_us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291840" y="4590288"/>
            <a:ext cx="228600" cy="118872"/>
          </a:xfrm>
          <a:prstGeom prst="downArrow">
            <a:avLst/>
          </a:prstGeom>
          <a:solidFill>
            <a:srgbClr val="556B82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4709160"/>
            <a:ext cx="57607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709160"/>
            <a:ext cx="5394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Retorno Abstrato</a:t>
            </a:r>
            <a:endParaRPr lang="en-US" sz="1600" dirty="0"/>
          </a:p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Devolve um objeto cujo tipo de retorno é a INTERFACE zif_tax_calculator.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291840" y="5367528"/>
            <a:ext cx="228600" cy="118872"/>
          </a:xfrm>
          <a:prstGeom prst="downArrow">
            <a:avLst/>
          </a:prstGeom>
          <a:solidFill>
            <a:srgbClr val="556B82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5486400"/>
            <a:ext cx="57607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5486400"/>
            <a:ext cx="5394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Código Consumidor (final)</a:t>
            </a:r>
            <a:endParaRPr lang="en-US" sz="1600" dirty="0"/>
          </a:p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Recebe um objeto que ‘sabe calcular impostos’, sem saber qual classe concreta ele é.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583680" y="2377440"/>
            <a:ext cx="5059375" cy="38404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812280" y="2505456"/>
            <a:ext cx="4602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</a:rPr>
              <a:t>A Fábrica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583680" y="2889504"/>
            <a:ext cx="505937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12280" y="3017520"/>
            <a:ext cx="4602175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zcl_travel_factory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DEFINITION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CLASS-METHODS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get_calculator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iv_country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land1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RETURNING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ro_calc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10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zif_travel_calc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ENDCLASS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^ retorna a interface!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zcl_travel_factory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get_calculator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iv_country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'BR'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ro_calc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zcl_travel_calc_br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OTHERS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ro_calc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zcl_travel_calc_global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ENDCASE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ENDCLASS</a:t>
            </a: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Código Expressivo e Autodocumentado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D3E"/>
                </a:solidFill>
              </a:rPr>
              <a:t>Funções de string modernas: substitua comandos antigos e verbosos por funções embutidas e encadeáveis.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56692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103120"/>
                <a:gridCol w="237744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56B82"/>
                          </a:solidFill>
                        </a:rPr>
                        <a:t>Operação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56B82"/>
                          </a:solidFill>
                        </a:rPr>
                        <a:t>Legado (evitar)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56B82"/>
                          </a:solidFill>
                        </a:rPr>
                        <a:t>Moderno (usar)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Maiúsculas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44F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TRANSLATE x TO UPPER CASE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56F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= to_upper( x 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Busca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44F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SEARCH x FOR 'ABC'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56F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 contains( val = x sub = 'ABC' 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Substituir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44F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REPLACE 'A' WITH 'B' INTO x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56F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= replace( val = x sub = 'A' with = 'B' 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Concatenar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44F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CONCATENATE a b INTO c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56F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= |{ a }{ b }|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92240" y="15544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64D9"/>
                </a:solidFill>
              </a:rPr>
              <a:t>A filosofia do ABAP Doc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492240" y="1920240"/>
            <a:ext cx="51508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D3E"/>
                </a:solidFill>
              </a:rPr>
              <a:t>Bons comentários explicam o </a:t>
            </a:r>
            <a:r>
              <a:rPr lang="en-US" sz="1300" b="1" dirty="0">
                <a:solidFill>
                  <a:srgbClr val="1D2D3E"/>
                </a:solidFill>
              </a:rPr>
              <a:t>porquê</a:t>
            </a:r>
            <a:r>
              <a:rPr lang="en-US" sz="1300" dirty="0">
                <a:solidFill>
                  <a:srgbClr val="1D2D3E"/>
                </a:solidFill>
              </a:rPr>
              <a:t>, não o </a:t>
            </a:r>
            <a:r>
              <a:rPr lang="en-US" sz="1300" b="1" dirty="0">
                <a:solidFill>
                  <a:srgbClr val="1D2D3E"/>
                </a:solidFill>
              </a:rPr>
              <a:t>o quê</a:t>
            </a:r>
            <a:r>
              <a:rPr lang="en-US" sz="1300" dirty="0">
                <a:solidFill>
                  <a:srgbClr val="1D2D3E"/>
                </a:solidFill>
              </a:rPr>
              <a:t>. Use ABAP Doc (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"!</a:t>
            </a:r>
            <a:r>
              <a:rPr lang="en-US" sz="1300" dirty="0">
                <a:solidFill>
                  <a:srgbClr val="1D2D3E"/>
                </a:solidFill>
              </a:rPr>
              <a:t>) para documentar a interface pública (o contrato).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492240" y="2651760"/>
            <a:ext cx="5150815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720840" y="2816352"/>
            <a:ext cx="4693615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"! &lt;p class="shorttext"&gt;Calcula o desconto de fidelidade.&lt;/p&gt;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"! A lógica é baseada no &lt;em&gt;histórico de compras&lt;/em&gt;.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"! @parameter iv_customer_id | ID do Cliente (KNA1)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"! @parameter rv_discount    | Valor do desconto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"! @raising   zcx_customer_error | Cliente bloqueado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METHODS</a:t>
            </a: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calculate_discount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iv_customer_id</a:t>
            </a: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kunnr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RETURNING</a:t>
            </a: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rv_discount</a:t>
            </a: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kbetr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RAISING</a:t>
            </a: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zcx_customer_error</a:t>
            </a: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92240" y="5486400"/>
            <a:ext cx="5150815" cy="731520"/>
          </a:xfrm>
          <a:prstGeom prst="roundRect">
            <a:avLst>
              <a:gd name="adj" fmla="val 15000"/>
            </a:avLst>
          </a:prstGeom>
          <a:solidFill>
            <a:srgbClr val="EBF8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223760" y="5486400"/>
            <a:ext cx="4144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D3E"/>
                </a:solidFill>
              </a:rPr>
              <a:t>Pressione </a:t>
            </a:r>
            <a:r>
              <a:rPr lang="en-US" sz="1300" b="1" dirty="0">
                <a:solidFill>
                  <a:srgbClr val="1D2D3E"/>
                </a:solidFill>
              </a:rPr>
              <a:t>F2</a:t>
            </a:r>
            <a:r>
              <a:rPr lang="en-US" sz="1300" dirty="0">
                <a:solidFill>
                  <a:srgbClr val="1D2D3E"/>
                </a:solidFill>
              </a:rPr>
              <a:t> no ADT para ver esta documentação instantaneamente, sem navegar para a classe.</a:t>
            </a:r>
            <a:endParaRPr lang="en-US" sz="16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5678424"/>
            <a:ext cx="347472" cy="347472"/>
          </a:xfrm>
          <a:prstGeom prst="rect">
            <a:avLst/>
          </a:prstGeom>
        </p:spPr>
      </p:pic>
      <p:sp>
        <p:nvSpPr>
          <p:cNvPr id="1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5029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DB1FF"/>
                </a:solidFill>
              </a:rPr>
              <a:t>Conclusão</a:t>
            </a: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O Artesão de Software Moderno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15258" cy="3108960"/>
          </a:xfrm>
          <a:prstGeom prst="roundRect">
            <a:avLst>
              <a:gd name="adj" fmla="val 4118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554480" y="2011680"/>
            <a:ext cx="23265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Robustez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4320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3DE"/>
                </a:solidFill>
              </a:rPr>
              <a:t>Começamos com um alicerce inabalável, garantindo que o código é correto, seguro e testável desde o primeiro dia.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16052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DB1FF"/>
                </a:solidFill>
              </a:rPr>
              <a:t>ATC, ABAP Unit, Exceções, Segurança.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38218" y="1783080"/>
            <a:ext cx="3515258" cy="3108960"/>
          </a:xfrm>
          <a:prstGeom prst="roundRect">
            <a:avLst>
              <a:gd name="adj" fmla="val 4118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344058" y="2011680"/>
            <a:ext cx="23265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Performance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74320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3DE"/>
                </a:solidFill>
              </a:rPr>
              <a:t>Em seguida, otimizamos a máquina, empurrando a lógica para o banco e gerenciando a memória com precisão cirúrgica.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12538" y="416052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DB1FF"/>
                </a:solidFill>
              </a:rPr>
              <a:t>ABAP SQL, Code Pushdown, Chaves Secundárias.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27797" y="1783080"/>
            <a:ext cx="3515258" cy="3108960"/>
          </a:xfrm>
          <a:prstGeom prst="roundRect">
            <a:avLst>
              <a:gd name="adj" fmla="val 4118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33637" y="2011680"/>
            <a:ext cx="23265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Design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74320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3DE"/>
                </a:solidFill>
              </a:rPr>
              <a:t>Por fim, refinamos a obra com um design inteligente: sistemas flexíveis, desacoplados e fáceis de manter e entender.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402117" y="416052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DB1FF"/>
                </a:solidFill>
              </a:rPr>
              <a:t>Interfaces, Padrões de Projeto, ABAP Doc.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12064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Adotar estes três pilares não é sobre seguir regras: é sobre </a:t>
            </a:r>
            <a:r>
              <a:rPr lang="en-US" sz="1600" b="1" dirty="0">
                <a:solidFill>
                  <a:srgbClr val="FFFFFF"/>
                </a:solidFill>
              </a:rPr>
              <a:t>mudar a mentalidade</a:t>
            </a:r>
            <a:r>
              <a:rPr lang="en-US" sz="1600" dirty="0">
                <a:solidFill>
                  <a:srgbClr val="FFFFFF"/>
                </a:solidFill>
              </a:rPr>
              <a:t>. É a transição de um programador que entrega funcionalidades para um artesão que constrói ativos de software duradouros e de alta qualidade.</a:t>
            </a:r>
            <a:endParaRPr lang="en-US" sz="16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11680"/>
            <a:ext cx="594360" cy="594360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2538" y="2011680"/>
            <a:ext cx="594360" cy="594360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2117" y="2011680"/>
            <a:ext cx="594360" cy="5943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396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">
  <a:themeElements>
    <a:clrScheme name="SAP Horizon">
      <a:dk1>
        <a:srgbClr val="1D2D3E"/>
      </a:dk1>
      <a:lt1>
        <a:srgbClr val="FFFFFF"/>
      </a:lt1>
      <a:dk2>
        <a:srgbClr val="556B82"/>
      </a:dk2>
      <a:lt2>
        <a:srgbClr val="F5F6F7"/>
      </a:lt2>
      <a:accent1>
        <a:srgbClr val="0070F2"/>
      </a:accent1>
      <a:accent2>
        <a:srgbClr val="30914C"/>
      </a:accent2>
      <a:accent3>
        <a:srgbClr val="E76500"/>
      </a:accent3>
      <a:accent4>
        <a:srgbClr val="D20A0A"/>
      </a:accent4>
      <a:accent5>
        <a:srgbClr val="7858FF"/>
      </a:accent5>
      <a:accent6>
        <a:srgbClr val="07838F"/>
      </a:accent6>
      <a:hlink>
        <a:srgbClr val="0064D9"/>
      </a:hlink>
      <a:folHlink>
        <a:srgbClr val="5D36FF"/>
      </a:folHlink>
    </a:clrScheme>
    <a:fontScheme name="SAP Horizo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Os Pilares da Excelência em ABAP Moderno</dc:title>
  <dc:subject>ABAP Moderno – Módulo 04</dc:subject>
  <dc:creator>Adriano Bispo</dc:creator>
  <cp:lastModifiedBy>Adriano Bispo</cp:lastModifiedBy>
  <cp:revision>1</cp:revision>
  <dcterms:created xsi:type="dcterms:W3CDTF">2026-10-25T15:49:47Z</dcterms:created>
  <dcterms:modified xsi:type="dcterms:W3CDTF">2026-10-25T15:49:47Z</dcterms:modified>
</cp:coreProperties>
</file>