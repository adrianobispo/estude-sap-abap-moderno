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05 — Extensibilidade Clean Core  ·  Aula 2 de 5 — UX de consumidor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05 — Extensibilidade Clean Core  ·  Aula 2 de 5 — UX de consumidor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05 · AULA 02 DE 05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UX de consumidor com SAP Fiori e SAP Build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Por que a experiência do usuário decide a adoção, os cinco princípios do SAP Fiori e as ferramentas para pro-code e low-code.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851392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9" name="Shape 7"/>
          <p:cNvSpPr/>
          <p:nvPr/>
        </p:nvSpPr>
        <p:spPr>
          <a:xfrm>
            <a:off x="9518904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10186416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10853928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2 de 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05 — Extensibilidade Clean Core · Design System SAP Horizon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05 em 5 aulas: Clean Core e extensibilidade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Clean Core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Extensões, núcleo limpo e transição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04099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68691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869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UX de consumidor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968691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Princípios Fiori, launchpad e SAP Build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44179" y="1892808"/>
            <a:ext cx="792419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44179" y="1892808"/>
            <a:ext cx="7924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59558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2415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415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9" name="Text 17"/>
          <p:cNvSpPr txBox="1"/>
          <p:nvPr/>
        </p:nvSpPr>
        <p:spPr>
          <a:xfrm>
            <a:off x="5224150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ABAP Cloud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224150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Language version 5, released APIs e wrappers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15017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7960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7960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7479609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de extensibilidade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479609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Key user, developer e side-by-side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570476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73506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7350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9735068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Private Edition e On-Premise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735068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Níveis A–D, ATC e coexistência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vemos como o SAP Fiori entrega UX de consumidor sobre APIs estáveis e onde o SAP Build entra para quem não programa.</a:t>
            </a:r>
            <a:endParaRPr lang="en-US" sz="14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579" y="1847088"/>
            <a:ext cx="347472" cy="347472"/>
          </a:xfrm>
          <a:prstGeom prst="rect">
            <a:avLst/>
          </a:prstGeom>
        </p:spPr>
      </p:pic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038" y="1847088"/>
            <a:ext cx="347472" cy="347472"/>
          </a:xfrm>
          <a:prstGeom prst="rect">
            <a:avLst/>
          </a:prstGeom>
        </p:spPr>
      </p:pic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497" y="1847088"/>
            <a:ext cx="347472" cy="347472"/>
          </a:xfrm>
          <a:prstGeom prst="rect">
            <a:avLst/>
          </a:prstGeom>
        </p:spPr>
      </p:pic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8956" y="1847088"/>
            <a:ext cx="347472" cy="347472"/>
          </a:xfrm>
          <a:prstGeom prst="rect">
            <a:avLst/>
          </a:prstGeom>
        </p:spPr>
      </p:pic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UX decide a adoção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Usuários esperam do sistema da empresa a mesma experiência dos apps do celular. Uma boa UX é um </a:t>
            </a:r>
            <a:r>
              <a:rPr lang="en-US" sz="1500" b="1" dirty="0">
                <a:solidFill>
                  <a:srgbClr val="556B82"/>
                </a:solidFill>
              </a:rPr>
              <a:t>ganho para todos</a:t>
            </a:r>
            <a:r>
              <a:rPr lang="en-US" sz="15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65120"/>
            <a:ext cx="2602154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30662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3669792"/>
            <a:ext cx="2199818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Menos treinamento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Apps intuitivos são aprendidos em menos tempo.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79394" y="2865120"/>
            <a:ext cx="2602154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80562" y="30662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80562" y="3669792"/>
            <a:ext cx="2199818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Menos erros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Menos chamados para o time de TI resolver.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0148" y="2865120"/>
            <a:ext cx="2602154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11316" y="30662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11316" y="3669792"/>
            <a:ext cx="2199818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Mais produtividade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usuário foca no trabalho, não na ferramenta.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040901" y="2865120"/>
            <a:ext cx="2602154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42069" y="30662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42069" y="3669792"/>
            <a:ext cx="2199818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Clientes satisfeitos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Menos erros, menos reclamações e melhor NPS.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93471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07008" y="493471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Definição  </a:t>
            </a:r>
            <a:r>
              <a:rPr lang="en-US" sz="1200" dirty="0">
                <a:solidFill>
                  <a:srgbClr val="1D2D3E"/>
                </a:solidFill>
              </a:rPr>
              <a:t>a ISO 9241 define UX como as percepções e respostas do usuário que resultam do uso, ou do uso previsto, de um sistema.</a:t>
            </a:r>
            <a:endParaRPr lang="en-US" sz="14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166872"/>
            <a:ext cx="256032" cy="256032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00" y="3166872"/>
            <a:ext cx="256032" cy="256032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146" y="3166872"/>
            <a:ext cx="256032" cy="256032"/>
          </a:xfrm>
          <a:prstGeom prst="rect">
            <a:avLst/>
          </a:prstGeom>
        </p:spPr>
      </p:pic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2653" y="3166872"/>
            <a:ext cx="256032" cy="256032"/>
          </a:xfrm>
          <a:prstGeom prst="rect">
            <a:avLst/>
          </a:prstGeom>
        </p:spPr>
      </p:pic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06272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05.02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Os princípios do SAP Fiori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1EFFF"/>
                </a:solidFill>
              </a:rPr>
              <a:t>SAP Fiori</a:t>
            </a:r>
            <a:r>
              <a:rPr lang="en-US" sz="1600" dirty="0">
                <a:solidFill>
                  <a:srgbClr val="D1EFFF"/>
                </a:solidFill>
              </a:rPr>
              <a:t> é o sistema de design da SAP: elementos visuais, navegação e provisionamento de apps. É um dos pilares da estratégia do S/4HANA Cloud.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Role-based</a:t>
            </a:r>
            <a:r>
              <a:rPr lang="en-US" sz="1000" dirty="0">
                <a:solidFill>
                  <a:srgbClr val="D1EFFF"/>
                </a:solidFill>
              </a:rPr>
              <a:t>  por papel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Adaptive</a:t>
            </a:r>
            <a:r>
              <a:rPr lang="en-US" sz="1000" dirty="0">
                <a:solidFill>
                  <a:srgbClr val="D1EFFF"/>
                </a:solidFill>
              </a:rPr>
              <a:t>  qualquer dispositivo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Simple</a:t>
            </a:r>
            <a:r>
              <a:rPr lang="en-US" sz="1000" dirty="0">
                <a:solidFill>
                  <a:srgbClr val="D1EFFF"/>
                </a:solidFill>
              </a:rPr>
              <a:t>  um app, um propósito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Coherent · Delightful</a:t>
            </a:r>
            <a:r>
              <a:rPr lang="en-US" sz="1000" dirty="0">
                <a:solidFill>
                  <a:srgbClr val="D1EFFF"/>
                </a:solidFill>
              </a:rPr>
              <a:t>  consistente e agradável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PRINCÍPIOS · MUDANÇA DE PARADIGMA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Da transação ao app por intenção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1715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417159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69147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69147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SAP GUI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155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Transações com muitas telas, campos e botões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Organizado por </a:t>
            </a:r>
            <a:r>
              <a:rPr lang="en-US" sz="1350" b="1" dirty="0">
                <a:solidFill>
                  <a:srgbClr val="1D2D3E"/>
                </a:solidFill>
              </a:rPr>
              <a:t>função</a:t>
            </a:r>
            <a:r>
              <a:rPr lang="en-US" sz="1350" dirty="0">
                <a:solidFill>
                  <a:srgbClr val="1D2D3E"/>
                </a:solidFill>
              </a:rPr>
              <a:t> do sistema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Só no desktop, com treinamento intenso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41715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417159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69147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69147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SAP Fiori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33155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Apps pequenos e modulares: </a:t>
            </a:r>
            <a:r>
              <a:rPr lang="en-US" sz="1350" b="1" dirty="0">
                <a:solidFill>
                  <a:srgbClr val="1D2D3E"/>
                </a:solidFill>
              </a:rPr>
              <a:t>um app, um propósito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Organizado pelo </a:t>
            </a:r>
            <a:r>
              <a:rPr lang="en-US" sz="1350" b="1" dirty="0">
                <a:solidFill>
                  <a:srgbClr val="1D2D3E"/>
                </a:solidFill>
              </a:rPr>
              <a:t>papel</a:t>
            </a:r>
            <a:r>
              <a:rPr lang="en-US" sz="1350" dirty="0">
                <a:solidFill>
                  <a:srgbClr val="1D2D3E"/>
                </a:solidFill>
              </a:rPr>
              <a:t> e pela tarefa do usuário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Desktop, tablet e celular com a mesma experiência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834033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834033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Clean Core  </a:t>
            </a:r>
            <a:r>
              <a:rPr lang="en-US" sz="1200" dirty="0">
                <a:solidFill>
                  <a:srgbClr val="1D2D3E"/>
                </a:solidFill>
              </a:rPr>
              <a:t>apps Fiori leem dados por </a:t>
            </a:r>
            <a:r>
              <a:rPr lang="en-US" sz="1200" b="1" dirty="0">
                <a:solidFill>
                  <a:srgbClr val="1D2D3E"/>
                </a:solidFill>
              </a:rPr>
              <a:t>APIs remotas</a:t>
            </a:r>
            <a:r>
              <a:rPr lang="en-US" sz="1200" dirty="0">
                <a:solidFill>
                  <a:srgbClr val="1D2D3E"/>
                </a:solidFill>
              </a:rPr>
              <a:t> bem definidas e estáveis, não por acesso direto ao núcleo.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792063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792063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962049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PRINCÍPIOS · CINCO PRINCÍPIOS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blocos fundamentais do SAP Fiori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800604"/>
            <a:ext cx="2036003" cy="2216912"/>
          </a:xfrm>
          <a:prstGeom prst="roundRect">
            <a:avLst>
              <a:gd name="adj" fmla="val 44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300177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605276"/>
            <a:ext cx="1633667" cy="1302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Role-based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Apps atribuídos a </a:t>
            </a:r>
            <a:r>
              <a:rPr lang="en-US" sz="1100" b="1" dirty="0">
                <a:solidFill>
                  <a:srgbClr val="556B82"/>
                </a:solidFill>
              </a:rPr>
              <a:t>catálogos</a:t>
            </a:r>
            <a:r>
              <a:rPr lang="en-US" sz="1100" dirty="0">
                <a:solidFill>
                  <a:srgbClr val="556B82"/>
                </a:solidFill>
              </a:rPr>
              <a:t> e </a:t>
            </a:r>
            <a:r>
              <a:rPr lang="en-US" sz="1100" b="1" dirty="0">
                <a:solidFill>
                  <a:srgbClr val="556B82"/>
                </a:solidFill>
              </a:rPr>
              <a:t>grupos</a:t>
            </a:r>
            <a:r>
              <a:rPr lang="en-US" sz="1100" dirty="0">
                <a:solidFill>
                  <a:srgbClr val="556B82"/>
                </a:solidFill>
              </a:rPr>
              <a:t>, ligados a roles na </a:t>
            </a:r>
            <a:r>
              <a:rPr lang="en-US" sz="11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PFCG</a:t>
            </a:r>
            <a:r>
              <a:rPr lang="en-US" sz="11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13243" y="2800604"/>
            <a:ext cx="2036003" cy="2216912"/>
          </a:xfrm>
          <a:prstGeom prst="roundRect">
            <a:avLst>
              <a:gd name="adj" fmla="val 44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014411" y="300177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14411" y="3605276"/>
            <a:ext cx="1633667" cy="1302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Adaptive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app se adapta ao dispositivo; o </a:t>
            </a:r>
            <a:r>
              <a:rPr lang="en-US" sz="1100" b="1" dirty="0">
                <a:solidFill>
                  <a:srgbClr val="556B82"/>
                </a:solidFill>
              </a:rPr>
              <a:t>draft</a:t>
            </a:r>
            <a:r>
              <a:rPr lang="en-US" sz="1100" dirty="0">
                <a:solidFill>
                  <a:srgbClr val="556B82"/>
                </a:solidFill>
              </a:rPr>
              <a:t> permite parar e continuar depois.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77846" y="2800604"/>
            <a:ext cx="2036003" cy="2216912"/>
          </a:xfrm>
          <a:prstGeom prst="roundRect">
            <a:avLst>
              <a:gd name="adj" fmla="val 44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79014" y="300177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79014" y="3605276"/>
            <a:ext cx="1633667" cy="1302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Simple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Telas grandes do SAP GUI viram apps focados em uma tarefa.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42449" y="2800604"/>
            <a:ext cx="2036003" cy="2216912"/>
          </a:xfrm>
          <a:prstGeom prst="roundRect">
            <a:avLst>
              <a:gd name="adj" fmla="val 44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543617" y="300177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43617" y="3605276"/>
            <a:ext cx="1633667" cy="1302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Coherent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Mesma interação e visual em qualquer app da empresa.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07052" y="2800604"/>
            <a:ext cx="2036003" cy="2216912"/>
          </a:xfrm>
          <a:prstGeom prst="roundRect">
            <a:avLst>
              <a:gd name="adj" fmla="val 44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808220" y="300177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08220" y="3605276"/>
            <a:ext cx="1633667" cy="1302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Delightful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usuário simplesmente faz o trabalho, e a experiência melhora.</a:t>
            </a:r>
            <a:endParaRPr lang="en-US" sz="14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102356"/>
            <a:ext cx="256032" cy="256032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95" y="3102356"/>
            <a:ext cx="256032" cy="256032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201" y="3102356"/>
            <a:ext cx="256032" cy="256032"/>
          </a:xfrm>
          <a:prstGeom prst="rect">
            <a:avLst/>
          </a:prstGeom>
        </p:spPr>
      </p:pic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9598" y="3102356"/>
            <a:ext cx="256032" cy="256032"/>
          </a:xfrm>
          <a:prstGeom prst="rect">
            <a:avLst/>
          </a:prstGeom>
        </p:spPr>
      </p:pic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8804" y="310235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05.02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Construindo apps Fiori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Apps Fiori usam </a:t>
            </a:r>
            <a:r>
              <a:rPr lang="en-US" sz="1600" b="1" dirty="0">
                <a:solidFill>
                  <a:srgbClr val="D1EFFF"/>
                </a:solidFill>
              </a:rPr>
              <a:t>SAPUI5</a:t>
            </a:r>
            <a:r>
              <a:rPr lang="en-US" sz="1600" dirty="0">
                <a:solidFill>
                  <a:srgbClr val="D1EFFF"/>
                </a:solidFill>
              </a:rPr>
              <a:t>, geralmente criados no </a:t>
            </a:r>
            <a:r>
              <a:rPr lang="en-US" sz="1600" b="1" dirty="0">
                <a:solidFill>
                  <a:srgbClr val="D1EFFF"/>
                </a:solidFill>
              </a:rPr>
              <a:t>SAP Business Application Studio</a:t>
            </a:r>
            <a:r>
              <a:rPr lang="en-US" sz="1600" dirty="0">
                <a:solidFill>
                  <a:srgbClr val="D1EFFF"/>
                </a:solidFill>
              </a:rPr>
              <a:t>. Com </a:t>
            </a:r>
            <a:r>
              <a:rPr lang="en-US" sz="1600" b="1" dirty="0">
                <a:solidFill>
                  <a:srgbClr val="D1EFFF"/>
                </a:solidFill>
              </a:rPr>
              <a:t>Fiori elements</a:t>
            </a:r>
            <a:r>
              <a:rPr lang="en-US" sz="1600" dirty="0">
                <a:solidFill>
                  <a:srgbClr val="D1EFFF"/>
                </a:solidFill>
              </a:rPr>
              <a:t>, a UI vem de anotações.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</a:t>
            </a:r>
            <a:r>
              <a:rPr lang="en-US" sz="1000" dirty="0">
                <a:solidFill>
                  <a:srgbClr val="D1EFFF"/>
                </a:solidFill>
              </a:rPr>
              <a:t>  ~200 controles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Application Studio</a:t>
            </a:r>
            <a:r>
              <a:rPr lang="en-US" sz="1000" dirty="0">
                <a:solidFill>
                  <a:srgbClr val="D1EFFF"/>
                </a:solidFill>
              </a:rPr>
              <a:t>  BTP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 elements</a:t>
            </a:r>
            <a:r>
              <a:rPr lang="en-US" sz="1000" dirty="0">
                <a:solidFill>
                  <a:srgbClr val="D1EFFF"/>
                </a:solidFill>
              </a:rPr>
              <a:t>  floorplans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 CDS</a:t>
            </a:r>
            <a:r>
              <a:rPr lang="en-US" sz="1000" dirty="0">
                <a:solidFill>
                  <a:srgbClr val="D1EFFF"/>
                </a:solidFill>
              </a:rPr>
              <a:t>  @UI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PRO-CODE · DUAS ABORDAGENS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Freestyle ou SAP Fiori elements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1715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417159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69147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69147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Freestyle SAPUI5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155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Views, controllers e JavaScript escritos à mão (MVC)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Liberdade total de layout e comportamento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Mais código de front-end para manter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41715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417159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69147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69147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SAP Fiori elements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33155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Escolhe um </a:t>
            </a:r>
            <a:r>
              <a:rPr lang="en-US" sz="1350" b="1" dirty="0">
                <a:solidFill>
                  <a:srgbClr val="1D2D3E"/>
                </a:solidFill>
              </a:rPr>
              <a:t>floorplan</a:t>
            </a:r>
            <a:r>
              <a:rPr lang="en-US" sz="1350" dirty="0">
                <a:solidFill>
                  <a:srgbClr val="1D2D3E"/>
                </a:solidFill>
              </a:rPr>
              <a:t> e descreve a UI com </a:t>
            </a:r>
            <a:r>
              <a:rPr lang="en-US" sz="1350" b="1" dirty="0">
                <a:solidFill>
                  <a:srgbClr val="1D2D3E"/>
                </a:solidFill>
              </a:rPr>
              <a:t>anotações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O runtime do SAPUI5 renderiza a tela dinamicamente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Acessibilidade, variantes e modo de edição prontos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834033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834033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Flexible Programming Model  </a:t>
            </a:r>
            <a:r>
              <a:rPr lang="en-US" sz="1200" dirty="0">
                <a:solidFill>
                  <a:srgbClr val="1D2D3E"/>
                </a:solidFill>
              </a:rPr>
              <a:t>quando o floorplan não basta, código freestyle estende um app Fiori elements.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792063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792063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962049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PRO-CODE · ANOTAÇÕES NO ABAP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 UI descrita na camada CDS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07568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07568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zc_travel.ddlx.asddlxs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ZS4D426 › Metadata Extension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headerInfo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'Viagem'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typeNamePlural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'Viagens'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'TravelID'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ZC_Travel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'Travel'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IDENTIFICATION_REFERENCE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'Viagem'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'StatusCriticality'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OverallStatus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Colunas da tabela no List Report.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Filtros da barra de busca.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r>
              <a:rPr lang="en-US" sz="1250" b="1" dirty="0">
                <a:solidFill>
                  <a:srgbClr val="1D2D3E"/>
                </a:solidFill>
              </a:rPr>
              <a:t> ·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identification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Seções e campos do Object Page.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Onde anotar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Anotações gerais no CDS valem para todos os apps; as específicas ficam no projeto do app.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PRO-CODE · FLOORPLANS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Escolha o floorplan pelo propósito do app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930442"/>
                <a:gridCol w="7889653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Floorplan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 usar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List Report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Buscar, filtrar e agir sobre muitos registros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Object Page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Ver e editar um objeto com seções e itens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Worklist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Processar uma lista de tarefas pendentes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Overview Page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Cards com visão geral de um domínio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Analytical List Page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Análise com gráficos e tabela juntos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84632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Ainda mais  </a:t>
            </a:r>
            <a:r>
              <a:rPr lang="en-US" sz="1200" dirty="0">
                <a:solidFill>
                  <a:srgbClr val="1D2D3E"/>
                </a:solidFill>
              </a:rPr>
              <a:t>Initial Page, Wizard e Form Entry Object Page cobrem cenários específicos.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97433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PRO-CODE · PONTO DE ENTRADA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app ao usuário no SAP Fiori launchpad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App Fiori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Tile e target mapping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86786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3425114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16554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Catálogo · grupo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Agrupam apps por área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6326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0" name="Shape 8"/>
          <p:cNvSpPr/>
          <p:nvPr/>
        </p:nvSpPr>
        <p:spPr>
          <a:xfrm>
            <a:off x="6301588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93028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Role (PFCG)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Catálogos e grupos na role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839733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3" name="Shape 11"/>
          <p:cNvSpPr/>
          <p:nvPr/>
        </p:nvSpPr>
        <p:spPr>
          <a:xfrm>
            <a:off x="9178061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69501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Launchpad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Usuário vê só o seu papel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Busca empresarial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Encontra apps e objetos de negócio a partir do shell.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22978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0585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05858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Notificações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Tarefas e alertas chegam ao usuário no próprio launchpad.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97317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80197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80197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Navegação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56B82"/>
                </a:solidFill>
              </a:rPr>
              <a:t>Intent-based navigation</a:t>
            </a:r>
            <a:r>
              <a:rPr lang="en-US" sz="1200" dirty="0">
                <a:solidFill>
                  <a:srgbClr val="556B82"/>
                </a:solidFill>
              </a:rPr>
              <a:t> liga apps por objeto e ação.</a:t>
            </a:r>
            <a:endParaRPr lang="en-US" sz="14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257" y="2084832"/>
            <a:ext cx="365760" cy="365760"/>
          </a:xfrm>
          <a:prstGeom prst="rect">
            <a:avLst/>
          </a:prstGeom>
        </p:spPr>
      </p:pic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731" y="2084832"/>
            <a:ext cx="365760" cy="365760"/>
          </a:xfrm>
          <a:prstGeom prst="rect">
            <a:avLst/>
          </a:prstGeom>
        </p:spPr>
      </p:pic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205" y="2084832"/>
            <a:ext cx="365760" cy="365760"/>
          </a:xfrm>
          <a:prstGeom prst="rect">
            <a:avLst/>
          </a:prstGeom>
        </p:spPr>
      </p:pic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678" y="2084832"/>
            <a:ext cx="365760" cy="365760"/>
          </a:xfrm>
          <a:prstGeom prst="rect">
            <a:avLst/>
          </a:prstGeom>
        </p:spPr>
      </p:pic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8711" y="3928994"/>
            <a:ext cx="225308" cy="225308"/>
          </a:xfrm>
          <a:prstGeom prst="rect">
            <a:avLst/>
          </a:prstGeom>
        </p:spPr>
      </p:pic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4372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05.02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Low-code com SAP Build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Faltam desenvolvedores para tantos apps. </a:t>
            </a:r>
            <a:r>
              <a:rPr lang="en-US" sz="1600" b="1" dirty="0">
                <a:solidFill>
                  <a:srgbClr val="D1EFFF"/>
                </a:solidFill>
              </a:rPr>
              <a:t>Builders</a:t>
            </a:r>
            <a:r>
              <a:rPr lang="en-US" sz="1600" dirty="0">
                <a:solidFill>
                  <a:srgbClr val="D1EFFF"/>
                </a:solidFill>
              </a:rPr>
              <a:t> (citizen developers) criam soluções com ferramentas </a:t>
            </a:r>
            <a:r>
              <a:rPr lang="en-US" sz="1600" b="1" dirty="0">
                <a:solidFill>
                  <a:srgbClr val="D1EFFF"/>
                </a:solidFill>
              </a:rPr>
              <a:t>low-code/no-code</a:t>
            </a:r>
            <a:r>
              <a:rPr lang="en-US" sz="1600" dirty="0">
                <a:solidFill>
                  <a:srgbClr val="D1EFFF"/>
                </a:solidFill>
              </a:rPr>
              <a:t> aprovadas pela TI.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Developer</a:t>
            </a:r>
            <a:r>
              <a:rPr lang="en-US" sz="1000" dirty="0">
                <a:solidFill>
                  <a:srgbClr val="D1EFFF"/>
                </a:solidFill>
              </a:rPr>
              <a:t>  pro-code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</a:t>
            </a:r>
            <a:r>
              <a:rPr lang="en-US" sz="1000" dirty="0">
                <a:solidFill>
                  <a:srgbClr val="D1EFFF"/>
                </a:solidFill>
              </a:rPr>
              <a:t>  low-code/no-code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 Build</a:t>
            </a:r>
            <a:r>
              <a:rPr lang="en-US" sz="1000" dirty="0">
                <a:solidFill>
                  <a:srgbClr val="D1EFFF"/>
                </a:solidFill>
              </a:rPr>
              <a:t>  Apps · Automation · Work Zone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Released APIs</a:t>
            </a:r>
            <a:r>
              <a:rPr lang="en-US" sz="1000" dirty="0">
                <a:solidFill>
                  <a:srgbClr val="D1EFFF"/>
                </a:solidFill>
              </a:rPr>
              <a:t>  conexão segura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LOW-CODE · QUEM CONSTRÓI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Desenvolvedor e builder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1000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310003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8432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58432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Desenvolvedor (pro-code)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2440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Linguagem e modelo de programação, como ABAP Cloud e RAP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Debugger e testes avançados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Lógica complexa e serviços reutilizáveis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31000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310003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58432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58432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Builder (LCNC)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22440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1D2D3E"/>
                </a:solidFill>
              </a:rPr>
              <a:t>Low-code</a:t>
            </a:r>
            <a:r>
              <a:rPr lang="en-US" sz="1350" dirty="0">
                <a:solidFill>
                  <a:srgbClr val="1D2D3E"/>
                </a:solidFill>
              </a:rPr>
              <a:t>: ferramentas gráficas reduzem o código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1D2D3E"/>
                </a:solidFill>
              </a:rPr>
              <a:t>No-code</a:t>
            </a:r>
            <a:r>
              <a:rPr lang="en-US" sz="1350" dirty="0">
                <a:solidFill>
                  <a:srgbClr val="1D2D3E"/>
                </a:solidFill>
              </a:rPr>
              <a:t>: nenhuma linha de código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Apps e fluxos de uma área de negócio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941189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941189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Juntos  </a:t>
            </a:r>
            <a:r>
              <a:rPr lang="en-US" sz="1200" dirty="0">
                <a:solidFill>
                  <a:srgbClr val="1D2D3E"/>
                </a:solidFill>
              </a:rPr>
              <a:t>o desenvolvedor publica serviços e APIs; o builder os consome nas ferramentas SAP Build.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684907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069205"/>
            <a:ext cx="310896" cy="310896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684907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LOW-CODE · FERRAMENTAS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As três ferramentas do SAP Build no BTP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SAP Build Apps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Interfaces por arrastar e soltar, com modelo de dados e lógica sem código. Conecta ao S/4HANA Cloud por conectores e </a:t>
            </a:r>
            <a:r>
              <a:rPr lang="en-US" sz="1300" b="1" dirty="0">
                <a:solidFill>
                  <a:srgbClr val="556B82"/>
                </a:solidFill>
              </a:rPr>
              <a:t>APIs liberadas</a:t>
            </a:r>
            <a:r>
              <a:rPr lang="en-US" sz="13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SAP Build Process Automation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Automação de processos e tarefas sem código, com arrastar e soltar e recursos de IA.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SAP Build Work Zone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Sites de entrada por papel, em qualquer dispositivo. Faz para o LCNC o que o launchpad faz para o Fiori.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915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8915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Segurança  </a:t>
            </a:r>
            <a:r>
              <a:rPr lang="en-US" sz="1200" dirty="0">
                <a:solidFill>
                  <a:srgbClr val="1D2D3E"/>
                </a:solidFill>
              </a:rPr>
              <a:t>como serviços do BTP, usam a autenticação da plataforma ao chamar APIs públicas liberadas.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661412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2661412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2661412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01954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05.02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Boa </a:t>
            </a:r>
            <a:r>
              <a:rPr lang="en-US" sz="1400" b="1" dirty="0">
                <a:solidFill>
                  <a:srgbClr val="FFFFFF"/>
                </a:solidFill>
              </a:rPr>
              <a:t>UX</a:t>
            </a:r>
            <a:r>
              <a:rPr lang="en-US" sz="1400" dirty="0">
                <a:solidFill>
                  <a:srgbClr val="FFFFFF"/>
                </a:solidFill>
              </a:rPr>
              <a:t> reduz treinamento e erros e aumenta produtividade e satisfação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SAP Fiori</a:t>
            </a:r>
            <a:r>
              <a:rPr lang="en-US" sz="1400" dirty="0">
                <a:solidFill>
                  <a:srgbClr val="FFFFFF"/>
                </a:solidFill>
              </a:rPr>
              <a:t>: role-based, adaptive, simple, coherent e delightful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Apps Fiori consomem </a:t>
            </a:r>
            <a:r>
              <a:rPr lang="en-US" sz="1400" b="1" dirty="0">
                <a:solidFill>
                  <a:srgbClr val="FFFFFF"/>
                </a:solidFill>
              </a:rPr>
              <a:t>APIs remotas</a:t>
            </a:r>
            <a:r>
              <a:rPr lang="en-US" sz="1400" dirty="0">
                <a:solidFill>
                  <a:srgbClr val="FFFFFF"/>
                </a:solidFill>
              </a:rPr>
              <a:t> estáveis, alinhados ao Clean Core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Fiori elements</a:t>
            </a:r>
            <a:r>
              <a:rPr lang="en-US" sz="1400" dirty="0">
                <a:solidFill>
                  <a:srgbClr val="FFFFFF"/>
                </a:solidFill>
              </a:rPr>
              <a:t> gera a UI de um floorplan a partir de anotações, inclusive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r>
              <a:rPr lang="en-US" sz="1400" dirty="0">
                <a:solidFill>
                  <a:srgbClr val="FFFFFF"/>
                </a:solidFill>
              </a:rPr>
              <a:t> no CDS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b="1" dirty="0">
                <a:solidFill>
                  <a:srgbClr val="FFFFFF"/>
                </a:solidFill>
              </a:rPr>
              <a:t>launchpad</a:t>
            </a:r>
            <a:r>
              <a:rPr lang="en-US" sz="1400" dirty="0">
                <a:solidFill>
                  <a:srgbClr val="FFFFFF"/>
                </a:solidFill>
              </a:rPr>
              <a:t> entrega apps por catálogos, grupos e roles da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PFCG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SAP Build</a:t>
            </a:r>
            <a:r>
              <a:rPr lang="en-US" sz="1400" dirty="0">
                <a:solidFill>
                  <a:srgbClr val="FFFFFF"/>
                </a:solidFill>
              </a:rPr>
              <a:t> (Apps, Process Automation, Work Zone) atende builders com low-code/no-code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05.03  </a:t>
            </a:r>
            <a:r>
              <a:rPr lang="en-US" sz="1500" dirty="0">
                <a:solidFill>
                  <a:srgbClr val="FFFFFF"/>
                </a:solidFill>
              </a:rPr>
              <a:t>ABAP Cloud: Language version 5, released APIs e wrappers.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05.02 UX de consumidor com SAP Fiori e SAP Build</dc:title>
  <dc:subject>ABAP Moderno – Módulo 05: Extensibilidade Clean Core</dc:subject>
  <dc:creator>Adriano Bispo</dc:creator>
  <cp:lastModifiedBy>Adriano Bispo</cp:lastModifiedBy>
  <cp:revision>1</cp:revision>
  <dcterms:created xsi:type="dcterms:W3CDTF">2026-10-29T01:25:58Z</dcterms:created>
  <dcterms:modified xsi:type="dcterms:W3CDTF">2026-10-29T01:25:58Z</dcterms:modified>
</cp:coreProperties>
</file>