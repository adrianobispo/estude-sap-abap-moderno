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orizon Title">
    <p:bg>
      <p:bgPr>
        <a:solidFill>
          <a:srgbClr val="1D2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body" hasCustomPrompt="1"/>
          </p:nvPr>
        </p:nvSpPr>
        <p:spPr>
          <a:xfrm>
            <a:off x="548640" y="1554480"/>
            <a:ext cx="786384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b="1" dirty="0">
                <a:solidFill>
                  <a:srgbClr val="4DB1FF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3" name="Text 0"/>
          <p:cNvSpPr/>
          <p:nvPr>
            <p:ph idx="103" type="title" hasCustomPrompt="1"/>
          </p:nvPr>
        </p:nvSpPr>
        <p:spPr>
          <a:xfrm>
            <a:off x="548640" y="2057400"/>
            <a:ext cx="813816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4" type="body" hasCustomPrompt="1"/>
          </p:nvPr>
        </p:nvSpPr>
        <p:spPr>
          <a:xfrm>
            <a:off x="548640" y="4206240"/>
            <a:ext cx="76809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9D3DE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396A8"/>
                </a:solidFill>
              </a:rPr>
              <a:t>ABAP Moderno  ·  Módulo 04  ·  04.08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orizon Content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b="1" dirty="0">
                <a:solidFill>
                  <a:srgbClr val="0070F2"/>
                </a:solidFill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D2D3E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ABAP Moderno  ·  Módulo 04  ·  04.08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orizon Closing">
    <p:bg>
      <p:bgPr>
        <a:solidFill>
          <a:srgbClr val="1D2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dirty="0">
                <a:solidFill>
                  <a:srgbClr val="4DB1FF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396A8"/>
                </a:solidFill>
              </a:rPr>
              <a:t>ABAP Moderno  ·  Módulo 04  ·  04.08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396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body" hasCustomPrompt="1"/>
          </p:nvPr>
        </p:nvSpPr>
        <p:spPr>
          <a:xfrm>
            <a:off x="548640" y="15544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DB1FF"/>
                </a:solidFill>
              </a:rPr>
              <a:t>Módulo 04  ·  04.08</a:t>
            </a:r>
            <a:endParaRPr lang="en-US" sz="1600" dirty="0"/>
          </a:p>
        </p:txBody>
      </p:sp>
      <p:sp>
        <p:nvSpPr>
          <p:cNvPr id="3" name="Text 0"/>
          <p:cNvSpPr/>
          <p:nvPr>
            <p:ph idx="103" type="title" hasCustomPrompt="1"/>
          </p:nvPr>
        </p:nvSpPr>
        <p:spPr>
          <a:xfrm>
            <a:off x="548640" y="2057400"/>
            <a:ext cx="8138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Tratamento Avançado de Exceções no ABAP OO</a:t>
            </a:r>
            <a:endParaRPr lang="en-US" sz="4000" dirty="0"/>
          </a:p>
        </p:txBody>
      </p:sp>
      <p:sp>
        <p:nvSpPr>
          <p:cNvPr id="4" name="Text 0"/>
          <p:cNvSpPr/>
          <p:nvPr>
            <p:ph idx="104" type="body" hasCustomPrompt="1"/>
          </p:nvPr>
        </p:nvSpPr>
        <p:spPr>
          <a:xfrm>
            <a:off x="548640" y="42062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3DE"/>
                </a:solidFill>
              </a:rPr>
              <a:t>Definindo classes, interfaces T100 e arquitetura de erros robustos: como transformar falhas técnicas em fluxos de controle gerenciáveis e comunicativos.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915400" y="1600200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33302B"/>
          </a:solidFill>
          <a:ln w="9525">
            <a:solidFill>
              <a:srgbClr val="6B5E4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509760" y="1600200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sy-subrc = 4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216712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DB1FF"/>
                </a:solidFill>
              </a:rPr>
              <a:t>▼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915400" y="2350008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509760" y="2350008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CX_STATIC_CHECK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915400" y="3099816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509760" y="3099816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IF_T100_MESSAGE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915400" y="3849624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509760" y="3849624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RAISE EXCEPTION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915400" y="4599432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509760" y="4599432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previous =</a:t>
            </a:r>
            <a:endParaRPr lang="en-US" sz="13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8280" y="1737360"/>
            <a:ext cx="292608" cy="292608"/>
          </a:xfrm>
          <a:prstGeom prst="rect">
            <a:avLst/>
          </a:prstGeom>
        </p:spPr>
      </p:pic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0" y="2487168"/>
            <a:ext cx="292608" cy="292608"/>
          </a:xfrm>
          <a:prstGeom prst="rect">
            <a:avLst/>
          </a:prstGeom>
        </p:spPr>
      </p:pic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0" y="3236976"/>
            <a:ext cx="292608" cy="292608"/>
          </a:xfrm>
          <a:prstGeom prst="rect">
            <a:avLst/>
          </a:prstGeom>
        </p:spPr>
      </p:pic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8280" y="3986784"/>
            <a:ext cx="292608" cy="292608"/>
          </a:xfrm>
          <a:prstGeom prst="rect">
            <a:avLst/>
          </a:prstGeom>
        </p:spPr>
      </p:pic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8280" y="4736592"/>
            <a:ext cx="292608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A Filosofia do Erro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Além do SY-SUBRC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D2D3E"/>
                </a:solidFill>
              </a:rPr>
              <a:t>No ABAP OO, a exceção é um objeto de transporte, não apenas um sinal.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364328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404872"/>
            <a:ext cx="512064" cy="512064"/>
          </a:xfrm>
          <a:prstGeom prst="roundRect">
            <a:avLst>
              <a:gd name="adj" fmla="val 22000"/>
            </a:avLst>
          </a:prstGeom>
          <a:solidFill>
            <a:srgbClr val="FFEAF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481328" y="2404872"/>
            <a:ext cx="415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A0808"/>
                </a:solidFill>
              </a:rPr>
              <a:t>O ‘Dump’ (Falha Técnica)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108960"/>
            <a:ext cx="481568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D2D3E"/>
                </a:solidFill>
              </a:rPr>
              <a:t>O programa aborta imediatamente.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D2D3E"/>
                </a:solidFill>
              </a:rPr>
              <a:t>O usuário vê uma tela técnica (ST22).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D2D3E"/>
                </a:solidFill>
              </a:rPr>
              <a:t>Perda de dados em memória.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D2D3E"/>
                </a:solidFill>
              </a:rPr>
              <a:t>Sintoma:</a:t>
            </a:r>
            <a:r>
              <a:rPr lang="en-US" sz="1600" dirty="0">
                <a:solidFill>
                  <a:srgbClr val="1D2D3E"/>
                </a:solidFill>
              </a:rPr>
              <a:t> código não preparado.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78728" y="2148840"/>
            <a:ext cx="5364328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53048" y="2404872"/>
            <a:ext cx="512064" cy="512064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211416" y="2404872"/>
            <a:ext cx="415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64D9"/>
                </a:solidFill>
              </a:rPr>
              <a:t>O ‘Aviso de Negócio’ (Fluxo Controlado)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6553048" y="3108960"/>
            <a:ext cx="481568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D2D3E"/>
                </a:solidFill>
              </a:rPr>
              <a:t>O programa intercepta a falha.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D2D3E"/>
                </a:solidFill>
              </a:rPr>
              <a:t>O usuário recebe feedback traduzido.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D2D3E"/>
                </a:solidFill>
              </a:rPr>
              <a:t>Possibilidade de recuperação.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D2D3E"/>
                </a:solidFill>
              </a:rPr>
              <a:t>Sintoma:</a:t>
            </a:r>
            <a:r>
              <a:rPr lang="en-US" sz="1600" dirty="0">
                <a:solidFill>
                  <a:srgbClr val="1D2D3E"/>
                </a:solidFill>
              </a:rPr>
              <a:t> arquitetura resiliente.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5532120"/>
            <a:ext cx="11094415" cy="640080"/>
          </a:xfrm>
          <a:prstGeom prst="roundRect">
            <a:avLst>
              <a:gd name="adj" fmla="val 17143"/>
            </a:avLst>
          </a:prstGeom>
          <a:solidFill>
            <a:srgbClr val="EBF8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280160" y="5532120"/>
            <a:ext cx="10088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D2D3E"/>
                </a:solidFill>
              </a:rPr>
              <a:t>A exceção </a:t>
            </a:r>
            <a:r>
              <a:rPr lang="en-US" sz="1600" b="1" dirty="0">
                <a:solidFill>
                  <a:srgbClr val="1D2D3E"/>
                </a:solidFill>
              </a:rPr>
              <a:t>encapsula o estado</a:t>
            </a:r>
            <a:r>
              <a:rPr lang="en-US" sz="1600" dirty="0">
                <a:solidFill>
                  <a:srgbClr val="1D2D3E"/>
                </a:solidFill>
              </a:rPr>
              <a:t> (pilha, variáveis) e o transporta do ponto de falha até o manipulador.</a:t>
            </a:r>
            <a:endParaRPr lang="en-US" sz="16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5855" y="2527767"/>
            <a:ext cx="266273" cy="266273"/>
          </a:xfrm>
          <a:prstGeom prst="rect">
            <a:avLst/>
          </a:prstGeom>
        </p:spPr>
      </p:pic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678424"/>
            <a:ext cx="347472" cy="347472"/>
          </a:xfrm>
          <a:prstGeom prst="rect">
            <a:avLst/>
          </a:prstGeom>
        </p:spPr>
      </p:pic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943" y="2527767"/>
            <a:ext cx="266273" cy="266273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O Grande Divisor · O contrato de tratamento entre emissor e receptor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Static Check vs. No Check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64328" cy="4572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56232"/>
            <a:ext cx="512064" cy="512064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481328" y="1856232"/>
            <a:ext cx="415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64D9"/>
                </a:solidFill>
              </a:rPr>
              <a:t>CX_STATIC_CHECK · Checked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560320"/>
            <a:ext cx="4815688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D2D3E"/>
                </a:solidFill>
              </a:rPr>
              <a:t>O contrato:</a:t>
            </a:r>
            <a:r>
              <a:rPr lang="en-US" sz="1600" dirty="0">
                <a:solidFill>
                  <a:srgbClr val="1D2D3E"/>
                </a:solidFill>
              </a:rPr>
              <a:t> o compilador OBRIGA o tratamento.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D2D3E"/>
                </a:solidFill>
              </a:rPr>
              <a:t>Cenário:</a:t>
            </a:r>
            <a:r>
              <a:rPr lang="en-US" sz="1600" dirty="0">
                <a:solidFill>
                  <a:srgbClr val="1D2D3E"/>
                </a:solidFill>
              </a:rPr>
              <a:t> regras de negócio previsíveis (ex.: saldo insuficiente).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D2D3E"/>
                </a:solidFill>
              </a:rPr>
              <a:t>Mentalidade:</a:t>
            </a:r>
            <a:r>
              <a:rPr lang="en-US" sz="1600" dirty="0">
                <a:solidFill>
                  <a:srgbClr val="1D2D3E"/>
                </a:solidFill>
              </a:rPr>
              <a:t> “O consumidor deve saber que isso pode acontecer e preparar uma contingência.”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78728" y="1600200"/>
            <a:ext cx="5364328" cy="4572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53048" y="1856232"/>
            <a:ext cx="512064" cy="512064"/>
          </a:xfrm>
          <a:prstGeom prst="roundRect">
            <a:avLst>
              <a:gd name="adj" fmla="val 22000"/>
            </a:avLst>
          </a:prstGeom>
          <a:solidFill>
            <a:srgbClr val="FFF8D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211416" y="1856232"/>
            <a:ext cx="415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4F00"/>
                </a:solidFill>
              </a:rPr>
              <a:t>CX_NO_CHECK · Unchecked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553048" y="2560320"/>
            <a:ext cx="4815688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D2D3E"/>
                </a:solidFill>
              </a:rPr>
              <a:t>O desastre:</a:t>
            </a:r>
            <a:r>
              <a:rPr lang="en-US" sz="1600" dirty="0">
                <a:solidFill>
                  <a:srgbClr val="1D2D3E"/>
                </a:solidFill>
              </a:rPr>
              <a:t> o compilador ignora.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D2D3E"/>
                </a:solidFill>
              </a:rPr>
              <a:t>Cenário:</a:t>
            </a:r>
            <a:r>
              <a:rPr lang="en-US" sz="1600" dirty="0">
                <a:solidFill>
                  <a:srgbClr val="1D2D3E"/>
                </a:solidFill>
              </a:rPr>
              <a:t> falhas técnicas graves (ex.: memória cheia, pointer nulo).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D2D3E"/>
                </a:solidFill>
              </a:rPr>
              <a:t>Mentalidade:</a:t>
            </a:r>
            <a:r>
              <a:rPr lang="en-US" sz="1600" dirty="0">
                <a:solidFill>
                  <a:srgbClr val="1D2D3E"/>
                </a:solidFill>
              </a:rPr>
              <a:t> “Recuperação improvável localmente. Deixar subir para um global handler.”</a:t>
            </a:r>
            <a:endParaRPr lang="en-US" sz="16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5855" y="1979127"/>
            <a:ext cx="266273" cy="266273"/>
          </a:xfrm>
          <a:prstGeom prst="rect">
            <a:avLst/>
          </a:prstGeom>
        </p:spPr>
      </p:pic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943" y="1979127"/>
            <a:ext cx="266273" cy="266273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O Meio-Termo e a Matriz de Decisão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CX_DYNAMIC_CHECK  </a:t>
            </a:r>
            <a:r>
              <a:rPr lang="en-US" sz="1600" dirty="0">
                <a:solidFill>
                  <a:srgbClr val="1D2D3E"/>
                </a:solidFill>
              </a:rPr>
              <a:t>Verificação híbrida em runtime. Usado em frameworks genéricos, onde a exceção só é conhecida durante a execução.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4231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D2D3E"/>
                </a:solidFill>
              </a:rPr>
              <a:t>Matriz de Decisão (Cheat Sheet)</a:t>
            </a:r>
            <a:endParaRPr lang="en-US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926080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011680"/>
                <a:gridCol w="3108960"/>
                <a:gridCol w="3227832"/>
              </a:tblGrid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556B82"/>
                          </a:solidFill>
                        </a:rPr>
                        <a:t>Tipo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556B82"/>
                          </a:solidFill>
                        </a:rPr>
                        <a:t>Classificação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556B82"/>
                          </a:solidFill>
                        </a:rPr>
                        <a:t>Obrigatório tratar?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556B82"/>
                          </a:solidFill>
                        </a:rPr>
                        <a:t>Exemplo típico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CX_STATIC_CHECK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D2D3E"/>
                          </a:solidFill>
                        </a:rPr>
                        <a:t>Checked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0064D9"/>
                          </a:solidFill>
                        </a:rPr>
                        <a:t>SIM</a:t>
                      </a:r>
                      <a:r>
                        <a:rPr lang="en-US" sz="1500" dirty="0">
                          <a:solidFill>
                            <a:srgbClr val="0064D9"/>
                          </a:solidFill>
                        </a:rPr>
                        <a:t> (compilador cobra)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D2D3E"/>
                          </a:solidFill>
                        </a:rPr>
                        <a:t>Regra de negócio (saldo baixo)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CX_NO_CHECK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D2D3E"/>
                          </a:solidFill>
                        </a:rPr>
                        <a:t>Unchecked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D2D3E"/>
                          </a:solidFill>
                        </a:rPr>
                        <a:t>NÃO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D2D3E"/>
                          </a:solidFill>
                        </a:rPr>
                        <a:t>Erro técnico (dump/memória)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CX_DYNAMIC_CHECK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D2D3E"/>
                          </a:solidFill>
                        </a:rPr>
                        <a:t>Híbrida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D2D3E"/>
                          </a:solidFill>
                        </a:rPr>
                        <a:t>NÃO (check em runtime)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D2D3E"/>
                          </a:solidFill>
                        </a:rPr>
                        <a:t>Frameworks dinâmicos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486400"/>
            <a:ext cx="11094415" cy="685800"/>
          </a:xfrm>
          <a:prstGeom prst="roundRect">
            <a:avLst>
              <a:gd name="adj" fmla="val 16000"/>
            </a:avLst>
          </a:prstGeom>
          <a:solidFill>
            <a:srgbClr val="FFF8D6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280160" y="5486400"/>
            <a:ext cx="100885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D3E"/>
                </a:solidFill>
              </a:rPr>
              <a:t>Regra de ouro:</a:t>
            </a:r>
            <a:r>
              <a:rPr lang="en-US" sz="1600" dirty="0">
                <a:solidFill>
                  <a:srgbClr val="1D2D3E"/>
                </a:solidFill>
              </a:rPr>
              <a:t> se o consumidor do método </a:t>
            </a:r>
            <a:r>
              <a:rPr lang="en-US" sz="1600" b="1" dirty="0">
                <a:solidFill>
                  <a:srgbClr val="1D2D3E"/>
                </a:solidFill>
              </a:rPr>
              <a:t>pode</a:t>
            </a:r>
            <a:r>
              <a:rPr lang="en-US" sz="1600" dirty="0">
                <a:solidFill>
                  <a:srgbClr val="1D2D3E"/>
                </a:solidFill>
              </a:rPr>
              <a:t> e </a:t>
            </a:r>
            <a:r>
              <a:rPr lang="en-US" sz="1600" b="1" dirty="0">
                <a:solidFill>
                  <a:srgbClr val="1D2D3E"/>
                </a:solidFill>
              </a:rPr>
              <a:t>deve</a:t>
            </a:r>
            <a:r>
              <a:rPr lang="en-US" sz="1600" dirty="0">
                <a:solidFill>
                  <a:srgbClr val="1D2D3E"/>
                </a:solidFill>
              </a:rPr>
              <a:t> fazer algo a respeito do erro, use Static Check.</a:t>
            </a:r>
            <a:endParaRPr lang="en-US" sz="16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655564"/>
            <a:ext cx="347472" cy="347472"/>
          </a:xfrm>
          <a:prstGeom prst="rect">
            <a:avLst/>
          </a:prstGeom>
        </p:spPr>
      </p:pic>
      <p:sp>
        <p:nvSpPr>
          <p:cNvPr id="9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Falando a Língua do Usuário (Interface T100)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0020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A0808"/>
                </a:solidFill>
              </a:rPr>
              <a:t>O problema: </a:t>
            </a:r>
            <a:r>
              <a:rPr lang="en-US" sz="1600" dirty="0">
                <a:solidFill>
                  <a:srgbClr val="1D2D3E"/>
                </a:solidFill>
              </a:rPr>
              <a:t>exceções genéricas ou textos ‘hardcoded’ no código.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AA0808"/>
                </a:solidFill>
              </a:rPr>
              <a:t>Resultado: </a:t>
            </a:r>
            <a:r>
              <a:rPr lang="en-US" sz="1600" dirty="0">
                <a:solidFill>
                  <a:srgbClr val="1D2D3E"/>
                </a:solidFill>
              </a:rPr>
              <a:t>impossível traduzir, difícil de rastrear.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217920" y="1600200"/>
            <a:ext cx="542513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IF_T100_MESSAGE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D2D3E"/>
                </a:solidFill>
              </a:rPr>
              <a:t>A ponte entre o código ABAP e a transação SE91.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3566160"/>
            <a:ext cx="2286000" cy="109728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9525">
            <a:solidFill>
              <a:srgbClr val="0070F2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3639312"/>
            <a:ext cx="21031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64D9"/>
                </a:solidFill>
              </a:rPr>
              <a:t>Classe de Exceção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907792" y="3977640"/>
            <a:ext cx="265176" cy="274320"/>
          </a:xfrm>
          <a:prstGeom prst="rightArrow">
            <a:avLst/>
          </a:prstGeom>
          <a:solidFill>
            <a:srgbClr val="556B82"/>
          </a:solidFill>
          <a:ln/>
        </p:spPr>
      </p:sp>
      <p:sp>
        <p:nvSpPr>
          <p:cNvPr id="8" name="Shape 6"/>
          <p:cNvSpPr/>
          <p:nvPr/>
        </p:nvSpPr>
        <p:spPr>
          <a:xfrm>
            <a:off x="3246120" y="3566160"/>
            <a:ext cx="2286000" cy="109728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9525">
            <a:solidFill>
              <a:srgbClr val="0070F2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337560" y="3639312"/>
            <a:ext cx="21031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64D9"/>
                </a:solidFill>
              </a:rPr>
              <a:t>IF_T100_MESSAGE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implementa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605272" y="3977640"/>
            <a:ext cx="265176" cy="274320"/>
          </a:xfrm>
          <a:prstGeom prst="rightArrow">
            <a:avLst/>
          </a:prstGeom>
          <a:solidFill>
            <a:srgbClr val="556B82"/>
          </a:solidFill>
          <a:ln/>
        </p:spPr>
      </p:sp>
      <p:sp>
        <p:nvSpPr>
          <p:cNvPr id="11" name="Shape 9"/>
          <p:cNvSpPr/>
          <p:nvPr/>
        </p:nvSpPr>
        <p:spPr>
          <a:xfrm>
            <a:off x="5943600" y="3566160"/>
            <a:ext cx="2286000" cy="109728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9525">
            <a:solidFill>
              <a:srgbClr val="0070F2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035040" y="3639312"/>
            <a:ext cx="21031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64D9"/>
                </a:solidFill>
              </a:rPr>
              <a:t>Tabela T100 / SE91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vincula a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686800" y="3154680"/>
            <a:ext cx="2956255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9525">
            <a:solidFill>
              <a:srgbClr val="0070F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235440" y="3154680"/>
            <a:ext cx="23161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2D3E"/>
                </a:solidFill>
              </a:rPr>
              <a:t>Tradução automática (SE63)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686800" y="3840480"/>
            <a:ext cx="2956255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9525">
            <a:solidFill>
              <a:srgbClr val="0070F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235440" y="3840480"/>
            <a:ext cx="23161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2D3E"/>
                </a:solidFill>
              </a:rPr>
              <a:t>Placeholders dinâmicos (&amp;1, &amp;2)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686800" y="4526280"/>
            <a:ext cx="2956255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9525">
            <a:solidFill>
              <a:srgbClr val="0070F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235440" y="4526280"/>
            <a:ext cx="23161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2D3E"/>
                </a:solidFill>
              </a:rPr>
              <a:t>Rastreabilidade (where-used)</a:t>
            </a:r>
            <a:endParaRPr lang="en-US" sz="12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3960" y="3282696"/>
            <a:ext cx="310896" cy="310896"/>
          </a:xfrm>
          <a:prstGeom prst="rect">
            <a:avLst/>
          </a:prstGeom>
        </p:spPr>
      </p:pic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3960" y="3968496"/>
            <a:ext cx="310896" cy="310896"/>
          </a:xfrm>
          <a:prstGeom prst="rect">
            <a:avLst/>
          </a:prstGeom>
        </p:spPr>
      </p:pic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3960" y="4654296"/>
            <a:ext cx="310896" cy="310896"/>
          </a:xfrm>
          <a:prstGeom prst="rect">
            <a:avLst/>
          </a:prstGeom>
        </p:spPr>
      </p:pic>
      <p:sp>
        <p:nvSpPr>
          <p:cNvPr id="2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Anatomia de uma Classe de Exceção Rica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383280" y="1600200"/>
            <a:ext cx="28346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D2D3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383280" y="16002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CX_STATIC_CHECK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800600" y="2148840"/>
            <a:ext cx="0" cy="457200"/>
          </a:xfrm>
          <a:prstGeom prst="line">
            <a:avLst/>
          </a:prstGeom>
          <a:noFill/>
          <a:ln w="19050">
            <a:solidFill>
              <a:srgbClr val="1D2D3E"/>
            </a:solidFill>
            <a:prstDash val="solid"/>
            <a:headEnd type="triangle"/>
          </a:ln>
        </p:spPr>
      </p:sp>
      <p:sp>
        <p:nvSpPr>
          <p:cNvPr id="6" name="Shape 4"/>
          <p:cNvSpPr/>
          <p:nvPr/>
        </p:nvSpPr>
        <p:spPr>
          <a:xfrm>
            <a:off x="1828800" y="2606040"/>
            <a:ext cx="5943600" cy="566928"/>
          </a:xfrm>
          <a:prstGeom prst="rect">
            <a:avLst/>
          </a:prstGeom>
          <a:solidFill>
            <a:srgbClr val="EEF1F4"/>
          </a:solidFill>
          <a:ln w="15875">
            <a:solidFill>
              <a:srgbClr val="1D2D3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011680" y="2606040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ZCX_NO_FUNDS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828800" y="3172968"/>
            <a:ext cx="594360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1D2D3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011680" y="3172968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INTERFACES: if_t100_message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828800" y="3739896"/>
            <a:ext cx="594360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1D2D3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011680" y="3739896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DATA: mv_amount TYPE p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828800" y="4306824"/>
            <a:ext cx="594360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1D2D3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011680" y="4306824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CONSTANTS: funds_error (msgid, msgno, attr1 = 'MV_AMOUNT')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818120" y="2432304"/>
            <a:ext cx="502920" cy="0"/>
          </a:xfrm>
          <a:prstGeom prst="line">
            <a:avLst/>
          </a:prstGeom>
          <a:noFill/>
          <a:ln w="15875">
            <a:solidFill>
              <a:srgbClr val="0070F2"/>
            </a:solidFill>
            <a:prstDash val="solid"/>
            <a:headEnd type="triangle"/>
          </a:ln>
        </p:spPr>
      </p:sp>
      <p:sp>
        <p:nvSpPr>
          <p:cNvPr id="15" name="Text 13"/>
          <p:cNvSpPr txBox="1"/>
          <p:nvPr/>
        </p:nvSpPr>
        <p:spPr>
          <a:xfrm>
            <a:off x="8412480" y="214884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2D3E"/>
                </a:solidFill>
              </a:rPr>
              <a:t>Herança (define comportamento)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818120" y="3456432"/>
            <a:ext cx="502920" cy="0"/>
          </a:xfrm>
          <a:prstGeom prst="line">
            <a:avLst/>
          </a:prstGeom>
          <a:noFill/>
          <a:ln w="15875">
            <a:solidFill>
              <a:srgbClr val="0070F2"/>
            </a:solidFill>
            <a:prstDash val="solid"/>
            <a:headEnd type="triangle"/>
          </a:ln>
        </p:spPr>
      </p:sp>
      <p:sp>
        <p:nvSpPr>
          <p:cNvPr id="17" name="Text 15"/>
          <p:cNvSpPr txBox="1"/>
          <p:nvPr/>
        </p:nvSpPr>
        <p:spPr>
          <a:xfrm>
            <a:off x="8412480" y="3172968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2D3E"/>
                </a:solidFill>
              </a:rPr>
              <a:t>Habilita mensagens SE91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818120" y="4023360"/>
            <a:ext cx="502920" cy="0"/>
          </a:xfrm>
          <a:prstGeom prst="line">
            <a:avLst/>
          </a:prstGeom>
          <a:noFill/>
          <a:ln w="15875">
            <a:solidFill>
              <a:srgbClr val="0070F2"/>
            </a:solidFill>
            <a:prstDash val="solid"/>
            <a:headEnd type="triangle"/>
          </a:ln>
        </p:spPr>
      </p:sp>
      <p:sp>
        <p:nvSpPr>
          <p:cNvPr id="19" name="Text 17"/>
          <p:cNvSpPr txBox="1"/>
          <p:nvPr/>
        </p:nvSpPr>
        <p:spPr>
          <a:xfrm>
            <a:off x="8412480" y="3739896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2D3E"/>
                </a:solidFill>
              </a:rPr>
              <a:t>Atributo de negócio (contexto)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818120" y="4590288"/>
            <a:ext cx="502920" cy="0"/>
          </a:xfrm>
          <a:prstGeom prst="line">
            <a:avLst/>
          </a:prstGeom>
          <a:noFill/>
          <a:ln w="15875">
            <a:solidFill>
              <a:srgbClr val="0070F2"/>
            </a:solidFill>
            <a:prstDash val="solid"/>
            <a:headEnd type="triangle"/>
          </a:ln>
        </p:spPr>
      </p:sp>
      <p:sp>
        <p:nvSpPr>
          <p:cNvPr id="21" name="Text 19"/>
          <p:cNvSpPr txBox="1"/>
          <p:nvPr/>
        </p:nvSpPr>
        <p:spPr>
          <a:xfrm>
            <a:off x="8412480" y="4306824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2D3E"/>
                </a:solidFill>
              </a:rPr>
              <a:t>Mapa da mensagem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828800" y="5257800"/>
            <a:ext cx="9814255" cy="822960"/>
          </a:xfrm>
          <a:prstGeom prst="roundRect">
            <a:avLst>
              <a:gd name="adj" fmla="val 13333"/>
            </a:avLst>
          </a:prstGeom>
          <a:solidFill>
            <a:srgbClr val="EBF8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2560320" y="5257800"/>
            <a:ext cx="8808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Mensagem:</a:t>
            </a:r>
            <a:r>
              <a:rPr lang="en-US" sz="1500" dirty="0">
                <a:solidFill>
                  <a:srgbClr val="1D2D3E"/>
                </a:solidFill>
              </a:rPr>
              <a:t> Saldo insuficiente. </a:t>
            </a:r>
            <a:r>
              <a:rPr lang="en-US" sz="1500" b="1" dirty="0">
                <a:solidFill>
                  <a:srgbClr val="1D2D3E"/>
                </a:solidFill>
              </a:rPr>
              <a:t>Valor:</a:t>
            </a:r>
            <a:r>
              <a:rPr lang="en-US" sz="1500" dirty="0">
                <a:solidFill>
                  <a:srgbClr val="1D2D3E"/>
                </a:solidFill>
              </a:rPr>
              <a:t> &amp;1 — o valor do atributo </a:t>
            </a:r>
            <a:r>
              <a:rPr lang="en-US" sz="15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MV_AMOUNT</a:t>
            </a:r>
            <a:r>
              <a:rPr lang="en-US" sz="1500" dirty="0">
                <a:solidFill>
                  <a:srgbClr val="1D2D3E"/>
                </a:solidFill>
              </a:rPr>
              <a:t> substitui o &amp;1 na mensagem.</a:t>
            </a:r>
            <a:endParaRPr lang="en-US" sz="160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7400" y="5495544"/>
            <a:ext cx="347472" cy="347472"/>
          </a:xfrm>
          <a:prstGeom prst="rect">
            <a:avLst/>
          </a:prstGeom>
        </p:spPr>
      </p:pic>
      <p:sp>
        <p:nvSpPr>
          <p:cNvPr id="25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Blueprint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Definindo a Classe (Código)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7863840" cy="4572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764792"/>
            <a:ext cx="740664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zcx_no_funds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DEFINITION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INHERITING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cx_static_check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INTERFACES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if_t100_message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mv_amount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DECIMALS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CONSTANTS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funds_error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msgid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symsgid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'ZFINANCE_MSG'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msgno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symsgno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'001'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attr1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scx_attrname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'MV_AMOUNT'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20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&lt;- 1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</a:t>
            </a:r>
            <a:r>
              <a:rPr lang="en-US" sz="12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funds_error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METHODS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constructor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2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IMPORTING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textid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LIKE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if_t100_message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t100key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OPTIONAL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previous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LIKE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previous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OPTIONAL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</a:t>
            </a:r>
            <a:r>
              <a:rPr lang="en-US" sz="120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&lt;- 2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amount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2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OPTIONAL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ENDCLASS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686800" y="2331720"/>
            <a:ext cx="2956255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851392" y="2852928"/>
            <a:ext cx="329184" cy="32918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851392" y="28529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326880" y="2331720"/>
            <a:ext cx="21790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Mapeamento:</a:t>
            </a:r>
            <a:r>
              <a:rPr lang="en-US" sz="1400" dirty="0">
                <a:solidFill>
                  <a:srgbClr val="1D2D3E"/>
                </a:solidFill>
              </a:rPr>
              <a:t> liga o placeholder &amp;1 ao atributo </a:t>
            </a:r>
            <a:r>
              <a:rPr lang="en-US" sz="14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MV_AMOUNT</a:t>
            </a:r>
            <a:r>
              <a:rPr lang="en-US" sz="1400" dirty="0">
                <a:solidFill>
                  <a:srgbClr val="1D2D3E"/>
                </a:solidFill>
              </a:rPr>
              <a:t>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686800" y="3977640"/>
            <a:ext cx="2956255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851392" y="4498848"/>
            <a:ext cx="329184" cy="32918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851392" y="44988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9326880" y="3977640"/>
            <a:ext cx="21790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2D3E"/>
                </a:solidFill>
              </a:rPr>
              <a:t>O construtor recebe </a:t>
            </a:r>
            <a:r>
              <a:rPr lang="en-US" sz="1400" b="1" dirty="0">
                <a:solidFill>
                  <a:srgbClr val="1D2D3E"/>
                </a:solidFill>
              </a:rPr>
              <a:t>TEXTID</a:t>
            </a:r>
            <a:r>
              <a:rPr lang="en-US" sz="1400" dirty="0">
                <a:solidFill>
                  <a:srgbClr val="1D2D3E"/>
                </a:solidFill>
              </a:rPr>
              <a:t> (qual mensagem) e </a:t>
            </a:r>
            <a:r>
              <a:rPr lang="en-US" sz="1400" b="1" dirty="0">
                <a:solidFill>
                  <a:srgbClr val="1D2D3E"/>
                </a:solidFill>
              </a:rPr>
              <a:t>PREVIOUS</a:t>
            </a:r>
            <a:r>
              <a:rPr lang="en-US" sz="1400" dirty="0">
                <a:solidFill>
                  <a:srgbClr val="1D2D3E"/>
                </a:solidFill>
              </a:rPr>
              <a:t> (cadeia de erros).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A Implementação do Construtor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7589520" cy="4572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77240" y="1764792"/>
            <a:ext cx="713232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constructor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super-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constructor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r>
              <a:rPr lang="en-US" sz="130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&lt;- 1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EXPORTING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previous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previous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me-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mv_amount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amount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</a:t>
            </a:r>
            <a:r>
              <a:rPr lang="en-US" sz="130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&lt;- 2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CLEAR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me-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textid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textid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INITIAL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if_t100_message~t100key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if_t100_message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default_textid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if_t100_message~t100key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textid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r>
              <a:rPr lang="en-US" sz="130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&lt;- 3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ENDIF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ENDMETHOD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412480" y="2057400"/>
            <a:ext cx="3230575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77072" y="2372868"/>
            <a:ext cx="329184" cy="32918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577072" y="23728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052560" y="2057400"/>
            <a:ext cx="24533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Vital:</a:t>
            </a:r>
            <a:r>
              <a:rPr lang="en-US" sz="1400" dirty="0">
                <a:solidFill>
                  <a:srgbClr val="1D2D3E"/>
                </a:solidFill>
              </a:rPr>
              <a:t> gerencia a pilha de erros e o parâmetro </a:t>
            </a:r>
            <a:r>
              <a:rPr lang="en-US" sz="14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PREVIOUS</a:t>
            </a:r>
            <a:r>
              <a:rPr lang="en-US" sz="1400" dirty="0">
                <a:solidFill>
                  <a:srgbClr val="1D2D3E"/>
                </a:solidFill>
              </a:rPr>
              <a:t>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412480" y="3291840"/>
            <a:ext cx="3230575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77072" y="3607308"/>
            <a:ext cx="329184" cy="32918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577072" y="36073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9052560" y="3291840"/>
            <a:ext cx="24533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Persistência:</a:t>
            </a:r>
            <a:r>
              <a:rPr lang="en-US" sz="1400" dirty="0">
                <a:solidFill>
                  <a:srgbClr val="1D2D3E"/>
                </a:solidFill>
              </a:rPr>
              <a:t> salva o contexto para uso futuro.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412480" y="4526280"/>
            <a:ext cx="3230575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77072" y="4841748"/>
            <a:ext cx="329184" cy="32918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577072" y="48417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9052560" y="4526280"/>
            <a:ext cx="24533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Seleção:</a:t>
            </a:r>
            <a:r>
              <a:rPr lang="en-US" sz="1400" dirty="0">
                <a:solidFill>
                  <a:srgbClr val="1D2D3E"/>
                </a:solidFill>
              </a:rPr>
              <a:t> define qual mensagem da SE91 será exibida.</a:t>
            </a:r>
            <a:endParaRPr lang="en-US" sz="1600" dirty="0"/>
          </a:p>
        </p:txBody>
      </p:sp>
      <p:sp>
        <p:nvSpPr>
          <p:cNvPr id="17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O Disparo · Interrompendo o fluxo e transferindo o controle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RAISE EXCEPTION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7315200" cy="3291840"/>
          </a:xfrm>
          <a:prstGeom prst="roundRect">
            <a:avLst>
              <a:gd name="adj" fmla="val 3889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947672"/>
            <a:ext cx="68580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debit_account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5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iv_amount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mv_balance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500" b="1" dirty="0">
                <a:solidFill>
                  <a:srgbClr val="0064D9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RAISE</a:t>
            </a:r>
            <a:r>
              <a:rPr lang="en-US" sz="15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b="1" dirty="0">
                <a:solidFill>
                  <a:srgbClr val="0064D9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EXCEPTION</a:t>
            </a:r>
            <a:r>
              <a:rPr lang="en-US" sz="15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b="1" dirty="0">
                <a:solidFill>
                  <a:srgbClr val="0064D9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5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zcx_no_funds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500" b="1" dirty="0">
                <a:solidFill>
                  <a:srgbClr val="0064D9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EXPORTING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5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textid</a:t>
            </a:r>
            <a:r>
              <a:rPr lang="en-US" sz="15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5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zcx_no_funds</a:t>
            </a:r>
            <a:r>
              <a:rPr lang="en-US" sz="15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5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5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funds_error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5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amount</a:t>
            </a:r>
            <a:r>
              <a:rPr lang="en-US" sz="15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5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iv_amount</a:t>
            </a:r>
            <a:r>
              <a:rPr lang="en-US" sz="15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5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ENDIF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mv_balance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mv_balance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iv_amount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ENDMETHOD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00400" y="5166360"/>
            <a:ext cx="502920" cy="640080"/>
          </a:xfrm>
          <a:prstGeom prst="downArrow">
            <a:avLst/>
          </a:prstGeom>
          <a:solidFill>
            <a:srgbClr val="E7650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840480" y="5257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44F00"/>
                </a:solidFill>
              </a:rPr>
              <a:t>Saída imediata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0" y="2697480"/>
            <a:ext cx="3413455" cy="1371600"/>
          </a:xfrm>
          <a:prstGeom prst="roundRect">
            <a:avLst>
              <a:gd name="adj" fmla="val 8000"/>
            </a:avLst>
          </a:prstGeom>
          <a:solidFill>
            <a:srgbClr val="FFF8D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961120" y="2697480"/>
            <a:ext cx="24076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2D3E"/>
                </a:solidFill>
              </a:rPr>
              <a:t>Instancia a classe, preenche </a:t>
            </a:r>
            <a:r>
              <a:rPr lang="en-US" sz="15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amount</a:t>
            </a:r>
            <a:r>
              <a:rPr lang="en-US" sz="1500" dirty="0">
                <a:solidFill>
                  <a:srgbClr val="1D2D3E"/>
                </a:solidFill>
              </a:rPr>
              <a:t> com o valor do erro e </a:t>
            </a:r>
            <a:r>
              <a:rPr lang="en-US" sz="1500" b="1" dirty="0">
                <a:solidFill>
                  <a:srgbClr val="1D2D3E"/>
                </a:solidFill>
              </a:rPr>
              <a:t>aborta o método atual</a:t>
            </a:r>
            <a:r>
              <a:rPr lang="en-US" sz="1500" dirty="0">
                <a:solidFill>
                  <a:srgbClr val="1D2D3E"/>
                </a:solidFill>
              </a:rPr>
              <a:t>.</a:t>
            </a:r>
            <a:endParaRPr lang="en-US" sz="16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0" y="3209544"/>
            <a:ext cx="347472" cy="3474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A Defesa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O Bloco TRY...CATCH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7863840" cy="347472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947672"/>
            <a:ext cx="74066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lo_account-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debit_account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zcx_no_funds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INTO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lx_error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r>
              <a:rPr lang="en-US" sz="130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&lt;- 1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lv_msg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lx_error-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get_text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out-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|Erro: { lv_msg } - Valor: { lx_error-&gt;mv_amount }|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cx_root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INTO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lx_generic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</a:t>
            </a:r>
            <a:r>
              <a:rPr lang="en-US" sz="130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&lt;- 2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out-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'Erro técnico grave e desconhecido.'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ENDTRY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686800" y="1965960"/>
            <a:ext cx="295625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851392" y="2510028"/>
            <a:ext cx="329184" cy="32918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851392" y="25100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326880" y="1965960"/>
            <a:ext cx="2179015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Tratamento específico:</a:t>
            </a:r>
            <a:r>
              <a:rPr lang="en-US" sz="1400" dirty="0">
                <a:solidFill>
                  <a:srgbClr val="1D2D3E"/>
                </a:solidFill>
              </a:rPr>
              <a:t> acesso aos dados de negócio (</a:t>
            </a:r>
            <a:r>
              <a:rPr lang="en-US" sz="14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mv_amount</a:t>
            </a:r>
            <a:r>
              <a:rPr lang="en-US" sz="1400" dirty="0">
                <a:solidFill>
                  <a:srgbClr val="1D2D3E"/>
                </a:solidFill>
              </a:rPr>
              <a:t>) para recuperação inteligente.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686800" y="3657600"/>
            <a:ext cx="295625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851392" y="4201668"/>
            <a:ext cx="329184" cy="32918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851392" y="42016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9326880" y="3657600"/>
            <a:ext cx="2179015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Polimorfismo:</a:t>
            </a:r>
            <a:r>
              <a:rPr lang="en-US" sz="1400" dirty="0">
                <a:solidFill>
                  <a:srgbClr val="1D2D3E"/>
                </a:solidFill>
              </a:rPr>
              <a:t> rede de segurança (catch-all) para erros técnicos não previstos.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Housekeeping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O Bloco CLEANUP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889699" cy="109728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9525">
            <a:solidFill>
              <a:srgbClr val="0070F2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764792"/>
            <a:ext cx="1706819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64D9"/>
                </a:solidFill>
              </a:rPr>
              <a:t>TRY block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511491" y="2103120"/>
            <a:ext cx="265176" cy="274320"/>
          </a:xfrm>
          <a:prstGeom prst="rightArrow">
            <a:avLst/>
          </a:prstGeom>
          <a:solidFill>
            <a:srgbClr val="556B82"/>
          </a:solidFill>
          <a:ln/>
        </p:spPr>
      </p:sp>
      <p:sp>
        <p:nvSpPr>
          <p:cNvPr id="7" name="Shape 5"/>
          <p:cNvSpPr/>
          <p:nvPr/>
        </p:nvSpPr>
        <p:spPr>
          <a:xfrm>
            <a:off x="2849819" y="1691640"/>
            <a:ext cx="1889699" cy="109728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9525">
            <a:solidFill>
              <a:srgbClr val="D20A0A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941259" y="1764792"/>
            <a:ext cx="1706819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A0808"/>
                </a:solidFill>
              </a:rPr>
              <a:t>Erro ocorre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812670" y="2103120"/>
            <a:ext cx="265176" cy="274320"/>
          </a:xfrm>
          <a:prstGeom prst="rightArrow">
            <a:avLst/>
          </a:prstGeom>
          <a:solidFill>
            <a:srgbClr val="556B82"/>
          </a:solidFill>
          <a:ln/>
        </p:spPr>
      </p:sp>
      <p:sp>
        <p:nvSpPr>
          <p:cNvPr id="10" name="Shape 8"/>
          <p:cNvSpPr/>
          <p:nvPr/>
        </p:nvSpPr>
        <p:spPr>
          <a:xfrm>
            <a:off x="5150998" y="1691640"/>
            <a:ext cx="1889699" cy="109728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9525">
            <a:solidFill>
              <a:srgbClr val="556B82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5242438" y="1764792"/>
            <a:ext cx="1706819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56B82"/>
                </a:solidFill>
              </a:rPr>
              <a:t>CATCH local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(não captura)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113849" y="2103120"/>
            <a:ext cx="265176" cy="274320"/>
          </a:xfrm>
          <a:prstGeom prst="rightArrow">
            <a:avLst/>
          </a:prstGeom>
          <a:solidFill>
            <a:srgbClr val="556B82"/>
          </a:solidFill>
          <a:ln/>
        </p:spPr>
      </p:sp>
      <p:sp>
        <p:nvSpPr>
          <p:cNvPr id="13" name="Shape 11"/>
          <p:cNvSpPr/>
          <p:nvPr/>
        </p:nvSpPr>
        <p:spPr>
          <a:xfrm>
            <a:off x="7452177" y="1691640"/>
            <a:ext cx="1889699" cy="109728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9525">
            <a:solidFill>
              <a:srgbClr val="E76500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543617" y="1764792"/>
            <a:ext cx="1706819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44F00"/>
                </a:solidFill>
              </a:rPr>
              <a:t>CLEANUP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415028" y="2103120"/>
            <a:ext cx="265176" cy="274320"/>
          </a:xfrm>
          <a:prstGeom prst="rightArrow">
            <a:avLst/>
          </a:prstGeom>
          <a:solidFill>
            <a:srgbClr val="556B82"/>
          </a:solidFill>
          <a:ln/>
        </p:spPr>
      </p:sp>
      <p:sp>
        <p:nvSpPr>
          <p:cNvPr id="16" name="Shape 14"/>
          <p:cNvSpPr/>
          <p:nvPr/>
        </p:nvSpPr>
        <p:spPr>
          <a:xfrm>
            <a:off x="9753356" y="1691640"/>
            <a:ext cx="1889699" cy="109728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9525">
            <a:solidFill>
              <a:srgbClr val="0070F2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844796" y="1764792"/>
            <a:ext cx="1706819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64D9"/>
                </a:solidFill>
              </a:rPr>
              <a:t>Upper caller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3108960"/>
            <a:ext cx="11094415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777240" y="3273552"/>
            <a:ext cx="106372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CLEANUP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out-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'Limpando recursos críticos antes de abortar...'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50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Ex.: fechar arquivos, liberar bloqueios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75488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700" b="1" dirty="0">
                <a:solidFill>
                  <a:srgbClr val="1D2D3E"/>
                </a:solidFill>
              </a:rPr>
              <a:t>Conceito:</a:t>
            </a:r>
            <a:r>
              <a:rPr lang="en-US" sz="1700" dirty="0">
                <a:solidFill>
                  <a:srgbClr val="1D2D3E"/>
                </a:solidFill>
              </a:rPr>
              <a:t> executado quando o erro ocorre mas </a:t>
            </a:r>
            <a:r>
              <a:rPr lang="en-US" sz="1700" b="1" dirty="0">
                <a:solidFill>
                  <a:srgbClr val="1D2D3E"/>
                </a:solidFill>
              </a:rPr>
              <a:t>NÃO</a:t>
            </a:r>
            <a:r>
              <a:rPr lang="en-US" sz="1700" dirty="0">
                <a:solidFill>
                  <a:srgbClr val="1D2D3E"/>
                </a:solidFill>
              </a:rPr>
              <a:t> é capturado localmente.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700" b="1" dirty="0">
                <a:solidFill>
                  <a:srgbClr val="1D2D3E"/>
                </a:solidFill>
              </a:rPr>
              <a:t>Uso:</a:t>
            </a:r>
            <a:r>
              <a:rPr lang="en-US" sz="1700" dirty="0">
                <a:solidFill>
                  <a:srgbClr val="1D2D3E"/>
                </a:solidFill>
              </a:rPr>
              <a:t> fechar conexões ou limpar memória antes de perder o controle do escopo.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Modernização · Sintaxe ABAP 7.50+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Interface IF_T100_DYN_MSG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D2D3E"/>
                </a:solidFill>
              </a:rPr>
              <a:t>Dispare exceções com a simplicidade do comando MESSAGE, gerando objetos automaticamente.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6766560" cy="265176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2450592"/>
            <a:ext cx="6309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RAISE</a:t>
            </a:r>
            <a:r>
              <a:rPr lang="en-US" sz="17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7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EXCEPTION</a:t>
            </a:r>
            <a:r>
              <a:rPr lang="en-US" sz="17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7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7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7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zcx_generic_error</a:t>
            </a:r>
            <a:endParaRPr lang="en-US" sz="1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7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</a:t>
            </a:r>
            <a:r>
              <a:rPr lang="en-US" sz="17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7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r>
              <a:rPr lang="en-US" sz="17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7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'ZMSG'</a:t>
            </a:r>
            <a:endParaRPr lang="en-US" sz="1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7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7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7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'E'</a:t>
            </a:r>
            <a:endParaRPr lang="en-US" sz="1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7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</a:t>
            </a:r>
            <a:r>
              <a:rPr lang="en-US" sz="17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7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'001'</a:t>
            </a:r>
            <a:endParaRPr lang="en-US" sz="1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7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r>
              <a:rPr lang="en-US" sz="17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7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'Parametro1'</a:t>
            </a:r>
            <a:r>
              <a:rPr lang="en-US" sz="17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7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'Parametro2'</a:t>
            </a:r>
            <a:r>
              <a:rPr lang="en-US" sz="17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458200" y="2423160"/>
            <a:ext cx="31848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D2D3E"/>
                </a:solidFill>
              </a:rPr>
              <a:t>Menos código boilerplate.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458200" y="3246120"/>
            <a:ext cx="31848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D2D3E"/>
                </a:solidFill>
              </a:rPr>
              <a:t>Preenchimento automático da T100.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8458200" y="4069080"/>
            <a:ext cx="31848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D2D3E"/>
                </a:solidFill>
              </a:rPr>
              <a:t>Substituição dinâmica de variáveis.</a:t>
            </a:r>
            <a:endParaRPr lang="en-US" sz="17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468880"/>
            <a:ext cx="502920" cy="502920"/>
          </a:xfrm>
          <a:prstGeom prst="rect">
            <a:avLst/>
          </a:prstGeom>
        </p:spPr>
      </p:pic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3291840"/>
            <a:ext cx="502920" cy="502920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4114800"/>
            <a:ext cx="502920" cy="5029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Técnicas Avançadas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Encadeamento (PREVIOUS)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D2D3E"/>
                </a:solidFill>
              </a:rPr>
              <a:t>Um erro técnico (SQL) ocorre, mas precisamos relatar um erro de negócio.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31520" y="2423160"/>
            <a:ext cx="1828800" cy="1828800"/>
          </a:xfrm>
          <a:prstGeom prst="ellipse">
            <a:avLst/>
          </a:prstGeom>
          <a:solidFill>
            <a:srgbClr val="E7650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242316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CX_SQL_ERROR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(DB fail)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606040" y="3337560"/>
            <a:ext cx="502920" cy="0"/>
          </a:xfrm>
          <a:prstGeom prst="line">
            <a:avLst/>
          </a:prstGeom>
          <a:noFill/>
          <a:ln w="19050">
            <a:solidFill>
              <a:srgbClr val="1D2D3E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154680" y="2240280"/>
            <a:ext cx="2194560" cy="2194560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200400" y="2240280"/>
            <a:ext cx="2103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ZCX_ORDER_ERROR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(pedido falhou)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PREVIOUS = SQL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760720" y="2331720"/>
            <a:ext cx="5882335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5989320" y="2496312"/>
            <a:ext cx="542513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cx_sql_error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INTO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lx_sql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5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RAISE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EXCEPTION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zcx_order_error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5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EXPORTING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50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O rastro de migalhas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5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previous</a:t>
            </a:r>
            <a:r>
              <a:rPr lang="en-US" sz="15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5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lx_sql</a:t>
            </a:r>
            <a:r>
              <a:rPr lang="en-US" sz="15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800600"/>
            <a:ext cx="11094415" cy="822960"/>
          </a:xfrm>
          <a:prstGeom prst="roundRect">
            <a:avLst>
              <a:gd name="adj" fmla="val 13333"/>
            </a:avLst>
          </a:prstGeom>
          <a:solidFill>
            <a:srgbClr val="EBF8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280160" y="4800600"/>
            <a:ext cx="100885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D2D3E"/>
                </a:solidFill>
              </a:rPr>
              <a:t>O parâmetro </a:t>
            </a:r>
            <a:r>
              <a:rPr lang="en-US" sz="1700" b="1" dirty="0">
                <a:solidFill>
                  <a:srgbClr val="1D2D3E"/>
                </a:solidFill>
              </a:rPr>
              <a:t>PREVIOUS</a:t>
            </a:r>
            <a:r>
              <a:rPr lang="en-US" sz="1700" dirty="0">
                <a:solidFill>
                  <a:srgbClr val="1D2D3E"/>
                </a:solidFill>
              </a:rPr>
              <a:t> mantém a causa raiz acessível para debug, mesmo após a transformação do erro.</a:t>
            </a:r>
            <a:endParaRPr lang="en-US" sz="16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038344"/>
            <a:ext cx="347472" cy="3474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Quiz de Fixação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11094415" cy="1353312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31520" y="1600200"/>
            <a:ext cx="64008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70F2"/>
                </a:solidFill>
              </a:rPr>
              <a:t>1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1600200"/>
            <a:ext cx="9814255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D2D3E"/>
                </a:solidFill>
              </a:rPr>
              <a:t>O que acontece se eu não tratar uma CX_STATIC_CHECK?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64D9"/>
                </a:solidFill>
              </a:rPr>
              <a:t>Erro de sintaxe. O compilador impede a ativação para garantir o contrato.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136392"/>
            <a:ext cx="11094415" cy="1353312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31520" y="3136392"/>
            <a:ext cx="64008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70F2"/>
                </a:solidFill>
              </a:rPr>
              <a:t>2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3136392"/>
            <a:ext cx="9814255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D2D3E"/>
                </a:solidFill>
              </a:rPr>
              <a:t>Qual a função da interface IF_T100_MESSAGE?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64D9"/>
                </a:solidFill>
              </a:rPr>
              <a:t>Vincular a exceção à tabela T100 (SE91), permitindo tradução e placeholders.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4672584"/>
            <a:ext cx="11094415" cy="1353312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31520" y="4672584"/>
            <a:ext cx="64008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70F2"/>
                </a:solidFill>
              </a:rPr>
              <a:t>3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4672584"/>
            <a:ext cx="9814255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D2D3E"/>
                </a:solidFill>
              </a:rPr>
              <a:t>Qual a diferença entre CATCH e CLEANUP?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64D9"/>
                </a:solidFill>
              </a:rPr>
              <a:t>CATCH captura e trata o erro. CLEANUP executa apenas se o erro NÃO for capturado localmente (limpeza).</a:t>
            </a:r>
            <a:endParaRPr lang="en-US" sz="1600" dirty="0"/>
          </a:p>
        </p:txBody>
      </p:sp>
      <p:sp>
        <p:nvSpPr>
          <p:cNvPr id="1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DB1FF"/>
                </a:solidFill>
              </a:rPr>
              <a:t>Conclusão</a:t>
            </a: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Resumo Estratégico &amp; Glossário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120640" cy="694944"/>
          </a:xfrm>
          <a:prstGeom prst="roundRect">
            <a:avLst>
              <a:gd name="adj" fmla="val 10526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83080"/>
            <a:ext cx="4754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Exception Class: </a:t>
            </a:r>
            <a:r>
              <a:rPr lang="en-US" sz="1400" dirty="0">
                <a:solidFill>
                  <a:srgbClr val="FFFFFF"/>
                </a:solidFill>
              </a:rPr>
              <a:t>Encapsula o erro e os dados.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587752"/>
            <a:ext cx="5120640" cy="694944"/>
          </a:xfrm>
          <a:prstGeom prst="roundRect">
            <a:avLst>
              <a:gd name="adj" fmla="val 10526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587752"/>
            <a:ext cx="4754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RAISE: </a:t>
            </a:r>
            <a:r>
              <a:rPr lang="en-US" sz="1400" dirty="0">
                <a:solidFill>
                  <a:srgbClr val="FFFFFF"/>
                </a:solidFill>
              </a:rPr>
              <a:t>Interrompe o fluxo imediatamente.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392424"/>
            <a:ext cx="5120640" cy="694944"/>
          </a:xfrm>
          <a:prstGeom prst="roundRect">
            <a:avLst>
              <a:gd name="adj" fmla="val 10526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3392424"/>
            <a:ext cx="4754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/ CATCH: </a:t>
            </a:r>
            <a:r>
              <a:rPr lang="en-US" sz="1400" dirty="0">
                <a:solidFill>
                  <a:srgbClr val="FFFFFF"/>
                </a:solidFill>
              </a:rPr>
              <a:t>Captura, trata e recupera.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197096"/>
            <a:ext cx="5120640" cy="694944"/>
          </a:xfrm>
          <a:prstGeom prst="roundRect">
            <a:avLst>
              <a:gd name="adj" fmla="val 10526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4197096"/>
            <a:ext cx="4754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CLEANUP: </a:t>
            </a:r>
            <a:r>
              <a:rPr lang="en-US" sz="1400" dirty="0">
                <a:solidFill>
                  <a:srgbClr val="FFFFFF"/>
                </a:solidFill>
              </a:rPr>
              <a:t>Limpa recursos se o erro subir.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5001768"/>
            <a:ext cx="5120640" cy="694944"/>
          </a:xfrm>
          <a:prstGeom prst="roundRect">
            <a:avLst>
              <a:gd name="adj" fmla="val 10526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5001768"/>
            <a:ext cx="4754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IF_T100_MESSAGE: </a:t>
            </a:r>
            <a:r>
              <a:rPr lang="en-US" sz="1400" dirty="0">
                <a:solidFill>
                  <a:srgbClr val="FFFFFF"/>
                </a:solidFill>
              </a:rPr>
              <a:t>Interface de mensagens.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126480" y="1783080"/>
            <a:ext cx="5516575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dirty="0">
                <a:solidFill>
                  <a:srgbClr val="FFFFFF"/>
                </a:solidFill>
              </a:rPr>
              <a:t>“O tratamento de exceções não é sobre evitar erros: é sobre </a:t>
            </a:r>
            <a:r>
              <a:rPr lang="en-US" sz="2300" b="1" dirty="0">
                <a:solidFill>
                  <a:srgbClr val="FFFFFF"/>
                </a:solidFill>
              </a:rPr>
              <a:t>gerenciar o imprevisto com elegância</a:t>
            </a:r>
            <a:r>
              <a:rPr lang="en-US" sz="2300" dirty="0">
                <a:solidFill>
                  <a:srgbClr val="FFFFFF"/>
                </a:solidFill>
              </a:rPr>
              <a:t>, garantindo que o software falhe de forma segura, limpa e informativa.”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396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P Horizon">
  <a:themeElements>
    <a:clrScheme name="SAP Horizon">
      <a:dk1>
        <a:srgbClr val="1D2D3E"/>
      </a:dk1>
      <a:lt1>
        <a:srgbClr val="FFFFFF"/>
      </a:lt1>
      <a:dk2>
        <a:srgbClr val="556B82"/>
      </a:dk2>
      <a:lt2>
        <a:srgbClr val="F5F6F7"/>
      </a:lt2>
      <a:accent1>
        <a:srgbClr val="0070F2"/>
      </a:accent1>
      <a:accent2>
        <a:srgbClr val="30914C"/>
      </a:accent2>
      <a:accent3>
        <a:srgbClr val="E76500"/>
      </a:accent3>
      <a:accent4>
        <a:srgbClr val="D20A0A"/>
      </a:accent4>
      <a:accent5>
        <a:srgbClr val="7858FF"/>
      </a:accent5>
      <a:accent6>
        <a:srgbClr val="07838F"/>
      </a:accent6>
      <a:hlink>
        <a:srgbClr val="0064D9"/>
      </a:hlink>
      <a:folHlink>
        <a:srgbClr val="5D36FF"/>
      </a:folHlink>
    </a:clrScheme>
    <a:fontScheme name="SAP Horizon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Tratamento Avançado de Exceções no ABAP OO</dc:title>
  <dc:subject>ABAP Moderno – Módulo 04</dc:subject>
  <dc:creator>Adriano Bispo</dc:creator>
  <cp:lastModifiedBy>Adriano Bispo</cp:lastModifiedBy>
  <cp:revision>1</cp:revision>
  <dcterms:created xsi:type="dcterms:W3CDTF">2026-10-28T00:28:42Z</dcterms:created>
  <dcterms:modified xsi:type="dcterms:W3CDTF">2026-10-28T00:28:42Z</dcterms:modified>
</cp:coreProperties>
</file>