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04 — Programação ABAP Intermediária  ·  Aula 7 de 9 — OO eficaz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04 — Programação ABAP Intermediária  ·  Aula 7 de 9 — OO eficaz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04 · AULA 07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Projetando código orientado a objetos eficaz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Herança e polimorfismo, interfaces como contratos, casting e factory methods que controlam a criação de objetos.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7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04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04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444179" y="390448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444179" y="390448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modelamos aviões de passageiros e de carga com herança, unificamos parceiros de negócio com uma interface e centralizamos a criação de conexões.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Herança ou interface?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310003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Herança: "é um"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 avião de carga </a:t>
            </a:r>
            <a:r>
              <a:rPr lang="en-US" sz="1350" b="1" dirty="0">
                <a:solidFill>
                  <a:srgbClr val="1D2D3E"/>
                </a:solidFill>
              </a:rPr>
              <a:t>é um</a:t>
            </a:r>
            <a:r>
              <a:rPr lang="en-US" sz="1350" dirty="0">
                <a:solidFill>
                  <a:srgbClr val="1D2D3E"/>
                </a:solidFill>
              </a:rPr>
              <a:t> avião: herda atributos e métodos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Uma única superclasse direta por subclasse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Subclasses podem </a:t>
            </a:r>
            <a:r>
              <a:rPr lang="en-US" sz="1350" b="1" dirty="0">
                <a:solidFill>
                  <a:srgbClr val="1D2D3E"/>
                </a:solidFill>
              </a:rPr>
              <a:t>redefinir</a:t>
            </a:r>
            <a:r>
              <a:rPr lang="en-US" sz="1350" dirty="0">
                <a:solidFill>
                  <a:srgbClr val="1D2D3E"/>
                </a:solidFill>
              </a:rPr>
              <a:t> métodos herdados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310003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Interface: "sabe fazer"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Locadora e companhia aérea não têm relação, mas ambas </a:t>
            </a:r>
            <a:r>
              <a:rPr lang="en-US" sz="1350" b="1" dirty="0">
                <a:solidFill>
                  <a:srgbClr val="1D2D3E"/>
                </a:solidFill>
              </a:rPr>
              <a:t>são parceiras de negócio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Uma classe implementa quantas interfaces precisar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Só o contrato: sem implementação, sem instâncias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41189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41189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Teste do "é um"  </a:t>
            </a:r>
            <a:r>
              <a:rPr lang="en-US" sz="1200" dirty="0">
                <a:solidFill>
                  <a:srgbClr val="1D2D3E"/>
                </a:solidFill>
              </a:rPr>
              <a:t>se a frase "a subclasse é uma superclasse" soa estranha, a herança está errada e vai causar problemas.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684907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069205"/>
            <a:ext cx="310896" cy="310896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684907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04.07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Herança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subclasse herda </a:t>
            </a:r>
            <a:r>
              <a:rPr lang="en-US" sz="1600" b="1" dirty="0">
                <a:solidFill>
                  <a:srgbClr val="D1EFFF"/>
                </a:solidFill>
              </a:rPr>
              <a:t>todos os componentes</a:t>
            </a:r>
            <a:r>
              <a:rPr lang="en-US" sz="1600" dirty="0">
                <a:solidFill>
                  <a:srgbClr val="D1EFFF"/>
                </a:solidFill>
              </a:rPr>
              <a:t> da superclasse e pode acrescentar novos ou </a:t>
            </a:r>
            <a:r>
              <a:rPr lang="en-US" sz="1600" b="1" dirty="0">
                <a:solidFill>
                  <a:srgbClr val="D1EFFF"/>
                </a:solidFill>
              </a:rPr>
              <a:t>redefinir</a:t>
            </a:r>
            <a:r>
              <a:rPr lang="en-US" sz="1600" dirty="0">
                <a:solidFill>
                  <a:srgbClr val="D1EFFF"/>
                </a:solidFill>
              </a:rPr>
              <a:t> métodos herdados.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 FROM</a:t>
            </a:r>
            <a:r>
              <a:rPr lang="en-US" sz="1000" dirty="0">
                <a:solidFill>
                  <a:srgbClr val="D1EFFF"/>
                </a:solidFill>
              </a:rPr>
              <a:t>  relação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</a:t>
            </a:r>
            <a:r>
              <a:rPr lang="en-US" sz="1000" dirty="0">
                <a:solidFill>
                  <a:srgbClr val="D1EFFF"/>
                </a:solidFill>
              </a:rPr>
              <a:t>  visível às subclasses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REDEFINITION</a:t>
            </a:r>
            <a:r>
              <a:rPr lang="en-US" sz="1000" dirty="0">
                <a:solidFill>
                  <a:srgbClr val="D1EFFF"/>
                </a:solidFill>
              </a:rPr>
              <a:t>  nova implementação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super-&gt;</a:t>
            </a:r>
            <a:r>
              <a:rPr lang="en-US" sz="1000" dirty="0">
                <a:solidFill>
                  <a:srgbClr val="D1EFFF"/>
                </a:solidFill>
              </a:rPr>
              <a:t>  chama a original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HERANÇA · DEFINIR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superclasse e uma subclasse que redefine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300837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300837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825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zcl_07_planes.clas.locals_imp.abap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ZCL_07_PLANES › Local Types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8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lcl_plane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i_manufacturer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get_attributes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r_result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string_table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manufacturer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lcl_cargo_plane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lcl_plane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i_manufacturer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i_cargo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get_attributes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REDEFINITION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lcl_cargo_plane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super-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i_manufacturer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i_manufacturer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i_type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i_cargo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get_attributes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r_result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super-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get_attributes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|Carga: { cargo } t|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r_result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8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 FROM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subclasse conhece a superclasse; a superclasse não conhece as subclasses.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Visível para a classe e as subclasses; atributos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1050" dirty="0">
                <a:solidFill>
                  <a:srgbClr val="556B82"/>
                </a:solidFill>
              </a:rPr>
              <a:t> não são acessíveis a elas.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Construtor da subclasse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Deve chamar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super-&gt;constructor( )</a:t>
            </a:r>
            <a:r>
              <a:rPr lang="en-US" sz="1050" dirty="0">
                <a:solidFill>
                  <a:srgbClr val="556B82"/>
                </a:solidFill>
              </a:rPr>
              <a:t> antes de usar componentes herdados.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REDEFINITION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Nova implementação;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super-&gt;</a:t>
            </a:r>
            <a:r>
              <a:rPr lang="en-US" sz="1050" dirty="0">
                <a:solidFill>
                  <a:srgbClr val="556B82"/>
                </a:solidFill>
              </a:rPr>
              <a:t> reaproveita a original.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HERANÇA · POLIMORFISMO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referência da superclasse, várias implementações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zcl_07_planes.clas.abap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ZCL_07_PLANES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lcl_passenger_plane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i_manufacturer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'Airbus'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'A380'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i_seats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up-cast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lcl_cargo_plane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i_manufacturer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'Boeing'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'747-400F'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i_cargo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up-cast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get_attributes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chama a redefinição certa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lcl_cargo_plane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cargo_plane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lcl_cargo_plane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down-cast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Up-cast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Uma referência da superclasse guarda objetos de qualquer subclasse; sempre seguro.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Polimorfismo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 tempo de execução, roda a implementação da classe real do objeto.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Visão restrita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Pela referência da superclasse só se vê o que a superclasse define.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Down-cast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050" dirty="0">
                <a:solidFill>
                  <a:srgbClr val="556B82"/>
                </a:solidFill>
              </a:rPr>
              <a:t> volta ao tipo específico; teste antes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INSTANCE OF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04.07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Interfaces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</a:t>
            </a:r>
            <a:r>
              <a:rPr lang="en-US" sz="1600" b="1" dirty="0">
                <a:solidFill>
                  <a:srgbClr val="D1EFFF"/>
                </a:solidFill>
              </a:rPr>
              <a:t>interface</a:t>
            </a:r>
            <a:r>
              <a:rPr lang="en-US" sz="1600" dirty="0">
                <a:solidFill>
                  <a:srgbClr val="D1EFFF"/>
                </a:solidFill>
              </a:rPr>
              <a:t> define métodos, tipos e constantes </a:t>
            </a:r>
            <a:r>
              <a:rPr lang="en-US" sz="1600" b="1" dirty="0">
                <a:solidFill>
                  <a:srgbClr val="D1EFFF"/>
                </a:solidFill>
              </a:rPr>
              <a:t>sem implementação</a:t>
            </a:r>
            <a:r>
              <a:rPr lang="en-US" sz="1600" dirty="0">
                <a:solidFill>
                  <a:srgbClr val="D1EFFF"/>
                </a:solidFill>
              </a:rPr>
              <a:t>. Cada classe que a implementa cumpre o contrato do seu jeito.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… ENDINTERFACE</a:t>
            </a:r>
            <a:r>
              <a:rPr lang="en-US" sz="1000" dirty="0">
                <a:solidFill>
                  <a:srgbClr val="D1EFFF"/>
                </a:solidFill>
              </a:rPr>
              <a:t>  contrato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r>
              <a:rPr lang="en-US" sz="1000" dirty="0">
                <a:solidFill>
                  <a:srgbClr val="D1EFFF"/>
                </a:solidFill>
              </a:rPr>
              <a:t>  na classe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intf~method</a:t>
            </a:r>
            <a:r>
              <a:rPr lang="en-US" sz="1000" dirty="0">
                <a:solidFill>
                  <a:srgbClr val="D1EFFF"/>
                </a:solidFill>
              </a:rPr>
              <a:t>  nome completo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ALIASES</a:t>
            </a:r>
            <a:r>
              <a:rPr lang="en-US" sz="1000" dirty="0">
                <a:solidFill>
                  <a:srgbClr val="D1EFFF"/>
                </a:solidFill>
              </a:rPr>
              <a:t>  nome curto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INTERFACES · CONTRATO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interface para parceiros de negócio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316382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316382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zcl_07_partners.clas.locals_imp.abap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ZCL_07_PARTNERS › Local Types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lif_partner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get_partner_attributes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r_attributes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string_table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ENDINTERFACE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lcl_carrier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lif_partner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get_attributes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lif_partner~get_partner_attributes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lcl_carrier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lif_partner~get_partner_attributes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|Companhia { name }|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r_attributes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Uso: uma lista de parceiros de tipos diferentes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partners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lif_partner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lcl_carrier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partners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lcl_rental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partners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Sem seções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Tudo em uma interface é público; ela não tem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classe passa a ter os componentes e deve implementar os métodos.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lif_partner~…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Nome completo do método na classe;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ALIASES</a:t>
            </a:r>
            <a:r>
              <a:rPr lang="en-US" sz="1050" dirty="0">
                <a:solidFill>
                  <a:srgbClr val="556B82"/>
                </a:solidFill>
              </a:rPr>
              <a:t> cria um atalho.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Referência de interface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Guarda qualquer objeto que implemente o contrato.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INTERFACES · PARA QUE SERVEM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Dois usos importantes das interfaces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66975"/>
            <a:ext cx="543290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271647"/>
            <a:ext cx="503057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Tratamento uniforme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Classes sem relação de herança oferecem o mesmo serviço com a mesma assinatura. O consumidor chama todas do mesmo jeito.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148" y="2466975"/>
            <a:ext cx="543290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11316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1316" y="3271647"/>
            <a:ext cx="503057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Visão simplificada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Uma interface expõe só parte de uma classe complexa: o consumidor vê apenas o que precisa.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8421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07008" y="478421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ABAP Cloud  </a:t>
            </a:r>
            <a:r>
              <a:rPr lang="en-US" sz="1200" dirty="0">
                <a:solidFill>
                  <a:srgbClr val="1D2D3E"/>
                </a:solidFill>
              </a:rPr>
              <a:t>interfaces liberadas,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200" dirty="0">
                <a:solidFill>
                  <a:srgbClr val="1D2D3E"/>
                </a:solidFill>
              </a:rPr>
              <a:t>, são contratos estáveis da SAP que suas classes implementam.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768727"/>
            <a:ext cx="256032" cy="256032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2768727"/>
            <a:ext cx="256032" cy="256032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912233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04.07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Factory methods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Com </a:t>
            </a:r>
            <a:r>
              <a:rPr lang="en-US" sz="1600" b="1" dirty="0">
                <a:solidFill>
                  <a:srgbClr val="D1EFFF"/>
                </a:solidFill>
              </a:rPr>
              <a:t>CREATE PRIVATE</a:t>
            </a:r>
            <a:r>
              <a:rPr lang="en-US" sz="1600" dirty="0">
                <a:solidFill>
                  <a:srgbClr val="D1EFFF"/>
                </a:solidFill>
              </a:rPr>
              <a:t>, ninguém de fora usa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600" dirty="0">
                <a:solidFill>
                  <a:srgbClr val="D1EFFF"/>
                </a:solidFill>
              </a:rPr>
              <a:t>: um </a:t>
            </a:r>
            <a:r>
              <a:rPr lang="en-US" sz="1600" b="1" dirty="0">
                <a:solidFill>
                  <a:srgbClr val="D1EFFF"/>
                </a:solidFill>
              </a:rPr>
              <a:t>método estático</a:t>
            </a:r>
            <a:r>
              <a:rPr lang="en-US" sz="1600" dirty="0">
                <a:solidFill>
                  <a:srgbClr val="D1EFFF"/>
                </a:solidFill>
              </a:rPr>
              <a:t> cria, valida e devolve as instâncias.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PRIVATE</a:t>
            </a:r>
            <a:r>
              <a:rPr lang="en-US" sz="1000" dirty="0">
                <a:solidFill>
                  <a:srgbClr val="D1EFFF"/>
                </a:solidFill>
              </a:rPr>
              <a:t>  bloqueia NEW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CLASS-METHODS</a:t>
            </a:r>
            <a:r>
              <a:rPr lang="en-US" sz="1000" dirty="0">
                <a:solidFill>
                  <a:srgbClr val="D1EFFF"/>
                </a:solidFill>
              </a:rPr>
              <a:t>  factory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 REF TO</a:t>
            </a:r>
            <a:r>
              <a:rPr lang="en-US" sz="1000" dirty="0">
                <a:solidFill>
                  <a:srgbClr val="D1EFFF"/>
                </a:solidFill>
              </a:rPr>
              <a:t>  a instância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r>
              <a:rPr lang="en-US" sz="1000" dirty="0">
                <a:solidFill>
                  <a:srgbClr val="D1EFFF"/>
                </a:solidFill>
              </a:rPr>
              <a:t>  reaproveitar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FACTORY · INSTÂNCIAS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classe controla as próprias instâncias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308610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308610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903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zcl_07_factory.clas.locals_imp.abap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ZCL_07_FACTORY › Local Types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8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CLASS-METHODS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get_connection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CLASS-DATA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table_line-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table_line-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r_connection-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r_connection-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i_connection_id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r_connection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PRIVATE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556B82"/>
                </a:solidFill>
              </a:rPr>
              <a:t> fora da classe vira erro de sintaxe. No ABAP não se muda a visibilidade do construtor.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Método estático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Única porta de entrada: valida, lê o banco e cria a instância.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Buffer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Devolve a instância já existente: uma por conexão.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Flexível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factory pode devolver subclasses ou implementações diferentes de uma interface.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04.07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 </a:t>
            </a:r>
            <a:r>
              <a:rPr lang="en-US" sz="1400" b="1" dirty="0">
                <a:solidFill>
                  <a:srgbClr val="FFFFFF"/>
                </a:solidFill>
              </a:rPr>
              <a:t>herança</a:t>
            </a:r>
            <a:r>
              <a:rPr lang="en-US" sz="1400" dirty="0">
                <a:solidFill>
                  <a:srgbClr val="FFFFFF"/>
                </a:solidFill>
              </a:rPr>
              <a:t> só quando a relação é "é um"; a subclasse herda tudo e redefine métodos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</a:t>
            </a:r>
            <a:r>
              <a:rPr lang="en-US" sz="1400" dirty="0">
                <a:solidFill>
                  <a:srgbClr val="FFFFFF"/>
                </a:solidFill>
              </a:rPr>
              <a:t> abre componentes às subclasses;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super-&gt;</a:t>
            </a:r>
            <a:r>
              <a:rPr lang="en-US" sz="1400" dirty="0">
                <a:solidFill>
                  <a:srgbClr val="FFFFFF"/>
                </a:solidFill>
              </a:rPr>
              <a:t> reaproveita a implementação original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Up-cast</a:t>
            </a:r>
            <a:r>
              <a:rPr lang="en-US" sz="1400" dirty="0">
                <a:solidFill>
                  <a:srgbClr val="FFFFFF"/>
                </a:solidFill>
              </a:rPr>
              <a:t> é sempre seguro; </a:t>
            </a:r>
            <a:r>
              <a:rPr lang="en-US" sz="1400" b="1" dirty="0">
                <a:solidFill>
                  <a:srgbClr val="FFFFFF"/>
                </a:solidFill>
              </a:rPr>
              <a:t>down-cast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r>
              <a:rPr lang="en-US" sz="1400" dirty="0">
                <a:solidFill>
                  <a:srgbClr val="FFFFFF"/>
                </a:solidFill>
              </a:rPr>
              <a:t> após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INSTANCE OF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Polimorfismo</a:t>
            </a:r>
            <a:r>
              <a:rPr lang="en-US" sz="1400" dirty="0">
                <a:solidFill>
                  <a:srgbClr val="FFFFFF"/>
                </a:solidFill>
              </a:rPr>
              <a:t>: a implementação executada é a da classe real do objeto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Interfaces</a:t>
            </a:r>
            <a:r>
              <a:rPr lang="en-US" sz="1400" dirty="0">
                <a:solidFill>
                  <a:srgbClr val="FFFFFF"/>
                </a:solidFill>
              </a:rPr>
              <a:t> definem contratos implementados por classes sem relação de herança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Factory methods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PRIVATE</a:t>
            </a:r>
            <a:r>
              <a:rPr lang="en-US" sz="1400" dirty="0">
                <a:solidFill>
                  <a:srgbClr val="FFFFFF"/>
                </a:solidFill>
              </a:rPr>
              <a:t> controlam e reaproveitam instâncias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04.08  </a:t>
            </a:r>
            <a:r>
              <a:rPr lang="en-US" sz="1500" dirty="0">
                <a:solidFill>
                  <a:srgbClr val="FFFFFF"/>
                </a:solidFill>
              </a:rPr>
              <a:t>Classes de exceção: Categorias, T100 e tratamento.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04.07 Projetando código orientado a objetos eficaz</dc:title>
  <dc:subject>ABAP Moderno – Módulo 04: Programação ABAP Intermediária</dc:subject>
  <dc:creator>Adriano Bispo</dc:creator>
  <cp:lastModifiedBy>Adriano Bispo</cp:lastModifiedBy>
  <cp:revision>1</cp:revision>
  <dcterms:created xsi:type="dcterms:W3CDTF">2026-10-29T01:13:54Z</dcterms:created>
  <dcterms:modified xsi:type="dcterms:W3CDTF">2026-10-29T01:13:54Z</dcterms:modified>
</cp:coreProperties>
</file>