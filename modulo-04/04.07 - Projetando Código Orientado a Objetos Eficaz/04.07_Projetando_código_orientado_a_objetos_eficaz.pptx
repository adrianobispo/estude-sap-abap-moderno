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04.07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 Construtor a Arquiteto: O Salto para o ABAP Moderno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Dominando os pilares do código flexível e resiliente para S/4HANA, RAP e Clean Core.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Interfaces (ZIF_)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Exceções (CX_)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Composição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Código de Hoje Define a Manutenção de Amanhã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Código Rígido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156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D3E"/>
                </a:solidFill>
              </a:rPr>
              <a:t>Fortemente acoplado.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D3E"/>
                </a:solidFill>
              </a:rPr>
              <a:t>Difícil de testar.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D3E"/>
                </a:solidFill>
              </a:rPr>
              <a:t>Lento para evoluir.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Código Flexível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560320"/>
            <a:ext cx="48156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D3E"/>
                </a:solidFill>
              </a:rPr>
              <a:t>Desacoplado.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D3E"/>
                </a:solidFill>
              </a:rPr>
              <a:t>Testável por design.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D3E"/>
                </a:solidFill>
              </a:rPr>
              <a:t>Rápido para adaptar.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892040"/>
            <a:ext cx="10088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Esta não é apenas uma aula sobre novos comandos. É uma </a:t>
            </a:r>
            <a:r>
              <a:rPr lang="en-US" sz="1700" b="1" dirty="0">
                <a:solidFill>
                  <a:srgbClr val="1D2D3E"/>
                </a:solidFill>
              </a:rPr>
              <a:t>mudança de mentalidade</a:t>
            </a:r>
            <a:r>
              <a:rPr lang="en-US" sz="1700" dirty="0">
                <a:solidFill>
                  <a:srgbClr val="1D2D3E"/>
                </a:solidFill>
              </a:rPr>
              <a:t>, a base para se tornar um </a:t>
            </a:r>
            <a:r>
              <a:rPr lang="en-US" sz="1700" b="1" dirty="0">
                <a:solidFill>
                  <a:srgbClr val="1D2D3E"/>
                </a:solidFill>
              </a:rPr>
              <a:t>arquiteto de software ABAP</a:t>
            </a:r>
            <a:r>
              <a:rPr lang="en-US" sz="17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21224"/>
            <a:ext cx="347472" cy="347472"/>
          </a:xfrm>
          <a:prstGeom prst="rect">
            <a:avLst/>
          </a:prstGeom>
        </p:spPr>
      </p:pic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Os 4 Pilares do Design de Software Sênior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567864" cy="42062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03911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980944"/>
            <a:ext cx="205580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1. O Contrato (Interfaces)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Como definir acordos claros que permitem a substituição de peças sem quebrar o sistema.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783080"/>
            <a:ext cx="2567864" cy="42062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46856" y="203911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46856" y="2980944"/>
            <a:ext cx="205580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2. A Criação Centralizada (Factory)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Como isolar a lógica de instanciação de objetos para facilitar a manutenção futura.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2567864" cy="42062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9040" y="203911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9040" y="2980944"/>
            <a:ext cx="205580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3. A Resiliência (Exceções)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Como construir um tratamento de erros robusto e informativo, abandonando 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783080"/>
            <a:ext cx="2567864" cy="42062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31223" y="203911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31223" y="2980944"/>
            <a:ext cx="205580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4. A Estrutura Flexível (Composição)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Como escolher a ferramenta certa entre herança e interfaces para máxima flexibilidade.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225650"/>
            <a:ext cx="404165" cy="404165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393" y="2225650"/>
            <a:ext cx="404165" cy="404165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577" y="2225650"/>
            <a:ext cx="404165" cy="404165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761" y="2225650"/>
            <a:ext cx="404165" cy="404165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Interfaces: O Contrato do Código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0064D9"/>
                </a:solidFill>
              </a:rPr>
              <a:t>“Em arquiteturas de software maduras, programar voltado para interfaces, e não para implementações, é um sinal de senioridade.”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que é uma interface?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É um contrato que define </a:t>
            </a:r>
            <a:r>
              <a:rPr lang="en-US" sz="1600" b="1" dirty="0">
                <a:solidFill>
                  <a:srgbClr val="1D2D3E"/>
                </a:solidFill>
              </a:rPr>
              <a:t>o quê</a:t>
            </a:r>
            <a:r>
              <a:rPr lang="en-US" sz="1600" dirty="0">
                <a:solidFill>
                  <a:srgbClr val="1D2D3E"/>
                </a:solidFill>
              </a:rPr>
              <a:t> uma classe deve fazer, mas não </a:t>
            </a:r>
            <a:r>
              <a:rPr lang="en-US" sz="1600" b="1" dirty="0">
                <a:solidFill>
                  <a:srgbClr val="1D2D3E"/>
                </a:solidFill>
              </a:rPr>
              <a:t>como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Contém apenas assinaturas de métodos, sem código de implementação.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Garante que diferentes classes </a:t>
            </a:r>
            <a:r>
              <a:rPr lang="en-US" sz="1600" b="1" dirty="0">
                <a:solidFill>
                  <a:srgbClr val="1D2D3E"/>
                </a:solidFill>
              </a:rPr>
              <a:t>“falem o mesmo idioma”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3977640"/>
            <a:ext cx="146304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3977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Consumidor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4315968"/>
            <a:ext cx="45720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49640" y="3063240"/>
            <a:ext cx="1463040" cy="2514600"/>
          </a:xfrm>
          <a:prstGeom prst="roundRect">
            <a:avLst>
              <a:gd name="adj" fmla="val 7500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3063240"/>
            <a:ext cx="1463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Contrato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64D9"/>
                </a:solidFill>
              </a:rPr>
              <a:t>(Interface)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12680" y="3401568"/>
            <a:ext cx="4114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469880" y="3108960"/>
            <a:ext cx="1173175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69880" y="3108960"/>
            <a:ext cx="1173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Implementação 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12680" y="4270248"/>
            <a:ext cx="4114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469880" y="3977640"/>
            <a:ext cx="1173175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69880" y="3977640"/>
            <a:ext cx="1173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Implementação 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12680" y="5138928"/>
            <a:ext cx="41148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469880" y="4846320"/>
            <a:ext cx="1173175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69880" y="4846320"/>
            <a:ext cx="1173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Implementação 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Herança vs. Interface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Batalha da Flexibilidade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Herança (É um)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Relacionamento estático: “Um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ZCL_CACHORRO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b="1" dirty="0">
                <a:solidFill>
                  <a:srgbClr val="1D2D3E"/>
                </a:solidFill>
              </a:rPr>
              <a:t>é um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ZCL_ANIMAL</a:t>
            </a:r>
            <a:r>
              <a:rPr lang="en-US" sz="1500" dirty="0">
                <a:solidFill>
                  <a:srgbClr val="1D2D3E"/>
                </a:solidFill>
              </a:rPr>
              <a:t>”.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Acoplamento forte.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ABAP suporta apenas herança simples.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Mudanças na superclasse podem quebrar as subclasses (“Fragile Base Class Problem”).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F3A"/>
                </a:solidFill>
              </a:rPr>
              <a:t>Interface (Faz algo)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Relacionamento comportamental: “Um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ZCL_CACHORRO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b="1" dirty="0">
                <a:solidFill>
                  <a:srgbClr val="1D2D3E"/>
                </a:solidFill>
              </a:rPr>
              <a:t>faz</a:t>
            </a:r>
            <a:r>
              <a:rPr lang="en-US" sz="1500" dirty="0">
                <a:solidFill>
                  <a:srgbClr val="1D2D3E"/>
                </a:solidFill>
              </a:rPr>
              <a:t> latido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ZIF_LATIDOR</a:t>
            </a:r>
            <a:r>
              <a:rPr lang="en-US" sz="1500" dirty="0">
                <a:solidFill>
                  <a:srgbClr val="1D2D3E"/>
                </a:solidFill>
              </a:rPr>
              <a:t>)”.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Acoplamento fraco.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Uma classe pode implementar ‘N’ interfaces, desempenhando múltiplos papéis.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Essencial para </a:t>
            </a:r>
            <a:r>
              <a:rPr lang="en-US" sz="1500" b="1" dirty="0">
                <a:solidFill>
                  <a:srgbClr val="1D2D3E"/>
                </a:solidFill>
              </a:rPr>
              <a:t>polimorfismo</a:t>
            </a:r>
            <a:r>
              <a:rPr lang="en-US" sz="1500" dirty="0">
                <a:solidFill>
                  <a:srgbClr val="1D2D3E"/>
                </a:solidFill>
              </a:rPr>
              <a:t> e </a:t>
            </a:r>
            <a:r>
              <a:rPr lang="en-US" sz="1500" b="1" dirty="0">
                <a:solidFill>
                  <a:srgbClr val="1D2D3E"/>
                </a:solidFill>
              </a:rPr>
              <a:t>testabilidade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2 · Factory · O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Acoplamento da Instanciação Direta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código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DATA(obj) = NEW zcl_calculadora_v1( )</a:t>
            </a:r>
            <a:r>
              <a:rPr lang="en-US" sz="1600" dirty="0">
                <a:solidFill>
                  <a:srgbClr val="1D2D3E"/>
                </a:solidFill>
              </a:rPr>
              <a:t> espalhado por toda a aplicação ‘casa’ seu programa com uma implementação específica. Mudar para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zcl_calculadora_v2</a:t>
            </a:r>
            <a:r>
              <a:rPr lang="en-US" sz="1600" dirty="0">
                <a:solidFill>
                  <a:srgbClr val="1D2D3E"/>
                </a:solidFill>
              </a:rPr>
              <a:t> se torna um pesadelo de manutenção.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15688" y="37947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EAF4"/>
          </a:solidFill>
          <a:ln w="25400">
            <a:solidFill>
              <a:srgbClr val="D20A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15688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zcl_calculadora_v1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2651760"/>
            <a:ext cx="18288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011680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Programa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994660"/>
            <a:ext cx="975208" cy="1165860"/>
          </a:xfrm>
          <a:prstGeom prst="line">
            <a:avLst/>
          </a:prstGeom>
          <a:noFill/>
          <a:ln w="3175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51215" y="2651760"/>
            <a:ext cx="18288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51215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Relatório 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7376008" y="2994660"/>
            <a:ext cx="975208" cy="1165860"/>
          </a:xfrm>
          <a:prstGeom prst="line">
            <a:avLst/>
          </a:prstGeom>
          <a:noFill/>
          <a:ln w="3175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11680" y="5029200"/>
            <a:ext cx="18288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011680" y="5029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Classe 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flipV="1">
            <a:off x="3840480" y="4160520"/>
            <a:ext cx="975208" cy="1211580"/>
          </a:xfrm>
          <a:prstGeom prst="line">
            <a:avLst/>
          </a:prstGeom>
          <a:noFill/>
          <a:ln w="3175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51215" y="5029200"/>
            <a:ext cx="182880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51215" y="5029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API 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7376008" y="4160520"/>
            <a:ext cx="975208" cy="1211580"/>
          </a:xfrm>
          <a:prstGeom prst="line">
            <a:avLst/>
          </a:prstGeom>
          <a:noFill/>
          <a:ln w="3175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809848" y="5623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0808"/>
                </a:solidFill>
              </a:rPr>
              <a:t>NEW espalhado = acoplamento forte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Padrão Factory em 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Chef Decide a Receita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Conceito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seu código (o cliente) pede um ‘prato de massa’ (a interface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zif_travel_calc</a:t>
            </a:r>
            <a:r>
              <a:rPr lang="en-US" sz="1500" dirty="0">
                <a:solidFill>
                  <a:srgbClr val="1D2D3E"/>
                </a:solidFill>
              </a:rPr>
              <a:t>). A Factory (o chef) decide a receita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zcl_travel_calc_br</a:t>
            </a:r>
            <a:r>
              <a:rPr lang="en-US" sz="1500" dirty="0">
                <a:solidFill>
                  <a:srgbClr val="1D2D3E"/>
                </a:solidFill>
              </a:rPr>
              <a:t> ou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_us</a:t>
            </a:r>
            <a:r>
              <a:rPr lang="en-US" sz="1500" dirty="0">
                <a:solidFill>
                  <a:srgbClr val="1D2D3E"/>
                </a:solidFill>
              </a:rPr>
              <a:t>) com base nos ingredientes (o país). O cliente não precisa conhecer a receita.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600200"/>
            <a:ext cx="5973775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897880" y="1728216"/>
            <a:ext cx="5516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Código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2112264"/>
            <a:ext cx="597377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240280"/>
            <a:ext cx="5516575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CLASS-METHODS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get_calculator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iv_country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land1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ro_calc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zif_travel_calc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retorna a INTERFACE!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get_calculator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Lógica de decisão CENTRALIZADA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iv_country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ro_calc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zcl_travel_calc_br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ro_calc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zcl_travel_calc_us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5349240"/>
            <a:ext cx="5973775" cy="777240"/>
          </a:xfrm>
          <a:prstGeom prst="roundRect">
            <a:avLst>
              <a:gd name="adj" fmla="val 14118"/>
            </a:avLst>
          </a:prstGeom>
          <a:solidFill>
            <a:srgbClr val="FFF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5349240"/>
            <a:ext cx="4967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Benefício-chave:</a:t>
            </a:r>
            <a:r>
              <a:rPr lang="en-US" sz="1400" dirty="0">
                <a:solidFill>
                  <a:srgbClr val="1D2D3E"/>
                </a:solidFill>
              </a:rPr>
              <a:t> para mudar a classe de cálculo do Brasil, você altera o código em </a:t>
            </a:r>
            <a:r>
              <a:rPr lang="en-US" sz="1400" b="1" dirty="0">
                <a:solidFill>
                  <a:srgbClr val="1D2D3E"/>
                </a:solidFill>
              </a:rPr>
              <a:t>um único lugar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4343400"/>
            <a:ext cx="1097280" cy="10972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55641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Exceções: A Resiliência do Código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Modelo Antigo: </a:t>
            </a:r>
            <a:r>
              <a:rPr lang="en-US" sz="18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EXCEPTIONS error = 1  +  CHECK sy-subrc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erro é mudo. O número 1 não informa o porquê, não carrega contexto (variáveis, textos) e não indica a origem exata do problema.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109441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383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O Modelo Moderno: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EXCEPTION TYPE cx_...  +  TRY...CATCH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erro é um objeto rico em informação: carrega mensagens T100, valores de variáveis, a pilha de chamadas e pode ser tratado de forma estruturada.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3977640"/>
            <a:ext cx="4876495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95160" y="4105656"/>
            <a:ext cx="4419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Exception Details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4489704"/>
            <a:ext cx="487649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4617720"/>
            <a:ext cx="4419295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ZCX_TRAVEL_ERROR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Insuficiente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mv_amount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ZCL_TRAVEL-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ZCL_BOOKING-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60020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Hierarquia de Exceções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Escolhendo a Ferramenta Certa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CX_STATIC_CHECK (checada)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Quando usar:</a:t>
            </a:r>
            <a:r>
              <a:rPr lang="en-US" sz="1500" dirty="0">
                <a:solidFill>
                  <a:srgbClr val="1D2D3E"/>
                </a:solidFill>
              </a:rPr>
              <a:t> erros de negócio previsíveis onde o consumidor </a:t>
            </a:r>
            <a:r>
              <a:rPr lang="en-US" sz="1500" b="1" dirty="0">
                <a:solidFill>
                  <a:srgbClr val="1D2D3E"/>
                </a:solidFill>
              </a:rPr>
              <a:t>deve</a:t>
            </a:r>
            <a:r>
              <a:rPr lang="en-US" sz="1500" dirty="0">
                <a:solidFill>
                  <a:srgbClr val="1D2D3E"/>
                </a:solidFill>
              </a:rPr>
              <a:t> reagir.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Exemplos:</a:t>
            </a:r>
            <a:r>
              <a:rPr lang="en-US" sz="1500" dirty="0">
                <a:solidFill>
                  <a:srgbClr val="1D2D3E"/>
                </a:solidFill>
              </a:rPr>
              <a:t> ‘Saldo Insuficiente’, ‘Cliente Bloqueado’.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Comportamento:</a:t>
            </a:r>
            <a:r>
              <a:rPr lang="en-US" sz="1500" dirty="0">
                <a:solidFill>
                  <a:srgbClr val="1D2D3E"/>
                </a:solidFill>
              </a:rPr>
              <a:t> o compilador </a:t>
            </a:r>
            <a:r>
              <a:rPr lang="en-US" sz="1500" b="1" dirty="0">
                <a:solidFill>
                  <a:srgbClr val="1D2D3E"/>
                </a:solidFill>
              </a:rPr>
              <a:t>obriga</a:t>
            </a:r>
            <a:r>
              <a:rPr lang="en-US" sz="1500" dirty="0">
                <a:solidFill>
                  <a:srgbClr val="1D2D3E"/>
                </a:solidFill>
              </a:rPr>
              <a:t> o tratamento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TRY...CATCH</a:t>
            </a:r>
            <a:r>
              <a:rPr lang="en-US" sz="1500" dirty="0">
                <a:solidFill>
                  <a:srgbClr val="1D2D3E"/>
                </a:solidFill>
              </a:rPr>
              <a:t> ou a propagação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CX_NO_CHECK (não checada)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Quando usar:</a:t>
            </a:r>
            <a:r>
              <a:rPr lang="en-US" sz="1500" dirty="0">
                <a:solidFill>
                  <a:srgbClr val="1D2D3E"/>
                </a:solidFill>
              </a:rPr>
              <a:t> erros técnicos graves ou falhas de programação onde a recuperação é improvável.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Exemplos:</a:t>
            </a:r>
            <a:r>
              <a:rPr lang="en-US" sz="1500" dirty="0">
                <a:solidFill>
                  <a:srgbClr val="1D2D3E"/>
                </a:solidFill>
              </a:rPr>
              <a:t> ‘Divisão por Zero’, ‘Parâmetro Obrigatório Vazio’.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Comportamento:</a:t>
            </a:r>
            <a:r>
              <a:rPr lang="en-US" sz="1500" dirty="0">
                <a:solidFill>
                  <a:srgbClr val="1D2D3E"/>
                </a:solidFill>
              </a:rPr>
              <a:t> o tratamento é </a:t>
            </a:r>
            <a:r>
              <a:rPr lang="en-US" sz="1500" b="1" dirty="0">
                <a:solidFill>
                  <a:srgbClr val="1D2D3E"/>
                </a:solidFill>
              </a:rPr>
              <a:t>opcional</a:t>
            </a:r>
            <a:r>
              <a:rPr lang="en-US" sz="1500" dirty="0">
                <a:solidFill>
                  <a:srgbClr val="1D2D3E"/>
                </a:solidFill>
              </a:rPr>
              <a:t>. Se não tratada, gera um </a:t>
            </a:r>
            <a:r>
              <a:rPr lang="en-US" sz="1500" b="1" dirty="0">
                <a:solidFill>
                  <a:srgbClr val="1D2D3E"/>
                </a:solidFill>
              </a:rPr>
              <a:t>DUMP</a:t>
            </a:r>
            <a:r>
              <a:rPr lang="en-US" sz="1500" dirty="0">
                <a:solidFill>
                  <a:srgbClr val="1D2D3E"/>
                </a:solidFill>
              </a:rPr>
              <a:t> informativo.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Desafio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Refatorando um Cálculo de Desconto Rígido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Cenário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Precisamos calcular o desconto de uma viagem.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Clientes VIP</a:t>
            </a:r>
            <a:r>
              <a:rPr lang="en-US" sz="1500" dirty="0">
                <a:solidFill>
                  <a:srgbClr val="1D2D3E"/>
                </a:solidFill>
              </a:rPr>
              <a:t> recebem 20% de desconto.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Clientes Standard</a:t>
            </a:r>
            <a:r>
              <a:rPr lang="en-US" sz="1500" dirty="0">
                <a:solidFill>
                  <a:srgbClr val="1D2D3E"/>
                </a:solidFill>
              </a:rPr>
              <a:t> não recebem desconto.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Requisito futuro:</a:t>
            </a:r>
            <a:r>
              <a:rPr lang="en-US" sz="1500" dirty="0">
                <a:solidFill>
                  <a:srgbClr val="1D2D3E"/>
                </a:solidFill>
              </a:rPr>
              <a:t> novos tipos de clientes (ex.: ‘Partner’) devem ser fáceis de adicionar.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600200"/>
            <a:ext cx="5882335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89320" y="1728216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O Código “Antes” (o problema)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2112264"/>
            <a:ext cx="58823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2240280"/>
            <a:ext cx="5425135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Lógica espalhada e difícil de estender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iv_customer_type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'VIP'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lv_discount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'0.2'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iv_customer_type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'STD'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lv_discount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 que acontece quando o tipo 'PARTNER' chegar?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Mais um ELSEIF...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FEA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507492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Lógica desordenada, caminhos cruzados, difícil de manter:</a:t>
            </a:r>
            <a:r>
              <a:rPr lang="en-US" sz="1500" dirty="0">
                <a:solidFill>
                  <a:srgbClr val="1D2D3E"/>
                </a:solidFill>
              </a:rPr>
              <a:t> cada novo tipo de cliente exige editar este mesmo bloco.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355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 · Padrão Strategy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Passo 1: O Contrato e as Estratégias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Parte 1: A Interface (o contrato). </a:t>
            </a:r>
            <a:r>
              <a:rPr lang="en-US" sz="1600" dirty="0">
                <a:solidFill>
                  <a:srgbClr val="1D2D3E"/>
                </a:solidFill>
              </a:rPr>
              <a:t>Definimos o que precisa ser feito, ignorando como.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219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zif_discount_strategy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Parte 2: As Implementações (as estratégias). </a:t>
            </a:r>
            <a:r>
              <a:rPr lang="en-US" sz="1600" dirty="0">
                <a:solidFill>
                  <a:srgbClr val="1D2D3E"/>
                </a:solidFill>
              </a:rPr>
              <a:t>Criamos classes pequenas e com responsabilidade única.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36432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87705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VIP Logic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89120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zcl_discount_vip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zif_discount_strategy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Logic for 20% discount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3749040"/>
            <a:ext cx="536432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07328" y="387705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STD Logic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426110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7328" y="4389120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zcl_discount_std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zif_discount_strategy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Logic for 0% discount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FFF8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553212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Princípio aplicado: Separação de Preocupações.</a:t>
            </a:r>
            <a:r>
              <a:rPr lang="en-US" sz="1500" dirty="0">
                <a:solidFill>
                  <a:srgbClr val="1D2D3E"/>
                </a:solidFill>
              </a:rPr>
              <a:t> A classe VIP só sabe calcular o desconto VIP. Nada mais.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784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Passo 2: A Orquestração Limpa e Polimórfica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6492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process_booking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 Variável declarada com o tipo da INTERFACE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lo_strategy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zif_discount_strategy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2. Lógica de criação (Factory simples)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iv_customer_type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'VIP'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lo_strategy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zcl_discount_vip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lo_strategy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zcl_discount_std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3. Execução polimórfica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lv_discount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lo_strategy-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600200"/>
            <a:ext cx="377921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0" y="1673352"/>
            <a:ext cx="3596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process_booking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70568" y="2286000"/>
            <a:ext cx="365760" cy="3200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2651760"/>
            <a:ext cx="3779215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955280" y="2724912"/>
            <a:ext cx="35963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lo_strategy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aponta para o contrato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70568" y="3520440"/>
            <a:ext cx="365760" cy="3200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0" y="38862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-&gt;calculate( 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4297680"/>
            <a:ext cx="3779215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4297680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zcl_discount_vip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4919472"/>
            <a:ext cx="3779215" cy="502920"/>
          </a:xfrm>
          <a:prstGeom prst="roundRect">
            <a:avLst>
              <a:gd name="adj" fmla="val 14545"/>
            </a:avLst>
          </a:prstGeom>
          <a:solidFill>
            <a:srgbClr val="EAECEE"/>
          </a:solidFill>
          <a:ln w="15875">
            <a:solidFill>
              <a:srgbClr val="556B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4919472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zcl_discount_std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5541264"/>
            <a:ext cx="3779215" cy="502920"/>
          </a:xfrm>
          <a:prstGeom prst="roundRect">
            <a:avLst>
              <a:gd name="adj" fmla="val 14545"/>
            </a:avLst>
          </a:prstGeom>
          <a:solidFill>
            <a:srgbClr val="F5FAE5"/>
          </a:solidFill>
          <a:ln w="15875">
            <a:solidFill>
              <a:srgbClr val="30914C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863840" y="5541264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zcl_discount_partner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Seu Arsenal de Arquiteto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Tabela de Decisão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416552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Usar Herança (INHERITING FROM)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Usar Interface (INTERFACES)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Relacionamento conceitual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“É um” (Carro é um Veículo)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“Faz algo” / “Possui comportamento” (Carro é Dirigível)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Objetivo principal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Reutilizar código existente da classe mãe para evitar duplicação.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Definir um contrato comum para classes distintas conversarem.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Acoplamento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AA0808"/>
                          </a:solidFill>
                        </a:rPr>
                        <a:t>Alto/forte.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Subclasses quebram se a mãe mudar.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Baixo/fraco.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A implementação pode mudar livremente desde que respeite o contrato.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Multiplicidade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Não.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ABAP só permite 1 superclasse.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Sim.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Uma classe pode implementar N interfaces.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Seu Arsenal de Arquiteto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Essencial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Interface (ZIF)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Contrato que define assinaturas de métodos sem implementação, desacoplando consumidor e provedor.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Exception Class (CX)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Objetos que transportam o contexto completo de um erro (texto, atributos, pilha) até o ponto de tratamento (CATCH).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Polimorfismo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Capacidade de objetos de classes diferentes responderem à mesma chamada de método (definida na interface) de maneiras específicas.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Separação de Preocupações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Princípio de design onde cada classe deve ter uma responsabilidade única e bem definida.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4250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4250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Factory Pattern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Padrão de criação que centraliza a decisão de qual classe concreta instanciar, escondendo essa lógica do consumidor.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3978" y="1965960"/>
            <a:ext cx="237744" cy="237744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237744" cy="237744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1965960"/>
            <a:ext cx="237744" cy="237744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237744" cy="237744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389120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Próximo Nível é uma Questão de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Escrever código que funciona </a:t>
            </a:r>
            <a:r>
              <a:rPr lang="en-US" sz="2600" b="1" dirty="0">
                <a:solidFill>
                  <a:srgbClr val="FFFFFF"/>
                </a:solidFill>
              </a:rPr>
              <a:t>agora</a:t>
            </a:r>
            <a:r>
              <a:rPr lang="en-US" sz="2600" dirty="0">
                <a:solidFill>
                  <a:srgbClr val="FFFFFF"/>
                </a:solidFill>
              </a:rPr>
              <a:t> é a tarefa de um construtor. Projetar sistemas que </a:t>
            </a:r>
            <a:r>
              <a:rPr lang="en-US" sz="2600" b="1" dirty="0">
                <a:solidFill>
                  <a:srgbClr val="FFFFFF"/>
                </a:solidFill>
              </a:rPr>
              <a:t>evoluem amanhã</a:t>
            </a:r>
            <a:r>
              <a:rPr lang="en-US" sz="2600" dirty="0">
                <a:solidFill>
                  <a:srgbClr val="FFFFFF"/>
                </a:solidFill>
              </a:rPr>
              <a:t> é a marca de um arquiteto.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9D3DE"/>
                </a:solidFill>
              </a:rPr>
              <a:t>Os princípios de desacoplamento, contratos claros e resiliência não são opcionais no mundo de S/4HANA e Clean Core: são a base do desenvolvimento sustentável.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Construtor a Arquiteto: O Salto para o ABAP Moderno</dc:title>
  <dc:subject>ABAP Moderno – Módulo 04</dc:subject>
  <dc:creator>Adriano Bispo</dc:creator>
  <cp:lastModifiedBy>Adriano Bispo</cp:lastModifiedBy>
  <cp:revision>1</cp:revision>
  <dcterms:created xsi:type="dcterms:W3CDTF">2026-10-28T00:27:10Z</dcterms:created>
  <dcterms:modified xsi:type="dcterms:W3CDTF">2026-10-28T00:27:10Z</dcterms:modified>
</cp:coreProperties>
</file>