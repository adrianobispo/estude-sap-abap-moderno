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04.01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04  ·  04.01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04  ·  04.01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Do ‘Funciona’ ao ‘É Robusto’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Dominando a qualidade de código no ABAP moderno para S/4HANA.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6002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0" y="160020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 na minha máquina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732520" y="2167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732520" y="2350008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26880" y="23500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32520" y="3099816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0" y="309981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ABAP Unit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32520" y="3849624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0" y="38496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ABAP Profiling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32520" y="4599432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0" y="45994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É robusto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Mais do que Funcional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0" y="1965960"/>
            <a:ext cx="371840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556B8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920240" y="2039112"/>
            <a:ext cx="353552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56B82"/>
                </a:solidFill>
              </a:rPr>
              <a:t>Funciona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na minha máquina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20360" y="2651760"/>
            <a:ext cx="95097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6644488" y="1965960"/>
            <a:ext cx="3718408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735928" y="2039112"/>
            <a:ext cx="353552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4D9"/>
                </a:solidFill>
              </a:rPr>
              <a:t>É Robusto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seguro · eficiente · pronto para o futuro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160520"/>
            <a:ext cx="99971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D2D3E"/>
                </a:solidFill>
              </a:rPr>
              <a:t>“Funcionar na minha máquina” não é mais suficiente. Em ambientes ERP críticos, um código precisa ser mais do que funcional: deve ser seguro, eficiente e pronto para o futuro. Esta é a jornada para transformar seu código, e sua carreira.</a:t>
            </a:r>
            <a:endParaRPr lang="en-US" sz="1900" dirty="0"/>
          </a:p>
        </p:txBody>
      </p:sp>
      <p:sp>
        <p:nvSpPr>
          <p:cNvPr id="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Apresentando a Tríade da Qualidade ABAP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A base do desenvolvimento profissional não é uma única ferramenta, mas uma filosofia de três pilares que garantem a integridade do software em esteiras de CI/CD.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49928" y="2514600"/>
            <a:ext cx="3291840" cy="2834640"/>
          </a:xfrm>
          <a:prstGeom prst="triangle">
            <a:avLst/>
          </a:prstGeom>
          <a:solidFill>
            <a:srgbClr val="EBF8FF"/>
          </a:solidFill>
          <a:ln w="25400">
            <a:solidFill>
              <a:srgbClr val="007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74320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28800" y="2697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Conformidade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O código segue as regras? É seguro e pronto para a nuvem?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02575" y="274320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34095" y="26974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46C76"/>
                </a:solidFill>
              </a:rPr>
              <a:t>Correção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O código faz o que a regra de negócio exige?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9928" y="539496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81448" y="53492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44F00"/>
                </a:solidFill>
              </a:rPr>
              <a:t>Performance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O código é eficiente sob carga?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" y="2885846"/>
            <a:ext cx="309067" cy="309067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222" y="2885846"/>
            <a:ext cx="309067" cy="309067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574" y="5537606"/>
            <a:ext cx="309067" cy="309067"/>
          </a:xfrm>
          <a:prstGeom prst="rect">
            <a:avLst/>
          </a:prstGeom>
        </p:spPr>
      </p:pic>
      <p:sp>
        <p:nvSpPr>
          <p:cNvPr id="14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As Duas Lentes da Análise de Código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Análise Estática (o Arquiteto)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Conceito:</a:t>
            </a:r>
            <a:r>
              <a:rPr lang="en-US" sz="1500" dirty="0">
                <a:solidFill>
                  <a:srgbClr val="1D2D3E"/>
                </a:solidFill>
              </a:rPr>
              <a:t> inspecionar o código-fonte sem executá-lo, como revisar a planta de um edifício.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Foco:</a:t>
            </a:r>
            <a:r>
              <a:rPr lang="en-US" sz="1500" dirty="0">
                <a:solidFill>
                  <a:srgbClr val="1D2D3E"/>
                </a:solidFill>
              </a:rPr>
              <a:t> sintaxe, convenções, segurança, conformidade (Clean Core).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Ferramenta principal:</a:t>
            </a:r>
            <a:r>
              <a:rPr lang="en-US" sz="1500" dirty="0">
                <a:solidFill>
                  <a:srgbClr val="1D2D3E"/>
                </a:solidFill>
              </a:rPr>
              <a:t> ABAP Test Cockpit (ATC).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Pilar:</a:t>
            </a:r>
            <a:r>
              <a:rPr lang="en-US" sz="1500" dirty="0">
                <a:solidFill>
                  <a:srgbClr val="1D2D3E"/>
                </a:solidFill>
              </a:rPr>
              <a:t> Conformidade.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F00"/>
                </a:solidFill>
              </a:rPr>
              <a:t>Análise Dinâmica (o Engenheiro de Testes)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Conceito:</a:t>
            </a:r>
            <a:r>
              <a:rPr lang="en-US" sz="1500" dirty="0">
                <a:solidFill>
                  <a:srgbClr val="1D2D3E"/>
                </a:solidFill>
              </a:rPr>
              <a:t> verificar o comportamento do código durante a execução, como um teste de estresse no edifício construído.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Foco:</a:t>
            </a:r>
            <a:r>
              <a:rPr lang="en-US" sz="1500" dirty="0">
                <a:solidFill>
                  <a:srgbClr val="1D2D3E"/>
                </a:solidFill>
              </a:rPr>
              <a:t> lógica de negócio, fluxo de dados, consumo de recursos.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Ferramentas principais:</a:t>
            </a:r>
            <a:r>
              <a:rPr lang="en-US" sz="1500" dirty="0">
                <a:solidFill>
                  <a:srgbClr val="1D2D3E"/>
                </a:solidFill>
              </a:rPr>
              <a:t> ABAP Unit, ABAP Profiling.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Pilares:</a:t>
            </a:r>
            <a:r>
              <a:rPr lang="en-US" sz="1500" dirty="0">
                <a:solidFill>
                  <a:srgbClr val="1D2D3E"/>
                </a:solidFill>
              </a:rPr>
              <a:t> Correção &amp; Performance.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sp>
        <p:nvSpPr>
          <p:cNvPr id="13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Pilar 1 · O Guardião Automatizado da Qualidade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Conformidade com ABAP Test Cockpit (ATC)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ATC é o inspetor de qualidade da SAP: utiliza a </a:t>
            </a:r>
            <a:r>
              <a:rPr lang="en-US" sz="1600" b="1" dirty="0">
                <a:solidFill>
                  <a:srgbClr val="1D2D3E"/>
                </a:solidFill>
              </a:rPr>
              <a:t>engine do Code Inspector (SCI)</a:t>
            </a:r>
            <a:r>
              <a:rPr lang="en-US" sz="1600" dirty="0">
                <a:solidFill>
                  <a:srgbClr val="1D2D3E"/>
                </a:solidFill>
              </a:rPr>
              <a:t> para ler seu código e encontrar problemas antes que cheguem em produção.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O que o ATC verifica?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89120" y="283464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56632" y="2816352"/>
            <a:ext cx="65864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Sintaxe e Modernização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Uso de comandos obsoletos vs. sintaxe moderna.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3511296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56632" y="3493008"/>
            <a:ext cx="65864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Performance (HANA)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Detecção de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556B82"/>
                </a:solidFill>
              </a:rPr>
              <a:t> dentro de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300" dirty="0">
                <a:solidFill>
                  <a:srgbClr val="556B82"/>
                </a:solidFill>
              </a:rPr>
              <a:t> e outros anti-padrões.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9120" y="4187952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56632" y="4169664"/>
            <a:ext cx="65864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Segurança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Falta de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AUTHORITY-CHECK</a:t>
            </a:r>
            <a:r>
              <a:rPr lang="en-US" sz="1300" dirty="0">
                <a:solidFill>
                  <a:srgbClr val="556B82"/>
                </a:solidFill>
              </a:rPr>
              <a:t> e vulnerabilidades de SQL Injection.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9120" y="4864608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56632" y="4846320"/>
            <a:ext cx="65864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Robustez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Código morto (‘dead code’) e tipos incompatíveis que podem gerar dumps.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5541264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56632" y="5522976"/>
            <a:ext cx="658642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Cloud Readiness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Uso de objetos não liberados e acessos proibidos no ABAP Cloud.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697480"/>
            <a:ext cx="2926080" cy="292608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459" y="2939979"/>
            <a:ext cx="228234" cy="228234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459" y="4293291"/>
            <a:ext cx="228234" cy="22823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459" y="4969947"/>
            <a:ext cx="228234" cy="228234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459" y="3616635"/>
            <a:ext cx="228234" cy="228234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4459" y="5646603"/>
            <a:ext cx="228234" cy="22823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Gerenciando e Corrigindo Descobertas do ATC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ATC não apenas aponta erros: ajuda a corrigi-los e permite gerenciar exceções de forma inteligente.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64328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231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42316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Quick Fixes (Ctrl+1)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481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Acelere as correções. No ADT, muitos erros, como a falta de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r>
              <a:rPr lang="en-US" sz="1500" dirty="0">
                <a:solidFill>
                  <a:srgbClr val="1D2D3E"/>
                </a:solidFill>
              </a:rPr>
              <a:t> em um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500" dirty="0">
                <a:solidFill>
                  <a:srgbClr val="1D2D3E"/>
                </a:solidFill>
              </a:rPr>
              <a:t>, podem ser corrigidos automaticamente com um atalho de teclado.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4480560"/>
            <a:ext cx="42670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4617720"/>
            <a:ext cx="390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dbtab.  </a:t>
            </a:r>
            <a:r>
              <a:rPr lang="en-US" sz="1300" dirty="0">
                <a:solidFill>
                  <a:srgbClr val="1D2D3E"/>
                </a:solidFill>
              </a:rPr>
              <a:t>💡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1680" y="5074920"/>
            <a:ext cx="2743200" cy="365760"/>
          </a:xfrm>
          <a:prstGeom prst="rect">
            <a:avLst/>
          </a:prstGeom>
          <a:solidFill>
            <a:srgbClr val="EBF8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0312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Quick Fix: Add ORDER BY clause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5029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Ctrl+1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8728" y="2194560"/>
            <a:ext cx="5364328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53048" y="24231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84568" y="2423160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Isenções (Pragmas e Pseudo-Comentários)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315468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Para falsos-positivos ou desvios intencionais, instrua o ATC a ignorar uma verificação específica diretamente no código.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53048" y="4343400"/>
            <a:ext cx="4815688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781648" y="4507992"/>
            <a:ext cx="4358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Silencia o aviso de texto hardcoded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lv_dummy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'Teste'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NO_TEXT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Ignora uma verificação de performance específica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dbtab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"#EC CI_PERF_SELECT_STAR</a:t>
            </a:r>
            <a:endParaRPr lang="en-US" sz="1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554834"/>
            <a:ext cx="285293" cy="285293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554834"/>
            <a:ext cx="285293" cy="285293"/>
          </a:xfrm>
          <a:prstGeom prst="rect">
            <a:avLst/>
          </a:prstGeom>
        </p:spPr>
      </p:pic>
      <p:sp>
        <p:nvSpPr>
          <p:cNvPr id="21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Pilar 2 · A Rede de Segurança Contra Regressões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Correção com ABAP Unit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Se o ATC inspeciona a forma, o ABAP Unit valida a função. Testes unitários garantem que seu código faz o que deveria e que futuras alterações não quebrem funcionalidades existentes. Eles respondem à pergunta: “Minha mudança quebrou algo?”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46C76"/>
                </a:solidFill>
              </a:rPr>
              <a:t>Anatomia de uma classe de teste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6949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Definição:</a:t>
            </a:r>
            <a:r>
              <a:rPr lang="en-US" sz="1500" dirty="0">
                <a:solidFill>
                  <a:srgbClr val="1D2D3E"/>
                </a:solidFill>
              </a:rPr>
              <a:t> classes locais marcadas com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TESTING</a:t>
            </a:r>
            <a:r>
              <a:rPr lang="en-US" sz="1500" dirty="0">
                <a:solidFill>
                  <a:srgbClr val="1D2D3E"/>
                </a:solidFill>
              </a:rPr>
              <a:t>. Não são transportadas para produção, mas garantem a qualidade antes.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LEVEL HARMLESS</a:t>
            </a:r>
            <a:r>
              <a:rPr lang="en-US" sz="1500" dirty="0">
                <a:solidFill>
                  <a:srgbClr val="1D2D3E"/>
                </a:solidFill>
              </a:rPr>
              <a:t>: garante que o teste é seguro e não fará COMMIT no banco de dados. Obrigatório para automação.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 SHORT</a:t>
            </a:r>
            <a:r>
              <a:rPr lang="en-US" sz="1500" dirty="0">
                <a:solidFill>
                  <a:srgbClr val="1D2D3E"/>
                </a:solidFill>
              </a:rPr>
              <a:t>: assegura que o teste execute em milissegundos, mantendo o feedback rápido.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0" y="1965960"/>
            <a:ext cx="3596335" cy="3840480"/>
          </a:xfrm>
          <a:prstGeom prst="roundRect">
            <a:avLst>
              <a:gd name="adj" fmla="val 5085"/>
            </a:avLst>
          </a:prstGeom>
          <a:solidFill>
            <a:srgbClr val="E0F7F7"/>
          </a:solidFill>
          <a:ln w="25400">
            <a:solidFill>
              <a:srgbClr val="0783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0" y="4617720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6C76"/>
                </a:solidFill>
              </a:rPr>
              <a:t>Rede de segurança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2606040"/>
            <a:ext cx="1737360" cy="1737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Padrão e o Ciclo de Vida de um Teste Unitário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O ciclo de vida (fixtures): garantindo o isolamento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63040" y="2057400"/>
            <a:ext cx="3108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205740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class_setup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Roda 1 vez no início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80360" y="2679192"/>
            <a:ext cx="274320" cy="201168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2880360"/>
            <a:ext cx="3108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288036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Roda antes de CADA teste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80360" y="3502152"/>
            <a:ext cx="274320" cy="201168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1463040" y="3703320"/>
            <a:ext cx="3108960" cy="621792"/>
          </a:xfrm>
          <a:prstGeom prst="roundRect">
            <a:avLst>
              <a:gd name="adj" fmla="val 11765"/>
            </a:avLst>
          </a:prstGeom>
          <a:solidFill>
            <a:srgbClr val="0070F2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370332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[MÉTODO DE TESTE]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80360" y="4325112"/>
            <a:ext cx="274320" cy="201168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13" name="Shape 11"/>
          <p:cNvSpPr/>
          <p:nvPr/>
        </p:nvSpPr>
        <p:spPr>
          <a:xfrm>
            <a:off x="1463040" y="4526280"/>
            <a:ext cx="3108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63040" y="452628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teardown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Roda após CADA teste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80360" y="5148072"/>
            <a:ext cx="274320" cy="201168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16" name="Shape 14"/>
          <p:cNvSpPr/>
          <p:nvPr/>
        </p:nvSpPr>
        <p:spPr>
          <a:xfrm>
            <a:off x="1463040" y="5349240"/>
            <a:ext cx="31089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534924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class_teardown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Roda 1 vez no final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" y="3200400"/>
            <a:ext cx="0" cy="164592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3200400"/>
            <a:ext cx="36576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97280" y="4846320"/>
            <a:ext cx="36576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  <a:head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21792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O padrão AAA: a estrutura de todo teste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7920" y="2103120"/>
            <a:ext cx="5425135" cy="1188720"/>
          </a:xfrm>
          <a:prstGeom prst="roundRect">
            <a:avLst>
              <a:gd name="adj" fmla="val 7692"/>
            </a:avLst>
          </a:prstGeom>
          <a:solidFill>
            <a:srgbClr val="E765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21031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2103120"/>
            <a:ext cx="4327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Arrange (Preparar)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Crie os objetos e prepare as condições de entrada.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7920" y="3474720"/>
            <a:ext cx="5425135" cy="1188720"/>
          </a:xfrm>
          <a:prstGeom prst="roundRect">
            <a:avLst>
              <a:gd name="adj" fmla="val 7692"/>
            </a:avLst>
          </a:prstGeom>
          <a:solidFill>
            <a:srgbClr val="0070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34747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</a:t>
            </a:r>
            <a:endParaRPr lang="en-US" sz="40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474720"/>
            <a:ext cx="4327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Act (Agir)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Execute o método que você está testando.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0" y="4846320"/>
            <a:ext cx="5425135" cy="1188720"/>
          </a:xfrm>
          <a:prstGeom prst="roundRect">
            <a:avLst>
              <a:gd name="adj" fmla="val 7692"/>
            </a:avLst>
          </a:prstGeom>
          <a:solidFill>
            <a:srgbClr val="30914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55080" y="48463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4846320"/>
            <a:ext cx="4327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Assert (Verificar)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Compare o resultado obtido (Actual) com o resultado esperado (Expected).</a:t>
            </a:r>
            <a:endParaRPr lang="en-US" sz="1600" dirty="0"/>
          </a:p>
        </p:txBody>
      </p:sp>
      <p:sp>
        <p:nvSpPr>
          <p:cNvPr id="31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Pilar 3 · O Diagnóstico de Precisão Contra a Lentidão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Performance com ABAP Profiling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6B82"/>
                </a:solidFill>
              </a:rPr>
              <a:t>‘Olhômetro’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15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Adivinhar onde está o gargalo.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Otimizações às cegas que muitas vezes não atacam a causa real.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F00"/>
                </a:solidFill>
              </a:rPr>
              <a:t>ABAP Profiler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560320"/>
            <a:ext cx="48156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Ferramenta científica para </a:t>
            </a:r>
            <a:r>
              <a:rPr lang="en-US" sz="1500" b="1" dirty="0">
                <a:solidFill>
                  <a:srgbClr val="1D2D3E"/>
                </a:solidFill>
              </a:rPr>
              <a:t>medir o consumo de recursos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Encontra o gargalo real, substituindo a adivinhação por dados concretos.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Quando o código está correto e em conformidade, mas o sistema está lento, o ‘olhômetro’ não é confiável.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97709" y="5029200"/>
            <a:ext cx="7396277" cy="0"/>
          </a:xfrm>
          <a:prstGeom prst="line">
            <a:avLst/>
          </a:prstGeom>
          <a:noFill/>
          <a:ln w="38100">
            <a:solidFill>
              <a:srgbClr val="E76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23389" y="4754880"/>
            <a:ext cx="548640" cy="5486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765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23389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6500"/>
                </a:solidFill>
              </a:rPr>
              <a:t>1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5532120"/>
            <a:ext cx="35518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Inicie o Profiling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no ADT.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21528" y="4754880"/>
            <a:ext cx="548640" cy="5486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765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1528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6500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319930" y="5532120"/>
            <a:ext cx="35518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Execute a ação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no sistema.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19666" y="4754880"/>
            <a:ext cx="548640" cy="5486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765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19666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6500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018069" y="5532120"/>
            <a:ext cx="35518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Pare e analise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arquivo de rastreamento (Trace File).</a:t>
            </a:r>
            <a:endParaRPr lang="en-US" sz="16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Interpretando um Rastreamento de Performance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O arquivo de trace contém dados valiosos. Saiba onde focar sua atenção.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2221992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Hit List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Quais métodos foram chamados mais vezes? Um método pequeno chamado 1 milhão de vezes pode ser o problema.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80160" y="3502152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Gross Time vs. Net Time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Diferencie o tempo total de um método (incluindo chamadas filhas) do tempo gasto em sua própria lógica.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0160" y="4782312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Database Accesses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Veja exatamente quais SELECTs foram executados, quantas linhas retornaram e quanto tempo o banco demorou.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148840"/>
            <a:ext cx="5425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Visualizando o problema “N+1”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560320"/>
            <a:ext cx="5425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A causa mais comum de lentidão: fazer um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1D2D3E"/>
                </a:solidFill>
              </a:rPr>
              <a:t> para cada linha de um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3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154680"/>
            <a:ext cx="5425135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46520" y="3282696"/>
            <a:ext cx="4967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0808"/>
                </a:solidFill>
              </a:rPr>
              <a:t>Ineficiente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666744"/>
            <a:ext cx="54251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3794760"/>
            <a:ext cx="496793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itab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N idas ao banco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4526280"/>
            <a:ext cx="5425135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46520" y="4654296"/>
            <a:ext cx="4967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F3A"/>
                </a:solidFill>
              </a:rPr>
              <a:t>Eficiente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5038344"/>
            <a:ext cx="5425135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5166360"/>
            <a:ext cx="49679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ENTRIES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itab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1 ida ao banco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itab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2360981"/>
            <a:ext cx="261518" cy="261518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4921301"/>
            <a:ext cx="261518" cy="261518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641141"/>
            <a:ext cx="261518" cy="261518"/>
          </a:xfrm>
          <a:prstGeom prst="rect">
            <a:avLst/>
          </a:prstGeom>
        </p:spPr>
      </p:pic>
      <p:sp>
        <p:nvSpPr>
          <p:cNvPr id="23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Estudo de Caso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Unindo os Pilares com zcl_calc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Vamos aplicar os conceitos de Correção (ABAP Unit) em uma classe simples de calculadora para ver como construir uma rede de segurança.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7498080" cy="38404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0545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Código de produção: zcl_calc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9504"/>
            <a:ext cx="749808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017520"/>
            <a:ext cx="70408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zcl_calc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dividir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iv_a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iv_b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rv_result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cx_sy_zerodivide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zcl_calc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dividir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O kernel ABAP dispara cx_sy_zerodivide automaticamente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rv_result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iv_a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iv_b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21040" y="2377440"/>
            <a:ext cx="3322015" cy="1828800"/>
          </a:xfrm>
          <a:prstGeom prst="roundRect">
            <a:avLst>
              <a:gd name="adj" fmla="val 6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0" y="2377440"/>
            <a:ext cx="23161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Uma classe pública com um método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dividir</a:t>
            </a:r>
            <a:r>
              <a:rPr lang="en-US" sz="1400" dirty="0">
                <a:solidFill>
                  <a:srgbClr val="1D2D3E"/>
                </a:solidFill>
              </a:rPr>
              <a:t> que retorna o resultado de uma divisão e pode lançar a exceção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cx_sy_zerodivide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311810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Construindo a Rede de Segurança para zcl_calc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7863840" cy="4709160"/>
          </a:xfrm>
          <a:prstGeom prst="roundRect">
            <a:avLst>
              <a:gd name="adj" fmla="val 271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73352"/>
            <a:ext cx="7406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ltcl_test_calc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HARMLESS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mo_cut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zcl_calc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CUT: Class Under Test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test_divisao_sucesso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test_divisao_por_zero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ltcl_test_calc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mo_cut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</a:t>
            </a:r>
            <a:r>
              <a:rPr lang="en-US" sz="95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&lt;- 1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test_divisao_sucesso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</a:t>
            </a:r>
            <a:r>
              <a:rPr lang="en-US" sz="95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&lt;- 2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lv_result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mo_cut-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dividir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iv_a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iv_b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cl_abap_unit_assert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assert_equals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lv_result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'Divisão de 10 / 2 deve ser 5'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test_divisao_por_zero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</a:t>
            </a:r>
            <a:r>
              <a:rPr lang="en-US" sz="95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&lt;- 3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mo_cut-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dividir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iv_a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iv_b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cl_abap_unit_assert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'Deveria ter lançado exceção'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cx_sy_zerodivide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SUCESSO!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95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8686800" y="1874520"/>
            <a:ext cx="2956255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51392" y="22585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851392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326880" y="1874520"/>
            <a:ext cx="2179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Fixture:</a:t>
            </a:r>
            <a:r>
              <a:rPr lang="en-US" sz="1300" dirty="0">
                <a:solidFill>
                  <a:srgbClr val="1D2D3E"/>
                </a:solidFill>
              </a:rPr>
              <a:t> roda antes de cada teste para garantir uma instância limpa.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0" y="3246120"/>
            <a:ext cx="2956255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51392" y="36301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851392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3246120"/>
            <a:ext cx="2179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Padrão AAA:</a:t>
            </a:r>
            <a:r>
              <a:rPr lang="en-US" sz="1300" dirty="0">
                <a:solidFill>
                  <a:srgbClr val="1D2D3E"/>
                </a:solidFill>
              </a:rPr>
              <a:t> a estrutura clara de um teste de sucesso.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0" y="4617720"/>
            <a:ext cx="2956255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51392" y="50017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851392" y="5001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4617720"/>
            <a:ext cx="2179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Teste negativo:</a:t>
            </a:r>
            <a:r>
              <a:rPr lang="en-US" sz="1300" dirty="0">
                <a:solidFill>
                  <a:srgbClr val="1D2D3E"/>
                </a:solidFill>
              </a:rPr>
              <a:t> valida que o código falha da maneira correta.</a:t>
            </a:r>
            <a:endParaRPr lang="en-US" sz="1600" dirty="0"/>
          </a:p>
        </p:txBody>
      </p:sp>
      <p:sp>
        <p:nvSpPr>
          <p:cNvPr id="17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Pedra de Roseta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ATC vs. ABAP Unit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Característica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ATC (Test Cockpit)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ABAP Unit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Tipo de análise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Estática</a:t>
                      </a: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 (lê o código).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Dinâmica</a:t>
                      </a: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 (roda o código).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O que detecta?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Erros de sintaxe, performance estrutural, segurança, convenções.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Lógica de negócio incorreta, bugs de cálculo, falhas de fluxo.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Responsabilidade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Sistema verifica automaticamente (qualidade </a:t>
                      </a: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passiva</a:t>
                      </a: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Desenvolvedor escreve os cenários (qualidade </a:t>
                      </a: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ativa</a:t>
                      </a: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Execução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Na liberação da tarefa ou manual.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Manual (Ctrl+Shift+F10) ou agendada.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Impacto no transporte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B44F00"/>
                          </a:solidFill>
                        </a:rPr>
                        <a:t>Pode impedir</a:t>
                      </a:r>
                      <a:r>
                        <a:rPr lang="en-US" sz="1500" dirty="0">
                          <a:solidFill>
                            <a:srgbClr val="B44F00"/>
                          </a:solidFill>
                        </a:rPr>
                        <a:t> a liberação da Request.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Erros não bloqueiam por padrão (mas deveriam).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Guia de Campo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Glossário Técnico Essencial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43230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CUT (Code Under Test)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O objeto específico (classe/método) que está sendo testado em um teste unitário.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94250" y="18562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4250" y="243230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Test Fixture (Setup/Teardown)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Métodos que configuram e limpam o ambiente de teste, garantindo o isolamento entre os testes.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7797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83829" y="185623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83829" y="243230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Code Coverage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Porcentagem do código produtivo executada pelos testes. Cobertura alta reduz o risco de bugs.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427939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" y="485546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Mocking (Test Double)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Substituir dependências reais (banco, APIs) por objetos simulados para testar uma unidade isoladamente.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94250" y="427939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94250" y="485546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cl_abap_unit_assert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Fornece métodos estáticos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assert_equals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assert_bound</a:t>
            </a:r>
            <a:r>
              <a:rPr lang="en-US" sz="1300" dirty="0">
                <a:solidFill>
                  <a:srgbClr val="556B82"/>
                </a:solidFill>
              </a:rPr>
              <a:t>) para validar os resultados de um teste.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7797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83829" y="427939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83829" y="4855464"/>
            <a:ext cx="300319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RISK LEVEL HARMLESS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6B82"/>
                </a:solidFill>
              </a:rPr>
              <a:t>Garante que o teste não fará alterações persistentes no banco (COMMIT). O framework aborta o teste se ele tentar.</a:t>
            </a:r>
            <a:endParaRPr lang="en-US" sz="16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006" y="1954987"/>
            <a:ext cx="213970" cy="21397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27" y="1954987"/>
            <a:ext cx="213970" cy="21397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584" y="1954987"/>
            <a:ext cx="213970" cy="213970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" y="4378147"/>
            <a:ext cx="213970" cy="21397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006" y="4378147"/>
            <a:ext cx="213970" cy="213970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2584" y="4378147"/>
            <a:ext cx="213970" cy="2139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Sua Tríade Para o Próximo Desenvolvimento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3DE"/>
                </a:solidFill>
              </a:rPr>
              <a:t>Antes de liberar sua próxima tarefa, faça a si mesmo as perguntas essenciais: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15258" cy="3017520"/>
          </a:xfrm>
          <a:prstGeom prst="roundRect">
            <a:avLst>
              <a:gd name="adj" fmla="val 4242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8760" y="251460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DB1FF"/>
                </a:solidFill>
              </a:rPr>
              <a:t>Conformidade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9666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“Meu código passaria em uma verificação rigorosa do ATC? Está preparado para a nuvem e livre de vulnerabilidades de segurança?”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38218" y="2286000"/>
            <a:ext cx="3515258" cy="3017520"/>
          </a:xfrm>
          <a:prstGeom prst="roundRect">
            <a:avLst>
              <a:gd name="adj" fmla="val 4242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8338" y="251460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EE2A8"/>
                </a:solidFill>
              </a:rPr>
              <a:t>Correção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3246120"/>
            <a:ext cx="29666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“Construí uma rede de segurança com ABAP Unit? Cobri o cenário de sucesso e, mais importante, os cenários de falha esperados?”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7797" y="2286000"/>
            <a:ext cx="3515258" cy="3017520"/>
          </a:xfrm>
          <a:prstGeom prst="roundRect">
            <a:avLst>
              <a:gd name="adj" fmla="val 4242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87917" y="2514600"/>
            <a:ext cx="23265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15C"/>
                </a:solidFill>
              </a:rPr>
              <a:t>Performance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402117" y="3246120"/>
            <a:ext cx="29666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“Se este código rodar com 1 milhão de registros, será eficiente? Identifiquei e eliminei gargalos como o ‘N+1 SELECT’?”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Transforme a qualidade de um processo </a:t>
            </a:r>
            <a:r>
              <a:rPr lang="en-US" sz="1900" b="1" dirty="0">
                <a:solidFill>
                  <a:srgbClr val="FFFFFF"/>
                </a:solidFill>
              </a:rPr>
              <a:t>reativo</a:t>
            </a:r>
            <a:r>
              <a:rPr lang="en-US" sz="1900" dirty="0">
                <a:solidFill>
                  <a:srgbClr val="FFFFFF"/>
                </a:solidFill>
              </a:rPr>
              <a:t> em um </a:t>
            </a:r>
            <a:r>
              <a:rPr lang="en-US" sz="1900" b="1" dirty="0">
                <a:solidFill>
                  <a:srgbClr val="FFFFFF"/>
                </a:solidFill>
              </a:rPr>
              <a:t>hábito proativo</a:t>
            </a:r>
            <a:r>
              <a:rPr lang="en-US" sz="1900" dirty="0">
                <a:solidFill>
                  <a:srgbClr val="FFFFFF"/>
                </a:solidFill>
              </a:rPr>
              <a:t>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14600"/>
            <a:ext cx="548640" cy="54864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117" y="2514600"/>
            <a:ext cx="548640" cy="54864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538" y="251460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Qualidade ABAP: Do Funcional ao Robusto</dc:title>
  <dc:subject>ABAP Moderno – Módulo 04</dc:subject>
  <dc:creator>Adriano Bispo</dc:creator>
  <cp:lastModifiedBy>Adriano Bispo</cp:lastModifiedBy>
  <cp:revision>1</cp:revision>
  <dcterms:created xsi:type="dcterms:W3CDTF">2026-10-25T23:51:50Z</dcterms:created>
  <dcterms:modified xsi:type="dcterms:W3CDTF">2026-10-25T23:51:50Z</dcterms:modified>
</cp:coreProperties>
</file>