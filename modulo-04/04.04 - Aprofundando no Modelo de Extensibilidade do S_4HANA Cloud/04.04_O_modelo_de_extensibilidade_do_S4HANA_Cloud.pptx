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05 — Extensibilidade Clean Core  ·  Aula 4 de 5 — Modelo de extensibilidade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05 — Extensibilidade Clean Core  ·  Aula 4 de 5 — Modelo de extensibilidade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05 · AULA 04 DE 05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O modelo de extensibilidade do S/4HANA Cloud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Três princípios e três tipos de extensão: key user, developer e side-by-side, e como escolher entre eles.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851392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9518904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10186416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1" name="Shape 9"/>
          <p:cNvSpPr/>
          <p:nvPr/>
        </p:nvSpPr>
        <p:spPr>
          <a:xfrm>
            <a:off x="10853928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4 de 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05 — Extensibilidade Clean Core · Design System SAP Horizon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05 em 5 aulas: Clean Core e extensibilidade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Clean Core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Extensões, núcleo limpo e transição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04099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68691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6869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2968691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UX de consumidor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968691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Princípios Fiori, launchpad e SAP Build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59558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2415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2415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5224150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ABAP Cloud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224150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Language version 5, released APIs e wrappers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017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79609" y="182880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7960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7479609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Modelo de extensibilidade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479609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Key user, developer e side-by-side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55097" y="1892808"/>
            <a:ext cx="792419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55097" y="1892808"/>
            <a:ext cx="7924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570476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735068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73506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9" name="Text 27"/>
          <p:cNvSpPr txBox="1"/>
          <p:nvPr/>
        </p:nvSpPr>
        <p:spPr>
          <a:xfrm>
            <a:off x="9735068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Private Edition e On-Premise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9735068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Níveis A–D, ATC e coexistência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conhecemos as três formas oficiais de estender o S/4HANA Cloud sem sujar o núcleo e os critérios para escolher a certa.</a:t>
            </a:r>
            <a:endParaRPr lang="en-US" sz="14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579" y="1847088"/>
            <a:ext cx="347472" cy="347472"/>
          </a:xfrm>
          <a:prstGeom prst="rect">
            <a:avLst/>
          </a:prstGeom>
        </p:spPr>
      </p:pic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038" y="1847088"/>
            <a:ext cx="347472" cy="347472"/>
          </a:xfrm>
          <a:prstGeom prst="rect">
            <a:avLst/>
          </a:prstGeom>
        </p:spPr>
      </p:pic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497" y="1847088"/>
            <a:ext cx="347472" cy="347472"/>
          </a:xfrm>
          <a:prstGeom prst="rect">
            <a:avLst/>
          </a:prstGeom>
        </p:spPr>
      </p:pic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8956" y="1847088"/>
            <a:ext cx="347472" cy="347472"/>
          </a:xfrm>
          <a:prstGeom prst="rect">
            <a:avLst/>
          </a:prstGeom>
        </p:spPr>
      </p:pic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Por que um novo modelo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No S/4HANA Cloud não existe projeto de upgrade por cliente: a SAP atualiza </a:t>
            </a:r>
            <a:r>
              <a:rPr lang="en-US" sz="1500" b="1" dirty="0">
                <a:solidFill>
                  <a:srgbClr val="556B82"/>
                </a:solidFill>
              </a:rPr>
              <a:t>todos ao mesmo tempo</a:t>
            </a:r>
            <a:r>
              <a:rPr lang="en-US" sz="1500" dirty="0">
                <a:solidFill>
                  <a:srgbClr val="556B82"/>
                </a:solidFill>
              </a:rPr>
              <a:t>. Exits e modificações clássicas não cabem nesse mundo.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48610"/>
            <a:ext cx="3545738" cy="1919732"/>
          </a:xfrm>
          <a:prstGeom prst="roundRect">
            <a:avLst>
              <a:gd name="adj" fmla="val 476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304977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3653282"/>
            <a:ext cx="3143402" cy="1005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On-stack ou side-by-side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Extensões rodam </a:t>
            </a:r>
            <a:r>
              <a:rPr lang="en-US" sz="1300" b="1" dirty="0">
                <a:solidFill>
                  <a:srgbClr val="556B82"/>
                </a:solidFill>
              </a:rPr>
              <a:t>dentro</a:t>
            </a:r>
            <a:r>
              <a:rPr lang="en-US" sz="1300" dirty="0">
                <a:solidFill>
                  <a:srgbClr val="556B82"/>
                </a:solidFill>
              </a:rPr>
              <a:t> do S/4HANA Cloud ou </a:t>
            </a:r>
            <a:r>
              <a:rPr lang="en-US" sz="1300" b="1" dirty="0">
                <a:solidFill>
                  <a:srgbClr val="556B82"/>
                </a:solidFill>
              </a:rPr>
              <a:t>fora</a:t>
            </a:r>
            <a:r>
              <a:rPr lang="en-US" sz="1300" dirty="0">
                <a:solidFill>
                  <a:srgbClr val="556B82"/>
                </a:solidFill>
              </a:rPr>
              <a:t>, no SAP BTP.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2978" y="2848610"/>
            <a:ext cx="3545738" cy="1919732"/>
          </a:xfrm>
          <a:prstGeom prst="roundRect">
            <a:avLst>
              <a:gd name="adj" fmla="val 476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4146" y="304977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4146" y="3653282"/>
            <a:ext cx="3143402" cy="1005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Só APIs liberadas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APIs locais e remotas, BAdIs e pontos de extensão de BOs RAP liberados.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97317" y="2848610"/>
            <a:ext cx="3545738" cy="1919732"/>
          </a:xfrm>
          <a:prstGeom prst="roundRect">
            <a:avLst>
              <a:gd name="adj" fmla="val 476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98485" y="304977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98485" y="3653282"/>
            <a:ext cx="3143402" cy="1005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Só tecnologia liberada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Ferramentas e tecnologias habilitadas e liberadas para a nuvem.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95122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07008" y="495122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Objetivo  </a:t>
            </a:r>
            <a:r>
              <a:rPr lang="en-US" sz="1200" dirty="0">
                <a:solidFill>
                  <a:srgbClr val="1D2D3E"/>
                </a:solidFill>
              </a:rPr>
              <a:t>manter a diferenciação competitiva das extensões </a:t>
            </a:r>
            <a:r>
              <a:rPr lang="en-US" sz="1200" b="1" dirty="0">
                <a:solidFill>
                  <a:srgbClr val="1D2D3E"/>
                </a:solidFill>
              </a:rPr>
              <a:t>e</a:t>
            </a:r>
            <a:r>
              <a:rPr lang="en-US" sz="1200" dirty="0">
                <a:solidFill>
                  <a:srgbClr val="1D2D3E"/>
                </a:solidFill>
              </a:rPr>
              <a:t> receber updates sem interrupção.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3150362"/>
            <a:ext cx="256032" cy="25603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730" y="3150362"/>
            <a:ext cx="256032" cy="256032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069" y="3150362"/>
            <a:ext cx="256032" cy="256032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07923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05.04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Três tipos de extensão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Duas categorias e três padrões: </a:t>
            </a:r>
            <a:r>
              <a:rPr lang="en-US" sz="1600" b="1" dirty="0">
                <a:solidFill>
                  <a:srgbClr val="D1EFFF"/>
                </a:solidFill>
              </a:rPr>
              <a:t>key user</a:t>
            </a:r>
            <a:r>
              <a:rPr lang="en-US" sz="1600" dirty="0">
                <a:solidFill>
                  <a:srgbClr val="D1EFFF"/>
                </a:solidFill>
              </a:rPr>
              <a:t> e </a:t>
            </a:r>
            <a:r>
              <a:rPr lang="en-US" sz="1600" b="1" dirty="0">
                <a:solidFill>
                  <a:srgbClr val="D1EFFF"/>
                </a:solidFill>
              </a:rPr>
              <a:t>developer</a:t>
            </a:r>
            <a:r>
              <a:rPr lang="en-US" sz="1600" dirty="0">
                <a:solidFill>
                  <a:srgbClr val="D1EFFF"/>
                </a:solidFill>
              </a:rPr>
              <a:t> (on-stack) e </a:t>
            </a:r>
            <a:r>
              <a:rPr lang="en-US" sz="1600" b="1" dirty="0">
                <a:solidFill>
                  <a:srgbClr val="D1EFFF"/>
                </a:solidFill>
              </a:rPr>
              <a:t>side-by-side</a:t>
            </a:r>
            <a:r>
              <a:rPr lang="en-US" sz="1600" dirty="0">
                <a:solidFill>
                  <a:srgbClr val="D1EFFF"/>
                </a:solidFill>
              </a:rPr>
              <a:t> (no BTP).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1</a:t>
            </a:r>
            <a:r>
              <a:rPr lang="en-US" sz="1000" dirty="0">
                <a:solidFill>
                  <a:srgbClr val="D1EFFF"/>
                </a:solidFill>
              </a:rPr>
              <a:t>  key user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2</a:t>
            </a:r>
            <a:r>
              <a:rPr lang="en-US" sz="1000" dirty="0">
                <a:solidFill>
                  <a:srgbClr val="D1EFFF"/>
                </a:solidFill>
              </a:rPr>
              <a:t>  developer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3</a:t>
            </a:r>
            <a:r>
              <a:rPr lang="en-US" sz="1000" dirty="0">
                <a:solidFill>
                  <a:srgbClr val="D1EFFF"/>
                </a:solidFill>
              </a:rPr>
              <a:t>  side-by-side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Combinação</a:t>
            </a:r>
            <a:r>
              <a:rPr lang="en-US" sz="1000" dirty="0">
                <a:solidFill>
                  <a:srgbClr val="D1EFFF"/>
                </a:solidFill>
              </a:rPr>
              <a:t>  comum na prática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· PANORAMA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 low-code ao app independente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2381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51460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Key user · Type 1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Apps Fiori low-code, on-stack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45610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4383938" y="1920240"/>
            <a:ext cx="342381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75378" y="251460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Developer · Type 2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Cloud no ADT, on-stack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80909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0" name="Shape 8"/>
          <p:cNvSpPr/>
          <p:nvPr/>
        </p:nvSpPr>
        <p:spPr>
          <a:xfrm>
            <a:off x="8219237" y="1920240"/>
            <a:ext cx="342381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10677" y="251460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Side-by-side · Type 3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Apps no SAP BTP via APIs remotas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Persona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Key users e especialistas de negócio; desenvolvedores ABAP; desenvolvedores de BTP e parceiros.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22978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05858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05858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Acoplamento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On-stack fica perto dos dados e na mesma LUW; side-by-side é desacoplado.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97317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80197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80197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Não excludentes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Muitos casos combinam os três tipos em uma mesma solução.</a:t>
            </a:r>
            <a:endParaRPr lang="en-US" sz="14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7669" y="2084832"/>
            <a:ext cx="365760" cy="365760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968" y="2084832"/>
            <a:ext cx="365760" cy="365760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8266" y="2084832"/>
            <a:ext cx="365760" cy="365760"/>
          </a:xfrm>
          <a:prstGeom prst="rect">
            <a:avLst/>
          </a:prstGeom>
        </p:spPr>
      </p:pic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034" y="3928994"/>
            <a:ext cx="225308" cy="225308"/>
          </a:xfrm>
          <a:prstGeom prst="rect">
            <a:avLst/>
          </a:prstGeom>
        </p:spPr>
      </p:pic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372" y="3928994"/>
            <a:ext cx="225308" cy="225308"/>
          </a:xfrm>
          <a:prstGeom prst="rect">
            <a:avLst/>
          </a:prstGeom>
        </p:spPr>
      </p:pic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8711" y="3928994"/>
            <a:ext cx="225308" cy="2253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05.04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Key user extensibility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Antes chamada </a:t>
            </a:r>
            <a:r>
              <a:rPr lang="en-US" sz="1600" b="1" dirty="0">
                <a:solidFill>
                  <a:srgbClr val="D1EFFF"/>
                </a:solidFill>
              </a:rPr>
              <a:t>in-app</a:t>
            </a:r>
            <a:r>
              <a:rPr lang="en-US" sz="1600" dirty="0">
                <a:solidFill>
                  <a:srgbClr val="D1EFFF"/>
                </a:solidFill>
              </a:rPr>
              <a:t>. Ferramentas Fiori </a:t>
            </a:r>
            <a:r>
              <a:rPr lang="en-US" sz="1600" b="1" dirty="0">
                <a:solidFill>
                  <a:srgbClr val="D1EFFF"/>
                </a:solidFill>
              </a:rPr>
              <a:t>low-code/no-code</a:t>
            </a:r>
            <a:r>
              <a:rPr lang="en-US" sz="1600" dirty="0">
                <a:solidFill>
                  <a:srgbClr val="D1EFFF"/>
                </a:solidFill>
              </a:rPr>
              <a:t> que escondem os detalhes técnicos do sistema estendido.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adaptation</a:t>
            </a:r>
            <a:r>
              <a:rPr lang="en-US" sz="1000" dirty="0">
                <a:solidFill>
                  <a:srgbClr val="D1EFFF"/>
                </a:solidFill>
              </a:rPr>
              <a:t>  em runtime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 fields · logic</a:t>
            </a:r>
            <a:r>
              <a:rPr lang="en-US" sz="1000" dirty="0">
                <a:solidFill>
                  <a:srgbClr val="D1EFFF"/>
                </a:solidFill>
              </a:rPr>
              <a:t>  campos e regras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 BO · CDS</a:t>
            </a:r>
            <a:r>
              <a:rPr lang="en-US" sz="1000" dirty="0">
                <a:solidFill>
                  <a:srgbClr val="D1EFFF"/>
                </a:solidFill>
              </a:rPr>
              <a:t>  dados próprios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Queries · KPIs · forms</a:t>
            </a:r>
            <a:r>
              <a:rPr lang="en-US" sz="1000" dirty="0">
                <a:solidFill>
                  <a:srgbClr val="D1EFFF"/>
                </a:solidFill>
              </a:rPr>
              <a:t>  relatórios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TYPE 1 · FERRAMENTAS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que o key user consegue fazer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3346704"/>
          </a:xfrm>
          <a:prstGeom prst="roundRect">
            <a:avLst>
              <a:gd name="adj" fmla="val 273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3381280"/>
                <a:gridCol w="743881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Ferramenta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Para quê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UI adaptation at runtime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Mudar rótulos, ocultar ou adicionar campos na tela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Custom Fields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Novos campos em tabelas, CDS views e serviços OData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Custom Logic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Regras de negócio em ABAP num editor web, com checagem e teste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Custom Business Objects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Novos BOs com tabelas e API de CRUD gerada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Custom CDS Views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Acesso a dados para relatórios e lógica própria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Custom Analytical Queries · KPIs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Consultas e KPIs como tiles com drill-down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Custom Forms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Modelos de formulário e email sobre CDS e OData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75504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5175504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Linguagem  </a:t>
            </a:r>
            <a:r>
              <a:rPr lang="en-US" sz="1200" dirty="0">
                <a:solidFill>
                  <a:srgbClr val="1D2D3E"/>
                </a:solidFill>
              </a:rPr>
              <a:t>a lógica de key user usa a versão </a:t>
            </a:r>
            <a:r>
              <a:rPr lang="en-US" sz="1200" i="1" dirty="0">
                <a:solidFill>
                  <a:srgbClr val="1D2D3E"/>
                </a:solidFill>
              </a:rPr>
              <a:t>ABAP for Key Users</a:t>
            </a:r>
            <a:r>
              <a:rPr lang="en-US" sz="1200" dirty="0">
                <a:solidFill>
                  <a:srgbClr val="1D2D3E"/>
                </a:solidFill>
              </a:rPr>
              <a:t>, um subconjunto ainda mais restrito do ABAP Cloud.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303520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05.04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Developer extensibility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Para casos mais complexos, o desenvolvedor usa </a:t>
            </a:r>
            <a:r>
              <a:rPr lang="en-US" sz="1600" b="1" dirty="0">
                <a:solidFill>
                  <a:srgbClr val="D1EFFF"/>
                </a:solidFill>
              </a:rPr>
              <a:t>ABAP Cloud</a:t>
            </a:r>
            <a:r>
              <a:rPr lang="en-US" sz="1600" dirty="0">
                <a:solidFill>
                  <a:srgbClr val="D1EFFF"/>
                </a:solidFill>
              </a:rPr>
              <a:t> no ADT, dentro do S/4HANA, com </a:t>
            </a:r>
            <a:r>
              <a:rPr lang="en-US" sz="1600" b="1" dirty="0">
                <a:solidFill>
                  <a:srgbClr val="D1EFFF"/>
                </a:solidFill>
              </a:rPr>
              <a:t>extensões RAP</a:t>
            </a:r>
            <a:r>
              <a:rPr lang="en-US" sz="1600" dirty="0">
                <a:solidFill>
                  <a:srgbClr val="D1EFFF"/>
                </a:solidFill>
              </a:rPr>
              <a:t> e </a:t>
            </a:r>
            <a:r>
              <a:rPr lang="en-US" sz="1600" b="1" dirty="0">
                <a:solidFill>
                  <a:srgbClr val="D1EFFF"/>
                </a:solidFill>
              </a:rPr>
              <a:t>BAdIs</a:t>
            </a:r>
            <a:r>
              <a:rPr lang="en-US" sz="1600" dirty="0">
                <a:solidFill>
                  <a:srgbClr val="D1EFFF"/>
                </a:solidFill>
              </a:rPr>
              <a:t> liberados.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RAP extensibility</a:t>
            </a:r>
            <a:r>
              <a:rPr lang="en-US" sz="1000" dirty="0">
                <a:solidFill>
                  <a:srgbClr val="D1EFFF"/>
                </a:solidFill>
              </a:rPr>
              <a:t>  125+ BO interfaces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 BAdIs</a:t>
            </a:r>
            <a:r>
              <a:rPr lang="en-US" sz="1000" dirty="0">
                <a:solidFill>
                  <a:srgbClr val="D1EFFF"/>
                </a:solidFill>
              </a:rPr>
              <a:t>  800+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Mesma LUW</a:t>
            </a:r>
            <a:r>
              <a:rPr lang="en-US" sz="1000" dirty="0">
                <a:solidFill>
                  <a:srgbClr val="D1EFFF"/>
                </a:solidFill>
              </a:rPr>
              <a:t>  perto dos dados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tenants</a:t>
            </a:r>
            <a:r>
              <a:rPr lang="en-US" sz="1000" dirty="0">
                <a:solidFill>
                  <a:srgbClr val="D1EFFF"/>
                </a:solidFill>
              </a:rPr>
              <a:t>  dev · teste · prod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TYPE 2 · QUANDO USAR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Casos típicos de developer extension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574290"/>
            <a:ext cx="3545738" cy="1919732"/>
          </a:xfrm>
          <a:prstGeom prst="roundRect">
            <a:avLst>
              <a:gd name="adj" fmla="val 476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77545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378962"/>
            <a:ext cx="3143402" cy="1005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SQL frequente ou complexo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Extensões que leem muitos dados do S/4HANA com desempenho.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574290"/>
            <a:ext cx="3545738" cy="1919732"/>
          </a:xfrm>
          <a:prstGeom prst="roundRect">
            <a:avLst>
              <a:gd name="adj" fmla="val 476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277545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3378962"/>
            <a:ext cx="3143402" cy="1005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Mesma LUW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Lógica que precisa rodar na mesma unidade de trabalho da aplicação SAP.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574290"/>
            <a:ext cx="3545738" cy="1919732"/>
          </a:xfrm>
          <a:prstGeom prst="roundRect">
            <a:avLst>
              <a:gd name="adj" fmla="val 476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277545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3378962"/>
            <a:ext cx="3143402" cy="1005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API para side-by-side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Serviços RAP próprios expostos para apps no BTP.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67690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67690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SAP decide  </a:t>
            </a:r>
            <a:r>
              <a:rPr lang="en-US" sz="1200" dirty="0">
                <a:solidFill>
                  <a:srgbClr val="1D2D3E"/>
                </a:solidFill>
              </a:rPr>
              <a:t>como no mundo clássico, a SAP define quais BOs e BAdIs são extensíveis e até que ponto.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876042"/>
            <a:ext cx="256032" cy="256032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730" y="2876042"/>
            <a:ext cx="256032" cy="256032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069" y="2876042"/>
            <a:ext cx="256032" cy="256032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80491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TYPE 2 · RAP EXTENSIBILITY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que estender em cada camada de um BO RAP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2542032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3381280"/>
                <a:gridCol w="743881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Exemplos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Data model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Campos via extension include da tabela e da CDS view; novas associações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Field behavior · behavior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Novas actions, determinations e validations; save adicional; extensão do Prepare em draft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Node · service definition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Novas entidades no BO e exposição no serviço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7083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37083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Liberado explicitamente  </a:t>
            </a:r>
            <a:r>
              <a:rPr lang="en-US" sz="1200" dirty="0">
                <a:solidFill>
                  <a:srgbClr val="1D2D3E"/>
                </a:solidFill>
              </a:rPr>
              <a:t>tabelas, views e BOs só são extensíveis quando a SAP os marca como tal (C0).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49884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TYPE 2 · BADIS E LANDSCAPE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Cloud BAdIs e o landscape de três tenants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8291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782919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305723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305723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Cloud BAdIs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9731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Conceito antigo, agora com BAdIs </a:t>
            </a:r>
            <a:r>
              <a:rPr lang="en-US" sz="1350" b="1" dirty="0">
                <a:solidFill>
                  <a:srgbClr val="1D2D3E"/>
                </a:solidFill>
              </a:rPr>
              <a:t>liberados</a:t>
            </a:r>
            <a:r>
              <a:rPr lang="en-US" sz="1350" dirty="0">
                <a:solidFill>
                  <a:srgbClr val="1D2D3E"/>
                </a:solidFill>
              </a:rPr>
              <a:t> para a nuvem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Orientados a objetos e separados do objeto SAP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Updates não afetam a implementação, e vice-versa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78291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782919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305723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305723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Landscape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69731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Antes: dois tenants (qualidade e produção)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Com developer extensions: </a:t>
            </a:r>
            <a:r>
              <a:rPr lang="en-US" sz="1350" b="1" dirty="0">
                <a:solidFill>
                  <a:srgbClr val="1D2D3E"/>
                </a:solidFill>
              </a:rPr>
              <a:t>dev, teste e produção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Extensões de key user e developer vão por </a:t>
            </a:r>
            <a:r>
              <a:rPr lang="en-US" sz="1350" b="1" dirty="0">
                <a:solidFill>
                  <a:srgbClr val="1D2D3E"/>
                </a:solidFill>
              </a:rPr>
              <a:t>transporte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3157823"/>
            <a:ext cx="256032" cy="25603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3157823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05.04 · SEÇÃO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Side-by-side e a escolha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A extensão roda no </a:t>
            </a:r>
            <a:r>
              <a:rPr lang="en-US" sz="1600" b="1" dirty="0">
                <a:solidFill>
                  <a:srgbClr val="D1EFFF"/>
                </a:solidFill>
              </a:rPr>
              <a:t>SAP BTP</a:t>
            </a:r>
            <a:r>
              <a:rPr lang="en-US" sz="1600" dirty="0">
                <a:solidFill>
                  <a:srgbClr val="D1EFFF"/>
                </a:solidFill>
              </a:rPr>
              <a:t> (Java, Node.js ou ABAP environment) e acessa o S/4HANA só por </a:t>
            </a:r>
            <a:r>
              <a:rPr lang="en-US" sz="1600" b="1" dirty="0">
                <a:solidFill>
                  <a:srgbClr val="D1EFFF"/>
                </a:solidFill>
              </a:rPr>
              <a:t>APIs remotas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 BTP</a:t>
            </a:r>
            <a:r>
              <a:rPr lang="en-US" sz="1000" dirty="0">
                <a:solidFill>
                  <a:srgbClr val="D1EFFF"/>
                </a:solidFill>
              </a:rPr>
              <a:t>  runtime separado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 APIs</a:t>
            </a:r>
            <a:r>
              <a:rPr lang="en-US" sz="1000" dirty="0">
                <a:solidFill>
                  <a:srgbClr val="D1EFFF"/>
                </a:solidFill>
              </a:rPr>
              <a:t>  OData · SOAP · eventos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Casos</a:t>
            </a:r>
            <a:r>
              <a:rPr lang="en-US" sz="1000" dirty="0">
                <a:solidFill>
                  <a:srgbClr val="D1EFFF"/>
                </a:solidFill>
              </a:rPr>
              <a:t>  IA, multi-sistema, SaaS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Critérios</a:t>
            </a:r>
            <a:r>
              <a:rPr lang="en-US" sz="1000" dirty="0">
                <a:solidFill>
                  <a:srgbClr val="D1EFFF"/>
                </a:solidFill>
              </a:rPr>
              <a:t>  uso, arquitetura, escopo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TYPE 3 · QUANDO USAR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Side-by-side faz sentido quando…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574290"/>
            <a:ext cx="3545738" cy="1919732"/>
          </a:xfrm>
          <a:prstGeom prst="roundRect">
            <a:avLst>
              <a:gd name="adj" fmla="val 476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77545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378962"/>
            <a:ext cx="3143402" cy="1005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Serviços do BTP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 app precisa de machine learning, IA e outros serviços da plataforma.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574290"/>
            <a:ext cx="3545738" cy="1919732"/>
          </a:xfrm>
          <a:prstGeom prst="roundRect">
            <a:avLst>
              <a:gd name="adj" fmla="val 476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277545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3378962"/>
            <a:ext cx="3143402" cy="1005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Vários sistemas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Integra dados de sistemas cloud e on-premise, não só do S/4HANA.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574290"/>
            <a:ext cx="3545738" cy="1919732"/>
          </a:xfrm>
          <a:prstGeom prst="roundRect">
            <a:avLst>
              <a:gd name="adj" fmla="val 476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277545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3378962"/>
            <a:ext cx="3143402" cy="1005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SaaS de parceiros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Soluções oferecidas a muitos clientes, independentes do núcleo.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67690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67690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BTP ABAP environment  </a:t>
            </a:r>
            <a:r>
              <a:rPr lang="en-US" sz="1200" dirty="0">
                <a:solidFill>
                  <a:srgbClr val="1D2D3E"/>
                </a:solidFill>
              </a:rPr>
              <a:t>PaaS ABAP com SAP HANA, RAP, ADT e ABAP Cloud, multitenancy incluída: escolha natural para side-by-side em ABAP.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876042"/>
            <a:ext cx="256032" cy="256032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804918"/>
            <a:ext cx="310896" cy="310896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069" y="2876042"/>
            <a:ext cx="256032" cy="256032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4730" y="2876042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TYPE 3 · COMO ESCOLHER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Três perguntas antes de estender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330653" y="2692908"/>
            <a:ext cx="7530389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983181" y="2345436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83181" y="234543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1</a:t>
            </a:r>
            <a:endParaRPr lang="en-US" sz="2280" dirty="0"/>
          </a:p>
        </p:txBody>
      </p:sp>
      <p:sp>
        <p:nvSpPr>
          <p:cNvPr id="7" name="Shape 5"/>
          <p:cNvSpPr/>
          <p:nvPr/>
        </p:nvSpPr>
        <p:spPr>
          <a:xfrm>
            <a:off x="548640" y="3214116"/>
            <a:ext cx="3564026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396996"/>
            <a:ext cx="278678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Caso de uso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É um app novo ou uma extensão de um app SAP?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48376" y="2345436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748376" y="234543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2</a:t>
            </a:r>
            <a:endParaRPr lang="en-US" sz="2280" dirty="0"/>
          </a:p>
        </p:txBody>
      </p:sp>
      <p:sp>
        <p:nvSpPr>
          <p:cNvPr id="11" name="Shape 9"/>
          <p:cNvSpPr/>
          <p:nvPr/>
        </p:nvSpPr>
        <p:spPr>
          <a:xfrm>
            <a:off x="4313834" y="3214116"/>
            <a:ext cx="3564026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496714" y="3396996"/>
            <a:ext cx="278678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Arquitetura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Fortemente ou fracamente acoplado? Usa só dados do S/4HANA ou de vários produtos?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513570" y="2345436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513570" y="234543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3</a:t>
            </a:r>
            <a:endParaRPr lang="en-US" sz="2280" dirty="0"/>
          </a:p>
        </p:txBody>
      </p:sp>
      <p:sp>
        <p:nvSpPr>
          <p:cNvPr id="15" name="Shape 13"/>
          <p:cNvSpPr/>
          <p:nvPr/>
        </p:nvSpPr>
        <p:spPr>
          <a:xfrm>
            <a:off x="8079029" y="3214116"/>
            <a:ext cx="3564026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61909" y="3396996"/>
            <a:ext cx="278678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Escopo e tamanho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Pequeno ajuste de um key user, projeto de TI ou SaaS de parceiro?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905756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207008" y="4905756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Próximo passo  </a:t>
            </a:r>
            <a:r>
              <a:rPr lang="en-US" sz="1200" dirty="0">
                <a:solidFill>
                  <a:srgbClr val="1D2D3E"/>
                </a:solidFill>
              </a:rPr>
              <a:t>no Private Edition e on-premise, os </a:t>
            </a:r>
            <a:r>
              <a:rPr lang="en-US" sz="1200" b="1" dirty="0">
                <a:solidFill>
                  <a:srgbClr val="1D2D3E"/>
                </a:solidFill>
              </a:rPr>
              <a:t>níveis A–D</a:t>
            </a:r>
            <a:r>
              <a:rPr lang="en-US" sz="1200" dirty="0">
                <a:solidFill>
                  <a:srgbClr val="1D2D3E"/>
                </a:solidFill>
              </a:rPr>
              <a:t> do Clean Core classificam cada extensão (aula 05.05).</a:t>
            </a:r>
            <a:endParaRPr lang="en-US" sz="14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4026" y="3369564"/>
            <a:ext cx="329184" cy="329184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033772"/>
            <a:ext cx="310896" cy="310896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221" y="3369564"/>
            <a:ext cx="329184" cy="329184"/>
          </a:xfrm>
          <a:prstGeom prst="rect">
            <a:avLst/>
          </a:prstGeom>
        </p:spPr>
      </p:pic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3369564"/>
            <a:ext cx="329184" cy="3291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05.04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Updates simultâneos exigem extensões </a:t>
            </a:r>
            <a:r>
              <a:rPr lang="en-US" sz="1400" b="1" dirty="0">
                <a:solidFill>
                  <a:srgbClr val="FFFFFF"/>
                </a:solidFill>
              </a:rPr>
              <a:t>on-stack</a:t>
            </a:r>
            <a:r>
              <a:rPr lang="en-US" sz="1400" dirty="0">
                <a:solidFill>
                  <a:srgbClr val="FFFFFF"/>
                </a:solidFill>
              </a:rPr>
              <a:t> ou </a:t>
            </a:r>
            <a:r>
              <a:rPr lang="en-US" sz="1400" b="1" dirty="0">
                <a:solidFill>
                  <a:srgbClr val="FFFFFF"/>
                </a:solidFill>
              </a:rPr>
              <a:t>side-by-side</a:t>
            </a:r>
            <a:r>
              <a:rPr lang="en-US" sz="1400" dirty="0">
                <a:solidFill>
                  <a:srgbClr val="FFFFFF"/>
                </a:solidFill>
              </a:rPr>
              <a:t>, só com APIs liberadas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Key user</a:t>
            </a:r>
            <a:r>
              <a:rPr lang="en-US" sz="1400" dirty="0">
                <a:solidFill>
                  <a:srgbClr val="FFFFFF"/>
                </a:solidFill>
              </a:rPr>
              <a:t> (Type 1): ferramentas Fiori low-code para campos, lógica, BOs, CDS, KPIs e forms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Developer</a:t>
            </a:r>
            <a:r>
              <a:rPr lang="en-US" sz="1400" dirty="0">
                <a:solidFill>
                  <a:srgbClr val="FFFFFF"/>
                </a:solidFill>
              </a:rPr>
              <a:t> (Type 2): ABAP Cloud no ADT com </a:t>
            </a:r>
            <a:r>
              <a:rPr lang="en-US" sz="1400" b="1" dirty="0">
                <a:solidFill>
                  <a:srgbClr val="FFFFFF"/>
                </a:solidFill>
              </a:rPr>
              <a:t>extensões RAP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Cloud BAdIs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Developer extensions pedem </a:t>
            </a:r>
            <a:r>
              <a:rPr lang="en-US" sz="1400" b="1" dirty="0">
                <a:solidFill>
                  <a:srgbClr val="FFFFFF"/>
                </a:solidFill>
              </a:rPr>
              <a:t>três tenants</a:t>
            </a:r>
            <a:r>
              <a:rPr lang="en-US" sz="1400" dirty="0">
                <a:solidFill>
                  <a:srgbClr val="FFFFFF"/>
                </a:solidFill>
              </a:rPr>
              <a:t> e vão por transporte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Side-by-side</a:t>
            </a:r>
            <a:r>
              <a:rPr lang="en-US" sz="1400" dirty="0">
                <a:solidFill>
                  <a:srgbClr val="FFFFFF"/>
                </a:solidFill>
              </a:rPr>
              <a:t> (Type 3): apps no SAP BTP consumindo </a:t>
            </a:r>
            <a:r>
              <a:rPr lang="en-US" sz="1400" b="1" dirty="0">
                <a:solidFill>
                  <a:srgbClr val="FFFFFF"/>
                </a:solidFill>
              </a:rPr>
              <a:t>APIs remotas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Escolha por caso de uso, acoplamento e escopo; os três tipos podem ser combinados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05.05  </a:t>
            </a:r>
            <a:r>
              <a:rPr lang="en-US" sz="1500" dirty="0">
                <a:solidFill>
                  <a:srgbClr val="FFFFFF"/>
                </a:solidFill>
              </a:rPr>
              <a:t>Private Edition e On-Premise: Níveis A–D, ATC e coexistência.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05.04 O modelo de extensibilidade do S/4HANA Cloud</dc:title>
  <dc:subject>ABAP Moderno – Módulo 05: Extensibilidade Clean Core</dc:subject>
  <dc:creator>Adriano Bispo</dc:creator>
  <cp:lastModifiedBy>Adriano Bispo</cp:lastModifiedBy>
  <cp:revision>1</cp:revision>
  <dcterms:created xsi:type="dcterms:W3CDTF">2026-10-29T01:28:14Z</dcterms:created>
  <dcterms:modified xsi:type="dcterms:W3CDTF">2026-10-29T01:28:14Z</dcterms:modified>
</cp:coreProperties>
</file>