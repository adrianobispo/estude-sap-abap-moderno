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D2D3E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D2D3E"/>
                </a:solidFill>
                <a:latin typeface="+mn-lt"/>
              </a:rPr>
              <a:t>Tempo de execução (microssegundos)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Tempo (µs)</c:v>
                </c:pt>
              </c:strCache>
            </c:strRef>
          </c:tx>
          <c:spPr>
            <a:solidFill>
              <a:srgbClr val="0070F2"/>
            </a:solidFill>
            <a:effectLst/>
          </c:spPr>
          <c:invertIfNegative val="0"/>
          <c:dLbls>
            <c:numFmt formatCode="#,##0 &quot;µs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D2D3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70F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7650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Busca linear</c:v>
                  </c:pt>
                  <c:pt idx="1">
                    <c:v>Busca com chave Sorted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125430</c:v>
                </c:pt>
                <c:pt idx="1">
                  <c:v>25</c:v>
                </c:pt>
              </c:numCache>
            </c:numRef>
          </c:val>
        </c:ser>
        <c:dLbls>
          <c:numFmt formatCode="#,##0 &quot;µs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D2D3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D2D3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04  ·  04.05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04  ·  04.05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04  ·  04.05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04  ·  04.05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Performance de Elite em Tabelas Internas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De O(n) a O(1): dominando chaves secundárias e gerenciamento de memória.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15400" y="16002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33302B"/>
          </a:solidFill>
          <a:ln w="9525">
            <a:solidFill>
              <a:srgbClr val="6B5E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0" y="1600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… WHERE (O(n))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21671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B1FF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15400" y="2350008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0" y="23500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SORTED KEY · O(log n)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15400" y="3099816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0" y="309981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HASHED KEY · O(1)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15400" y="3849624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0" y="384962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USING KEY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15400" y="4599432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09760" y="45994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ASSIGNING &lt;fs&gt;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1737360"/>
            <a:ext cx="292608" cy="292608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3236976"/>
            <a:ext cx="292608" cy="292608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487168"/>
            <a:ext cx="292608" cy="292608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3986784"/>
            <a:ext cx="292608" cy="292608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Objetivos de Aprendizagem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1004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856232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2660904"/>
            <a:ext cx="489798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Complexidade Algorítmica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56B82"/>
                </a:solidFill>
              </a:rPr>
              <a:t>Compreender a Notação Big O aplicada a buscas em tabelas internas ABAP.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33008" y="1600200"/>
            <a:ext cx="541004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89040" y="1856232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89040" y="2660904"/>
            <a:ext cx="489798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Chaves Secundárias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56B82"/>
                </a:solidFill>
              </a:rPr>
              <a:t>Implementar e consumir SECONDARY KEYS para acelerar buscas em tabelas Standard.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541004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4279392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" y="5084064"/>
            <a:ext cx="489798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Memória eficiente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56B82"/>
                </a:solidFill>
              </a:rPr>
              <a:t>Gerenciar a memória com Field-Symbols (ASSIGNING) e Referências de Dados (REFERENCE INTO).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33008" y="4023360"/>
            <a:ext cx="541004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89040" y="4279392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89040" y="5084064"/>
            <a:ext cx="489798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Nested Loops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56B82"/>
                </a:solidFill>
              </a:rPr>
              <a:t>Refatorar o antipadrão de loops aninhados, transformando-os em operações de alta performance.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2009851"/>
            <a:ext cx="332842" cy="332842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2659" y="2009851"/>
            <a:ext cx="332842" cy="332842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" y="4433011"/>
            <a:ext cx="332842" cy="332842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2659" y="4433011"/>
            <a:ext cx="332842" cy="332842"/>
          </a:xfrm>
          <a:prstGeom prst="rect">
            <a:avLst/>
          </a:prstGeom>
        </p:spPr>
      </p:pic>
      <p:sp>
        <p:nvSpPr>
          <p:cNvPr id="19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Problema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Custo Oculto do “Table Scan”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6692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D2D3E"/>
                </a:solidFill>
              </a:rPr>
              <a:t>Uma tabela Standard é como uma lista de compras: para encontrar um item, você precisa ler um por um, do início ao fim.</a:t>
            </a:r>
            <a:endParaRPr lang="en-US" sz="16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1D2D3E"/>
                </a:solidFill>
              </a:rPr>
              <a:t>Complexidade: O(n)</a:t>
            </a:r>
            <a:r>
              <a:rPr lang="en-US" sz="1800" dirty="0">
                <a:solidFill>
                  <a:srgbClr val="1D2D3E"/>
                </a:solidFill>
              </a:rPr>
              <a:t> — o tempo de busca cresce linearmente com o número de registros (n).</a:t>
            </a:r>
            <a:endParaRPr lang="en-US" sz="16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1D2D3E"/>
                </a:solidFill>
              </a:rPr>
              <a:t>Impacto:</a:t>
            </a:r>
            <a:r>
              <a:rPr lang="en-US" sz="1800" dirty="0">
                <a:solidFill>
                  <a:srgbClr val="1D2D3E"/>
                </a:solidFill>
              </a:rPr>
              <a:t> em desenvolvimento (100 linhas) é instantâneo. Em produção (1.000.000 de linhas) causa </a:t>
            </a:r>
            <a:r>
              <a:rPr lang="en-US" sz="1800" b="1" dirty="0">
                <a:solidFill>
                  <a:srgbClr val="1D2D3E"/>
                </a:solidFill>
              </a:rPr>
              <a:t>timeouts</a:t>
            </a:r>
            <a:r>
              <a:rPr lang="en-US" sz="1800" dirty="0">
                <a:solidFill>
                  <a:srgbClr val="1D2D3E"/>
                </a:solidFill>
              </a:rPr>
              <a:t> catastróficos.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0" y="3246120"/>
            <a:ext cx="252969" cy="457200"/>
          </a:xfrm>
          <a:prstGeom prst="rect">
            <a:avLst/>
          </a:prstGeom>
          <a:solidFill>
            <a:srgbClr val="EEF1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36649" y="3246120"/>
            <a:ext cx="252969" cy="457200"/>
          </a:xfrm>
          <a:prstGeom prst="rect">
            <a:avLst/>
          </a:prstGeom>
          <a:solidFill>
            <a:srgbClr val="EEF1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9618" y="3246120"/>
            <a:ext cx="252969" cy="457200"/>
          </a:xfrm>
          <a:prstGeom prst="rect">
            <a:avLst/>
          </a:prstGeom>
          <a:solidFill>
            <a:srgbClr val="EEF1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42586" y="3246120"/>
            <a:ext cx="252969" cy="457200"/>
          </a:xfrm>
          <a:prstGeom prst="rect">
            <a:avLst/>
          </a:prstGeom>
          <a:solidFill>
            <a:srgbClr val="EEF1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95555" y="3246120"/>
            <a:ext cx="252969" cy="457200"/>
          </a:xfrm>
          <a:prstGeom prst="rect">
            <a:avLst/>
          </a:prstGeom>
          <a:solidFill>
            <a:srgbClr val="EEF1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48524" y="3246120"/>
            <a:ext cx="252969" cy="457200"/>
          </a:xfrm>
          <a:prstGeom prst="rect">
            <a:avLst/>
          </a:prstGeom>
          <a:solidFill>
            <a:srgbClr val="EEF1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01493" y="3246120"/>
            <a:ext cx="252969" cy="457200"/>
          </a:xfrm>
          <a:prstGeom prst="rect">
            <a:avLst/>
          </a:prstGeom>
          <a:solidFill>
            <a:srgbClr val="EEF1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54461" y="3246120"/>
            <a:ext cx="252969" cy="457200"/>
          </a:xfrm>
          <a:prstGeom prst="rect">
            <a:avLst/>
          </a:prstGeom>
          <a:solidFill>
            <a:srgbClr val="EEF1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07430" y="3246120"/>
            <a:ext cx="252969" cy="457200"/>
          </a:xfrm>
          <a:prstGeom prst="rect">
            <a:avLst/>
          </a:prstGeom>
          <a:solidFill>
            <a:srgbClr val="EEF1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60399" y="3246120"/>
            <a:ext cx="252969" cy="457200"/>
          </a:xfrm>
          <a:prstGeom prst="rect">
            <a:avLst/>
          </a:prstGeom>
          <a:solidFill>
            <a:srgbClr val="EEF1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13368" y="3246120"/>
            <a:ext cx="252969" cy="457200"/>
          </a:xfrm>
          <a:prstGeom prst="rect">
            <a:avLst/>
          </a:prstGeom>
          <a:solidFill>
            <a:srgbClr val="EEF1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66336" y="3246120"/>
            <a:ext cx="252969" cy="457200"/>
          </a:xfrm>
          <a:prstGeom prst="rect">
            <a:avLst/>
          </a:prstGeom>
          <a:solidFill>
            <a:srgbClr val="EEF1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19305" y="3246120"/>
            <a:ext cx="252969" cy="457200"/>
          </a:xfrm>
          <a:prstGeom prst="rect">
            <a:avLst/>
          </a:prstGeom>
          <a:solidFill>
            <a:srgbClr val="EEF1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2274" y="3246120"/>
            <a:ext cx="252969" cy="457200"/>
          </a:xfrm>
          <a:prstGeom prst="rect">
            <a:avLst/>
          </a:prstGeom>
          <a:solidFill>
            <a:srgbClr val="EEF1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25243" y="3246120"/>
            <a:ext cx="252969" cy="457200"/>
          </a:xfrm>
          <a:prstGeom prst="rect">
            <a:avLst/>
          </a:prstGeom>
          <a:solidFill>
            <a:srgbClr val="EEF1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78211" y="3246120"/>
            <a:ext cx="252969" cy="457200"/>
          </a:xfrm>
          <a:prstGeom prst="rect">
            <a:avLst/>
          </a:prstGeom>
          <a:solidFill>
            <a:srgbClr val="EEF1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31180" y="3246120"/>
            <a:ext cx="252969" cy="457200"/>
          </a:xfrm>
          <a:prstGeom prst="rect">
            <a:avLst/>
          </a:prstGeom>
          <a:solidFill>
            <a:srgbClr val="EEF1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84149" y="3246120"/>
            <a:ext cx="252969" cy="457200"/>
          </a:xfrm>
          <a:prstGeom prst="rect">
            <a:avLst/>
          </a:prstGeom>
          <a:solidFill>
            <a:srgbClr val="FFF8D6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37118" y="3246120"/>
            <a:ext cx="252969" cy="457200"/>
          </a:xfrm>
          <a:prstGeom prst="rect">
            <a:avLst/>
          </a:prstGeom>
          <a:solidFill>
            <a:srgbClr val="EEF1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390086" y="3246120"/>
            <a:ext cx="252969" cy="457200"/>
          </a:xfrm>
          <a:prstGeom prst="rect">
            <a:avLst/>
          </a:prstGeom>
          <a:solidFill>
            <a:srgbClr val="EEF1F4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2971800"/>
            <a:ext cx="5059375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dash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6583680" y="3931920"/>
            <a:ext cx="5059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6B82"/>
                </a:solidFill>
              </a:rPr>
              <a:t>Linha a linha, até encontrar o alvo.</a:t>
            </a:r>
            <a:endParaRPr lang="en-US" sz="14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2437" y="3310128"/>
            <a:ext cx="329184" cy="329184"/>
          </a:xfrm>
          <a:prstGeom prst="rect">
            <a:avLst/>
          </a:prstGeom>
        </p:spPr>
      </p:pic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697480"/>
            <a:ext cx="1097280" cy="10972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Antagonista Clássico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Nested Loops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Cenário ingênuo (quadrático):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85216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221992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tabela_a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5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10.000 linhas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tabela_b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5.000 linhas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ENDLOOP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O desastre matemático: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690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2D3E"/>
                </a:solidFill>
              </a:rPr>
              <a:t>10.000 × 5.000 = </a:t>
            </a:r>
            <a:r>
              <a:rPr lang="en-US" sz="4000" b="1" dirty="0">
                <a:solidFill>
                  <a:srgbClr val="E76500"/>
                </a:solidFill>
              </a:rPr>
              <a:t>50.000.000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de comparações.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5349240"/>
            <a:ext cx="5852160" cy="731520"/>
          </a:xfrm>
          <a:prstGeom prst="roundRect">
            <a:avLst>
              <a:gd name="adj" fmla="val 15000"/>
            </a:avLst>
          </a:prstGeom>
          <a:solidFill>
            <a:srgbClr val="FFEA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80160" y="53492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Resultado:</a:t>
            </a:r>
            <a:r>
              <a:rPr lang="en-US" sz="1600" dirty="0">
                <a:solidFill>
                  <a:srgbClr val="1D2D3E"/>
                </a:solidFill>
              </a:rPr>
              <a:t> processo travado,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TIMEOUT</a:t>
            </a:r>
            <a:r>
              <a:rPr lang="en-US" sz="16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Tabela 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49440" y="2057400"/>
            <a:ext cx="1371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2459736"/>
            <a:ext cx="1371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2862072"/>
            <a:ext cx="1371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3264408"/>
            <a:ext cx="1371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3666744"/>
            <a:ext cx="1371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4069080"/>
            <a:ext cx="1371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0" y="4471416"/>
            <a:ext cx="1371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4873752"/>
            <a:ext cx="1371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5276088"/>
            <a:ext cx="1371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5678424"/>
            <a:ext cx="1371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241280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4D9"/>
                </a:solidFill>
              </a:rPr>
              <a:t>Tabela B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241280" y="2057400"/>
            <a:ext cx="1371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41280" y="2459736"/>
            <a:ext cx="1371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41280" y="2862072"/>
            <a:ext cx="1371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241280" y="3264408"/>
            <a:ext cx="1371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241280" y="3666744"/>
            <a:ext cx="1371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41280" y="4069080"/>
            <a:ext cx="1371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241280" y="4471416"/>
            <a:ext cx="1371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241280" y="4873752"/>
            <a:ext cx="1371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41280" y="5276088"/>
            <a:ext cx="1371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41280" y="5678424"/>
            <a:ext cx="1371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21040" y="2258568"/>
            <a:ext cx="1920240" cy="0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21040" y="2258568"/>
            <a:ext cx="1920240" cy="804672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21040" y="2258568"/>
            <a:ext cx="1920240" cy="1609344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21040" y="2258568"/>
            <a:ext cx="1920240" cy="2414016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21040" y="2258568"/>
            <a:ext cx="1920240" cy="3218688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8321040" y="2258568"/>
            <a:ext cx="1920240" cy="402336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21040" y="2660904"/>
            <a:ext cx="1920240" cy="402336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21040" y="2660904"/>
            <a:ext cx="1920240" cy="1207008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21040" y="2660904"/>
            <a:ext cx="1920240" cy="2011680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21040" y="2660904"/>
            <a:ext cx="1920240" cy="2816352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8321040" y="2258568"/>
            <a:ext cx="1920240" cy="804672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21040" y="3063240"/>
            <a:ext cx="1920240" cy="0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21040" y="3063240"/>
            <a:ext cx="1920240" cy="804672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21040" y="3063240"/>
            <a:ext cx="1920240" cy="1609344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321040" y="3063240"/>
            <a:ext cx="1920240" cy="2414016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8321040" y="2258568"/>
            <a:ext cx="1920240" cy="1207008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8321040" y="3063240"/>
            <a:ext cx="1920240" cy="402336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321040" y="3465576"/>
            <a:ext cx="1920240" cy="402336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21040" y="3465576"/>
            <a:ext cx="1920240" cy="1207008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321040" y="3465576"/>
            <a:ext cx="1920240" cy="2011680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8321040" y="2258568"/>
            <a:ext cx="1920240" cy="1609344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8321040" y="3063240"/>
            <a:ext cx="1920240" cy="804672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321040" y="3867912"/>
            <a:ext cx="1920240" cy="0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321040" y="3867912"/>
            <a:ext cx="1920240" cy="804672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321040" y="3867912"/>
            <a:ext cx="1920240" cy="1609344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8321040" y="2258568"/>
            <a:ext cx="1920240" cy="2011680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8321040" y="3063240"/>
            <a:ext cx="1920240" cy="1207008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8321040" y="3867912"/>
            <a:ext cx="1920240" cy="402336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321040" y="4270248"/>
            <a:ext cx="1920240" cy="402336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321040" y="4270248"/>
            <a:ext cx="1920240" cy="1207008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8321040" y="2258568"/>
            <a:ext cx="1920240" cy="2414016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8321040" y="3063240"/>
            <a:ext cx="1920240" cy="1609344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8321040" y="3867912"/>
            <a:ext cx="1920240" cy="804672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321040" y="4672584"/>
            <a:ext cx="1920240" cy="0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321040" y="4672584"/>
            <a:ext cx="1920240" cy="804672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8321040" y="2258568"/>
            <a:ext cx="1920240" cy="2816352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V="1">
            <a:off x="8321040" y="3063240"/>
            <a:ext cx="1920240" cy="2011680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V="1">
            <a:off x="8321040" y="3867912"/>
            <a:ext cx="1920240" cy="1207008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8321040" y="4672584"/>
            <a:ext cx="1920240" cy="402336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321040" y="5074920"/>
            <a:ext cx="1920240" cy="402336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V="1">
            <a:off x="8321040" y="2258568"/>
            <a:ext cx="1920240" cy="3218688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8321040" y="3063240"/>
            <a:ext cx="1920240" cy="2414016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8321040" y="3867912"/>
            <a:ext cx="1920240" cy="1609344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8321040" y="4672584"/>
            <a:ext cx="1920240" cy="804672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321040" y="5477256"/>
            <a:ext cx="1920240" cy="0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8321040" y="2258568"/>
            <a:ext cx="1920240" cy="3621024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V="1">
            <a:off x="8321040" y="3063240"/>
            <a:ext cx="1920240" cy="2816352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8321040" y="3867912"/>
            <a:ext cx="1920240" cy="2011680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V="1">
            <a:off x="8321040" y="4672584"/>
            <a:ext cx="1920240" cy="1207008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V="1">
            <a:off x="8321040" y="5477256"/>
            <a:ext cx="1920240" cy="402336"/>
          </a:xfrm>
          <a:prstGeom prst="line">
            <a:avLst/>
          </a:prstGeom>
          <a:noFill/>
          <a:ln w="6350">
            <a:solidFill>
              <a:srgbClr val="C4CCD3"/>
            </a:solidFill>
            <a:prstDash val="solid"/>
          </a:ln>
        </p:spPr>
      </p:sp>
      <p:pic>
        <p:nvPicPr>
          <p:cNvPr id="8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4126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Solução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 Mágica das Chaves Secundárias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49377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O que são?</a:t>
            </a:r>
            <a:endParaRPr lang="en-US" sz="16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600" dirty="0">
                <a:solidFill>
                  <a:srgbClr val="1D2D3E"/>
                </a:solidFill>
              </a:rPr>
              <a:t>Um “índice auxiliar” em memória que o ABAP cria e mantém para você. A tabela original (Standard) permanece intacta.</a:t>
            </a: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Como funciona?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Em vez de varrer a tabela, o sistema consulta este índice otimizado (árvore ou mapa de hash) que aponta diretamente para a linha correta.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1828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Tabela Standard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2194560"/>
            <a:ext cx="2377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0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0" y="2468880"/>
            <a:ext cx="2377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0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0" y="2743200"/>
            <a:ext cx="2377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0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0" y="3017520"/>
            <a:ext cx="2377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0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3291840"/>
            <a:ext cx="2377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0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0" y="3566160"/>
            <a:ext cx="2377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0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3840480"/>
            <a:ext cx="2377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0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4114800"/>
            <a:ext cx="2377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0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4389120"/>
            <a:ext cx="2377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0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4663440"/>
            <a:ext cx="2377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0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4937760"/>
            <a:ext cx="2377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0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5212080"/>
            <a:ext cx="2377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0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5486400"/>
            <a:ext cx="2377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0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5760720"/>
            <a:ext cx="2377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0070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961120" y="2377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Chave Secundária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52560" y="274320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EBF8FF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9893808" y="3145536"/>
            <a:ext cx="548640" cy="420624"/>
          </a:xfrm>
          <a:prstGeom prst="line">
            <a:avLst/>
          </a:prstGeom>
          <a:noFill/>
          <a:ln w="12700">
            <a:solidFill>
              <a:srgbClr val="0070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42448" y="3145536"/>
            <a:ext cx="548640" cy="420624"/>
          </a:xfrm>
          <a:prstGeom prst="line">
            <a:avLst/>
          </a:prstGeom>
          <a:noFill/>
          <a:ln w="12700">
            <a:solidFill>
              <a:srgbClr val="0070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>
            <a:off x="9573768" y="3785616"/>
            <a:ext cx="320040" cy="466344"/>
          </a:xfrm>
          <a:prstGeom prst="line">
            <a:avLst/>
          </a:prstGeom>
          <a:noFill/>
          <a:ln w="12700">
            <a:solidFill>
              <a:srgbClr val="0070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93808" y="3785616"/>
            <a:ext cx="320040" cy="466344"/>
          </a:xfrm>
          <a:prstGeom prst="line">
            <a:avLst/>
          </a:prstGeom>
          <a:noFill/>
          <a:ln w="12700">
            <a:solidFill>
              <a:srgbClr val="0070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10853928" y="3785616"/>
            <a:ext cx="137160" cy="466344"/>
          </a:xfrm>
          <a:prstGeom prst="line">
            <a:avLst/>
          </a:prstGeom>
          <a:noFill/>
          <a:ln w="12700">
            <a:solidFill>
              <a:srgbClr val="0070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91088" y="3785616"/>
            <a:ext cx="502920" cy="466344"/>
          </a:xfrm>
          <a:prstGeom prst="line">
            <a:avLst/>
          </a:prstGeom>
          <a:noFill/>
          <a:ln w="12700">
            <a:solidFill>
              <a:srgbClr val="0070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32720" y="2926080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84080" y="3566160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881360" y="3566160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464040" y="4251960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104120" y="4251960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744200" y="4251960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384280" y="4251960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35040" y="2743200"/>
            <a:ext cx="2377440" cy="274320"/>
          </a:xfrm>
          <a:prstGeom prst="rect">
            <a:avLst/>
          </a:prstGeom>
          <a:solidFill>
            <a:srgbClr val="FFF8D6"/>
          </a:solidFill>
          <a:ln w="6350">
            <a:solidFill>
              <a:srgbClr val="0070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12480" y="2880360"/>
            <a:ext cx="640080" cy="0"/>
          </a:xfrm>
          <a:prstGeom prst="line">
            <a:avLst/>
          </a:prstGeom>
          <a:noFill/>
          <a:ln w="19050">
            <a:solidFill>
              <a:srgbClr val="E76500"/>
            </a:solidFill>
            <a:prstDash val="solid"/>
            <a:headEnd type="triangle"/>
          </a:ln>
        </p:spPr>
      </p:sp>
      <p:sp>
        <p:nvSpPr>
          <p:cNvPr id="37" name="Shape 35"/>
          <p:cNvSpPr/>
          <p:nvPr/>
        </p:nvSpPr>
        <p:spPr>
          <a:xfrm>
            <a:off x="6035040" y="3566160"/>
            <a:ext cx="2377440" cy="274320"/>
          </a:xfrm>
          <a:prstGeom prst="rect">
            <a:avLst/>
          </a:prstGeom>
          <a:solidFill>
            <a:srgbClr val="FFF8D6"/>
          </a:solidFill>
          <a:ln w="6350">
            <a:solidFill>
              <a:srgbClr val="0070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03320"/>
            <a:ext cx="640080" cy="0"/>
          </a:xfrm>
          <a:prstGeom prst="line">
            <a:avLst/>
          </a:prstGeom>
          <a:noFill/>
          <a:ln w="19050">
            <a:solidFill>
              <a:srgbClr val="E76500"/>
            </a:solidFill>
            <a:prstDash val="solid"/>
            <a:headEnd type="triangle"/>
          </a:ln>
        </p:spPr>
      </p:sp>
      <p:sp>
        <p:nvSpPr>
          <p:cNvPr id="39" name="Shape 37"/>
          <p:cNvSpPr/>
          <p:nvPr/>
        </p:nvSpPr>
        <p:spPr>
          <a:xfrm>
            <a:off x="6035040" y="4114800"/>
            <a:ext cx="2377440" cy="274320"/>
          </a:xfrm>
          <a:prstGeom prst="rect">
            <a:avLst/>
          </a:prstGeom>
          <a:solidFill>
            <a:srgbClr val="FFF8D6"/>
          </a:solidFill>
          <a:ln w="6350">
            <a:solidFill>
              <a:srgbClr val="0070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12480" y="4251960"/>
            <a:ext cx="640080" cy="0"/>
          </a:xfrm>
          <a:prstGeom prst="line">
            <a:avLst/>
          </a:prstGeom>
          <a:noFill/>
          <a:ln w="19050">
            <a:solidFill>
              <a:srgbClr val="E76500"/>
            </a:solidFill>
            <a:prstDash val="solid"/>
            <a:headEnd type="triangle"/>
          </a:ln>
        </p:spPr>
      </p:sp>
      <p:sp>
        <p:nvSpPr>
          <p:cNvPr id="41" name="Shape 39"/>
          <p:cNvSpPr/>
          <p:nvPr/>
        </p:nvSpPr>
        <p:spPr>
          <a:xfrm>
            <a:off x="6035040" y="4663440"/>
            <a:ext cx="2377440" cy="274320"/>
          </a:xfrm>
          <a:prstGeom prst="rect">
            <a:avLst/>
          </a:prstGeom>
          <a:solidFill>
            <a:srgbClr val="FFF8D6"/>
          </a:solidFill>
          <a:ln w="6350">
            <a:solidFill>
              <a:srgbClr val="0070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12480" y="4800600"/>
            <a:ext cx="640080" cy="0"/>
          </a:xfrm>
          <a:prstGeom prst="line">
            <a:avLst/>
          </a:prstGeom>
          <a:noFill/>
          <a:ln w="19050">
            <a:solidFill>
              <a:srgbClr val="E76500"/>
            </a:solidFill>
            <a:prstDash val="solid"/>
            <a:head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Escolhendo a Ferramenta Certa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Sorted vs. Hashed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3200400"/>
            <a:ext cx="5364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 KEY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886200"/>
            <a:ext cx="46328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Mecanismo: </a:t>
            </a:r>
            <a:r>
              <a:rPr lang="en-US" sz="1600" dirty="0">
                <a:solidFill>
                  <a:srgbClr val="1D2D3E"/>
                </a:solidFill>
              </a:rPr>
              <a:t>Índice ordenado (árvore binária).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Complexidade: </a:t>
            </a:r>
            <a:r>
              <a:rPr lang="en-US" sz="1600" dirty="0">
                <a:solidFill>
                  <a:srgbClr val="1D2D3E"/>
                </a:solidFill>
              </a:rPr>
              <a:t>O(log n) — extremamente rápido e escalável.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Ideal para: </a:t>
            </a:r>
            <a:r>
              <a:rPr lang="en-US" sz="1600" dirty="0">
                <a:solidFill>
                  <a:srgbClr val="1D2D3E"/>
                </a:solidFill>
              </a:rPr>
              <a:t>Buscas parciais e por intervalos (ranges).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78728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278728" y="3200400"/>
            <a:ext cx="5364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HASHED KEY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644488" y="3886200"/>
            <a:ext cx="46328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Mecanismo: </a:t>
            </a:r>
            <a:r>
              <a:rPr lang="en-US" sz="1600" dirty="0">
                <a:solidFill>
                  <a:srgbClr val="1D2D3E"/>
                </a:solidFill>
              </a:rPr>
              <a:t>Mapa de hash.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Complexidade: </a:t>
            </a:r>
            <a:r>
              <a:rPr lang="en-US" sz="1600" dirty="0">
                <a:solidFill>
                  <a:srgbClr val="1D2D3E"/>
                </a:solidFill>
              </a:rPr>
              <a:t>O(1) — acesso instantâneo (o ‘Santo Graal’).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Ideal para: </a:t>
            </a:r>
            <a:r>
              <a:rPr lang="en-US" sz="1600" dirty="0">
                <a:solidFill>
                  <a:srgbClr val="1D2D3E"/>
                </a:solidFill>
              </a:rPr>
              <a:t>Buscas exatas pela chave completa.</a:t>
            </a:r>
            <a:endParaRPr lang="en-US" sz="16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531" y="1874520"/>
            <a:ext cx="1188720" cy="118872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444" y="1874520"/>
            <a:ext cx="1188720" cy="1188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Mão na Massa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Sintaxe e Uso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1. Definição da chave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4415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176272"/>
            <a:ext cx="106372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ty_t_data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ty_data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6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r>
              <a:rPr lang="en-US" sz="16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HASHED</a:t>
            </a:r>
            <a:r>
              <a:rPr lang="en-US" sz="16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6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key_id</a:t>
            </a:r>
            <a:r>
              <a:rPr lang="en-US" sz="16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</a:t>
            </a:r>
            <a:r>
              <a:rPr lang="en-US" sz="16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6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NON-UNIQUE</a:t>
            </a:r>
            <a:r>
              <a:rPr lang="en-US" sz="16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</a:t>
            </a:r>
            <a:r>
              <a:rPr lang="en-US" sz="16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6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key_cat</a:t>
            </a:r>
            <a:r>
              <a:rPr lang="en-US" sz="16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</a:t>
            </a:r>
            <a:r>
              <a:rPr lang="en-US" sz="16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r>
              <a:rPr lang="en-US" sz="16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2. Uso obrigatório na leitura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4297680"/>
            <a:ext cx="69494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4462272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lt_data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ASSIGNING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fs_row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6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r>
              <a:rPr lang="en-US" sz="16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6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key_cat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'Hardware'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0" y="4297680"/>
            <a:ext cx="3870655" cy="1463040"/>
          </a:xfrm>
          <a:prstGeom prst="roundRect">
            <a:avLst>
              <a:gd name="adj" fmla="val 7500"/>
            </a:avLst>
          </a:prstGeom>
          <a:solidFill>
            <a:srgbClr val="FFF8D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503920" y="4297680"/>
            <a:ext cx="28648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Atenção:</a:t>
            </a:r>
            <a:r>
              <a:rPr lang="en-US" sz="1600" dirty="0">
                <a:solidFill>
                  <a:srgbClr val="1D2D3E"/>
                </a:solidFill>
              </a:rPr>
              <a:t> sem </a:t>
            </a:r>
            <a:r>
              <a:rPr lang="en-US" sz="16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KEY</a:t>
            </a:r>
            <a:r>
              <a:rPr lang="en-US" sz="1600" dirty="0">
                <a:solidFill>
                  <a:srgbClr val="1D2D3E"/>
                </a:solidFill>
              </a:rPr>
              <a:t>, a busca volta a ser </a:t>
            </a:r>
            <a:r>
              <a:rPr lang="en-US" sz="1600" b="1" dirty="0">
                <a:solidFill>
                  <a:srgbClr val="1D2D3E"/>
                </a:solidFill>
              </a:rPr>
              <a:t>linear</a:t>
            </a:r>
            <a:r>
              <a:rPr lang="en-US" sz="1600" dirty="0">
                <a:solidFill>
                  <a:srgbClr val="1D2D3E"/>
                </a:solidFill>
              </a:rPr>
              <a:t>!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485546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Além da Busca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Otimizando o Acesso à Memória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D2D3E"/>
                </a:solidFill>
              </a:rPr>
              <a:t>Ao </a:t>
            </a:r>
            <a:r>
              <a:rPr lang="en-US" sz="1800" b="1" dirty="0">
                <a:solidFill>
                  <a:srgbClr val="1D2D3E"/>
                </a:solidFill>
              </a:rPr>
              <a:t>iterar em um loop</a:t>
            </a:r>
            <a:r>
              <a:rPr lang="en-US" sz="1800" dirty="0">
                <a:solidFill>
                  <a:srgbClr val="1D2D3E"/>
                </a:solidFill>
              </a:rPr>
              <a:t>, como os dados da linha são acessados?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64328" cy="397764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2316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EAEC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00200" y="2423160"/>
            <a:ext cx="4084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D3E"/>
                </a:solidFill>
              </a:rPr>
              <a:t>Cópia (INTO)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54680"/>
            <a:ext cx="4815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Cria uma duplicata física da linha na memória (Work Area). Lento e custoso para tabelas largas (‘wide tables’).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05840" y="4343400"/>
            <a:ext cx="14630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1D2D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4599432"/>
            <a:ext cx="14630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1D2D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4855464"/>
            <a:ext cx="14630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1D2D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5111496"/>
            <a:ext cx="14630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1D2D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5367528"/>
            <a:ext cx="14630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1D2D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5623560"/>
            <a:ext cx="14630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1D2D3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5943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D3E"/>
                </a:solidFill>
              </a:rPr>
              <a:t>Tabela Interna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51760" y="4892040"/>
            <a:ext cx="1280160" cy="411480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560320" y="4526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Cópia de dados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69080" y="4965192"/>
            <a:ext cx="14630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1D2D3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69080" y="4599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D3E"/>
                </a:solidFill>
              </a:rPr>
              <a:t>Work Area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78728" y="2194560"/>
            <a:ext cx="5364328" cy="397764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53048" y="242316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30288" y="2423160"/>
            <a:ext cx="4084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D3E"/>
                </a:solidFill>
              </a:rPr>
              <a:t>Referência (ASSIGNING)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553048" y="3154680"/>
            <a:ext cx="4815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Cria um ponteiro direto para a linha na memória da tabela. Performance máxima, sem custo de cópia.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735928" y="4343400"/>
            <a:ext cx="14630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1D2D3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35928" y="4599432"/>
            <a:ext cx="14630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1D2D3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35928" y="4855464"/>
            <a:ext cx="14630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1D2D3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35928" y="5111496"/>
            <a:ext cx="14630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1D2D3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35928" y="5367528"/>
            <a:ext cx="14630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1D2D3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35928" y="5623560"/>
            <a:ext cx="14630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1D2D3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35928" y="5943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D3E"/>
                </a:solidFill>
              </a:rPr>
              <a:t>Tabela Interna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 flipH="1">
            <a:off x="8244688" y="4983480"/>
            <a:ext cx="1371600" cy="0"/>
          </a:xfrm>
          <a:prstGeom prst="line">
            <a:avLst/>
          </a:prstGeom>
          <a:noFill/>
          <a:ln w="19050">
            <a:solidFill>
              <a:srgbClr val="E76500"/>
            </a:solidFill>
            <a:prstDash val="dash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9662008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4F00"/>
                </a:solidFill>
              </a:rPr>
              <a:t>Ponteiro &lt;field-symbol&gt;</a:t>
            </a:r>
            <a:endParaRPr lang="en-US" sz="12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565806"/>
            <a:ext cx="309067" cy="309067"/>
          </a:xfrm>
          <a:prstGeom prst="rect">
            <a:avLst/>
          </a:prstGeom>
        </p:spPr>
      </p:pic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2565806"/>
            <a:ext cx="309067" cy="3090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Guia de Decisão Rápido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Estratégias de Loop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840480"/>
                <a:gridCol w="4142232"/>
              </a:tblGrid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Cenário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Estratégia recomendada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Por quê?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D2D3E"/>
                          </a:solidFill>
                        </a:rPr>
                        <a:t>Modificar a tabela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ASSIGNING FIELD-SYMBOL(&lt;fs&gt;)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D2D3E"/>
                          </a:solidFill>
                        </a:rPr>
                        <a:t>Permite alteração direta, performance máxima.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D2D3E"/>
                          </a:solidFill>
                        </a:rPr>
                        <a:t>Tabela larga (muitas colunas)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ASSIGNING FIELD-SYMBOL(&lt;fs&gt;)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D2D3E"/>
                          </a:solidFill>
                        </a:rPr>
                        <a:t>Evita o custo da cópia de memória a cada iteração.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D2D3E"/>
                          </a:solidFill>
                        </a:rPr>
                        <a:t>Ler um campo pequeno (inteiro/char)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INTO DATA(wa)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D2D3E"/>
                          </a:solidFill>
                        </a:rPr>
                        <a:t>Mais legível, custo de cópia desprezível.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D2D3E"/>
                          </a:solidFill>
                        </a:rPr>
                        <a:t>Contexto OO moderno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REFERENCE INTO DATA(lr)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D2D3E"/>
                          </a:solidFill>
                        </a:rPr>
                        <a:t>Alternativa segura e orientada a objetos ao </a:t>
                      </a:r>
                      <a:r>
                        <a:rPr lang="en-US" sz="16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ASSIGNING</a:t>
                      </a:r>
                      <a:r>
                        <a:rPr lang="en-US" sz="1600" dirty="0">
                          <a:solidFill>
                            <a:srgbClr val="1D2D3E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Prova de Conceito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Colocando a Teoria à Prova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D2D3E"/>
                </a:solidFill>
              </a:rPr>
              <a:t>O Experimento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81568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D2D3E"/>
                </a:solidFill>
              </a:rPr>
              <a:t>1. </a:t>
            </a:r>
            <a:r>
              <a:rPr lang="en-US" sz="1600" b="1" dirty="0">
                <a:solidFill>
                  <a:srgbClr val="1D2D3E"/>
                </a:solidFill>
              </a:rPr>
              <a:t>Setup:</a:t>
            </a:r>
            <a:r>
              <a:rPr lang="en-US" sz="1600" dirty="0">
                <a:solidFill>
                  <a:srgbClr val="1D2D3E"/>
                </a:solidFill>
              </a:rPr>
              <a:t> criar uma tabela interna com </a:t>
            </a:r>
            <a:r>
              <a:rPr lang="en-US" sz="1600" b="1" dirty="0">
                <a:solidFill>
                  <a:srgbClr val="1D2D3E"/>
                </a:solidFill>
              </a:rPr>
              <a:t>500.000</a:t>
            </a:r>
            <a:r>
              <a:rPr lang="en-US" sz="1600" dirty="0">
                <a:solidFill>
                  <a:srgbClr val="1D2D3E"/>
                </a:solidFill>
              </a:rPr>
              <a:t> registros de materiais.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D2D3E"/>
                </a:solidFill>
              </a:rPr>
              <a:t>2. </a:t>
            </a:r>
            <a:r>
              <a:rPr lang="en-US" sz="1600" b="1" dirty="0">
                <a:solidFill>
                  <a:srgbClr val="1D2D3E"/>
                </a:solidFill>
              </a:rPr>
              <a:t>Cenário:</a:t>
            </a:r>
            <a:r>
              <a:rPr lang="en-US" sz="1600" dirty="0">
                <a:solidFill>
                  <a:srgbClr val="1D2D3E"/>
                </a:solidFill>
              </a:rPr>
              <a:t> buscar pelo último material inserido (M499999), o pior caso para a busca linear.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D2D3E"/>
                </a:solidFill>
              </a:rPr>
              <a:t>3. </a:t>
            </a:r>
            <a:r>
              <a:rPr lang="en-US" sz="1600" b="1" dirty="0">
                <a:solidFill>
                  <a:srgbClr val="1D2D3E"/>
                </a:solidFill>
              </a:rPr>
              <a:t>Medição:</a:t>
            </a:r>
            <a:r>
              <a:rPr lang="en-US" sz="1600" dirty="0">
                <a:solidFill>
                  <a:srgbClr val="1D2D3E"/>
                </a:solidFill>
              </a:rPr>
              <a:t> cronometrar o tempo de execução (em microssegundos) das duas abordagens.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78728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53048" y="178308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D2D3E"/>
                </a:solidFill>
              </a:rPr>
              <a:t>As Abordagens em Teste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553048" y="251460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67448" y="2468880"/>
            <a:ext cx="39012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Teste Lento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AT ... WHERE matnr = ...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(busca linear padrão)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53048" y="425196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67448" y="4206240"/>
            <a:ext cx="39012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Teste Rápido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AT ... USING KEY sk_matnr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matnr = ...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(chave secundária Sorted)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8612" y="2690165"/>
            <a:ext cx="380390" cy="38039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612" y="4427525"/>
            <a:ext cx="380390" cy="38039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Resultados do Benchmark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 Diferença é Brutal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0350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1691640"/>
            <a:ext cx="4602175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269480" y="187452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138160" y="1691640"/>
            <a:ext cx="3322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6B82"/>
                </a:solidFill>
              </a:rPr>
              <a:t>Tempo busca linear</a:t>
            </a:r>
            <a:endParaRPr lang="en-US" sz="1600" dirty="0"/>
          </a:p>
          <a:p>
            <a:pPr indent="0" marL="0">
              <a:buNone/>
            </a:pPr>
            <a:r>
              <a:rPr lang="en-US" sz="2000" dirty="0">
                <a:solidFill>
                  <a:srgbClr val="1D2D3E"/>
                </a:solidFill>
              </a:rPr>
              <a:t>125.430 microssegundos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040880" y="2926080"/>
            <a:ext cx="4602175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269480" y="310896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138160" y="2926080"/>
            <a:ext cx="3322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6B82"/>
                </a:solidFill>
              </a:rPr>
              <a:t>Tempo busca com chave</a:t>
            </a:r>
            <a:endParaRPr lang="en-US" sz="1600" dirty="0"/>
          </a:p>
          <a:p>
            <a:pPr indent="0" marL="0">
              <a:buNone/>
            </a:pPr>
            <a:r>
              <a:rPr lang="en-US" sz="2000" dirty="0">
                <a:solidFill>
                  <a:srgbClr val="1D2D3E"/>
                </a:solidFill>
              </a:rPr>
              <a:t>25 microssegundos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040880" y="4251960"/>
            <a:ext cx="4602175" cy="1737360"/>
          </a:xfrm>
          <a:prstGeom prst="roundRect">
            <a:avLst>
              <a:gd name="adj" fmla="val 7368"/>
            </a:avLst>
          </a:prstGeom>
          <a:solidFill>
            <a:srgbClr val="FFF8D6"/>
          </a:solidFill>
          <a:ln w="19050">
            <a:solidFill>
              <a:srgbClr val="E7650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0" y="4251960"/>
            <a:ext cx="4053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Ganho de performance</a:t>
            </a:r>
            <a:endParaRPr lang="en-US" sz="1600" dirty="0"/>
          </a:p>
          <a:p>
            <a:pPr indent="0" marL="0">
              <a:buNone/>
            </a:pPr>
            <a:r>
              <a:rPr lang="en-US" sz="3400" b="1" dirty="0">
                <a:solidFill>
                  <a:srgbClr val="B44F00"/>
                </a:solidFill>
              </a:rPr>
              <a:t>~5.000× mais rápido!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072" y="2039112"/>
            <a:ext cx="356616" cy="356616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3273552"/>
            <a:ext cx="356616" cy="3566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Consolidando o Conhecimento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Glossário Técnico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25880" y="1581912"/>
            <a:ext cx="10317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Busca Linear (O(n))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Varrer a tabela do início ao fim. Padrão para tabelas Standard sem chave explícita.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25880" y="2496312"/>
            <a:ext cx="10317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Busca Binária (O(log n))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Algoritmo ‘dividir para conquistar’ para tabelas ordenadas. Usado em tabelas Sorted.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25880" y="3410712"/>
            <a:ext cx="10317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Hash (O(1))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Acesso matemático direto à memória. O mais rápido possível.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25880" y="4325112"/>
            <a:ext cx="10317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Chave Secundária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Índice adicional em memória para buscas rápidas por campos não-chave.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257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25880" y="5239512"/>
            <a:ext cx="10317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Field-Symbol (&lt;fs&gt;)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Um ponteiro que aponta para um endereço de memória, evitando cópias de dados.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1731874"/>
            <a:ext cx="285293" cy="285293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3560674"/>
            <a:ext cx="285293" cy="285293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2646274"/>
            <a:ext cx="285293" cy="285293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4" y="4475074"/>
            <a:ext cx="285293" cy="285293"/>
          </a:xfrm>
          <a:prstGeom prst="rect">
            <a:avLst/>
          </a:prstGeom>
        </p:spPr>
      </p:pic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14" y="5389474"/>
            <a:ext cx="285293" cy="28529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Resumo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Suas Novas Ferramentas de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206240" cy="4480560"/>
          </a:xfrm>
          <a:prstGeom prst="roundRect">
            <a:avLst>
              <a:gd name="adj" fmla="val 3478"/>
            </a:avLst>
          </a:prstGeom>
          <a:solidFill>
            <a:srgbClr val="E765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00200"/>
            <a:ext cx="34747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Se você lê uma tabela muitas vezes por uma chave específica, ela NÃO DEVE ser Standard ou acessada linearmente.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5212080" y="1600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64D9"/>
                </a:solidFill>
              </a:rPr>
              <a:t>Checklist de Otimização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806440" y="2286000"/>
            <a:ext cx="5836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Identifique </a:t>
            </a:r>
            <a:r>
              <a:rPr lang="en-US" sz="1600" b="1" dirty="0">
                <a:solidFill>
                  <a:srgbClr val="1D2D3E"/>
                </a:solidFill>
              </a:rPr>
              <a:t>LOOPs</a:t>
            </a:r>
            <a:r>
              <a:rPr lang="en-US" sz="1600" dirty="0">
                <a:solidFill>
                  <a:srgbClr val="1D2D3E"/>
                </a:solidFill>
              </a:rPr>
              <a:t> aninhados ou leituras repetitivas.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806440" y="3200400"/>
            <a:ext cx="5836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Adicione uma </a:t>
            </a:r>
            <a:r>
              <a:rPr lang="en-US" sz="1600" b="1" dirty="0">
                <a:solidFill>
                  <a:srgbClr val="1D2D3E"/>
                </a:solidFill>
              </a:rPr>
              <a:t>CHAVE SECUNDÁRIA</a:t>
            </a:r>
            <a:r>
              <a:rPr lang="en-US" sz="1600" dirty="0">
                <a:solidFill>
                  <a:srgbClr val="1D2D3E"/>
                </a:solidFill>
              </a:rPr>
              <a:t> (Hashed para buscas exatas, Sorted para ranges).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4114800"/>
            <a:ext cx="5836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Use </a:t>
            </a:r>
            <a:r>
              <a:rPr lang="en-US" sz="1600" b="1" dirty="0">
                <a:solidFill>
                  <a:srgbClr val="1D2D3E"/>
                </a:solidFill>
              </a:rPr>
              <a:t>USING KEY</a:t>
            </a:r>
            <a:r>
              <a:rPr lang="en-US" sz="1600" dirty="0">
                <a:solidFill>
                  <a:srgbClr val="1D2D3E"/>
                </a:solidFill>
              </a:rPr>
              <a:t> em seus comandos LOOP e READ.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5029200"/>
            <a:ext cx="5836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Prefira </a:t>
            </a:r>
            <a:r>
              <a:rPr lang="en-US" sz="1600" b="1" dirty="0">
                <a:solidFill>
                  <a:srgbClr val="1D2D3E"/>
                </a:solidFill>
              </a:rPr>
              <a:t>ASSIGNING</a:t>
            </a:r>
            <a:r>
              <a:rPr lang="en-US" sz="1600" dirty="0">
                <a:solidFill>
                  <a:srgbClr val="1D2D3E"/>
                </a:solidFill>
              </a:rPr>
              <a:t> em vez de INTO para tabelas largas ou quando precisar modificar dados.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2377440"/>
            <a:ext cx="411480" cy="41148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4206240"/>
            <a:ext cx="411480" cy="41148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3291840"/>
            <a:ext cx="411480" cy="41148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5120640"/>
            <a:ext cx="411480" cy="4114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Conclusão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Quiz Rápido: Teste seu Conhecimento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280160"/>
          </a:xfrm>
          <a:prstGeom prst="roundRect">
            <a:avLst>
              <a:gd name="adj" fmla="val 1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737360" y="1828800"/>
            <a:ext cx="96313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Por que a busca em uma tabela Hashed é considerada O(1) e a mais rápida para grandes volumes?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11094415" cy="1280160"/>
          </a:xfrm>
          <a:prstGeom prst="roundRect">
            <a:avLst>
              <a:gd name="adj" fmla="val 1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737360" y="3291840"/>
            <a:ext cx="96313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Tenho uma tabela Standard com 500 mil clientes. Como otimizo uma busca repetitiva pelo CPF (que não é a chave primária)?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754880"/>
            <a:ext cx="11094415" cy="1280160"/>
          </a:xfrm>
          <a:prstGeom prst="roundRect">
            <a:avLst>
              <a:gd name="adj" fmla="val 1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37360" y="4754880"/>
            <a:ext cx="96313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Qual a vantagem de performance de usar </a:t>
            </a:r>
            <a:r>
              <a:rPr lang="en-US" sz="18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ASSIGNING FIELD-SYMBOL</a:t>
            </a:r>
            <a:r>
              <a:rPr lang="en-US" sz="1800" dirty="0">
                <a:solidFill>
                  <a:srgbClr val="FFFFFF"/>
                </a:solidFill>
              </a:rPr>
              <a:t> em vez de </a:t>
            </a:r>
            <a:r>
              <a:rPr lang="en-US" sz="1800" dirty="0">
                <a:solidFill>
                  <a:srgbClr val="4DB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800" dirty="0">
                <a:solidFill>
                  <a:srgbClr val="FFFFFF"/>
                </a:solidFill>
              </a:rPr>
              <a:t> em um loop sobre uma tabela com 200 colunas?</a:t>
            </a:r>
            <a:endParaRPr lang="en-US" sz="16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48840"/>
            <a:ext cx="640080" cy="64008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611880"/>
            <a:ext cx="640080" cy="640080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074920"/>
            <a:ext cx="640080" cy="640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ABAP Moderno: Performance de Elite em Tabelas Internas</dc:title>
  <dc:subject>ABAP Moderno – Módulo 04</dc:subject>
  <dc:creator>Adriano Bispo</dc:creator>
  <cp:lastModifiedBy>Adriano Bispo</cp:lastModifiedBy>
  <cp:revision>1</cp:revision>
  <dcterms:created xsi:type="dcterms:W3CDTF">2026-10-28T00:23:28Z</dcterms:created>
  <dcterms:modified xsi:type="dcterms:W3CDTF">2026-10-28T00:23:28Z</dcterms:modified>
</cp:coreProperties>
</file>