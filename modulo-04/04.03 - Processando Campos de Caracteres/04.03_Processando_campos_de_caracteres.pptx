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Title">
    <p:bg>
      <p:bgPr>
        <a:solidFill>
          <a:srgbClr val="1D2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1554480"/>
            <a:ext cx="786384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4DB1FF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2057400"/>
            <a:ext cx="81381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548640" y="4206240"/>
            <a:ext cx="76809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D3DE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396A8"/>
                </a:solidFill>
              </a:rPr>
              <a:t>ABAP Moderno  ·  Módulo 04  ·  04.03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Content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rgbClr val="0070F2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ABAP Moderno  ·  Módulo 04  ·  04.03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Closing">
    <p:bg>
      <p:bgPr>
        <a:solidFill>
          <a:srgbClr val="1D2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dirty="0">
                <a:solidFill>
                  <a:srgbClr val="4DB1FF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396A8"/>
                </a:solidFill>
              </a:rPr>
              <a:t>ABAP Moderno  ·  Módulo 04  ·  04.03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396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15544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DB1FF"/>
                </a:solidFill>
              </a:rPr>
              <a:t>Módulo 04  ·  04.03</a:t>
            </a:r>
            <a:endParaRPr lang="en-US" sz="16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2057400"/>
            <a:ext cx="8138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ABAP Moderno: Processamento de Strings</a:t>
            </a:r>
            <a:endParaRPr lang="en-US" sz="4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548640" y="42062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3DE"/>
                </a:solidFill>
              </a:rPr>
              <a:t>Do legado ao funcional: dominando expressões, Regex e predicados.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732520" y="1600200"/>
            <a:ext cx="2926080" cy="566928"/>
          </a:xfrm>
          <a:prstGeom prst="roundRect">
            <a:avLst>
              <a:gd name="adj" fmla="val 50000"/>
            </a:avLst>
          </a:prstGeom>
          <a:solidFill>
            <a:srgbClr val="33302B"/>
          </a:solidFill>
          <a:ln w="9525">
            <a:solidFill>
              <a:srgbClr val="6B5E4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0" y="160020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TRANSLATE · SEARCH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732520" y="2167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DB1FF"/>
                </a:solidFill>
              </a:rPr>
              <a:t>▼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732520" y="2350008"/>
            <a:ext cx="292608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326880" y="2350008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to_upper( 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732520" y="3099816"/>
            <a:ext cx="292608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326880" y="3099816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matches( regex = … 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732520" y="3849624"/>
            <a:ext cx="292608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326880" y="3849624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contains( ) · starts_with( 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732520" y="4599432"/>
            <a:ext cx="292608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326880" y="459943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Encadeamento</a:t>
            </a:r>
            <a:endParaRPr lang="en-US" sz="13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0" y="1737360"/>
            <a:ext cx="292608" cy="292608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2487168"/>
            <a:ext cx="292608" cy="292608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3236976"/>
            <a:ext cx="292608" cy="292608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0" y="3986784"/>
            <a:ext cx="292608" cy="292608"/>
          </a:xfrm>
          <a:prstGeom prst="rect">
            <a:avLst/>
          </a:prstGeom>
        </p:spPr>
      </p:pic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5400" y="4736592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Objetivos de Aprendizagem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685800" cy="6858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463040" y="1719072"/>
            <a:ext cx="101800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D2D3E"/>
                </a:solidFill>
              </a:rPr>
              <a:t>Substituir comandos obsoletos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6B82"/>
                </a:solidFill>
              </a:rPr>
              <a:t>(TRANSLATE, SEARCH) por </a:t>
            </a:r>
            <a:r>
              <a:rPr lang="en-US" sz="1600" b="1" dirty="0">
                <a:solidFill>
                  <a:srgbClr val="556B82"/>
                </a:solidFill>
              </a:rPr>
              <a:t>Funções Embutidas</a:t>
            </a:r>
            <a:r>
              <a:rPr lang="en-US" sz="1600" dirty="0">
                <a:solidFill>
                  <a:srgbClr val="556B82"/>
                </a:solidFill>
              </a:rPr>
              <a:t>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685800" cy="6858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63040" y="2816352"/>
            <a:ext cx="101800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D2D3E"/>
                </a:solidFill>
              </a:rPr>
              <a:t>Aplicar Expressões Regulares (Regex)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6B82"/>
                </a:solidFill>
              </a:rPr>
              <a:t>para validação e limpeza de dados complexos.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931920"/>
            <a:ext cx="685800" cy="6858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463040" y="3913632"/>
            <a:ext cx="101800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D2D3E"/>
                </a:solidFill>
              </a:rPr>
              <a:t>Utilizar Funções Predicativas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6B82"/>
                </a:solidFill>
              </a:rPr>
              <a:t>(matches, contains) para otimizar fluxos lógicos.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5029200"/>
            <a:ext cx="685800" cy="6858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463040" y="5010912"/>
            <a:ext cx="101800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D2D3E"/>
                </a:solidFill>
              </a:rPr>
              <a:t>Implementar higienização de dados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6B82"/>
                </a:solidFill>
              </a:rPr>
              <a:t>utilizando </a:t>
            </a:r>
            <a:r>
              <a:rPr lang="en-US" sz="1600" b="1" dirty="0">
                <a:solidFill>
                  <a:srgbClr val="556B82"/>
                </a:solidFill>
              </a:rPr>
              <a:t>encadeamento de métodos</a:t>
            </a:r>
            <a:r>
              <a:rPr lang="en-US" sz="1600" dirty="0">
                <a:solidFill>
                  <a:srgbClr val="556B82"/>
                </a:solidFill>
              </a:rPr>
              <a:t>.</a:t>
            </a:r>
            <a:endParaRPr lang="en-US" sz="16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901952"/>
            <a:ext cx="356616" cy="356616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999232"/>
            <a:ext cx="356616" cy="356616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4096512"/>
            <a:ext cx="356616" cy="356616"/>
          </a:xfrm>
          <a:prstGeom prst="rect">
            <a:avLst/>
          </a:prstGeom>
        </p:spPr>
      </p:pic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193792"/>
            <a:ext cx="356616" cy="356616"/>
          </a:xfrm>
          <a:prstGeom prst="rect">
            <a:avLst/>
          </a:prstGeom>
        </p:spPr>
      </p:pic>
      <p:sp>
        <p:nvSpPr>
          <p:cNvPr id="15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O Fim da Modificação Destrutiva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364328" cy="4572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856232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EAECE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481328" y="1856232"/>
            <a:ext cx="415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56B82"/>
                </a:solidFill>
              </a:rPr>
              <a:t>Paradigma Imperativo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60320"/>
            <a:ext cx="4815688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D2D3E"/>
                </a:solidFill>
              </a:rPr>
              <a:t>No ABAP clássico, comandos modificavam a variável localmente (ex.: </a:t>
            </a:r>
            <a:r>
              <a:rPr lang="en-US" sz="17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TRANSLATE</a:t>
            </a:r>
            <a:r>
              <a:rPr lang="en-US" sz="1700" dirty="0">
                <a:solidFill>
                  <a:srgbClr val="1D2D3E"/>
                </a:solidFill>
              </a:rPr>
              <a:t>), impedindo o uso fluido.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D2D3E"/>
                </a:solidFill>
              </a:rPr>
              <a:t>O dado original é destruído a cada operação.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78728" y="1600200"/>
            <a:ext cx="5364328" cy="4572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53048" y="1856232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211416" y="1856232"/>
            <a:ext cx="415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4D9"/>
                </a:solidFill>
              </a:rPr>
              <a:t>Paradigma Funcional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553048" y="2560320"/>
            <a:ext cx="4815688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D2D3E"/>
                </a:solidFill>
              </a:rPr>
              <a:t>No ABAP 7.40+, usamos uma biblioteca de funções que </a:t>
            </a:r>
            <a:r>
              <a:rPr lang="en-US" sz="1700" b="1" dirty="0">
                <a:solidFill>
                  <a:srgbClr val="1D2D3E"/>
                </a:solidFill>
              </a:rPr>
              <a:t>retornam resultados</a:t>
            </a:r>
            <a:r>
              <a:rPr lang="en-US" sz="1700" dirty="0">
                <a:solidFill>
                  <a:srgbClr val="1D2D3E"/>
                </a:solidFill>
              </a:rPr>
              <a:t>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D2D3E"/>
                </a:solidFill>
              </a:rPr>
              <a:t>Isso habilita o </a:t>
            </a:r>
            <a:r>
              <a:rPr lang="en-US" sz="1700" b="1" dirty="0">
                <a:solidFill>
                  <a:srgbClr val="1D2D3E"/>
                </a:solidFill>
              </a:rPr>
              <a:t>Encadeamento (Chaining)</a:t>
            </a:r>
            <a:r>
              <a:rPr lang="en-US" sz="1700" dirty="0">
                <a:solidFill>
                  <a:srgbClr val="1D2D3E"/>
                </a:solidFill>
              </a:rPr>
              <a:t> e preserva os dados originais.</a:t>
            </a:r>
            <a:endParaRPr lang="en-US" sz="16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855" y="1979127"/>
            <a:ext cx="266273" cy="266273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943" y="1979127"/>
            <a:ext cx="266273" cy="266273"/>
          </a:xfrm>
          <a:prstGeom prst="rect">
            <a:avLst/>
          </a:prstGeom>
        </p:spPr>
      </p:pic>
      <p:sp>
        <p:nvSpPr>
          <p:cNvPr id="13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Funções Embutidas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Case &amp; Space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36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D2D3E"/>
                </a:solidFill>
              </a:rPr>
              <a:t>Maiúsculas / Minúsculas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64328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2231136"/>
            <a:ext cx="490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A0808"/>
                </a:solidFill>
              </a:rPr>
              <a:t>Legado (evitar)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615184"/>
            <a:ext cx="5364328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743200"/>
            <a:ext cx="49071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TRANSLATE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lv_text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UPPER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5364328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77240" y="3282696"/>
            <a:ext cx="490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F3A"/>
                </a:solidFill>
              </a:rPr>
              <a:t>Moderno (usar)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666744"/>
            <a:ext cx="5364328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794760"/>
            <a:ext cx="4907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lv_text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to_upper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lv_text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389120"/>
            <a:ext cx="536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Suporta também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to_lower( )</a:t>
            </a:r>
            <a:r>
              <a:rPr lang="en-US" sz="1500" dirty="0">
                <a:solidFill>
                  <a:srgbClr val="1D2D3E"/>
                </a:solidFill>
              </a:rPr>
              <a:t> e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to_mixed( )</a:t>
            </a:r>
            <a:r>
              <a:rPr lang="en-US" sz="1500" dirty="0">
                <a:solidFill>
                  <a:srgbClr val="1D2D3E"/>
                </a:solidFill>
              </a:rPr>
              <a:t>.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278728" y="1600200"/>
            <a:ext cx="536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D2D3E"/>
                </a:solidFill>
              </a:rPr>
              <a:t>Limpeza de Espaços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6278728" y="2103120"/>
            <a:ext cx="5364328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507328" y="2231136"/>
            <a:ext cx="490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A0808"/>
                </a:solidFill>
              </a:rPr>
              <a:t>Legado (evitar)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78728" y="2615184"/>
            <a:ext cx="5364328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07328" y="2743200"/>
            <a:ext cx="49071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CONDENSE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lv_text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NO-GAPS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78728" y="3154680"/>
            <a:ext cx="5364328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507328" y="3282696"/>
            <a:ext cx="490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F3A"/>
                </a:solidFill>
              </a:rPr>
              <a:t>Moderno (usar)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78728" y="3666744"/>
            <a:ext cx="5364328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07328" y="3794760"/>
            <a:ext cx="49071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lv_text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condense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lv_text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 `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278728" y="4572000"/>
            <a:ext cx="5364328" cy="1234440"/>
          </a:xfrm>
          <a:prstGeom prst="roundRect">
            <a:avLst>
              <a:gd name="adj" fmla="val 8889"/>
            </a:avLst>
          </a:prstGeom>
          <a:solidFill>
            <a:srgbClr val="FFF8D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010248" y="4572000"/>
            <a:ext cx="43584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Atenção:</a:t>
            </a:r>
            <a:r>
              <a:rPr lang="en-US" sz="1400" dirty="0">
                <a:solidFill>
                  <a:srgbClr val="1D2D3E"/>
                </a:solidFill>
              </a:rPr>
              <a:t> a função 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condense( )</a:t>
            </a:r>
            <a:r>
              <a:rPr lang="en-US" sz="1400" dirty="0">
                <a:solidFill>
                  <a:srgbClr val="1D2D3E"/>
                </a:solidFill>
              </a:rPr>
              <a:t> faz trim nas pontas e reduz espaços internos múltiplos. Para remover </a:t>
            </a:r>
            <a:r>
              <a:rPr lang="en-US" sz="1400" b="1" dirty="0">
                <a:solidFill>
                  <a:srgbClr val="1D2D3E"/>
                </a:solidFill>
              </a:rPr>
              <a:t>todos</a:t>
            </a:r>
            <a:r>
              <a:rPr lang="en-US" sz="1400" dirty="0">
                <a:solidFill>
                  <a:srgbClr val="1D2D3E"/>
                </a:solidFill>
              </a:rPr>
              <a:t> os espaços, use 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replace</a:t>
            </a:r>
            <a:r>
              <a:rPr lang="en-US" sz="1400" dirty="0">
                <a:solidFill>
                  <a:srgbClr val="1D2D3E"/>
                </a:solidFill>
              </a:rPr>
              <a:t>.</a:t>
            </a:r>
            <a:endParaRPr lang="en-US" sz="160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7328" y="5015484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Segurança e Legibilidade em Substrings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5852160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911096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A0808"/>
                </a:solidFill>
              </a:rPr>
              <a:t>Legado (evitar)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95144"/>
            <a:ext cx="585216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42316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lv_part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lv_text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r>
              <a:rPr lang="en-US" sz="18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8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783080"/>
            <a:ext cx="48764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D2D3E"/>
                </a:solidFill>
              </a:rPr>
              <a:t>Sintaxe de offset rígida. Causa </a:t>
            </a:r>
            <a:r>
              <a:rPr lang="en-US" sz="1700" b="1" dirty="0">
                <a:solidFill>
                  <a:srgbClr val="1D2D3E"/>
                </a:solidFill>
              </a:rPr>
              <a:t>short dump</a:t>
            </a:r>
            <a:r>
              <a:rPr lang="en-US" sz="1700" dirty="0">
                <a:solidFill>
                  <a:srgbClr val="1D2D3E"/>
                </a:solidFill>
              </a:rPr>
              <a:t> se o offset for maior que o tamanho da string.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337560"/>
            <a:ext cx="5852160" cy="173736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77240" y="3465576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F3A"/>
                </a:solidFill>
              </a:rPr>
              <a:t>Moderno (usar)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849624"/>
            <a:ext cx="585216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977640"/>
            <a:ext cx="5394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lv_part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substring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lv_text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766560" y="3337560"/>
            <a:ext cx="487649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D2D3E"/>
                </a:solidFill>
              </a:rPr>
              <a:t>Seguro e legível. Permite o uso de expressões dinâmicas para calcular o offset.</a:t>
            </a:r>
            <a:endParaRPr lang="en-US" sz="1700" dirty="0"/>
          </a:p>
        </p:txBody>
      </p:sp>
      <p:sp>
        <p:nvSpPr>
          <p:cNvPr id="13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O Poder do Regex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Quando Texto Fixo Não Basta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23818" cy="82296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9525">
            <a:solidFill>
              <a:srgbClr val="556B8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673352"/>
            <a:ext cx="324093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56B82"/>
                </a:solidFill>
              </a:rPr>
              <a:t>Texto caótico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45610" y="1874520"/>
            <a:ext cx="265176" cy="274320"/>
          </a:xfrm>
          <a:prstGeom prst="rightArrow">
            <a:avLst/>
          </a:prstGeom>
          <a:solidFill>
            <a:srgbClr val="556B82"/>
          </a:solidFill>
          <a:ln/>
        </p:spPr>
      </p:sp>
      <p:sp>
        <p:nvSpPr>
          <p:cNvPr id="7" name="Shape 5"/>
          <p:cNvSpPr/>
          <p:nvPr/>
        </p:nvSpPr>
        <p:spPr>
          <a:xfrm>
            <a:off x="4383938" y="1600200"/>
            <a:ext cx="3423818" cy="82296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475378" y="1673352"/>
            <a:ext cx="324093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64D9"/>
                </a:solidFill>
              </a:rPr>
              <a:t>Regex Filter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880909" y="1874520"/>
            <a:ext cx="265176" cy="274320"/>
          </a:xfrm>
          <a:prstGeom prst="rightArrow">
            <a:avLst/>
          </a:prstGeom>
          <a:solidFill>
            <a:srgbClr val="556B82"/>
          </a:solidFill>
          <a:ln/>
        </p:spPr>
      </p:sp>
      <p:sp>
        <p:nvSpPr>
          <p:cNvPr id="10" name="Shape 8"/>
          <p:cNvSpPr/>
          <p:nvPr/>
        </p:nvSpPr>
        <p:spPr>
          <a:xfrm>
            <a:off x="8219237" y="1600200"/>
            <a:ext cx="3423818" cy="82296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9525">
            <a:solidFill>
              <a:srgbClr val="30914C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310677" y="1673352"/>
            <a:ext cx="324093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F3A"/>
                </a:solidFill>
              </a:rPr>
              <a:t>Padrão validado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6517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O ABAP moderno suporta Regex padrão POSIX/PCRE para validar padrões abstratos.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11094415" cy="27432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77240" y="3410712"/>
            <a:ext cx="1063721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Validação de e-mail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matches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lv_email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regex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'^[a-zA-Z0-9._%+-]+@[a-zA-Z0-9.-]+\.[a-zA-Z]{2,}$'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E-mail sintaticamente válido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Formato inválido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ENDIF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Regex na Prática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Higienização de Dados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Recebimento de dados ‘sujos’ que precisam ser salvos apenas como números.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423818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556B8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2221992"/>
            <a:ext cx="324093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56B82"/>
                </a:solidFill>
              </a:rPr>
              <a:t>(11) 99999-0000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045610" y="2468880"/>
            <a:ext cx="265176" cy="274320"/>
          </a:xfrm>
          <a:prstGeom prst="rightArrow">
            <a:avLst/>
          </a:prstGeom>
          <a:solidFill>
            <a:srgbClr val="556B82"/>
          </a:solidFill>
          <a:ln/>
        </p:spPr>
      </p:sp>
      <p:sp>
        <p:nvSpPr>
          <p:cNvPr id="8" name="Shape 6"/>
          <p:cNvSpPr/>
          <p:nvPr/>
        </p:nvSpPr>
        <p:spPr>
          <a:xfrm>
            <a:off x="4383938" y="2148840"/>
            <a:ext cx="3423818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475378" y="2221992"/>
            <a:ext cx="324093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64D9"/>
                </a:solidFill>
              </a:rPr>
              <a:t>replace( regex = '[^0-9]' 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880909" y="2468880"/>
            <a:ext cx="265176" cy="274320"/>
          </a:xfrm>
          <a:prstGeom prst="rightArrow">
            <a:avLst/>
          </a:prstGeom>
          <a:solidFill>
            <a:srgbClr val="556B82"/>
          </a:solidFill>
          <a:ln/>
        </p:spPr>
      </p:sp>
      <p:sp>
        <p:nvSpPr>
          <p:cNvPr id="11" name="Shape 9"/>
          <p:cNvSpPr/>
          <p:nvPr/>
        </p:nvSpPr>
        <p:spPr>
          <a:xfrm>
            <a:off x="8219237" y="2148840"/>
            <a:ext cx="3423818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30914C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310677" y="2221992"/>
            <a:ext cx="324093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F3A"/>
                </a:solidFill>
              </a:rPr>
              <a:t>11999990000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337560"/>
            <a:ext cx="11094415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77240" y="3502152"/>
            <a:ext cx="106372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7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7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lv_clean</a:t>
            </a:r>
            <a:r>
              <a:rPr lang="en-US" sz="17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7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7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7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7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replace</a:t>
            </a:r>
            <a:r>
              <a:rPr lang="en-US" sz="17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7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7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</a:t>
            </a:r>
            <a:r>
              <a:rPr lang="en-US" sz="17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7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7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7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lv_phone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</a:t>
            </a:r>
            <a:r>
              <a:rPr lang="en-US" sz="17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regex</a:t>
            </a:r>
            <a:r>
              <a:rPr lang="en-US" sz="17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7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7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7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'[^0-9]'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</a:t>
            </a:r>
            <a:r>
              <a:rPr lang="en-US" sz="17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r>
              <a:rPr lang="en-US" sz="17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7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7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7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</a:t>
            </a:r>
            <a:r>
              <a:rPr lang="en-US" sz="17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occ</a:t>
            </a:r>
            <a:r>
              <a:rPr lang="en-US" sz="17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7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7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7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7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7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7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48640" y="5349240"/>
            <a:ext cx="11094415" cy="822960"/>
          </a:xfrm>
          <a:prstGeom prst="roundRect">
            <a:avLst>
              <a:gd name="adj" fmla="val 13333"/>
            </a:avLst>
          </a:prstGeom>
          <a:solidFill>
            <a:srgbClr val="FFF8D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280160" y="5349240"/>
            <a:ext cx="10088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Insight:</a:t>
            </a:r>
            <a:r>
              <a:rPr lang="en-US" sz="1500" dirty="0">
                <a:solidFill>
                  <a:srgbClr val="1D2D3E"/>
                </a:solidFill>
              </a:rPr>
              <a:t> o Regex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[^0-9]</a:t>
            </a:r>
            <a:r>
              <a:rPr lang="en-US" sz="1500" dirty="0">
                <a:solidFill>
                  <a:srgbClr val="1D2D3E"/>
                </a:solidFill>
              </a:rPr>
              <a:t> significa: encontre qualquer caractere que </a:t>
            </a:r>
            <a:r>
              <a:rPr lang="en-US" sz="1500" b="1" dirty="0">
                <a:solidFill>
                  <a:srgbClr val="1D2D3E"/>
                </a:solidFill>
              </a:rPr>
              <a:t>NÃO</a:t>
            </a:r>
            <a:r>
              <a:rPr lang="en-US" sz="1500" dirty="0">
                <a:solidFill>
                  <a:srgbClr val="1D2D3E"/>
                </a:solidFill>
              </a:rPr>
              <a:t> (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^</a:t>
            </a:r>
            <a:r>
              <a:rPr lang="en-US" sz="1500" dirty="0">
                <a:solidFill>
                  <a:srgbClr val="1D2D3E"/>
                </a:solidFill>
              </a:rPr>
              <a:t>) seja um dígito (0-9).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occ = 0</a:t>
            </a:r>
            <a:r>
              <a:rPr lang="en-US" sz="1500" dirty="0">
                <a:solidFill>
                  <a:srgbClr val="1D2D3E"/>
                </a:solidFill>
              </a:rPr>
              <a:t> substitui todas as ocorrências.</a:t>
            </a:r>
            <a:endParaRPr lang="en-US" sz="16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86984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Funções Predicativas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Lógica Booleana Direta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Eliminam variáveis auxiliares e verificações de sy-subrc: retornam um booleano implícito.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48840"/>
            <a:ext cx="536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56B82"/>
                </a:solidFill>
              </a:rPr>
              <a:t>Antigo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1574749" cy="82296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9525">
            <a:solidFill>
              <a:srgbClr val="556B8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0080" y="2633472"/>
            <a:ext cx="139186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56B82"/>
                </a:solidFill>
              </a:rPr>
              <a:t>SEARCH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196541" y="2834640"/>
            <a:ext cx="173736" cy="274320"/>
          </a:xfrm>
          <a:prstGeom prst="rightArrow">
            <a:avLst/>
          </a:prstGeom>
          <a:solidFill>
            <a:srgbClr val="556B82"/>
          </a:solidFill>
          <a:ln/>
        </p:spPr>
      </p:sp>
      <p:sp>
        <p:nvSpPr>
          <p:cNvPr id="9" name="Shape 7"/>
          <p:cNvSpPr/>
          <p:nvPr/>
        </p:nvSpPr>
        <p:spPr>
          <a:xfrm>
            <a:off x="2443429" y="2560320"/>
            <a:ext cx="1574749" cy="82296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9525">
            <a:solidFill>
              <a:srgbClr val="556B8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534869" y="2633472"/>
            <a:ext cx="139186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56B82"/>
                </a:solidFill>
              </a:rPr>
              <a:t>sy-subrc = 0?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91330" y="2834640"/>
            <a:ext cx="173736" cy="274320"/>
          </a:xfrm>
          <a:prstGeom prst="rightArrow">
            <a:avLst/>
          </a:prstGeom>
          <a:solidFill>
            <a:srgbClr val="556B82"/>
          </a:solidFill>
          <a:ln/>
        </p:spPr>
      </p:sp>
      <p:sp>
        <p:nvSpPr>
          <p:cNvPr id="12" name="Shape 10"/>
          <p:cNvSpPr/>
          <p:nvPr/>
        </p:nvSpPr>
        <p:spPr>
          <a:xfrm>
            <a:off x="4338218" y="2560320"/>
            <a:ext cx="1574749" cy="82296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9525">
            <a:solidFill>
              <a:srgbClr val="556B8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429658" y="2633472"/>
            <a:ext cx="139186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56B82"/>
                </a:solidFill>
              </a:rPr>
              <a:t>Ação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278728" y="2148840"/>
            <a:ext cx="536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64D9"/>
                </a:solidFill>
              </a:rPr>
              <a:t>Moderno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278728" y="2560320"/>
            <a:ext cx="2476424" cy="82296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370168" y="2633472"/>
            <a:ext cx="229354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4D9"/>
                </a:solidFill>
              </a:rPr>
              <a:t>contains( )?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828303" y="2834640"/>
            <a:ext cx="265176" cy="274320"/>
          </a:xfrm>
          <a:prstGeom prst="rightArrow">
            <a:avLst/>
          </a:prstGeom>
          <a:solidFill>
            <a:srgbClr val="556B82"/>
          </a:solidFill>
          <a:ln/>
        </p:spPr>
      </p:sp>
      <p:sp>
        <p:nvSpPr>
          <p:cNvPr id="18" name="Shape 16"/>
          <p:cNvSpPr/>
          <p:nvPr/>
        </p:nvSpPr>
        <p:spPr>
          <a:xfrm>
            <a:off x="9166631" y="2560320"/>
            <a:ext cx="2476424" cy="82296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9258071" y="2633472"/>
            <a:ext cx="229354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4D9"/>
                </a:solidFill>
              </a:rPr>
              <a:t>Ação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743200" y="3657600"/>
            <a:ext cx="1292962" cy="384048"/>
          </a:xfrm>
          <a:prstGeom prst="roundRect">
            <a:avLst>
              <a:gd name="adj" fmla="val 50000"/>
            </a:avLst>
          </a:prstGeom>
          <a:solidFill>
            <a:srgbClr val="EBF8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743200" y="3657600"/>
            <a:ext cx="12929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4D9"/>
                </a:solidFill>
              </a:rPr>
              <a:t>contains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264762" y="3657600"/>
            <a:ext cx="1657807" cy="384048"/>
          </a:xfrm>
          <a:prstGeom prst="roundRect">
            <a:avLst>
              <a:gd name="adj" fmla="val 50000"/>
            </a:avLst>
          </a:prstGeom>
          <a:solidFill>
            <a:srgbClr val="EBF8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264762" y="3657600"/>
            <a:ext cx="16578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4D9"/>
                </a:solidFill>
              </a:rPr>
              <a:t>starts_with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51169" y="3657600"/>
            <a:ext cx="1414577" cy="384048"/>
          </a:xfrm>
          <a:prstGeom prst="roundRect">
            <a:avLst>
              <a:gd name="adj" fmla="val 50000"/>
            </a:avLst>
          </a:prstGeom>
          <a:solidFill>
            <a:srgbClr val="EBF8F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151169" y="3657600"/>
            <a:ext cx="141457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4D9"/>
                </a:solidFill>
              </a:rPr>
              <a:t>ends_with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794346" y="3657600"/>
            <a:ext cx="1171346" cy="384048"/>
          </a:xfrm>
          <a:prstGeom prst="roundRect">
            <a:avLst>
              <a:gd name="adj" fmla="val 50000"/>
            </a:avLst>
          </a:prstGeom>
          <a:solidFill>
            <a:srgbClr val="EBF8F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794346" y="3657600"/>
            <a:ext cx="117134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4D9"/>
                </a:solidFill>
              </a:rPr>
              <a:t>matches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4297680"/>
            <a:ext cx="11094415" cy="173736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777240" y="4462272"/>
            <a:ext cx="106372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contains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lv_msg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'Erro'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6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starts_with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lv_msg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'E:'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6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Tratar erro imediatamente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ENDIF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Exemplo Prático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Higienização de Dados: O Cenário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D2D3E"/>
                </a:solidFill>
              </a:rPr>
              <a:t>Uma classe utilitária recebe dados brutos de uma API legada e precisa padronizá-los.</a:t>
            </a:r>
            <a:endParaRPr lang="en-US" sz="1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31720"/>
          <a:ext cx="1109441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5120640"/>
                <a:gridCol w="3959352"/>
              </a:tblGrid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Campo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Valor recebido (Input Payload)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Problema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D2D3E"/>
                          </a:solidFill>
                        </a:rPr>
                        <a:t>Nome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'   joão da silva   '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B44F00"/>
                          </a:solidFill>
                        </a:rPr>
                        <a:t>Espaços extras, minúsculo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D2D3E"/>
                          </a:solidFill>
                        </a:rPr>
                        <a:t>Email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'JOAO.SILVA@SAP.COM'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B44F00"/>
                          </a:solidFill>
                        </a:rPr>
                        <a:t>Maiúsculo (errado)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D2D3E"/>
                          </a:solidFill>
                        </a:rPr>
                        <a:t>SKU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'MAT-1234-BR'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B44F00"/>
                          </a:solidFill>
                        </a:rPr>
                        <a:t>Mistura ID e tipo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Implementação da Solução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7955280" cy="4572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764792"/>
            <a:ext cx="74980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1. Encadeamento: limpeza e maiúsculas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lv_name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to_upper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condense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lv_raw_name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2. Normalização: minúsculas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lv_email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to_lower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lv_raw_email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3. Extração Regex: apenas dígitos (\d+)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lv_raw_sku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regex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'\d+'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lv_extracted_num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4. Predicados em condicional (COND)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lv_type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starts_with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lv_raw_sku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'MAT'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'Material Físico'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starts_with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lv_raw_sku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'SRV'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'Serviço'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'Desconhecido'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778240" y="1783080"/>
            <a:ext cx="2864815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42832" y="2052828"/>
            <a:ext cx="329184" cy="32918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942832" y="20528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418320" y="1783080"/>
            <a:ext cx="20875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Nome:</a:t>
            </a:r>
            <a:r>
              <a:rPr lang="en-US" sz="1300" dirty="0">
                <a:solidFill>
                  <a:srgbClr val="1D2D3E"/>
                </a:solidFill>
              </a:rPr>
              <a:t>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'JOÃO DA SILVA'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778240" y="2880360"/>
            <a:ext cx="2864815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42832" y="3150108"/>
            <a:ext cx="329184" cy="32918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942832" y="31501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418320" y="2880360"/>
            <a:ext cx="20875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Email:</a:t>
            </a:r>
            <a:r>
              <a:rPr lang="en-US" sz="1300" dirty="0">
                <a:solidFill>
                  <a:srgbClr val="1D2D3E"/>
                </a:solidFill>
              </a:rPr>
              <a:t>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'joao.silva@sap.com'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778240" y="3977640"/>
            <a:ext cx="2864815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42832" y="4247388"/>
            <a:ext cx="329184" cy="32918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942832" y="42473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418320" y="3977640"/>
            <a:ext cx="20875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SKU:</a:t>
            </a:r>
            <a:r>
              <a:rPr lang="en-US" sz="1300" dirty="0">
                <a:solidFill>
                  <a:srgbClr val="1D2D3E"/>
                </a:solidFill>
              </a:rPr>
              <a:t> dígitos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1234</a:t>
            </a:r>
            <a:r>
              <a:rPr lang="en-US" sz="1300" dirty="0">
                <a:solidFill>
                  <a:srgbClr val="1D2D3E"/>
                </a:solidFill>
              </a:rPr>
              <a:t> extraídos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778240" y="5074920"/>
            <a:ext cx="2864815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942832" y="5344668"/>
            <a:ext cx="329184" cy="32918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942832" y="53446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418320" y="5074920"/>
            <a:ext cx="20875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Tipo:</a:t>
            </a:r>
            <a:r>
              <a:rPr lang="en-US" sz="1300" dirty="0">
                <a:solidFill>
                  <a:srgbClr val="1D2D3E"/>
                </a:solidFill>
              </a:rPr>
              <a:t>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'Material Físico'</a:t>
            </a:r>
            <a:endParaRPr lang="en-US" sz="1600" dirty="0"/>
          </a:p>
        </p:txBody>
      </p:sp>
      <p:sp>
        <p:nvSpPr>
          <p:cNvPr id="21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Glossário Técnico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410048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04672" y="185623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" y="2569464"/>
            <a:ext cx="489798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D2D3E"/>
                </a:solidFill>
              </a:rPr>
              <a:t>Built-in Functions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556B82"/>
                </a:solidFill>
              </a:rPr>
              <a:t>Funções nativas (ex.: </a:t>
            </a:r>
            <a:r>
              <a:rPr lang="en-US" sz="16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strlen</a:t>
            </a:r>
            <a:r>
              <a:rPr lang="en-US" sz="1600" dirty="0">
                <a:solidFill>
                  <a:srgbClr val="556B82"/>
                </a:solidFill>
              </a:rPr>
              <a:t>, </a:t>
            </a:r>
            <a:r>
              <a:rPr lang="en-US" sz="16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to_upper</a:t>
            </a:r>
            <a:r>
              <a:rPr lang="en-US" sz="1600" dirty="0">
                <a:solidFill>
                  <a:srgbClr val="556B82"/>
                </a:solidFill>
              </a:rPr>
              <a:t>) utilizáveis em qualquer posição de operando.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33008" y="1600200"/>
            <a:ext cx="5410048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89040" y="185623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89040" y="2569464"/>
            <a:ext cx="489798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D2D3E"/>
                </a:solidFill>
              </a:rPr>
              <a:t>Regex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556B82"/>
                </a:solidFill>
              </a:rPr>
              <a:t>Linguagem formal para descrever e validar padrões complexos de texto.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4023360"/>
            <a:ext cx="5410048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4672" y="427939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04672" y="4992624"/>
            <a:ext cx="489798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D2D3E"/>
                </a:solidFill>
              </a:rPr>
              <a:t>Chaining (Encadeamento)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556B82"/>
                </a:solidFill>
              </a:rPr>
              <a:t>Chamada de função dentro do resultado de outra (ex.: </a:t>
            </a:r>
            <a:r>
              <a:rPr lang="en-US" sz="16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func1( func2( x ) )</a:t>
            </a:r>
            <a:r>
              <a:rPr lang="en-US" sz="1600" dirty="0">
                <a:solidFill>
                  <a:srgbClr val="556B82"/>
                </a:solidFill>
              </a:rPr>
              <a:t>).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33008" y="4023360"/>
            <a:ext cx="5410048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89040" y="427939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89040" y="4992624"/>
            <a:ext cx="489798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D2D3E"/>
                </a:solidFill>
              </a:rPr>
              <a:t>Predicative Function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556B82"/>
                </a:solidFill>
              </a:rPr>
              <a:t>Função que retorna verdadeiro/falso para uso lógico direto (ex.: </a:t>
            </a:r>
            <a:r>
              <a:rPr lang="en-US" sz="16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matches</a:t>
            </a:r>
            <a:r>
              <a:rPr lang="en-US" sz="1600" dirty="0">
                <a:solidFill>
                  <a:srgbClr val="556B82"/>
                </a:solidFill>
              </a:rPr>
              <a:t>).</a:t>
            </a:r>
            <a:endParaRPr lang="en-US" sz="16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346" y="1987906"/>
            <a:ext cx="285293" cy="285293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713" y="1987906"/>
            <a:ext cx="285293" cy="285293"/>
          </a:xfrm>
          <a:prstGeom prst="rect">
            <a:avLst/>
          </a:prstGeom>
        </p:spPr>
      </p:pic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346" y="4411066"/>
            <a:ext cx="285293" cy="285293"/>
          </a:xfrm>
          <a:prstGeom prst="rect">
            <a:avLst/>
          </a:prstGeom>
        </p:spPr>
      </p:pic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0713" y="4411066"/>
            <a:ext cx="285293" cy="285293"/>
          </a:xfrm>
          <a:prstGeom prst="rect">
            <a:avLst/>
          </a:prstGeom>
        </p:spPr>
      </p:pic>
      <p:sp>
        <p:nvSpPr>
          <p:cNvPr id="19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Tabela Comparativa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Antigo vs. Novo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023360"/>
                <a:gridCol w="4325112"/>
              </a:tblGrid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Operação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Legado (evitar)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Moderno (usar)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D2D3E"/>
                          </a:solidFill>
                        </a:rPr>
                        <a:t>Maiúsculas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AA080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TRANSLATE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56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to_upper( 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D2D3E"/>
                          </a:solidFill>
                        </a:rPr>
                        <a:t>Busca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AA080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SEARCH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56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find( 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D2D3E"/>
                          </a:solidFill>
                        </a:rPr>
                        <a:t>Padrão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AA080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CP</a:t>
                      </a:r>
                      <a:r>
                        <a:rPr lang="en-US" sz="1700" dirty="0">
                          <a:solidFill>
                            <a:srgbClr val="AA0808"/>
                          </a:solidFill>
                        </a:rPr>
                        <a:t> (Contains Pattern)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56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matches( 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D2D3E"/>
                          </a:solidFill>
                        </a:rPr>
                        <a:t>Concatenação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AA080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CONCATENATE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56F3A"/>
                          </a:solidFill>
                        </a:rPr>
                        <a:t>String Templates </a:t>
                      </a:r>
                      <a:r>
                        <a:rPr lang="en-US" sz="1700" dirty="0">
                          <a:solidFill>
                            <a:srgbClr val="256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|{ a }{ b }|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D2D3E"/>
                          </a:solidFill>
                        </a:rPr>
                        <a:t>Substituição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AA080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REPLACE ... INTO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56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replace( val = ... 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Quiz de Fixação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874520"/>
            <a:ext cx="3515258" cy="347472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20574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070F2"/>
                </a:solidFill>
              </a:rPr>
              <a:t>Q1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971800"/>
            <a:ext cx="287517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D2D3E"/>
                </a:solidFill>
              </a:rPr>
              <a:t>Qual a diferença fundamental entre a função </a:t>
            </a:r>
            <a:r>
              <a:rPr lang="en-US" sz="17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condense( )</a:t>
            </a:r>
            <a:r>
              <a:rPr lang="en-US" sz="1700" dirty="0">
                <a:solidFill>
                  <a:srgbClr val="1D2D3E"/>
                </a:solidFill>
              </a:rPr>
              <a:t> moderna e o comando antigo </a:t>
            </a:r>
            <a:r>
              <a:rPr lang="en-US" sz="17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CONDENSE NO-GAPS</a:t>
            </a:r>
            <a:r>
              <a:rPr lang="en-US" sz="1700" dirty="0">
                <a:solidFill>
                  <a:srgbClr val="1D2D3E"/>
                </a:solidFill>
              </a:rPr>
              <a:t>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38218" y="1874520"/>
            <a:ext cx="3515258" cy="347472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658258" y="20574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070F2"/>
                </a:solidFill>
              </a:rPr>
              <a:t>Q2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4658258" y="2971800"/>
            <a:ext cx="287517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D2D3E"/>
                </a:solidFill>
              </a:rPr>
              <a:t>Qual função predicativa é a mais performática e legível para verificar um sufixo (ex.: domínio de e-mail)?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27797" y="1874520"/>
            <a:ext cx="3515258" cy="347472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447837" y="20574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070F2"/>
                </a:solidFill>
              </a:rPr>
              <a:t>Q3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8447837" y="2971800"/>
            <a:ext cx="287517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D2D3E"/>
                </a:solidFill>
              </a:rPr>
              <a:t>O que significa o padrão regex </a:t>
            </a:r>
            <a:r>
              <a:rPr lang="en-US" sz="17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[^0-9]</a:t>
            </a:r>
            <a:r>
              <a:rPr lang="en-US" sz="1700" dirty="0">
                <a:solidFill>
                  <a:srgbClr val="1D2D3E"/>
                </a:solidFill>
              </a:rPr>
              <a:t> quando usado em uma limpeza de dados?</a:t>
            </a:r>
            <a:endParaRPr lang="en-US" sz="1600" dirty="0"/>
          </a:p>
        </p:txBody>
      </p:sp>
      <p:sp>
        <p:nvSpPr>
          <p:cNvPr id="1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Pontos de Atenção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874520"/>
            <a:ext cx="3515258" cy="3931920"/>
          </a:xfrm>
          <a:prstGeom prst="roundRect">
            <a:avLst>
              <a:gd name="adj" fmla="val 364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04672" y="213055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FF8D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" y="2843784"/>
            <a:ext cx="3003194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D2D3E"/>
                </a:solidFill>
              </a:rPr>
              <a:t>Imutabilidade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556B82"/>
                </a:solidFill>
              </a:rPr>
              <a:t>Funções retornam </a:t>
            </a:r>
            <a:r>
              <a:rPr lang="en-US" sz="1600" b="1" dirty="0">
                <a:solidFill>
                  <a:srgbClr val="556B82"/>
                </a:solidFill>
              </a:rPr>
              <a:t>novos</a:t>
            </a:r>
            <a:r>
              <a:rPr lang="en-US" sz="1600" dirty="0">
                <a:solidFill>
                  <a:srgbClr val="556B82"/>
                </a:solidFill>
              </a:rPr>
              <a:t> valores: não alteram a variável original, a menos que a atribuição seja explícita (</a:t>
            </a:r>
            <a:r>
              <a:rPr lang="en-US" sz="16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func( x )</a:t>
            </a:r>
            <a:r>
              <a:rPr lang="en-US" sz="1600" dirty="0">
                <a:solidFill>
                  <a:srgbClr val="556B82"/>
                </a:solidFill>
              </a:rPr>
              <a:t>).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38218" y="1874520"/>
            <a:ext cx="3515258" cy="3931920"/>
          </a:xfrm>
          <a:prstGeom prst="roundRect">
            <a:avLst>
              <a:gd name="adj" fmla="val 364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94250" y="213055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FF8D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94250" y="2843784"/>
            <a:ext cx="3003194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D2D3E"/>
                </a:solidFill>
              </a:rPr>
              <a:t>Performance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556B82"/>
                </a:solidFill>
              </a:rPr>
              <a:t>Prefira funções específicas (</a:t>
            </a:r>
            <a:r>
              <a:rPr lang="en-US" sz="16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ends_with</a:t>
            </a:r>
            <a:r>
              <a:rPr lang="en-US" sz="1600" dirty="0">
                <a:solidFill>
                  <a:srgbClr val="556B82"/>
                </a:solidFill>
              </a:rPr>
              <a:t>) em vez de Regex genérico para verificações simples.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27797" y="1874520"/>
            <a:ext cx="3515258" cy="3931920"/>
          </a:xfrm>
          <a:prstGeom prst="roundRect">
            <a:avLst>
              <a:gd name="adj" fmla="val 364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383829" y="213055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FF8D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383829" y="2843784"/>
            <a:ext cx="3003194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D2D3E"/>
                </a:solidFill>
              </a:rPr>
              <a:t>Legibilidade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556B82"/>
                </a:solidFill>
              </a:rPr>
              <a:t>Embora o encadeamento seja poderoso, evite linhas excessivamente longas. Quebre em passos se necessário para manter a clareza.</a:t>
            </a:r>
            <a:endParaRPr lang="en-US" sz="16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5924" y="2262226"/>
            <a:ext cx="285293" cy="285293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346" y="2262226"/>
            <a:ext cx="285293" cy="285293"/>
          </a:xfrm>
          <a:prstGeom prst="rect">
            <a:avLst/>
          </a:prstGeom>
        </p:spPr>
      </p:pic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502" y="2262226"/>
            <a:ext cx="285293" cy="285293"/>
          </a:xfrm>
          <a:prstGeom prst="rect">
            <a:avLst/>
          </a:prstGeom>
        </p:spPr>
      </p:pic>
      <p:sp>
        <p:nvSpPr>
          <p:cNvPr id="15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DB1FF"/>
                </a:solidFill>
              </a:rPr>
              <a:t>Conclusão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O Futuro do ABAP é Agora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116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FFFFFF"/>
                </a:solidFill>
              </a:rPr>
              <a:t>Código </a:t>
            </a:r>
            <a:r>
              <a:rPr lang="en-US" sz="3800" b="1" dirty="0">
                <a:solidFill>
                  <a:srgbClr val="FFFFFF"/>
                </a:solidFill>
              </a:rPr>
              <a:t>limpo, seguro e expressivo</a:t>
            </a:r>
            <a:r>
              <a:rPr lang="en-US" sz="3800" dirty="0">
                <a:solidFill>
                  <a:srgbClr val="FFFFFF"/>
                </a:solidFill>
              </a:rPr>
              <a:t>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9184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C9D3DE"/>
                </a:solidFill>
              </a:rPr>
              <a:t>Escolha um programa antigo hoje e refatore o tratamento de strings utilizando funções embutidas e Regex.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396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P Horizon">
  <a:themeElements>
    <a:clrScheme name="SAP Horizon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7858FF"/>
      </a:accent5>
      <a:accent6>
        <a:srgbClr val="07838F"/>
      </a:accent6>
      <a:hlink>
        <a:srgbClr val="0064D9"/>
      </a:hlink>
      <a:folHlink>
        <a:srgbClr val="5D36FF"/>
      </a:folHlink>
    </a:clrScheme>
    <a:fontScheme name="SAP Horizo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ABAP Moderno: Processamento de Strings</dc:title>
  <dc:subject>ABAP Moderno – Módulo 04</dc:subject>
  <dc:creator>Adriano Bispo</dc:creator>
  <cp:lastModifiedBy>Adriano Bispo</cp:lastModifiedBy>
  <cp:revision>1</cp:revision>
  <dcterms:created xsi:type="dcterms:W3CDTF">2026-10-25T23:53:43Z</dcterms:created>
  <dcterms:modified xsi:type="dcterms:W3CDTF">2026-10-25T23:53:43Z</dcterms:modified>
</cp:coreProperties>
</file>