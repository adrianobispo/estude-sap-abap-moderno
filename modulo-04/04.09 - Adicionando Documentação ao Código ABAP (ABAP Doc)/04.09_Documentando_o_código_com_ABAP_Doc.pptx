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04  ·  04.09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04  ·  04.09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04  ·  04.09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04  ·  04.09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 Revolução da Documentação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De ruído a inteligência: dominando o ABAP Doc. Uma jornada para transformar seu código em uma API autodocumentada, interativa e profissional.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15400" y="16002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33302B"/>
          </a:solidFill>
          <a:ln w="9525">
            <a:solidFill>
              <a:srgbClr val="6B5E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Método: CALC_TAX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21671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1FF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15400" y="2350008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0" y="23500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ABAP Doc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15400" y="3099816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0" y="309981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@parameter · @raising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15400" y="3849624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0" y="384962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 &lt;strong&gt; &lt;ul&gt;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4599432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0" y="45994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F2 · Element Info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737360"/>
            <a:ext cx="292608" cy="292608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487168"/>
            <a:ext cx="292608" cy="292608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3236976"/>
            <a:ext cx="292608" cy="292608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3986784"/>
            <a:ext cx="292608" cy="292608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Paradigma Quebrado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Comentários como Ruído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D2D3E"/>
                </a:solidFill>
              </a:rPr>
              <a:t>Durante décadas, a documentação em ABAP foi tratada como um bloco de texto estático, invisível para as ferramentas de desenvolvimento. O compilador a ignora. O Content Assist a ignora. É apenas ruído visual.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035040" y="1600200"/>
            <a:ext cx="5608015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263640" y="1764792"/>
            <a:ext cx="515081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*********************************************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Método: CALC_TAX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Autor: João Silva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Data: 20/10/2010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Descrição: Calcula imposto. Parâmetro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         IV_VAL é o valor total.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*********************************************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calc_tax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509760" y="5440680"/>
            <a:ext cx="2126894" cy="365760"/>
          </a:xfrm>
          <a:prstGeom prst="roundRect">
            <a:avLst>
              <a:gd name="adj" fmla="val 50000"/>
            </a:avLst>
          </a:prstGeom>
          <a:solidFill>
            <a:srgbClr val="FFF8D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509760" y="5440680"/>
            <a:ext cx="21268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4F00"/>
                </a:solidFill>
              </a:rPr>
              <a:t>Ruído para a IDE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Custo Real do Ruído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Encapsulamento Quebrado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Quando um desenvolvedor consome seu método, ele não vê suas anotações. Para entender o que </a:t>
            </a:r>
            <a:r>
              <a:rPr lang="en-US" sz="17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IV_VAL</a:t>
            </a:r>
            <a:r>
              <a:rPr lang="en-US" sz="1700" dirty="0">
                <a:solidFill>
                  <a:srgbClr val="1D2D3E"/>
                </a:solidFill>
              </a:rPr>
              <a:t> significa, ele precisa: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397709" y="3268980"/>
            <a:ext cx="7396277" cy="0"/>
          </a:xfrm>
          <a:prstGeom prst="line">
            <a:avLst/>
          </a:prstGeom>
          <a:noFill/>
          <a:ln w="38100">
            <a:solidFill>
              <a:srgbClr val="E76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63369" y="2834640"/>
            <a:ext cx="868680" cy="8686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765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63369" y="2834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E76500"/>
                </a:solidFill>
              </a:rPr>
              <a:t>1</a:t>
            </a:r>
            <a:endParaRPr lang="en-US" sz="28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931920"/>
            <a:ext cx="35518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Consumindo o método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Para o que está fazendo.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1508" y="2834640"/>
            <a:ext cx="868680" cy="8686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765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1508" y="2834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E76500"/>
                </a:solidFill>
              </a:rPr>
              <a:t>2</a:t>
            </a:r>
            <a:endParaRPr lang="en-US" sz="2850" dirty="0"/>
          </a:p>
        </p:txBody>
      </p:sp>
      <p:sp>
        <p:nvSpPr>
          <p:cNvPr id="11" name="Text 9"/>
          <p:cNvSpPr txBox="1"/>
          <p:nvPr/>
        </p:nvSpPr>
        <p:spPr>
          <a:xfrm>
            <a:off x="4319930" y="3931920"/>
            <a:ext cx="35518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Navegação forçada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Vai até a definição da classe (F2 não ajuda aqui).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359646" y="2834640"/>
            <a:ext cx="868680" cy="8686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765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59646" y="2834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E76500"/>
                </a:solidFill>
              </a:rPr>
              <a:t>3</a:t>
            </a:r>
            <a:endParaRPr lang="en-US" sz="2850" dirty="0"/>
          </a:p>
        </p:txBody>
      </p:sp>
      <p:sp>
        <p:nvSpPr>
          <p:cNvPr id="14" name="Text 12"/>
          <p:cNvSpPr txBox="1"/>
          <p:nvPr/>
        </p:nvSpPr>
        <p:spPr>
          <a:xfrm>
            <a:off x="8018069" y="3931920"/>
            <a:ext cx="35518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Produtividade perdida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Lê a implementação para decifrar o contrato.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FEA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80160" y="5257800"/>
            <a:ext cx="10088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Isso </a:t>
            </a:r>
            <a:r>
              <a:rPr lang="en-US" sz="1600" b="1" dirty="0">
                <a:solidFill>
                  <a:srgbClr val="1D2D3E"/>
                </a:solidFill>
              </a:rPr>
              <a:t>quebra o princípio do encapsulamento</a:t>
            </a:r>
            <a:r>
              <a:rPr lang="en-US" sz="1600" dirty="0">
                <a:solidFill>
                  <a:srgbClr val="1D2D3E"/>
                </a:solidFill>
              </a:rPr>
              <a:t> e destrói a produtividade. O contrato da sua API está escondido, não exposto.</a:t>
            </a:r>
            <a:endParaRPr lang="en-US" sz="16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1840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Solução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Documentação que a IDE Entende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O ABAP Doc (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</a:t>
            </a:r>
            <a:r>
              <a:rPr lang="en-US" sz="1600" dirty="0">
                <a:solidFill>
                  <a:srgbClr val="1D2D3E"/>
                </a:solidFill>
              </a:rPr>
              <a:t>) alinha o ABAP com linguagens modernas como Java (Javadoc). Ele transforma comentários em metadados que o ADT lê, interpreta e apresenta de forma inteligente, criando APIs verdadeiramente autodocumentadas.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364328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871216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4F00"/>
                </a:solidFill>
              </a:rPr>
              <a:t>O Passado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55264"/>
            <a:ext cx="5364328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383280"/>
            <a:ext cx="4907128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*******************************************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Método: CALC_TAX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Descrição: Calcula imposto...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*******************************************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8728" y="2743200"/>
            <a:ext cx="5364328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07328" y="2871216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F3A"/>
                </a:solidFill>
              </a:rPr>
              <a:t>O Futuro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78728" y="3255264"/>
            <a:ext cx="5364328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07328" y="3383280"/>
            <a:ext cx="4907128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&lt;p class="shorttext"&gt;Calcula o imposto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sobre o valor total.&lt;/p&gt;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@parameter iv_total_value | Valor total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           para base de cálculo.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@returning rv_tax_amount  | Valor do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           imposto calculado.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Poder do F2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Sua Documentação, Onde Você Precisa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D2D3E"/>
                </a:solidFill>
              </a:rPr>
              <a:t>Não procure mais pela documentação. Pressione F2 e ela virá até você.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603504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450592"/>
            <a:ext cx="5577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lv_disc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lo_calc-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calculate_discount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iv_customer_id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lv_customer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iv_total_amount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lv_amount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0" y="2148840"/>
            <a:ext cx="4693615" cy="3566160"/>
          </a:xfrm>
          <a:prstGeom prst="roundRect">
            <a:avLst>
              <a:gd name="adj" fmla="val 2051"/>
            </a:avLst>
          </a:prstGeom>
          <a:solidFill>
            <a:srgbClr val="FFF8D6"/>
          </a:solidFill>
          <a:ln w="19050">
            <a:solidFill>
              <a:srgbClr val="E765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44F00"/>
                </a:solidFill>
              </a:rPr>
              <a:t>Element Info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2606040"/>
            <a:ext cx="432785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calculate_discount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D2D3E"/>
                </a:solidFill>
              </a:rPr>
              <a:t>Calcula o desconto com base nos critérios informados e na fidelidade do cliente.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Parameters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iv_customer_id: identificador único do cliente.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iv_total_amount: valor total antes do desconto.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rv_discount: valor de desconto calculado.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ZCX_CUSTOMER_ERROR: lançada se o cálculo falhar.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937760"/>
            <a:ext cx="914400" cy="640080"/>
          </a:xfrm>
          <a:prstGeom prst="roundRect">
            <a:avLst>
              <a:gd name="adj" fmla="val 50000"/>
            </a:avLst>
          </a:prstGeom>
          <a:solidFill>
            <a:srgbClr val="EAEC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937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56B82"/>
                </a:solidFill>
              </a:rPr>
              <a:t>F2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Onde o Contrato Vive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Definição vs. Implementação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O ABAP Doc deve ser escrito na seção </a:t>
            </a:r>
            <a:r>
              <a:rPr lang="en-US" sz="17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</a:t>
            </a:r>
            <a:r>
              <a:rPr lang="en-US" sz="1700" dirty="0">
                <a:solidFill>
                  <a:srgbClr val="1D2D3E"/>
                </a:solidFill>
              </a:rPr>
              <a:t> da sua classe ou interface. É aqui que o contrato público é definido.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5364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6F3A"/>
                </a:solidFill>
              </a:rPr>
              <a:t>DEFINITION: </a:t>
            </a:r>
            <a:r>
              <a:rPr lang="en-US" sz="1500" dirty="0">
                <a:solidFill>
                  <a:srgbClr val="1D2D3E"/>
                </a:solidFill>
              </a:rPr>
              <a:t>documente aqui. É o que os outros desenvolvedores veem e precisam saber para usar seu código.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278728" y="2423160"/>
            <a:ext cx="5364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4F00"/>
                </a:solidFill>
              </a:rPr>
              <a:t>IMPLEMENTATION: </a:t>
            </a:r>
            <a:r>
              <a:rPr lang="en-US" sz="1500" dirty="0">
                <a:solidFill>
                  <a:srgbClr val="1D2D3E"/>
                </a:solidFill>
              </a:rPr>
              <a:t>comentários aqui (") são para explicar a lógica interna complexa, invisível para quem consome a classe.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676656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3511296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F3A"/>
                </a:solidFill>
              </a:rPr>
              <a:t>✓  ABAP Doc aqui!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895344"/>
            <a:ext cx="676656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023360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zcl_example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676656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5020056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4F00"/>
                </a:solidFill>
              </a:rPr>
              <a:t>ⓘ  Comentários internos (") aqui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404104"/>
            <a:ext cx="676656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5532120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zcl_example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Decodificando a Sintaxe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As Ferramentas do Mestre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A estrutura do ABAP Doc é simples e poderosa. Use estas tags para descrever cada parte da assinatura do seu método.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37744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Inicia cada linha de ABAP Doc. Posicionado imediatamente antes da declaração.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832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657600"/>
                <a:gridCol w="5056632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Tag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Sintaxe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Uso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→  @parameter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nome_param | Descrição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Para parâmetros de IMPORTING, EXPORTING, CHANGING.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←  @returning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nome_retorno | Descrição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Para o valor de retorno funcional.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!  @raising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nome_excecao | Descrição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Explica </a:t>
                      </a: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quando e por que</a:t>
                      </a: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 uma exceção é lançada.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Elevando o Padrão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Formatação Rica (HTML)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Por que se contentar com texto simples? O ABAP Doc suporta um subconjunto de HTML para criar documentação clara, organizada e profissional.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Tags HTML suportadas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1500" dirty="0">
                <a:solidFill>
                  <a:srgbClr val="1D2D3E"/>
                </a:solidFill>
              </a:rPr>
              <a:t>: parágrafos para estruturar o texto.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&lt;strong&gt;</a:t>
            </a:r>
            <a:r>
              <a:rPr lang="en-US" sz="1500" dirty="0">
                <a:solidFill>
                  <a:srgbClr val="1D2D3E"/>
                </a:solidFill>
              </a:rPr>
              <a:t> ou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&lt;b&gt;</a:t>
            </a:r>
            <a:r>
              <a:rPr lang="en-US" sz="1500" dirty="0">
                <a:solidFill>
                  <a:srgbClr val="1D2D3E"/>
                </a:solidFill>
              </a:rPr>
              <a:t>: negrito para </a:t>
            </a:r>
            <a:r>
              <a:rPr lang="en-US" sz="1500" b="1" dirty="0">
                <a:solidFill>
                  <a:srgbClr val="1D2D3E"/>
                </a:solidFill>
              </a:rPr>
              <a:t>destaque</a:t>
            </a:r>
            <a:r>
              <a:rPr lang="en-US" sz="1500" dirty="0">
                <a:solidFill>
                  <a:srgbClr val="1D2D3E"/>
                </a:solidFill>
              </a:rPr>
              <a:t>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&lt;em&gt;</a:t>
            </a:r>
            <a:r>
              <a:rPr lang="en-US" sz="1500" dirty="0">
                <a:solidFill>
                  <a:srgbClr val="1D2D3E"/>
                </a:solidFill>
              </a:rPr>
              <a:t> ou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&lt;i&gt;</a:t>
            </a:r>
            <a:r>
              <a:rPr lang="en-US" sz="1500" dirty="0">
                <a:solidFill>
                  <a:srgbClr val="1D2D3E"/>
                </a:solidFill>
              </a:rPr>
              <a:t>: itálico para ênfase.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r>
              <a:rPr lang="en-US" sz="1500" dirty="0">
                <a:solidFill>
                  <a:srgbClr val="1D2D3E"/>
                </a:solidFill>
              </a:rPr>
              <a:t>,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</a:t>
            </a:r>
            <a:r>
              <a:rPr lang="en-US" sz="1500" dirty="0">
                <a:solidFill>
                  <a:srgbClr val="1D2D3E"/>
                </a:solidFill>
              </a:rPr>
              <a:t>,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r>
              <a:rPr lang="en-US" sz="1500" dirty="0">
                <a:solidFill>
                  <a:srgbClr val="1D2D3E"/>
                </a:solidFill>
              </a:rPr>
              <a:t>: listas para sequências ou itens.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&lt;code&gt;</a:t>
            </a:r>
            <a:r>
              <a:rPr lang="en-US" sz="1500" dirty="0">
                <a:solidFill>
                  <a:srgbClr val="1D2D3E"/>
                </a:solidFill>
              </a:rPr>
              <a:t>: para formatar texto como código.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2377440"/>
            <a:ext cx="5333695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2505456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Código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2889504"/>
            <a:ext cx="533369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3017520"/>
            <a:ext cx="4876495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&lt;p&gt;Este método usa a política &lt;strong&gt;ZPOL_01&lt;/strong&gt;.&lt;/p&gt;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&lt;ul&gt;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  &lt;li&gt;Verifica o &lt;em&gt;cache&lt;/em&gt; primeiro.&lt;/li&gt;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  &lt;li&gt;Consulta a tabela &lt;code&gt;KNA1&lt;/code&gt;.&lt;/li&gt;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&lt;/ul&gt;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778240" y="4343400"/>
            <a:ext cx="457200" cy="365760"/>
          </a:xfrm>
          <a:prstGeom prst="downArrow">
            <a:avLst/>
          </a:prstGeom>
          <a:solidFill>
            <a:srgbClr val="30914C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4800600"/>
            <a:ext cx="5333695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92240" y="4892040"/>
            <a:ext cx="4967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Este método usa a política </a:t>
            </a:r>
            <a:r>
              <a:rPr lang="en-US" sz="1400" b="1" dirty="0">
                <a:solidFill>
                  <a:srgbClr val="1D2D3E"/>
                </a:solidFill>
              </a:rPr>
              <a:t>ZPOL_01</a:t>
            </a:r>
            <a:r>
              <a:rPr lang="en-US" sz="1400" dirty="0">
                <a:solidFill>
                  <a:srgbClr val="1D2D3E"/>
                </a:solidFill>
              </a:rPr>
              <a:t>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• Verifica o </a:t>
            </a:r>
            <a:r>
              <a:rPr lang="en-US" sz="1400" i="1" dirty="0">
                <a:solidFill>
                  <a:srgbClr val="1D2D3E"/>
                </a:solidFill>
              </a:rPr>
              <a:t>cache</a:t>
            </a:r>
            <a:r>
              <a:rPr lang="en-US" sz="1400" dirty="0">
                <a:solidFill>
                  <a:srgbClr val="1D2D3E"/>
                </a:solidFill>
              </a:rPr>
              <a:t> primeiro.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• Consulta a tabela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KNA1</a:t>
            </a:r>
            <a:r>
              <a:rPr lang="en-US" sz="1400" dirty="0">
                <a:solidFill>
                  <a:srgbClr val="1D2D3E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Exemplo Padrão-Ouro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Um Método Profissionalmente Documentado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8321040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64792"/>
            <a:ext cx="78638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&lt;p class="shorttext"&gt;Calcula o valor do desconto de fidelidade progressivo.&lt;/p&gt;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O cálculo é baseado no &lt;em&gt;histórico de compras&lt;/em&gt; do cliente nos últimos 12 meses.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A lógica segue a tabela de descontos da política comercial &lt;strong&gt;ZPOL_01&lt;/strong&gt;.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&lt;ul&gt;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  &lt;li&gt;Categoria A: 10%&lt;/li&gt;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  &lt;li&gt;Categoria B: 5%&lt;/li&gt;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&lt;/ul&gt;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@parameter iv_customer_id  | ID do Cliente (Tabela KNA1)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@parameter iv_total_amount | Valor total da compra atual para base de cálculo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@returning rv_discount     | Valor monetário do desconto calculado em moeda local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@raising   zcx_customer_error | Disparado se o cliente estiver bloqueado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calculate_discount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IMPORTING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iv_customer_id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kunnr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iv_total_amount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kbetr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RETURNING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rv_discount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kbetr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RAISING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zcx_customer_error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0" y="1600200"/>
            <a:ext cx="2499055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08592" y="182422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08592" y="18242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784080" y="1600200"/>
            <a:ext cx="17218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D3E"/>
                </a:solidFill>
              </a:rPr>
              <a:t>Descrição</a:t>
            </a:r>
            <a:r>
              <a:rPr lang="en-US" sz="1200" dirty="0">
                <a:solidFill>
                  <a:srgbClr val="1D2D3E"/>
                </a:solidFill>
              </a:rPr>
              <a:t> curta e direta.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0" y="2542032"/>
            <a:ext cx="2499055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08592" y="2766060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308592" y="27660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784080" y="2542032"/>
            <a:ext cx="17218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D3E"/>
                </a:solidFill>
              </a:rPr>
              <a:t>Ênfase visual</a:t>
            </a:r>
            <a:r>
              <a:rPr lang="en-US" sz="1200" dirty="0">
                <a:solidFill>
                  <a:srgbClr val="1D2D3E"/>
                </a:solidFill>
              </a:rPr>
              <a:t> com HTML.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0" y="3483864"/>
            <a:ext cx="2499055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08592" y="3707892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08592" y="37078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784080" y="3483864"/>
            <a:ext cx="17218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D3E"/>
                </a:solidFill>
              </a:rPr>
              <a:t>Listas</a:t>
            </a:r>
            <a:r>
              <a:rPr lang="en-US" sz="1200" dirty="0">
                <a:solidFill>
                  <a:srgbClr val="1D2D3E"/>
                </a:solidFill>
              </a:rPr>
              <a:t> para clareza.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44000" y="4425696"/>
            <a:ext cx="2499055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08592" y="4649724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08592" y="46497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784080" y="4425696"/>
            <a:ext cx="17218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D3E"/>
                </a:solidFill>
              </a:rPr>
              <a:t>Parâmetros</a:t>
            </a:r>
            <a:r>
              <a:rPr lang="en-US" sz="1200" dirty="0">
                <a:solidFill>
                  <a:srgbClr val="1D2D3E"/>
                </a:solidFill>
              </a:rPr>
              <a:t> bem descritos.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144000" y="5367528"/>
            <a:ext cx="2499055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08592" y="5591556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308592" y="55915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784080" y="5367528"/>
            <a:ext cx="17218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D3E"/>
                </a:solidFill>
              </a:rPr>
              <a:t>Contrato de erro</a:t>
            </a:r>
            <a:r>
              <a:rPr lang="en-US" sz="1200" dirty="0">
                <a:solidFill>
                  <a:srgbClr val="1D2D3E"/>
                </a:solidFill>
              </a:rPr>
              <a:t> explícito.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Filosofia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Código Limpo vs. Comentários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A máxima “código bom não precisa de comentários” é uma meia-verdade. A questão é o propósito do comentário.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645920" y="2468880"/>
            <a:ext cx="8899855" cy="1115568"/>
          </a:xfrm>
          <a:prstGeom prst="roundRect">
            <a:avLst>
              <a:gd name="adj" fmla="val 9836"/>
            </a:avLst>
          </a:prstGeom>
          <a:solidFill>
            <a:srgbClr val="F5FAE5"/>
          </a:solidFill>
          <a:ln w="15875">
            <a:solidFill>
              <a:srgbClr val="30914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83080" y="2468880"/>
            <a:ext cx="2103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F3A"/>
                </a:solidFill>
              </a:rPr>
              <a:t>Excelente (Contrato)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2468880"/>
            <a:ext cx="6339535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2D3E"/>
                </a:solidFill>
              </a:rPr>
              <a:t>ABAP Doc ("!) que explica ‘como usar’ sua API pública, sem revelar a implementação.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@parameter iv_customer_id | ID do Cliente...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80160" y="3730752"/>
            <a:ext cx="9631375" cy="1115568"/>
          </a:xfrm>
          <a:prstGeom prst="roundRect">
            <a:avLst>
              <a:gd name="adj" fmla="val 9836"/>
            </a:avLst>
          </a:prstGeom>
          <a:solidFill>
            <a:srgbClr val="FFF8D6"/>
          </a:solidFill>
          <a:ln w="15875">
            <a:solidFill>
              <a:srgbClr val="E765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17320" y="3730752"/>
            <a:ext cx="2103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4F00"/>
                </a:solidFill>
              </a:rPr>
              <a:t>Bom (Contexto)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3730752"/>
            <a:ext cx="7071055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2D3E"/>
                </a:solidFill>
              </a:rPr>
              <a:t>Comentários (") que explicam ‘o porquê’ de uma decisão de negócio ou técnica complexa dentro de um método.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Compensamos o offset para o sistema legado que inicia arrays em 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4992624"/>
            <a:ext cx="10362895" cy="1115568"/>
          </a:xfrm>
          <a:prstGeom prst="roundRect">
            <a:avLst>
              <a:gd name="adj" fmla="val 9836"/>
            </a:avLst>
          </a:prstGeom>
          <a:solidFill>
            <a:srgbClr val="FFEAF4"/>
          </a:solidFill>
          <a:ln w="15875">
            <a:solidFill>
              <a:srgbClr val="D20A0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4992624"/>
            <a:ext cx="2103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A0808"/>
                </a:solidFill>
              </a:rPr>
              <a:t>Ruim (Ruído)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4992624"/>
            <a:ext cx="7802575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2D3E"/>
                </a:solidFill>
              </a:rPr>
              <a:t>Comentários que dizem ‘o quê’. O código já faz isso.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AA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lv_count = lv_count + 1. " Incrementa contador (NÃO FAÇA ISSO)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Documentando a Intenção, Não Apenas a Assinatura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Uma documentação de excelência explica o comportamento estratégico que não é óbvio apenas pela assinatura do método. O consumidor não precisa saber como você implementa o cache, mas ele precisa saber que a busca segue uma estratégia específica.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11094415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3044952"/>
            <a:ext cx="10637215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&lt;p class="shorttext"&gt;Serviço de verificação de disponibilidade de estoque.&lt;/p&gt;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Esta classe atua como uma fachada para o sistema ERP legado e o cache local.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&lt;h3&gt;Estratégia de Busca:&lt;/h3&gt;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&lt;ol&gt;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  &lt;li&gt;Verifica o cache de memória local (Shared Memory).&lt;/li&gt;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  &lt;li&gt;Se não encontrar, consulta o ERP em tempo real.&lt;/li&gt;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&lt;/ol&gt;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zcl_doc_demo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Guia de Estilo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Onde e Como Documentar?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560320"/>
                <a:gridCol w="2377440"/>
                <a:gridCol w="3685032"/>
              </a:tblGrid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Localização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Usar ABAP Doc ("!)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Usar comentário (")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Motivo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Definição de método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56F3A"/>
                          </a:solidFill>
                        </a:rPr>
                        <a:t>✓ </a:t>
                      </a:r>
                      <a:r>
                        <a:rPr lang="en-US" sz="1500" b="1" dirty="0">
                          <a:solidFill>
                            <a:srgbClr val="256F3A"/>
                          </a:solidFill>
                        </a:rPr>
                        <a:t>Sim</a:t>
                      </a:r>
                      <a:r>
                        <a:rPr lang="en-US" sz="1500" dirty="0">
                          <a:solidFill>
                            <a:srgbClr val="256F3A"/>
                          </a:solidFill>
                        </a:rPr>
                        <a:t> (obrigatório)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Não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Define o contrato público para o consumidor.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Interfaces (ZIF)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56F3A"/>
                          </a:solidFill>
                        </a:rPr>
                        <a:t>✓ </a:t>
                      </a:r>
                      <a:r>
                        <a:rPr lang="en-US" sz="1500" b="1" dirty="0">
                          <a:solidFill>
                            <a:srgbClr val="256F3A"/>
                          </a:solidFill>
                        </a:rPr>
                        <a:t>Sim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Não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A interface é pura definição; precisa explicar o propósito.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Atributos públicos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56F3A"/>
                          </a:solidFill>
                        </a:rPr>
                        <a:t>✓ </a:t>
                      </a:r>
                      <a:r>
                        <a:rPr lang="en-US" sz="1500" b="1" dirty="0">
                          <a:solidFill>
                            <a:srgbClr val="256F3A"/>
                          </a:solidFill>
                        </a:rPr>
                        <a:t>Sim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Não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Explica o significado de uma variável global/constante.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Meio do código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Não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B44F00"/>
                          </a:solidFill>
                        </a:rPr>
                        <a:t>ⓘ </a:t>
                      </a:r>
                      <a:r>
                        <a:rPr lang="en-US" sz="1500" b="1" dirty="0">
                          <a:solidFill>
                            <a:srgbClr val="B44F00"/>
                          </a:solidFill>
                        </a:rPr>
                        <a:t>Sim</a:t>
                      </a:r>
                      <a:r>
                        <a:rPr lang="en-US" sz="1500" dirty="0">
                          <a:solidFill>
                            <a:srgbClr val="B44F00"/>
                          </a:solidFill>
                        </a:rPr>
                        <a:t> (opcional)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Explica o ‘porquê’ de uma lógica complexa interna.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Glossário Essencial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Falando a Mesma Língua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1004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569464"/>
            <a:ext cx="489798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ABAP Doc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Padrão de documentação ("!) embutido no código, interpretado pelo ADT para gerar ajuda integrada.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33008" y="1600200"/>
            <a:ext cx="541004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89040" y="185623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89040" y="2569464"/>
            <a:ext cx="489798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Element Info (F2)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Funcionalidade do ADT que exibe um pop-up com informações detalhadas (assinatura, tipos, ABAP Doc) sobre um elemento.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41004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427939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4672" y="4992624"/>
            <a:ext cx="489798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API Contract (Contrato de API)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O conjunto de regras públicas (métodos, parâmetros, exceções, comportamento) que uma classe oferece. O ABAP Doc formaliza esse contrato.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33008" y="4023360"/>
            <a:ext cx="541004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89040" y="427939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89040" y="4992624"/>
            <a:ext cx="489798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Tag (@...)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Palavras-chave especiais (@parameter, @raising) que estruturam semanticamente a documentação.</a:t>
            </a:r>
            <a:endParaRPr lang="en-US" sz="16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346" y="1987906"/>
            <a:ext cx="285293" cy="285293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713" y="1987906"/>
            <a:ext cx="285293" cy="285293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713" y="4411066"/>
            <a:ext cx="285293" cy="285293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6" y="4411066"/>
            <a:ext cx="285293" cy="28529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Conclusão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Sua Jornada para um Código Mestre Começa Agora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Adotar o ABAP Doc é mais do que aprender uma nova sintaxe: é uma mudança de mentalidade. É a decisão de tratar seu código não como um conjunto de instruções, mas como uma interface profissional e reutilizável.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3515258" cy="2926080"/>
          </a:xfrm>
          <a:prstGeom prst="roundRect">
            <a:avLst>
              <a:gd name="adj" fmla="val 4375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25196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 Estático para Interativo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75488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3DE"/>
                </a:solidFill>
              </a:rPr>
              <a:t>Sua documentação vive dentro da IDE.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38218" y="3063240"/>
            <a:ext cx="3515258" cy="2926080"/>
          </a:xfrm>
          <a:prstGeom prst="roundRect">
            <a:avLst>
              <a:gd name="adj" fmla="val 4375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2538" y="425196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 Oculto para Exposto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475488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3DE"/>
                </a:solidFill>
              </a:rPr>
              <a:t>Seus contratos de API são claros e acessíveis.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27797" y="3063240"/>
            <a:ext cx="3515258" cy="2926080"/>
          </a:xfrm>
          <a:prstGeom prst="roundRect">
            <a:avLst>
              <a:gd name="adj" fmla="val 4375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02117" y="425196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 Ruído para Inteligência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402117" y="475488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3DE"/>
                </a:solidFill>
              </a:rPr>
              <a:t>Seu código se torna autodocumentado e mais fácil de consumir.</a:t>
            </a:r>
            <a:endParaRPr lang="en-US" sz="15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4368" y="3291840"/>
            <a:ext cx="822960" cy="822960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789" y="3291840"/>
            <a:ext cx="822960" cy="822960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946" y="3291840"/>
            <a:ext cx="822960" cy="822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ABAP Doc: A Jornada para o Código Mestre</dc:title>
  <dc:subject>ABAP Moderno – Módulo 04</dc:subject>
  <dc:creator>Adriano Bispo</dc:creator>
  <cp:lastModifiedBy>Adriano Bispo</cp:lastModifiedBy>
  <cp:revision>1</cp:revision>
  <dcterms:created xsi:type="dcterms:W3CDTF">2026-10-28T00:30:39Z</dcterms:created>
  <dcterms:modified xsi:type="dcterms:W3CDTF">2026-10-28T00:30:39Z</dcterms:modified>
</cp:coreProperties>
</file>