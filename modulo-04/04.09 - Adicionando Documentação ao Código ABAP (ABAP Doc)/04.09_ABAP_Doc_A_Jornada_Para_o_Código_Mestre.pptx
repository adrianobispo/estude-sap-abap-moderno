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Programação ABAP Intermediária  ·  Aula 9 de 9 — ABAP Doc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Programação ABAP Intermediária  ·  Aula 9 de 9 — ABAP Doc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09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Documentando o código com ABAP Doc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Comentários "! que viram documentação no Element Info, com tags, parâmetros, links e texto curto sincronizado.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9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955097" y="390448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955097" y="390448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documentamos a classe da companhia aérea e seu factory method para que quem usar o código entenda tudo pelo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Comentário comum ou ABAP Doc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02847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Comentário com "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aparece para quem abre o código-fonte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Fica onde foi escrito, sem ligação com o elemento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Bom para explicar </a:t>
            </a:r>
            <a:r>
              <a:rPr lang="en-US" sz="1350" b="1" dirty="0">
                <a:solidFill>
                  <a:srgbClr val="1D2D3E"/>
                </a:solidFill>
              </a:rPr>
              <a:t>por que</a:t>
            </a:r>
            <a:r>
              <a:rPr lang="en-US" sz="1350" dirty="0">
                <a:solidFill>
                  <a:srgbClr val="1D2D3E"/>
                </a:solidFill>
              </a:rPr>
              <a:t> algo foi feito de certo jeito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02847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ABAP Doc com "!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Vira documentação do elemento: aparece no </a:t>
            </a:r>
            <a:r>
              <a:rPr lang="en-US" sz="1350" b="1" dirty="0">
                <a:solidFill>
                  <a:srgbClr val="1D2D3E"/>
                </a:solidFill>
              </a:rPr>
              <a:t>Element Info</a:t>
            </a:r>
            <a:r>
              <a:rPr lang="en-US" sz="1350" dirty="0">
                <a:solidFill>
                  <a:srgbClr val="1D2D3E"/>
                </a:solidFill>
              </a:rPr>
              <a:t> (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Documenta classes, interfaces, métodos, parâmetros, exceções, tipos e atributos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Explica </a:t>
            </a:r>
            <a:r>
              <a:rPr lang="en-US" sz="1350" b="1" dirty="0">
                <a:solidFill>
                  <a:srgbClr val="1D2D3E"/>
                </a:solidFill>
              </a:rPr>
              <a:t>o que</a:t>
            </a:r>
            <a:r>
              <a:rPr lang="en-US" sz="1350" dirty="0">
                <a:solidFill>
                  <a:srgbClr val="1D2D3E"/>
                </a:solidFill>
              </a:rPr>
              <a:t> o elemento faz e como usá-lo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48345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048345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Idioma  </a:t>
            </a:r>
            <a:r>
              <a:rPr lang="en-US" sz="1200" dirty="0">
                <a:solidFill>
                  <a:srgbClr val="1D2D3E"/>
                </a:solidFill>
              </a:rPr>
              <a:t>ABAP Doc não é traduzido: escolha com cuidado o idioma da documentação.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77751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577751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176361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04.09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Escrevendo ABAP Doc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Linhas que começam com </a:t>
            </a:r>
            <a:r>
              <a:rPr lang="en-US" sz="1600" b="1" dirty="0">
                <a:solidFill>
                  <a:srgbClr val="D1EFFF"/>
                </a:solidFill>
              </a:rPr>
              <a:t>"!</a:t>
            </a:r>
            <a:r>
              <a:rPr lang="en-US" sz="1600" dirty="0">
                <a:solidFill>
                  <a:srgbClr val="D1EFFF"/>
                </a:solidFill>
              </a:rPr>
              <a:t> imediatamente antes de uma declaração documentam aquele elemento.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</a:t>
            </a:r>
            <a:r>
              <a:rPr lang="en-US" sz="1000" dirty="0">
                <a:solidFill>
                  <a:srgbClr val="D1EFFF"/>
                </a:solidFill>
              </a:rPr>
              <a:t>  comentário de documentação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 … |</a:t>
            </a:r>
            <a:r>
              <a:rPr lang="en-US" sz="1000" dirty="0">
                <a:solidFill>
                  <a:srgbClr val="D1EFFF"/>
                </a:solidFill>
              </a:rPr>
              <a:t>  parâmetro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@raising … |</a:t>
            </a:r>
            <a:r>
              <a:rPr lang="en-US" sz="1000" dirty="0">
                <a:solidFill>
                  <a:srgbClr val="D1EFFF"/>
                </a:solidFill>
              </a:rPr>
              <a:t>  exceção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00" dirty="0">
                <a:solidFill>
                  <a:srgbClr val="D1EFFF"/>
                </a:solidFill>
              </a:rPr>
              <a:t>  Add ABAP Doc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SINTAXE · EXERCÍCIO OFICIAL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Documentando a classe e o factory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16382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16382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zcl_09_solution.clas.locals_imp.abap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ZCL_09_SOLUTION › Local Types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Flight Carrier -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A factory logic ensures that there can only be one instance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for each carrier ID.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lcl_carrier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Factory method - returns an instance of this class.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i_carrier_id | Three-character identification of the carrier.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r_result     | Reference to the instance - initial if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                        instantiation failed.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@raising zcx_09_failed  | Instantiation failed - evaluate the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                          exception text for details.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get_instance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lcl_carrier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zcx_09_failed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Antes do elemento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ABAP Doc fica imediatamente antes da declaração; fora do lugar, gera aviso e é ignorado.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 … |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 cada parâmetro; o texto vem depois da barra vertical.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@raising … |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Explica quando e por que a exceção é levantada.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50" dirty="0">
                <a:solidFill>
                  <a:srgbClr val="556B82"/>
                </a:solidFill>
              </a:rPr>
              <a:t> → </a:t>
            </a:r>
            <a:r>
              <a:rPr lang="en-US" sz="1050" i="1" dirty="0">
                <a:solidFill>
                  <a:srgbClr val="556B82"/>
                </a:solidFill>
              </a:rPr>
              <a:t>Add ABAP Doc</a:t>
            </a:r>
            <a:r>
              <a:rPr lang="en-US" sz="1050" dirty="0">
                <a:solidFill>
                  <a:srgbClr val="556B82"/>
                </a:solidFill>
              </a:rPr>
              <a:t> gera o esqueleto; ao mudar a assinatura, outro quick fix ajusta.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SINTAXE · FORMATAÇÃO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Tags HTML aceitas no ABAP Doc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798064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381280"/>
                <a:gridCol w="743881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&lt;strong&gt; · &lt;em&gt;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Destaque forte e ênfase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&lt;br&gt;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Quebra de linha (sem ela, linhas seguidas viram uma só)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Parágrafo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&lt;h1&gt; · &lt;h2&gt; · &lt;h3&gt;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Títulos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&lt;ul&gt;&lt;li&gt; · &lt;ol&gt;&lt;li&gt;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Listas sem e com numeração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268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268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Dica  </a:t>
            </a:r>
            <a:r>
              <a:rPr lang="en-US" sz="1200" dirty="0">
                <a:solidFill>
                  <a:srgbClr val="1D2D3E"/>
                </a:solidFill>
              </a:rPr>
              <a:t>dentro de um comentário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</a:t>
            </a:r>
            <a:r>
              <a:rPr lang="en-US" sz="1200" dirty="0">
                <a:solidFill>
                  <a:srgbClr val="1D2D3E"/>
                </a:solidFill>
              </a:rPr>
              <a:t>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Ctrl+Space</a:t>
            </a:r>
            <a:r>
              <a:rPr lang="en-US" sz="1200" dirty="0">
                <a:solidFill>
                  <a:srgbClr val="1D2D3E"/>
                </a:solidFill>
              </a:rPr>
              <a:t> insere as tags de formatação.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7548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04.09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Recursos avançados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Links entre elementos e um </a:t>
            </a:r>
            <a:r>
              <a:rPr lang="en-US" sz="1600" b="1" dirty="0">
                <a:solidFill>
                  <a:srgbClr val="D1EFFF"/>
                </a:solidFill>
              </a:rPr>
              <a:t>texto curto sincronizado</a:t>
            </a:r>
            <a:r>
              <a:rPr lang="en-US" sz="1600" dirty="0">
                <a:solidFill>
                  <a:srgbClr val="D1EFFF"/>
                </a:solidFill>
              </a:rPr>
              <a:t> com a descrição do objeto mantêm a documentação navegável e consistente.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{@link …}</a:t>
            </a:r>
            <a:r>
              <a:rPr lang="en-US" sz="1000" dirty="0">
                <a:solidFill>
                  <a:srgbClr val="D1EFFF"/>
                </a:solidFill>
              </a:rPr>
              <a:t>  navegação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shorttext synchronized</a:t>
            </a:r>
            <a:r>
              <a:rPr lang="en-US" sz="1000" dirty="0">
                <a:solidFill>
                  <a:srgbClr val="D1EFFF"/>
                </a:solidFill>
              </a:rPr>
              <a:t>  descrição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000" dirty="0">
                <a:solidFill>
                  <a:srgbClr val="D1EFFF"/>
                </a:solidFill>
              </a:rPr>
              <a:t>  Element Info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Boas práticas</a:t>
            </a:r>
            <a:r>
              <a:rPr lang="en-US" sz="1000" dirty="0">
                <a:solidFill>
                  <a:srgbClr val="D1EFFF"/>
                </a:solidFill>
              </a:rPr>
              <a:t>  o quê, não o como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AVANÇADO · LINKS E TEXTO CURTO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Navegação e descrição sempre em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zcl_09_doc.clas.abap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ZCL_09_DOC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&lt;p class="shorttext synchronized"&gt;Airport helper&lt;/p&gt;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Reads airports and checks authorizations.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See {@link zif_09_constants.DATA:auth_create} for the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activity used and {@link .METH:get_airports}.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zcl_09_doc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&lt;strong&gt;All airports&lt;/strong&gt; of a country.&lt;br&gt;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Returns an empty table if none is found.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get_airports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i_country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/dmo/t_airport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shorttext synchronized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parágrafo vira a descrição do objeto, e vice-versa.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{@link …}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Link para outro objeto ou elemento; abre a documentação dele.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IDs de elemento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556B82"/>
                </a:solidFill>
              </a:rPr>
              <a:t> constantes e variáveis,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</a:t>
            </a:r>
            <a:r>
              <a:rPr lang="en-US" sz="1050" dirty="0">
                <a:solidFill>
                  <a:srgbClr val="556B82"/>
                </a:solidFill>
              </a:rPr>
              <a:t> métodos,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INTF</a:t>
            </a:r>
            <a:r>
              <a:rPr lang="en-US" sz="1050" dirty="0">
                <a:solidFill>
                  <a:srgbClr val="556B82"/>
                </a:solidFill>
              </a:rPr>
              <a:t> interfaces,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</a:t>
            </a:r>
            <a:r>
              <a:rPr lang="en-US" sz="1050" dirty="0">
                <a:solidFill>
                  <a:srgbClr val="556B82"/>
                </a:solidFill>
              </a:rPr>
              <a:t> domínios.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Formatação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r>
              <a:rPr lang="en-US" sz="1050" dirty="0">
                <a:solidFill>
                  <a:srgbClr val="556B82"/>
                </a:solidFill>
              </a:rPr>
              <a:t> controlam a exibição no Element Info.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AVANÇADO · BOAS PRÁTICAS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Documentação que ajuda de verdade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 quê, não o como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Descreva o contrato: entradas, saída, efeitos e erros. O "como" está no código.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Foque no público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Classes, interfaces e métodos públicos são usados por outros: documente-os primeiro.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Nomes claros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Bons nomes reduzem a documentação necessária; ABAP Doc complementa, não substitui.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Mantenha em dia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Use os quick fixes ao mudar assinaturas: documentação errada é pior que nenhuma.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146" y="3069336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069336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3069336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306933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04.09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Comentários </a:t>
            </a:r>
            <a:r>
              <a:rPr lang="en-US" sz="1400" b="1" dirty="0">
                <a:solidFill>
                  <a:srgbClr val="FFFFFF"/>
                </a:solidFill>
              </a:rPr>
              <a:t>"!</a:t>
            </a:r>
            <a:r>
              <a:rPr lang="en-US" sz="1400" dirty="0">
                <a:solidFill>
                  <a:srgbClr val="FFFFFF"/>
                </a:solidFill>
              </a:rPr>
              <a:t> antes de uma declaração viram documentação do elemento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documentação aparece no </a:t>
            </a:r>
            <a:r>
              <a:rPr lang="en-US" sz="1400" b="1" dirty="0">
                <a:solidFill>
                  <a:srgbClr val="FFFFFF"/>
                </a:solidFill>
              </a:rPr>
              <a:t>Element Info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400" dirty="0">
                <a:solidFill>
                  <a:srgbClr val="FFFFFF"/>
                </a:solidFill>
              </a:rPr>
              <a:t>) para quem usa o código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@raising</a:t>
            </a:r>
            <a:r>
              <a:rPr lang="en-US" sz="1400" dirty="0">
                <a:solidFill>
                  <a:srgbClr val="FFFFFF"/>
                </a:solidFill>
              </a:rPr>
              <a:t> documentam a assinatura;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400" dirty="0">
                <a:solidFill>
                  <a:srgbClr val="FFFFFF"/>
                </a:solidFill>
              </a:rPr>
              <a:t> gera o esqueleto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Tags HTML como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400" dirty="0">
                <a:solidFill>
                  <a:srgbClr val="FFFFFF"/>
                </a:solidFill>
              </a:rPr>
              <a:t> e listas formatam o texto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{@link …}</a:t>
            </a:r>
            <a:r>
              <a:rPr lang="en-US" sz="1400" dirty="0">
                <a:solidFill>
                  <a:srgbClr val="FFFFFF"/>
                </a:solidFill>
              </a:rPr>
              <a:t> cria navegação;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shorttext synchronized</a:t>
            </a:r>
            <a:r>
              <a:rPr lang="en-US" sz="1400" dirty="0">
                <a:solidFill>
                  <a:srgbClr val="FFFFFF"/>
                </a:solidFill>
              </a:rPr>
              <a:t> mantém a descrição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ABAP Doc não é traduzido: documente o contrato público, em um idioma escolhido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etapa  </a:t>
            </a:r>
            <a:r>
              <a:rPr lang="en-US" sz="1500" dirty="0">
                <a:solidFill>
                  <a:srgbClr val="FFFFFF"/>
                </a:solidFill>
              </a:rPr>
              <a:t>Módulo 02 (ordem recomendada): modelagem de dados com Dicionário ABAP e CDS.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04.09 Documentando o código com ABAP Doc</dc:title>
  <dc:subject>ABAP Moderno – Módulo 04: Programação ABAP Intermediária</dc:subject>
  <dc:creator>Adriano Bispo</dc:creator>
  <cp:lastModifiedBy>Adriano Bispo</cp:lastModifiedBy>
  <cp:revision>1</cp:revision>
  <dcterms:created xsi:type="dcterms:W3CDTF">2026-10-29T01:22:37Z</dcterms:created>
  <dcterms:modified xsi:type="dcterms:W3CDTF">2026-10-29T01:22:37Z</dcterms:modified>
</cp:coreProperties>
</file>