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03.03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03  ·  03.03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03  ·  03.03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Do Blueprint à Aplicação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Construindo UIs Fiori Elements com anotações ABAP CDS.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Regra de Ouro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Declaramos Intenções, Não Desenhamos Pixels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No desenvolvimento com SAP Fiori Elements, o paradigma muda: em vez de codificar cada detalhe visual, declaramos nossas </a:t>
            </a:r>
            <a:r>
              <a:rPr lang="en-US" sz="1700" b="1" dirty="0">
                <a:solidFill>
                  <a:srgbClr val="B44F00"/>
                </a:solidFill>
              </a:rPr>
              <a:t>intenções</a:t>
            </a:r>
            <a:r>
              <a:rPr lang="en-US" sz="1700" dirty="0">
                <a:solidFill>
                  <a:srgbClr val="1D2D3E"/>
                </a:solidFill>
              </a:rPr>
              <a:t> através de anotações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700" dirty="0">
                <a:solidFill>
                  <a:srgbClr val="1D2D3E"/>
                </a:solidFill>
              </a:rPr>
              <a:t>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O framework atua como um mestre de obras inteligente: lê essas intenções (o “blueprint”) e constrói a interface em tempo de execução, em total conformidade com as diretrizes de design da SAP.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3423818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76500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776472"/>
            <a:ext cx="324093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4F00"/>
                </a:solidFill>
              </a:rPr>
              <a:t>@UI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Anotação (nossa intenção)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45610" y="457200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8" name="Shape 6"/>
          <p:cNvSpPr/>
          <p:nvPr/>
        </p:nvSpPr>
        <p:spPr>
          <a:xfrm>
            <a:off x="4383938" y="3703320"/>
            <a:ext cx="3423818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75378" y="3776472"/>
            <a:ext cx="324093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4D9"/>
                </a:solidFill>
              </a:rPr>
              <a:t>Fiori Elements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Motor de renderização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80909" y="457200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8219237" y="3703320"/>
            <a:ext cx="3423818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10677" y="3776472"/>
            <a:ext cx="324093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F3A"/>
                </a:solidFill>
              </a:rPr>
              <a:t>Interface gerada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resultado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Nossa Jornada de Construção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Da Tela em Branco ao App Funcional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Começamos com um serviço OData básico. Usaremos quatro anotações essenciais para transformá-lo em uma aplicação CRUD completa, passo a passo.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2423160"/>
            <a:ext cx="630936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556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3547872"/>
            <a:ext cx="6309360" cy="0"/>
          </a:xfrm>
          <a:prstGeom prst="line">
            <a:avLst/>
          </a:prstGeom>
          <a:noFill/>
          <a:ln w="12700">
            <a:solidFill>
              <a:srgbClr val="556B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11696" y="3547872"/>
            <a:ext cx="0" cy="2624328"/>
          </a:xfrm>
          <a:prstGeom prst="line">
            <a:avLst/>
          </a:prstGeom>
          <a:noFill/>
          <a:ln w="12700">
            <a:solidFill>
              <a:srgbClr val="556B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2560320"/>
            <a:ext cx="6035040" cy="59984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BE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3136392" y="2560320"/>
            <a:ext cx="5888736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Identidade da Aplicação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63240" y="3772814"/>
            <a:ext cx="3602736" cy="449885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BE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136392" y="3772814"/>
            <a:ext cx="3456432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Ferramentas de Pesquisa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63240" y="4372661"/>
            <a:ext cx="3602736" cy="1649578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BE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136392" y="4372661"/>
            <a:ext cx="3456432" cy="1649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Lista de Resultados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03136" y="3772814"/>
            <a:ext cx="2295144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BE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876288" y="3772814"/>
            <a:ext cx="21488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Formulário de Dados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Passo 1 · @UI.headerInfo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Dando uma Identidade à Aplicação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 primeira tarefa de um arquiteto é nomear o projeto.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r>
              <a:rPr lang="en-US" sz="1600" dirty="0">
                <a:solidFill>
                  <a:srgbClr val="1D2D3E"/>
                </a:solidFill>
              </a:rPr>
              <a:t> define a identidade do objeto de negócio e responde: “Como chamamos este objeto? E no plural? Qual campo é o título principal?”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2468880"/>
            <a:ext cx="630936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9525">
            <a:solidFill>
              <a:srgbClr val="556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3579876"/>
            <a:ext cx="6309360" cy="0"/>
          </a:xfrm>
          <a:prstGeom prst="line">
            <a:avLst/>
          </a:prstGeom>
          <a:noFill/>
          <a:ln w="12700">
            <a:solidFill>
              <a:srgbClr val="556B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11696" y="3579876"/>
            <a:ext cx="0" cy="2592324"/>
          </a:xfrm>
          <a:prstGeom prst="line">
            <a:avLst/>
          </a:prstGeom>
          <a:noFill/>
          <a:ln w="12700">
            <a:solidFill>
              <a:srgbClr val="556B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2606040"/>
            <a:ext cx="6035040" cy="592531"/>
          </a:xfrm>
          <a:prstGeom prst="rect">
            <a:avLst/>
          </a:prstGeom>
          <a:solidFill>
            <a:srgbClr val="FFF8D6"/>
          </a:solidFill>
          <a:ln w="25400">
            <a:solidFill>
              <a:srgbClr val="E765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36392" y="2606040"/>
            <a:ext cx="5888736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4F00"/>
                </a:solidFill>
              </a:rPr>
              <a:t>Identidade da Aplicação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63240" y="3802075"/>
            <a:ext cx="3602736" cy="444398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BE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136392" y="3802075"/>
            <a:ext cx="3456432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Ferramentas de Pesquisa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63240" y="4394606"/>
            <a:ext cx="3602736" cy="1629461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BE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136392" y="4394606"/>
            <a:ext cx="3456432" cy="1629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Lista de Resultados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03136" y="3802075"/>
            <a:ext cx="229514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BE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876288" y="3802075"/>
            <a:ext cx="2148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Formulário de Dados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@UI.headerInfo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Código e o Impacto Visual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282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O Blueprint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12264"/>
            <a:ext cx="603504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55778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'Viagem'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typeNamePlural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'Viagens'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#STANDARD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'TravelID'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#STANDARD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'Description'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Z_C_TRAVEL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160020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A Construção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49440" y="2057400"/>
            <a:ext cx="4693615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13232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List Report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377440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2D3E"/>
                </a:solidFill>
              </a:rPr>
              <a:t>Viagens (50)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132320" y="2926080"/>
            <a:ext cx="4327855" cy="256032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3182112"/>
            <a:ext cx="4327855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3438144"/>
            <a:ext cx="4327855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3977640"/>
            <a:ext cx="4693615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3232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Object Page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4297680"/>
            <a:ext cx="4327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2D3E"/>
                </a:solidFill>
              </a:rPr>
              <a:t>100371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Voo para Berlim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60350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475030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47503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720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typeNamePlural</a:t>
            </a:r>
            <a:r>
              <a:rPr lang="en-US" sz="1400" dirty="0">
                <a:solidFill>
                  <a:srgbClr val="1D2D3E"/>
                </a:solidFill>
              </a:rPr>
              <a:t> → título da tabela no List Report.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440680"/>
            <a:ext cx="60350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561898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56189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44068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400" dirty="0">
                <a:solidFill>
                  <a:srgbClr val="1D2D3E"/>
                </a:solidFill>
              </a:rPr>
              <a:t> /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1400" dirty="0">
                <a:solidFill>
                  <a:srgbClr val="1D2D3E"/>
                </a:solidFill>
              </a:rPr>
              <a:t> → cabeçalho da Object Page.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Passo 2 · @UI.lineItem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Estruturando a Lista de Resultados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Agora que a aplicação tem um nome, vamos exibir os dados.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600" dirty="0">
                <a:solidFill>
                  <a:srgbClr val="1D2D3E"/>
                </a:solidFill>
              </a:rPr>
              <a:t> é aplicada a cada campo que desejamos transformar em uma coluna da tabela principal. As propriedades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600" dirty="0">
                <a:solidFill>
                  <a:srgbClr val="1D2D3E"/>
                </a:solidFill>
              </a:rPr>
              <a:t> e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600" dirty="0">
                <a:solidFill>
                  <a:srgbClr val="1D2D3E"/>
                </a:solidFill>
              </a:rPr>
              <a:t> dão controle total sobre a ordem e o título de cada coluna.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2560320"/>
            <a:ext cx="63093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556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3643884"/>
            <a:ext cx="6309360" cy="0"/>
          </a:xfrm>
          <a:prstGeom prst="line">
            <a:avLst/>
          </a:prstGeom>
          <a:noFill/>
          <a:ln w="12700">
            <a:solidFill>
              <a:srgbClr val="556B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11696" y="3643884"/>
            <a:ext cx="0" cy="2528316"/>
          </a:xfrm>
          <a:prstGeom prst="line">
            <a:avLst/>
          </a:prstGeom>
          <a:noFill/>
          <a:ln w="12700">
            <a:solidFill>
              <a:srgbClr val="556B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2697480"/>
            <a:ext cx="6035040" cy="577901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BE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3136392" y="2697480"/>
            <a:ext cx="5888736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Identidade da Aplicação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63240" y="3860597"/>
            <a:ext cx="3602736" cy="43342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BE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136392" y="3860597"/>
            <a:ext cx="3456432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Ferramentas de Pesquisa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63240" y="4438498"/>
            <a:ext cx="3602736" cy="1589227"/>
          </a:xfrm>
          <a:prstGeom prst="rect">
            <a:avLst/>
          </a:prstGeom>
          <a:solidFill>
            <a:srgbClr val="FFF8D6"/>
          </a:solidFill>
          <a:ln w="25400">
            <a:solidFill>
              <a:srgbClr val="E765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36392" y="4438498"/>
            <a:ext cx="3456432" cy="1589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4F00"/>
                </a:solidFill>
              </a:rPr>
              <a:t>Lista de Resultados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03136" y="3860597"/>
            <a:ext cx="2295144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BE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876288" y="3860597"/>
            <a:ext cx="21488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Formulário de Dados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@UI.lineItem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Do Campo à Coluna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282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O Blueprint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12264"/>
            <a:ext cx="512064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46634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5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 da Viagem'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892040"/>
            <a:ext cx="51206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50017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5001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8920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400" dirty="0">
                <a:solidFill>
                  <a:srgbClr val="1D2D3E"/>
                </a:solidFill>
              </a:rPr>
              <a:t> define a </a:t>
            </a:r>
            <a:r>
              <a:rPr lang="en-US" sz="1400" b="1" dirty="0">
                <a:solidFill>
                  <a:srgbClr val="1D2D3E"/>
                </a:solidFill>
              </a:rPr>
              <a:t>primeira posição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623560"/>
            <a:ext cx="51206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573328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5733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6235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400" dirty="0">
                <a:solidFill>
                  <a:srgbClr val="1D2D3E"/>
                </a:solidFill>
              </a:rPr>
              <a:t> define o </a:t>
            </a:r>
            <a:r>
              <a:rPr lang="en-US" sz="1400" b="1" dirty="0">
                <a:solidFill>
                  <a:srgbClr val="1D2D3E"/>
                </a:solidFill>
              </a:rPr>
              <a:t>texto do cabeçalho</a:t>
            </a:r>
            <a:r>
              <a:rPr lang="en-US" sz="1400" dirty="0">
                <a:solidFill>
                  <a:srgbClr val="1D2D3E"/>
                </a:solidFill>
              </a:rPr>
              <a:t> da coluna.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Antes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965960"/>
            <a:ext cx="551657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09360" y="2057400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Items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2514600"/>
            <a:ext cx="515081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2514600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Nenhum dado encontrado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F3A"/>
                </a:solidFill>
              </a:rPr>
              <a:t>Depois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4297680"/>
            <a:ext cx="551657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09360" y="4389120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Viagens (50)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4846320"/>
            <a:ext cx="5150815" cy="274320"/>
          </a:xfrm>
          <a:prstGeom prst="rect">
            <a:avLst/>
          </a:prstGeom>
          <a:solidFill>
            <a:srgbClr val="FFF8D6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4846320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2D3E"/>
                </a:solidFill>
              </a:rPr>
              <a:t>ID da Viagem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5120640"/>
            <a:ext cx="515081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0" y="5120640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D3E"/>
                </a:solidFill>
              </a:rPr>
              <a:t>100371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5394960"/>
            <a:ext cx="515081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5394960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D3E"/>
                </a:solidFill>
              </a:rPr>
              <a:t>100374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5669280"/>
            <a:ext cx="5150815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5669280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D3E"/>
                </a:solidFill>
              </a:rPr>
              <a:t>100375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Projetando para o Mundo Real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Responsividade com importance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Uma boa arquitetura se adapta ao ambiente. A propriedade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600" dirty="0">
                <a:solidFill>
                  <a:srgbClr val="1D2D3E"/>
                </a:solidFill>
              </a:rPr>
              <a:t> dentro de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600" dirty="0">
                <a:solidFill>
                  <a:srgbClr val="1D2D3E"/>
                </a:solidFill>
              </a:rPr>
              <a:t> é fundamental para a responsividade: controla quais colunas são exibidas em cada tamanho de tela.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475488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8872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Desktop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877824" cy="594360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200400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ID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087368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4379976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4672584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9344" y="3200400"/>
            <a:ext cx="877824" cy="594360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09344" y="3200400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Status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09344" y="3794760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9344" y="4087368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9344" y="4379976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9344" y="4672584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87168" y="3200400"/>
            <a:ext cx="877824" cy="594360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87168" y="3200400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Cliente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#MEDIUM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487168" y="3794760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7168" y="4087368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87168" y="4379976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87168" y="4672584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4992" y="3200400"/>
            <a:ext cx="877824" cy="594360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64992" y="3200400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Data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#MEDIUM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64992" y="3794760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64992" y="4087368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4992" y="4379976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64992" y="4672584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42816" y="3200400"/>
            <a:ext cx="877824" cy="594360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42816" y="3200400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Notas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#LOW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42816" y="3794760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42816" y="4087368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42816" y="4379976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42816" y="4672584"/>
            <a:ext cx="8778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251460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621792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Tablet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760720" y="3200400"/>
            <a:ext cx="800100" cy="594360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60720" y="3200400"/>
            <a:ext cx="800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ID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760720" y="3794760"/>
            <a:ext cx="8001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60720" y="4087368"/>
            <a:ext cx="8001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4379976"/>
            <a:ext cx="8001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60720" y="4672584"/>
            <a:ext cx="8001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60820" y="3200400"/>
            <a:ext cx="800100" cy="594360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560820" y="3200400"/>
            <a:ext cx="800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Status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560820" y="3794760"/>
            <a:ext cx="8001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60820" y="4087368"/>
            <a:ext cx="8001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60820" y="4379976"/>
            <a:ext cx="8001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60820" y="4672584"/>
            <a:ext cx="8001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60920" y="3200400"/>
            <a:ext cx="800100" cy="594360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360920" y="3200400"/>
            <a:ext cx="800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Cliente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#MEDIUM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60920" y="3794760"/>
            <a:ext cx="8001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60920" y="4087368"/>
            <a:ext cx="8001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60920" y="4379976"/>
            <a:ext cx="8001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60920" y="4672584"/>
            <a:ext cx="8001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61020" y="3200400"/>
            <a:ext cx="800100" cy="594360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161020" y="3200400"/>
            <a:ext cx="800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Data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#MEDIUM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161020" y="3794760"/>
            <a:ext cx="8001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61020" y="4087368"/>
            <a:ext cx="8001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61020" y="4379976"/>
            <a:ext cx="8001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61020" y="4672584"/>
            <a:ext cx="8001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418320" y="2514600"/>
            <a:ext cx="2221992" cy="2651760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4" name="Text 62"/>
          <p:cNvSpPr txBox="1"/>
          <p:nvPr/>
        </p:nvSpPr>
        <p:spPr>
          <a:xfrm>
            <a:off x="100584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Celular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9601200" y="3200400"/>
            <a:ext cx="928116" cy="594360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601200" y="3200400"/>
            <a:ext cx="928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ID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601200" y="3794760"/>
            <a:ext cx="9281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01200" y="4087368"/>
            <a:ext cx="9281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601200" y="4379976"/>
            <a:ext cx="9281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601200" y="4672584"/>
            <a:ext cx="9281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529316" y="3200400"/>
            <a:ext cx="928116" cy="594360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529316" y="3200400"/>
            <a:ext cx="928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Status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0529316" y="3794760"/>
            <a:ext cx="9281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529316" y="4087368"/>
            <a:ext cx="9281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529316" y="4379976"/>
            <a:ext cx="9281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529316" y="4672584"/>
            <a:ext cx="9281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48640" y="54406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548640" y="5440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F3A"/>
                </a:solidFill>
              </a:rPr>
              <a:t>#HIGH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1783080" y="5394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Sempre visível. Essencial (ex.: ID, Status).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297680" y="54406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F8D6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4297680" y="5440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4F00"/>
                </a:solidFill>
              </a:rPr>
              <a:t>#MEDIUM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5532120" y="5394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Oculta em celulares.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8046720" y="54406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AECEE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8046720" y="5440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#LOW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9281160" y="5394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Visível apenas em desktops.</a:t>
            </a:r>
            <a:endParaRPr lang="en-US" sz="1300" dirty="0"/>
          </a:p>
        </p:txBody>
      </p:sp>
      <p:pic>
        <p:nvPicPr>
          <p:cNvPr id="8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51760"/>
            <a:ext cx="365760" cy="365760"/>
          </a:xfrm>
          <a:prstGeom prst="rect">
            <a:avLst/>
          </a:prstGeom>
        </p:spPr>
      </p:pic>
      <p:pic>
        <p:nvPicPr>
          <p:cNvPr id="8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651760"/>
            <a:ext cx="365760" cy="365760"/>
          </a:xfrm>
          <a:prstGeom prst="rect">
            <a:avLst/>
          </a:prstGeom>
        </p:spPr>
      </p:pic>
      <p:pic>
        <p:nvPicPr>
          <p:cNvPr id="8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651760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Passo 3 · @UI.selectionField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Criando Filtros de Pesquisa Eficazes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Para que os usuários encontrem dados rapidamente, precisamos de bons filtros.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r>
              <a:rPr lang="en-US" sz="1600" dirty="0">
                <a:solidFill>
                  <a:srgbClr val="1D2D3E"/>
                </a:solidFill>
              </a:rPr>
              <a:t> promove um campo para a barra de filtros padrão (</a:t>
            </a:r>
            <a:r>
              <a:rPr lang="en-US" sz="1600" b="1" dirty="0">
                <a:solidFill>
                  <a:srgbClr val="1D2D3E"/>
                </a:solidFill>
              </a:rPr>
              <a:t>Smart Filter Bar</a:t>
            </a:r>
            <a:r>
              <a:rPr lang="en-US" sz="1600" dirty="0">
                <a:solidFill>
                  <a:srgbClr val="1D2D3E"/>
                </a:solidFill>
              </a:rPr>
              <a:t>), tornando-o imediatamente acessível. Sem ela, o campo só pode ser adicionado manualmente pelo usuário, pelo botão “Adaptar Filtros”.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2606040"/>
            <a:ext cx="6309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556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3675888"/>
            <a:ext cx="6309360" cy="0"/>
          </a:xfrm>
          <a:prstGeom prst="line">
            <a:avLst/>
          </a:prstGeom>
          <a:noFill/>
          <a:ln w="12700">
            <a:solidFill>
              <a:srgbClr val="556B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11696" y="3675888"/>
            <a:ext cx="0" cy="2496312"/>
          </a:xfrm>
          <a:prstGeom prst="line">
            <a:avLst/>
          </a:prstGeom>
          <a:noFill/>
          <a:ln w="12700">
            <a:solidFill>
              <a:srgbClr val="556B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2743200"/>
            <a:ext cx="6035040" cy="57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BE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3136392" y="2743200"/>
            <a:ext cx="588873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Identidade da Aplicação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63240" y="3889858"/>
            <a:ext cx="3602736" cy="427939"/>
          </a:xfrm>
          <a:prstGeom prst="rect">
            <a:avLst/>
          </a:prstGeom>
          <a:solidFill>
            <a:srgbClr val="FFF8D6"/>
          </a:solidFill>
          <a:ln w="25400">
            <a:solidFill>
              <a:srgbClr val="E765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36392" y="3889858"/>
            <a:ext cx="345643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4F00"/>
                </a:solidFill>
              </a:rPr>
              <a:t>Ferramentas de Pesquisa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63240" y="4460443"/>
            <a:ext cx="3602736" cy="1569110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BE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136392" y="4460443"/>
            <a:ext cx="3456432" cy="1569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Lista de Resultados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03136" y="3889858"/>
            <a:ext cx="229514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BE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876288" y="3889858"/>
            <a:ext cx="21488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Formulário de Dados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@UI.selectionField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Tornando a Pesquisa Visível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54864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6426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O Blueprint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26664"/>
            <a:ext cx="54864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15468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Antes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1965960"/>
            <a:ext cx="5059375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2011680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SAP Fiori Smart Filter Bar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820095" y="242316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0070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820095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F3A"/>
                </a:solidFill>
              </a:rPr>
              <a:t>Depois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4160520"/>
            <a:ext cx="5059375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83680" y="4206240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SAP Fiori Smart Filter Bar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4617720"/>
            <a:ext cx="2194560" cy="457200"/>
          </a:xfrm>
          <a:prstGeom prst="rect">
            <a:avLst/>
          </a:prstGeom>
          <a:solidFill>
            <a:srgbClr val="FFF8D6"/>
          </a:solidFill>
          <a:ln w="19050">
            <a:solidFill>
              <a:srgbClr val="E765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4617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ID da Viagem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820095" y="461772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0070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820095" y="4617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4480560"/>
            <a:ext cx="868680" cy="457200"/>
          </a:xfrm>
          <a:prstGeom prst="rightArrow">
            <a:avLst/>
          </a:prstGeom>
          <a:solidFill>
            <a:srgbClr val="E765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5532120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4F00"/>
                </a:solidFill>
              </a:rPr>
              <a:t>Promovido para a barra de filtros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Passo 4 · @UI.identification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Estruturando a Página de Detalhes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Enquanto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600" dirty="0">
                <a:solidFill>
                  <a:srgbClr val="1D2D3E"/>
                </a:solidFill>
              </a:rPr>
              <a:t> constrói a tabela,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600" dirty="0">
                <a:solidFill>
                  <a:srgbClr val="1D2D3E"/>
                </a:solidFill>
              </a:rPr>
              <a:t> constrói o </a:t>
            </a:r>
            <a:r>
              <a:rPr lang="en-US" sz="1600" b="1" dirty="0">
                <a:solidFill>
                  <a:srgbClr val="1D2D3E"/>
                </a:solidFill>
              </a:rPr>
              <a:t>formulário na página de detalhes</a:t>
            </a:r>
            <a:r>
              <a:rPr lang="en-US" sz="1600" dirty="0">
                <a:solidFill>
                  <a:srgbClr val="1D2D3E"/>
                </a:solidFill>
              </a:rPr>
              <a:t> (Object Page). Cada campo anotado aparece na seção principal de informações, criando uma visualização clara e organizada do objeto.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2560320"/>
            <a:ext cx="6309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556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3493008"/>
            <a:ext cx="6309360" cy="0"/>
          </a:xfrm>
          <a:prstGeom prst="line">
            <a:avLst/>
          </a:prstGeom>
          <a:noFill/>
          <a:ln w="12700">
            <a:solidFill>
              <a:srgbClr val="556B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11696" y="3493008"/>
            <a:ext cx="0" cy="2176272"/>
          </a:xfrm>
          <a:prstGeom prst="line">
            <a:avLst/>
          </a:prstGeom>
          <a:noFill/>
          <a:ln w="12700">
            <a:solidFill>
              <a:srgbClr val="556B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2697480"/>
            <a:ext cx="6035040" cy="497434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BE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3136392" y="2697480"/>
            <a:ext cx="5888736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Identidade da Aplicação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63240" y="3679546"/>
            <a:ext cx="3602736" cy="373075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BE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136392" y="3679546"/>
            <a:ext cx="345643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Ferramentas de Pesquisa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63240" y="4176979"/>
            <a:ext cx="3602736" cy="1367942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BE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136392" y="4176979"/>
            <a:ext cx="3456432" cy="1367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Lista de Resultados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03136" y="3679546"/>
            <a:ext cx="2295144" cy="1243584"/>
          </a:xfrm>
          <a:prstGeom prst="rect">
            <a:avLst/>
          </a:prstGeom>
          <a:solidFill>
            <a:srgbClr val="FFF8D6"/>
          </a:solidFill>
          <a:ln w="25400">
            <a:solidFill>
              <a:srgbClr val="E765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76288" y="3679546"/>
            <a:ext cx="21488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4F00"/>
                </a:solidFill>
              </a:rPr>
              <a:t>Formulário de Dados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760720"/>
            <a:ext cx="11094415" cy="457200"/>
          </a:xfrm>
          <a:prstGeom prst="roundRect">
            <a:avLst>
              <a:gd name="adj" fmla="val 24000"/>
            </a:avLst>
          </a:prstGeom>
          <a:solidFill>
            <a:srgbClr val="F5FA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80160" y="576072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Construção completa:</a:t>
            </a:r>
            <a:r>
              <a:rPr lang="en-US" sz="1400" dirty="0">
                <a:solidFill>
                  <a:srgbClr val="1D2D3E"/>
                </a:solidFill>
              </a:rPr>
              <a:t> identidade, lista de resultados, ferramentas de pesquisa e formulário de dados.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81558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Blueprint Mestre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Unindo Todas as Peças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22376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676656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@Metadata.layer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#CORE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headerInfo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'Agência'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typeNamePlural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'Agências'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#STANDARD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'AgencyID'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Z_C_AGENCY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'General'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#STANDARD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#IDENTIFICATION_REFERENCE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'Informações Gerais'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'Agency ID'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selectionField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'Agency ID'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AgencyID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'Name'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'Name'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'Country'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'Country'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CountryCode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046720" y="1508760"/>
            <a:ext cx="3596335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0" y="160020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Agências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2011680"/>
          <a:ext cx="33220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600200"/>
                <a:gridCol w="8961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B82"/>
                          </a:solidFill>
                        </a:rPr>
                        <a:t>Agency 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B82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56B82"/>
                          </a:solidFill>
                        </a:rPr>
                        <a:t>Country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AG-001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Sunset Travel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USA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AG-002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Sunset Travel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USA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AG-003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Parit Travel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USA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046720" y="3977640"/>
            <a:ext cx="3596335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0" y="4069080"/>
            <a:ext cx="323057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Agência AG-001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64D9"/>
                </a:solidFill>
              </a:rPr>
              <a:t>Informações Gerais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Agency ID: AG-001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Name: Sunset Travel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Country: USA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Seu Guia de Referência Rápida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Anotações e Seus Efeitos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00400"/>
                <a:gridCol w="4873752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Anotação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Componente UI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Localização típica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typeNamePlural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Título da tabela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Topo do List Report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title.value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Título do objeto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Cabeçalho da Object Page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lineItem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Coluna de tabela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Corpo do List Report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selectionField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Campo de input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Barra superior (Filter Bar)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identification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Campo de formulário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Primeira seção da Object Page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@UI.hidden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Oculta campos técnicos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Mantém o campo disponível, mas invisível na UI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Testando o Conhecimento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Cenários do Dia a Dia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1828800"/>
            <a:ext cx="9768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Um campo não aparece na barra de filtros por padrão. Qual anotação está faltando e como o usuário ainda poderia usá-lo para filtrar?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697480"/>
            <a:ext cx="9768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Resposta: </a:t>
            </a:r>
            <a:r>
              <a:rPr lang="en-US" sz="1500" dirty="0">
                <a:solidFill>
                  <a:srgbClr val="1D2D3E"/>
                </a:solidFill>
              </a:rPr>
              <a:t>Falta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r>
              <a:rPr lang="en-US" sz="1500" dirty="0">
                <a:solidFill>
                  <a:srgbClr val="1D2D3E"/>
                </a:solidFill>
              </a:rPr>
              <a:t>. O usuário pode adicioná-lo manualmente clicando em ‘Adaptar Filtros’.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1094415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4206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00200" y="4160520"/>
            <a:ext cx="9768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Qual a diferença de propósito fundamental entre </a:t>
            </a:r>
            <a:r>
              <a:rPr lang="en-US" sz="17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r>
              <a:rPr lang="en-US" sz="1700" b="1" dirty="0">
                <a:solidFill>
                  <a:srgbClr val="1D2D3E"/>
                </a:solidFill>
              </a:rPr>
              <a:t> e </a:t>
            </a:r>
            <a:r>
              <a:rPr lang="en-US" sz="17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700" b="1" dirty="0">
                <a:solidFill>
                  <a:srgbClr val="1D2D3E"/>
                </a:solidFill>
              </a:rPr>
              <a:t>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5029200"/>
            <a:ext cx="9768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Resposta: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r>
              <a:rPr lang="en-US" sz="1500" dirty="0">
                <a:solidFill>
                  <a:srgbClr val="1D2D3E"/>
                </a:solidFill>
              </a:rPr>
              <a:t> define a </a:t>
            </a:r>
            <a:r>
              <a:rPr lang="en-US" sz="1500" b="1" dirty="0">
                <a:solidFill>
                  <a:srgbClr val="1D2D3E"/>
                </a:solidFill>
              </a:rPr>
              <a:t>identidade</a:t>
            </a:r>
            <a:r>
              <a:rPr lang="en-US" sz="1500" dirty="0">
                <a:solidFill>
                  <a:srgbClr val="1D2D3E"/>
                </a:solidFill>
              </a:rPr>
              <a:t> global do objeto (títulos).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500" dirty="0">
                <a:solidFill>
                  <a:srgbClr val="1D2D3E"/>
                </a:solidFill>
              </a:rPr>
              <a:t> define o </a:t>
            </a:r>
            <a:r>
              <a:rPr lang="en-US" sz="1500" b="1" dirty="0">
                <a:solidFill>
                  <a:srgbClr val="1D2D3E"/>
                </a:solidFill>
              </a:rPr>
              <a:t>conteúdo</a:t>
            </a:r>
            <a:r>
              <a:rPr lang="en-US" sz="1500" dirty="0">
                <a:solidFill>
                  <a:srgbClr val="1D2D3E"/>
                </a:solidFill>
              </a:rPr>
              <a:t> do formulário principal na página de detalhes.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4337914"/>
            <a:ext cx="285293" cy="2852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Você é o Arquiteto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Você não escreve código para a UI: você </a:t>
            </a:r>
            <a:r>
              <a:rPr lang="en-US" sz="3000" b="1" dirty="0">
                <a:solidFill>
                  <a:srgbClr val="FFFFFF"/>
                </a:solidFill>
              </a:rPr>
              <a:t>projeta a experiência</a:t>
            </a:r>
            <a:r>
              <a:rPr lang="en-US" sz="3000" dirty="0">
                <a:solidFill>
                  <a:srgbClr val="FFFFFF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4DB1FF"/>
                </a:solidFill>
              </a:rPr>
              <a:t>Com anotações, você define a intenção — e o SAP Fiori Elements constrói.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3DE"/>
                </a:solidFill>
              </a:rPr>
              <a:t>Agora você tem os blueprints. Comece a construir.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Blueprint à Aplicação: UIs Fiori com Anotações CDS</dc:title>
  <dc:subject>ABAP Moderno – Módulo 03</dc:subject>
  <dc:creator>Adriano Bispo</dc:creator>
  <cp:lastModifiedBy>Adriano Bispo</cp:lastModifiedBy>
  <cp:revision>1</cp:revision>
  <dcterms:created xsi:type="dcterms:W3CDTF">2026-10-25T15:33:21Z</dcterms:created>
  <dcterms:modified xsi:type="dcterms:W3CDTF">2026-10-25T15:33:21Z</dcterms:modified>
</cp:coreProperties>
</file>