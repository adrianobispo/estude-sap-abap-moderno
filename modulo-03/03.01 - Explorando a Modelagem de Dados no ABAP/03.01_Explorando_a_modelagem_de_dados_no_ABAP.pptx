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Modelagem de Dados com Dicionário e CDS  ·  Aula 1 de 7 — Modelagem no ABAP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Modelagem de Dados com Dicionário e CDS  ·  Aula 1 de 7 — Modelagem no ABAP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01 DE 07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Explorando a modelagem de dados no ABAP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O papel do Dicionário ABAP, o que o ABAP CDS acrescenta e como o modelo virtual de dados organiza as views.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1 de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7 aulas: Dicionário e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188720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separamos o que é tarefa do Dicionário ABAP e o que é tarefa do ABAP CDS, antes de criar qualquer objeto.</a:t>
            </a:r>
            <a:endParaRPr lang="en-US" sz="14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 levar dados ao código a levar código aos dados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216506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216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Data-to-code · clássico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783080"/>
          </a:xfrm>
          <a:prstGeom prst="roundRect">
            <a:avLst>
              <a:gd name="adj" fmla="val 410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antes.abap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pedido-valor_total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31920"/>
            <a:ext cx="54100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Todas as linhas viajam do banco para o servidor de aplicação só para serem somadas lá.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2136038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2136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Code-to-data · moderno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783080"/>
          </a:xfrm>
          <a:prstGeom prst="roundRect">
            <a:avLst>
              <a:gd name="adj" fmla="val 410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depois.abap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931920"/>
            <a:ext cx="54100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SAP HANA calcula onde os dados estão e devolve só o resultado: é o </a:t>
            </a:r>
            <a:r>
              <a:rPr lang="en-US" sz="1200" b="1" dirty="0">
                <a:solidFill>
                  <a:srgbClr val="556B82"/>
                </a:solidFill>
              </a:rPr>
              <a:t>code pushdown</a:t>
            </a:r>
            <a:r>
              <a:rPr lang="en-US" sz="1200" dirty="0">
                <a:solidFill>
                  <a:srgbClr val="556B82"/>
                </a:solidFill>
              </a:rPr>
              <a:t>, a razão de ser do ABAP CDS.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03.01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Dicionário ABAP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Dicionário ABAP descreve </a:t>
            </a:r>
            <a:r>
              <a:rPr lang="en-US" sz="1600" b="1" dirty="0">
                <a:solidFill>
                  <a:srgbClr val="D1EFFF"/>
                </a:solidFill>
              </a:rPr>
              <a:t>objetos de banco</a:t>
            </a:r>
            <a:r>
              <a:rPr lang="en-US" sz="1600" dirty="0">
                <a:solidFill>
                  <a:srgbClr val="D1EFFF"/>
                </a:solidFill>
              </a:rPr>
              <a:t> de forma independente do banco e fornece </a:t>
            </a:r>
            <a:r>
              <a:rPr lang="en-US" sz="1600" b="1" dirty="0">
                <a:solidFill>
                  <a:srgbClr val="D1EFFF"/>
                </a:solidFill>
              </a:rPr>
              <a:t>tipos de dados globais</a:t>
            </a:r>
            <a:r>
              <a:rPr lang="en-US" sz="1600" dirty="0">
                <a:solidFill>
                  <a:srgbClr val="D1EFFF"/>
                </a:solidFill>
              </a:rPr>
              <a:t> para o código.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 table</a:t>
            </a:r>
            <a:r>
              <a:rPr lang="en-US" sz="1000" dirty="0">
                <a:solidFill>
                  <a:srgbClr val="D1EFFF"/>
                </a:solidFill>
              </a:rPr>
              <a:t>  objeto de banco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element</a:t>
            </a:r>
            <a:r>
              <a:rPr lang="en-US" sz="1000" dirty="0">
                <a:solidFill>
                  <a:srgbClr val="D1EFFF"/>
                </a:solidFill>
              </a:rPr>
              <a:t>  tipo escalar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 · table type</a:t>
            </a:r>
            <a:r>
              <a:rPr lang="en-US" sz="1000" dirty="0">
                <a:solidFill>
                  <a:srgbClr val="D1EFFF"/>
                </a:solidFill>
              </a:rPr>
              <a:t>  tipos compostos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r>
              <a:rPr lang="en-US" sz="1000" dirty="0">
                <a:solidFill>
                  <a:srgbClr val="D1EFFF"/>
                </a:solidFill>
              </a:rPr>
              <a:t>  dentro do data element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DICIONÁRIO · TAREFAS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 três tarefas do Dicionário ABAP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Shape 4"/>
          <p:cNvSpPr/>
          <p:nvPr/>
        </p:nvSpPr>
        <p:spPr>
          <a:xfrm>
            <a:off x="3125114" y="263398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25114" y="2633980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atual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Definir objetos de banco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definição da tabela usa tipos próprios, independentes do banco. A verificação de sintaxe e a interface de banco a consultam.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2978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4146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1" name="Shape 9"/>
          <p:cNvSpPr/>
          <p:nvPr/>
        </p:nvSpPr>
        <p:spPr>
          <a:xfrm>
            <a:off x="6899453" y="263398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99453" y="2633980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atual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4146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Fornecer tipos globais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Data elements, estruturas e table types são visíveis em todo o sistema, ao contrário dos tipos de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7317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98485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32390" y="2633980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432390" y="2633980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clássico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98485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Semântica para telas clássicas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Chaves estrangeiras e search helps geravam checagens e ajudas nas telas. No RAP, esse papel passou para os metadados de CDS.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8915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07008" y="48915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Views do Dicionário  </a:t>
            </a:r>
            <a:r>
              <a:rPr lang="en-US" sz="1200" dirty="0">
                <a:solidFill>
                  <a:srgbClr val="1D2D3E"/>
                </a:solidFill>
              </a:rPr>
              <a:t>estão superadas e nem existem na nuvem: use </a:t>
            </a:r>
            <a:r>
              <a:rPr lang="en-US" sz="1200" b="1" dirty="0">
                <a:solidFill>
                  <a:srgbClr val="1D2D3E"/>
                </a:solidFill>
              </a:rPr>
              <a:t>CDS views</a:t>
            </a:r>
            <a:r>
              <a:rPr lang="en-US" sz="1200" dirty="0">
                <a:solidFill>
                  <a:srgbClr val="1D2D3E"/>
                </a:solidFill>
              </a:rPr>
              <a:t> em seu lugar.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9069" y="2661412"/>
            <a:ext cx="256032" cy="256032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61412"/>
            <a:ext cx="256032" cy="256032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019548"/>
            <a:ext cx="310896" cy="310896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730" y="266141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DICIONÁRIO · OBJETOS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objetos do Dicionário e o que cada um define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852928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870638"/>
                <a:gridCol w="1766546"/>
                <a:gridCol w="1766546"/>
                <a:gridCol w="441636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Objeto de banco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 ABAP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Observação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Domain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Usado só dentro de data elements: tipo técnico e valores fixos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element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Tipo escalar com rótulos para a UI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Structure · table type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Tipos compostos globais (aula 03.03)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Database table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Também serve como tipo, mas prefira estruturas próprias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Dictionary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Obsoleta: substituída por CDS view entities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817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681728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ADT  </a:t>
            </a:r>
            <a:r>
              <a:rPr lang="en-US" sz="1200" dirty="0">
                <a:solidFill>
                  <a:srgbClr val="1D2D3E"/>
                </a:solidFill>
              </a:rPr>
              <a:t>os objetos do Dicionário ficam no nó </a:t>
            </a:r>
            <a:r>
              <a:rPr lang="en-US" sz="1200" b="1" dirty="0">
                <a:solidFill>
                  <a:srgbClr val="1D2D3E"/>
                </a:solidFill>
              </a:rPr>
              <a:t>Dictionary</a:t>
            </a:r>
            <a:r>
              <a:rPr lang="en-US" sz="1200" dirty="0">
                <a:solidFill>
                  <a:srgbClr val="1D2D3E"/>
                </a:solidFill>
              </a:rPr>
              <a:t> de cada pacote, no Project Explorer.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809744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03.01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que o ABAP CDS acrescenta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ABAP CDS define modelos de dados </a:t>
            </a:r>
            <a:r>
              <a:rPr lang="en-US" sz="1600" b="1" dirty="0">
                <a:solidFill>
                  <a:srgbClr val="D1EFFF"/>
                </a:solidFill>
              </a:rPr>
              <a:t>com lógica SQL rica</a:t>
            </a:r>
            <a:r>
              <a:rPr lang="en-US" sz="1600" dirty="0">
                <a:solidFill>
                  <a:srgbClr val="D1EFFF"/>
                </a:solidFill>
              </a:rPr>
              <a:t> e os enriquece com </a:t>
            </a:r>
            <a:r>
              <a:rPr lang="en-US" sz="1600" b="1" dirty="0">
                <a:solidFill>
                  <a:srgbClr val="D1EFFF"/>
                </a:solidFill>
              </a:rPr>
              <a:t>anotações</a:t>
            </a:r>
            <a:r>
              <a:rPr lang="en-US" sz="1600" dirty="0">
                <a:solidFill>
                  <a:srgbClr val="D1EFFF"/>
                </a:solidFill>
              </a:rPr>
              <a:t> que frameworks como Fiori e RAP interpretam.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r>
              <a:rPr lang="en-US" sz="1000" dirty="0">
                <a:solidFill>
                  <a:srgbClr val="D1EFFF"/>
                </a:solidFill>
              </a:rPr>
              <a:t>  views modernas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@Anotações</a:t>
            </a:r>
            <a:r>
              <a:rPr lang="en-US" sz="1000" dirty="0">
                <a:solidFill>
                  <a:srgbClr val="D1EFFF"/>
                </a:solidFill>
              </a:rPr>
              <a:t>  semântica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control</a:t>
            </a:r>
            <a:r>
              <a:rPr lang="en-US" sz="1000" dirty="0">
                <a:solidFill>
                  <a:srgbClr val="D1EFFF"/>
                </a:solidFill>
              </a:rPr>
              <a:t>  autorização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 definition</a:t>
            </a:r>
            <a:r>
              <a:rPr lang="en-US" sz="1000" dirty="0">
                <a:solidFill>
                  <a:srgbClr val="D1EFFF"/>
                </a:solidFill>
              </a:rPr>
              <a:t>  transações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DUAS GERAÇÕES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CDS DDIC-based views e CDS view entities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310003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DDIC-based (obsoleta)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Definida com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</a:t>
            </a:r>
            <a:r>
              <a:rPr lang="en-US" sz="1350" dirty="0">
                <a:solidFill>
                  <a:srgbClr val="1D2D3E"/>
                </a:solidFill>
              </a:rPr>
              <a:t> e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@AbapCatalog.sqlViewName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Gera uma view do Dicionário como representação técnica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Mantida só por compatibilidade com código antigo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310003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View entity (atual)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Definida com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Cria o objeto de banco direto, sem view intermediária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Verificações mais rígidas, ativação mais rápida e recursos novos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41189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41189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Neste módulo  </a:t>
            </a:r>
            <a:r>
              <a:rPr lang="en-US" sz="1200" dirty="0">
                <a:solidFill>
                  <a:srgbClr val="1D2D3E"/>
                </a:solidFill>
              </a:rPr>
              <a:t>trabalhamos só com </a:t>
            </a:r>
            <a:r>
              <a:rPr lang="en-US" sz="1200" b="1" dirty="0">
                <a:solidFill>
                  <a:srgbClr val="1D2D3E"/>
                </a:solidFill>
              </a:rPr>
              <a:t>view entities</a:t>
            </a:r>
            <a:r>
              <a:rPr lang="en-US" sz="1200" dirty="0">
                <a:solidFill>
                  <a:srgbClr val="1D2D3E"/>
                </a:solidFill>
              </a:rPr>
              <a:t>. As views antigas ficam para a Keyword Documentation.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69205"/>
            <a:ext cx="310896" cy="310896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684907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684907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ANATOMIA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Definição técnica mais anotações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1975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1975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4368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zr_pc_item_pedido.ddls.asddls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ZAVBS_PC_PEDIDOS › ZR_PC_ITEM_PEDIDO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 do pedido - BO child'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@Metadata.ignorePropagatedAnnotations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definição técnica: cria a view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r>
              <a:rPr lang="en-US" sz="1050" dirty="0">
                <a:solidFill>
                  <a:srgbClr val="556B82"/>
                </a:solidFill>
              </a:rPr>
              <a:t> no banco.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Anotações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Enriquecem a definição com semântica: rótulos, moeda, autorização.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Quem lê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Poucas são avaliadas pelo ABAP; as demais seguem para os consumidores (Fiori, analytics).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Modelo do RAP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 formam a estrutura dos business objects.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OBJETOS CDS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objetos de desenvolvimento do ABAP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293072"/>
                <a:gridCol w="7527023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Conteúdo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definition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Uma entidade CDS: view entity, projection view, abstract entity, table function, custom entity ou hierarchy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Access control (DCL)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 papel CDS com condições de acesso avaliadas a cada leitura (aula 02.06)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Anotações de uma entidade guardadas fora da data definition (aula 03.07)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Behavior definition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 comportamento transacional de um business object (aula 01.08)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1605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1605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ADT  </a:t>
            </a:r>
            <a:r>
              <a:rPr lang="en-US" sz="1200" dirty="0">
                <a:solidFill>
                  <a:srgbClr val="1D2D3E"/>
                </a:solidFill>
              </a:rPr>
              <a:t>os objetos CDS ficam no nó </a:t>
            </a:r>
            <a:r>
              <a:rPr lang="en-US" sz="1200" b="1" dirty="0">
                <a:solidFill>
                  <a:srgbClr val="1D2D3E"/>
                </a:solidFill>
              </a:rPr>
              <a:t>Core Data Services</a:t>
            </a:r>
            <a:r>
              <a:rPr lang="en-US" sz="1200" dirty="0">
                <a:solidFill>
                  <a:srgbClr val="1D2D3E"/>
                </a:solidFill>
              </a:rPr>
              <a:t> do pacote.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2885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03.01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modelo virtual de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SAP organiza suas CDS views no </a:t>
            </a:r>
            <a:r>
              <a:rPr lang="en-US" sz="1600" b="1" dirty="0">
                <a:solidFill>
                  <a:srgbClr val="D1EFFF"/>
                </a:solidFill>
              </a:rPr>
              <a:t>Virtual Data Model (VDM)</a:t>
            </a:r>
            <a:r>
              <a:rPr lang="en-US" sz="1600" dirty="0">
                <a:solidFill>
                  <a:srgbClr val="D1EFFF"/>
                </a:solidFill>
              </a:rPr>
              <a:t>: camadas com papéis claros e prefixos que revelam o propósito.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</a:t>
            </a:r>
            <a:r>
              <a:rPr lang="en-US" sz="1000" dirty="0">
                <a:solidFill>
                  <a:srgbClr val="D1EFFF"/>
                </a:solidFill>
              </a:rPr>
              <a:t>  interface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</a:t>
            </a:r>
            <a:r>
              <a:rPr lang="en-US" sz="1000" dirty="0">
                <a:solidFill>
                  <a:srgbClr val="D1EFFF"/>
                </a:solidFill>
              </a:rPr>
              <a:t>  business object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</a:t>
            </a:r>
            <a:r>
              <a:rPr lang="en-US" sz="1000" dirty="0">
                <a:solidFill>
                  <a:srgbClr val="D1EFFF"/>
                </a:solidFill>
              </a:rPr>
              <a:t>  consumo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</a:t>
            </a:r>
            <a:r>
              <a:rPr lang="en-US" sz="1000" dirty="0">
                <a:solidFill>
                  <a:srgbClr val="D1EFFF"/>
                </a:solidFill>
              </a:rPr>
              <a:t>  extensão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VDM ·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Das tabelas às views de consumo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camada lê da anterior; o consumidor (app, relatório ou API) enxerga só a camada de cima.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Tabelas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Persistência física, nomes técnicos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Basic / interface (I_)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Uma view por entidade de negócio, nomes legíveis, associações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Composite (I_)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Combina views básicas para um conceito maior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Consumption (C_)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Moldada para um app ou relatório específico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R_ no RAP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Views que formam um business object reutilizável,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r>
              <a:rPr lang="en-US" sz="1200" dirty="0">
                <a:solidFill>
                  <a:srgbClr val="556B82"/>
                </a:solidFill>
              </a:rPr>
              <a:t> do projeto.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E_ para extensão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Extension include views</a:t>
            </a:r>
            <a:r>
              <a:rPr lang="en-US" sz="1200" dirty="0">
                <a:solidFill>
                  <a:srgbClr val="556B82"/>
                </a:solidFill>
              </a:rPr>
              <a:t>, ponto oficial para estender views da SAP (aula 03.07).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Liberadas para você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Views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</a:t>
            </a:r>
            <a:r>
              <a:rPr lang="en-US" sz="1200" dirty="0">
                <a:solidFill>
                  <a:srgbClr val="556B82"/>
                </a:solidFill>
              </a:rPr>
              <a:t> liberadas (ex.: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200" dirty="0">
                <a:solidFill>
                  <a:srgbClr val="556B82"/>
                </a:solidFill>
              </a:rPr>
              <a:t>) são a porta de entrada para dados SAP no ABAP Cloud.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Code-to-data</a:t>
            </a:r>
            <a:r>
              <a:rPr lang="en-US" sz="1400" dirty="0">
                <a:solidFill>
                  <a:srgbClr val="FFFFFF"/>
                </a:solidFill>
              </a:rPr>
              <a:t>: o banco calcula e devolve só o resultado (code pushdown)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Dicionário</a:t>
            </a:r>
            <a:r>
              <a:rPr lang="en-US" sz="1400" dirty="0">
                <a:solidFill>
                  <a:srgbClr val="FFFFFF"/>
                </a:solidFill>
              </a:rPr>
              <a:t> define objetos de banco e tipos globais; views do Dicionário são obsoletas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Domains vivem dentro de data elements; estruturas e table types são tipos compostos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CDS view entities</a:t>
            </a:r>
            <a:r>
              <a:rPr lang="en-US" sz="1400" dirty="0">
                <a:solidFill>
                  <a:srgbClr val="FFFFFF"/>
                </a:solidFill>
              </a:rPr>
              <a:t> (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r>
              <a:rPr lang="en-US" sz="1400" dirty="0">
                <a:solidFill>
                  <a:srgbClr val="FFFFFF"/>
                </a:solidFill>
              </a:rPr>
              <a:t>) substituem as DDIC-based views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Anotações</a:t>
            </a:r>
            <a:r>
              <a:rPr lang="en-US" sz="1400" dirty="0">
                <a:solidFill>
                  <a:srgbClr val="FFFFFF"/>
                </a:solidFill>
              </a:rPr>
              <a:t> enriquecem as views; frameworks como Fiori e RAP as interpretam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VDM</a:t>
            </a:r>
            <a:r>
              <a:rPr lang="en-US" sz="1400" dirty="0">
                <a:solidFill>
                  <a:srgbClr val="FFFFFF"/>
                </a:solidFill>
              </a:rPr>
              <a:t> organiza views em camadas com prefixos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03.02  </a:t>
            </a:r>
            <a:r>
              <a:rPr lang="en-US" sz="1500" dirty="0">
                <a:solidFill>
                  <a:srgbClr val="FFFFFF"/>
                </a:solidFill>
              </a:rPr>
              <a:t>Tabelas de banco: DEFINE TABLE, chaves, tipos e ajustes.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03.01 Explorando a modelagem de dados no ABAP</dc:title>
  <dc:subject>ABAP Moderno – Módulo 03: Modelagem de Dados com Dicionário e CDS</dc:subject>
  <dc:creator>Adriano Bispo</dc:creator>
  <cp:lastModifiedBy>Adriano Bispo</cp:lastModifiedBy>
  <cp:revision>1</cp:revision>
  <dcterms:created xsi:type="dcterms:W3CDTF">2026-10-29T13:36:03Z</dcterms:created>
  <dcterms:modified xsi:type="dcterms:W3CDTF">2026-10-29T13:36:03Z</dcterms:modified>
</cp:coreProperties>
</file>