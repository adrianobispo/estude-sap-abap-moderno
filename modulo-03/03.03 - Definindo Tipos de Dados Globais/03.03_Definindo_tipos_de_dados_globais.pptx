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Modelagem de Dados com Dicionário e CDS  ·  Aula 3 de 7 — Tipos globais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Modelagem de Dados com Dicionário e CDS  ·  Aula 3 de 7 — Tipos globais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03 DE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Definindo tipos de dados globais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Domínios e data elements, estruturas e table types do Dicionário, e quando preferir tipos em classes e interfaces.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3 de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7 aulas: Dicionário e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27368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7368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construímos a camada de tipos do modelo de pedidos de compras: do domínio técnico ao data element com rótulos, até estruturas e tabelas.</a:t>
            </a:r>
            <a:endParaRPr lang="en-US" sz="14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domínio técnico ao rótulo na tela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camada acrescenta algo: o domínio diz </a:t>
            </a:r>
            <a:r>
              <a:rPr lang="en-US" sz="1400" b="1" dirty="0">
                <a:solidFill>
                  <a:srgbClr val="556B82"/>
                </a:solidFill>
              </a:rPr>
              <a:t>como</a:t>
            </a:r>
            <a:r>
              <a:rPr lang="en-US" sz="1400" dirty="0">
                <a:solidFill>
                  <a:srgbClr val="556B82"/>
                </a:solidFill>
              </a:rPr>
              <a:t> guardar, o data element diz </a:t>
            </a:r>
            <a:r>
              <a:rPr lang="en-US" sz="1400" b="1" dirty="0">
                <a:solidFill>
                  <a:srgbClr val="556B82"/>
                </a:solidFill>
              </a:rPr>
              <a:t>o que</a:t>
            </a:r>
            <a:r>
              <a:rPr lang="en-US" sz="1400" dirty="0">
                <a:solidFill>
                  <a:srgbClr val="556B82"/>
                </a:solidFill>
              </a:rPr>
              <a:t> o campo significa.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Domínio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Tipo técnico, tamanho e faixa de valores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Data element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Tipo do campo com rótulos traduzíveis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Uso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Campos de tabela, variáveis, parâmetros, CDS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UI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Rótulos e formatação automáticos no app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Um domínio, vários data elements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Mudar o domínio muda todos os campos que dependem dele, por exemplo o tamanho de um código.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0148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302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3028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Domínio não é tipo ABAP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Domínios só servem de base para data elements; não podem tipar variáveis nem campos de tabela.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1542" y="3928994"/>
            <a:ext cx="225308" cy="225308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03.03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Domínios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domínio define as </a:t>
            </a:r>
            <a:r>
              <a:rPr lang="en-US" sz="1600" b="1" dirty="0">
                <a:solidFill>
                  <a:srgbClr val="D1EFFF"/>
                </a:solidFill>
              </a:rPr>
              <a:t>propriedades técnicas</a:t>
            </a:r>
            <a:r>
              <a:rPr lang="en-US" sz="1600" dirty="0">
                <a:solidFill>
                  <a:srgbClr val="D1EFFF"/>
                </a:solidFill>
              </a:rPr>
              <a:t> de um campo e, se preciso, restringe e formata os valores aceitos.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e tamanho</a:t>
            </a:r>
            <a:r>
              <a:rPr lang="en-US" sz="1000" dirty="0">
                <a:solidFill>
                  <a:srgbClr val="D1EFFF"/>
                </a:solidFill>
              </a:rPr>
              <a:t>  ex.: NUMC 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 fixos</a:t>
            </a:r>
            <a:r>
              <a:rPr lang="en-US" sz="1000" dirty="0">
                <a:solidFill>
                  <a:srgbClr val="D1EFFF"/>
                </a:solidFill>
              </a:rPr>
              <a:t>  faixa de valores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Rotina de conversão</a:t>
            </a:r>
            <a:r>
              <a:rPr lang="en-US" sz="1000" dirty="0">
                <a:solidFill>
                  <a:srgbClr val="D1EFFF"/>
                </a:solidFill>
              </a:rPr>
              <a:t>  ex.: ALPHA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r>
              <a:rPr lang="en-US" sz="1000" dirty="0">
                <a:solidFill>
                  <a:srgbClr val="D1EFFF"/>
                </a:solidFill>
              </a:rPr>
              <a:t>  tamanho, sinal, minúsculas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DOMÍNIOS · PROPRIEDADES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um domínio define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5059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Tipo técnico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 tipo do Dicionário com comprimento e casas decimais. Para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r>
              <a:rPr lang="en-US" sz="1200" dirty="0">
                <a:solidFill>
                  <a:srgbClr val="556B82"/>
                </a:solidFill>
              </a:rPr>
              <a:t>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</a:t>
            </a:r>
            <a:r>
              <a:rPr lang="en-US" sz="1200" dirty="0">
                <a:solidFill>
                  <a:srgbClr val="556B82"/>
                </a:solidFill>
              </a:rPr>
              <a:t>, prefira comprimentos ímpares.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164592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245059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Faixa de valores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Valores fixos ou intervalos permitidos, usados em checagens e listas de valores.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858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46227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Rotina de conversão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Converte entre o formato interno e o de exibição,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r>
              <a:rPr lang="en-US" sz="1200" dirty="0">
                <a:solidFill>
                  <a:srgbClr val="556B82"/>
                </a:solidFill>
              </a:rPr>
              <a:t> (zeros à esquerda).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0148" y="365760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1316" y="3858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1316" y="446227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Características de saída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Tamanho de saída, sinal e se o campo aceita letras minúsculas.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projeto  </a:t>
            </a:r>
            <a:r>
              <a:rPr lang="en-US" sz="1200" dirty="0">
                <a:solidFill>
                  <a:srgbClr val="1D2D3E"/>
                </a:solidFill>
              </a:rPr>
              <a:t>o objeto de numeração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ZPC_NR</a:t>
            </a:r>
            <a:r>
              <a:rPr lang="en-US" sz="1200" dirty="0">
                <a:solidFill>
                  <a:srgbClr val="1D2D3E"/>
                </a:solidFill>
              </a:rPr>
              <a:t> usa um domínio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NUMC</a:t>
            </a:r>
            <a:r>
              <a:rPr lang="en-US" sz="1200" dirty="0">
                <a:solidFill>
                  <a:srgbClr val="1D2D3E"/>
                </a:solidFill>
              </a:rPr>
              <a:t> de 10 posições: só dígitos, como o número do pedido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0000000001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4767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395935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194767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95935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03.03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elements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data element dá </a:t>
            </a:r>
            <a:r>
              <a:rPr lang="en-US" sz="1600" b="1" dirty="0">
                <a:solidFill>
                  <a:srgbClr val="D1EFFF"/>
                </a:solidFill>
              </a:rPr>
              <a:t>significado</a:t>
            </a:r>
            <a:r>
              <a:rPr lang="en-US" sz="1600" dirty="0">
                <a:solidFill>
                  <a:srgbClr val="D1EFFF"/>
                </a:solidFill>
              </a:rPr>
              <a:t> ao campo: tipo técnico (em geral, por um domínio) e </a:t>
            </a:r>
            <a:r>
              <a:rPr lang="en-US" sz="1600" b="1" dirty="0">
                <a:solidFill>
                  <a:srgbClr val="D1EFFF"/>
                </a:solidFill>
              </a:rPr>
              <a:t>rótulos</a:t>
            </a:r>
            <a:r>
              <a:rPr lang="en-US" sz="1600" dirty="0">
                <a:solidFill>
                  <a:srgbClr val="D1EFFF"/>
                </a:solidFill>
              </a:rPr>
              <a:t> que aparecem na interface.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000" dirty="0">
                <a:solidFill>
                  <a:srgbClr val="D1EFFF"/>
                </a:solidFill>
              </a:rPr>
              <a:t>  domínio, tipo ou referência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labels</a:t>
            </a:r>
            <a:r>
              <a:rPr lang="en-US" sz="1000" dirty="0">
                <a:solidFill>
                  <a:srgbClr val="D1EFFF"/>
                </a:solidFill>
              </a:rPr>
              <a:t>  curto a título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Descrição</a:t>
            </a:r>
            <a:r>
              <a:rPr lang="en-US" sz="1000" dirty="0">
                <a:solidFill>
                  <a:srgbClr val="D1EFFF"/>
                </a:solidFill>
              </a:rPr>
              <a:t>  para desenvolvedores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Idioma original</a:t>
            </a:r>
            <a:r>
              <a:rPr lang="en-US" sz="1000" dirty="0">
                <a:solidFill>
                  <a:srgbClr val="D1EFFF"/>
                </a:solidFill>
              </a:rPr>
              <a:t>  base da tradução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DATA ELEMENTS · RÓTULOS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quatro rótulos de um data element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025335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751015" cy="914400"/>
        </p:xfrm>
        <a:graphic>
          <a:graphicData uri="http://schemas.openxmlformats.org/drawingml/2006/table">
            <a:tbl>
              <a:tblPr/>
              <a:tblGrid>
                <a:gridCol w="1547108"/>
                <a:gridCol w="1547108"/>
                <a:gridCol w="3656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Rótulo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Tamanho sugerido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Exemplo: valor total do pedido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Short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Valor total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Long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Valor total do pedido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Heading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Valor total (cabeçalho de coluna)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02575" y="16459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85455" y="18288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34095" y="181051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Traduzíveis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Mantidos no idioma original do objeto (aba Properties) e traduzidos depois.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02575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85455" y="32004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34095" y="318211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Descrição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Não é para o usuário final: ajuda quem analisa ou reutiliza o data element.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3891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07008" y="43891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Tipo técnico  </a:t>
            </a:r>
            <a:r>
              <a:rPr lang="en-US" sz="1200" dirty="0">
                <a:solidFill>
                  <a:srgbClr val="1D2D3E"/>
                </a:solidFill>
              </a:rPr>
              <a:t>prefira referenciar um </a:t>
            </a:r>
            <a:r>
              <a:rPr lang="en-US" sz="1200" b="1" dirty="0">
                <a:solidFill>
                  <a:srgbClr val="1D2D3E"/>
                </a:solidFill>
              </a:rPr>
              <a:t>domínio</a:t>
            </a:r>
            <a:r>
              <a:rPr lang="en-US" sz="1200" dirty="0">
                <a:solidFill>
                  <a:srgbClr val="1D2D3E"/>
                </a:solidFill>
              </a:rPr>
              <a:t>; também é possível usar um tipo do Dicionário direto ou um tipo de referência.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517136"/>
            <a:ext cx="310896" cy="310896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969" y="1917314"/>
            <a:ext cx="225308" cy="225308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969" y="328891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03.03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Estruturas e table types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Dicionário também define </a:t>
            </a:r>
            <a:r>
              <a:rPr lang="en-US" sz="1600" b="1" dirty="0">
                <a:solidFill>
                  <a:srgbClr val="D1EFFF"/>
                </a:solidFill>
              </a:rPr>
              <a:t>estruturas</a:t>
            </a:r>
            <a:r>
              <a:rPr lang="en-US" sz="1600" dirty="0">
                <a:solidFill>
                  <a:srgbClr val="D1EFFF"/>
                </a:solidFill>
              </a:rPr>
              <a:t> (em código, como tabelas) e </a:t>
            </a:r>
            <a:r>
              <a:rPr lang="en-US" sz="1600" b="1" dirty="0">
                <a:solidFill>
                  <a:srgbClr val="D1EFFF"/>
                </a:solidFill>
              </a:rPr>
              <a:t>table types</a:t>
            </a:r>
            <a:r>
              <a:rPr lang="en-US" sz="1600" dirty="0">
                <a:solidFill>
                  <a:srgbClr val="D1EFFF"/>
                </a:solidFill>
              </a:rPr>
              <a:t> (em formulário), visíveis em todo o sistema.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structure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· named include</a:t>
            </a:r>
            <a:r>
              <a:rPr lang="en-US" sz="1000" dirty="0">
                <a:solidFill>
                  <a:srgbClr val="D1EFFF"/>
                </a:solidFill>
              </a:rPr>
              <a:t>  reuso de campos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type</a:t>
            </a:r>
            <a:r>
              <a:rPr lang="en-US" sz="1000" dirty="0">
                <a:solidFill>
                  <a:srgbClr val="D1EFFF"/>
                </a:solidFill>
              </a:rPr>
              <a:t>  linha, acesso, chaves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Ranges</a:t>
            </a:r>
            <a:r>
              <a:rPr lang="en-US" sz="1000" dirty="0">
                <a:solidFill>
                  <a:srgbClr val="D1EFFF"/>
                </a:solidFill>
              </a:rPr>
              <a:t>  SIGN · OPTION · LOW · HIGH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COMPOSTOS · ESTRUTURAS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Estruturas simples, aninhadas e com include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zpc_s_cliente.tabl.abap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com os campos de ZTA_PC_CLIENTE e ZTA_PC_ENDERECO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'Endereço'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zpc_s_endereco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zpc_s_cliente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zpc_s_endereco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structure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Mesma lógica de uma tabela, sem criar nada no banco.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Aninhada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 : zpc_s_endereco;</a:t>
            </a:r>
            <a:r>
              <a:rPr lang="en-US" sz="1050" dirty="0">
                <a:solidFill>
                  <a:srgbClr val="556B82"/>
                </a:solidFill>
              </a:rPr>
              <a:t> acessa como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cliente-endereco-cidade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Include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…;</a:t>
            </a:r>
            <a:r>
              <a:rPr lang="en-US" sz="1050" dirty="0">
                <a:solidFill>
                  <a:srgbClr val="556B82"/>
                </a:solidFill>
              </a:rPr>
              <a:t> põe os campos no mesmo nível: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cliente-cidade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Named include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: include …;</a:t>
            </a:r>
            <a:r>
              <a:rPr lang="en-US" sz="1050" dirty="0">
                <a:solidFill>
                  <a:srgbClr val="556B82"/>
                </a:solidFill>
              </a:rPr>
              <a:t> permite os dois acessos, padrão dos tipos do RAP.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COMPOSTOS · TABLE TYPES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editor de table types e o equivalente em ABAP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57907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4579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No Dicionário (formulário)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8425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8425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zpc_t_endereco.ttyp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zpc_s_endereco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nenhuma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Seções: tipo da linha, inicialização e acesso, visão geral das chaves e detalhes de cada chave.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Em ABAP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60934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60934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equivalente.abap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tt_enderecos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zpc_s_endereco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tipo da linha vem depois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200" dirty="0">
                <a:solidFill>
                  <a:srgbClr val="556B82"/>
                </a:solidFill>
              </a:rPr>
              <a:t>, o acesso depois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556B82"/>
                </a:solidFill>
              </a:rPr>
              <a:t> e a chave depois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200" dirty="0">
                <a:solidFill>
                  <a:srgbClr val="556B82"/>
                </a:solidFill>
              </a:rPr>
              <a:t>. Chave </a:t>
            </a:r>
            <a:r>
              <a:rPr lang="en-US" sz="1200" i="1" dirty="0">
                <a:solidFill>
                  <a:srgbClr val="556B82"/>
                </a:solidFill>
              </a:rPr>
              <a:t>row type</a:t>
            </a:r>
            <a:r>
              <a:rPr lang="en-US" sz="1200" dirty="0">
                <a:solidFill>
                  <a:srgbClr val="556B82"/>
                </a:solidFill>
              </a:rPr>
              <a:t> corresponde 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table_line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03.03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Usando tipos globais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Tipos do Dicionário servem para variáveis e parâmetros, mas hoje </a:t>
            </a:r>
            <a:r>
              <a:rPr lang="en-US" sz="1600" b="1" dirty="0">
                <a:solidFill>
                  <a:srgbClr val="D1EFFF"/>
                </a:solidFill>
              </a:rPr>
              <a:t>tipos em classes e interfaces</a:t>
            </a:r>
            <a:r>
              <a:rPr lang="en-US" sz="1600" dirty="0">
                <a:solidFill>
                  <a:srgbClr val="D1EFFF"/>
                </a:solidFill>
              </a:rPr>
              <a:t> costumam ser a melhor escolha.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element</a:t>
            </a:r>
            <a:r>
              <a:rPr lang="en-US" sz="1000" dirty="0">
                <a:solidFill>
                  <a:srgbClr val="D1EFFF"/>
                </a:solidFill>
              </a:rPr>
              <a:t>  escalar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· DB table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type</a:t>
            </a:r>
            <a:r>
              <a:rPr lang="en-US" sz="1000" dirty="0">
                <a:solidFill>
                  <a:srgbClr val="D1EFFF"/>
                </a:solidFill>
              </a:rPr>
              <a:t>  tabela interna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OF ENUM</a:t>
            </a:r>
            <a:r>
              <a:rPr lang="en-US" sz="1000" dirty="0">
                <a:solidFill>
                  <a:srgbClr val="D1EFFF"/>
                </a:solidFill>
              </a:rPr>
              <a:t>  enumerações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NATUREZA DO TIPO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tipo decide qual atribuição compila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46430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46430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zcl_pc_tipos_demo.clas.abap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(os tipos ZPC_* do Dicionário são ilustrativos)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zpc_numero_pedido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data element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DATA pedido TYPE zpc_s_pedido_chave.  " structure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DATA pedido TYPE zta_pc_pedido.       " database table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DATA pedido TYPE zpc_t_pedidos.       " table type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'0000000001'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elementar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'0000000001'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estrutura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'0000000001'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tabela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Data element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 escalar: só a primeira atribuição compila.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31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31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134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Structure e tabela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tabela de banco usada como tipo é uma </a:t>
            </a:r>
            <a:r>
              <a:rPr lang="en-US" sz="1050" b="1" dirty="0">
                <a:solidFill>
                  <a:srgbClr val="556B82"/>
                </a:solidFill>
              </a:rPr>
              <a:t>estrutura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5890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707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Table type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 de tabela interna: aceita só a terceira forma.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4462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446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279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Mostra que tipo de objeto do Dicionário está por trás.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Recomendação oficial  </a:t>
            </a:r>
            <a:r>
              <a:rPr lang="en-US" sz="1200" dirty="0">
                <a:solidFill>
                  <a:srgbClr val="1D2D3E"/>
                </a:solidFill>
              </a:rPr>
              <a:t>evite criar objetos do Dicionário só para tipar dados; use tipos de classes e interfaces,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zif_pc_numeracao=&gt;ty_sku</a:t>
            </a:r>
            <a:r>
              <a:rPr lang="en-US" sz="1200" dirty="0">
                <a:solidFill>
                  <a:srgbClr val="1D2D3E"/>
                </a:solidFill>
              </a:rPr>
              <a:t> no projeto.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ENUMERAÇÕES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Valores possíveis definidos no próprio tipo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zif_pc_status.intf.abap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Alternativa às constantes c_status_pedido de ZIF_PC_CONSTANTS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aguardando_aprovacao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Uso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zif_pc_status=&gt;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status-aberto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zif_pc_status=&gt;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status-finalizado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OF ENUM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os valores listados são aceitos: nada de códigos soltos como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326136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3261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24307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status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Agrupa os valores: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status-aberto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status-finalizado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46482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4648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62991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Na interface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tipo fica visível em todo o sistema, com o contexto da interface.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domínio</a:t>
            </a:r>
            <a:r>
              <a:rPr lang="en-US" sz="1400" dirty="0">
                <a:solidFill>
                  <a:srgbClr val="FFFFFF"/>
                </a:solidFill>
              </a:rPr>
              <a:t> define tipo, tamanho, faixa de valores e formatação; não é um tipo ABAP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data element</a:t>
            </a:r>
            <a:r>
              <a:rPr lang="en-US" sz="1400" dirty="0">
                <a:solidFill>
                  <a:srgbClr val="FFFFFF"/>
                </a:solidFill>
              </a:rPr>
              <a:t> dá significado e </a:t>
            </a:r>
            <a:r>
              <a:rPr lang="en-US" sz="1400" b="1" dirty="0">
                <a:solidFill>
                  <a:srgbClr val="FFFFFF"/>
                </a:solidFill>
              </a:rPr>
              <a:t>rótulos</a:t>
            </a:r>
            <a:r>
              <a:rPr lang="en-US" sz="1400" dirty="0">
                <a:solidFill>
                  <a:srgbClr val="FFFFFF"/>
                </a:solidFill>
              </a:rPr>
              <a:t> traduzíveis ao campo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Estruturas</a:t>
            </a:r>
            <a:r>
              <a:rPr lang="en-US" sz="1400" dirty="0">
                <a:solidFill>
                  <a:srgbClr val="FFFFFF"/>
                </a:solidFill>
              </a:rPr>
              <a:t> do Dicionário: simples, aninhadas, com include ou named include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 types</a:t>
            </a:r>
            <a:r>
              <a:rPr lang="en-US" sz="1400" dirty="0">
                <a:solidFill>
                  <a:srgbClr val="FFFFFF"/>
                </a:solidFill>
              </a:rPr>
              <a:t> definem linha, tipo de acesso e chaves; ranges têm SIGN, OPTION, LOW e HIGH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Tabela de banco usada como tipo é uma estrutura; evite usá-la assim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Prefira </a:t>
            </a:r>
            <a:r>
              <a:rPr lang="en-US" sz="1400" b="1" dirty="0">
                <a:solidFill>
                  <a:srgbClr val="FFFFFF"/>
                </a:solidFill>
              </a:rPr>
              <a:t>tipos em classes e interfaces</a:t>
            </a:r>
            <a:r>
              <a:rPr lang="en-US" sz="1400" dirty="0">
                <a:solidFill>
                  <a:srgbClr val="FFFFFF"/>
                </a:solidFill>
              </a:rPr>
              <a:t>, inclusive </a:t>
            </a:r>
            <a:r>
              <a:rPr lang="en-US" sz="1400" b="1" dirty="0">
                <a:solidFill>
                  <a:srgbClr val="FFFFFF"/>
                </a:solidFill>
              </a:rPr>
              <a:t>enumerações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OF ENUM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03.04  </a:t>
            </a:r>
            <a:r>
              <a:rPr lang="en-US" sz="1500" dirty="0">
                <a:solidFill>
                  <a:srgbClr val="FFFFFF"/>
                </a:solidFill>
              </a:rPr>
              <a:t>CDS views básicas: View entities, anotações e views sobre views.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03.03 Definindo tipos de dados globais</dc:title>
  <dc:subject>ABAP Moderno – Módulo 03: Modelagem de Dados com Dicionário e CDS</dc:subject>
  <dc:creator>Adriano Bispo</dc:creator>
  <cp:lastModifiedBy>Adriano Bispo</cp:lastModifiedBy>
  <cp:revision>1</cp:revision>
  <dcterms:created xsi:type="dcterms:W3CDTF">2026-10-29T13:37:30Z</dcterms:created>
  <dcterms:modified xsi:type="dcterms:W3CDTF">2026-10-29T13:37:30Z</dcterms:modified>
</cp:coreProperties>
</file>