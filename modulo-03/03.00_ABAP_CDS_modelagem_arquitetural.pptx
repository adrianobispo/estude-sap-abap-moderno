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Modelagem de Dados com Dicionário e CDS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Modelagem de Dados com Dicionário e CDS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ABAP CDS: modelagem arquitetural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03: como o Dicionário ABAP e o ABAP CDS formam a base de dados de toda aplicação moderna.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7 aulas neste módulo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Sete aulas, da tabela à view protegida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Building Data Models with the ABAP Dictionary and ABAP CDS (S4D430)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7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do Dicionário às extensões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S4D430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~21 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Carga do curso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lições e exercícios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Pré-requisito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módulo 02 deste guia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Por que estudar depois do módulo 02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SAP exige os cursos básico e intermediário antes deste. Ele usa ABAP SQL avançado, autorizações e tipos que aparecem no módulo 02: por isso ele vem logo depois, na jornada </a:t>
            </a:r>
            <a:r>
              <a:rPr lang="en-US" sz="1200" b="1" dirty="0">
                <a:solidFill>
                  <a:srgbClr val="556B82"/>
                </a:solidFill>
              </a:rPr>
              <a:t>01 → 02 → 03 → 04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Dicionário ABAP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59368" y="3977640"/>
            <a:ext cx="182514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59368" y="3977640"/>
            <a:ext cx="1825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CDS view entities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4416552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4416552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Associações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37499" y="4416552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37499" y="4416552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Code pushdown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77933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77933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DCL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Extensões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76565" y="4855464"/>
            <a:ext cx="1986077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76565" y="4855464"/>
            <a:ext cx="19860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Metadata extensions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03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Um modelo, três camadas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Tabelas guardam, views </a:t>
            </a:r>
            <a:r>
              <a:rPr lang="en-US" sz="1600" b="1" dirty="0">
                <a:solidFill>
                  <a:srgbClr val="D1EFFF"/>
                </a:solidFill>
              </a:rPr>
              <a:t>interpretam</a:t>
            </a:r>
            <a:r>
              <a:rPr lang="en-US" sz="1600" dirty="0">
                <a:solidFill>
                  <a:srgbClr val="D1EFFF"/>
                </a:solidFill>
              </a:rPr>
              <a:t> e meta objetos </a:t>
            </a:r>
            <a:r>
              <a:rPr lang="en-US" sz="1600" b="1" dirty="0">
                <a:solidFill>
                  <a:srgbClr val="D1EFFF"/>
                </a:solidFill>
              </a:rPr>
              <a:t>protegem e anotam</a:t>
            </a:r>
            <a:r>
              <a:rPr lang="en-US" sz="1600" dirty="0">
                <a:solidFill>
                  <a:srgbClr val="D1EFFF"/>
                </a:solidFill>
              </a:rPr>
              <a:t>. Cada aula constrói uma parte desse modelo.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Persistência</a:t>
            </a:r>
            <a:r>
              <a:rPr lang="en-US" sz="1000" dirty="0">
                <a:solidFill>
                  <a:srgbClr val="D1EFFF"/>
                </a:solidFill>
              </a:rPr>
              <a:t>  03.02 · 03.03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virtual</a:t>
            </a:r>
            <a:r>
              <a:rPr lang="en-US" sz="1000" dirty="0">
                <a:solidFill>
                  <a:srgbClr val="D1EFFF"/>
                </a:solidFill>
              </a:rPr>
              <a:t>  03.04 – 03.06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objetos</a:t>
            </a:r>
            <a:r>
              <a:rPr lang="en-US" sz="1000" dirty="0">
                <a:solidFill>
                  <a:srgbClr val="D1EFFF"/>
                </a:solidFill>
              </a:rPr>
              <a:t>  03.07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O CAMINHO DO DADO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campo da tabela ao elemento anotado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Domínio e data element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Tipo técnico e significado (03.03)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Tabela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Chaves, moeda e campos administrativos (03.02)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CDS view 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Nomes, cálculos e associações (03.04 – 03.06)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Meta objetos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DCL, extensões e anotações (03.07)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Code pushdown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Cálculos e agregações rodam no SAP HANA, perto dos dados.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Join on demand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Associações só viram join quando usadas em path expressions.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Base do RAP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 views deste módulo são a estrutura dos business objects.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UM GOSTINHO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view que usa quase todo o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00837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00837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zc_pc_cliente_consulta.ddls.asddls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ZR_PC_CLIENTE (projeto Pedidos de Compras)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#CHECK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ZC_PC_CLIENTE_CONSULTA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ZR_PC_CLIENTE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NomeCpf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Proteção · 03.07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#CHECK</a:t>
            </a:r>
            <a:r>
              <a:rPr lang="en-US" sz="1050" dirty="0">
                <a:solidFill>
                  <a:srgbClr val="556B82"/>
                </a:solidFill>
              </a:rPr>
              <a:t> exige um papel CDS que filtre a leitura.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Parâmetro · 03.06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p_data</a:t>
            </a:r>
            <a:r>
              <a:rPr lang="en-US" sz="1050" dirty="0">
                <a:solidFill>
                  <a:srgbClr val="556B82"/>
                </a:solidFill>
              </a:rPr>
              <a:t> torna a data de referência obrigatória.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Path expression · 03.05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_EnderecoPrincipal.Cidade</a:t>
            </a:r>
            <a:r>
              <a:rPr lang="en-US" sz="1050" dirty="0">
                <a:solidFill>
                  <a:srgbClr val="556B82"/>
                </a:solidFill>
              </a:rPr>
              <a:t> lê pela associação.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Funções · 03.06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Texto e datas calculados no banco.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Distinguir as tarefas do </a:t>
            </a:r>
            <a:r>
              <a:rPr lang="en-US" sz="1400" b="1" dirty="0">
                <a:solidFill>
                  <a:srgbClr val="FFFFFF"/>
                </a:solidFill>
              </a:rPr>
              <a:t>Dicionário ABAP</a:t>
            </a:r>
            <a:r>
              <a:rPr lang="en-US" sz="1400" dirty="0">
                <a:solidFill>
                  <a:srgbClr val="FFFFFF"/>
                </a:solidFill>
              </a:rPr>
              <a:t> e do </a:t>
            </a:r>
            <a:r>
              <a:rPr lang="en-US" sz="1400" b="1" dirty="0">
                <a:solidFill>
                  <a:srgbClr val="FFFFFF"/>
                </a:solidFill>
              </a:rPr>
              <a:t>ABAP CDS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Criar </a:t>
            </a:r>
            <a:r>
              <a:rPr lang="en-US" sz="1400" b="1" dirty="0">
                <a:solidFill>
                  <a:srgbClr val="FFFFFF"/>
                </a:solidFill>
              </a:rPr>
              <a:t>tabelas</a:t>
            </a:r>
            <a:r>
              <a:rPr lang="en-US" sz="1400" dirty="0">
                <a:solidFill>
                  <a:srgbClr val="FFFFFF"/>
                </a:solidFill>
              </a:rPr>
              <a:t> com chaves, moeda, unidade e configurações técnicas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Definir </a:t>
            </a:r>
            <a:r>
              <a:rPr lang="en-US" sz="1400" b="1" dirty="0">
                <a:solidFill>
                  <a:srgbClr val="FFFFFF"/>
                </a:solidFill>
              </a:rPr>
              <a:t>domínios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data elements</a:t>
            </a:r>
            <a:r>
              <a:rPr lang="en-US" sz="1400" dirty="0">
                <a:solidFill>
                  <a:srgbClr val="FFFFFF"/>
                </a:solidFill>
              </a:rPr>
              <a:t>, estruturas e table types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Construir </a:t>
            </a:r>
            <a:r>
              <a:rPr lang="en-US" sz="1400" b="1" dirty="0">
                <a:solidFill>
                  <a:srgbClr val="FFFFFF"/>
                </a:solidFill>
              </a:rPr>
              <a:t>CDS view entities</a:t>
            </a:r>
            <a:r>
              <a:rPr lang="en-US" sz="1400" dirty="0">
                <a:solidFill>
                  <a:srgbClr val="FFFFFF"/>
                </a:solidFill>
              </a:rPr>
              <a:t> em camadas, com anotações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Relacionar views com </a:t>
            </a:r>
            <a:r>
              <a:rPr lang="en-US" sz="1400" b="1" dirty="0">
                <a:solidFill>
                  <a:srgbClr val="FFFFFF"/>
                </a:solidFill>
              </a:rPr>
              <a:t>associações</a:t>
            </a:r>
            <a:r>
              <a:rPr lang="en-US" sz="1400" dirty="0">
                <a:solidFill>
                  <a:srgbClr val="FFFFFF"/>
                </a:solidFill>
              </a:rPr>
              <a:t> e calcular no banco com </a:t>
            </a:r>
            <a:r>
              <a:rPr lang="en-US" sz="1400" b="1" dirty="0">
                <a:solidFill>
                  <a:srgbClr val="FFFFFF"/>
                </a:solidFill>
              </a:rPr>
              <a:t>code pushdown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Proteger, estender e anotar com </a:t>
            </a:r>
            <a:r>
              <a:rPr lang="en-US" sz="1400" b="1" dirty="0">
                <a:solidFill>
                  <a:srgbClr val="FFFFFF"/>
                </a:solidFill>
              </a:rPr>
              <a:t>DCL</a:t>
            </a:r>
            <a:r>
              <a:rPr lang="en-US" sz="1400" dirty="0">
                <a:solidFill>
                  <a:srgbClr val="FFFFFF"/>
                </a:solidFill>
              </a:rPr>
              <a:t>, extensões e </a:t>
            </a:r>
            <a:r>
              <a:rPr lang="en-US" sz="1400" b="1" dirty="0">
                <a:solidFill>
                  <a:srgbClr val="FFFFFF"/>
                </a:solidFill>
              </a:rPr>
              <a:t>metadata extensions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03.01  </a:t>
            </a:r>
            <a:r>
              <a:rPr lang="en-US" sz="1500" dirty="0">
                <a:solidFill>
                  <a:srgbClr val="FFFFFF"/>
                </a:solidFill>
              </a:rPr>
              <a:t>Modelagem no ABAP: Dicionário x CDS, code-to-data e VDM.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03.00 ABAP CDS: modelagem arquitetural</dc:title>
  <dc:subject>ABAP Moderno – Módulo 03: Modelagem de Dados com Dicionário e CDS</dc:subject>
  <dc:creator>Adriano Bispo</dc:creator>
  <cp:lastModifiedBy>Adriano Bispo</cp:lastModifiedBy>
  <cp:revision>1</cp:revision>
  <dcterms:created xsi:type="dcterms:W3CDTF">2026-10-29T13:35:59Z</dcterms:created>
  <dcterms:modified xsi:type="dcterms:W3CDTF">2026-10-29T13:35:59Z</dcterms:modified>
</cp:coreProperties>
</file>