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02 — Modelagem de Dados com Dicionário e CDS  ·  Visão geral do módulo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02 — Modelagem de Dados com Dicionário e CDS  ·  Visão geral do módulo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02 · VISÃO GERAL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ABAP CDS: modelagem arquitetural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Visão geral do módulo 02: como o Dicionário ABAP e o ABAP CDS formam a base de dados de toda aplicação moderna.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660674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9137469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614263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10091057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67851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44646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7 aulas neste módulo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02 — Modelagem de Dados com Dicionário e CDS · Design System SAP Horizon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Sete aulas, da tabela à view protegida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Modelagem no ABAP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Dicionário x CDS, code-to-data e VDM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7964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32556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255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3532556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 de banco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32556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DEFINE TABLE, chaves, tipos e ajustes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6351880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Tipos globais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51880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Domínios, data elements, estruturas e table types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06611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71203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1203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9171203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CDS views básicas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171203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View entities, anotações e views sobre views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Associações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Chaves estrangeiras, associações e path expressions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67964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532556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32556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2" name="Text 30"/>
          <p:cNvSpPr txBox="1"/>
          <p:nvPr/>
        </p:nvSpPr>
        <p:spPr>
          <a:xfrm>
            <a:off x="3532556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Code pushdown em CDS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3532556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Expressões, funções, parâmetros e agregações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87288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7" name="Text 35"/>
          <p:cNvSpPr txBox="1"/>
          <p:nvPr/>
        </p:nvSpPr>
        <p:spPr>
          <a:xfrm>
            <a:off x="6351880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Meta objetos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6351880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DCL, extensões e metadata extensions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Base oficial  </a:t>
            </a:r>
            <a:r>
              <a:rPr lang="en-US" sz="1200" dirty="0">
                <a:solidFill>
                  <a:srgbClr val="1D2D3E"/>
                </a:solidFill>
              </a:rPr>
              <a:t>o módulo segue o curso </a:t>
            </a:r>
            <a:r>
              <a:rPr lang="en-US" sz="1200" b="1" dirty="0">
                <a:solidFill>
                  <a:srgbClr val="1D2D3E"/>
                </a:solidFill>
              </a:rPr>
              <a:t>Building Data Models with the ABAP Dictionary and ABAP CDS (S4D430)</a:t>
            </a:r>
            <a:r>
              <a:rPr lang="en-US" sz="1200" dirty="0">
                <a:solidFill>
                  <a:srgbClr val="1D2D3E"/>
                </a:solidFill>
              </a:rPr>
              <a:t>.</a:t>
            </a:r>
            <a:endParaRPr lang="en-US" sz="140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6444" y="1847088"/>
            <a:ext cx="347472" cy="347472"/>
          </a:xfrm>
          <a:prstGeom prst="rect">
            <a:avLst/>
          </a:prstGeom>
        </p:spPr>
      </p:pic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091" y="1847088"/>
            <a:ext cx="347472" cy="347472"/>
          </a:xfrm>
          <a:prstGeom prst="rect">
            <a:avLst/>
          </a:prstGeom>
        </p:spPr>
      </p:pic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4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4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6444" y="3858768"/>
            <a:ext cx="347472" cy="347472"/>
          </a:xfrm>
          <a:prstGeom prst="rect">
            <a:avLst/>
          </a:prstGeom>
        </p:spPr>
      </p:pic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091" y="3858768"/>
            <a:ext cx="347472" cy="347472"/>
          </a:xfrm>
          <a:prstGeom prst="rect">
            <a:avLst/>
          </a:prstGeom>
        </p:spPr>
      </p:pic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módulo em números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2272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783080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70F2"/>
                </a:solidFill>
              </a:rPr>
              <a:t>7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514600"/>
            <a:ext cx="2220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Aulas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do Dicionário às extensões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72536" y="1645920"/>
            <a:ext cx="262272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73704" y="1783080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3E"/>
                </a:solidFill>
              </a:rPr>
              <a:t>S4D430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573704" y="2514600"/>
            <a:ext cx="2220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Curso oficial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SAP Learning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96432" y="1645920"/>
            <a:ext cx="262272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97600" y="1783080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3E"/>
                </a:solidFill>
              </a:rPr>
              <a:t>~21 h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397600" y="2514600"/>
            <a:ext cx="2220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Carga do curso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lições e exercícios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20327" y="1645920"/>
            <a:ext cx="262272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21495" y="1783080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3E"/>
                </a:solidFill>
              </a:rPr>
              <a:t>S4D401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221495" y="2514600"/>
            <a:ext cx="2220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Pré-requisito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módulo 04 deste guia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11094415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3931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508760" y="39776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Por que estudar depois do módulo 04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7200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 SAP exige os cursos básico e intermediário antes deste. Ele usa ABAP SQL avançado, autorizações e tipos que aparecem no módulo 04: por isso a ordem recomendada é </a:t>
            </a:r>
            <a:r>
              <a:rPr lang="en-US" sz="1200" b="1" dirty="0">
                <a:solidFill>
                  <a:srgbClr val="556B82"/>
                </a:solidFill>
              </a:rPr>
              <a:t>01 → 04 → 02 → 05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0" y="3977640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58000" y="3977640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Dicionário ABAP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59368" y="3977640"/>
            <a:ext cx="1825142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59368" y="3977640"/>
            <a:ext cx="182514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CDS view entities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858000" y="4416552"/>
            <a:ext cx="1342339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58000" y="4416552"/>
            <a:ext cx="13423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Associações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337499" y="4416552"/>
            <a:ext cx="1503274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37499" y="4416552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Code pushdown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977933" y="4416552"/>
            <a:ext cx="698602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977933" y="4416552"/>
            <a:ext cx="6986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DCL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58000" y="4855464"/>
            <a:ext cx="1181405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858000" y="4855464"/>
            <a:ext cx="118140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548"/>
                </a:solidFill>
              </a:rPr>
              <a:t>Extensões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176565" y="4855464"/>
            <a:ext cx="1986077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176565" y="4855464"/>
            <a:ext cx="198607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548"/>
                </a:solidFill>
              </a:rPr>
              <a:t>Metadata extensions</a:t>
            </a:r>
            <a:endParaRPr lang="en-US" sz="100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602" y="4042562"/>
            <a:ext cx="281635" cy="2816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MÓDULO 02 · VISÃO GERAL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Um modelo, três camadas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Tabelas guardam, views </a:t>
            </a:r>
            <a:r>
              <a:rPr lang="en-US" sz="1600" b="1" dirty="0">
                <a:solidFill>
                  <a:srgbClr val="D1EFFF"/>
                </a:solidFill>
              </a:rPr>
              <a:t>interpretam</a:t>
            </a:r>
            <a:r>
              <a:rPr lang="en-US" sz="1600" dirty="0">
                <a:solidFill>
                  <a:srgbClr val="D1EFFF"/>
                </a:solidFill>
              </a:rPr>
              <a:t> e meta objetos </a:t>
            </a:r>
            <a:r>
              <a:rPr lang="en-US" sz="1600" b="1" dirty="0">
                <a:solidFill>
                  <a:srgbClr val="D1EFFF"/>
                </a:solidFill>
              </a:rPr>
              <a:t>protegem e anotam</a:t>
            </a:r>
            <a:r>
              <a:rPr lang="en-US" sz="1600" dirty="0">
                <a:solidFill>
                  <a:srgbClr val="D1EFFF"/>
                </a:solidFill>
              </a:rPr>
              <a:t>. Cada aula constrói uma parte desse modelo.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1837944"/>
          </a:xfrm>
          <a:prstGeom prst="roundRect">
            <a:avLst>
              <a:gd name="adj" fmla="val 497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Persistência</a:t>
            </a:r>
            <a:r>
              <a:rPr lang="en-US" sz="1000" dirty="0">
                <a:solidFill>
                  <a:srgbClr val="D1EFFF"/>
                </a:solidFill>
              </a:rPr>
              <a:t>  02.02 · 02.03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 virtual</a:t>
            </a:r>
            <a:r>
              <a:rPr lang="en-US" sz="1000" dirty="0">
                <a:solidFill>
                  <a:srgbClr val="D1EFFF"/>
                </a:solidFill>
              </a:rPr>
              <a:t>  02.04 – 02.06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 objetos</a:t>
            </a:r>
            <a:r>
              <a:rPr lang="en-US" sz="1000" dirty="0">
                <a:solidFill>
                  <a:srgbClr val="D1EFFF"/>
                </a:solidFill>
              </a:rPr>
              <a:t>  02.07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· O CAMINHO DO DADO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campo da tabela ao elemento anotado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Domínio e data element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Tipo técnico e significado (02.03)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86786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3425114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16554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Tabela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Chaves, moeda e campos administrativos (02.02)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63260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0" name="Shape 8"/>
          <p:cNvSpPr/>
          <p:nvPr/>
        </p:nvSpPr>
        <p:spPr>
          <a:xfrm>
            <a:off x="6301588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93028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CDS view entity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Nomes, cálculos e associações (02.04 – 02.06)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839733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3" name="Shape 11"/>
          <p:cNvSpPr/>
          <p:nvPr/>
        </p:nvSpPr>
        <p:spPr>
          <a:xfrm>
            <a:off x="9178061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30914C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69501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56F3A"/>
                </a:solidFill>
              </a:rPr>
              <a:t>Meta objetos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DCL, extensões e anotações (02.07)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Code pushdown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Cálculos e agregações rodam no SAP HANA, perto dos dados.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22978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05858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05858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Join on demand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Associações só viram join quando usadas em path expressions.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97317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80197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80197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Base do RAP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As views deste módulo são a estrutura dos business objects.</a:t>
            </a:r>
            <a:endParaRPr lang="en-US" sz="14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8257" y="2084832"/>
            <a:ext cx="365760" cy="365760"/>
          </a:xfrm>
          <a:prstGeom prst="rect">
            <a:avLst/>
          </a:prstGeom>
        </p:spPr>
      </p:pic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4731" y="2084832"/>
            <a:ext cx="365760" cy="365760"/>
          </a:xfrm>
          <a:prstGeom prst="rect">
            <a:avLst/>
          </a:prstGeom>
        </p:spPr>
      </p:pic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205" y="2084832"/>
            <a:ext cx="365760" cy="365760"/>
          </a:xfrm>
          <a:prstGeom prst="rect">
            <a:avLst/>
          </a:prstGeom>
        </p:spPr>
      </p:pic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7678" y="2084832"/>
            <a:ext cx="365760" cy="365760"/>
          </a:xfrm>
          <a:prstGeom prst="rect">
            <a:avLst/>
          </a:prstGeom>
        </p:spPr>
      </p:pic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034" y="3928994"/>
            <a:ext cx="225308" cy="225308"/>
          </a:xfrm>
          <a:prstGeom prst="rect">
            <a:avLst/>
          </a:prstGeom>
        </p:spPr>
      </p:pic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372" y="3928994"/>
            <a:ext cx="225308" cy="225308"/>
          </a:xfrm>
          <a:prstGeom prst="rect">
            <a:avLst/>
          </a:prstGeom>
        </p:spPr>
      </p:pic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8711" y="3928994"/>
            <a:ext cx="225308" cy="2253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· UM GOSTINHO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Uma view que usa quase todo o módulo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308610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308610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903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zs4d430_c_employeequery.ddls.asddls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ZS4D430_## › Core Data Services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@AccessControl.authorizationCheck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#CHECK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@Metadata.allowExtensions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ZS4D430_C_EmployeeQuery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ZS4D430_R_Employee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concat_with_space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_Department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DepartmentName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dats_days_between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$parameters.p_date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DaysInCompany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_Department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Proteção · 02.07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#CHECK</a:t>
            </a:r>
            <a:r>
              <a:rPr lang="en-US" sz="1050" dirty="0">
                <a:solidFill>
                  <a:srgbClr val="556B82"/>
                </a:solidFill>
              </a:rPr>
              <a:t> exige um papel CDS que filtre a leitura.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Parâmetro · 02.06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p_date</a:t>
            </a:r>
            <a:r>
              <a:rPr lang="en-US" sz="1050" dirty="0">
                <a:solidFill>
                  <a:srgbClr val="556B82"/>
                </a:solidFill>
              </a:rPr>
              <a:t> torna a data de referência obrigatória.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Path expression · 02.05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_Department.Description</a:t>
            </a:r>
            <a:r>
              <a:rPr lang="en-US" sz="1050" dirty="0">
                <a:solidFill>
                  <a:srgbClr val="556B82"/>
                </a:solidFill>
              </a:rPr>
              <a:t> lê pela associação.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Funções · 02.06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Texto e datas calculados no banco.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DO MÓDULO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este módulo vai ensinar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Distinguir as tarefas do </a:t>
            </a:r>
            <a:r>
              <a:rPr lang="en-US" sz="1400" b="1" dirty="0">
                <a:solidFill>
                  <a:srgbClr val="FFFFFF"/>
                </a:solidFill>
              </a:rPr>
              <a:t>Dicionário ABAP</a:t>
            </a:r>
            <a:r>
              <a:rPr lang="en-US" sz="1400" dirty="0">
                <a:solidFill>
                  <a:srgbClr val="FFFFFF"/>
                </a:solidFill>
              </a:rPr>
              <a:t> e do </a:t>
            </a:r>
            <a:r>
              <a:rPr lang="en-US" sz="1400" b="1" dirty="0">
                <a:solidFill>
                  <a:srgbClr val="FFFFFF"/>
                </a:solidFill>
              </a:rPr>
              <a:t>ABAP CDS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Criar </a:t>
            </a:r>
            <a:r>
              <a:rPr lang="en-US" sz="1400" b="1" dirty="0">
                <a:solidFill>
                  <a:srgbClr val="FFFFFF"/>
                </a:solidFill>
              </a:rPr>
              <a:t>tabelas</a:t>
            </a:r>
            <a:r>
              <a:rPr lang="en-US" sz="1400" dirty="0">
                <a:solidFill>
                  <a:srgbClr val="FFFFFF"/>
                </a:solidFill>
              </a:rPr>
              <a:t> com chaves, moeda, unidade e configurações técnicas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Definir </a:t>
            </a:r>
            <a:r>
              <a:rPr lang="en-US" sz="1400" b="1" dirty="0">
                <a:solidFill>
                  <a:srgbClr val="FFFFFF"/>
                </a:solidFill>
              </a:rPr>
              <a:t>domínios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b="1" dirty="0">
                <a:solidFill>
                  <a:srgbClr val="FFFFFF"/>
                </a:solidFill>
              </a:rPr>
              <a:t>data elements</a:t>
            </a:r>
            <a:r>
              <a:rPr lang="en-US" sz="1400" dirty="0">
                <a:solidFill>
                  <a:srgbClr val="FFFFFF"/>
                </a:solidFill>
              </a:rPr>
              <a:t>, estruturas e table types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Construir </a:t>
            </a:r>
            <a:r>
              <a:rPr lang="en-US" sz="1400" b="1" dirty="0">
                <a:solidFill>
                  <a:srgbClr val="FFFFFF"/>
                </a:solidFill>
              </a:rPr>
              <a:t>CDS view entities</a:t>
            </a:r>
            <a:r>
              <a:rPr lang="en-US" sz="1400" dirty="0">
                <a:solidFill>
                  <a:srgbClr val="FFFFFF"/>
                </a:solidFill>
              </a:rPr>
              <a:t> em camadas, com anotações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Relacionar views com </a:t>
            </a:r>
            <a:r>
              <a:rPr lang="en-US" sz="1400" b="1" dirty="0">
                <a:solidFill>
                  <a:srgbClr val="FFFFFF"/>
                </a:solidFill>
              </a:rPr>
              <a:t>associações</a:t>
            </a:r>
            <a:r>
              <a:rPr lang="en-US" sz="1400" dirty="0">
                <a:solidFill>
                  <a:srgbClr val="FFFFFF"/>
                </a:solidFill>
              </a:rPr>
              <a:t> e calcular no banco com </a:t>
            </a:r>
            <a:r>
              <a:rPr lang="en-US" sz="1400" b="1" dirty="0">
                <a:solidFill>
                  <a:srgbClr val="FFFFFF"/>
                </a:solidFill>
              </a:rPr>
              <a:t>code pushdown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Proteger, estender e anotar com </a:t>
            </a:r>
            <a:r>
              <a:rPr lang="en-US" sz="1400" b="1" dirty="0">
                <a:solidFill>
                  <a:srgbClr val="FFFFFF"/>
                </a:solidFill>
              </a:rPr>
              <a:t>DCL</a:t>
            </a:r>
            <a:r>
              <a:rPr lang="en-US" sz="1400" dirty="0">
                <a:solidFill>
                  <a:srgbClr val="FFFFFF"/>
                </a:solidFill>
              </a:rPr>
              <a:t>, extensões e </a:t>
            </a:r>
            <a:r>
              <a:rPr lang="en-US" sz="1400" b="1" dirty="0">
                <a:solidFill>
                  <a:srgbClr val="FFFFFF"/>
                </a:solidFill>
              </a:rPr>
              <a:t>metadata extensions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02.01  </a:t>
            </a:r>
            <a:r>
              <a:rPr lang="en-US" sz="1500" dirty="0">
                <a:solidFill>
                  <a:srgbClr val="FFFFFF"/>
                </a:solidFill>
              </a:rPr>
              <a:t>Modelagem no ABAP: Dicionário x CDS, code-to-data e VDM.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02.00 ABAP CDS: modelagem arquitetural</dc:title>
  <dc:subject>ABAP Moderno – Módulo 02: Modelagem de Dados com Dicionário e CDS</dc:subject>
  <dc:creator>Adriano Bispo</dc:creator>
  <cp:lastModifiedBy>Adriano Bispo</cp:lastModifiedBy>
  <cp:revision>1</cp:revision>
  <dcterms:created xsi:type="dcterms:W3CDTF">2026-10-29T01:06:44Z</dcterms:created>
  <dcterms:modified xsi:type="dcterms:W3CDTF">2026-10-29T01:06:44Z</dcterms:modified>
</cp:coreProperties>
</file>