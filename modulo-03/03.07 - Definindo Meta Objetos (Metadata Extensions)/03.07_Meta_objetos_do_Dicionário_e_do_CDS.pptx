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Modelagem de Dados com Dicionário e CDS  ·  Aula 7 de 7 — Meta objetos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Modelagem de Dados com Dicionário e CDS  ·  Aula 7 de 7 — Meta objetos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07 DE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Meta objetos do Dicionário e do CDS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Controle de acesso com CDS DCL, extensões de tabelas e views e metadata extensions em camadas.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7 de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7 aulas: Dicionário e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27368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27368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protegemos a leitura dos clientes por UF, estendemos o item de estoque sem alterá-lo e separamos as anotações de UI da view, como o projeto Pedidos de Compras faz em todos os apps.</a:t>
            </a:r>
            <a:endParaRPr lang="en-US" sz="14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Objetos que acompanham o modelo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Além de tabelas e views, o modelo precisa de objetos que </a:t>
            </a:r>
            <a:r>
              <a:rPr lang="en-US" sz="1500" b="1" dirty="0">
                <a:solidFill>
                  <a:srgbClr val="556B82"/>
                </a:solidFill>
              </a:rPr>
              <a:t>protegem</a:t>
            </a:r>
            <a:r>
              <a:rPr lang="en-US" sz="1500" dirty="0">
                <a:solidFill>
                  <a:srgbClr val="556B82"/>
                </a:solidFill>
              </a:rPr>
              <a:t>, </a:t>
            </a:r>
            <a:r>
              <a:rPr lang="en-US" sz="1500" b="1" dirty="0">
                <a:solidFill>
                  <a:srgbClr val="556B82"/>
                </a:solidFill>
              </a:rPr>
              <a:t>estendem</a:t>
            </a:r>
            <a:r>
              <a:rPr lang="en-US" sz="1500" dirty="0">
                <a:solidFill>
                  <a:srgbClr val="556B82"/>
                </a:solidFill>
              </a:rPr>
              <a:t> e </a:t>
            </a:r>
            <a:r>
              <a:rPr lang="en-US" sz="1500" b="1" dirty="0">
                <a:solidFill>
                  <a:srgbClr val="556B82"/>
                </a:solidFill>
              </a:rPr>
              <a:t>anotam</a:t>
            </a:r>
            <a:r>
              <a:rPr lang="en-US" sz="1500" dirty="0">
                <a:solidFill>
                  <a:srgbClr val="556B82"/>
                </a:solidFill>
              </a:rPr>
              <a:t> sem mexer na definição original.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Access control (DCL)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Filtra as linhas que cada usuário pode ler de uma CDS view, com base em autorizações.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Extensões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56B82"/>
                </a:solidFill>
              </a:rPr>
              <a:t>Append structures</a:t>
            </a:r>
            <a:r>
              <a:rPr lang="en-US" sz="1300" dirty="0">
                <a:solidFill>
                  <a:srgbClr val="556B82"/>
                </a:solidFill>
              </a:rPr>
              <a:t> e </a:t>
            </a:r>
            <a:r>
              <a:rPr lang="en-US" sz="1300" i="1" dirty="0">
                <a:solidFill>
                  <a:srgbClr val="556B82"/>
                </a:solidFill>
              </a:rPr>
              <a:t>CDS view extensions</a:t>
            </a:r>
            <a:r>
              <a:rPr lang="en-US" sz="1300" dirty="0">
                <a:solidFill>
                  <a:srgbClr val="556B82"/>
                </a:solidFill>
              </a:rPr>
              <a:t> acrescentam campos a objetos de outro dono.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Metadata extensions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Guardam anotações fora da data definition, em camadas que podem se sobrepor.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417951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417951"/>
            <a:ext cx="256032" cy="25603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41795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03.07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Protegendo a leitura com CDS DCL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Para </a:t>
            </a:r>
            <a:r>
              <a:rPr lang="en-US" sz="1600" b="1" dirty="0">
                <a:solidFill>
                  <a:srgbClr val="D1EFFF"/>
                </a:solidFill>
              </a:rPr>
              <a:t>escrita</a:t>
            </a:r>
            <a:r>
              <a:rPr lang="en-US" sz="1600" dirty="0">
                <a:solidFill>
                  <a:srgbClr val="D1EFFF"/>
                </a:solidFill>
              </a:rPr>
              <a:t>, use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r>
              <a:rPr lang="en-US" sz="1600" dirty="0">
                <a:solidFill>
                  <a:srgbClr val="D1EFFF"/>
                </a:solidFill>
              </a:rPr>
              <a:t> no código. Para </a:t>
            </a:r>
            <a:r>
              <a:rPr lang="en-US" sz="1600" b="1" dirty="0">
                <a:solidFill>
                  <a:srgbClr val="D1EFFF"/>
                </a:solidFill>
              </a:rPr>
              <a:t>leitura</a:t>
            </a:r>
            <a:r>
              <a:rPr lang="en-US" sz="1600" dirty="0">
                <a:solidFill>
                  <a:srgbClr val="D1EFFF"/>
                </a:solidFill>
              </a:rPr>
              <a:t>, a primeira escolha é um </a:t>
            </a:r>
            <a:r>
              <a:rPr lang="en-US" sz="1600" b="1" dirty="0">
                <a:solidFill>
                  <a:srgbClr val="D1EFFF"/>
                </a:solidFill>
              </a:rPr>
              <a:t>CDS access control</a:t>
            </a:r>
            <a:r>
              <a:rPr lang="en-US" sz="1600" dirty="0">
                <a:solidFill>
                  <a:srgbClr val="D1EFFF"/>
                </a:solidFill>
              </a:rPr>
              <a:t> na view.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field</a:t>
            </a:r>
            <a:r>
              <a:rPr lang="en-US" sz="1000" dirty="0">
                <a:solidFill>
                  <a:srgbClr val="D1EFFF"/>
                </a:solidFill>
              </a:rPr>
              <a:t>  até 10 caracteres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object</a:t>
            </a:r>
            <a:r>
              <a:rPr lang="en-US" sz="1000" dirty="0">
                <a:solidFill>
                  <a:srgbClr val="D1EFFF"/>
                </a:solidFill>
              </a:rPr>
              <a:t>  até 10 campos + ACTVT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role</a:t>
            </a:r>
            <a:r>
              <a:rPr lang="en-US" sz="1000" dirty="0">
                <a:solidFill>
                  <a:srgbClr val="D1EFFF"/>
                </a:solidFill>
              </a:rPr>
              <a:t>  papel CDS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 pfcg_auth</a:t>
            </a:r>
            <a:r>
              <a:rPr lang="en-US" sz="1000" dirty="0">
                <a:solidFill>
                  <a:srgbClr val="D1EFFF"/>
                </a:solidFill>
              </a:rPr>
              <a:t>  condição PFCG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AUTORIZAÇÃO · PREPARAÇÃO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campo de autorização ao papel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939796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59232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5923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461004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643884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Procurar o que existe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where-used dos seus data elements mostra campos de autorização já existentes.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59232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5923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461004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643884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Authorization field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Nome de até 10 caracteres, baseado em um data element, de preferência com check table.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59232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5923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461004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643884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Authorization object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Agrupa até 10 campos; inclui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</a:t>
            </a:r>
            <a:r>
              <a:rPr lang="en-US" sz="1150" dirty="0">
                <a:solidFill>
                  <a:srgbClr val="556B82"/>
                </a:solidFill>
              </a:rPr>
              <a:t> (01 criar, 02 alterar, 03 ler, 06 apagar). Basta salvar.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59232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5923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461004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643884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Access control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Botão direito na data definition → </a:t>
            </a:r>
            <a:r>
              <a:rPr lang="en-US" sz="1150" b="1" dirty="0">
                <a:solidFill>
                  <a:srgbClr val="556B82"/>
                </a:solidFill>
              </a:rPr>
              <a:t>New Access Control</a:t>
            </a:r>
            <a:r>
              <a:rPr lang="en-US" sz="1150" dirty="0">
                <a:solidFill>
                  <a:srgbClr val="556B82"/>
                </a:solidFill>
              </a:rPr>
              <a:t>, template </a:t>
            </a:r>
            <a:r>
              <a:rPr lang="en-US" sz="1150" i="1" dirty="0">
                <a:solidFill>
                  <a:srgbClr val="556B82"/>
                </a:solidFill>
              </a:rPr>
              <a:t>Define Role with PFCG Aspect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728" y="3616452"/>
            <a:ext cx="329184" cy="329184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3616452"/>
            <a:ext cx="329184" cy="329184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3616452"/>
            <a:ext cx="329184" cy="329184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519" y="3616452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AUTORIZAÇÃO · PAPEL CDS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Só os clientes das UFs que o usuário pode 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zc_pc_cliente_app.dcls.asdcls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Roteiro opcional de DCL do projeto (abap/README.md, seções 7.5 e 7.6)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'Acesso aos clientes'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@MappingRole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ZC_PC_CLIENTE_APP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UfPrincipal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pfcg_auth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ZPC_ADMIN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ZPC_UF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'03'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ZC_PC_CLIENTE_ANALISE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ZC_PC_CLIENTE_ANALISE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 o papel à view; a cada leitura, o filtro é aplicado.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 pfcg_auth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Compara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UfPrincipal</a:t>
            </a:r>
            <a:r>
              <a:rPr lang="en-US" sz="1050" dirty="0">
                <a:solidFill>
                  <a:srgbClr val="556B82"/>
                </a:solidFill>
              </a:rPr>
              <a:t> com o campo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ZPC_UF</a:t>
            </a:r>
            <a:r>
              <a:rPr lang="en-US" sz="1050" dirty="0">
                <a:solidFill>
                  <a:srgbClr val="556B82"/>
                </a:solidFill>
              </a:rPr>
              <a:t> das autorizações do usuário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ZPC_ADMIN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ACTVT = '03'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autorizações de leitura contam.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Herança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Views sobre views reutilizam as condições da view de baixo.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AUTORIZAÇÃO · NA 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@AccessControl.authorizationCheck controla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907792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930442"/>
                <a:gridCol w="7889653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Efeito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#NOT_REQUIRED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Checa se houver papel; sem aviso se não houver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#CHECK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Como acima, mas avisa na sintaxe se nenhum papel proteger a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#MANDATORY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Como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#CHECK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e erro em tempo de execução se não houver papel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#NOT_ALLOWED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Nenhuma checagem; um papel atribuído gera aviso e é ignorado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#PRIVILEGED_ONLY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 view deve ser lida com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 PRIVILEGED ACCESS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365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73659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Alcance  </a:t>
            </a:r>
            <a:r>
              <a:rPr lang="en-US" sz="1200" dirty="0">
                <a:solidFill>
                  <a:srgbClr val="1D2D3E"/>
                </a:solidFill>
              </a:rPr>
              <a:t>o DCL vale quando o </a:t>
            </a:r>
            <a:r>
              <a:rPr lang="en-US" sz="1200" b="1" dirty="0">
                <a:solidFill>
                  <a:srgbClr val="1D2D3E"/>
                </a:solidFill>
              </a:rPr>
              <a:t>ABAP SQL</a:t>
            </a:r>
            <a:r>
              <a:rPr lang="en-US" sz="1200" dirty="0">
                <a:solidFill>
                  <a:srgbClr val="1D2D3E"/>
                </a:solidFill>
              </a:rPr>
              <a:t> lê a view direta ou indiretamente; acessos que não passam pelo ABAP não são filtrados.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86460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03.07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Estendendo objetos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dono de uma tabela ou view controla </a:t>
            </a:r>
            <a:r>
              <a:rPr lang="en-US" sz="1600" b="1" dirty="0">
                <a:solidFill>
                  <a:srgbClr val="D1EFFF"/>
                </a:solidFill>
              </a:rPr>
              <a:t>se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como</a:t>
            </a:r>
            <a:r>
              <a:rPr lang="en-US" sz="1600" dirty="0">
                <a:solidFill>
                  <a:srgbClr val="D1EFFF"/>
                </a:solidFill>
              </a:rPr>
              <a:t> ela pode ser estendida; o cliente cria um objeto próprio que aponta para o original.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 type</a:t>
            </a:r>
            <a:r>
              <a:rPr lang="en-US" sz="1000" dirty="0">
                <a:solidFill>
                  <a:srgbClr val="D1EFFF"/>
                </a:solidFill>
              </a:rPr>
              <a:t>  append structure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 view entity</a:t>
            </a:r>
            <a:r>
              <a:rPr lang="en-US" sz="1000" dirty="0">
                <a:solidFill>
                  <a:srgbClr val="D1EFFF"/>
                </a:solidFill>
              </a:rPr>
              <a:t>  extensão de view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 · YY</a:t>
            </a:r>
            <a:r>
              <a:rPr lang="en-US" sz="1000" dirty="0">
                <a:solidFill>
                  <a:srgbClr val="D1EFFF"/>
                </a:solidFill>
              </a:rPr>
              <a:t>  namespace do cliente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 views</a:t>
            </a:r>
            <a:r>
              <a:rPr lang="en-US" sz="1000" dirty="0">
                <a:solidFill>
                  <a:srgbClr val="D1EFFF"/>
                </a:solidFill>
              </a:rPr>
              <a:t>  extension includes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EXTENSÕES · DUAS TÉCNICAS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Append structure e CDS view extension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18842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618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Dicionário: append structure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76479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76479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zzpc_ext_item.tabl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'Extensão do item de estoque'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zzpc_ext_item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zzgarantia_meses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Ao ativar, o campo passa a existir na tabela. Para isso,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r>
              <a:rPr lang="en-US" sz="1200" dirty="0">
                <a:solidFill>
                  <a:srgbClr val="556B82"/>
                </a:solidFill>
              </a:rPr>
              <a:t> precisaria trocar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r>
              <a:rPr lang="en-US" sz="1200" dirty="0">
                <a:solidFill>
                  <a:srgbClr val="556B82"/>
                </a:solidFill>
              </a:rPr>
              <a:t> por uma categoria extensível.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894637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894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CDS: view extension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zx_pc_item.ddls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zzgarantia_meses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ZZGarantiaMeses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Endereça os campos pela </a:t>
            </a:r>
            <a:r>
              <a:rPr lang="en-US" sz="1200" b="1" dirty="0">
                <a:solidFill>
                  <a:srgbClr val="556B82"/>
                </a:solidFill>
              </a:rPr>
              <a:t>fonte</a:t>
            </a:r>
            <a:r>
              <a:rPr lang="en-US" sz="1200" dirty="0">
                <a:solidFill>
                  <a:srgbClr val="556B82"/>
                </a:solidFill>
              </a:rPr>
              <a:t> da view original e pode adicionar e expor novas associações. Campos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</a:t>
            </a:r>
            <a:r>
              <a:rPr lang="en-US" sz="1200" dirty="0">
                <a:solidFill>
                  <a:srgbClr val="556B82"/>
                </a:solidFill>
              </a:rPr>
              <a:t>/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</a:t>
            </a:r>
            <a:r>
              <a:rPr lang="en-US" sz="1200" dirty="0">
                <a:solidFill>
                  <a:srgbClr val="556B82"/>
                </a:solidFill>
              </a:rPr>
              <a:t> nunca colidem com os entregues pela SAP.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EXTENSÕES · CONTROLE DO DONO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Anotações que liberam ou restringem extensões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852928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4959210"/>
                <a:gridCol w="586088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Anotação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Efeito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@AbapCatalog.enhancement.category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Tabelas e estruturas: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#NOT_EXTENSIBLE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#EXTENSIBLE_CHARACTER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#EXTENSIBLE_ANY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…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@AbapCatalog.enhancement.fieldSuffix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Sufixo obrigatório nos campos das extensões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@AbapCatalog.enhancement.quotaMaximumFields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Reserva de campos para clientes e parceiros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@AbapCatalog.extensibility.extensible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Views: permite ou não extensões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@AbapCatalog.extensibility.dataSources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 quais fontes as extensões podem ler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817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81728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ABAP Cloud  </a:t>
            </a:r>
            <a:r>
              <a:rPr lang="en-US" sz="1200" dirty="0">
                <a:solidFill>
                  <a:srgbClr val="1D2D3E"/>
                </a:solidFill>
              </a:rPr>
              <a:t>só objetos que a SAP liberou para extensão (contrato </a:t>
            </a:r>
            <a:r>
              <a:rPr lang="en-US" sz="1200" b="1" dirty="0">
                <a:solidFill>
                  <a:srgbClr val="1D2D3E"/>
                </a:solidFill>
              </a:rPr>
              <a:t>C0</a:t>
            </a:r>
            <a:r>
              <a:rPr lang="en-US" sz="1200" dirty="0">
                <a:solidFill>
                  <a:srgbClr val="1D2D3E"/>
                </a:solidFill>
              </a:rPr>
              <a:t>) podem ser estendidos. A SAP costuma exigir a extensão via </a:t>
            </a:r>
            <a:r>
              <a:rPr lang="en-US" sz="1200" b="1" dirty="0">
                <a:solidFill>
                  <a:srgbClr val="1D2D3E"/>
                </a:solidFill>
              </a:rPr>
              <a:t>extension include</a:t>
            </a:r>
            <a:r>
              <a:rPr lang="en-US" sz="1200" dirty="0">
                <a:solidFill>
                  <a:srgbClr val="1D2D3E"/>
                </a:solidFill>
              </a:rPr>
              <a:t> (views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</a:t>
            </a:r>
            <a:r>
              <a:rPr lang="en-US" sz="1200" dirty="0">
                <a:solidFill>
                  <a:srgbClr val="1D2D3E"/>
                </a:solidFill>
              </a:rPr>
              <a:t>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809744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03.07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Metadata extensions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</a:t>
            </a:r>
            <a:r>
              <a:rPr lang="en-US" sz="1600" b="1" dirty="0">
                <a:solidFill>
                  <a:srgbClr val="D1EFFF"/>
                </a:solidFill>
              </a:rPr>
              <a:t>metadata extension</a:t>
            </a:r>
            <a:r>
              <a:rPr lang="en-US" sz="1600" dirty="0">
                <a:solidFill>
                  <a:srgbClr val="D1EFFF"/>
                </a:solidFill>
              </a:rPr>
              <a:t> guarda anotações de uma entidade em um objeto separado, deixando a view enxuta e permitindo sobreposições.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allowExtensions: true</a:t>
            </a:r>
            <a:r>
              <a:rPr lang="en-US" sz="1000" dirty="0">
                <a:solidFill>
                  <a:srgbClr val="D1EFFF"/>
                </a:solidFill>
              </a:rPr>
              <a:t>  na view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 entity</a:t>
            </a:r>
            <a:r>
              <a:rPr lang="en-US" sz="1000" dirty="0">
                <a:solidFill>
                  <a:srgbClr val="D1EFFF"/>
                </a:solidFill>
              </a:rPr>
              <a:t>  na extensão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000" dirty="0">
                <a:solidFill>
                  <a:srgbClr val="D1EFFF"/>
                </a:solidFill>
              </a:rPr>
              <a:t>  obrigatória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 → #CUSTOMER</a:t>
            </a:r>
            <a:r>
              <a:rPr lang="en-US" sz="1000" dirty="0">
                <a:solidFill>
                  <a:srgbClr val="D1EFFF"/>
                </a:solidFill>
              </a:rPr>
              <a:t>  prioridade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METADATA · DEFINIÇÃO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Anotações fora da data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46430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46430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zc_pc_item_app.ddlx.asddlxs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ZAVBS_PC_ESTOQUE › ZC_PC_ITEM_APP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 (gerado automaticamente)'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Pré-requisito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view precisa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@Metadata.allowExtensions: true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Só anotações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Não cria elementos: anota os que já existem na entidade.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Nem toda anotação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Valem sobretudo as de UI, analytics e busca.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Refatoração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ADT extrai as anotações da view para uma metadata extension.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METADATA ·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Quem vence quando as anotações conflitam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77614" y="2564892"/>
            <a:ext cx="903646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30142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0142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086100"/>
            <a:ext cx="2057949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268980"/>
            <a:ext cx="1692189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#CORE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Menor prioridade. Boa prática no RAP: anotações de UI ficam aqui.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9259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89259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2807757" y="3086100"/>
            <a:ext cx="2057949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0637" y="3268980"/>
            <a:ext cx="1692189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#LOCALIZATION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Sobrepõe só #CORE.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48376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48376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5066873" y="3086100"/>
            <a:ext cx="2057949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49753" y="3268980"/>
            <a:ext cx="1692189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#INDUSTRY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Sobrepõe #LOCALIZATION e #CORE.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7492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7492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7325990" y="3086100"/>
            <a:ext cx="2057949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08870" y="3268980"/>
            <a:ext cx="1692189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#PARTNER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Sobrepõe todas, exceto #CUSTOMER.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66609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66609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5</a:t>
            </a:r>
            <a:endParaRPr lang="en-US" sz="2280" dirty="0"/>
          </a:p>
        </p:txBody>
      </p:sp>
      <p:sp>
        <p:nvSpPr>
          <p:cNvPr id="23" name="Shape 21"/>
          <p:cNvSpPr/>
          <p:nvPr/>
        </p:nvSpPr>
        <p:spPr>
          <a:xfrm>
            <a:off x="9585107" y="3086100"/>
            <a:ext cx="2057949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767987" y="3268980"/>
            <a:ext cx="1692189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#CUSTOMER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Maior prioridade: sobrepõe todas as outras.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337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0337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Limite  </a:t>
            </a:r>
            <a:r>
              <a:rPr lang="en-US" sz="1200" dirty="0">
                <a:solidFill>
                  <a:srgbClr val="1D2D3E"/>
                </a:solidFill>
              </a:rPr>
              <a:t>no máximo uma metadata extension por camada para cada entidade: até cinco por view.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1617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03.07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Leitura é protegida por </a:t>
            </a:r>
            <a:r>
              <a:rPr lang="en-US" sz="1400" b="1" dirty="0">
                <a:solidFill>
                  <a:srgbClr val="FFFFFF"/>
                </a:solidFill>
              </a:rPr>
              <a:t>CDS access controls</a:t>
            </a:r>
            <a:r>
              <a:rPr lang="en-US" sz="1400" dirty="0">
                <a:solidFill>
                  <a:srgbClr val="FFFFFF"/>
                </a:solidFill>
              </a:rPr>
              <a:t>; escrita, por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Papéis CDS usam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role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</a:t>
            </a:r>
            <a:r>
              <a:rPr lang="en-US" sz="1400" dirty="0">
                <a:solidFill>
                  <a:srgbClr val="FFFFFF"/>
                </a:solidFill>
              </a:rPr>
              <a:t> e condições </a:t>
            </a:r>
            <a:r>
              <a:rPr lang="en-US" sz="1400" b="1" dirty="0">
                <a:solidFill>
                  <a:srgbClr val="FFFFFF"/>
                </a:solidFill>
              </a:rPr>
              <a:t>PFCG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b="1" dirty="0">
                <a:solidFill>
                  <a:srgbClr val="FFFFFF"/>
                </a:solidFill>
              </a:rPr>
              <a:t>herdadas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400" dirty="0">
                <a:solidFill>
                  <a:srgbClr val="FFFFFF"/>
                </a:solidFill>
              </a:rPr>
              <a:t> define como a view reage à falta de um papel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Append structures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CDS view extensions</a:t>
            </a:r>
            <a:r>
              <a:rPr lang="en-US" sz="1400" dirty="0">
                <a:solidFill>
                  <a:srgbClr val="FFFFFF"/>
                </a:solidFill>
              </a:rPr>
              <a:t> acrescentam campos sem alterar o original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dono controla extensões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enhancement.*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extensibility.*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Metadata extensions</a:t>
            </a:r>
            <a:r>
              <a:rPr lang="en-US" sz="1400" dirty="0">
                <a:solidFill>
                  <a:srgbClr val="FFFFFF"/>
                </a:solidFill>
              </a:rPr>
              <a:t> separam anotações em camadas, de #CORE a #CUSTOMER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etapa  </a:t>
            </a:r>
            <a:r>
              <a:rPr lang="en-US" sz="1500" dirty="0">
                <a:solidFill>
                  <a:srgbClr val="FFFFFF"/>
                </a:solidFill>
              </a:rPr>
              <a:t>Módulo 04: extensibilidade Clean Core no S/4HANA.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03.07 Meta objetos do Dicionário e do CDS</dc:title>
  <dc:subject>ABAP Moderno – Módulo 03: Modelagem de Dados com Dicionário e CDS</dc:subject>
  <dc:creator>Adriano Bispo</dc:creator>
  <cp:lastModifiedBy>Adriano Bispo</cp:lastModifiedBy>
  <cp:revision>1</cp:revision>
  <dcterms:created xsi:type="dcterms:W3CDTF">2026-10-29T13:36:35Z</dcterms:created>
  <dcterms:modified xsi:type="dcterms:W3CDTF">2026-10-29T13:36:35Z</dcterms:modified>
</cp:coreProperties>
</file>