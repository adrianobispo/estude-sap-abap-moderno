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03.10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03  ·  03.10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03  ·  03.10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Fim do Dilema: Dominando o Flexible Programming Model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Como construir aplicativos SAP Fiori que são rápidos, estáveis e flexíveis.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&lt;macros:Table&gt;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Extension 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Controller Extension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ExtensionAPI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Page Map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Dilema Histórico no Desenvolvimento Fiori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46C76"/>
                </a:solidFill>
              </a:rPr>
              <a:t>Fiori Elements Padrão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Vantagens:</a:t>
            </a:r>
            <a:r>
              <a:rPr lang="en-US" sz="1600" dirty="0">
                <a:solidFill>
                  <a:srgbClr val="1D2D3E"/>
                </a:solidFill>
              </a:rPr>
              <a:t> desenvolvimento extremamente rápido, baixo custo de manutenção, estabilidade garantida.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Desvantagem:</a:t>
            </a:r>
            <a:r>
              <a:rPr lang="en-US" sz="1600" dirty="0">
                <a:solidFill>
                  <a:srgbClr val="1D2D3E"/>
                </a:solidFill>
              </a:rPr>
              <a:t> uma ‘caixa preta’. Requisitos fora do padrão eram impossíveis ou exigiam ‘hacks’ perigosos que quebravam em atualizações.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F00"/>
                </a:solidFill>
              </a:rPr>
              <a:t>Freestyle UI5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Vantagens:</a:t>
            </a:r>
            <a:r>
              <a:rPr lang="en-US" sz="1600" dirty="0">
                <a:solidFill>
                  <a:srgbClr val="1D2D3E"/>
                </a:solidFill>
              </a:rPr>
              <a:t> flexibilidade total, controle sobre cada pixel.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Desvantagem:</a:t>
            </a:r>
            <a:r>
              <a:rPr lang="en-US" sz="1600" dirty="0">
                <a:solidFill>
                  <a:srgbClr val="1D2D3E"/>
                </a:solidFill>
              </a:rPr>
              <a:t> desenvolvimento lento, alto Custo Total de Propriedade (TCO), manutenções complexas em atualizações de design system.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sp>
        <p:nvSpPr>
          <p:cNvPr id="13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Solução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Melhor dos Dois Mundos com FPM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O </a:t>
            </a:r>
            <a:r>
              <a:rPr lang="en-US" sz="1700" b="1" dirty="0">
                <a:solidFill>
                  <a:srgbClr val="1D2D3E"/>
                </a:solidFill>
              </a:rPr>
              <a:t>Flexible Programming Model (FPM)</a:t>
            </a:r>
            <a:r>
              <a:rPr lang="en-US" sz="1700" dirty="0">
                <a:solidFill>
                  <a:srgbClr val="1D2D3E"/>
                </a:solidFill>
              </a:rPr>
              <a:t>, introduzido com OData V4, permite manter a estabilidade do padrão e injetar customizações de forma suportada e inteligente.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108960" cy="1280160"/>
          </a:xfrm>
          <a:prstGeom prst="roundRect">
            <a:avLst>
              <a:gd name="adj" fmla="val 10000"/>
            </a:avLst>
          </a:prstGeom>
          <a:solidFill>
            <a:srgbClr val="E0F7F7"/>
          </a:solidFill>
          <a:ln w="19050">
            <a:solidFill>
              <a:srgbClr val="0783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6517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6C76"/>
                </a:solidFill>
              </a:rPr>
              <a:t>Velocidade e Estabilidade Padrão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34095" y="2651760"/>
            <a:ext cx="3108960" cy="1280160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 w="19050">
            <a:solidFill>
              <a:srgbClr val="E765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16975" y="26517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4F00"/>
                </a:solidFill>
              </a:rPr>
              <a:t>Liberdade e Customização Total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0" y="2834640"/>
            <a:ext cx="4510735" cy="914400"/>
          </a:xfrm>
          <a:prstGeom prst="roundRect">
            <a:avLst>
              <a:gd name="adj" fmla="val 50000"/>
            </a:avLst>
          </a:prstGeom>
          <a:solidFill>
            <a:srgbClr val="1D2D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834640"/>
            <a:ext cx="3504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Flexible Programming Model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976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7838F"/>
                </a:solidFill>
              </a:rPr>
              <a:t>90%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4297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Mantenha a maior parte do aplicativo como Fiori Elements padrão (rápido, barato, estável).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2976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76500"/>
                </a:solidFill>
              </a:rPr>
              <a:t>10%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4297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Injete código customizado apenas onde realmente precisa de algo especial.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12480" y="4343400"/>
            <a:ext cx="3230575" cy="1005840"/>
          </a:xfrm>
          <a:prstGeom prst="roundRect">
            <a:avLst>
              <a:gd name="adj" fmla="val 10909"/>
            </a:avLst>
          </a:prstGeom>
          <a:solidFill>
            <a:srgbClr val="FFF8D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0" y="4343400"/>
            <a:ext cx="2224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Resultado:</a:t>
            </a:r>
            <a:r>
              <a:rPr lang="en-US" sz="1500" dirty="0">
                <a:solidFill>
                  <a:srgbClr val="1D2D3E"/>
                </a:solidFill>
              </a:rPr>
              <a:t> você não ‘quebra’ o padrão: você o ‘estende’.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3017520"/>
            <a:ext cx="548640" cy="54864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467258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Inovação Central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Building Blocks: O ‘Lego’ da SAP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Building Blocks são ‘tags mágicas’ (namespace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sap.fe.macros</a:t>
            </a:r>
            <a:r>
              <a:rPr lang="en-US" sz="1600" dirty="0">
                <a:solidFill>
                  <a:srgbClr val="1D2D3E"/>
                </a:solidFill>
              </a:rPr>
              <a:t>) que trazem a inteligência do Fiori Elements para dentro das suas views customizadas.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035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64261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A Simplicidade do XML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26664"/>
            <a:ext cx="603504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154680"/>
            <a:ext cx="55778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Dentro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sua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customizada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macros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metaPath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"@com.sap.vocabularies.UI.v1.LineItem"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"MySmartTable" /&gt;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20840" y="3200400"/>
            <a:ext cx="640080" cy="457200"/>
          </a:xfrm>
          <a:prstGeom prst="rightArrow">
            <a:avLst/>
          </a:prstGeom>
          <a:solidFill>
            <a:srgbClr val="E765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8952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O Poder Gerado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301752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Tabela Fiori Elements completa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352044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Conectada ao serviço OData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402336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Toolbar com exportação para Excel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452628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Variantes e personalização de colunas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5029200"/>
            <a:ext cx="3642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Tudo lendo as anotações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063240"/>
            <a:ext cx="274320" cy="27432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566160"/>
            <a:ext cx="274320" cy="274320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069080"/>
            <a:ext cx="274320" cy="27432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572000"/>
            <a:ext cx="274320" cy="27432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507492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Um Kit de Ferramentas Inteligente e Reutilizável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Além de tabelas, o FPM oferece um conjunto de componentes prontos para acelerar o desenvolvimento de seções customizadas.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3515258" cy="370332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724912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3621024"/>
            <a:ext cx="300319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&lt;macros:FilterBar&gt;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Renderiza uma barra de filtros inteligente e adaptativa, baseada nas anotações de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SelectionFields</a:t>
            </a:r>
            <a:r>
              <a:rPr lang="en-US" sz="15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8218" y="2468880"/>
            <a:ext cx="3515258" cy="370332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94250" y="2724912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4250" y="3621024"/>
            <a:ext cx="300319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&lt;macros:Field&gt;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Cria um campo de formulário completo, com label, F4 (Value Help) e validação automática.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7797" y="2468880"/>
            <a:ext cx="3515258" cy="370332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83829" y="2724912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83829" y="3621024"/>
            <a:ext cx="300319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&lt;macros:Chart&gt;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Gera gráficos analíticos interativos baseados nas anotações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@UI.Chart</a:t>
            </a:r>
            <a:r>
              <a:rPr lang="en-US" sz="15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7" y="2900477"/>
            <a:ext cx="380390" cy="38039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394" y="2900477"/>
            <a:ext cx="380390" cy="38039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815" y="2900477"/>
            <a:ext cx="380390" cy="380390"/>
          </a:xfrm>
          <a:prstGeom prst="rect">
            <a:avLst/>
          </a:prstGeom>
        </p:spPr>
      </p:pic>
      <p:sp>
        <p:nvSpPr>
          <p:cNvPr id="16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Onde Injetar Customizações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Extension Points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FPM oferece pontos de inserção precisos e seguros na estrutura padrão do aplicativo, garantindo que suas customizações sobrevivam a upgrades futuros.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08960" y="2468880"/>
            <a:ext cx="5943600" cy="3703320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27248" y="2468880"/>
            <a:ext cx="5907024" cy="292608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7" name="Shape 5"/>
          <p:cNvSpPr/>
          <p:nvPr/>
        </p:nvSpPr>
        <p:spPr>
          <a:xfrm>
            <a:off x="3287268" y="2834640"/>
            <a:ext cx="3566160" cy="454457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60420" y="2871216"/>
            <a:ext cx="3419856" cy="40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Header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69480" y="2834640"/>
            <a:ext cx="1604772" cy="454457"/>
          </a:xfrm>
          <a:prstGeom prst="rect">
            <a:avLst/>
          </a:prstGeom>
          <a:solidFill>
            <a:srgbClr val="FFF8D6"/>
          </a:solidFill>
          <a:ln w="22225">
            <a:solidFill>
              <a:srgbClr val="E76500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7342632" y="2871216"/>
            <a:ext cx="1458468" cy="40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Custom Actions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87268" y="3483864"/>
            <a:ext cx="5586984" cy="973836"/>
          </a:xfrm>
          <a:prstGeom prst="rect">
            <a:avLst/>
          </a:prstGeom>
          <a:solidFill>
            <a:srgbClr val="FFF8D6"/>
          </a:solidFill>
          <a:ln w="22225">
            <a:solidFill>
              <a:srgbClr val="E7650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360420" y="352044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Custom Sections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87268" y="4652467"/>
            <a:ext cx="3685032" cy="136337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60420" y="4689043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Tabela padrão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50608" y="4652467"/>
            <a:ext cx="1723644" cy="1363370"/>
          </a:xfrm>
          <a:prstGeom prst="rect">
            <a:avLst/>
          </a:prstGeom>
          <a:solidFill>
            <a:srgbClr val="FFF8D6"/>
          </a:solidFill>
          <a:ln w="22225">
            <a:solidFill>
              <a:srgbClr val="E7650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7223760" y="4689043"/>
            <a:ext cx="15773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Custom Column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88720" y="2862072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Custom Sections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Blocos de conteúdo ou abas inteiras.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281160" y="251460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21240" y="2496312"/>
            <a:ext cx="17218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Custom Actions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Botões com lógica customizada na barra de ferramentas.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281160" y="425196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921240" y="4233672"/>
            <a:ext cx="17218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Custom Columns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Controles complexos dentro de colunas de tabelas.</a:t>
            </a:r>
            <a:endParaRPr lang="en-US" sz="16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2979115"/>
            <a:ext cx="213970" cy="213970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9915" y="4350715"/>
            <a:ext cx="213970" cy="213970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9915" y="2613355"/>
            <a:ext cx="213970" cy="2139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Que Você Pode Estender?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7452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45920" y="187452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Custom Sections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Técnica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Fragmento ou View XML registrado no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29666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Caso de uso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Incorporar mapas (Google Maps), gráficos de bibliotecas de terceiros (D3.js), players de vídeo ou dados de múltiplas fontes (mashups).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2538" y="187452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35498" y="187452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Custom Actions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74320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Técnica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Registro no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r>
              <a:rPr lang="en-US" sz="1400" dirty="0">
                <a:solidFill>
                  <a:srgbClr val="1D2D3E"/>
                </a:solidFill>
              </a:rPr>
              <a:t> apontando para um método na Controller Extension.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4114800"/>
            <a:ext cx="29666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Caso de uso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Abrir um PDF, chamar uma API REST externa (consulta de CEP), abrir um diálogo (popup) complexo, navegação customizada.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7797" y="1600200"/>
            <a:ext cx="3515258" cy="457200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02117" y="187452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25077" y="187452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Custom Columns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274320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Técnica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Fragmento XML injetado na definição da tabela.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02117" y="4114800"/>
            <a:ext cx="29666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Caso de uso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Exibir micro charts (sparklines), sliders para ajuste de valores, botões de ação inline, formatação condicional complexa.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028139"/>
            <a:ext cx="332842" cy="33284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2028139"/>
            <a:ext cx="332842" cy="33284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028139"/>
            <a:ext cx="332842" cy="332842"/>
          </a:xfrm>
          <a:prstGeom prst="rect">
            <a:avLst/>
          </a:prstGeom>
        </p:spPr>
      </p:pic>
      <p:sp>
        <p:nvSpPr>
          <p:cNvPr id="21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Injetando Lógica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Controller Extensions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Quando adicionamos views ou fragmentos customizados, precisamos de lógica JavaScript. No FPM, não substituímos o controlador padrão da página: </a:t>
            </a:r>
            <a:r>
              <a:rPr lang="en-US" sz="1700" b="1" dirty="0">
                <a:solidFill>
                  <a:srgbClr val="1D2D3E"/>
                </a:solidFill>
              </a:rPr>
              <a:t>nós o estendemos</a:t>
            </a:r>
            <a:r>
              <a:rPr lang="en-US" sz="17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" y="260604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1D2D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60604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Standard Controller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(SAP Logic)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2606040"/>
            <a:ext cx="914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7838F"/>
                </a:solidFill>
              </a:rPr>
              <a:t>+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6400800" y="2606040"/>
            <a:ext cx="4114800" cy="1554480"/>
          </a:xfrm>
          <a:prstGeom prst="roundRect">
            <a:avLst>
              <a:gd name="adj" fmla="val 7059"/>
            </a:avLst>
          </a:prstGeom>
          <a:solidFill>
            <a:srgbClr val="FFF8D6"/>
          </a:solidFill>
          <a:ln w="25400">
            <a:solidFill>
              <a:srgbClr val="E7650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400800" y="260604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4F00"/>
                </a:solidFill>
              </a:rPr>
              <a:t>Your Controller Extension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44F00"/>
                </a:solidFill>
              </a:rPr>
              <a:t>(Custom Logic)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Você cria um arquivo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</a:t>
            </a:r>
            <a:r>
              <a:rPr lang="en-US" sz="1600" dirty="0">
                <a:solidFill>
                  <a:srgbClr val="1D2D3E"/>
                </a:solidFill>
              </a:rPr>
              <a:t> que coexiste com a lógica padrão da SAP.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Permite adicionar código para manipular eventos (cliques, mudanças de valor) de forma segura.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Garante que sua lógica customizada não seja sobrescrita em atualizações do framework.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Controle Fino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Hooks de Ciclo de Vida e a Extension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182880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Hooks de Ciclo de Vida e Overrides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81568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override.onInit</a:t>
            </a:r>
            <a:r>
              <a:rPr lang="en-US" sz="1400" dirty="0">
                <a:solidFill>
                  <a:srgbClr val="1D2D3E"/>
                </a:solidFill>
              </a:rPr>
              <a:t>: execute código assim que a página é inicializada (ex.: carregar dados de APIs externas).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override.editFlow</a:t>
            </a:r>
            <a:r>
              <a:rPr lang="en-US" sz="1400" dirty="0">
                <a:solidFill>
                  <a:srgbClr val="1D2D3E"/>
                </a:solidFill>
              </a:rPr>
              <a:t>: intercepte eventos transacionais. Injeta código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onBeforeSave</a:t>
            </a:r>
            <a:r>
              <a:rPr lang="en-US" sz="1400" dirty="0">
                <a:solidFill>
                  <a:srgbClr val="1D2D3E"/>
                </a:solidFill>
              </a:rPr>
              <a:t> para validações extras ou formatação de dados.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override.routing</a:t>
            </a:r>
            <a:r>
              <a:rPr lang="en-US" sz="1400" dirty="0">
                <a:solidFill>
                  <a:srgbClr val="1D2D3E"/>
                </a:solidFill>
              </a:rPr>
              <a:t>: controle a navegação e redirecione o usuário para rotas customizadas.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84568" y="182880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A Extension API: sua ponte oficial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606040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Acessada via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this.base.getExtensionAPI()</a:t>
            </a:r>
            <a:r>
              <a:rPr lang="en-US" sz="1400" dirty="0">
                <a:solidFill>
                  <a:srgbClr val="1D2D3E"/>
                </a:solidFill>
              </a:rPr>
              <a:t>, é a forma segura e suportada de interagir com a página padrão: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520440"/>
            <a:ext cx="48156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Recarregar a tabela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refresh()</a:t>
            </a:r>
            <a:r>
              <a:rPr lang="en-US" sz="1400" dirty="0">
                <a:solidFill>
                  <a:srgbClr val="1D2D3E"/>
                </a:solidFill>
              </a:rPr>
              <a:t>).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Obter os contextos selecionados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getSelectedContexts()</a:t>
            </a:r>
            <a:r>
              <a:rPr lang="en-US" sz="1400" dirty="0">
                <a:solidFill>
                  <a:srgbClr val="1D2D3E"/>
                </a:solidFill>
              </a:rPr>
              <a:t>).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Navegar para outras páginas.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Gerenciar mensagens de erro.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721" y="1960474"/>
            <a:ext cx="285293" cy="285293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1960474"/>
            <a:ext cx="285293" cy="2852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Como Implementar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Fluxo de Trabalho Visual com Fiori Tools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Embora seja possível editar o manifest.json manualmente, o uso do Page Map é a prática recomendada para evitar erros de sintaxe.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Fluxo de trabalho simplificado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D2D3E"/>
                </a:solidFill>
              </a:rPr>
              <a:t>1. </a:t>
            </a:r>
            <a:r>
              <a:rPr lang="en-US" sz="1400" b="1" dirty="0">
                <a:solidFill>
                  <a:srgbClr val="1D2D3E"/>
                </a:solidFill>
              </a:rPr>
              <a:t>Abra o projeto</a:t>
            </a:r>
            <a:r>
              <a:rPr lang="en-US" sz="1400" dirty="0">
                <a:solidFill>
                  <a:srgbClr val="1D2D3E"/>
                </a:solidFill>
              </a:rPr>
              <a:t> no VS Code / BAS.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D2D3E"/>
                </a:solidFill>
              </a:rPr>
              <a:t>2. </a:t>
            </a:r>
            <a:r>
              <a:rPr lang="en-US" sz="1400" b="1" dirty="0">
                <a:solidFill>
                  <a:srgbClr val="1D2D3E"/>
                </a:solidFill>
              </a:rPr>
              <a:t>Acesse o Page Map:</a:t>
            </a:r>
            <a:r>
              <a:rPr lang="en-US" sz="1400" dirty="0">
                <a:solidFill>
                  <a:srgbClr val="1D2D3E"/>
                </a:solidFill>
              </a:rPr>
              <a:t> botão direito em webapp &gt; Show Page Map.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D2D3E"/>
                </a:solidFill>
              </a:rPr>
              <a:t>3. </a:t>
            </a:r>
            <a:r>
              <a:rPr lang="en-US" sz="1400" b="1" dirty="0">
                <a:solidFill>
                  <a:srgbClr val="1D2D3E"/>
                </a:solidFill>
              </a:rPr>
              <a:t>Selecione a página:</a:t>
            </a:r>
            <a:r>
              <a:rPr lang="en-US" sz="1400" dirty="0">
                <a:solidFill>
                  <a:srgbClr val="1D2D3E"/>
                </a:solidFill>
              </a:rPr>
              <a:t> ex.: Object Page da entidade Travel.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D2D3E"/>
                </a:solidFill>
              </a:rPr>
              <a:t>4. </a:t>
            </a:r>
            <a:r>
              <a:rPr lang="en-US" sz="1400" b="1" dirty="0">
                <a:solidFill>
                  <a:srgbClr val="1D2D3E"/>
                </a:solidFill>
              </a:rPr>
              <a:t>Adicione a extensão:</a:t>
            </a:r>
            <a:r>
              <a:rPr lang="en-US" sz="1400" dirty="0">
                <a:solidFill>
                  <a:srgbClr val="1D2D3E"/>
                </a:solidFill>
              </a:rPr>
              <a:t> ícone de lápis ou Add Custom Section.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D2D3E"/>
                </a:solidFill>
              </a:rPr>
              <a:t>5. </a:t>
            </a:r>
            <a:r>
              <a:rPr lang="en-US" sz="1400" b="1" dirty="0">
                <a:solidFill>
                  <a:srgbClr val="1D2D3E"/>
                </a:solidFill>
              </a:rPr>
              <a:t>Configure:</a:t>
            </a:r>
            <a:r>
              <a:rPr lang="en-US" sz="1400" dirty="0">
                <a:solidFill>
                  <a:srgbClr val="1D2D3E"/>
                </a:solidFill>
              </a:rPr>
              <a:t> defina o título e a posição da seção.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920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O que a ferramenta faz por você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28523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Gera o arquivo .fragment.xml.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577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Cria o arquivo .js da Controller Extension.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87044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Adiciona automaticamente as configurações complexas no manifest.json.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1600200"/>
            <a:ext cx="4693615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67728" y="1600200"/>
            <a:ext cx="4657039" cy="292608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13" name="Shape 11"/>
          <p:cNvSpPr/>
          <p:nvPr/>
        </p:nvSpPr>
        <p:spPr>
          <a:xfrm>
            <a:off x="7184121" y="2167128"/>
            <a:ext cx="187744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7273" y="2203704"/>
            <a:ext cx="1731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List Report: Travel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296248" y="3374136"/>
            <a:ext cx="2112127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69400" y="3410712"/>
            <a:ext cx="19658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Object Page: Travel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96248" y="4178808"/>
            <a:ext cx="2112127" cy="603504"/>
          </a:xfrm>
          <a:prstGeom prst="rect">
            <a:avLst/>
          </a:prstGeom>
          <a:solidFill>
            <a:srgbClr val="FFF8D6"/>
          </a:solidFill>
          <a:ln w="22225">
            <a:solidFill>
              <a:srgbClr val="E7650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9369400" y="4215384"/>
            <a:ext cx="19658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+ Add Custom Section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330952"/>
            <a:ext cx="237744" cy="237744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623560"/>
            <a:ext cx="237744" cy="237744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916168"/>
            <a:ext cx="237744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Colocando Tudo Junto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Anatomia de uma Página FPM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91840" y="1600200"/>
            <a:ext cx="557784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10128" y="1600200"/>
            <a:ext cx="5541264" cy="292608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6" name="Shape 4"/>
          <p:cNvSpPr/>
          <p:nvPr/>
        </p:nvSpPr>
        <p:spPr>
          <a:xfrm>
            <a:off x="3459175" y="1965960"/>
            <a:ext cx="524317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32327" y="2002536"/>
            <a:ext cx="5096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Travel 1024: Business Trip to London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59175" y="2747772"/>
            <a:ext cx="2510028" cy="1563624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32327" y="2784348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General Information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92317" y="2747772"/>
            <a:ext cx="2510028" cy="1563624"/>
          </a:xfrm>
          <a:prstGeom prst="rect">
            <a:avLst/>
          </a:prstGeom>
          <a:solidFill>
            <a:srgbClr val="FFF8D6"/>
          </a:solidFill>
          <a:ln w="22225">
            <a:solidFill>
              <a:srgbClr val="E7650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265469" y="2784348"/>
            <a:ext cx="2363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Geolocalização (mapa)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59175" y="4517136"/>
            <a:ext cx="524317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2327" y="4553712"/>
            <a:ext cx="5096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Booking Items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0783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17830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Padrão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Gerado pelo RAP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0783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063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Padrão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Gerado via anotações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98280" y="278892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E765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89720" y="2788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 – injetado via FPM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View XML com container HTML para a API do Google Maps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98280" y="397764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E765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89720" y="3977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&lt;macros:Field&gt;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Building Block lendo do OData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98280" y="489204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07838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89720" y="48920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Padrão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Tabela LineItem do RAP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Quando Usar FPM? Um Guia Prático de Decisão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291840"/>
                <a:gridCol w="4142232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Cenário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Solução recomendada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Motivo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CRUD simples de uma tabela padrão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44F00"/>
                          </a:solidFill>
                        </a:rPr>
                        <a:t>Fiori Elements Padrão (RAP)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Mais rápido de desenvolver, zero código de frontend, manutenção mínima.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Tabela padrão com uma coluna de botão extra que chama uma API externa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44F00"/>
                          </a:solidFill>
                        </a:rPr>
                        <a:t>Fiori Elements + Custom Action / Custom Column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Mantém 95% do padrão, adiciona apenas a lógica de negócio necessária.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Página de detalhes com layout exótico (ex.: mapa interativo com dados)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44F00"/>
                          </a:solidFill>
                        </a:rPr>
                        <a:t>Fiori Elements + Custom Section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Isola a complexidade customizada em uma seção, mantendo o restante da página padrão e estável.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D2D3E"/>
                          </a:solidFill>
                        </a:rPr>
                        <a:t>Dashboard analítico complexo com interações e visualizações não-padrão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B44F00"/>
                          </a:solidFill>
                        </a:rPr>
                        <a:t>Freestyle UI5 (ou FPM com uso intensivo)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D3E"/>
                          </a:solidFill>
                        </a:rPr>
                        <a:t>O esforço para adaptar o padrão seria maior do que construir do zero.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Glossário Essencial do FPM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Flexible Programming Model (FPM)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783080"/>
            <a:ext cx="72539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Arquitetura para OData V4 que permite estender apps Fiori Elements com componentes customizados (UI5) de forma suportada e estável.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5176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Building Blocks (Macros)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651760"/>
            <a:ext cx="72539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Componentes de UI (sap.fe.macros) que encapsulam funcionalidades complexas do Fiori Elements (tabelas, filtros) para uso em views customizadas.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52044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Extension Point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520440"/>
            <a:ext cx="72539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Locais pré-definidos e seguros na estrutura da página (seções, tabelas, barras de ferramentas) para inserir conteúdo customizado.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38912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Controller Extension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389120"/>
            <a:ext cx="72539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Arquivo JavaScript que estende o controlador padrão, permitindo adicionar lógica de frontend e interagir com a página via ExtensionAPI.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94415" cy="749808"/>
          </a:xfrm>
          <a:prstGeom prst="roundRect">
            <a:avLst>
              <a:gd name="adj" fmla="val 9756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2578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ExtensionAPI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5257800"/>
            <a:ext cx="72539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</a:rPr>
              <a:t>Interface pública para o código customizado interagir com o aplicativo padrão de forma segura (ex.: refresh(), getSelectedContexts()).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Fim do Dilema: Dominando o Flexible Programming Model</dc:title>
  <dc:subject>ABAP Moderno – Módulo 03</dc:subject>
  <dc:creator>Adriano Bispo</dc:creator>
  <cp:lastModifiedBy>Adriano Bispo</cp:lastModifiedBy>
  <cp:revision>1</cp:revision>
  <dcterms:created xsi:type="dcterms:W3CDTF">2026-10-25T15:45:48Z</dcterms:created>
  <dcterms:modified xsi:type="dcterms:W3CDTF">2026-10-25T15:45:48Z</dcterms:modified>
</cp:coreProperties>
</file>