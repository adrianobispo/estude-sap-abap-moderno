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03 — SAP Fiori Elements com OData V4  ·  Aula 10 de 11 — Programação flexível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03 — SAP Fiori Elements com OData V4  ·  Aula 10 de 11 — Programação flexível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03 · AULA 10 DE 11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Flexible Programming Model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Extension points, building blocks e controller extensions: código próprio dentro do Fiori elements, sem perder os recursos do framework.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487295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8790709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094124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9397538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9700953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04367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07782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11196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14611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18025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10 de 11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03 — SAP Fiori Elements com OData V4 · Design System SAP Horizon</a:t>
            </a:r>
            <a:endParaRPr lang="en-US" sz="11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03 em 11 aulas: Fiori Elements com OData V4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Fiori Elements e OData V4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Apps guiados por metadados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28189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92781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592781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2592781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Exposição de serviços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592781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Service definition e service binding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07738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7233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47233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4472330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Anotações de UI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472330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headerInfo, lineItem, selectionField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87288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188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51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6351880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SAP Fiori Tools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351880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Gerador, Page Map e Guided Development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66837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31429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31429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8231429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Floorplans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8231429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List Report, Object Page e facetas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946386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110978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11097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2" name="Text 30"/>
          <p:cNvSpPr txBox="1"/>
          <p:nvPr/>
        </p:nvSpPr>
        <p:spPr>
          <a:xfrm>
            <a:off x="10110978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List Report e Object Page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10110978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Ordenação, seções e field groups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7" name="Text 35"/>
          <p:cNvSpPr txBox="1"/>
          <p:nvPr/>
        </p:nvSpPr>
        <p:spPr>
          <a:xfrm>
            <a:off x="713232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Tabelas: cores e ações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713232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Criticality, ações e importância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428189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592781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2592781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8</a:t>
            </a:r>
            <a:endParaRPr lang="en-US" sz="1260" dirty="0"/>
          </a:p>
        </p:txBody>
      </p:sp>
      <p:sp>
        <p:nvSpPr>
          <p:cNvPr id="42" name="Text 40"/>
          <p:cNvSpPr txBox="1"/>
          <p:nvPr/>
        </p:nvSpPr>
        <p:spPr>
          <a:xfrm>
            <a:off x="2592781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Navegação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2592781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Interna, externa e baseada em intenção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307738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47233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47233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9</a:t>
            </a:r>
            <a:endParaRPr lang="en-US" sz="1260" dirty="0"/>
          </a:p>
        </p:txBody>
      </p:sp>
      <p:sp>
        <p:nvSpPr>
          <p:cNvPr id="47" name="Text 45"/>
          <p:cNvSpPr txBox="1"/>
          <p:nvPr/>
        </p:nvSpPr>
        <p:spPr>
          <a:xfrm>
            <a:off x="4472330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Object Page avançada</a:t>
            </a:r>
            <a:endParaRPr lang="en-US" sz="1350" dirty="0"/>
          </a:p>
        </p:txBody>
      </p:sp>
      <p:sp>
        <p:nvSpPr>
          <p:cNvPr id="48" name="Text 46"/>
          <p:cNvSpPr txBox="1"/>
          <p:nvPr/>
        </p:nvSpPr>
        <p:spPr>
          <a:xfrm>
            <a:off x="4472330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Header facets, visibilidade e tabelas filhas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187288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351880" y="384048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3518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10</a:t>
            </a:r>
            <a:endParaRPr lang="en-US" sz="1260" dirty="0"/>
          </a:p>
        </p:txBody>
      </p:sp>
      <p:sp>
        <p:nvSpPr>
          <p:cNvPr id="52" name="Text 50"/>
          <p:cNvSpPr txBox="1"/>
          <p:nvPr/>
        </p:nvSpPr>
        <p:spPr>
          <a:xfrm>
            <a:off x="6351880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Programação flexível</a:t>
            </a:r>
            <a:endParaRPr lang="en-US" sz="1350" dirty="0"/>
          </a:p>
        </p:txBody>
      </p:sp>
      <p:sp>
        <p:nvSpPr>
          <p:cNvPr id="53" name="Shape 51"/>
          <p:cNvSpPr/>
          <p:nvPr/>
        </p:nvSpPr>
        <p:spPr>
          <a:xfrm>
            <a:off x="6351880" y="4864608"/>
            <a:ext cx="1367485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351880" y="4864608"/>
            <a:ext cx="136748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066837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231429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8231429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11</a:t>
            </a:r>
            <a:endParaRPr lang="en-US" sz="1260" dirty="0"/>
          </a:p>
        </p:txBody>
      </p:sp>
      <p:sp>
        <p:nvSpPr>
          <p:cNvPr id="58" name="Text 56"/>
          <p:cNvSpPr txBox="1"/>
          <p:nvPr/>
        </p:nvSpPr>
        <p:spPr>
          <a:xfrm>
            <a:off x="8231429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Deploy</a:t>
            </a:r>
            <a:endParaRPr lang="en-US" sz="1350" dirty="0"/>
          </a:p>
        </p:txBody>
      </p:sp>
      <p:sp>
        <p:nvSpPr>
          <p:cNvPr id="59" name="Text 57"/>
          <p:cNvSpPr txBox="1"/>
          <p:nvPr/>
        </p:nvSpPr>
        <p:spPr>
          <a:xfrm>
            <a:off x="8231429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Publicação, launchpad e acesso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adicionamos ao app de viagens uma seção Itinerary com mapa e uma mensagem montada com building blocks.</a:t>
            </a:r>
            <a:endParaRPr lang="en-US" sz="1400" dirty="0"/>
          </a:p>
        </p:txBody>
      </p:sp>
      <p:pic>
        <p:nvPicPr>
          <p:cNvPr id="6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6669" y="1847088"/>
            <a:ext cx="347472" cy="347472"/>
          </a:xfrm>
          <a:prstGeom prst="rect">
            <a:avLst/>
          </a:prstGeom>
        </p:spPr>
      </p:pic>
      <p:pic>
        <p:nvPicPr>
          <p:cNvPr id="6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218" y="1847088"/>
            <a:ext cx="347472" cy="347472"/>
          </a:xfrm>
          <a:prstGeom prst="rect">
            <a:avLst/>
          </a:prstGeom>
        </p:spPr>
      </p:pic>
      <p:pic>
        <p:nvPicPr>
          <p:cNvPr id="6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768" y="1847088"/>
            <a:ext cx="347472" cy="347472"/>
          </a:xfrm>
          <a:prstGeom prst="rect">
            <a:avLst/>
          </a:prstGeom>
        </p:spPr>
      </p:pic>
      <p:pic>
        <p:nvPicPr>
          <p:cNvPr id="6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4866" y="1847088"/>
            <a:ext cx="347472" cy="347472"/>
          </a:xfrm>
          <a:prstGeom prst="rect">
            <a:avLst/>
          </a:prstGeom>
        </p:spPr>
      </p:pic>
      <p:pic>
        <p:nvPicPr>
          <p:cNvPr id="6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5317" y="1847088"/>
            <a:ext cx="347472" cy="347472"/>
          </a:xfrm>
          <a:prstGeom prst="rect">
            <a:avLst/>
          </a:prstGeom>
        </p:spPr>
      </p:pic>
      <p:pic>
        <p:nvPicPr>
          <p:cNvPr id="6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6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6669" y="3858768"/>
            <a:ext cx="347472" cy="347472"/>
          </a:xfrm>
          <a:prstGeom prst="rect">
            <a:avLst/>
          </a:prstGeom>
        </p:spPr>
      </p:pic>
      <p:pic>
        <p:nvPicPr>
          <p:cNvPr id="6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55768" y="3858768"/>
            <a:ext cx="347472" cy="347472"/>
          </a:xfrm>
          <a:prstGeom prst="rect">
            <a:avLst/>
          </a:prstGeom>
        </p:spPr>
      </p:pic>
      <p:pic>
        <p:nvPicPr>
          <p:cNvPr id="7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76218" y="3858768"/>
            <a:ext cx="347472" cy="347472"/>
          </a:xfrm>
          <a:prstGeom prst="rect">
            <a:avLst/>
          </a:prstGeom>
        </p:spPr>
      </p:pic>
      <p:pic>
        <p:nvPicPr>
          <p:cNvPr id="7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5317" y="3858768"/>
            <a:ext cx="347472" cy="347472"/>
          </a:xfrm>
          <a:prstGeom prst="rect">
            <a:avLst/>
          </a:prstGeom>
        </p:spPr>
      </p:pic>
      <p:pic>
        <p:nvPicPr>
          <p:cNvPr id="7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4866" y="3858768"/>
            <a:ext cx="347472" cy="347472"/>
          </a:xfrm>
          <a:prstGeom prst="rect">
            <a:avLst/>
          </a:prstGeom>
        </p:spPr>
      </p:pic>
      <p:pic>
        <p:nvPicPr>
          <p:cNvPr id="7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Quando o padrão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41715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417159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69147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69147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Até aqui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3155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Só anotações e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manifest.json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Nenhuma linha de código de UI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Cobre a maioria dos cenários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41715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417159"/>
            <a:ext cx="5410048" cy="7315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69147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69147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Flexible Programming Model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33155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Código próprio em pontos </a:t>
            </a:r>
            <a:r>
              <a:rPr lang="en-US" sz="1350" b="1" dirty="0">
                <a:solidFill>
                  <a:srgbClr val="1D2D3E"/>
                </a:solidFill>
              </a:rPr>
              <a:t>oficiais</a:t>
            </a:r>
            <a:r>
              <a:rPr lang="en-US" sz="1350" dirty="0">
                <a:solidFill>
                  <a:srgbClr val="1D2D3E"/>
                </a:solidFill>
              </a:rPr>
              <a:t> do framework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Disponível desde o SAPUI5 </a:t>
            </a:r>
            <a:r>
              <a:rPr lang="en-US" sz="1350" b="1" dirty="0">
                <a:solidFill>
                  <a:srgbClr val="1D2D3E"/>
                </a:solidFill>
              </a:rPr>
              <a:t>1.94</a:t>
            </a:r>
            <a:r>
              <a:rPr lang="en-US" sz="1350" dirty="0">
                <a:solidFill>
                  <a:srgbClr val="1D2D3E"/>
                </a:solidFill>
              </a:rPr>
              <a:t> (OData V4)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Extensões estáveis enquanto o Fiori elements evolui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834033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8D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07008" y="4834033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4F00"/>
                </a:solidFill>
              </a:rPr>
              <a:t>Último recurso  </a:t>
            </a:r>
            <a:r>
              <a:rPr lang="en-US" sz="1200" dirty="0">
                <a:solidFill>
                  <a:srgbClr val="1D2D3E"/>
                </a:solidFill>
              </a:rPr>
              <a:t>prefira recursos padrão; extensões aumentam esforço, manutenção e risco de inconsistência visual.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792063"/>
            <a:ext cx="256032" cy="256032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2792063"/>
            <a:ext cx="256032" cy="256032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962049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03.10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As três ferramentas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Extension points recebem sua UI, building blocks trazem peças prontas e controller extensions mudam o comportamento.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Extension points</a:t>
            </a:r>
            <a:r>
              <a:rPr lang="en-US" sz="1000" dirty="0">
                <a:solidFill>
                  <a:srgbClr val="D1EFFF"/>
                </a:solidFill>
              </a:rPr>
              <a:t>  onde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Building blocks</a:t>
            </a:r>
            <a:r>
              <a:rPr lang="en-US" sz="1000" dirty="0">
                <a:solidFill>
                  <a:srgbClr val="D1EFFF"/>
                </a:solidFill>
              </a:rPr>
              <a:t>  com o quê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 extensions</a:t>
            </a:r>
            <a:r>
              <a:rPr lang="en-US" sz="1000" dirty="0">
                <a:solidFill>
                  <a:srgbClr val="D1EFFF"/>
                </a:solidFill>
              </a:rPr>
              <a:t>  como se comporta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Development portal</a:t>
            </a:r>
            <a:r>
              <a:rPr lang="en-US" sz="1000" dirty="0">
                <a:solidFill>
                  <a:srgbClr val="D1EFFF"/>
                </a:solidFill>
              </a:rPr>
              <a:t>  explorar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· CAPACIDADES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Três formas de estender um app V4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466975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66814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271647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Extension points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"Ganchos" do framework: custom sections, colunas, ações, filtros e até páginas inteiras.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2978" y="2466975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4146" y="266814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4146" y="3271647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Building blocks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Peças reutilizáveis (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sap.fe.macros</a:t>
            </a:r>
            <a:r>
              <a:rPr lang="en-US" sz="1300" dirty="0">
                <a:solidFill>
                  <a:srgbClr val="556B82"/>
                </a:solidFill>
              </a:rPr>
              <a:t>) como Field, Table, Chart e FilterBar, guiadas por metadados.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7317" y="2466975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98485" y="266814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98485" y="3271647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Controller extensions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Sobrescrevem ou complementam a lógica padrão: eventos, ciclo de vida, edit flow, navegação.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784217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4784217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Explorar  </a:t>
            </a:r>
            <a:r>
              <a:rPr lang="en-US" sz="1200" dirty="0">
                <a:solidFill>
                  <a:srgbClr val="1D2D3E"/>
                </a:solidFill>
              </a:rPr>
              <a:t>o </a:t>
            </a:r>
            <a:r>
              <a:rPr lang="en-US" sz="1200" b="1" dirty="0">
                <a:solidFill>
                  <a:srgbClr val="1D2D3E"/>
                </a:solidFill>
              </a:rPr>
              <a:t>SAP Fiori development portal</a:t>
            </a:r>
            <a:r>
              <a:rPr lang="en-US" sz="1200" dirty="0">
                <a:solidFill>
                  <a:srgbClr val="1D2D3E"/>
                </a:solidFill>
              </a:rPr>
              <a:t> (antes </a:t>
            </a:r>
            <a:r>
              <a:rPr lang="en-US" sz="1200" i="1" dirty="0">
                <a:solidFill>
                  <a:srgbClr val="1D2D3E"/>
                </a:solidFill>
              </a:rPr>
              <a:t>flexible programming model explorer</a:t>
            </a:r>
            <a:r>
              <a:rPr lang="en-US" sz="1200" dirty="0">
                <a:solidFill>
                  <a:srgbClr val="1D2D3E"/>
                </a:solidFill>
              </a:rPr>
              <a:t>) mostra building blocks, padrões, floorplans e custom pages com edição ao vivo.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768727"/>
            <a:ext cx="256032" cy="256032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730" y="2768727"/>
            <a:ext cx="256032" cy="256032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069" y="2768727"/>
            <a:ext cx="256032" cy="256032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912233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03.10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Extension points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Um </a:t>
            </a:r>
            <a:r>
              <a:rPr lang="en-US" sz="1600" b="1" dirty="0">
                <a:solidFill>
                  <a:srgbClr val="D1EFFF"/>
                </a:solidFill>
              </a:rPr>
              <a:t>fragmento XML</a:t>
            </a:r>
            <a:r>
              <a:rPr lang="en-US" sz="1600" dirty="0">
                <a:solidFill>
                  <a:srgbClr val="D1EFFF"/>
                </a:solidFill>
              </a:rPr>
              <a:t> em </a:t>
            </a:r>
            <a:r>
              <a:rPr lang="en-US" sz="16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webapp/ext</a:t>
            </a:r>
            <a:r>
              <a:rPr lang="en-US" sz="1600" dirty="0">
                <a:solidFill>
                  <a:srgbClr val="D1EFFF"/>
                </a:solidFill>
              </a:rPr>
              <a:t>, opcionalmente com controller, registrado no </a:t>
            </a:r>
            <a:r>
              <a:rPr lang="en-US" sz="16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manifest.json</a:t>
            </a:r>
            <a:r>
              <a:rPr lang="en-US" sz="1600" dirty="0">
                <a:solidFill>
                  <a:srgbClr val="D1EFFF"/>
                </a:solidFill>
              </a:rPr>
              <a:t>. O </a:t>
            </a:r>
            <a:r>
              <a:rPr lang="en-US" sz="1600" b="1" dirty="0">
                <a:solidFill>
                  <a:srgbClr val="D1EFFF"/>
                </a:solidFill>
              </a:rPr>
              <a:t>Page Editor</a:t>
            </a:r>
            <a:r>
              <a:rPr lang="en-US" sz="1600" dirty="0">
                <a:solidFill>
                  <a:srgbClr val="D1EFFF"/>
                </a:solidFill>
              </a:rPr>
              <a:t> gera tudo.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 section</a:t>
            </a:r>
            <a:r>
              <a:rPr lang="en-US" sz="1000" dirty="0">
                <a:solidFill>
                  <a:srgbClr val="D1EFFF"/>
                </a:solidFill>
              </a:rPr>
              <a:t>  Object Page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 column · action</a:t>
            </a:r>
            <a:r>
              <a:rPr lang="en-US" sz="1000" dirty="0">
                <a:solidFill>
                  <a:srgbClr val="D1EFFF"/>
                </a:solidFill>
              </a:rPr>
              <a:t>  tabelas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webapp/ext</a:t>
            </a:r>
            <a:r>
              <a:rPr lang="en-US" sz="1000" dirty="0">
                <a:solidFill>
                  <a:srgbClr val="D1EFFF"/>
                </a:solidFill>
              </a:rPr>
              <a:t>  fragmento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 Editor</a:t>
            </a:r>
            <a:r>
              <a:rPr lang="en-US" sz="1000" dirty="0">
                <a:solidFill>
                  <a:srgbClr val="D1EFFF"/>
                </a:solidFill>
              </a:rPr>
              <a:t>  gera os arquivos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EXTENSÕES · EXERCÍCIO DO CURSO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Uma seção Itinerary com mapa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411834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14118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manifest.json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029968"/>
            <a:ext cx="5410048" cy="2880360"/>
          </a:xfrm>
          <a:prstGeom prst="roundRect">
            <a:avLst>
              <a:gd name="adj" fmla="val 2540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84832"/>
            <a:ext cx="192024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084832"/>
            <a:ext cx="192024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103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webapp/manifest.json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87168"/>
            <a:ext cx="320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487168"/>
            <a:ext cx="476996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"content": { "body": { "sections": 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"Itinerary": 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"template": "travels.ext.fragment.GeoMap",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"title": "Itinerary",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"position": 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"placement": "After",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"anchor": "Bookings"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029200"/>
            <a:ext cx="54100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Registrado nas settings da Object Page do Travel; o Page Editor escreve isto.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33008" y="1645920"/>
            <a:ext cx="1089965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33008" y="1645920"/>
            <a:ext cx="10899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Fragmento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3008" y="2029968"/>
            <a:ext cx="5410048" cy="2880360"/>
          </a:xfrm>
          <a:prstGeom prst="roundRect">
            <a:avLst>
              <a:gd name="adj" fmla="val 2540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1296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18" name="Shape 16"/>
          <p:cNvSpPr/>
          <p:nvPr/>
        </p:nvSpPr>
        <p:spPr>
          <a:xfrm>
            <a:off x="6324448" y="2084832"/>
            <a:ext cx="339699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9" name="Shape 17"/>
          <p:cNvSpPr/>
          <p:nvPr/>
        </p:nvSpPr>
        <p:spPr>
          <a:xfrm>
            <a:off x="6324448" y="2084832"/>
            <a:ext cx="339699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15888" y="2103120"/>
            <a:ext cx="3214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webapp/ext/fragment/GeoMap.fragment.xml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370168" y="2487168"/>
            <a:ext cx="320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735928" y="2487168"/>
            <a:ext cx="476996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FragmentDefinition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xmlns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"sap.ui.core" xmlns="sap.m"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xmlns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vbm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"sap.ui.vbm"&gt;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VBox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vbm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AnalyticMap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"geoMap"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"100%" height="600px"&gt;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pontos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itiner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á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/vbm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AnalyticMap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/VBox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/core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FragmentDefinition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233008" y="5029200"/>
            <a:ext cx="54100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SAPUI5 comum dentro do Fiori elements: aqui, um mapa, recurso que o padrão não oferece.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03.10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Building blocks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Não são controles SAPUI5: são </a:t>
            </a:r>
            <a:r>
              <a:rPr lang="en-US" sz="1600" b="1" dirty="0">
                <a:solidFill>
                  <a:srgbClr val="D1EFFF"/>
                </a:solidFill>
              </a:rPr>
              <a:t>instruções de template</a:t>
            </a:r>
            <a:r>
              <a:rPr lang="en-US" sz="1600" dirty="0">
                <a:solidFill>
                  <a:srgbClr val="D1EFFF"/>
                </a:solidFill>
              </a:rPr>
              <a:t> que geram controles a partir dos metadados, com draft e side effects inclusos.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macros:Field</a:t>
            </a:r>
            <a:r>
              <a:rPr lang="en-US" sz="1000" dirty="0">
                <a:solidFill>
                  <a:srgbClr val="D1EFFF"/>
                </a:solidFill>
              </a:rPr>
              <a:t>  campo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macros:Table</a:t>
            </a:r>
            <a:r>
              <a:rPr lang="en-US" sz="1000" dirty="0">
                <a:solidFill>
                  <a:srgbClr val="D1EFFF"/>
                </a:solidFill>
              </a:rPr>
              <a:t>  tabela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metaPath</a:t>
            </a:r>
            <a:r>
              <a:rPr lang="en-US" sz="1000" dirty="0">
                <a:solidFill>
                  <a:srgbClr val="D1EFFF"/>
                </a:solidFill>
              </a:rPr>
              <a:t>  ligação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 page</a:t>
            </a:r>
            <a:r>
              <a:rPr lang="en-US" sz="1000" dirty="0">
                <a:solidFill>
                  <a:srgbClr val="D1EFFF"/>
                </a:solidFill>
              </a:rPr>
              <a:t>  só building blocks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BUILDING BLOCKS · EXERCÍCIO DO CURSO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Uma mensagem com campos do próprio objeto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339699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339699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3214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webapp/ext/fragment/GeoMap.fragment.xml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travels › webapp › ext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FragmentDefinition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xmlns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"sap.ui.core" xmlns="sap.m"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xmlns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macros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"sap.fe.macros"&gt;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VBox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HBox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bookings were confirmed on" class="sapUiTinyMarginEnd"/&gt;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macros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"custom-flightdate" metaPath="CreatedAt" readOnly="true"/&gt;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"by" class="sapUiTinyMarginBeginEnd"/&gt;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macros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"custom-airline" metaPath="AgencyID" readOnly="true"/&gt;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/HBox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mapa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abaixo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/VBox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/core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FragmentDefinition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sap.fe.macros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 biblioteca de building blocks do Fiori elements.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metaPath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Aponta para a propriedade; formato, rótulo e texto vêm dos metadados.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IDs estáveis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Exigidos pelas tools; um quick fix gera os que faltam.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Mesmo comportamento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 campo respeita draft, edição e formatação como os campos padrão.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03.10 · SEÇÃO 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Controller extensions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Para mudar </a:t>
            </a:r>
            <a:r>
              <a:rPr lang="en-US" sz="1600" b="1" dirty="0">
                <a:solidFill>
                  <a:srgbClr val="D1EFFF"/>
                </a:solidFill>
              </a:rPr>
              <a:t>comportamento</a:t>
            </a:r>
            <a:r>
              <a:rPr lang="en-US" sz="1600" dirty="0">
                <a:solidFill>
                  <a:srgbClr val="D1EFFF"/>
                </a:solidFill>
              </a:rPr>
              <a:t>, um controller extension sobrescreve métodos via </a:t>
            </a:r>
            <a:r>
              <a:rPr lang="en-US" sz="1600" b="1" dirty="0">
                <a:solidFill>
                  <a:srgbClr val="D1EFFF"/>
                </a:solidFill>
              </a:rPr>
              <a:t>Extension API</a:t>
            </a:r>
            <a:r>
              <a:rPr lang="en-US" sz="1600" dirty="0">
                <a:solidFill>
                  <a:srgbClr val="D1EFFF"/>
                </a:solidFill>
              </a:rPr>
              <a:t>, a única interface suportada.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override</a:t>
            </a:r>
            <a:r>
              <a:rPr lang="en-US" sz="1000" dirty="0">
                <a:solidFill>
                  <a:srgbClr val="D1EFFF"/>
                </a:solidFill>
              </a:rPr>
              <a:t>  ciclo de vida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editFlow</a:t>
            </a:r>
            <a:r>
              <a:rPr lang="en-US" sz="1000" dirty="0">
                <a:solidFill>
                  <a:srgbClr val="D1EFFF"/>
                </a:solidFill>
              </a:rPr>
              <a:t>  salvar, editar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getExtensionAPI</a:t>
            </a:r>
            <a:r>
              <a:rPr lang="en-US" sz="1000" dirty="0">
                <a:solidFill>
                  <a:srgbClr val="D1EFFF"/>
                </a:solidFill>
              </a:rPr>
              <a:t>  API pública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 internos</a:t>
            </a:r>
            <a:r>
              <a:rPr lang="en-US" sz="1000" dirty="0">
                <a:solidFill>
                  <a:srgbClr val="D1EFFF"/>
                </a:solidFill>
              </a:rPr>
              <a:t>  upgrade-safe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LÓGICA · EXEMPLO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Validar antes de salvar a viagem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378561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378561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webapp/ext/controller/TravelOP.controller.js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travels › webapp › ext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9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"sap/ui/core/mvc/ControllerExtension"],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ControllerExtension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 strict";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ControllerExtension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"travels.ext.controller.TravelOP",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override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onInit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getExtensionAPI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editFlow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onBeforeSave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checagem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ó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cio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fica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RAP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ControllerExtension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Registrado em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sap.ui.controllerExtensions</a:t>
            </a:r>
            <a:r>
              <a:rPr lang="en-US" sz="1050" dirty="0">
                <a:solidFill>
                  <a:srgbClr val="556B82"/>
                </a:solidFill>
              </a:rPr>
              <a:t> no manifest para a página.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override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Pontos oficiais: ciclo de vida,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editFlow</a:t>
            </a:r>
            <a:r>
              <a:rPr lang="en-US" sz="1050" dirty="0">
                <a:solidFill>
                  <a:srgbClr val="556B82"/>
                </a:solidFill>
              </a:rPr>
              <a:t>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routing</a:t>
            </a:r>
            <a:r>
              <a:rPr lang="en-US" sz="1050" dirty="0">
                <a:solidFill>
                  <a:srgbClr val="556B82"/>
                </a:solidFill>
              </a:rPr>
              <a:t>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intentBasedNavigation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Extension API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getExtensionAPI()</a:t>
            </a:r>
            <a:r>
              <a:rPr lang="en-US" sz="1050" dirty="0">
                <a:solidFill>
                  <a:srgbClr val="556B82"/>
                </a:solidFill>
              </a:rPr>
              <a:t> é a única porta suportada; não mexa em controles internos.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Divisão de papéis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Validações de negócio continuam no BO RAP.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03.10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</a:t>
            </a:r>
            <a:r>
              <a:rPr lang="en-US" sz="1400" b="1" dirty="0">
                <a:solidFill>
                  <a:srgbClr val="FFFFFF"/>
                </a:solidFill>
              </a:rPr>
              <a:t>Flexible Programming Model</a:t>
            </a:r>
            <a:r>
              <a:rPr lang="en-US" sz="1400" dirty="0">
                <a:solidFill>
                  <a:srgbClr val="FFFFFF"/>
                </a:solidFill>
              </a:rPr>
              <a:t> estende apps OData V4 em pontos oficiais (SAPUI5 1.94+)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Use extensões só quando o padrão não atende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Extension points</a:t>
            </a:r>
            <a:r>
              <a:rPr lang="en-US" sz="1400" dirty="0">
                <a:solidFill>
                  <a:srgbClr val="FFFFFF"/>
                </a:solidFill>
              </a:rPr>
              <a:t>: fragmentos em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webapp/ext</a:t>
            </a:r>
            <a:r>
              <a:rPr lang="en-US" sz="1400" dirty="0">
                <a:solidFill>
                  <a:srgbClr val="FFFFFF"/>
                </a:solidFill>
              </a:rPr>
              <a:t> para seções, colunas, ações e páginas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Building blocks</a:t>
            </a:r>
            <a:r>
              <a:rPr lang="en-US" sz="1400" dirty="0">
                <a:solidFill>
                  <a:srgbClr val="FFFFFF"/>
                </a:solidFill>
              </a:rPr>
              <a:t> (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sap.fe.macros</a:t>
            </a:r>
            <a:r>
              <a:rPr lang="en-US" sz="1400" dirty="0">
                <a:solidFill>
                  <a:srgbClr val="FFFFFF"/>
                </a:solidFill>
              </a:rPr>
              <a:t>) geram controles a partir dos metadados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Controller extensions</a:t>
            </a:r>
            <a:r>
              <a:rPr lang="en-US" sz="1400" dirty="0">
                <a:solidFill>
                  <a:srgbClr val="FFFFFF"/>
                </a:solidFill>
              </a:rPr>
              <a:t> mudam o comportamento via </a:t>
            </a:r>
            <a:r>
              <a:rPr lang="en-US" sz="1400" b="1" dirty="0">
                <a:solidFill>
                  <a:srgbClr val="FFFFFF"/>
                </a:solidFill>
              </a:rPr>
              <a:t>Extension API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</a:t>
            </a:r>
            <a:r>
              <a:rPr lang="en-US" sz="1400" b="1" dirty="0">
                <a:solidFill>
                  <a:srgbClr val="FFFFFF"/>
                </a:solidFill>
              </a:rPr>
              <a:t>SAP Fiori development portal</a:t>
            </a:r>
            <a:r>
              <a:rPr lang="en-US" sz="1400" dirty="0">
                <a:solidFill>
                  <a:srgbClr val="FFFFFF"/>
                </a:solidFill>
              </a:rPr>
              <a:t> permite explorar tudo com edição ao vivo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03.11  </a:t>
            </a:r>
            <a:r>
              <a:rPr lang="en-US" sz="1500" dirty="0">
                <a:solidFill>
                  <a:srgbClr val="FFFFFF"/>
                </a:solidFill>
              </a:rPr>
              <a:t>Deploy: Publicação, launchpad e acesso.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03.10 Flexible Programming Model</dc:title>
  <dc:subject>ABAP Moderno – Módulo 03: SAP Fiori Elements com OData V4</dc:subject>
  <dc:creator>Adriano Bispo</dc:creator>
  <cp:lastModifiedBy>Adriano Bispo</cp:lastModifiedBy>
  <cp:revision>1</cp:revision>
  <dcterms:created xsi:type="dcterms:W3CDTF">2026-10-29T01:41:15Z</dcterms:created>
  <dcterms:modified xsi:type="dcterms:W3CDTF">2026-10-29T01:41:15Z</dcterms:modified>
</cp:coreProperties>
</file>