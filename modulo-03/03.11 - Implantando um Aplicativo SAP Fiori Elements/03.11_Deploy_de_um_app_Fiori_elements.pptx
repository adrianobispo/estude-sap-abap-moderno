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03.11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03.11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Jornada da Aplicação: Do Código ao Usuário Final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Um guia completo para o deploy de aplicações Fiori Elements em S/4HANA.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0" y="1600200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81160" y="1600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/UI5/UI5_REPOSITORY_LOAD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21671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0" y="2350008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81160" y="2350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npm run deploy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3099816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81160" y="30998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BSP Application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0" y="3849624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38496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Catálogos FLP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0" y="4599432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45994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Role (IAM)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Caminho Completo da Sua Aplicação Fiori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58082" y="2743200"/>
            <a:ext cx="8875532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3722" y="2148840"/>
            <a:ext cx="1188720" cy="118872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2900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Desenvolvimento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82605" y="2148840"/>
            <a:ext cx="1188720" cy="118872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67523" y="342900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Empacotamento &amp; Deploy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01488" y="2148840"/>
            <a:ext cx="1188720" cy="118872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6406" y="342900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Repositório ABAP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20371" y="2148840"/>
            <a:ext cx="1188720" cy="118872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05289" y="342900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Configuração do Launchpad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39254" y="2148840"/>
            <a:ext cx="1188720" cy="118872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24172" y="342900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Acesso do Usuário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343400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Seguiremos o caminho completo que sua aplicação Fiori percorre: desde um arquivo local em sua máquina até se tornar uma ferramenta segura e acessível no Fiori Launchpad do usuário de negócio.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902" y="2446020"/>
            <a:ext cx="594360" cy="59436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785" y="2446020"/>
            <a:ext cx="594360" cy="59436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668" y="2446020"/>
            <a:ext cx="594360" cy="59436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551" y="2446020"/>
            <a:ext cx="594360" cy="59436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434" y="2446020"/>
            <a:ext cx="594360" cy="594360"/>
          </a:xfrm>
          <a:prstGeom prst="rect">
            <a:avLst/>
          </a:prstGeom>
        </p:spPr>
      </p:pic>
      <p:sp>
        <p:nvSpPr>
          <p:cNvPr id="20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Ponto de Partida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Aplicação em Seu Ambiente Local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4023360" cy="3657600"/>
          </a:xfrm>
          <a:prstGeom prst="ellipse">
            <a:avLst/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Servidor Node.js Local / Proxy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600200"/>
            <a:ext cx="6156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Durante o desenvolvimento, sua aplicação Fiori vive em um “ambiente protegido” e isolado.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0" y="25603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2542032"/>
            <a:ext cx="5425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Servidor local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Roda em um servidor Node.js na sua própria máquina.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34747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3456432"/>
            <a:ext cx="5425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Acesso a dados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Utiliza um </a:t>
            </a:r>
            <a:r>
              <a:rPr lang="en-US" sz="1400" b="1" dirty="0">
                <a:solidFill>
                  <a:srgbClr val="556B82"/>
                </a:solidFill>
              </a:rPr>
              <a:t>proxy</a:t>
            </a:r>
            <a:r>
              <a:rPr lang="en-US" sz="1400" dirty="0">
                <a:solidFill>
                  <a:srgbClr val="556B82"/>
                </a:solidFill>
              </a:rPr>
              <a:t> para se comunicar com o sistema SAP.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0" y="43891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4370832"/>
            <a:ext cx="5425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Inacessível para outros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Usuários finais como gerentes, auditores ou vendedores não têm como acessá-la.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32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64D9"/>
                </a:solidFill>
              </a:rPr>
              <a:t>Como transformamos este protótipo local em uma ferramenta de produção robusta, segura e escalável, disponível para toda a empresa?</a:t>
            </a:r>
            <a:endParaRPr lang="en-US" sz="1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697480"/>
            <a:ext cx="1554480" cy="155448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01" y="2681021"/>
            <a:ext cx="261518" cy="261518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101" y="3595421"/>
            <a:ext cx="261518" cy="261518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101" y="450982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Destino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Aplicação BSP no Coração do S/4HANA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4994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228211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HTML · JS · CSS · XML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arquivos web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6786" y="20574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600200"/>
            <a:ext cx="2464994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1673352"/>
            <a:ext cx="228211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BSP Application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contêiner técnico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3260" y="20574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600200"/>
            <a:ext cx="2464994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1673352"/>
            <a:ext cx="228211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ABAP S/4HANA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repositório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39733" y="20574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600200"/>
            <a:ext cx="2464994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1673352"/>
            <a:ext cx="228211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Serviço ICF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URL oficial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Para que os usuários acessem o app, o código-fonte precisa residir no servidor SAP. Isso é feito por meio de uma </a:t>
            </a:r>
            <a:r>
              <a:rPr lang="en-US" sz="1600" b="1" dirty="0">
                <a:solidFill>
                  <a:srgbClr val="1D2D3E"/>
                </a:solidFill>
              </a:rPr>
              <a:t>Aplicação BSP (Business Server Page)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34440" y="3822192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Contêiner técnico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Armazena todos os arquivos web estáticos (HTML, CSS, JavaScript) diretamente no repositório ABAP.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34440" y="4599432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Versão otimizada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deploy não envia os arquivos ‘crus’, mas uma versão otimizada e compactada (minificada) para máxima performance.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34440" y="5376672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Ponto de acesso oficial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Implantado, o app ganha uma URL oficial e um nó no </a:t>
            </a:r>
            <a:r>
              <a:rPr lang="en-US" sz="1300" b="1" dirty="0">
                <a:solidFill>
                  <a:srgbClr val="556B82"/>
                </a:solidFill>
              </a:rPr>
              <a:t>ICF (Internet Communication Framework)</a:t>
            </a:r>
            <a:r>
              <a:rPr lang="en-US" sz="1300" dirty="0">
                <a:solidFill>
                  <a:srgbClr val="556B82"/>
                </a:solidFill>
              </a:rPr>
              <a:t>, acessível pela rede da empresa.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950208"/>
            <a:ext cx="237744" cy="237744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27448"/>
            <a:ext cx="237744" cy="237744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50468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Veículo do Deploy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Automatizando o Processo com SAP Fiori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O Jeito Antigo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/UI5/UI5_REPOSITORY_LOAD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Upload manual de arquivos, múltiplos passos, propenso a erros.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F3A"/>
                </a:solidFill>
              </a:rPr>
              <a:t>O Jeito Moderno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Deploy automático (one-click) a partir da IDE.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Pipeline integrado, rápido e consistente.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160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4592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mapa do deploy: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800600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Na primeira execução do assistente de deploy, ele gera o arquivo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r>
              <a:rPr lang="en-US" sz="1400" dirty="0">
                <a:solidFill>
                  <a:srgbClr val="1D2D3E"/>
                </a:solidFill>
              </a:rPr>
              <a:t>: o ‘mapa’ que instrui as ferramentas sobre: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5303520"/>
            <a:ext cx="972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Qual é o sistema de destino (URL, cliente).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Qual o nome técnico do app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Z_TRAVEL_APP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Qual o pacote ABAP de destino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$TMP</a:t>
            </a:r>
            <a:r>
              <a:rPr lang="en-US" sz="1400" dirty="0">
                <a:solidFill>
                  <a:srgbClr val="1D2D3E"/>
                </a:solidFill>
              </a:rPr>
              <a:t> ou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Z_PACKAGE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4314139"/>
            <a:ext cx="332842" cy="332842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Preenchendo a Ordem de Remessa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Assistente ‘Deploy Application’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572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Target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075688"/>
            <a:ext cx="2834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Name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944368"/>
            <a:ext cx="2834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21608"/>
            <a:ext cx="2834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Package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498848"/>
            <a:ext cx="283464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120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Transport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413248"/>
            <a:ext cx="2834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1600200"/>
            <a:ext cx="74368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Target System (conexão):</a:t>
            </a:r>
            <a:r>
              <a:rPr lang="en-US" sz="1400" dirty="0">
                <a:solidFill>
                  <a:srgbClr val="1D2D3E"/>
                </a:solidFill>
              </a:rPr>
              <a:t> a seleção do sistema S/4HANA de destino. A ferramenta valida suas permissões.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Name:</a:t>
            </a:r>
            <a:r>
              <a:rPr lang="en-US" sz="1400" dirty="0">
                <a:solidFill>
                  <a:srgbClr val="1D2D3E"/>
                </a:solidFill>
              </a:rPr>
              <a:t> o nome técnico da BSP Application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z_travel_app</a:t>
            </a:r>
            <a:r>
              <a:rPr lang="en-US" sz="1400" dirty="0">
                <a:solidFill>
                  <a:srgbClr val="1D2D3E"/>
                </a:solidFill>
              </a:rPr>
              <a:t>). Deve ser único e seguir as convenções (geralmente até 15 caracteres).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Description:</a:t>
            </a:r>
            <a:r>
              <a:rPr lang="en-US" sz="1400" dirty="0">
                <a:solidFill>
                  <a:srgbClr val="1D2D3E"/>
                </a:solidFill>
              </a:rPr>
              <a:t> descrição para a transação SE80.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Package:</a:t>
            </a:r>
            <a:r>
              <a:rPr lang="en-US" sz="1400" dirty="0">
                <a:solidFill>
                  <a:srgbClr val="1D2D3E"/>
                </a:solidFill>
              </a:rPr>
              <a:t> a decisão mais crítica para o ciclo de vida da aplicação.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39776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3931920"/>
            <a:ext cx="6705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$TMP: </a:t>
            </a:r>
            <a:r>
              <a:rPr lang="en-US" sz="1300" dirty="0">
                <a:solidFill>
                  <a:srgbClr val="1D2D3E"/>
                </a:solidFill>
              </a:rPr>
              <a:t>Objeto local: não pode ser transportado para Qualidade ou Produção. Ideal para testes iniciais.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4709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4663440"/>
            <a:ext cx="6705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Z_MAIN_PACKAGE: </a:t>
            </a:r>
            <a:r>
              <a:rPr lang="en-US" sz="1300" dirty="0">
                <a:solidFill>
                  <a:srgbClr val="1D2D3E"/>
                </a:solidFill>
              </a:rPr>
              <a:t>Pacote produtivo: exige uma Transport Request para mover a aplicação entre ambientes.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37760" y="5394960"/>
            <a:ext cx="6705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Transport Request (TR): </a:t>
            </a:r>
            <a:r>
              <a:rPr lang="en-US" sz="1300" dirty="0">
                <a:solidFill>
                  <a:srgbClr val="1D2D3E"/>
                </a:solidFill>
              </a:rPr>
              <a:t>O ‘contêiner de remessa’ que leva sua aplicação (e outros objetos) do Desenvolvimento para os próximos ambientes (QAS, PRD).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7914" y="4840834"/>
            <a:ext cx="285293" cy="285293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914" y="4109314"/>
            <a:ext cx="285293" cy="285293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914" y="557235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Nos Bastidores da Execução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Build e Upload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FASE 1: BUILD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View1.controller.js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Component.js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i18n.properties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606040"/>
            <a:ext cx="548640" cy="36576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201168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66360" y="2423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Component-preload.js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minified &amp; combined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FASE 2: UPLOAD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2514600"/>
            <a:ext cx="1280160" cy="50292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181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HTTP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ABAP Repository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1. Build (construção)</a:t>
            </a:r>
            <a:endParaRPr lang="en-US" sz="15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O comando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r>
              <a:rPr lang="en-US" sz="1300" dirty="0">
                <a:solidFill>
                  <a:srgbClr val="1D2D3E"/>
                </a:solidFill>
              </a:rPr>
              <a:t> é executado.</a:t>
            </a:r>
            <a:endParaRPr lang="en-US" sz="15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Cria uma pasta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r>
              <a:rPr lang="en-US" sz="1300" dirty="0">
                <a:solidFill>
                  <a:srgbClr val="1D2D3E"/>
                </a:solidFill>
              </a:rPr>
              <a:t> com a versão otimizada do app.</a:t>
            </a:r>
            <a:endParaRPr lang="en-US" sz="15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O arquivo mais importante é 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Component-preload.js</a:t>
            </a:r>
            <a:r>
              <a:rPr lang="en-US" sz="1300" dirty="0">
                <a:solidFill>
                  <a:srgbClr val="1D2D3E"/>
                </a:solidFill>
              </a:rPr>
              <a:t>: todos os seus arquivos JavaScript combinados e compactados em um só, reduzindo drasticamente o tempo de carregamento inicial.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728" y="388620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2. Upload &amp; registro</a:t>
            </a:r>
            <a:endParaRPr lang="en-US" sz="15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O conteúdo da pasta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r>
              <a:rPr lang="en-US" sz="1300" dirty="0">
                <a:solidFill>
                  <a:srgbClr val="1D2D3E"/>
                </a:solidFill>
              </a:rPr>
              <a:t> é enviado para o repositório ABAP.</a:t>
            </a:r>
            <a:endParaRPr lang="en-US" sz="15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O serviço ICF correspondente é ativado.</a:t>
            </a:r>
            <a:endParaRPr lang="en-US" sz="15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O cache de UI5 do servidor é invalidado para que a nova versão seja carregada imediatamente.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320040" cy="32004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320040" cy="32004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320040" cy="32004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20040" cy="32004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331720"/>
            <a:ext cx="914400" cy="91440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103120"/>
            <a:ext cx="365760" cy="36576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2057400"/>
            <a:ext cx="118872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Checagem de Status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Aplicação Implantada, Porém Invisível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783080"/>
            <a:ext cx="1463040" cy="146304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0" y="2514600"/>
            <a:ext cx="23774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40880" y="1691640"/>
            <a:ext cx="237744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DE6FF"/>
                </a:solidFill>
              </a:rPr>
              <a:t>?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Sucesso! Sua aplicação agora reside no servidor S/4HANA.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16052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Mas um novo desafio surge… O código está no lugar certo, mas o Fiori Launchpad não sabe que ele existe. Para o usuário final, a aplicação é ‘invisível’: não há um ícone (Tile) para clicar.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5349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Próxima etapa:</a:t>
            </a:r>
            <a:r>
              <a:rPr lang="en-US" sz="1600" dirty="0">
                <a:solidFill>
                  <a:srgbClr val="1D2D3E"/>
                </a:solidFill>
              </a:rPr>
              <a:t> configurar os metadados de navegação para tornar sua aplicação detectável e acessível.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4330" y="2134210"/>
            <a:ext cx="760781" cy="760781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880360"/>
            <a:ext cx="548640" cy="54864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184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Dando Visibilidade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Arquitetura de Catálogos do Fiori Launchpad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configuração no S/4HANA moderno segue uma hierarquia de dois níveis para maximizar a reutilização e separar as responsabilidades.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64328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2651760"/>
            <a:ext cx="3809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1. Catálogo Técnico (Technical Catalog)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Propósito: </a:t>
            </a:r>
            <a:r>
              <a:rPr lang="en-US" sz="1500" dirty="0">
                <a:solidFill>
                  <a:srgbClr val="1D2D3E"/>
                </a:solidFill>
              </a:rPr>
              <a:t>Define </a:t>
            </a:r>
            <a:r>
              <a:rPr lang="en-US" sz="1500" b="1" dirty="0">
                <a:solidFill>
                  <a:srgbClr val="1D2D3E"/>
                </a:solidFill>
              </a:rPr>
              <a:t>o que</a:t>
            </a:r>
            <a:r>
              <a:rPr lang="en-US" sz="1500" dirty="0">
                <a:solidFill>
                  <a:srgbClr val="1D2D3E"/>
                </a:solidFill>
              </a:rPr>
              <a:t> a aplicação é, tecnicamente.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481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4F00"/>
                </a:solidFill>
              </a:rPr>
              <a:t>Analogia: </a:t>
            </a:r>
            <a:r>
              <a:rPr lang="en-US" sz="1500" dirty="0">
                <a:solidFill>
                  <a:srgbClr val="1D2D3E"/>
                </a:solidFill>
              </a:rPr>
              <a:t>Um ‘Armazém de Peças’: onde o desenvolvedor armazena as definições originais dos aplicativos.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8728" y="2423160"/>
            <a:ext cx="5364328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265176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58888" y="2651760"/>
            <a:ext cx="3809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2. Catálogo de Negócio (Business Catalog)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703320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Propósito: </a:t>
            </a:r>
            <a:r>
              <a:rPr lang="en-US" sz="1500" dirty="0">
                <a:solidFill>
                  <a:srgbClr val="1D2D3E"/>
                </a:solidFill>
              </a:rPr>
              <a:t>Define </a:t>
            </a:r>
            <a:r>
              <a:rPr lang="en-US" sz="1500" b="1" dirty="0">
                <a:solidFill>
                  <a:srgbClr val="1D2D3E"/>
                </a:solidFill>
              </a:rPr>
              <a:t>quem</a:t>
            </a:r>
            <a:r>
              <a:rPr lang="en-US" sz="1500" dirty="0">
                <a:solidFill>
                  <a:srgbClr val="1D2D3E"/>
                </a:solidFill>
              </a:rPr>
              <a:t> vê o quê.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4343400"/>
            <a:ext cx="481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4F00"/>
                </a:solidFill>
              </a:rPr>
              <a:t>Analogia: </a:t>
            </a:r>
            <a:r>
              <a:rPr lang="en-US" sz="1500" dirty="0">
                <a:solidFill>
                  <a:srgbClr val="1D2D3E"/>
                </a:solidFill>
              </a:rPr>
              <a:t>O ‘Menu do Restaurante’: onde o consultor funcional monta um conjunto de aplicativos para uma função de negócio específica, selecionando ‘peças’ do armazém.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558" y="2849270"/>
            <a:ext cx="427939" cy="42793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" y="2849270"/>
            <a:ext cx="427939" cy="4279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Fundação Técnica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Definindo o App no Catálogo Técnico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Catálogo Técnico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23774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37160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Tile (Bloco)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Título: “Gerenciar Viagens”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Ícone: sap-icon://travel-itinerary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468880"/>
            <a:ext cx="23774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97764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Target Mapping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Semantic Object: Travel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Action: manage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154680"/>
            <a:ext cx="548640" cy="45720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3703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App ID: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z_travel_app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1600200"/>
            <a:ext cx="3962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Catálogo Técnico é focado na definição técnica (DRY: Don’t Repeat Yourself). Mudanças aqui refletem em todos os lugares que o referenciam.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880360"/>
            <a:ext cx="3962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D2D3E"/>
                </a:solidFill>
              </a:rPr>
              <a:t>Tile (Bloco):</a:t>
            </a:r>
            <a:r>
              <a:rPr lang="en-US" sz="1300" dirty="0">
                <a:solidFill>
                  <a:srgbClr val="1D2D3E"/>
                </a:solidFill>
              </a:rPr>
              <a:t> a representação visual no Launchpad. Define título, ícone e pode ser dinâmico (ex.: contador “5 Viagens Pendentes”).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D2D3E"/>
                </a:solidFill>
              </a:rPr>
              <a:t>Target Mapping:</a:t>
            </a:r>
            <a:r>
              <a:rPr lang="en-US" sz="1300" dirty="0">
                <a:solidFill>
                  <a:srgbClr val="1D2D3E"/>
                </a:solidFill>
              </a:rPr>
              <a:t> a regra de roteamento baseada em intenção. Ex.: ‘Sempre que o sistema receber a intenção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r>
              <a:rPr lang="en-US" sz="1300" dirty="0">
                <a:solidFill>
                  <a:srgbClr val="1D2D3E"/>
                </a:solidFill>
              </a:rPr>
              <a:t> o objeto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1300" dirty="0">
                <a:solidFill>
                  <a:srgbClr val="1D2D3E"/>
                </a:solidFill>
              </a:rPr>
              <a:t>, execute a aplicação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z_travel_app</a:t>
            </a:r>
            <a:r>
              <a:rPr lang="en-US" sz="1300" dirty="0">
                <a:solidFill>
                  <a:srgbClr val="1D2D3E"/>
                </a:solidFill>
              </a:rPr>
              <a:t>’.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365760" cy="36576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60604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Visão de Negócio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Agrupando Funções no Catálogo de Negócio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35928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Catálogo de Gestão de Viagens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Catálogo Técnico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2514600"/>
            <a:ext cx="2621128" cy="182880"/>
          </a:xfrm>
          <a:prstGeom prst="line">
            <a:avLst/>
          </a:prstGeom>
          <a:noFill/>
          <a:ln w="19050">
            <a:solidFill>
              <a:srgbClr val="0070F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13232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Catálogo Técnico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H="1">
            <a:off x="6095848" y="2514600"/>
            <a:ext cx="2225192" cy="182880"/>
          </a:xfrm>
          <a:prstGeom prst="line">
            <a:avLst/>
          </a:prstGeom>
          <a:noFill/>
          <a:ln w="19050">
            <a:solidFill>
              <a:srgbClr val="0070F2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" y="3886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Catálogo de Negócio é focado na função do usuário: não contém definições originais, apenas </a:t>
            </a:r>
            <a:r>
              <a:rPr lang="en-US" sz="1500" b="1" dirty="0">
                <a:solidFill>
                  <a:srgbClr val="1D2D3E"/>
                </a:solidFill>
              </a:rPr>
              <a:t>referências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437083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Agrupamento lógico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Reúne Tiles e Target Mappings que fazem sentido para uma função de trabalho (ex.: Gerente de Viagens).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92624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974336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Montagem do ‘menu’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consultor funcional seleciona os ‘pratos’ (aplicativos) dos ‘armazéns’ (Catálogos Técnicos) para cada tipo de ‘cliente’ (usuário).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596128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5577840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Ponte para a segurança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É este objeto que será atribuído às Roles de segurança, não o Catálogo Técnico.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651760"/>
            <a:ext cx="822960" cy="82296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8" y="1508760"/>
            <a:ext cx="1097280" cy="109728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651760"/>
            <a:ext cx="822960" cy="82296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" y="4487875"/>
            <a:ext cx="213970" cy="21397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5091379"/>
            <a:ext cx="213970" cy="21397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" y="5694883"/>
            <a:ext cx="213970" cy="213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Checagem de Status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Aplicação Visível, Mas o Acesso Está Bloqueado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691640"/>
            <a:ext cx="29260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9260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Gerenciar Viagens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2468880"/>
            <a:ext cx="1554480" cy="274320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Configuração concluída! O Fiori Launchpad agora sabe como exibir e iniciar sua aplicação.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29768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Mas o trabalho ainda não terminou… Por padrão, o acesso é negado: a aplicação está definida, mas nenhum usuário tem a permissão necessária para ver o Catálogo de Negócio que a contém.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539496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Etapa final:</a:t>
            </a:r>
            <a:r>
              <a:rPr lang="en-US" sz="1600" dirty="0">
                <a:solidFill>
                  <a:srgbClr val="1D2D3E"/>
                </a:solidFill>
              </a:rPr>
              <a:t> conceder acesso de forma segura e controlada por meio do modelo de gestão de identidade (IAM).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331720"/>
            <a:ext cx="822960" cy="82296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64124"/>
            <a:ext cx="347472" cy="34747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74520"/>
            <a:ext cx="1371600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Abrindo as Portas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Gestão de Acesso com IAM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Usuário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2743200"/>
            <a:ext cx="365760" cy="3200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Business Role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4251960"/>
            <a:ext cx="365760" cy="3200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Business Catalog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600200"/>
            <a:ext cx="8351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No modelo </a:t>
            </a:r>
            <a:r>
              <a:rPr lang="en-US" sz="1500" b="1" dirty="0">
                <a:solidFill>
                  <a:srgbClr val="1D2D3E"/>
                </a:solidFill>
              </a:rPr>
              <a:t>ABAP Cloud</a:t>
            </a:r>
            <a:r>
              <a:rPr lang="en-US" sz="1500" dirty="0">
                <a:solidFill>
                  <a:srgbClr val="1D2D3E"/>
                </a:solidFill>
              </a:rPr>
              <a:t> (S/4HANA Cloud e BTP), o acesso é gerenciado pelo </a:t>
            </a:r>
            <a:r>
              <a:rPr lang="en-US" sz="1500" b="1" dirty="0">
                <a:solidFill>
                  <a:srgbClr val="1D2D3E"/>
                </a:solidFill>
              </a:rPr>
              <a:t>IAM (Identity and Access Management)</a:t>
            </a:r>
            <a:r>
              <a:rPr lang="en-US" sz="1500" dirty="0">
                <a:solidFill>
                  <a:srgbClr val="1D2D3E"/>
                </a:solidFill>
              </a:rPr>
              <a:t>, que simplifica a complexidade da gestão de perfis.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8351215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293522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56432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560320"/>
            <a:ext cx="757397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Criação da Business Role:</a:t>
            </a:r>
            <a:r>
              <a:rPr lang="en-US" sz="1300" dirty="0">
                <a:solidFill>
                  <a:srgbClr val="1D2D3E"/>
                </a:solidFill>
              </a:rPr>
              <a:t> um papel que representa uma função de trabalho (ex.: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Z_TRAVEL_MANAGER_ROLE</a:t>
            </a:r>
            <a:r>
              <a:rPr lang="en-US" sz="1300" dirty="0">
                <a:solidFill>
                  <a:srgbClr val="1D2D3E"/>
                </a:solidFill>
              </a:rPr>
              <a:t>), frequentemente derivado de templates SAP para herdar permissões básicas.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3749040"/>
            <a:ext cx="8351215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412394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5643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749040"/>
            <a:ext cx="757397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Atribuição do Catálogo de Negócio</a:t>
            </a:r>
            <a:r>
              <a:rPr lang="en-US" sz="1300" dirty="0">
                <a:solidFill>
                  <a:srgbClr val="1D2D3E"/>
                </a:solidFill>
              </a:rPr>
              <a:t> à Business Role. </a:t>
            </a:r>
            <a:r>
              <a:rPr lang="en-US" sz="1300" b="1" dirty="0">
                <a:solidFill>
                  <a:srgbClr val="1D2D3E"/>
                </a:solidFill>
              </a:rPr>
              <a:t>Mágica:</a:t>
            </a:r>
            <a:r>
              <a:rPr lang="en-US" sz="1300" dirty="0">
                <a:solidFill>
                  <a:srgbClr val="1D2D3E"/>
                </a:solidFill>
              </a:rPr>
              <a:t> a Role herda automaticamente as autorizações para os serviços OData (IWSG) e a aplicação BSP contidos no catálogo, sem adicionar objetos de autorização manualmente.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91840" y="4937760"/>
            <a:ext cx="8351215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56432" y="531266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56432" y="5312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937760"/>
            <a:ext cx="757397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Atribuição ao usuário de negócio:</a:t>
            </a:r>
            <a:r>
              <a:rPr lang="en-US" sz="1300" dirty="0">
                <a:solidFill>
                  <a:srgbClr val="1D2D3E"/>
                </a:solidFill>
              </a:rPr>
              <a:t> a Business Role é finalmente atribuída ao usuário final.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00200"/>
            <a:ext cx="822960" cy="82296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108960"/>
            <a:ext cx="822960" cy="82296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617720"/>
            <a:ext cx="822960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Fluxo Completo de Acesso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 Pessoa à Aplicação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8969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170681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Usuário de Negócio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(João Silva)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1491" y="219456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2849819" y="1691640"/>
            <a:ext cx="188969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41259" y="1764792"/>
            <a:ext cx="170681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Business Role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(Gerente de Viagens)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12670" y="219456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5150998" y="1691640"/>
            <a:ext cx="188969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42438" y="1764792"/>
            <a:ext cx="170681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Business Catalog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(Gestão de Viagens)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3849" y="219456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52177" y="1691640"/>
            <a:ext cx="188969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43617" y="1764792"/>
            <a:ext cx="170681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Technical Catalog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(Definições de Viagem)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15028" y="219456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6" name="Shape 14"/>
          <p:cNvSpPr/>
          <p:nvPr/>
        </p:nvSpPr>
        <p:spPr>
          <a:xfrm>
            <a:off x="9753356" y="1691640"/>
            <a:ext cx="188969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844796" y="1764792"/>
            <a:ext cx="170681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F3A"/>
                </a:solidFill>
              </a:rPr>
              <a:t>BSP App &amp; OData Service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301179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B82"/>
                </a:solidFill>
              </a:rPr>
              <a:t>possui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02358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B82"/>
                </a:solidFill>
              </a:rPr>
              <a:t>agrupa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03537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B82"/>
                </a:solidFill>
              </a:rPr>
              <a:t>referencia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204716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B82"/>
                </a:solidFill>
              </a:rPr>
              <a:t>aponta para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520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Quando um usuário faz login no Fiori Launchpad, o sistema percorre esta cadeia para determinar o que deve ser exibido: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233672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206240"/>
            <a:ext cx="10317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Verifica as </a:t>
            </a:r>
            <a:r>
              <a:rPr lang="en-US" sz="1400" b="1" dirty="0">
                <a:solidFill>
                  <a:srgbClr val="1D2D3E"/>
                </a:solidFill>
              </a:rPr>
              <a:t>Business Roles</a:t>
            </a:r>
            <a:r>
              <a:rPr lang="en-US" sz="1400" dirty="0">
                <a:solidFill>
                  <a:srgbClr val="1D2D3E"/>
                </a:solidFill>
              </a:rPr>
              <a:t> do usuário.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681728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709160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681728"/>
            <a:ext cx="10317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Encontra os </a:t>
            </a:r>
            <a:r>
              <a:rPr lang="en-US" sz="1400" b="1" dirty="0">
                <a:solidFill>
                  <a:srgbClr val="1D2D3E"/>
                </a:solidFill>
              </a:rPr>
              <a:t>Business Catalogs</a:t>
            </a:r>
            <a:r>
              <a:rPr lang="en-US" sz="1400" dirty="0">
                <a:solidFill>
                  <a:srgbClr val="1D2D3E"/>
                </a:solidFill>
              </a:rPr>
              <a:t> atribuídos a essas roles.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5157216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51846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5157216"/>
            <a:ext cx="10317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Usa as referências para encontrar os Tiles e Target Mappings nos </a:t>
            </a:r>
            <a:r>
              <a:rPr lang="en-US" sz="1400" b="1" dirty="0">
                <a:solidFill>
                  <a:srgbClr val="1D2D3E"/>
                </a:solidFill>
              </a:rPr>
              <a:t>Technical Catalogs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5632704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660136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5660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5632704"/>
            <a:ext cx="10317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Renderiza os Tiles e concede acesso aos </a:t>
            </a:r>
            <a:r>
              <a:rPr lang="en-US" sz="1400" b="1" dirty="0">
                <a:solidFill>
                  <a:srgbClr val="1D2D3E"/>
                </a:solidFill>
              </a:rPr>
              <a:t>Serviços OData</a:t>
            </a:r>
            <a:r>
              <a:rPr lang="en-US" sz="1400" dirty="0">
                <a:solidFill>
                  <a:srgbClr val="1D2D3E"/>
                </a:solidFill>
              </a:rPr>
              <a:t> e </a:t>
            </a:r>
            <a:r>
              <a:rPr lang="en-US" sz="1400" b="1" dirty="0">
                <a:solidFill>
                  <a:srgbClr val="1D2D3E"/>
                </a:solidFill>
              </a:rPr>
              <a:t>Aplicações BSP</a:t>
            </a:r>
            <a:r>
              <a:rPr lang="en-US" sz="1400" dirty="0">
                <a:solidFill>
                  <a:srgbClr val="1D2D3E"/>
                </a:solidFill>
              </a:rPr>
              <a:t> correspondentes.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Jornada Completa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 Código ao Clique do Usuário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58082" y="2057400"/>
            <a:ext cx="8875532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2" y="1600200"/>
            <a:ext cx="914400" cy="91440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Desenvolvimento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9765" y="1600200"/>
            <a:ext cx="914400" cy="91440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7523" y="260604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Empacotamento &amp; Deploy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38648" y="1600200"/>
            <a:ext cx="914400" cy="91440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6406" y="260604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Repositório ABAP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57531" y="1600200"/>
            <a:ext cx="914400" cy="91440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05289" y="260604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Configuração do Launchpad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76414" y="1600200"/>
            <a:ext cx="914400" cy="91440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24172" y="2606040"/>
            <a:ext cx="22188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Acesso do Usuário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1. </a:t>
            </a:r>
            <a:r>
              <a:rPr lang="en-US" sz="1300" b="1" dirty="0">
                <a:solidFill>
                  <a:srgbClr val="1D2D3E"/>
                </a:solidFill>
              </a:rPr>
              <a:t>Desenvolvimento:</a:t>
            </a:r>
            <a:r>
              <a:rPr lang="en-US" sz="1300" dirty="0">
                <a:solidFill>
                  <a:srgbClr val="1D2D3E"/>
                </a:solidFill>
              </a:rPr>
              <a:t> você criou sua aplicação em seu ambiente local.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2. </a:t>
            </a:r>
            <a:r>
              <a:rPr lang="en-US" sz="1300" b="1" dirty="0">
                <a:solidFill>
                  <a:srgbClr val="1D2D3E"/>
                </a:solidFill>
              </a:rPr>
              <a:t>Empacotamento &amp; Deploy:</a:t>
            </a:r>
            <a:r>
              <a:rPr lang="en-US" sz="1300" dirty="0">
                <a:solidFill>
                  <a:srgbClr val="1D2D3E"/>
                </a:solidFill>
              </a:rPr>
              <a:t> com as Fiori Tools, empacotou e enviou o código como uma Aplicação BSP para o servidor ABAP.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3. </a:t>
            </a:r>
            <a:r>
              <a:rPr lang="en-US" sz="1300" b="1" dirty="0">
                <a:solidFill>
                  <a:srgbClr val="1D2D3E"/>
                </a:solidFill>
              </a:rPr>
              <a:t>Repositório ABAP:</a:t>
            </a:r>
            <a:r>
              <a:rPr lang="en-US" sz="1300" dirty="0">
                <a:solidFill>
                  <a:srgbClr val="1D2D3E"/>
                </a:solidFill>
              </a:rPr>
              <a:t> sua aplicação está hospedada de forma segura e otimizada no S/4HANA.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4. </a:t>
            </a:r>
            <a:r>
              <a:rPr lang="en-US" sz="1300" b="1" dirty="0">
                <a:solidFill>
                  <a:srgbClr val="1D2D3E"/>
                </a:solidFill>
              </a:rPr>
              <a:t>Configuração do Launchpad:</a:t>
            </a:r>
            <a:r>
              <a:rPr lang="en-US" sz="1300" dirty="0">
                <a:solidFill>
                  <a:srgbClr val="1D2D3E"/>
                </a:solidFill>
              </a:rPr>
              <a:t> definiu a aplicação em um Catálogo Técnico e a disponibilizou para uma função de negócio em um Catálogo de Negócio.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5. </a:t>
            </a:r>
            <a:r>
              <a:rPr lang="en-US" sz="1300" b="1" dirty="0">
                <a:solidFill>
                  <a:srgbClr val="1D2D3E"/>
                </a:solidFill>
              </a:rPr>
              <a:t>Acesso do Usuário:</a:t>
            </a:r>
            <a:r>
              <a:rPr lang="en-US" sz="1300" dirty="0">
                <a:solidFill>
                  <a:srgbClr val="1D2D3E"/>
                </a:solidFill>
              </a:rPr>
              <a:t> concedeu acesso por uma Business Role, permitindo que o usuário final veja e use a aplicação.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Você transformou com sucesso uma ideia em código em uma ferramenta de negócio funcional e segura.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482" y="1828800"/>
            <a:ext cx="457200" cy="45720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085" y="3154680"/>
            <a:ext cx="365760" cy="36576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202" y="3154680"/>
            <a:ext cx="365760" cy="36576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365" y="1828800"/>
            <a:ext cx="457200" cy="457200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248" y="1828800"/>
            <a:ext cx="457200" cy="45720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968" y="3154680"/>
            <a:ext cx="365760" cy="36576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1851" y="3154680"/>
            <a:ext cx="365760" cy="36576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131" y="1828800"/>
            <a:ext cx="457200" cy="45720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5014" y="1828800"/>
            <a:ext cx="457200" cy="457200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0734" y="315468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Ferramentas para o Sucesso: Checklist e Glossário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Checklist de Deploy (antes de enviar)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24028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Teste local: </a:t>
            </a:r>
            <a:r>
              <a:rPr lang="en-US" sz="1300" dirty="0">
                <a:solidFill>
                  <a:srgbClr val="C9D3DE"/>
                </a:solidFill>
              </a:rPr>
              <a:t>a aplicação roda sem erros com </a:t>
            </a:r>
            <a:r>
              <a:rPr lang="en-US" sz="13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300" dirty="0">
                <a:solidFill>
                  <a:srgbClr val="C9D3DE"/>
                </a:solidFill>
              </a:rPr>
              <a:t> e consome dados reais?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1752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Configuração YAML: </a:t>
            </a:r>
            <a:r>
              <a:rPr lang="en-US" sz="1300" dirty="0">
                <a:solidFill>
                  <a:srgbClr val="C9D3DE"/>
                </a:solidFill>
              </a:rPr>
              <a:t>o </a:t>
            </a:r>
            <a:r>
              <a:rPr lang="en-US" sz="13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r>
              <a:rPr lang="en-US" sz="1300" dirty="0">
                <a:solidFill>
                  <a:srgbClr val="C9D3DE"/>
                </a:solidFill>
              </a:rPr>
              <a:t> aponta para o sistema e pacote corretos?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9476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Transporte: </a:t>
            </a:r>
            <a:r>
              <a:rPr lang="en-US" sz="1300" dirty="0">
                <a:solidFill>
                  <a:srgbClr val="C9D3DE"/>
                </a:solidFill>
              </a:rPr>
              <a:t>você tem uma Transport Request aberta e modificável para o pacote de destino?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57200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Nomenclatura: </a:t>
            </a:r>
            <a:r>
              <a:rPr lang="en-US" sz="1300" dirty="0">
                <a:solidFill>
                  <a:srgbClr val="C9D3DE"/>
                </a:solidFill>
              </a:rPr>
              <a:t>o nome da BSP App é único, segue o padrão e tem até 15 caracteres?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534924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Limpeza: </a:t>
            </a:r>
            <a:r>
              <a:rPr lang="en-US" sz="1300" dirty="0">
                <a:solidFill>
                  <a:srgbClr val="C9D3DE"/>
                </a:solidFill>
              </a:rPr>
              <a:t>você removeu código de debug e comentários desnecessários?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1783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Glossário técnico essencial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2240280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BSP Application: </a:t>
            </a:r>
            <a:r>
              <a:rPr lang="en-US" sz="1200" dirty="0">
                <a:solidFill>
                  <a:srgbClr val="C9D3DE"/>
                </a:solidFill>
              </a:rPr>
              <a:t>Contêiner no repositório ABAP para os arquivos web da aplicação Fiori.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880360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Transport Request (TR): </a:t>
            </a:r>
            <a:r>
              <a:rPr lang="en-US" sz="1200" dirty="0">
                <a:solidFill>
                  <a:srgbClr val="C9D3DE"/>
                </a:solidFill>
              </a:rPr>
              <a:t>‘Pacote de remessa’ para mover objetos entre DEV, QAS e PRD.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3520440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Component-preload.js: </a:t>
            </a:r>
            <a:r>
              <a:rPr lang="en-US" sz="1200" dirty="0">
                <a:solidFill>
                  <a:srgbClr val="C9D3DE"/>
                </a:solidFill>
              </a:rPr>
              <a:t>Arquivo único e otimizado com todo o código JS do app.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4160520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Catálogo Técnico: </a:t>
            </a:r>
            <a:r>
              <a:rPr lang="en-US" sz="1200" dirty="0">
                <a:solidFill>
                  <a:srgbClr val="C9D3DE"/>
                </a:solidFill>
              </a:rPr>
              <a:t>Repositório das definições originais de Tiles e Target Mappings.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78728" y="4800600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Catálogo de Negócio: </a:t>
            </a:r>
            <a:r>
              <a:rPr lang="en-US" sz="1200" dirty="0">
                <a:solidFill>
                  <a:srgbClr val="C9D3DE"/>
                </a:solidFill>
              </a:rPr>
              <a:t>Coleção de referências montada para uma função de negócio.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78728" y="5440680"/>
            <a:ext cx="536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IAM: </a:t>
            </a:r>
            <a:r>
              <a:rPr lang="en-US" sz="1200" dirty="0">
                <a:solidFill>
                  <a:srgbClr val="C9D3DE"/>
                </a:solidFill>
              </a:rPr>
              <a:t>Framework de segurança que conecta Catálogos de Negócio a funções.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365760" cy="36576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365760" cy="36576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365760" cy="36576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94960"/>
            <a:ext cx="365760" cy="365760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1772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Fiori Deploy: Do Código ao Usuário</dc:title>
  <dc:subject>ABAP Moderno – Módulo 03</dc:subject>
  <dc:creator>Adriano Bispo</dc:creator>
  <cp:lastModifiedBy>Adriano Bispo</cp:lastModifiedBy>
  <cp:revision>1</cp:revision>
  <dcterms:created xsi:type="dcterms:W3CDTF">2026-10-25T15:47:29Z</dcterms:created>
  <dcterms:modified xsi:type="dcterms:W3CDTF">2026-10-25T15:47:29Z</dcterms:modified>
</cp:coreProperties>
</file>