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SAP Fiori Elements com OData V4  ·  Aula 2 de 11 — Exposição de serviços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SAP Fiori Elements com OData V4  ·  Aula 2 de 11 — Exposição de serviços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02 DE 11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Exposição de serviços no RAP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Service definition escolhe o que expor, service binding escolhe como: protocolo, tipo de uso, publicação e preview.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48729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9" name="Shape 7"/>
          <p:cNvSpPr/>
          <p:nvPr/>
        </p:nvSpPr>
        <p:spPr>
          <a:xfrm>
            <a:off x="8790709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094124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397538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9700953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04367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07782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11196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14611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1802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2 de 11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SAP Fiori Elements com OData V4 · Design System SAP Horizon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11 aulas: Fiori Elements com OData V4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Fiori Elements e OData V4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Apps guiados por metadados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8189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2781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9278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592781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Exposição de serviços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592781" y="2852928"/>
            <a:ext cx="1367485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92781" y="2852928"/>
            <a:ext cx="1367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0773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7233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7233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447233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Anotações de UI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47233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headerInfo, lineItem, selectionField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728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3" name="Text 21"/>
          <p:cNvSpPr txBox="1"/>
          <p:nvPr/>
        </p:nvSpPr>
        <p:spPr>
          <a:xfrm>
            <a:off x="635188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SAP Fiori Tools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35188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Gerador, Page Map e Guided Development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66837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3142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3142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8" name="Text 26"/>
          <p:cNvSpPr txBox="1"/>
          <p:nvPr/>
        </p:nvSpPr>
        <p:spPr>
          <a:xfrm>
            <a:off x="8231429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Floorplans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31429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 Report, Object Page e facetas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946386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11097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1097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3" name="Text 31"/>
          <p:cNvSpPr txBox="1"/>
          <p:nvPr/>
        </p:nvSpPr>
        <p:spPr>
          <a:xfrm>
            <a:off x="10110978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List Report e Object Page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110978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Ordenação, seções e field groups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Tabelas: cores e ações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Criticality, ações e importância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428189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9278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59278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3" name="Text 41"/>
          <p:cNvSpPr txBox="1"/>
          <p:nvPr/>
        </p:nvSpPr>
        <p:spPr>
          <a:xfrm>
            <a:off x="2592781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2592781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Interna, externa e baseada em intenção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30773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7233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7233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8" name="Text 46"/>
          <p:cNvSpPr txBox="1"/>
          <p:nvPr/>
        </p:nvSpPr>
        <p:spPr>
          <a:xfrm>
            <a:off x="447233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Object Page avançada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447233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 facets, visibilidade e tabelas filhas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8728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10</a:t>
            </a:r>
            <a:endParaRPr lang="en-US" sz="1260" dirty="0"/>
          </a:p>
        </p:txBody>
      </p:sp>
      <p:sp>
        <p:nvSpPr>
          <p:cNvPr id="53" name="Text 51"/>
          <p:cNvSpPr txBox="1"/>
          <p:nvPr/>
        </p:nvSpPr>
        <p:spPr>
          <a:xfrm>
            <a:off x="635188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Programação flexível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35188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Flexible Programming Model e building blocks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066837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3142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23142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11</a:t>
            </a:r>
            <a:endParaRPr lang="en-US" sz="1260" dirty="0"/>
          </a:p>
        </p:txBody>
      </p:sp>
      <p:sp>
        <p:nvSpPr>
          <p:cNvPr id="58" name="Text 56"/>
          <p:cNvSpPr txBox="1"/>
          <p:nvPr/>
        </p:nvSpPr>
        <p:spPr>
          <a:xfrm>
            <a:off x="8231429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Deploy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8231429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Publicação, launchpad e acesso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publicamos o serviço OData V4 de viagens gerado no curso e abrimos o primeiro preview Fiori elements.</a:t>
            </a:r>
            <a:endParaRPr lang="en-US" sz="1400" dirty="0"/>
          </a:p>
        </p:txBody>
      </p:sp>
      <p:pic>
        <p:nvPicPr>
          <p:cNvPr id="6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669" y="1847088"/>
            <a:ext cx="347472" cy="347472"/>
          </a:xfrm>
          <a:prstGeom prst="rect">
            <a:avLst/>
          </a:prstGeom>
        </p:spPr>
      </p:pic>
      <p:pic>
        <p:nvPicPr>
          <p:cNvPr id="6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18" y="1847088"/>
            <a:ext cx="347472" cy="347472"/>
          </a:xfrm>
          <a:prstGeom prst="rect">
            <a:avLst/>
          </a:prstGeom>
        </p:spPr>
      </p:pic>
      <p:pic>
        <p:nvPicPr>
          <p:cNvPr id="6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317" y="1847088"/>
            <a:ext cx="347472" cy="347472"/>
          </a:xfrm>
          <a:prstGeom prst="rect">
            <a:avLst/>
          </a:prstGeom>
        </p:spPr>
      </p:pic>
      <p:pic>
        <p:nvPicPr>
          <p:cNvPr id="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6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4866" y="1847088"/>
            <a:ext cx="347472" cy="347472"/>
          </a:xfrm>
          <a:prstGeom prst="rect">
            <a:avLst/>
          </a:prstGeom>
        </p:spPr>
      </p:pic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6669" y="3858768"/>
            <a:ext cx="347472" cy="347472"/>
          </a:xfrm>
          <a:prstGeom prst="rect">
            <a:avLst/>
          </a:prstGeom>
        </p:spPr>
      </p:pic>
      <p:pic>
        <p:nvPicPr>
          <p:cNvPr id="6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6218" y="3858768"/>
            <a:ext cx="347472" cy="347472"/>
          </a:xfrm>
          <a:prstGeom prst="rect">
            <a:avLst/>
          </a:prstGeom>
        </p:spPr>
      </p:pic>
      <p:pic>
        <p:nvPicPr>
          <p:cNvPr id="7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5317" y="3858768"/>
            <a:ext cx="347472" cy="347472"/>
          </a:xfrm>
          <a:prstGeom prst="rect">
            <a:avLst/>
          </a:prstGeom>
        </p:spPr>
      </p:pic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4866" y="3858768"/>
            <a:ext cx="347472" cy="347472"/>
          </a:xfrm>
          <a:prstGeom prst="rect">
            <a:avLst/>
          </a:prstGeom>
        </p:spPr>
      </p:pic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Onde a exposição entra no RAP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 RAP, a camada de </a:t>
            </a:r>
            <a:r>
              <a:rPr lang="en-US" sz="1400" b="1" dirty="0">
                <a:solidFill>
                  <a:srgbClr val="556B82"/>
                </a:solidFill>
              </a:rPr>
              <a:t>business services</a:t>
            </a:r>
            <a:r>
              <a:rPr lang="en-US" sz="1400" dirty="0">
                <a:solidFill>
                  <a:srgbClr val="556B82"/>
                </a:solidFill>
              </a:rPr>
              <a:t> é a ponte entre o BO e quem o consome.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Data model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CDS view entities e projeção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86786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16554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Behavior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Definition e implementação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326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1588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93028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Service definition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 que expor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39733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4" name="Shape 12"/>
          <p:cNvSpPr/>
          <p:nvPr/>
        </p:nvSpPr>
        <p:spPr>
          <a:xfrm>
            <a:off x="9178061" y="1920240"/>
            <a:ext cx="2464994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9501" y="2514600"/>
            <a:ext cx="22821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Service binding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Como expor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Apps Fiori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UI services para Fiori elements ou SAPUI5 freestyle.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22978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0585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05858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Web APIs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Integração entre sistemas, sem metadados de UI.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97317" y="3657600"/>
            <a:ext cx="354573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80197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80197" y="4343400"/>
            <a:ext cx="31799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Local APIs e eventos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mesmo BO serve consumo local via EML e business events.</a:t>
            </a:r>
            <a:endParaRPr lang="en-US" sz="14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257" y="2084832"/>
            <a:ext cx="365760" cy="365760"/>
          </a:xfrm>
          <a:prstGeom prst="rect">
            <a:avLst/>
          </a:prstGeom>
        </p:spPr>
      </p:pic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731" y="2084832"/>
            <a:ext cx="365760" cy="365760"/>
          </a:xfrm>
          <a:prstGeom prst="rect">
            <a:avLst/>
          </a:prstGeom>
        </p:spPr>
      </p:pic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205" y="2084832"/>
            <a:ext cx="365760" cy="365760"/>
          </a:xfrm>
          <a:prstGeom prst="rect">
            <a:avLst/>
          </a:prstGeom>
        </p:spPr>
      </p:pic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78" y="2084832"/>
            <a:ext cx="365760" cy="365760"/>
          </a:xfrm>
          <a:prstGeom prst="rect">
            <a:avLst/>
          </a:prstGeom>
        </p:spPr>
      </p:pic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372" y="3928994"/>
            <a:ext cx="225308" cy="225308"/>
          </a:xfrm>
          <a:prstGeom prst="rect">
            <a:avLst/>
          </a:prstGeom>
        </p:spPr>
      </p:pic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711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03.02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Service definition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lista explícita das entidades do serviço. O mesmo modelo pode ter várias definitions, uma para cada caso de uso.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service</a:t>
            </a:r>
            <a:r>
              <a:rPr lang="en-US" sz="1000" dirty="0">
                <a:solidFill>
                  <a:srgbClr val="D1EFFF"/>
                </a:solidFill>
              </a:rPr>
              <a:t>  artefato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 … as</a:t>
            </a:r>
            <a:r>
              <a:rPr lang="en-US" sz="1000" dirty="0">
                <a:solidFill>
                  <a:srgbClr val="D1EFFF"/>
                </a:solidFill>
              </a:rPr>
              <a:t>  alias público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helps</a:t>
            </a:r>
            <a:r>
              <a:rPr lang="en-US" sz="1000" dirty="0">
                <a:solidFill>
                  <a:srgbClr val="D1EFFF"/>
                </a:solidFill>
              </a:rPr>
              <a:t>  também expostos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Escopo</a:t>
            </a:r>
            <a:r>
              <a:rPr lang="en-US" sz="1000" dirty="0">
                <a:solidFill>
                  <a:srgbClr val="D1EFFF"/>
                </a:solidFill>
              </a:rPr>
              <a:t>  um por caso de uso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O QUE EXPOR · EXEMPLO DO CURSO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service definition do app de viagens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54203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54203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zfe_travel_######.srvd.asrvd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ZFE_TRAVEL_###### › Business Services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EndUserText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'Service definition for Travel'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ZFE_TRAVEL_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ZC_FE_TRAVEL_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ZC_FE_BOOKING_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usados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pela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/DMO/I_Agency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/DMO/I_Customer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I_Currency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Projeções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Exponha as </a:t>
            </a:r>
            <a:r>
              <a:rPr lang="en-US" sz="1050" b="1" dirty="0">
                <a:solidFill>
                  <a:srgbClr val="556B82"/>
                </a:solidFill>
              </a:rPr>
              <a:t>projection views</a:t>
            </a:r>
            <a:r>
              <a:rPr lang="en-US" sz="1050" dirty="0">
                <a:solidFill>
                  <a:srgbClr val="556B82"/>
                </a:solidFill>
              </a:rPr>
              <a:t>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</a:t>
            </a:r>
            <a:r>
              <a:rPr lang="en-US" sz="1050" dirty="0">
                <a:solidFill>
                  <a:srgbClr val="556B82"/>
                </a:solidFill>
              </a:rPr>
              <a:t>), feitas para este consumo, e não o BO base.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Alias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Travel</a:t>
            </a:r>
            <a:r>
              <a:rPr lang="en-US" sz="1050" dirty="0">
                <a:solidFill>
                  <a:srgbClr val="556B82"/>
                </a:solidFill>
              </a:rPr>
              <a:t> vira o nome do entity set; o nome técnico pode mudar sem quebrar a URL.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Associações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entidades expostas podem ser navegadas, como Travel → Booking.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Value helps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Entidades usadas em ajudas de pesquisa também precisam estar no serviço.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03.02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Service binding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binding liga a definition a um </a:t>
            </a:r>
            <a:r>
              <a:rPr lang="en-US" sz="1600" b="1" dirty="0">
                <a:solidFill>
                  <a:srgbClr val="D1EFFF"/>
                </a:solidFill>
              </a:rPr>
              <a:t>protocolo</a:t>
            </a:r>
            <a:r>
              <a:rPr lang="en-US" sz="1600" dirty="0">
                <a:solidFill>
                  <a:srgbClr val="D1EFFF"/>
                </a:solidFill>
              </a:rPr>
              <a:t> e a um </a:t>
            </a:r>
            <a:r>
              <a:rPr lang="en-US" sz="1600" b="1" dirty="0">
                <a:solidFill>
                  <a:srgbClr val="D1EFFF"/>
                </a:solidFill>
              </a:rPr>
              <a:t>tipo de uso</a:t>
            </a:r>
            <a:r>
              <a:rPr lang="en-US" sz="1600" dirty="0">
                <a:solidFill>
                  <a:srgbClr val="D1EFFF"/>
                </a:solidFill>
              </a:rPr>
              <a:t>. Uma definition pode ter vários bindings.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OData V4 · UI</a:t>
            </a:r>
            <a:r>
              <a:rPr lang="en-US" sz="1000" dirty="0">
                <a:solidFill>
                  <a:srgbClr val="D1EFFF"/>
                </a:solidFill>
              </a:rPr>
              <a:t>  Fiori elements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OData V4 · Web API</a:t>
            </a:r>
            <a:r>
              <a:rPr lang="en-US" sz="1000" dirty="0">
                <a:solidFill>
                  <a:srgbClr val="D1EFFF"/>
                </a:solidFill>
              </a:rPr>
              <a:t>  integração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OData V2</a:t>
            </a:r>
            <a:r>
              <a:rPr lang="en-US" sz="1000" dirty="0">
                <a:solidFill>
                  <a:srgbClr val="D1EFFF"/>
                </a:solidFill>
              </a:rPr>
              <a:t>  compatibilidade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 · SQL</a:t>
            </a:r>
            <a:r>
              <a:rPr lang="en-US" sz="1000" dirty="0">
                <a:solidFill>
                  <a:srgbClr val="D1EFFF"/>
                </a:solidFill>
              </a:rPr>
              <a:t>  analítico e ODBC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COMO EXPOR · BINDING TYPES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Escolha protocolo e tipo de uso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043152"/>
                <a:gridCol w="3606698"/>
                <a:gridCol w="417024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Binding type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Consumidor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Observação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OData V4 - UI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Fiori elements, SAPUI5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Recomendado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para apps novos; inclui anotações de UI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OData V4 - Web API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Outros sistemas, terceiros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Metadados de UI são ignorados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OData V2 - UI / Web API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Apps e integrações legadas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Use só por compatibilidade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InA - UI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SAP Analytics Cloud, Analysis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Para queries analíticas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SQL - Web API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Clientes ODBC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Acesso SQL a views expostas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75504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175504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Convenção do curso  </a:t>
            </a:r>
            <a:r>
              <a:rPr lang="en-US" sz="1200" dirty="0">
                <a:solidFill>
                  <a:srgbClr val="1D2D3E"/>
                </a:solidFill>
              </a:rPr>
              <a:t>o binding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ZUI_FE_TRAVEL_######_O4</a:t>
            </a:r>
            <a:r>
              <a:rPr lang="en-US" sz="1200" dirty="0">
                <a:solidFill>
                  <a:srgbClr val="1D2D3E"/>
                </a:solidFill>
              </a:rPr>
              <a:t>: prefixo </a:t>
            </a:r>
            <a:r>
              <a:rPr lang="en-US" sz="1200" b="1" dirty="0">
                <a:solidFill>
                  <a:srgbClr val="1D2D3E"/>
                </a:solidFill>
              </a:rPr>
              <a:t>UI</a:t>
            </a:r>
            <a:r>
              <a:rPr lang="en-US" sz="1200" dirty="0">
                <a:solidFill>
                  <a:srgbClr val="1D2D3E"/>
                </a:solidFill>
              </a:rPr>
              <a:t>, sufixo </a:t>
            </a:r>
            <a:r>
              <a:rPr lang="en-US" sz="1200" b="1" dirty="0">
                <a:solidFill>
                  <a:srgbClr val="1D2D3E"/>
                </a:solidFill>
              </a:rPr>
              <a:t>O4</a:t>
            </a:r>
            <a:r>
              <a:rPr lang="en-US" sz="1200" dirty="0">
                <a:solidFill>
                  <a:srgbClr val="1D2D3E"/>
                </a:solidFill>
              </a:rPr>
              <a:t> para OData V4.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3035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COMO EXPOR · UI OU WEB API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Mesmo serviço, dois contratos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8291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78291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30572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305723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UI service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9731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$metadata</a:t>
            </a:r>
            <a:r>
              <a:rPr lang="en-US" sz="1350" dirty="0">
                <a:solidFill>
                  <a:srgbClr val="1D2D3E"/>
                </a:solidFill>
              </a:rPr>
              <a:t> traz anotações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r>
              <a:rPr lang="en-US" sz="1350" dirty="0">
                <a:solidFill>
                  <a:srgbClr val="1D2D3E"/>
                </a:solidFill>
              </a:rPr>
              <a:t>, textos e value helps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Feito para a tela, com </a:t>
            </a:r>
            <a:r>
              <a:rPr lang="en-US" sz="1350" b="1" dirty="0">
                <a:solidFill>
                  <a:srgbClr val="1D2D3E"/>
                </a:solidFill>
              </a:rPr>
              <a:t>draft</a:t>
            </a:r>
            <a:r>
              <a:rPr lang="en-US" sz="1350" dirty="0">
                <a:solidFill>
                  <a:srgbClr val="1D2D3E"/>
                </a:solidFill>
              </a:rPr>
              <a:t> e side effects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Contrato pensado para um app específico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78291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78291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305723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305723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Web API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69731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Sem anotações de UI no </a:t>
            </a:r>
            <a:r>
              <a:rPr lang="en-US" sz="13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$metadata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Contrato estável para outros sistemas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Pode ser liberado como </a:t>
            </a:r>
            <a:r>
              <a:rPr lang="en-US" sz="1350" b="1" dirty="0">
                <a:solidFill>
                  <a:srgbClr val="1D2D3E"/>
                </a:solidFill>
              </a:rPr>
              <a:t>API remota</a:t>
            </a:r>
            <a:r>
              <a:rPr lang="en-US" sz="1350" dirty="0">
                <a:solidFill>
                  <a:srgbClr val="1D2D3E"/>
                </a:solidFill>
              </a:rPr>
              <a:t> (C2)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157823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3157823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03.02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Publicar e testar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Ao publicar, o serviço ganha um endpoint. O </a:t>
            </a:r>
            <a:r>
              <a:rPr lang="en-US" sz="1600" b="1" dirty="0">
                <a:solidFill>
                  <a:srgbClr val="D1EFFF"/>
                </a:solidFill>
              </a:rPr>
              <a:t>preview</a:t>
            </a:r>
            <a:r>
              <a:rPr lang="en-US" sz="1600" dirty="0">
                <a:solidFill>
                  <a:srgbClr val="D1EFFF"/>
                </a:solidFill>
              </a:rPr>
              <a:t> do ADT abre um app Fiori elements sem gerar nenhum projeto.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</a:t>
            </a:r>
            <a:r>
              <a:rPr lang="en-US" sz="1000" dirty="0">
                <a:solidFill>
                  <a:srgbClr val="D1EFFF"/>
                </a:solidFill>
              </a:rPr>
              <a:t>  endpoint local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URL</a:t>
            </a:r>
            <a:r>
              <a:rPr lang="en-US" sz="1000" dirty="0">
                <a:solidFill>
                  <a:srgbClr val="D1EFFF"/>
                </a:solidFill>
              </a:rPr>
              <a:t>  e entity sets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r>
              <a:rPr lang="en-US" sz="1000" dirty="0">
                <a:solidFill>
                  <a:srgbClr val="D1EFFF"/>
                </a:solidFill>
              </a:rPr>
              <a:t>  Fiori elements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$metadata</a:t>
            </a:r>
            <a:r>
              <a:rPr lang="en-US" sz="1000" dirty="0">
                <a:solidFill>
                  <a:srgbClr val="D1EFFF"/>
                </a:solidFill>
              </a:rPr>
              <a:t>  conferir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PUBLISH · EXERCÍCIO DO CURSO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gerador ao primeiro preview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65633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Gerar artefatos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Rodar a classe geradora do curso (F9) e depois o gerador de dados do pacote.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Abrir o binding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ZUI_FE_TRAVEL_######_O4</a:t>
            </a:r>
            <a:r>
              <a:rPr lang="en-US" sz="1150" dirty="0">
                <a:solidFill>
                  <a:srgbClr val="556B82"/>
                </a:solidFill>
              </a:rPr>
              <a:t>, em </a:t>
            </a:r>
            <a:r>
              <a:rPr lang="en-US" sz="1150" i="1" dirty="0">
                <a:solidFill>
                  <a:srgbClr val="556B82"/>
                </a:solidFill>
              </a:rPr>
              <a:t>Business Services › Service Bindings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Publish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endpoint local é ativado; aparecem Service URL, entidades e associações.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Preview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Selecionar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r>
              <a:rPr lang="en-US" sz="1150" dirty="0">
                <a:solidFill>
                  <a:srgbClr val="556B82"/>
                </a:solidFill>
              </a:rPr>
              <a:t> e </a:t>
            </a:r>
            <a:r>
              <a:rPr lang="en-US" sz="1150" b="1" dirty="0">
                <a:solidFill>
                  <a:srgbClr val="556B82"/>
                </a:solidFill>
              </a:rPr>
              <a:t>Preview</a:t>
            </a:r>
            <a:r>
              <a:rPr lang="en-US" sz="1150" dirty="0">
                <a:solidFill>
                  <a:srgbClr val="556B82"/>
                </a:solidFill>
              </a:rPr>
              <a:t>: abre um List Report no navegador.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423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49423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Tabela vazia?  </a:t>
            </a:r>
            <a:r>
              <a:rPr lang="en-US" sz="1200" dirty="0">
                <a:solidFill>
                  <a:srgbClr val="1D2D3E"/>
                </a:solidFill>
              </a:rPr>
              <a:t>é o esperado: sem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200" dirty="0">
                <a:solidFill>
                  <a:srgbClr val="1D2D3E"/>
                </a:solidFill>
              </a:rPr>
              <a:t> não há colunas. As anotações vêm na próxima aula.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703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camada de serviço do RAP liga o BO a apps Fiori, Web APIs e outros consumidores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Service definition</a:t>
            </a:r>
            <a:r>
              <a:rPr lang="en-US" sz="1400" dirty="0">
                <a:solidFill>
                  <a:srgbClr val="FFFFFF"/>
                </a:solidFill>
              </a:rPr>
              <a:t> lista as entidades expostas, com </a:t>
            </a:r>
            <a:r>
              <a:rPr lang="en-US" sz="1400" b="1" dirty="0">
                <a:solidFill>
                  <a:srgbClr val="FFFFFF"/>
                </a:solidFill>
              </a:rPr>
              <a:t>alias</a:t>
            </a:r>
            <a:r>
              <a:rPr lang="en-US" sz="1400" dirty="0">
                <a:solidFill>
                  <a:srgbClr val="FFFFFF"/>
                </a:solidFill>
              </a:rPr>
              <a:t> públicos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Exponha projeções, entidades navegáveis e as usadas em </a:t>
            </a:r>
            <a:r>
              <a:rPr lang="en-US" sz="1400" b="1" dirty="0">
                <a:solidFill>
                  <a:srgbClr val="FFFFFF"/>
                </a:solidFill>
              </a:rPr>
              <a:t>value helps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Service binding</a:t>
            </a:r>
            <a:r>
              <a:rPr lang="en-US" sz="1400" dirty="0">
                <a:solidFill>
                  <a:srgbClr val="FFFFFF"/>
                </a:solidFill>
              </a:rPr>
              <a:t> escolhe protocolo e uso: </a:t>
            </a:r>
            <a:r>
              <a:rPr lang="en-US" sz="1400" b="1" dirty="0">
                <a:solidFill>
                  <a:srgbClr val="FFFFFF"/>
                </a:solidFill>
              </a:rPr>
              <a:t>OData V4 - UI</a:t>
            </a:r>
            <a:r>
              <a:rPr lang="en-US" sz="1400" dirty="0">
                <a:solidFill>
                  <a:srgbClr val="FFFFFF"/>
                </a:solidFill>
              </a:rPr>
              <a:t> para Fiori elements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Web API omite metadados de UI e serve integrações entre sistemas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Publish</a:t>
            </a:r>
            <a:r>
              <a:rPr lang="en-US" sz="1400" dirty="0">
                <a:solidFill>
                  <a:srgbClr val="FFFFFF"/>
                </a:solidFill>
              </a:rPr>
              <a:t> ativa o endpoint; o </a:t>
            </a:r>
            <a:r>
              <a:rPr lang="en-US" sz="1400" b="1" dirty="0">
                <a:solidFill>
                  <a:srgbClr val="FFFFFF"/>
                </a:solidFill>
              </a:rPr>
              <a:t>Preview</a:t>
            </a:r>
            <a:r>
              <a:rPr lang="en-US" sz="1400" dirty="0">
                <a:solidFill>
                  <a:srgbClr val="FFFFFF"/>
                </a:solidFill>
              </a:rPr>
              <a:t> do ADT mostra o app sem projeto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03.03  </a:t>
            </a:r>
            <a:r>
              <a:rPr lang="en-US" sz="1500" dirty="0">
                <a:solidFill>
                  <a:srgbClr val="FFFFFF"/>
                </a:solidFill>
              </a:rPr>
              <a:t>Anotações de UI: headerInfo, lineItem, selectionField.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03.02 Exposição de serviços no RAP</dc:title>
  <dc:subject>ABAP Moderno – Módulo 03: SAP Fiori Elements com OData V4</dc:subject>
  <dc:creator>Adriano Bispo</dc:creator>
  <cp:lastModifiedBy>Adriano Bispo</cp:lastModifiedBy>
  <cp:revision>1</cp:revision>
  <dcterms:created xsi:type="dcterms:W3CDTF">2026-10-29T01:34:10Z</dcterms:created>
  <dcterms:modified xsi:type="dcterms:W3CDTF">2026-10-29T01:34:10Z</dcterms:modified>
</cp:coreProperties>
</file>