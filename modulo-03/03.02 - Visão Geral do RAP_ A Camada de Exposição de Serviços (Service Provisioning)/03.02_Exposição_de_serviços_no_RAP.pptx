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SAP RAP: Da Lógica ABAP à API Global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Desvendando a camada de exposição de serviços (Service Provisioning).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CDS + BDEF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Definition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Binding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OData V4 – UI / Web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Publish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Sua Lógica de Negócio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Poderosa, Mas Isolada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3840480" cy="2926080"/>
          </a:xfrm>
          <a:prstGeom prst="roundRect">
            <a:avLst>
              <a:gd name="adj" fmla="val 6250"/>
            </a:avLst>
          </a:prstGeom>
          <a:solidFill>
            <a:srgbClr val="1D2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 SAP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14884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556B82"/>
                </a:solidFill>
              </a:rPr>
              <a:t>?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7223760" y="1783080"/>
            <a:ext cx="384048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2376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Mundo Externo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Você construiu modelos de dados (CDS) e comportamentos (BDEF) robustos. Mas como conectar esse poder com as interfaces modernas (Fiori) e integrações de sistemas de forma segura, padronizada e flexível?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880360"/>
            <a:ext cx="822960" cy="8229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880360"/>
            <a:ext cx="822960" cy="8229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880360"/>
            <a:ext cx="822960" cy="8229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880360"/>
            <a:ext cx="822960" cy="82296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880360"/>
            <a:ext cx="822960" cy="82296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88036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Resposta do RAP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Ponte Inteligente de 3 Camadas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17830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 Exposição de Serviço (Service Provisioning)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2834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B82"/>
                </a:solidFill>
              </a:rPr>
              <a:t>2. Lógica de Negócio (BDEF)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828800" y="38862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B82"/>
                </a:solidFill>
              </a:rPr>
              <a:t>1. Modelo de Dados (CDS)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0" y="1965960"/>
            <a:ext cx="914400" cy="50292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783080"/>
            <a:ext cx="3413455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192024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Mundo Externo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1663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Hoje, nosso foco é a camada que torna tudo acessível: ela atua como a </a:t>
            </a:r>
            <a:r>
              <a:rPr lang="en-US" sz="1700" b="1" dirty="0">
                <a:solidFill>
                  <a:srgbClr val="1D2D3E"/>
                </a:solidFill>
              </a:rPr>
              <a:t>tradutora</a:t>
            </a:r>
            <a:r>
              <a:rPr lang="en-US" sz="1700" dirty="0">
                <a:solidFill>
                  <a:srgbClr val="1D2D3E"/>
                </a:solidFill>
              </a:rPr>
              <a:t> entre a lógica ABAP interna e o protocolo HTTP externo.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880360"/>
            <a:ext cx="685800" cy="68580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880360"/>
            <a:ext cx="685800" cy="6858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49824"/>
            <a:ext cx="347472" cy="34747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88036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Primeiro Passo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Definindo o ‘Cardápio’ do seu Serviço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Conceito central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artefato </a:t>
            </a:r>
            <a:r>
              <a:rPr lang="en-US" sz="1500" b="1" dirty="0">
                <a:solidFill>
                  <a:srgbClr val="1D2D3E"/>
                </a:solidFill>
              </a:rPr>
              <a:t>Service Definition</a:t>
            </a:r>
            <a:r>
              <a:rPr lang="en-US" sz="1500" dirty="0">
                <a:solidFill>
                  <a:srgbClr val="1D2D3E"/>
                </a:solidFill>
              </a:rPr>
              <a:t> atua como uma </a:t>
            </a:r>
            <a:r>
              <a:rPr lang="en-US" sz="1500" b="1" dirty="0">
                <a:solidFill>
                  <a:srgbClr val="1D2D3E"/>
                </a:solidFill>
              </a:rPr>
              <a:t>whitelist</a:t>
            </a:r>
            <a:r>
              <a:rPr lang="en-US" sz="1500" dirty="0">
                <a:solidFill>
                  <a:srgbClr val="1D2D3E"/>
                </a:solidFill>
              </a:rPr>
              <a:t>: define explicitamente </a:t>
            </a:r>
            <a:r>
              <a:rPr lang="en-US" sz="1500" b="1" dirty="0">
                <a:solidFill>
                  <a:srgbClr val="1D2D3E"/>
                </a:solidFill>
              </a:rPr>
              <a:t>quais</a:t>
            </a:r>
            <a:r>
              <a:rPr lang="en-US" sz="1500" dirty="0">
                <a:solidFill>
                  <a:srgbClr val="1D2D3E"/>
                </a:solidFill>
              </a:rPr>
              <a:t> entidades (CDS Views) do seu modelo de dados farão parte do contrato público do serviço.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problema que resolve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Sem ele, você exporia a “cozinha inteira”: dezenas de CDS Views técnicas. Com ele, você cria um “cardápio” curado e seguro para cada consumidor.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3108960" cy="356616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3093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I_CURRENCY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Z_I_FLIGHT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/DMO/I_CARRIER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Z_C_BOOKING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I_COUNTRY_VH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Z_I_BOOKING_LOG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3703320"/>
            <a:ext cx="548640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6960" y="2423160"/>
            <a:ext cx="1676095" cy="2926080"/>
          </a:xfrm>
          <a:prstGeom prst="roundRect">
            <a:avLst>
              <a:gd name="adj" fmla="val 763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12680" y="3246120"/>
            <a:ext cx="1584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D3E"/>
                </a:solidFill>
              </a:rPr>
              <a:t>Cardápio do Serviço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/DMO/I_Customer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688" y="260604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Desacoplando para o Futuro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Importância Estratégica do Alias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148840"/>
            <a:ext cx="9631375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508760" y="2313432"/>
            <a:ext cx="91741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Z_UI_TRAVEL_V4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Z_C_TRAVEL_PROCESS_V2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/DMO/I_Customer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4046677" cy="365760"/>
          </a:xfrm>
          <a:prstGeom prst="roundRect">
            <a:avLst>
              <a:gd name="adj" fmla="val 50000"/>
            </a:avLst>
          </a:prstGeom>
          <a:solidFill>
            <a:srgbClr val="EAEC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94560" y="1645920"/>
            <a:ext cx="40466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Nome técnico interno (pode mudar)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3977640"/>
            <a:ext cx="5063033" cy="36576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3977640"/>
            <a:ext cx="5063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Nome público externo (estável e semântico)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4800600"/>
            <a:ext cx="10088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Benefício-chave:</a:t>
            </a:r>
            <a:r>
              <a:rPr lang="en-US" sz="1700" dirty="0">
                <a:solidFill>
                  <a:srgbClr val="1D2D3E"/>
                </a:solidFill>
              </a:rPr>
              <a:t> o Alias garante a estabilidade da sua API. Você pode refatorar os nomes dos objetos ABAP internos sem quebrar a URL utilizada pelas aplicações consumidoras.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212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Dando Vida ao Contrato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Service Binding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Conceito central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</a:t>
            </a:r>
            <a:r>
              <a:rPr lang="en-US" sz="1500" b="1" dirty="0">
                <a:solidFill>
                  <a:srgbClr val="1D2D3E"/>
                </a:solidFill>
              </a:rPr>
              <a:t>Service Binding</a:t>
            </a:r>
            <a:r>
              <a:rPr lang="en-US" sz="1500" dirty="0">
                <a:solidFill>
                  <a:srgbClr val="1D2D3E"/>
                </a:solidFill>
              </a:rPr>
              <a:t> é o artefato técnico que ‘amarra’ uma Service Definition abstrata a um protocolo de comunicação e a um endpoint HTTP real no SAP Gateway.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 vantagem da separação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Permite máxima reutilização: uma definição, múltiplos pontos de acesso.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06040"/>
            <a:ext cx="1737360" cy="18288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0" y="3474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Contrato Único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7680960" y="2286000"/>
            <a:ext cx="502920" cy="123444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83880" y="1874520"/>
            <a:ext cx="18288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83880" y="1874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OData V4 – 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04120" y="2148840"/>
            <a:ext cx="411480" cy="27432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7844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Fiori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3520440"/>
            <a:ext cx="502920" cy="96012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4069080"/>
            <a:ext cx="18288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83880" y="4069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OData V4 – Web 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04120" y="4343400"/>
            <a:ext cx="411480" cy="27432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7844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Sistemas externos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88920"/>
            <a:ext cx="548640" cy="5486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920240"/>
            <a:ext cx="548640" cy="5486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411480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Grande Decisão (1/2)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Protocolo: Clássico vs. Moderno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OData V2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OData V4  ·  Recomendado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Padrão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Clássico, legado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Novo padrão para S/4HANA e RAP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Payload mais verboso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Payload JSON mais enxuto e eficiente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Funcionalidades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Básico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Batching superior, tipos complexos, filtros avançados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Apenas se obrigado por compatibilidade com sistemas legados (ex.: SAP PO/PI antigos).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</a:rPr>
                        <a:t>Sempre</a:t>
                      </a: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 para novos aplicativos Fiori Elements.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Grande Decisão (2/2) · O Propósito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Interface Humana ou Integração de Sistemas?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OData V4 – UI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Objetivo:</a:t>
            </a:r>
            <a:r>
              <a:rPr lang="en-US" sz="1600" dirty="0">
                <a:solidFill>
                  <a:srgbClr val="1D2D3E"/>
                </a:solidFill>
              </a:rPr>
              <a:t> alimentar aplicações Fiori Elements.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Os metadados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r>
              <a:rPr lang="en-US" sz="1600" dirty="0">
                <a:solidFill>
                  <a:srgbClr val="1D2D3E"/>
                </a:solidFill>
              </a:rPr>
              <a:t>) incluem todas as anotações visuais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600" dirty="0">
                <a:solidFill>
                  <a:srgbClr val="1D2D3E"/>
                </a:solidFill>
              </a:rPr>
              <a:t>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</a:t>
            </a:r>
            <a:r>
              <a:rPr lang="en-US" sz="1600" dirty="0">
                <a:solidFill>
                  <a:srgbClr val="1D2D3E"/>
                </a:solidFill>
              </a:rPr>
              <a:t>). O Fiori Elements as utiliza para renderizar a tela automaticamente.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6C76"/>
                </a:solidFill>
              </a:rPr>
              <a:t>OData V4 – Web API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Objetivo:</a:t>
            </a:r>
            <a:r>
              <a:rPr lang="en-US" sz="1600" dirty="0">
                <a:solidFill>
                  <a:srgbClr val="1D2D3E"/>
                </a:solidFill>
              </a:rPr>
              <a:t> integração entre sistemas (A2A) ou com terceiros (B2B).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As anotações de UI são </a:t>
            </a:r>
            <a:r>
              <a:rPr lang="en-US" sz="1600" b="1" dirty="0">
                <a:solidFill>
                  <a:srgbClr val="1D2D3E"/>
                </a:solidFill>
              </a:rPr>
              <a:t>removidas</a:t>
            </a:r>
            <a:r>
              <a:rPr lang="en-US" sz="1600" dirty="0">
                <a:solidFill>
                  <a:srgbClr val="1D2D3E"/>
                </a:solidFill>
              </a:rPr>
              <a:t> dos metadados para um payload mais leve e rápido: um sistema externo só precisa dos dados, não das instruções de como desenhar a tela.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Qual Binding Utilizar? Um Guia Rápido de Decisão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1D2D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0" y="1600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Qual o destino do seu serviço?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148840"/>
            <a:ext cx="0" cy="32004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457200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É uma tela Fiori Elements?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926080"/>
            <a:ext cx="1463040" cy="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66928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26060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V4 – UI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0" cy="32004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3703320"/>
            <a:ext cx="457200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164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É uma integração (SAP CPI, Postman, sistema externo)?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4160520"/>
            <a:ext cx="1463040" cy="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66928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38404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0783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V4 – Web API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617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Não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4617720"/>
            <a:ext cx="0" cy="32004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4937760"/>
            <a:ext cx="457200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9164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Preciso de compatibilidade com apps Fiori legados (SAPUI5 1.x)?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5394960"/>
            <a:ext cx="1463040" cy="0"/>
          </a:xfrm>
          <a:prstGeom prst="line">
            <a:avLst/>
          </a:prstGeom>
          <a:noFill/>
          <a:ln w="254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669280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50749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6A7B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4088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V2 – UI</a:t>
            </a:r>
            <a:endParaRPr lang="en-US" sz="1600" dirty="0"/>
          </a:p>
        </p:txBody>
      </p:sp>
      <p:sp>
        <p:nvSpPr>
          <p:cNvPr id="2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Momento da Verdade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Que Acontece ao Clicar em ‘Publish’?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ambiente ABAP Cloud, criar o Binding não é o suficiente: o serviço nasce em estado ‘Inativo’. A publicação o torna real.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397709" y="3108960"/>
            <a:ext cx="7396277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4789" y="2606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4789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1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0480"/>
            <a:ext cx="355183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Criação do Binding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Estado: </a:t>
            </a:r>
            <a:r>
              <a:rPr lang="en-US" sz="1500" b="1" dirty="0">
                <a:solidFill>
                  <a:srgbClr val="556B82"/>
                </a:solidFill>
              </a:rPr>
              <a:t>Inativo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92928" y="2606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92928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2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4319930" y="3840480"/>
            <a:ext cx="355183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Clique em ‘Publish’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Ativa o serviço no SAP Gateway.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1066" y="2606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1066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3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8018069" y="3840480"/>
            <a:ext cx="355183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Ativação no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Estado: </a:t>
            </a:r>
            <a:r>
              <a:rPr lang="en-US" sz="1500" b="1" dirty="0">
                <a:solidFill>
                  <a:srgbClr val="556B82"/>
                </a:solidFill>
              </a:rPr>
              <a:t>Ativo</a:t>
            </a:r>
            <a:r>
              <a:rPr lang="en-US" sz="1500" dirty="0">
                <a:solidFill>
                  <a:srgbClr val="556B82"/>
                </a:solidFill>
              </a:rPr>
              <a:t> · artefatos gerados no Gateway · nó criado no ICF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/sap/opu/odata4/...</a:t>
            </a:r>
            <a:r>
              <a:rPr lang="en-US" sz="1500" dirty="0">
                <a:solidFill>
                  <a:srgbClr val="556B82"/>
                </a:solidFill>
              </a:rPr>
              <a:t>) · endpoint HTTP acessível.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Preview do Fiori Elements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Teste e Itere em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381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39112"/>
            <a:ext cx="324093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Eclipse / ADT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altere a anotação na CDS View e salve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45610" y="26060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65960"/>
            <a:ext cx="342381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039112"/>
            <a:ext cx="324093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Preview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Service Binding → Preview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80909" y="26060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65960"/>
            <a:ext cx="342381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039112"/>
            <a:ext cx="324093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F3A"/>
                </a:solidFill>
              </a:rPr>
              <a:t>Fiori Elements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tela reflete a mudança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862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Altere uma anotação na sua CDS View, salve e atualize a tela do Preview para ver o resultado instantaneamente. Valide o comportamento da UI </a:t>
            </a:r>
            <a:r>
              <a:rPr lang="en-US" sz="1700" b="1" dirty="0">
                <a:solidFill>
                  <a:srgbClr val="1D2D3E"/>
                </a:solidFill>
              </a:rPr>
              <a:t>sem precisar</a:t>
            </a:r>
            <a:r>
              <a:rPr lang="en-US" sz="1700" dirty="0">
                <a:solidFill>
                  <a:srgbClr val="1D2D3E"/>
                </a:solidFill>
              </a:rPr>
              <a:t> de um projeto de frontend separado.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0064D9"/>
                </a:solidFill>
              </a:rPr>
              <a:t>Fail Fast, Succeed Faster.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Teste seu Entendimento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Se eu usar um binding ‘Web API’ para um app Fiori Elements, o que acontece?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514600"/>
            <a:ext cx="9768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Resposta: </a:t>
            </a:r>
            <a:r>
              <a:rPr lang="en-US" sz="1500" dirty="0">
                <a:solidFill>
                  <a:srgbClr val="1D2D3E"/>
                </a:solidFill>
              </a:rPr>
              <a:t>O app provavelmente renderizará uma tela em branco ou uma tabela genérica. Como as anotações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500" dirty="0">
                <a:solidFill>
                  <a:srgbClr val="1D2D3E"/>
                </a:solidFill>
              </a:rPr>
              <a:t> foram removidas dos metadados, o Fiori não sabe como desenhar os elementos visuais.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206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420624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Um serviço pode ser acessado via URL apenas com uma Service Definition criada?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846320"/>
            <a:ext cx="9768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Resposta: </a:t>
            </a:r>
            <a:r>
              <a:rPr lang="en-US" sz="1500" dirty="0">
                <a:solidFill>
                  <a:srgbClr val="1D2D3E"/>
                </a:solidFill>
              </a:rPr>
              <a:t>Não. A Definition é apenas o contrato lógico. O </a:t>
            </a:r>
            <a:r>
              <a:rPr lang="en-US" sz="1500" b="1" dirty="0">
                <a:solidFill>
                  <a:srgbClr val="1D2D3E"/>
                </a:solidFill>
              </a:rPr>
              <a:t>Service Binding</a:t>
            </a:r>
            <a:r>
              <a:rPr lang="en-US" sz="1500" dirty="0">
                <a:solidFill>
                  <a:srgbClr val="1D2D3E"/>
                </a:solidFill>
              </a:rPr>
              <a:t> é que efetivamente cria o endpoint HTTP e registra o serviço no Gateway para torná-lo acessível.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4337914"/>
            <a:ext cx="285293" cy="28529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Glossário Essencial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Termos-Chave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Termo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Service Definition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Artefato RAP que define o escopo de um serviço, listando as entidades (CDS Views) a serem expostas. Uma ‘whitelist’ de segurança e organização.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Service Binding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Artefato RAP que vincula uma Definition a um protocolo (OData V2/V4) e um tipo de uso (UI/Web API), gerando o endpoint técnico.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Alias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Sintaxe (</a:t>
                      </a: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expose ... as Alias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) usada para desacoplar o nome técnico interno do objeto ABAP do nome público da entidade na API.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ICF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Internet Communication Framework: a camada do NetWeaver que permite a comunicação do ABAP via protocolos de internet, onde os serviços OData são registrados.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Resumo da Estratégia: Principais Lições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201168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Service Definition é o seu portão de controle. Exponha apenas o necessário, garantindo segurança e clareza.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52360" y="201168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FLEXIBILIDADE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Separe Definition de Binding para máxima reutilização: sirva diferentes consumidores (UI, APIs) a partir de um único contrato.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416052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PROPÓSITO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Escolha o tipo de Binding (UI vs. Web API) com base no consumidor final, otimizando performance e funcionalidade.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416052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ESTABILIDADE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Use Alias para proteger suas APIs públicas de mudanças internas e garantir contratos de serviço duradouros.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48840"/>
            <a:ext cx="731520" cy="73152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31520" cy="73152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731520" cy="7315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9768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RAP: Da Lógica ABAP à API Global</dc:title>
  <dc:subject>ABAP Moderno – Módulo 03</dc:subject>
  <dc:creator>Adriano Bispo</dc:creator>
  <cp:lastModifiedBy>Adriano Bispo</cp:lastModifiedBy>
  <cp:revision>1</cp:revision>
  <dcterms:created xsi:type="dcterms:W3CDTF">2026-10-25T15:31:37Z</dcterms:created>
  <dcterms:modified xsi:type="dcterms:W3CDTF">2026-10-25T15:31:37Z</dcterms:modified>
</cp:coreProperties>
</file>