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03  ·  03.01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03  ·  03.01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03  ·  03.01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03  ·  03.01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 Artesão de Pixels a Arquiteto de Dados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A revolução do SAP Fiori Elements no desenvolvimento de aplicações RAP.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33302B"/>
          </a:solidFill>
          <a:ln w="9525">
            <a:solidFill>
              <a:srgbClr val="6B5E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Freestyle SAPUI5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2167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1FF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Metadata-driven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OData V4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List Report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Object Page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Dilema do Desenvolvimento “Freestyle” SAPUI5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No desenvolvimento tradicional, o programador é um “artesão”: cada botão, tabela e campo é codificado manualmente. Embora flexível, o método </a:t>
            </a:r>
            <a:r>
              <a:rPr lang="en-US" sz="1600" b="1" dirty="0">
                <a:solidFill>
                  <a:srgbClr val="1D2D3E"/>
                </a:solidFill>
              </a:rPr>
              <a:t>Freestyle</a:t>
            </a:r>
            <a:r>
              <a:rPr lang="en-US" sz="1600" dirty="0">
                <a:solidFill>
                  <a:srgbClr val="1D2D3E"/>
                </a:solidFill>
              </a:rPr>
              <a:t> gera desafios significativos: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515258" cy="365760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770632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3575304"/>
            <a:ext cx="3003194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Alto custo e lentidão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O desenvolvimento é demorado, transformando semanas de trabalho em “alinhar pixels” em vez de focar na lógica de negócio.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38218" y="2514600"/>
            <a:ext cx="3515258" cy="365760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94250" y="2770632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94250" y="3575304"/>
            <a:ext cx="3003194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Inconsistência visual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Sem disciplina rígida, cada aplicativo pode ter aparência e comportamento ligeiramente diferentes, quebrando a consistência da UX.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7797" y="2514600"/>
            <a:ext cx="3515258" cy="365760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383829" y="2770632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83829" y="3575304"/>
            <a:ext cx="3003194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Manutenção complexa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Se a SAP atualiza seu Design System (ex.: Fiori 2.0 → Fiori 3), é preciso reescrever código em centenas de aplicativos para manter a conformidade.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2924251"/>
            <a:ext cx="332842" cy="33284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870" y="2924251"/>
            <a:ext cx="332842" cy="332842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448" y="2924251"/>
            <a:ext cx="332842" cy="332842"/>
          </a:xfrm>
          <a:prstGeom prst="rect">
            <a:avLst/>
          </a:prstGeom>
        </p:spPr>
      </p:pic>
      <p:sp>
        <p:nvSpPr>
          <p:cNvPr id="16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Solução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Uma Mudança de Paradigma com SAP Fiori Elements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Definição:</a:t>
            </a:r>
            <a:r>
              <a:rPr lang="en-US" sz="1700" dirty="0">
                <a:solidFill>
                  <a:srgbClr val="1D2D3E"/>
                </a:solidFill>
              </a:rPr>
              <a:t> SAP Fiori Elements é uma biblioteca de </a:t>
            </a:r>
            <a:r>
              <a:rPr lang="en-US" sz="1700" b="1" dirty="0">
                <a:solidFill>
                  <a:srgbClr val="1D2D3E"/>
                </a:solidFill>
              </a:rPr>
              <a:t>modelos de interface (templates)</a:t>
            </a:r>
            <a:r>
              <a:rPr lang="en-US" sz="1700" dirty="0">
                <a:solidFill>
                  <a:srgbClr val="1D2D3E"/>
                </a:solidFill>
              </a:rPr>
              <a:t> pré-construídos e inteligentes que gera a UI automaticamente a partir de metadados do backend.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423818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770632"/>
            <a:ext cx="324093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4D9"/>
                </a:solidFill>
              </a:rPr>
              <a:t>CDS View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dados + anotações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45610" y="324612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8" name="Shape 6"/>
          <p:cNvSpPr/>
          <p:nvPr/>
        </p:nvSpPr>
        <p:spPr>
          <a:xfrm>
            <a:off x="4383938" y="2697480"/>
            <a:ext cx="3423818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75378" y="2770632"/>
            <a:ext cx="324093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4D9"/>
                </a:solidFill>
              </a:rPr>
              <a:t>Fiori Elements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motor de templates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80909" y="324612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1" name="Shape 9"/>
          <p:cNvSpPr/>
          <p:nvPr/>
        </p:nvSpPr>
        <p:spPr>
          <a:xfrm>
            <a:off x="8219237" y="2697480"/>
            <a:ext cx="3423818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30914C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10677" y="2770632"/>
            <a:ext cx="324093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F3A"/>
                </a:solidFill>
              </a:rPr>
              <a:t>UI pronta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List Report / Object Page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EBF8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80160" y="4480560"/>
            <a:ext cx="100885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A mudança de papel:</a:t>
            </a:r>
            <a:r>
              <a:rPr lang="en-US" sz="1600" dirty="0">
                <a:solidFill>
                  <a:srgbClr val="1D2D3E"/>
                </a:solidFill>
              </a:rPr>
              <a:t> o foco do desenvolvedor muda de </a:t>
            </a:r>
            <a:r>
              <a:rPr lang="en-US" sz="1600" b="1" dirty="0">
                <a:solidFill>
                  <a:srgbClr val="1D2D3E"/>
                </a:solidFill>
              </a:rPr>
              <a:t>“artesão de pixels”</a:t>
            </a:r>
            <a:r>
              <a:rPr lang="en-US" sz="1600" dirty="0">
                <a:solidFill>
                  <a:srgbClr val="1D2D3E"/>
                </a:solidFill>
              </a:rPr>
              <a:t> para </a:t>
            </a:r>
            <a:r>
              <a:rPr lang="en-US" sz="1600" b="1" dirty="0">
                <a:solidFill>
                  <a:srgbClr val="1D2D3E"/>
                </a:solidFill>
              </a:rPr>
              <a:t>“arquiteto de dados”</a:t>
            </a:r>
            <a:r>
              <a:rPr lang="en-US" sz="1600" dirty="0">
                <a:solidFill>
                  <a:srgbClr val="1D2D3E"/>
                </a:solidFill>
              </a:rPr>
              <a:t>. A preocupação não é </a:t>
            </a:r>
            <a:r>
              <a:rPr lang="en-US" sz="1600" b="1" dirty="0">
                <a:solidFill>
                  <a:srgbClr val="1D2D3E"/>
                </a:solidFill>
              </a:rPr>
              <a:t>como desenhar</a:t>
            </a:r>
            <a:r>
              <a:rPr lang="en-US" sz="1600" dirty="0">
                <a:solidFill>
                  <a:srgbClr val="1D2D3E"/>
                </a:solidFill>
              </a:rPr>
              <a:t> a tela, mas </a:t>
            </a:r>
            <a:r>
              <a:rPr lang="en-US" sz="1600" b="1" dirty="0">
                <a:solidFill>
                  <a:srgbClr val="1D2D3E"/>
                </a:solidFill>
              </a:rPr>
              <a:t>como estruturar e anotar</a:t>
            </a:r>
            <a:r>
              <a:rPr lang="en-US" sz="1600" dirty="0">
                <a:solidFill>
                  <a:srgbClr val="1D2D3E"/>
                </a:solidFill>
              </a:rPr>
              <a:t> os dados para que a tela se desenhe sozinha.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99262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Analogia do Lego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Construindo com Blocos, Não com Argila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81328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4F00"/>
                </a:solidFill>
              </a:rPr>
              <a:t>Freestyle (Argila)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48156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Você tem flexibilidade total, mas precisa moldar cada detalhe do zero.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É um processo lento, manual e que exige habilidade artística para um bom resultado.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53048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11416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4D9"/>
                </a:solidFill>
              </a:rPr>
              <a:t>Fiori Elements (Lego)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560320"/>
            <a:ext cx="48156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Você recebe blocos prontos e padronizados. Não codifica “crie um botão azul aqui”.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Você anota no backend: </a:t>
            </a:r>
            <a:r>
              <a:rPr lang="en-US" sz="1600" b="1" dirty="0">
                <a:solidFill>
                  <a:srgbClr val="1D2D3E"/>
                </a:solidFill>
              </a:rPr>
              <a:t>“esta entidade é editável”</a:t>
            </a:r>
            <a:r>
              <a:rPr lang="en-US" sz="1600" dirty="0">
                <a:solidFill>
                  <a:srgbClr val="1D2D3E"/>
                </a:solidFill>
              </a:rPr>
              <a:t>. O Fiori Elements lê essa intenção e monta a tela com os blocos corretos (botões Salvar/Cancelar, validações) nos lugares padronizados.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1979127"/>
            <a:ext cx="266273" cy="266273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943" y="1979127"/>
            <a:ext cx="266273" cy="26627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Mecanismo Central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Desenvolvimento Guiado por Metadados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A “mágica” do Fiori Elements reside na dissociação completa entre lógica de apresentação e renderização. A interface não é desenhada no JavaScript: é </a:t>
            </a:r>
            <a:r>
              <a:rPr lang="en-US" sz="1600" b="1" dirty="0">
                <a:solidFill>
                  <a:srgbClr val="1D2D3E"/>
                </a:solidFill>
              </a:rPr>
              <a:t>projetada no backend</a:t>
            </a:r>
            <a:r>
              <a:rPr lang="en-US" sz="16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397709" y="3108960"/>
            <a:ext cx="7396277" cy="0"/>
          </a:xfrm>
          <a:prstGeom prst="line">
            <a:avLst/>
          </a:prstGeom>
          <a:noFill/>
          <a:ln w="38100">
            <a:solidFill>
              <a:srgbClr val="0070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0509" y="2651760"/>
            <a:ext cx="914400" cy="914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40509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0F2"/>
                </a:solidFill>
              </a:rPr>
              <a:t>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794760"/>
            <a:ext cx="355183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Backend (a Intenção)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Em uma CDS View, você aplica anotações semânticas que descrevem o comportamento e a aparência dos dados.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38648" y="2651760"/>
            <a:ext cx="914400" cy="914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38648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0F2"/>
                </a:solidFill>
              </a:rPr>
              <a:t>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319930" y="3794760"/>
            <a:ext cx="355183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Serviço OData (o Transporte)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SAP Gateway traduz essas anotações para o vocabulário padrão do OData e as expõe em um documento de metadados ($metadata).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36786" y="2651760"/>
            <a:ext cx="914400" cy="914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36786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0F2"/>
                </a:solidFill>
              </a:rPr>
              <a:t>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018069" y="3794760"/>
            <a:ext cx="355183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Frontend (a Renderização)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app Fiori Elements lê os metadados e usa seus “Smart Controls” para renderizar a interface dinamicamente, sem código de UI manual.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Na Prática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Da Anotação no Backend à Coluna na Tela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D2D3E"/>
                </a:solidFill>
              </a:rPr>
              <a:t>“Você define a </a:t>
            </a:r>
            <a:r>
              <a:rPr lang="en-US" sz="1600" b="1" i="1" dirty="0">
                <a:solidFill>
                  <a:srgbClr val="1D2D3E"/>
                </a:solidFill>
              </a:rPr>
              <a:t>semântica</a:t>
            </a:r>
            <a:r>
              <a:rPr lang="en-US" sz="1600" i="1" dirty="0">
                <a:solidFill>
                  <a:srgbClr val="1D2D3E"/>
                </a:solidFill>
              </a:rPr>
              <a:t> (o que é o dado e como ele se comporta) no backend, e o Fiori Elements define a </a:t>
            </a:r>
            <a:r>
              <a:rPr lang="en-US" sz="1600" b="1" i="1" dirty="0">
                <a:solidFill>
                  <a:srgbClr val="1D2D3E"/>
                </a:solidFill>
              </a:rPr>
              <a:t>renderização</a:t>
            </a:r>
            <a:r>
              <a:rPr lang="en-US" sz="1600" i="1" dirty="0">
                <a:solidFill>
                  <a:srgbClr val="1D2D3E"/>
                </a:solidFill>
              </a:rPr>
              <a:t> (como desenhar o HTML) no frontend.”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A INTENÇÃO (Backend)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3454298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3044952"/>
            <a:ext cx="29970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@UI.selectionField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SalesOrder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46320"/>
            <a:ext cx="345429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Na CDS View, anotações semânticas descrevem o comportamento e a aparência dos dados.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48658" y="3657600"/>
            <a:ext cx="274320" cy="320040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68698" y="246888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O TRANSPORTE (Metadados OData)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68698" y="2880360"/>
            <a:ext cx="3454298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97298" y="3044952"/>
            <a:ext cx="29970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"UI.LineItem"&gt;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/Annotations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368698" y="4846320"/>
            <a:ext cx="345429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O navegador recebe não apenas os dados (‘Pedido 100’), mas também a instrução de como mostrá-los.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8717" y="3657600"/>
            <a:ext cx="274320" cy="320040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88757" y="246888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A RENDERIZAÇÃO (Frontend)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88757" y="2880360"/>
            <a:ext cx="3454298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17357" y="3044952"/>
            <a:ext cx="29970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SmartFilterBar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SmartTable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188757" y="4846320"/>
            <a:ext cx="345429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SmartTable e SmartFilterBar leem as anotações e se configuram sozinhos.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Alicerce da Comunicação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Por que OData V4 é Essencial para RAP?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O ABAP RESTful Application Programming Model (RAP) utiliza nativamente a versão mais moderna do protocolo, OData V4: é o padrão para S/4HANA e o futuro do desenvolvimento SAP.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410048" cy="17602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67919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3255264"/>
            <a:ext cx="4897984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Performance e payload reduzido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O formato JSON é mais enxuto, removendo metadados de cada linha e acelerando o tráfego de rede.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33008" y="2423160"/>
            <a:ext cx="5410048" cy="17602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89040" y="267919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89040" y="3255264"/>
            <a:ext cx="4897984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Capacidades ricas de edição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Suporte nativo a operações complexas como Deep Insert (criar cabeçalho e itens em uma única chamada).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457700"/>
            <a:ext cx="5410048" cy="17602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" y="471373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5289804"/>
            <a:ext cx="4897984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Agrupamento eficiente ($batch)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Gerenciamento otimizado de chamadas em lote, garantindo a atomicidade de transações com múltiplas alterações.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33008" y="4457700"/>
            <a:ext cx="5410048" cy="17602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89040" y="471373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89040" y="5289804"/>
            <a:ext cx="4897984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Padrão futuro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Todas as novas inovações do Fiori Elements são desenvolvidas primariamente para V4.</a:t>
            </a:r>
            <a:endParaRPr lang="en-US" sz="16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427" y="2777947"/>
            <a:ext cx="213970" cy="213970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427" y="4812487"/>
            <a:ext cx="213970" cy="213970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795" y="2777947"/>
            <a:ext cx="213970" cy="213970"/>
          </a:xfrm>
          <a:prstGeom prst="rect">
            <a:avLst/>
          </a:prstGeom>
        </p:spPr>
      </p:pic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795" y="4812487"/>
            <a:ext cx="213970" cy="21397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Os Resultados Práticos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Floorplans, os Modelos de Aplicação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Um </a:t>
            </a:r>
            <a:r>
              <a:rPr lang="en-US" sz="1600" b="1" dirty="0">
                <a:solidFill>
                  <a:srgbClr val="1D2D3E"/>
                </a:solidFill>
              </a:rPr>
              <a:t>Floorplan</a:t>
            </a:r>
            <a:r>
              <a:rPr lang="en-US" sz="1600" dirty="0">
                <a:solidFill>
                  <a:srgbClr val="1D2D3E"/>
                </a:solidFill>
              </a:rPr>
              <a:t> é um modelo de design de página pré-definido (como um “kit Lego”) que determina a estrutura, a navegação e a interação da aplicação. Embora existam vários modelos, a jornada do usuário em </a:t>
            </a:r>
            <a:r>
              <a:rPr lang="en-US" sz="1600" b="1" dirty="0">
                <a:solidFill>
                  <a:srgbClr val="1D2D3E"/>
                </a:solidFill>
              </a:rPr>
              <a:t>90% das aplicações transacionais</a:t>
            </a:r>
            <a:r>
              <a:rPr lang="en-US" sz="1600" dirty="0">
                <a:solidFill>
                  <a:srgbClr val="1D2D3E"/>
                </a:solidFill>
              </a:rPr>
              <a:t> é construída sobre o par: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463040" y="2971800"/>
            <a:ext cx="3291840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606040" y="3291840"/>
            <a:ext cx="1005840" cy="10058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45920" y="44805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2D3E"/>
                </a:solidFill>
              </a:rPr>
              <a:t>1. List Report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Para encontrar e filtrar dados.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36815" y="2971800"/>
            <a:ext cx="3291840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79815" y="3291840"/>
            <a:ext cx="1005840" cy="10058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19695" y="44805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2D3E"/>
                </a:solidFill>
              </a:rPr>
              <a:t>2. Object Page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Para ver e editar os detalhes de um item.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0" y="4069080"/>
            <a:ext cx="2130552" cy="640080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0" y="480060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Drill-down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442" y="3533242"/>
            <a:ext cx="523037" cy="523037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1217" y="3533242"/>
            <a:ext cx="523037" cy="52303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Floorplan em Foco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List Report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A “porta de entrada” da aplicação: permite ao usuário pesquisar, analisar uma lista sumária e selecionar um objeto para trabalhar (drill-down).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25880" y="2450592"/>
            <a:ext cx="5074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Barra de Filtros (Smart Filter Bar)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Área expansível no topo que gera campos de pesquisa automaticamente a partir de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@UI.selectionField</a:t>
            </a:r>
            <a:r>
              <a:rPr lang="en-US" sz="1400" dirty="0">
                <a:solidFill>
                  <a:srgbClr val="556B82"/>
                </a:solidFill>
              </a:rPr>
              <a:t>. Suporta busca textual (fuzzy search) e gerenciamento de variantes.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297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25880" y="4279392"/>
            <a:ext cx="5074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Tabela de Resultados (Smart Table)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Exibe os dados encontrados, configurada via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400" dirty="0">
                <a:solidFill>
                  <a:srgbClr val="556B82"/>
                </a:solidFill>
              </a:rPr>
              <a:t>. Suporta ordenação, agrupamento, exportação para Excel e personalização de colunas pelo usuário.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66560" y="2468880"/>
            <a:ext cx="4876495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0" y="2468880"/>
            <a:ext cx="4876495" cy="365760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4944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List Report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0" y="2971800"/>
            <a:ext cx="4510735" cy="777240"/>
          </a:xfrm>
          <a:prstGeom prst="roundRect">
            <a:avLst>
              <a:gd name="adj" fmla="val 7059"/>
            </a:avLst>
          </a:prstGeom>
          <a:solidFill>
            <a:srgbClr val="EBF8FF"/>
          </a:solidFill>
          <a:ln w="15875">
            <a:solidFill>
              <a:srgbClr val="0070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088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4D9"/>
                </a:solidFill>
              </a:rPr>
              <a:t>Smart Filter Bar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86600" y="3337560"/>
            <a:ext cx="96766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DE6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5704" y="3337560"/>
            <a:ext cx="96766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DE6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04808" y="3337560"/>
            <a:ext cx="96766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DE6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63911" y="3337560"/>
            <a:ext cx="967664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DE6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4D9"/>
                </a:solidFill>
              </a:rPr>
              <a:t>Smart Table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0" y="4251960"/>
            <a:ext cx="4510735" cy="292608"/>
          </a:xfrm>
          <a:prstGeom prst="rect">
            <a:avLst/>
          </a:prstGeom>
          <a:solidFill>
            <a:srgbClr val="EEF1F4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4544568"/>
            <a:ext cx="45107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4837176"/>
            <a:ext cx="45107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5129784"/>
            <a:ext cx="45107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5422392"/>
            <a:ext cx="45107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0" y="5715000"/>
            <a:ext cx="45107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2600554"/>
            <a:ext cx="285293" cy="285293"/>
          </a:xfrm>
          <a:prstGeom prst="rect">
            <a:avLst/>
          </a:prstGeom>
        </p:spPr>
      </p:pic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4429354"/>
            <a:ext cx="285293" cy="28529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Floorplan em Foco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Object Page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Função principal:</a:t>
            </a:r>
            <a:r>
              <a:rPr lang="en-US" sz="1600" dirty="0">
                <a:solidFill>
                  <a:srgbClr val="1D2D3E"/>
                </a:solidFill>
              </a:rPr>
              <a:t> a tela de detalhes de um único registro (ex.: “Detalhes da Viagem 1023”). Permite visualizar todos os detalhes, editar dados (com rascunho automático) e navegar para sub-itens.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25880" y="2496312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Header (Cabeçalho)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Área superior fixa que exibe o título do objeto e KPIs resumidos, configurada via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@UI.headerInfo</a:t>
            </a:r>
            <a:r>
              <a:rPr lang="en-US" sz="1400" dirty="0">
                <a:solidFill>
                  <a:srgbClr val="556B82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25880" y="4142232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Sections (Seções)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corpo da página dividido em abas ou seções de rolagem (Anchor Navigation). Cada seção agrupa campos relacionados (ex.: ‘Dados Gerais’, ‘Participantes’), configuradas via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@UI.facet</a:t>
            </a:r>
            <a:r>
              <a:rPr lang="en-US" sz="1400" dirty="0">
                <a:solidFill>
                  <a:srgbClr val="556B82"/>
                </a:solidFill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66560" y="2514600"/>
            <a:ext cx="4876495" cy="361188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49440" y="2697480"/>
            <a:ext cx="4510735" cy="868680"/>
          </a:xfrm>
          <a:prstGeom prst="roundRect">
            <a:avLst>
              <a:gd name="adj" fmla="val 6316"/>
            </a:avLst>
          </a:prstGeom>
          <a:solidFill>
            <a:srgbClr val="FFF8D6"/>
          </a:solidFill>
          <a:ln w="15875">
            <a:solidFill>
              <a:srgbClr val="E765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86600" y="2697480"/>
            <a:ext cx="4236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Detalhes da Viagem 1023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Status · Valor · Duração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3749040"/>
            <a:ext cx="4510735" cy="1005840"/>
          </a:xfrm>
          <a:prstGeom prst="roundRect">
            <a:avLst>
              <a:gd name="adj" fmla="val 5455"/>
            </a:avLst>
          </a:prstGeom>
          <a:solidFill>
            <a:srgbClr val="EBF8FF"/>
          </a:solidFill>
          <a:ln w="15875">
            <a:solidFill>
              <a:srgbClr val="0070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8660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Dados Gerais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86600" y="4206240"/>
            <a:ext cx="130241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DE6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98738" y="4206240"/>
            <a:ext cx="130241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DE6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10877" y="4206240"/>
            <a:ext cx="130241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DE6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4892040"/>
            <a:ext cx="4510735" cy="1005840"/>
          </a:xfrm>
          <a:prstGeom prst="roundRect">
            <a:avLst>
              <a:gd name="adj" fmla="val 5455"/>
            </a:avLst>
          </a:prstGeom>
          <a:solidFill>
            <a:srgbClr val="EBF8FF"/>
          </a:solidFill>
          <a:ln w="15875">
            <a:solidFill>
              <a:srgbClr val="0070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86600" y="4937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Participantes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86600" y="5349240"/>
            <a:ext cx="130241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DE6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98738" y="5349240"/>
            <a:ext cx="130241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DE6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10877" y="5349240"/>
            <a:ext cx="130241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DE6FF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4292194"/>
            <a:ext cx="285293" cy="285293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2646274"/>
            <a:ext cx="285293" cy="28529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As Vantagens Estratégicas do Fiori Elements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85623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2569464"/>
            <a:ext cx="489798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Velocidade e Time-to-Market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Crie um CRUD completo e funcional em minutos, não semanas. O foco muda de “alinhar pixels” para “resolver regras de negócio”.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33008" y="160020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89040" y="185623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89040" y="2569464"/>
            <a:ext cx="489798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Consistência de UX garantida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Todos os aplicativos seguem as SAP Fiori Design Guidelines automaticamente: quem aprende um app sabe usar todos os outros.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427939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4992624"/>
            <a:ext cx="489798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Manutenção e evolução (future-proof)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Quando a SAP atualiza o visual do Fiori, seu aplicativo é atualizado apenas trocando a versão da biblioteca, sem reescrita de código.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33008" y="402336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89040" y="427939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89040" y="4992624"/>
            <a:ext cx="489798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Redução do TCO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Menos código customizado significa menos bugs, testes mais rápidos e manutenção drasticamente mais barata ao longo do tempo.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1987906"/>
            <a:ext cx="285293" cy="285293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713" y="1987906"/>
            <a:ext cx="285293" cy="285293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46" y="4411066"/>
            <a:ext cx="285293" cy="285293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713" y="4411066"/>
            <a:ext cx="285293" cy="285293"/>
          </a:xfrm>
          <a:prstGeom prst="rect">
            <a:avLst/>
          </a:prstGeom>
        </p:spPr>
      </p:pic>
      <p:sp>
        <p:nvSpPr>
          <p:cNvPr id="19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Pronto para o Mundo Corporativo, “De Fábrica”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Recursos complexos e caros de desenvolver manualmente já vêm incluídos e prontos para usar em qualquer aplicação Fiori Elements: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5410048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63347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0F7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3209544"/>
            <a:ext cx="4897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Acessibilidade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Suporte completo a leitores de tela e navegação por teclado (padrão WCAG).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33008" y="2377440"/>
            <a:ext cx="5410048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89040" y="263347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0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89040" y="3209544"/>
            <a:ext cx="4897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Responsividade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O layout se adapta automaticamente a desktops, tablets e celulares.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5410048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469087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0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4672" y="5266944"/>
            <a:ext cx="4897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Variantes de usuário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O usuário final salva suas configurações pessoais de filtro e layout de tabela, sem intervenção do desenvolvedor.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33008" y="4434840"/>
            <a:ext cx="5410048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89040" y="469087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0F7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89040" y="5266944"/>
            <a:ext cx="4897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Modo rascunho (Draft)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Salvamento automático das alterações, evitando perda de dados e oferecendo uma edição robusta.</a:t>
            </a:r>
            <a:endParaRPr lang="en-US" sz="16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7795" y="2732227"/>
            <a:ext cx="213970" cy="213970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427" y="2732227"/>
            <a:ext cx="213970" cy="213970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27" y="4789627"/>
            <a:ext cx="213970" cy="21397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795" y="4789627"/>
            <a:ext cx="213970" cy="213970"/>
          </a:xfrm>
          <a:prstGeom prst="rect">
            <a:avLst/>
          </a:prstGeom>
        </p:spPr>
      </p:pic>
      <p:sp>
        <p:nvSpPr>
          <p:cNvPr id="20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Freestyle vs. Fiori Elements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Uma Escolha de Estratégia, Não de Ferramenta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6B82"/>
                </a:solidFill>
              </a:rPr>
              <a:t>Qual é a principal diferença de custo/benefício entre as abordagens?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64328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64D9"/>
                </a:solidFill>
              </a:rPr>
              <a:t>Freestyle SAPUI5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3063240"/>
            <a:ext cx="4175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Flexibilidade visual total para UIs altamente customizadas.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4069080"/>
            <a:ext cx="4175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Exige muito tempo de codificação manual.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5074920"/>
            <a:ext cx="4175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Alto custo de manutenção (TCO); mudanças de design exigem reescrita.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78728" y="2194560"/>
            <a:ext cx="5364328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53048" y="237744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64D9"/>
                </a:solidFill>
              </a:rPr>
              <a:t>SAP Fiori Elements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193128" y="3063240"/>
            <a:ext cx="4175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Velocidade de desenvolvimento radicalmente maior.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93128" y="4069080"/>
            <a:ext cx="4175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Baixíssimo custo de manutenção e conformidade automática com o Design System.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93128" y="5074920"/>
            <a:ext cx="4175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Sacrifica um pouco da flexibilidade visual em troca da padronização.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108960"/>
            <a:ext cx="438912" cy="43891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114800"/>
            <a:ext cx="438912" cy="438912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120640"/>
            <a:ext cx="438912" cy="438912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048" y="3108960"/>
            <a:ext cx="438912" cy="438912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048" y="4114800"/>
            <a:ext cx="438912" cy="438912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048" y="5120640"/>
            <a:ext cx="438912" cy="4389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Referência Rápida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Glossário Essencial e Fluxo de Renderização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949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93776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56B82"/>
                          </a:solidFill>
                        </a:rPr>
                        <a:t>Termo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56B82"/>
                          </a:solidFill>
                        </a:rPr>
                        <a:t>Definição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2D3E"/>
                          </a:solidFill>
                        </a:rPr>
                        <a:t>SAP Fiori Elements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D3E"/>
                          </a:solidFill>
                        </a:rPr>
                        <a:t>Framework de UI que gera telas a partir de metadados OData, minimizando código JavaScript.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2D3E"/>
                          </a:solidFill>
                        </a:rPr>
                        <a:t>Floorplan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D3E"/>
                          </a:solidFill>
                        </a:rPr>
                        <a:t>Modelo de página pré-definido (List Report, Object Page) que determina estrutura e interação.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2D3E"/>
                          </a:solidFill>
                        </a:rPr>
                        <a:t>Freestyle UI5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D3E"/>
                          </a:solidFill>
                        </a:rPr>
                        <a:t>Abordagem em que o dev escreve HTML/JS manualmente para cada controle.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2D3E"/>
                          </a:solidFill>
                        </a:rPr>
                        <a:t>OData V4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D3E"/>
                          </a:solidFill>
                        </a:rPr>
                        <a:t>Versão mais recente do protocolo OData, otimizada e padrão para serviços RAP.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D2D3E"/>
                          </a:solidFill>
                        </a:rPr>
                        <a:t>Smart Controls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D2D3E"/>
                          </a:solidFill>
                        </a:rPr>
                        <a:t>SmartTable, SmartFilterBar: componentes que se autoconfiguram lendo anotações OData.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863840" y="1600200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Fluxo de renderização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863840" y="2103120"/>
            <a:ext cx="3779215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0" y="2103120"/>
            <a:ext cx="34134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1. CDS View (Backend)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Define dados + anotações (@UI).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616288" y="3218688"/>
            <a:ext cx="274320" cy="237744"/>
          </a:xfrm>
          <a:prstGeom prst="downArrow">
            <a:avLst/>
          </a:prstGeom>
          <a:solidFill>
            <a:srgbClr val="0070F2"/>
          </a:solidFill>
          <a:ln/>
        </p:spPr>
      </p:sp>
      <p:sp>
        <p:nvSpPr>
          <p:cNvPr id="9" name="Shape 6"/>
          <p:cNvSpPr/>
          <p:nvPr/>
        </p:nvSpPr>
        <p:spPr>
          <a:xfrm>
            <a:off x="7863840" y="3474720"/>
            <a:ext cx="3779215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046720" y="3474720"/>
            <a:ext cx="34134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2. OData Service (Gateway)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Publica dados + metadados (vocabulário UI).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616288" y="4590288"/>
            <a:ext cx="274320" cy="237744"/>
          </a:xfrm>
          <a:prstGeom prst="downArrow">
            <a:avLst/>
          </a:prstGeom>
          <a:solidFill>
            <a:srgbClr val="0070F2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0" y="4846320"/>
            <a:ext cx="3779215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046720" y="4846320"/>
            <a:ext cx="34134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3. Fiori Elements App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Consome o serviço → interpreta metadados → gera a tela.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Sua Nova Missão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De Codificador de Telas a Arquiteto de Soluções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777240"/>
          </a:xfrm>
          <a:prstGeom prst="roundRect">
            <a:avLst>
              <a:gd name="adj" fmla="val 16471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C77A"/>
                </a:solidFill>
              </a:rPr>
              <a:t>Abandone </a:t>
            </a:r>
            <a:r>
              <a:rPr lang="en-US" sz="1800" dirty="0">
                <a:solidFill>
                  <a:srgbClr val="FFFFFF"/>
                </a:solidFill>
              </a:rPr>
              <a:t>a codificação manual de cada componente da UI.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94415" cy="777240"/>
          </a:xfrm>
          <a:prstGeom prst="roundRect">
            <a:avLst>
              <a:gd name="adj" fmla="val 16471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74320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B1FF"/>
                </a:solidFill>
              </a:rPr>
              <a:t>Adote </a:t>
            </a:r>
            <a:r>
              <a:rPr lang="en-US" sz="1800" dirty="0">
                <a:solidFill>
                  <a:srgbClr val="FFFFFF"/>
                </a:solidFill>
              </a:rPr>
              <a:t>a definição da semântica e do comportamento dos dados no backend.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11094415" cy="777240"/>
          </a:xfrm>
          <a:prstGeom prst="roundRect">
            <a:avLst>
              <a:gd name="adj" fmla="val 16471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70332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EE2A8"/>
                </a:solidFill>
              </a:rPr>
              <a:t>Confie </a:t>
            </a:r>
            <a:r>
              <a:rPr lang="en-US" sz="1800" dirty="0">
                <a:solidFill>
                  <a:srgbClr val="FFFFFF"/>
                </a:solidFill>
              </a:rPr>
              <a:t>no Fiori Elements para traduzir suas intenções em uma UI robusta, consistente e pronta para o futuro.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54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O seu valor não está em escrever HTML, mas em desenhar soluções de negócio eficientes. </a:t>
            </a:r>
            <a:r>
              <a:rPr lang="en-US" sz="1800" b="1" dirty="0">
                <a:solidFill>
                  <a:srgbClr val="C9D3DE"/>
                </a:solidFill>
              </a:rPr>
              <a:t>Fiori Elements</a:t>
            </a:r>
            <a:r>
              <a:rPr lang="en-US" sz="1800" dirty="0">
                <a:solidFill>
                  <a:srgbClr val="C9D3DE"/>
                </a:solidFill>
              </a:rPr>
              <a:t> é a ferramenta que libera seu tempo para focar no que realmente importa.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Artesão de Pixels a Arquiteto de Dados</dc:title>
  <dc:subject>ABAP Moderno – Módulo 03</dc:subject>
  <dc:creator>Adriano Bispo</dc:creator>
  <cp:lastModifiedBy>Adriano Bispo</cp:lastModifiedBy>
  <cp:revision>1</cp:revision>
  <dcterms:created xsi:type="dcterms:W3CDTF">2026-10-25T15:29:47Z</dcterms:created>
  <dcterms:modified xsi:type="dcterms:W3CDTF">2026-10-25T15:29:47Z</dcterms:modified>
</cp:coreProperties>
</file>