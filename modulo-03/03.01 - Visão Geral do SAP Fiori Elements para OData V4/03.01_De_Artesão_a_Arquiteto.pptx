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03 — SAP Fiori Elements com OData V4  ·  Aula 1 de 11 — Fiori Elements e OData V4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03 — SAP Fiori Elements com OData V4  ·  Aula 1 de 11 — Fiori Elements e OData V4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03 · AULA 01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SAP Fiori elements para OData V4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Apps gerados em tempo de execução a partir de um floorplan, dos metadados do serviço e de anotações, sem escrever a UI à mão.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1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03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03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285292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85292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231429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 Report, Object Page e facetas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3" name="Text 31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0110978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Ordenação, seções e field groups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3" name="Text 41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2592781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Interna, externa e baseada em intenção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10</a:t>
            </a:r>
            <a:endParaRPr lang="en-US" sz="1260" dirty="0"/>
          </a:p>
        </p:txBody>
      </p:sp>
      <p:sp>
        <p:nvSpPr>
          <p:cNvPr id="53" name="Text 51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635188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Flexible Programming Model e building blocks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11</a:t>
            </a:r>
            <a:endParaRPr lang="en-US" sz="1260" dirty="0"/>
          </a:p>
        </p:txBody>
      </p:sp>
      <p:sp>
        <p:nvSpPr>
          <p:cNvPr id="58" name="Text 56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8231429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Publicação, launchpad e acesso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entendemos o que o Fiori elements faz por nós, por que usar OData V4 e como um app de viagens nasce de um serviço RAP.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Três ingredientes, uma tela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Fiori elements </a:t>
            </a:r>
            <a:r>
              <a:rPr lang="en-US" sz="1400" b="1" dirty="0">
                <a:solidFill>
                  <a:srgbClr val="556B82"/>
                </a:solidFill>
              </a:rPr>
              <a:t>não gera código de UI</a:t>
            </a:r>
            <a:r>
              <a:rPr lang="en-US" sz="1400" dirty="0">
                <a:solidFill>
                  <a:srgbClr val="556B82"/>
                </a:solidFill>
              </a:rPr>
              <a:t>: o runtime do SAPUI5 lê o serviço e monta a tela na hora.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Floorplan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List Report, Object Page…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Metadados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Entidades, campos e associações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Anotações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Colunas, filtros, seções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App Fiori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Renderizado em runtime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Pouco JavaScript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Foco na lógica e no serviço de back-end, não em views e controllers.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Configurável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Anotações e configurações do app ajustam o comportamento padrão.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Extensível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Quando preciso, SAPUI5 freestyle complementa o app.</a:t>
            </a:r>
            <a:endParaRPr lang="en-US" sz="14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03.01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Por que Fiori elements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 SAP agrupa os benefícios em quatro frentes: </a:t>
            </a:r>
            <a:r>
              <a:rPr lang="en-US" sz="1600" b="1" dirty="0">
                <a:solidFill>
                  <a:srgbClr val="D1EFFF"/>
                </a:solidFill>
              </a:rPr>
              <a:t>eficiência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prontidão empresarial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consistência de UX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ferramentas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Eficiência</a:t>
            </a:r>
            <a:r>
              <a:rPr lang="en-US" sz="1000" dirty="0">
                <a:solidFill>
                  <a:srgbClr val="D1EFFF"/>
                </a:solidFill>
              </a:rPr>
              <a:t>  menos código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Enterprise-ready</a:t>
            </a:r>
            <a:r>
              <a:rPr lang="en-US" sz="1000" dirty="0">
                <a:solidFill>
                  <a:srgbClr val="D1EFFF"/>
                </a:solidFill>
              </a:rPr>
              <a:t>  a11y, i18n, estado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Consistência</a:t>
            </a:r>
            <a:r>
              <a:rPr lang="en-US" sz="1000" dirty="0">
                <a:solidFill>
                  <a:srgbClr val="D1EFFF"/>
                </a:solidFill>
              </a:rPr>
              <a:t>  mesmo padrão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Ferramentas</a:t>
            </a:r>
            <a:r>
              <a:rPr lang="en-US" sz="1000" dirty="0">
                <a:solidFill>
                  <a:srgbClr val="D1EFFF"/>
                </a:solidFill>
              </a:rPr>
              <a:t>  SAP Fiori tools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BENEFÍCIOS · QUATRO FRENTES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vem de graça com o Fiori elements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Eficiência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Menos JavaScript, menos custo de desenvolvimento e manutenção.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9394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80562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0562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Pronto para empresa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Acessibilidade, tradução, multi-dispositivo, estado do app, segurança e performance.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0148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1316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1316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UX consistente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Layout, navegação, filtros, busca e mensagens iguais em todos os apps.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0901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42069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42069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Ferramentas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SAP Fiori tools no VS Code e no Business Application Studio.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5851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485851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Evolução contínua  </a:t>
            </a:r>
            <a:r>
              <a:rPr lang="en-US" sz="1200" dirty="0">
                <a:solidFill>
                  <a:srgbClr val="1D2D3E"/>
                </a:solidFill>
              </a:rPr>
              <a:t>o framework recebe melhorias de clientes, parceiros e da SAP; os apps herdam sem retrabalho.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1146" y="2694432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694432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694432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653" y="2694432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98652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03.01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OData V4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EFFF"/>
                </a:solidFill>
              </a:rPr>
              <a:t>OData</a:t>
            </a:r>
            <a:r>
              <a:rPr lang="en-US" sz="1600" dirty="0">
                <a:solidFill>
                  <a:srgbClr val="D1EFFF"/>
                </a:solidFill>
              </a:rPr>
              <a:t> é um protocolo padrão sobre HTTP para consultar e alterar dados. A versão </a:t>
            </a:r>
            <a:r>
              <a:rPr lang="en-US" sz="1600" b="1" dirty="0">
                <a:solidFill>
                  <a:srgbClr val="D1EFFF"/>
                </a:solidFill>
              </a:rPr>
              <a:t>4</a:t>
            </a:r>
            <a:r>
              <a:rPr lang="en-US" sz="1600" dirty="0">
                <a:solidFill>
                  <a:srgbClr val="D1EFFF"/>
                </a:solidFill>
              </a:rPr>
              <a:t> é padrão OASIS e ISO/IEC, e é a recomendada pela SAP.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OASIS · ISO/IEC</a:t>
            </a:r>
            <a:r>
              <a:rPr lang="en-US" sz="1000" dirty="0">
                <a:solidFill>
                  <a:srgbClr val="D1EFFF"/>
                </a:solidFill>
              </a:rPr>
              <a:t>  padrão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$metadata</a:t>
            </a:r>
            <a:r>
              <a:rPr lang="en-US" sz="1000" dirty="0">
                <a:solidFill>
                  <a:srgbClr val="D1EFFF"/>
                </a:solidFill>
              </a:rPr>
              <a:t>  estrutura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$expand · $filter</a:t>
            </a:r>
            <a:r>
              <a:rPr lang="en-US" sz="1000" dirty="0">
                <a:solidFill>
                  <a:srgbClr val="D1EFFF"/>
                </a:solidFill>
              </a:rPr>
              <a:t>  consultas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SAPUI5 1.84+</a:t>
            </a:r>
            <a:r>
              <a:rPr lang="en-US" sz="1000" dirty="0">
                <a:solidFill>
                  <a:srgbClr val="D1EFFF"/>
                </a:solidFill>
              </a:rPr>
              <a:t>  GA no Fiori elements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ODATA · V4 OU V2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o OData V4 traz a mais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127248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606698"/>
                <a:gridCol w="7213397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Ganho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Efeito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Metadados compactos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10% a 60% menos volume de dados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Consultas mais ricas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Filtros, ordenação 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$expand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em vários níveis, com menos chamadas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Recursos analíticos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Agregações direto nas consultas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Vários serviços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 cliente acessa mais de um serviço ao mesmo tempo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Tipos de dados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Tipos mais adequados a aplicações de negócio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5604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956048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Mesma aparência  </a:t>
            </a:r>
            <a:r>
              <a:rPr lang="en-US" sz="1200" dirty="0">
                <a:solidFill>
                  <a:srgbClr val="1D2D3E"/>
                </a:solidFill>
              </a:rPr>
              <a:t>apps V4 e V2 têm o mesmo visual; o V4 adiciona </a:t>
            </a:r>
            <a:r>
              <a:rPr lang="en-US" sz="1200" b="1" dirty="0">
                <a:solidFill>
                  <a:srgbClr val="1D2D3E"/>
                </a:solidFill>
              </a:rPr>
              <a:t>building blocks</a:t>
            </a:r>
            <a:r>
              <a:rPr lang="en-US" sz="1200" dirty="0">
                <a:solidFill>
                  <a:srgbClr val="1D2D3E"/>
                </a:solidFill>
              </a:rPr>
              <a:t> e o Flexible Programming Model.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084064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ODATA · ANATOMIA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As três partes de uma URL OData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45389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45389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GET · OData V4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Travel service · navegador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1. Service root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/sap/opu/odata4/sap/zui_fe_travel_o4/srvd/sap/zfe_travel/0001/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2. Resource path: entity set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3. Query options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TotalPrice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OverallStatus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orderby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BeginDate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Estrutura do serviço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/sap/opu/odata4/sap/zui_fe_travel_o4/srvd/sap/zfe_travel/0001/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Service root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Gerada pelo service binding: inclui binding, service definition e versão.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Resource path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entity set, com o nome (alias) exposto na service definition.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Query options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$select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$filter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$orderby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$top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$expand</a:t>
            </a:r>
            <a:r>
              <a:rPr lang="en-US" sz="1050" dirty="0">
                <a:solidFill>
                  <a:srgbClr val="556B82"/>
                </a:solidFill>
              </a:rPr>
              <a:t>: o app pede só o que precisa.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$metadata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Descreve entidades, tipos e anotações; é o que o Fiori elements lê.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03.01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Do RAP à tela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No curso, um </a:t>
            </a:r>
            <a:r>
              <a:rPr lang="en-US" sz="1600" b="1" dirty="0">
                <a:solidFill>
                  <a:srgbClr val="D1EFFF"/>
                </a:solidFill>
              </a:rPr>
              <a:t>serviço RAP</a:t>
            </a:r>
            <a:r>
              <a:rPr lang="en-US" sz="1600" dirty="0">
                <a:solidFill>
                  <a:srgbClr val="D1EFFF"/>
                </a:solidFill>
              </a:rPr>
              <a:t> de viagens no BTP ABAP environment alimenta um app </a:t>
            </a:r>
            <a:r>
              <a:rPr lang="en-US" sz="1600" b="1" dirty="0">
                <a:solidFill>
                  <a:srgbClr val="D1EFFF"/>
                </a:solidFill>
              </a:rPr>
              <a:t>List Report + Object Page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</a:t>
            </a:r>
            <a:r>
              <a:rPr lang="en-US" sz="1000" dirty="0">
                <a:solidFill>
                  <a:srgbClr val="D1EFFF"/>
                </a:solidFill>
              </a:rPr>
              <a:t>  BO e projeção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binding</a:t>
            </a:r>
            <a:r>
              <a:rPr lang="en-US" sz="1000" dirty="0">
                <a:solidFill>
                  <a:srgbClr val="D1EFFF"/>
                </a:solidFill>
              </a:rPr>
              <a:t>  OData V4 · UI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 extension</a:t>
            </a:r>
            <a:r>
              <a:rPr lang="en-US" sz="1000" dirty="0">
                <a:solidFill>
                  <a:srgbClr val="D1EFFF"/>
                </a:solidFill>
              </a:rPr>
              <a:t>  anotações @UI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</a:t>
            </a:r>
            <a:r>
              <a:rPr lang="en-US" sz="1000" dirty="0">
                <a:solidFill>
                  <a:srgbClr val="D1EFFF"/>
                </a:solidFill>
              </a:rPr>
              <a:t>  teste no navegador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ARQUITETURA · CAMADAS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Camadas de um app Fiori elements sobre RAP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Dados e BO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Tabelas, CDS e behavior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Projeção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ZC_FE_TRAVEL: o que a app usa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Serviço OData V4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Definition e binding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Fiori elements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Floorplan + anotações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Back-end no ADT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CDS, behavior, service definition e binding, e anotações de UI.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Front-end no BAS ou VS Code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App gerado com SAP Fiori tools e configurações locais.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Ambiente do curso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SAP BTP ABAP environment (trial), com o gerador de artefatos RAP.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ARQUITETURA · FLOORPLANS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par mais comum: List Report e Object Page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1715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List Report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Barra de filtros e tabela de registros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Busca, variantes e ações em massa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Ponto de entrada do app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417159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Object Page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Detalhes de um registro, com header e seções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Edição com </a:t>
            </a:r>
            <a:r>
              <a:rPr lang="en-US" sz="1350" b="1" dirty="0">
                <a:solidFill>
                  <a:srgbClr val="1D2D3E"/>
                </a:solidFill>
              </a:rPr>
              <a:t>draft</a:t>
            </a:r>
            <a:r>
              <a:rPr lang="en-US" sz="1350" dirty="0">
                <a:solidFill>
                  <a:srgbClr val="1D2D3E"/>
                </a:solidFill>
              </a:rPr>
              <a:t> e tabelas filhas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Navegação a partir da linha do List Report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3403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83403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Adiante  </a:t>
            </a:r>
            <a:r>
              <a:rPr lang="en-US" sz="1200" dirty="0">
                <a:solidFill>
                  <a:srgbClr val="1D2D3E"/>
                </a:solidFill>
              </a:rPr>
              <a:t>anotações (03.03), floorplans (03.05) e configuração das páginas (03.06 a 03.09).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792063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792063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962049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03.01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Fiori elements monta a UI em runtime a partir de </a:t>
            </a:r>
            <a:r>
              <a:rPr lang="en-US" sz="1400" b="1" dirty="0">
                <a:solidFill>
                  <a:srgbClr val="FFFFFF"/>
                </a:solidFill>
              </a:rPr>
              <a:t>floorplan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metadados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anotações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Benefícios: eficiência, prontidão empresarial, UX consistente e SAP Fiori tools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OData V4</a:t>
            </a:r>
            <a:r>
              <a:rPr lang="en-US" sz="1400" dirty="0">
                <a:solidFill>
                  <a:srgbClr val="FFFFFF"/>
                </a:solidFill>
              </a:rPr>
              <a:t> é padrão OASIS/ISO e o recomendado pela SAP para Fiori elements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V4 traz metadados menores, consultas mais ricas, analytics e building blocks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Uma URL OData tem </a:t>
            </a:r>
            <a:r>
              <a:rPr lang="en-US" sz="1400" b="1" dirty="0">
                <a:solidFill>
                  <a:srgbClr val="FFFFFF"/>
                </a:solidFill>
              </a:rPr>
              <a:t>service root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resource path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query options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 curso, um serviço RAP de viagens alimenta um </a:t>
            </a:r>
            <a:r>
              <a:rPr lang="en-US" sz="1400" b="1" dirty="0">
                <a:solidFill>
                  <a:srgbClr val="FFFFFF"/>
                </a:solidFill>
              </a:rPr>
              <a:t>List Report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b="1" dirty="0">
                <a:solidFill>
                  <a:srgbClr val="FFFFFF"/>
                </a:solidFill>
              </a:rPr>
              <a:t>Object Page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03.02  </a:t>
            </a:r>
            <a:r>
              <a:rPr lang="en-US" sz="1500" dirty="0">
                <a:solidFill>
                  <a:srgbClr val="FFFFFF"/>
                </a:solidFill>
              </a:rPr>
              <a:t>Exposição de serviços: Service definition e service binding.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03.01 SAP Fiori elements para OData V4</dc:title>
  <dc:subject>ABAP Moderno – Módulo 03: SAP Fiori Elements com OData V4</dc:subject>
  <dc:creator>Adriano Bispo</dc:creator>
  <cp:lastModifiedBy>Adriano Bispo</cp:lastModifiedBy>
  <cp:revision>1</cp:revision>
  <dcterms:created xsi:type="dcterms:W3CDTF">2026-10-29T01:33:08Z</dcterms:created>
  <dcterms:modified xsi:type="dcterms:W3CDTF">2026-10-29T01:33:08Z</dcterms:modified>
</cp:coreProperties>
</file>