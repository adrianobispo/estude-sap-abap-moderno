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03.07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03.07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Anatomia de uma Tabela Inteligente em Fiori Elements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De dados brutos a insights acionáveis: dominando cores, ações e responsividade.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criticality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#WITH_ICON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#FOR_ACTION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@UI.createHidden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importance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Evolução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 uma Grade de Dados a uma Ferramenta de Decisão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B82"/>
                </a:solidFill>
              </a:rPr>
              <a:t>Tabela Padrão</a:t>
            </a:r>
            <a:endParaRPr lang="en-US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5364328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1801368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Cliente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TRV001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Empresa ABC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Aprovado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TRV002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Tecnologia Global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Pendente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TRV003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Comércio Intl.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Rejeitado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TRV004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Startup Inovadora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Aprovado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617720"/>
            <a:ext cx="5364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Apresentação de dados sem hierarquia visual. Dificulta a identificação rápida de prioridades e a execução de tarefas.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6002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64D9"/>
                </a:solidFill>
              </a:rPr>
              <a:t>Tabela Inteligente</a:t>
            </a:r>
            <a:endParaRPr lang="en-US" sz="19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2148840"/>
          <a:ext cx="5364328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1417320"/>
                <a:gridCol w="1024128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Cliente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TRV001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Empresa ABC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56F3A"/>
                          </a:solidFill>
                        </a:rPr>
                        <a:t>✓ Aprovado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64D9"/>
                          </a:solidFill>
                        </a:rPr>
                        <a:t>[Aprovar]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TRV002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Tecnologia Global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44F00"/>
                          </a:solidFill>
                        </a:rPr>
                        <a:t>! Pendente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64D9"/>
                          </a:solidFill>
                        </a:rPr>
                        <a:t>[Aprovar]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TRV003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Comércio Intl.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0808"/>
                          </a:solidFill>
                        </a:rPr>
                        <a:t>✗ Rejeitado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64D9"/>
                          </a:solidFill>
                        </a:rPr>
                        <a:t>[Aprovar]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TRV004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Startup Inovadora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56F3A"/>
                          </a:solidFill>
                        </a:rPr>
                        <a:t>✓ Aprovado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64D9"/>
                          </a:solidFill>
                        </a:rPr>
                        <a:t>[Aprovar]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278728" y="4617720"/>
            <a:ext cx="5364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Dados enriquecidos com cores semânticas, ações contextuais e design adaptável. Informação clara, decisões rápidas.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Nosso Blueprint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Construindo a Tabela, Sistema por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3026664"/>
            <a:ext cx="300319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“O Sistema Nervoso”: Cor e Significado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Usando </a:t>
            </a:r>
            <a:r>
              <a:rPr lang="en-US" sz="1500" b="1" dirty="0">
                <a:solidFill>
                  <a:srgbClr val="556B82"/>
                </a:solidFill>
              </a:rPr>
              <a:t>criticality</a:t>
            </a:r>
            <a:r>
              <a:rPr lang="en-US" sz="1500" dirty="0">
                <a:solidFill>
                  <a:srgbClr val="556B82"/>
                </a:solidFill>
              </a:rPr>
              <a:t> para transformar status em feedback visual instantâneo (verde, amarelo, vermelho).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8218" y="178308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4250" y="203911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4250" y="3026664"/>
            <a:ext cx="300319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“O Sistema Muscular”: Dados em Ações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Incorporando botões customizados na </a:t>
            </a:r>
            <a:r>
              <a:rPr lang="en-US" sz="1500" b="1" dirty="0">
                <a:solidFill>
                  <a:srgbClr val="556B82"/>
                </a:solidFill>
              </a:rPr>
              <a:t>toolbar</a:t>
            </a:r>
            <a:r>
              <a:rPr lang="en-US" sz="1500" dirty="0">
                <a:solidFill>
                  <a:srgbClr val="556B82"/>
                </a:solidFill>
              </a:rPr>
              <a:t> e </a:t>
            </a:r>
            <a:r>
              <a:rPr lang="en-US" sz="1500" b="1" dirty="0">
                <a:solidFill>
                  <a:srgbClr val="556B82"/>
                </a:solidFill>
              </a:rPr>
              <a:t>inline</a:t>
            </a:r>
            <a:r>
              <a:rPr lang="en-US" sz="1500" dirty="0">
                <a:solidFill>
                  <a:srgbClr val="556B82"/>
                </a:solidFill>
              </a:rPr>
              <a:t> para que os usuários ajam diretamente na informação.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7797" y="178308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83829" y="203911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83829" y="3026664"/>
            <a:ext cx="300319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“O Esqueleto Adaptável”: Qualquer Tela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Configurando a responsividade com </a:t>
            </a:r>
            <a:r>
              <a:rPr lang="en-US" sz="1500" b="1" dirty="0">
                <a:solidFill>
                  <a:srgbClr val="556B82"/>
                </a:solidFill>
              </a:rPr>
              <a:t>importance</a:t>
            </a:r>
            <a:r>
              <a:rPr lang="en-US" sz="1500" dirty="0">
                <a:solidFill>
                  <a:srgbClr val="556B82"/>
                </a:solidFill>
              </a:rPr>
              <a:t> para um layout perfeito em desktops, tablets e celulares.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2236622"/>
            <a:ext cx="427939" cy="427939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761" y="2236622"/>
            <a:ext cx="427939" cy="427939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339" y="2236622"/>
            <a:ext cx="427939" cy="42793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Parte 1 · O Sistema Nervoso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Por que Cores? O Poder da Semântica Visual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1D2D3E"/>
                </a:solidFill>
              </a:rPr>
              <a:t>“Em um mar de dados, a cor é a boia de sinalização. O SAP Fiori usa </a:t>
            </a:r>
            <a:r>
              <a:rPr lang="en-US" sz="1900" b="1" i="1" dirty="0">
                <a:solidFill>
                  <a:srgbClr val="1D2D3E"/>
                </a:solidFill>
              </a:rPr>
              <a:t>Cores Semânticas</a:t>
            </a:r>
            <a:r>
              <a:rPr lang="en-US" sz="1900" i="1" dirty="0">
                <a:solidFill>
                  <a:srgbClr val="1D2D3E"/>
                </a:solidFill>
              </a:rPr>
              <a:t> para comunicar status universalmente, permitindo que o usuário identifique problemas e sucessos em uma fração de segundo.”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3063240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3063240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3063240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3063240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3502152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3502152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3502152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3502152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41064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3941064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941064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3941064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4379976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4379976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4379976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4379976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4818888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4818888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4818888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4818888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3063240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3063240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69680" y="3063240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29800" y="3063240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3502152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9560" y="3502152"/>
            <a:ext cx="960120" cy="438912"/>
          </a:xfrm>
          <a:prstGeom prst="rect">
            <a:avLst/>
          </a:prstGeom>
          <a:solidFill>
            <a:srgbClr val="30914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0" y="3502152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29800" y="3502152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3941064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9560" y="3941064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9680" y="3941064"/>
            <a:ext cx="960120" cy="438912"/>
          </a:xfrm>
          <a:prstGeom prst="rect">
            <a:avLst/>
          </a:prstGeom>
          <a:solidFill>
            <a:srgbClr val="F5C400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29800" y="3941064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4379976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09560" y="4379976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9680" y="4379976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29800" y="4379976"/>
            <a:ext cx="960120" cy="438912"/>
          </a:xfrm>
          <a:prstGeom prst="rect">
            <a:avLst/>
          </a:prstGeom>
          <a:solidFill>
            <a:srgbClr val="D20A0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0" y="4818888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9560" y="4818888"/>
            <a:ext cx="960120" cy="438912"/>
          </a:xfrm>
          <a:prstGeom prst="rect">
            <a:avLst/>
          </a:prstGeom>
          <a:solidFill>
            <a:srgbClr val="D20A0A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0" y="4818888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29800" y="4818888"/>
            <a:ext cx="9601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3886200"/>
            <a:ext cx="1188720" cy="54864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6B82"/>
                </a:solidFill>
              </a:rPr>
              <a:t>Não escolhemos ‘Azul #0000FF’. Usamos cores que transmitem significado: Sucesso, Aviso, Erro, Neutro.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Espectro da Criticality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Decodificando os Sinais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67864" cy="3931920"/>
          </a:xfrm>
          <a:prstGeom prst="roundRect">
            <a:avLst>
              <a:gd name="adj" fmla="val 4985"/>
            </a:avLst>
          </a:prstGeom>
          <a:solidFill>
            <a:srgbClr val="F5FAE5"/>
          </a:solidFill>
          <a:ln w="19050">
            <a:solidFill>
              <a:srgbClr val="3091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0914C"/>
                </a:solidFill>
              </a:rPr>
              <a:t>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48056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Significado: </a:t>
            </a:r>
            <a:r>
              <a:rPr lang="en-US" sz="1400" dirty="0">
                <a:solidFill>
                  <a:srgbClr val="1D2D3E"/>
                </a:solidFill>
              </a:rPr>
              <a:t>Sucesso, Aprovado, Concluído, Dentro do Prazo.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90824" y="1874520"/>
            <a:ext cx="2567864" cy="3931920"/>
          </a:xfrm>
          <a:prstGeom prst="roundRect">
            <a:avLst>
              <a:gd name="adj" fmla="val 4985"/>
            </a:avLst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0824" y="20574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500"/>
                </a:solidFill>
              </a:rPr>
              <a:t>2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3390824" y="393192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448056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Significado: </a:t>
            </a:r>
            <a:r>
              <a:rPr lang="en-US" sz="1400" dirty="0">
                <a:solidFill>
                  <a:srgbClr val="1D2D3E"/>
                </a:solidFill>
              </a:rPr>
              <a:t>Aviso, Em Atenção, Pendente, Quase Vencendo.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33008" y="1874520"/>
            <a:ext cx="2567864" cy="3931920"/>
          </a:xfrm>
          <a:prstGeom prst="roundRect">
            <a:avLst>
              <a:gd name="adj" fmla="val 4985"/>
            </a:avLst>
          </a:prstGeom>
          <a:solidFill>
            <a:srgbClr val="FFEAF4"/>
          </a:solidFill>
          <a:ln w="19050">
            <a:solidFill>
              <a:srgbClr val="D20A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3008" y="20574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20A0A"/>
                </a:solidFill>
              </a:rPr>
              <a:t>1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393192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448056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Significado: </a:t>
            </a:r>
            <a:r>
              <a:rPr lang="en-US" sz="1400" dirty="0">
                <a:solidFill>
                  <a:srgbClr val="1D2D3E"/>
                </a:solidFill>
              </a:rPr>
              <a:t>Erro, Rejeitado, Atrasado, Bloqueado.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75191" y="1874520"/>
            <a:ext cx="2567864" cy="3931920"/>
          </a:xfrm>
          <a:prstGeom prst="roundRect">
            <a:avLst>
              <a:gd name="adj" fmla="val 4985"/>
            </a:avLst>
          </a:prstGeom>
          <a:solidFill>
            <a:srgbClr val="EAECEE"/>
          </a:solidFill>
          <a:ln w="19050">
            <a:solidFill>
              <a:srgbClr val="556B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5191" y="20574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56B82"/>
                </a:solidFill>
              </a:rPr>
              <a:t>0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9075191" y="393192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303791" y="448056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Significado: </a:t>
            </a:r>
            <a:r>
              <a:rPr lang="en-US" sz="1400" dirty="0">
                <a:solidFill>
                  <a:srgbClr val="1D2D3E"/>
                </a:solidFill>
              </a:rPr>
              <a:t>Informativo, Inativo, Rascunho, Sem Status.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252" y="3246120"/>
            <a:ext cx="548640" cy="54864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436" y="3246120"/>
            <a:ext cx="548640" cy="54864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803" y="3246120"/>
            <a:ext cx="548640" cy="548640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620" y="324612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Lógica de Decisão no Backend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inteligência reside no backend. Criamos um campo calculado na CDS View para traduzir o status do negócio em um valor numérico (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0–3</a:t>
            </a:r>
            <a:r>
              <a:rPr lang="en-US" sz="1600" dirty="0">
                <a:solidFill>
                  <a:srgbClr val="1D2D3E"/>
                </a:solidFill>
              </a:rPr>
              <a:t>) que o Fiori possa entender.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40080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64261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CDS 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26664"/>
            <a:ext cx="64008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154680"/>
            <a:ext cx="59436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Exemplo na CDS View */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Aceito    = Verde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Cancelado = Vermelho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Aberto    = Amarelo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Outros    = Cinza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StatusCriticality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06640" y="260604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0664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06640" y="315468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X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06640" y="3703320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3703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38360" y="2606040"/>
            <a:ext cx="1463040" cy="548640"/>
          </a:xfrm>
          <a:prstGeom prst="rect">
            <a:avLst/>
          </a:prstGeom>
          <a:solidFill>
            <a:srgbClr val="F5FAE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3836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0914C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738360" y="3154680"/>
            <a:ext cx="1463040" cy="548640"/>
          </a:xfrm>
          <a:prstGeom prst="rect">
            <a:avLst/>
          </a:prstGeom>
          <a:solidFill>
            <a:srgbClr val="FFEAF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3836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20A0A"/>
                </a:solidFill>
              </a:rPr>
              <a:t>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738360" y="3703320"/>
            <a:ext cx="1463040" cy="548640"/>
          </a:xfrm>
          <a:prstGeom prst="rect">
            <a:avLst/>
          </a:prstGeom>
          <a:solidFill>
            <a:srgbClr val="FFF8D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38360" y="3703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500"/>
                </a:solidFill>
              </a:rPr>
              <a:t>2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StatusCriticality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3200400"/>
            <a:ext cx="594360" cy="45720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24" name="Shape 22"/>
          <p:cNvSpPr/>
          <p:nvPr/>
        </p:nvSpPr>
        <p:spPr>
          <a:xfrm>
            <a:off x="7406640" y="4892040"/>
            <a:ext cx="4236415" cy="1097280"/>
          </a:xfrm>
          <a:prstGeom prst="roundRect">
            <a:avLst>
              <a:gd name="adj" fmla="val 10000"/>
            </a:avLst>
          </a:prstGeom>
          <a:solidFill>
            <a:srgbClr val="EBF8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0" y="4892040"/>
            <a:ext cx="32305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Esta expressão cria uma nova coluna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StatusCriticality</a:t>
            </a:r>
            <a:r>
              <a:rPr lang="en-US" sz="1400" dirty="0">
                <a:solidFill>
                  <a:srgbClr val="1D2D3E"/>
                </a:solidFill>
              </a:rPr>
              <a:t> que servirá de </a:t>
            </a:r>
            <a:r>
              <a:rPr lang="en-US" sz="1400" b="1" dirty="0">
                <a:solidFill>
                  <a:srgbClr val="1D2D3E"/>
                </a:solidFill>
              </a:rPr>
              <a:t>gatilho</a:t>
            </a:r>
            <a:r>
              <a:rPr lang="en-US" sz="1400" dirty="0">
                <a:solidFill>
                  <a:srgbClr val="1D2D3E"/>
                </a:solidFill>
              </a:rPr>
              <a:t> para a UI.</a:t>
            </a:r>
            <a:endParaRPr lang="en-US" sz="16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52669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Conexão Visual na Metadata Extension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Com a lógica no lugar, usamos uma anotação na Metadata Extension para dizer ao Fiori: “Use o campo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StatusCriticality</a:t>
            </a:r>
            <a:r>
              <a:rPr lang="en-US" sz="1600" dirty="0">
                <a:solidFill>
                  <a:srgbClr val="1D2D3E"/>
                </a:solidFill>
              </a:rPr>
              <a:t> para colorir a coluna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OverallStatus</a:t>
            </a:r>
            <a:r>
              <a:rPr lang="en-US" sz="1600" dirty="0">
                <a:solidFill>
                  <a:srgbClr val="1D2D3E"/>
                </a:solidFill>
              </a:rPr>
              <a:t>.”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731520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6426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Metadata Extension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26664"/>
            <a:ext cx="73152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154680"/>
            <a:ext cx="685800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o vínculo mágico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'StatusCriticality'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adiciona ícone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criticalityRepresentation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#WITH_ICON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OverallStatus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577840"/>
            <a:ext cx="7315200" cy="640080"/>
          </a:xfrm>
          <a:prstGeom prst="roundRect">
            <a:avLst>
              <a:gd name="adj" fmla="val 17143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55778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#WITH_ICON</a:t>
            </a:r>
            <a:r>
              <a:rPr lang="en-US" sz="1400" dirty="0">
                <a:solidFill>
                  <a:srgbClr val="1D2D3E"/>
                </a:solidFill>
              </a:rPr>
              <a:t>: recomendado para </a:t>
            </a:r>
            <a:r>
              <a:rPr lang="en-US" sz="1400" b="1" dirty="0">
                <a:solidFill>
                  <a:srgbClr val="1D2D3E"/>
                </a:solidFill>
              </a:rPr>
              <a:t>acessibilidade</a:t>
            </a:r>
            <a:r>
              <a:rPr lang="en-US" sz="1400" dirty="0">
                <a:solidFill>
                  <a:srgbClr val="1D2D3E"/>
                </a:solidFill>
              </a:rPr>
              <a:t> (ex.: daltonismo) e leitura rápida.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Resultado final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0" y="2971800"/>
            <a:ext cx="3413455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91540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Status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0" y="3611880"/>
            <a:ext cx="323057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1540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F3A"/>
                </a:solidFill>
              </a:rPr>
              <a:t>Aceito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21040" y="4160520"/>
            <a:ext cx="323057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1540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0808"/>
                </a:solidFill>
              </a:rPr>
              <a:t>Rejeitado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21040" y="4709160"/>
            <a:ext cx="323057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15400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4F00"/>
                </a:solidFill>
              </a:rPr>
              <a:t>Pendente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21040" y="5257800"/>
            <a:ext cx="323057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15400" y="5257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Rascunho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24144"/>
            <a:ext cx="347472" cy="347472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730752"/>
            <a:ext cx="329184" cy="329184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279392"/>
            <a:ext cx="329184" cy="329184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4828032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Parte 2 · O Sistema Muscular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Tabela como Ponto de Partida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Uma tabela moderna não é um beco sem saída: é um hub de ações. No Fiori Elements, as ações vivem em dois locais estratégicos, cada um com um propósito claro.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Ações de Toolbar (Globais)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364328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5090008" cy="365760"/>
          </a:xfrm>
          <a:prstGeom prst="rect">
            <a:avLst/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520440"/>
            <a:ext cx="5090008" cy="301752"/>
          </a:xfrm>
          <a:prstGeom prst="rect">
            <a:avLst/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22192"/>
            <a:ext cx="5090008" cy="301752"/>
          </a:xfrm>
          <a:prstGeom prst="rect">
            <a:avLst/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4123944"/>
            <a:ext cx="5090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4425696"/>
            <a:ext cx="5090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27448"/>
            <a:ext cx="5090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1089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Copiar Viagem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57800"/>
            <a:ext cx="536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Para ações em massa ou que afetam múltiplos registros selecionados. Ex.: Copiar, Criar.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78728" y="242316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Ações Inline (Específicas)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78728" y="2926080"/>
            <a:ext cx="5364328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5888" y="3063240"/>
            <a:ext cx="5090008" cy="3657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5888" y="3520440"/>
            <a:ext cx="5090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5888" y="3822192"/>
            <a:ext cx="5090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5888" y="4123944"/>
            <a:ext cx="5090008" cy="301752"/>
          </a:xfrm>
          <a:prstGeom prst="rect">
            <a:avLst/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54335" y="4169664"/>
            <a:ext cx="914400" cy="210312"/>
          </a:xfrm>
          <a:prstGeom prst="roundRect">
            <a:avLst>
              <a:gd name="adj" fmla="val 21739"/>
            </a:avLst>
          </a:prstGeom>
          <a:solidFill>
            <a:srgbClr val="0070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454335" y="416966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Aprovar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15888" y="4425696"/>
            <a:ext cx="5090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5888" y="4727448"/>
            <a:ext cx="5090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78728" y="5257800"/>
            <a:ext cx="536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Para ações rápidas e contextuais em um único registro, sem necessidade de seleção. Ex.: Aprovar, Rejeitar.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Gerenciando Ações Padrão (Create, Update, Delete)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framework gera botões de CRUD com base nas capacidades do seu Behavior Definition (BDEF). Mas o que é tecnicamente possível nem sempre é desejável na UI: as anotações nos dão o controle final.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514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Se o BDEF diz: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create;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0" y="2697480"/>
            <a:ext cx="914400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514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2514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Botão “Criar”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383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Se o BDEF diz: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3566160"/>
            <a:ext cx="914400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0" y="33832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3383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Botão “Excluir” (ativado com seleção)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Controle fino: escondendo botões via anotação de cabeçalho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351525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892040"/>
            <a:ext cx="2509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@UI.createHidden: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Esconde ‘Criar’ no List Report.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38218" y="4800600"/>
            <a:ext cx="351525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66818" y="4892040"/>
            <a:ext cx="2509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@UI.deleteHidden: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Esconde ‘Excluir’ no List Report.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797" y="4800600"/>
            <a:ext cx="351525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56397" y="4892040"/>
            <a:ext cx="2509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@UI.updateHidden: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Esconde ‘Editar’ na Object Page.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5779" y="2668219"/>
            <a:ext cx="332842" cy="33284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779" y="3536899"/>
            <a:ext cx="332842" cy="33284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098" y="4937760"/>
            <a:ext cx="457200" cy="457200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4937760"/>
            <a:ext cx="457200" cy="457200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7677" y="4937760"/>
            <a:ext cx="457200" cy="457200"/>
          </a:xfrm>
          <a:prstGeom prst="rect">
            <a:avLst/>
          </a:prstGeom>
        </p:spPr>
      </p:pic>
      <p:sp>
        <p:nvSpPr>
          <p:cNvPr id="24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Implementando Ações de Negócio Customizadas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Para ações como ‘Aceitar Viagem’ ou ‘Copiar’, usamos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r>
              <a:rPr lang="en-US" sz="1600" dirty="0">
                <a:solidFill>
                  <a:srgbClr val="1D2D3E"/>
                </a:solidFill>
              </a:rPr>
              <a:t> para criar botões que disparam a lógica definida no seu BDEF.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667512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55117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Metadata Extension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35224"/>
            <a:ext cx="667512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063240"/>
            <a:ext cx="621792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Ação na Toolbar: requer seleção */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dataAction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'acceptTravel'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nome da ação no BDEF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'Aceitar Viagem'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Ação Inline: aparece em cada linha */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dataAction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'rejectTravel'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'Rejeitar'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42316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Resultado na 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0" y="2880360"/>
            <a:ext cx="4144975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951415" y="301752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51415" y="3017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Aceitar Viagem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3520440"/>
            <a:ext cx="387065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3520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4D9"/>
                </a:solidFill>
              </a:rPr>
              <a:t>S30106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362102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15400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F3A"/>
                </a:solidFill>
              </a:rPr>
              <a:t>Approved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0055" y="362102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00055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Rejeitar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35240" y="3995928"/>
            <a:ext cx="387065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39959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4D9"/>
                </a:solidFill>
              </a:rPr>
              <a:t>S30107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409651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15400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4F00"/>
                </a:solidFill>
              </a:rPr>
              <a:t>Pending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500055" y="409651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00055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Rejeitar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35240" y="4471416"/>
            <a:ext cx="387065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0" y="447141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4D9"/>
                </a:solidFill>
              </a:rPr>
              <a:t>S30108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15400" y="45720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15400" y="4572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4F00"/>
                </a:solidFill>
              </a:rPr>
              <a:t>Pending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00055" y="45720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00055" y="4572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Rejeitar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35240" y="4946904"/>
            <a:ext cx="387065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0" y="494690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4D9"/>
                </a:solidFill>
              </a:rPr>
              <a:t>S30109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15400" y="504748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915400" y="5047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0808"/>
                </a:solidFill>
              </a:rPr>
              <a:t>Rejected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500055" y="504748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00055" y="5047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Rejeitar</a:t>
            </a:r>
            <a:endParaRPr lang="en-US" sz="900" dirty="0"/>
          </a:p>
        </p:txBody>
      </p:sp>
      <p:sp>
        <p:nvSpPr>
          <p:cNvPr id="3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Parte 3 · O Esqueleto Adaptável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Desafio: 20 Colunas em uma Tela de 6 Polegadas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600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A filosofia do Fiori Elements é ‘Mobile First’. Como garantir que uma tabela complexa seja útil e legível em um smartphone sem sacrificar a riqueza de informações no desktop?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56032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A propriedade</a:t>
            </a:r>
            <a:r>
              <a:rPr lang="en-US" sz="1700" dirty="0">
                <a:solidFill>
                  <a:srgbClr val="1D2D3E"/>
                </a:solidFill>
              </a:rPr>
              <a:t>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700" b="1" dirty="0">
                <a:solidFill>
                  <a:srgbClr val="1D2D3E"/>
                </a:solidFill>
              </a:rPr>
              <a:t>.</a:t>
            </a:r>
            <a:r>
              <a:rPr lang="en-US" sz="1700" dirty="0">
                <a:solidFill>
                  <a:srgbClr val="1D2D3E"/>
                </a:solidFill>
              </a:rPr>
              <a:t> Em vez de quebrar o layout, o framework oculta ou move de forma inteligente as colunas menos críticas, com base na prioridade que definimos.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12080" y="4480560"/>
            <a:ext cx="2011680" cy="502920"/>
          </a:xfrm>
          <a:prstGeom prst="rightArrow">
            <a:avLst/>
          </a:prstGeom>
          <a:solidFill>
            <a:srgbClr val="0070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703320"/>
            <a:ext cx="2103120" cy="21031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0"/>
            <a:ext cx="18288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Hierarquia da importance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que Fica, o que se Adapta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40233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 coluna é sagrada. Sempre visível, não importa o tamanho da tela.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Use para: </a:t>
            </a:r>
            <a:r>
              <a:rPr lang="en-US" sz="1300" i="1" dirty="0">
                <a:solidFill>
                  <a:srgbClr val="556B82"/>
                </a:solidFill>
              </a:rPr>
              <a:t>IDs, status críticos, campos-chave.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8218" y="1600200"/>
            <a:ext cx="3515258" cy="40233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2538" y="178308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#MEDIUM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Importante, mas secundária. Visível em desktops e tablets. Em celulares, move-se para a área de detalhes ‘Pop-in’.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489204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Use para: </a:t>
            </a:r>
            <a:r>
              <a:rPr lang="en-US" sz="1300" i="1" dirty="0">
                <a:solidFill>
                  <a:srgbClr val="556B82"/>
                </a:solidFill>
              </a:rPr>
              <a:t>Informações contextuais importantes.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7797" y="1600200"/>
            <a:ext cx="3515258" cy="40233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02117" y="178308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#LOW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5661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Detalhe. Visível apenas em telas grandes. Em telas menores, vai para o ‘Pop-in’.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489204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Use para: </a:t>
            </a:r>
            <a:r>
              <a:rPr lang="en-US" sz="1300" i="1" dirty="0">
                <a:solidFill>
                  <a:srgbClr val="556B82"/>
                </a:solidFill>
              </a:rPr>
              <a:t>Descrições longas, dados complementares.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B82"/>
                </a:solidFill>
              </a:rPr>
              <a:t>O ‘Pop-in’ é uma área expansível na linha da tabela que exibe os dados das colunas ocultadas, garantindo que nenhuma informação seja perdida.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349" y="2423160"/>
            <a:ext cx="1005840" cy="100584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8" y="2423160"/>
            <a:ext cx="1005840" cy="100584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506" y="242316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Implementando a Responsividade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Basta adicionar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600" dirty="0">
                <a:solidFill>
                  <a:srgbClr val="1D2D3E"/>
                </a:solidFill>
              </a:rPr>
              <a:t> à anotação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600" dirty="0">
                <a:solidFill>
                  <a:srgbClr val="1D2D3E"/>
                </a:solidFill>
              </a:rPr>
              <a:t> da coluna desejada: o framework cuida de todo o resto.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4140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Metadata Extension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98064"/>
            <a:ext cx="53949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926080"/>
            <a:ext cx="49377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Descrição é longa: só em telas grandes */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#LOW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 mágica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Desktop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651760"/>
          <a:ext cx="32918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0515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Customer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ACME Corp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Detailed description…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ACME Corp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Detailed description…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103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ACME Corp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Detailed description…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9875520" y="2286000"/>
            <a:ext cx="1767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Mobile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75520" y="2651760"/>
          <a:ext cx="176753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075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Customer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ACME Corp ›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ACME Corp ›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103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ACME Corp ›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309360" y="4480560"/>
            <a:ext cx="5333695" cy="914400"/>
          </a:xfrm>
          <a:prstGeom prst="roundRect">
            <a:avLst>
              <a:gd name="adj" fmla="val 12000"/>
            </a:avLst>
          </a:prstGeom>
          <a:solidFill>
            <a:srgbClr val="FFF8D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040880" y="448056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 coluna ‘Description’ foi movida para o </a:t>
            </a:r>
            <a:r>
              <a:rPr lang="en-US" sz="1400" b="1" dirty="0">
                <a:solidFill>
                  <a:srgbClr val="1D2D3E"/>
                </a:solidFill>
              </a:rPr>
              <a:t>Pop-in</a:t>
            </a:r>
            <a:r>
              <a:rPr lang="en-US" sz="1400" dirty="0">
                <a:solidFill>
                  <a:srgbClr val="1D2D3E"/>
                </a:solidFill>
              </a:rPr>
              <a:t> no celular.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4764024"/>
            <a:ext cx="347472" cy="347472"/>
          </a:xfrm>
          <a:prstGeom prst="rect">
            <a:avLst/>
          </a:prstGeom>
        </p:spPr>
      </p:pic>
      <p:sp>
        <p:nvSpPr>
          <p:cNvPr id="1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Anatomia Completa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Juntando Todas as Peças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6492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dataAction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'copyTravel'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'Copiar Viagem'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#MEDIUM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'StatusCriticality'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criticalityRepresentation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#WITH_ICON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 Aprovação'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OverallStatus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dataAction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'deductFee'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'Deduzir Taxa'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BookingFee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0" y="1508760"/>
            <a:ext cx="38706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36992" y="18242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36992" y="18242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1508760"/>
            <a:ext cx="3093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Ação de toolbar: </a:t>
            </a:r>
            <a:r>
              <a:rPr lang="en-US" sz="1400" b="1" dirty="0">
                <a:solidFill>
                  <a:srgbClr val="1D2D3E"/>
                </a:solidFill>
              </a:rPr>
              <a:t>Copiar Viagem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0" y="2743200"/>
            <a:ext cx="38706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30586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36992" y="30586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743200"/>
            <a:ext cx="3093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Colunas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400" dirty="0">
                <a:solidFill>
                  <a:srgbClr val="1D2D3E"/>
                </a:solidFill>
              </a:rPr>
              <a:t> sempre visíveis.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0" y="3977640"/>
            <a:ext cx="38706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36992" y="42931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36992" y="42931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977640"/>
            <a:ext cx="3093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Status com cor + ícone (</a:t>
            </a:r>
            <a:r>
              <a:rPr lang="en-US" sz="1400" b="1" dirty="0">
                <a:solidFill>
                  <a:srgbClr val="1D2D3E"/>
                </a:solidFill>
              </a:rPr>
              <a:t>criticality</a:t>
            </a:r>
            <a:r>
              <a:rPr lang="en-US" sz="1400" dirty="0">
                <a:solidFill>
                  <a:srgbClr val="1D2D3E"/>
                </a:solidFill>
              </a:rPr>
              <a:t>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0" y="5212080"/>
            <a:ext cx="387065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6992" y="55275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36992" y="55275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5212080"/>
            <a:ext cx="3093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Ação por linha: </a:t>
            </a:r>
            <a:r>
              <a:rPr lang="en-US" sz="1400" b="1" dirty="0">
                <a:solidFill>
                  <a:srgbClr val="1D2D3E"/>
                </a:solidFill>
              </a:rPr>
              <a:t>Deduzir Taxa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Guia de Referência Rápida e Glossário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676656"/>
          </a:xfrm>
          <a:prstGeom prst="roundRect">
            <a:avLst>
              <a:gd name="adj" fmla="val 10811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  </a:t>
            </a:r>
            <a:r>
              <a:rPr lang="en-US" sz="1200" dirty="0">
                <a:solidFill>
                  <a:srgbClr val="C9D3DE"/>
                </a:solidFill>
              </a:rPr>
              <a:t>Aplica cor semântica a um campo com base em um valor numérico (0–3).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69464"/>
            <a:ext cx="6309360" cy="676656"/>
          </a:xfrm>
          <a:prstGeom prst="roundRect">
            <a:avLst>
              <a:gd name="adj" fmla="val 10811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69464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  </a:t>
            </a:r>
            <a:r>
              <a:rPr lang="en-US" sz="1200" dirty="0">
                <a:solidFill>
                  <a:srgbClr val="C9D3DE"/>
                </a:solidFill>
              </a:rPr>
              <a:t>Tipo de @UI.lineItem que renderiza um botão para disparar uma ação BDEF.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6309360" cy="676656"/>
          </a:xfrm>
          <a:prstGeom prst="roundRect">
            <a:avLst>
              <a:gd name="adj" fmla="val 10811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355848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dataAction  </a:t>
            </a:r>
            <a:r>
              <a:rPr lang="en-US" sz="1200" dirty="0">
                <a:solidFill>
                  <a:srgbClr val="C9D3DE"/>
                </a:solidFill>
              </a:rPr>
              <a:t>Nome técnico da ação no BDEF a ser executada.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42232"/>
            <a:ext cx="6309360" cy="676656"/>
          </a:xfrm>
          <a:prstGeom prst="roundRect">
            <a:avLst>
              <a:gd name="adj" fmla="val 10811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142232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  </a:t>
            </a:r>
            <a:r>
              <a:rPr lang="en-US" sz="1200" dirty="0">
                <a:solidFill>
                  <a:srgbClr val="C9D3DE"/>
                </a:solidFill>
              </a:rPr>
              <a:t>Prioridade de exibição da coluna (#HIGH, #MEDIUM, #LOW).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8616"/>
            <a:ext cx="6309360" cy="676656"/>
          </a:xfrm>
          <a:prstGeom prst="roundRect">
            <a:avLst>
              <a:gd name="adj" fmla="val 10811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928616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criticalityRepresentation  </a:t>
            </a:r>
            <a:r>
              <a:rPr lang="en-US" sz="1200" dirty="0">
                <a:solidFill>
                  <a:srgbClr val="C9D3DE"/>
                </a:solidFill>
              </a:rPr>
              <a:t>Define se a criticidade aparece só com cor ou também com ícone (#WITH_ICON).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1783080"/>
            <a:ext cx="4510735" cy="841248"/>
          </a:xfrm>
          <a:prstGeom prst="roundRect">
            <a:avLst>
              <a:gd name="adj" fmla="val 869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178308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914C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178308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Positivo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Verde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0" y="2770632"/>
            <a:ext cx="4510735" cy="841248"/>
          </a:xfrm>
          <a:prstGeom prst="roundRect">
            <a:avLst>
              <a:gd name="adj" fmla="val 869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277063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6500"/>
                </a:solidFill>
              </a:rPr>
              <a:t>2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2770632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Crítico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Laranja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0" y="3758184"/>
            <a:ext cx="4510735" cy="841248"/>
          </a:xfrm>
          <a:prstGeom prst="roundRect">
            <a:avLst>
              <a:gd name="adj" fmla="val 869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375818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0A0A"/>
                </a:solidFill>
              </a:rPr>
              <a:t>1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3758184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Negativo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Vermelho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0" y="4745736"/>
            <a:ext cx="4510735" cy="841248"/>
          </a:xfrm>
          <a:prstGeom prst="roundRect">
            <a:avLst>
              <a:gd name="adj" fmla="val 869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0" y="474573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96A8"/>
                </a:solidFill>
              </a:rPr>
              <a:t>0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4745736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Neutro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Cinza</a:t>
            </a:r>
            <a:endParaRPr lang="en-US" sz="13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7255" y="1993392"/>
            <a:ext cx="420624" cy="420624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980944"/>
            <a:ext cx="420624" cy="420624"/>
          </a:xfrm>
          <a:prstGeom prst="rect">
            <a:avLst/>
          </a:prstGeom>
        </p:spPr>
      </p:pic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3968496"/>
            <a:ext cx="420624" cy="420624"/>
          </a:xfrm>
          <a:prstGeom prst="rect">
            <a:avLst/>
          </a:prstGeom>
        </p:spPr>
      </p:pic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4956048"/>
            <a:ext cx="420624" cy="4206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Anatomia de uma Tabela Inteligente em Fiori Elements</dc:title>
  <dc:subject>ABAP Moderno – Módulo 03</dc:subject>
  <dc:creator>Adriano Bispo</dc:creator>
  <cp:lastModifiedBy>Adriano Bispo</cp:lastModifiedBy>
  <cp:revision>1</cp:revision>
  <dcterms:created xsi:type="dcterms:W3CDTF">2026-10-25T15:40:15Z</dcterms:created>
  <dcterms:modified xsi:type="dcterms:W3CDTF">2026-10-25T15:40:15Z</dcterms:modified>
</cp:coreProperties>
</file>