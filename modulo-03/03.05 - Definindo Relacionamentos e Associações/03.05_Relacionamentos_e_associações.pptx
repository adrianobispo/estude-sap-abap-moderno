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03 — Modelagem de Dados com Dicionário e CDS  ·  Aula 5 de 7 — Associações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03 — Modelagem de Dados com Dicionário e CDS  ·  Aula 5 de 7 — Associações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03 · AULA 05 DE 07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Relacionamentos e associações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Cardinalidade, chaves estrangeiras no Dicionário, associações entre CDS views e path expressions com join sob demanda.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660674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9137469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9614263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1" name="Shape 9"/>
          <p:cNvSpPr/>
          <p:nvPr/>
        </p:nvSpPr>
        <p:spPr>
          <a:xfrm>
            <a:off x="10091057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67851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44646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5 de 7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03 — Modelagem de Dados com Dicionário e CDS · Design System SAP Horizon</a:t>
            </a:r>
            <a:endParaRPr lang="en-US" sz="11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03 em 7 aulas: Dicionário e CDS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Modelagem no ABAP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Dicionário x CDS, code-to-data e VDM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67964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32556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3255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3532556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Tabelas de banco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532556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DEFINE TABLE, chaves, tipos e ajustes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7288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5188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518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7" name="Text 15"/>
          <p:cNvSpPr txBox="1"/>
          <p:nvPr/>
        </p:nvSpPr>
        <p:spPr>
          <a:xfrm>
            <a:off x="6351880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Tipos globais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351880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Domínios, data elements, estruturas e table types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006611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71203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71203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4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9171203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CDS views básicas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171203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View entities, anotações e views sobre views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5</a:t>
            </a:r>
            <a:endParaRPr lang="en-US" sz="126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Associações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Chaves estrangeiras, associações e path expressions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188720" y="3904488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188720" y="3904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367964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532556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32556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6</a:t>
            </a:r>
            <a:endParaRPr lang="en-US" sz="1260" dirty="0"/>
          </a:p>
        </p:txBody>
      </p:sp>
      <p:sp>
        <p:nvSpPr>
          <p:cNvPr id="34" name="Text 32"/>
          <p:cNvSpPr txBox="1"/>
          <p:nvPr/>
        </p:nvSpPr>
        <p:spPr>
          <a:xfrm>
            <a:off x="3532556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Code pushdown em CDS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3532556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Expressões, funções, parâmetros e agregações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187288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35188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35188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7</a:t>
            </a:r>
            <a:endParaRPr lang="en-US" sz="1260" dirty="0"/>
          </a:p>
        </p:txBody>
      </p:sp>
      <p:sp>
        <p:nvSpPr>
          <p:cNvPr id="39" name="Text 37"/>
          <p:cNvSpPr txBox="1"/>
          <p:nvPr/>
        </p:nvSpPr>
        <p:spPr>
          <a:xfrm>
            <a:off x="6351880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Meta objetos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6351880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DCL, extensões e metadata extensions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ligamos pedidos, clientes e itens do projeto: primeiro com uma chave estrangeira entre tabelas, depois com associações e path expressions.</a:t>
            </a:r>
            <a:endParaRPr lang="en-US" sz="1400" dirty="0"/>
          </a:p>
        </p:txBody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55768" y="3858768"/>
            <a:ext cx="347472" cy="347472"/>
          </a:xfrm>
          <a:prstGeom prst="rect">
            <a:avLst/>
          </a:prstGeom>
        </p:spPr>
      </p:pic>
      <p:pic>
        <p:nvPicPr>
          <p:cNvPr id="4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6444" y="1847088"/>
            <a:ext cx="347472" cy="347472"/>
          </a:xfrm>
          <a:prstGeom prst="rect">
            <a:avLst/>
          </a:prstGeom>
        </p:spPr>
      </p:pic>
      <p:pic>
        <p:nvPicPr>
          <p:cNvPr id="4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5768" y="1847088"/>
            <a:ext cx="347472" cy="347472"/>
          </a:xfrm>
          <a:prstGeom prst="rect">
            <a:avLst/>
          </a:prstGeom>
        </p:spPr>
      </p:pic>
      <p:pic>
        <p:nvPicPr>
          <p:cNvPr id="4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4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091" y="1847088"/>
            <a:ext cx="347472" cy="347472"/>
          </a:xfrm>
          <a:prstGeom prst="rect">
            <a:avLst/>
          </a:prstGeom>
        </p:spPr>
      </p:pic>
      <p:pic>
        <p:nvPicPr>
          <p:cNvPr id="4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6444" y="3858768"/>
            <a:ext cx="347472" cy="347472"/>
          </a:xfrm>
          <a:prstGeom prst="rect">
            <a:avLst/>
          </a:prstGeom>
        </p:spPr>
      </p:pic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5091" y="3858768"/>
            <a:ext cx="347472" cy="347472"/>
          </a:xfrm>
          <a:prstGeom prst="rect">
            <a:avLst/>
          </a:prstGeom>
        </p:spPr>
      </p:pic>
      <p:pic>
        <p:nvPicPr>
          <p:cNvPr id="5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Como as entidades se relacionam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Pedido, cliente e endereço têm relações diferentes: o pedido </a:t>
            </a:r>
            <a:r>
              <a:rPr lang="en-US" sz="1500" b="1" dirty="0">
                <a:solidFill>
                  <a:srgbClr val="556B82"/>
                </a:solidFill>
              </a:rPr>
              <a:t>pertence</a:t>
            </a:r>
            <a:r>
              <a:rPr lang="en-US" sz="1500" dirty="0">
                <a:solidFill>
                  <a:srgbClr val="556B82"/>
                </a:solidFill>
              </a:rPr>
              <a:t> a um cliente, e o cliente </a:t>
            </a:r>
            <a:r>
              <a:rPr lang="en-US" sz="1500" b="1" dirty="0">
                <a:solidFill>
                  <a:srgbClr val="556B82"/>
                </a:solidFill>
              </a:rPr>
              <a:t>tem</a:t>
            </a:r>
            <a:r>
              <a:rPr lang="en-US" sz="1500" dirty="0">
                <a:solidFill>
                  <a:srgbClr val="556B82"/>
                </a:solidFill>
              </a:rPr>
              <a:t> vários endereços, um deles o principal.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008884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321005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3813556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Pedido → cliente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Cada pedido pertence a exatamente um cliente: </a:t>
            </a:r>
            <a:r>
              <a:rPr lang="en-US" sz="1300" b="1" dirty="0">
                <a:solidFill>
                  <a:srgbClr val="556B82"/>
                </a:solidFill>
              </a:rPr>
              <a:t>1..1</a:t>
            </a:r>
            <a:r>
              <a:rPr lang="en-US" sz="1300" dirty="0">
                <a:solidFill>
                  <a:srgbClr val="556B82"/>
                </a:solidFill>
              </a:rPr>
              <a:t>. No sentido oposto, um cliente tem de zero a muitos pedidos: </a:t>
            </a:r>
            <a:r>
              <a:rPr lang="en-US" sz="1300" b="1" dirty="0">
                <a:solidFill>
                  <a:srgbClr val="556B82"/>
                </a:solidFill>
              </a:rPr>
              <a:t>0..</a:t>
            </a:r>
            <a:r>
              <a:rPr lang="en-US" sz="1300" dirty="0">
                <a:solidFill>
                  <a:srgbClr val="556B82"/>
                </a:solidFill>
              </a:rPr>
              <a:t>*.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2978" y="3008884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4146" y="321005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4146" y="3813556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Cliente → endereço principal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Cada cliente tem vários endereços: </a:t>
            </a:r>
            <a:r>
              <a:rPr lang="en-US" sz="1300" b="1" dirty="0">
                <a:solidFill>
                  <a:srgbClr val="556B82"/>
                </a:solidFill>
              </a:rPr>
              <a:t>0..</a:t>
            </a:r>
            <a:r>
              <a:rPr lang="en-US" sz="1300" i="1" dirty="0">
                <a:solidFill>
                  <a:srgbClr val="556B82"/>
                </a:solidFill>
              </a:rPr>
              <a:t>. Com o filtro `EnderecoPrincipal = 'X'`, a associação `_EnderecoPrincipal` devolve no máximo um: </a:t>
            </a:r>
            <a:r>
              <a:rPr lang="en-US" sz="1300" i="1" dirty="0">
                <a:solidFill>
                  <a:srgbClr val="556B82"/>
                </a:solidFill>
              </a:rPr>
              <a:t>0..1</a:t>
            </a:r>
            <a:r>
              <a:rPr lang="en-US" sz="1300" dirty="0">
                <a:solidFill>
                  <a:srgbClr val="556B82"/>
                </a:solidFill>
              </a:rPr>
              <a:t>*.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97317" y="3008884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98485" y="321005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98485" y="3813556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Duas técnicas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No Dicionário, </a:t>
            </a:r>
            <a:r>
              <a:rPr lang="en-US" sz="1300" b="1" dirty="0">
                <a:solidFill>
                  <a:srgbClr val="556B82"/>
                </a:solidFill>
              </a:rPr>
              <a:t>chaves estrangeiras</a:t>
            </a:r>
            <a:r>
              <a:rPr lang="en-US" sz="1300" dirty="0">
                <a:solidFill>
                  <a:srgbClr val="556B82"/>
                </a:solidFill>
              </a:rPr>
              <a:t> ligam tabelas. No CDS, </a:t>
            </a:r>
            <a:r>
              <a:rPr lang="en-US" sz="1300" b="1" dirty="0">
                <a:solidFill>
                  <a:srgbClr val="556B82"/>
                </a:solidFill>
              </a:rPr>
              <a:t>associações</a:t>
            </a:r>
            <a:r>
              <a:rPr lang="en-US" sz="1300" dirty="0">
                <a:solidFill>
                  <a:srgbClr val="556B82"/>
                </a:solidFill>
              </a:rPr>
              <a:t> ligam views, em geral uma em cada direção.</a:t>
            </a:r>
            <a:endParaRPr lang="en-US" sz="14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3310636"/>
            <a:ext cx="256032" cy="256032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9069" y="3310636"/>
            <a:ext cx="256032" cy="256032"/>
          </a:xfrm>
          <a:prstGeom prst="rect">
            <a:avLst/>
          </a:prstGeom>
        </p:spPr>
      </p:pic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4730" y="3310636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03.05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Chaves estrangeiras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Uma </a:t>
            </a:r>
            <a:r>
              <a:rPr lang="en-US" sz="1600" b="1" dirty="0">
                <a:solidFill>
                  <a:srgbClr val="D1EFFF"/>
                </a:solidFill>
              </a:rPr>
              <a:t>foreign key dependency</a:t>
            </a:r>
            <a:r>
              <a:rPr lang="en-US" sz="1600" dirty="0">
                <a:solidFill>
                  <a:srgbClr val="D1EFFF"/>
                </a:solidFill>
              </a:rPr>
              <a:t> liga a tabela dependente à </a:t>
            </a:r>
            <a:r>
              <a:rPr lang="en-US" sz="1600" b="1" dirty="0">
                <a:solidFill>
                  <a:srgbClr val="D1EFFF"/>
                </a:solidFill>
              </a:rPr>
              <a:t>check table</a:t>
            </a:r>
            <a:r>
              <a:rPr lang="en-US" sz="1600" dirty="0">
                <a:solidFill>
                  <a:srgbClr val="D1EFFF"/>
                </a:solidFill>
              </a:rPr>
              <a:t>. Hoje seu papel é sobretudo de </a:t>
            </a:r>
            <a:r>
              <a:rPr lang="en-US" sz="1600" b="1" dirty="0">
                <a:solidFill>
                  <a:srgbClr val="D1EFFF"/>
                </a:solidFill>
              </a:rPr>
              <a:t>documentação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foreign key</a:t>
            </a:r>
            <a:r>
              <a:rPr lang="en-US" sz="1000" dirty="0">
                <a:solidFill>
                  <a:srgbClr val="D1EFFF"/>
                </a:solidFill>
              </a:rPr>
              <a:t>  relação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[n,m]</a:t>
            </a:r>
            <a:r>
              <a:rPr lang="en-US" sz="1000" dirty="0">
                <a:solidFill>
                  <a:srgbClr val="D1EFFF"/>
                </a:solidFill>
              </a:rPr>
              <a:t>  cardinalidade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keyType</a:t>
            </a:r>
            <a:r>
              <a:rPr lang="en-US" sz="1000" dirty="0">
                <a:solidFill>
                  <a:srgbClr val="D1EFFF"/>
                </a:solidFill>
              </a:rPr>
              <a:t>  #KEY · #NON_KEY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 table</a:t>
            </a:r>
            <a:r>
              <a:rPr lang="en-US" sz="1000" dirty="0">
                <a:solidFill>
                  <a:srgbClr val="D1EFFF"/>
                </a:solidFill>
              </a:rPr>
              <a:t>  tabela referenciada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DICIONÁRIO · DEFINIÇÃO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 chave estrangeira do pedido para o cliente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3794760"/>
          </a:xfrm>
          <a:prstGeom prst="roundRect">
            <a:avLst>
              <a:gd name="adj" fmla="val 1928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153412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153412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9705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zta_pc_pedido.tabl.abap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ZTA_PC_PEDIDO (trecho, com a chave estrangeira que o projeto poderia declarar)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numero_pedido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@AbapCatalog.foreignKey.keyType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#NON_KEY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@AbapCatalog.foreignKey.screenCheck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foreign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Check table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</a:t>
            </a:r>
            <a:r>
              <a:rPr lang="en-US" sz="1050" dirty="0">
                <a:solidFill>
                  <a:srgbClr val="556B82"/>
                </a:solidFill>
              </a:rPr>
              <a:t>: só clientes que existem nela são válidos.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731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7317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71348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[0..*,1]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Muitos pedidos por cliente; todo pedido de exatamente um cliente.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5890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589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57073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keyType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#KEY</a:t>
            </a:r>
            <a:r>
              <a:rPr lang="en-US" sz="1050" dirty="0">
                <a:solidFill>
                  <a:srgbClr val="556B82"/>
                </a:solidFill>
              </a:rPr>
              <a:t>,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#NON_KEY</a:t>
            </a:r>
            <a:r>
              <a:rPr lang="en-US" sz="1050" dirty="0">
                <a:solidFill>
                  <a:srgbClr val="556B82"/>
                </a:solidFill>
              </a:rPr>
              <a:t> ou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#TEXT_KEY</a:t>
            </a:r>
            <a:r>
              <a:rPr lang="en-US" sz="1050" dirty="0">
                <a:solidFill>
                  <a:srgbClr val="556B82"/>
                </a:solidFill>
              </a:rPr>
              <a:t> (tabelas de texto).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4462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446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42798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screenCheck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Checagem em telas clássicas; o editor acrescenta ao salvar.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55040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FFF8D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207008" y="555040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4F00"/>
                </a:solidFill>
              </a:rPr>
              <a:t>Importante  </a:t>
            </a:r>
            <a:r>
              <a:rPr lang="en-US" sz="1200" dirty="0">
                <a:solidFill>
                  <a:srgbClr val="1D2D3E"/>
                </a:solidFill>
              </a:rPr>
              <a:t>chaves estrangeiras ficam na camada ABAP e </a:t>
            </a:r>
            <a:r>
              <a:rPr lang="en-US" sz="1200" b="1" dirty="0">
                <a:solidFill>
                  <a:srgbClr val="1D2D3E"/>
                </a:solidFill>
              </a:rPr>
              <a:t>não</a:t>
            </a:r>
            <a:r>
              <a:rPr lang="en-US" sz="1200" dirty="0">
                <a:solidFill>
                  <a:srgbClr val="1D2D3E"/>
                </a:solidFill>
              </a:rPr>
              <a:t> viram constraints no banco. No projeto, a validação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ValidarCliente</a:t>
            </a:r>
            <a:r>
              <a:rPr lang="en-US" sz="1200" dirty="0">
                <a:solidFill>
                  <a:srgbClr val="1D2D3E"/>
                </a:solidFill>
              </a:rPr>
              <a:t> do BO Pedido faz esse papel.</a:t>
            </a:r>
            <a:endParaRPr lang="en-US" sz="14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646420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03.05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Associações em CDS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Uma </a:t>
            </a:r>
            <a:r>
              <a:rPr lang="en-US" sz="1600" b="1" dirty="0">
                <a:solidFill>
                  <a:srgbClr val="D1EFFF"/>
                </a:solidFill>
              </a:rPr>
              <a:t>associação</a:t>
            </a:r>
            <a:r>
              <a:rPr lang="en-US" sz="1600" dirty="0">
                <a:solidFill>
                  <a:srgbClr val="D1EFFF"/>
                </a:solidFill>
              </a:rPr>
              <a:t> liga uma view (origem) a outra (alvo). É definida na origem, após a fonte de dados, com </a:t>
            </a:r>
            <a:r>
              <a:rPr lang="en-US" sz="1600" b="1" dirty="0">
                <a:solidFill>
                  <a:srgbClr val="D1EFFF"/>
                </a:solidFill>
              </a:rPr>
              <a:t>nome</a:t>
            </a:r>
            <a:r>
              <a:rPr lang="en-US" sz="1600" dirty="0">
                <a:solidFill>
                  <a:srgbClr val="D1EFFF"/>
                </a:solidFill>
              </a:rPr>
              <a:t>, </a:t>
            </a:r>
            <a:r>
              <a:rPr lang="en-US" sz="1600" b="1" dirty="0">
                <a:solidFill>
                  <a:srgbClr val="D1EFFF"/>
                </a:solidFill>
              </a:rPr>
              <a:t>cardinalidade</a:t>
            </a:r>
            <a:r>
              <a:rPr lang="en-US" sz="1600" dirty="0">
                <a:solidFill>
                  <a:srgbClr val="D1EFFF"/>
                </a:solidFill>
              </a:rPr>
              <a:t> e </a:t>
            </a:r>
            <a:r>
              <a:rPr lang="en-US" sz="1600" b="1" dirty="0">
                <a:solidFill>
                  <a:srgbClr val="D1EFFF"/>
                </a:solidFill>
              </a:rPr>
              <a:t>condição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 [0..1] to</a:t>
            </a:r>
            <a:r>
              <a:rPr lang="en-US" sz="1000" dirty="0">
                <a:solidFill>
                  <a:srgbClr val="D1EFFF"/>
                </a:solidFill>
              </a:rPr>
              <a:t>  alvo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_Name</a:t>
            </a:r>
            <a:r>
              <a:rPr lang="en-US" sz="1000" dirty="0">
                <a:solidFill>
                  <a:srgbClr val="D1EFFF"/>
                </a:solidFill>
              </a:rPr>
              <a:t>  nome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$projection…</a:t>
            </a:r>
            <a:r>
              <a:rPr lang="en-US" sz="1000" dirty="0">
                <a:solidFill>
                  <a:srgbClr val="D1EFFF"/>
                </a:solidFill>
              </a:rPr>
              <a:t>  condição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_Name na lista</a:t>
            </a:r>
            <a:r>
              <a:rPr lang="en-US" sz="1000" dirty="0">
                <a:solidFill>
                  <a:srgbClr val="D1EFFF"/>
                </a:solidFill>
              </a:rPr>
              <a:t>  exposição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ASSOCIAÇÕES · DEFINIÇÃO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Associações nas duas direções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231136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231136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048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zr_pc_pedido.ddls.asddls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ZR_PC_PEDIDO (real) e ZR_PC_CLIENTE (associação inversa ilustrativa)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$projection.ClienteUUID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numero_pedido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exposta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$projection.ClienteUUID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Alvo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Sempre uma entidade CDS; tabelas como alvo são possíveis, mas não recomendadas.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Nome com </a:t>
            </a: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Torna o código legível e permite várias associações para o mesmo alvo.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Condição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Origem à esquerda com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$projection.</a:t>
            </a:r>
            <a:r>
              <a:rPr lang="en-US" sz="1050" dirty="0">
                <a:solidFill>
                  <a:srgbClr val="556B82"/>
                </a:solidFill>
              </a:rPr>
              <a:t>, alvo à direita com o nome da associação.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Exposição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Listar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r>
              <a:rPr lang="en-US" sz="1050" dirty="0">
                <a:solidFill>
                  <a:srgbClr val="556B82"/>
                </a:solidFill>
              </a:rPr>
              <a:t> torna a associação visível aos consumidores.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ASSOCIAÇÕES · CARDINALIDADE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Como ler e escolher a cardinalidade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2852928"/>
          </a:xfrm>
          <a:prstGeom prst="roundRect">
            <a:avLst>
              <a:gd name="adj" fmla="val 320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1803349"/>
                <a:gridCol w="4057536"/>
                <a:gridCol w="495921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Valor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Significado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Exemplo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[0..1]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Nenhum ou um alvo (padrão se omitida)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Pedido → pagamento (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_Pagamento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[1..1]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Exatamente um alvo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Item do pedido → pedido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[0..*]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Nenhum ou muitos alvos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Cliente → endereços (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_Endereco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[1..*]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Pelo menos um alvo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Pedido → itens (sempre ao menos um)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[*]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Sem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min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: o mesmo que [0..*]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Forma curta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6817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FF8D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681728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4F00"/>
                </a:solidFill>
              </a:rPr>
              <a:t>Aviso do editor  </a:t>
            </a:r>
            <a:r>
              <a:rPr lang="en-US" sz="1200" dirty="0">
                <a:solidFill>
                  <a:srgbClr val="1D2D3E"/>
                </a:solidFill>
              </a:rPr>
              <a:t>se a condição cobre toda a chave do alvo, espera-se no máximo 1; se não cobre, espera-se "para muitos". Em modelos complexos, o aviso pode ser ignorado.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809744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03.05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Path expressions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Uma associação só vira </a:t>
            </a:r>
            <a:r>
              <a:rPr lang="en-US" sz="1600" b="1" dirty="0">
                <a:solidFill>
                  <a:srgbClr val="D1EFFF"/>
                </a:solidFill>
              </a:rPr>
              <a:t>join</a:t>
            </a:r>
            <a:r>
              <a:rPr lang="en-US" sz="1600" dirty="0">
                <a:solidFill>
                  <a:srgbClr val="D1EFFF"/>
                </a:solidFill>
              </a:rPr>
              <a:t> quando é usada em uma </a:t>
            </a:r>
            <a:r>
              <a:rPr lang="en-US" sz="1600" b="1" dirty="0">
                <a:solidFill>
                  <a:srgbClr val="D1EFFF"/>
                </a:solidFill>
              </a:rPr>
              <a:t>path expression</a:t>
            </a:r>
            <a:r>
              <a:rPr lang="en-US" sz="1600" dirty="0">
                <a:solidFill>
                  <a:srgbClr val="D1EFFF"/>
                </a:solidFill>
              </a:rPr>
              <a:t>: é o </a:t>
            </a:r>
            <a:r>
              <a:rPr lang="en-US" sz="1600" i="1" dirty="0">
                <a:solidFill>
                  <a:srgbClr val="D1EFFF"/>
                </a:solidFill>
              </a:rPr>
              <a:t>join on demand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_Cliente.Nome</a:t>
            </a:r>
            <a:r>
              <a:rPr lang="en-US" sz="1000" dirty="0">
                <a:solidFill>
                  <a:srgbClr val="D1EFFF"/>
                </a:solidFill>
              </a:rPr>
              <a:t>  path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Propagar</a:t>
            </a:r>
            <a:r>
              <a:rPr lang="en-US" sz="1000" dirty="0">
                <a:solidFill>
                  <a:srgbClr val="D1EFFF"/>
                </a:solidFill>
              </a:rPr>
              <a:t>  repassar ao consumidor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_A._B.Campo</a:t>
            </a:r>
            <a:r>
              <a:rPr lang="en-US" sz="1000" dirty="0">
                <a:solidFill>
                  <a:srgbClr val="D1EFFF"/>
                </a:solidFill>
              </a:rPr>
              <a:t>  caminhos longos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filtro ]</a:t>
            </a:r>
            <a:r>
              <a:rPr lang="en-US" sz="1000" dirty="0">
                <a:solidFill>
                  <a:srgbClr val="D1EFFF"/>
                </a:solidFill>
              </a:rPr>
              <a:t>  restringir o alvo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PATH EXPRESSIONS · USANDO A ASSOCIAÇÃO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Propagar ou ler pela associação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3474720"/>
          </a:xfrm>
          <a:prstGeom prst="roundRect">
            <a:avLst>
              <a:gd name="adj" fmla="val 2105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619756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619756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4368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zi_pc_pedido_cube.ddls.asddls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ZI_PC_PEDIDO_CUBE (trecho; `_Cliente` propagada para ilustrar)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ZI_PC_PEDIDO_CUBE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_StatusPedidoTxt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StatusPedidoTexto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propagada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Path expression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_StatusPedidoTxt.Descricao</a:t>
            </a:r>
            <a:r>
              <a:rPr lang="en-US" sz="1050" dirty="0">
                <a:solidFill>
                  <a:srgbClr val="556B82"/>
                </a:solidFill>
              </a:rPr>
              <a:t> lê o texto do status na lista de códigos.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65176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633472"/>
            <a:ext cx="3367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Caminho longo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_Cliente._EnderecoPrincipal.Uf</a:t>
            </a:r>
            <a:r>
              <a:rPr lang="en-US" sz="1050" dirty="0">
                <a:solidFill>
                  <a:srgbClr val="556B82"/>
                </a:solidFill>
              </a:rPr>
              <a:t>: pedido → cliente → endereço principal, com o join gerado.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4290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429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410712"/>
            <a:ext cx="3367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Propagar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Listar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r>
              <a:rPr lang="en-US" sz="1050" dirty="0">
                <a:solidFill>
                  <a:srgbClr val="556B82"/>
                </a:solidFill>
              </a:rPr>
              <a:t> repassa a associação a quem ler esta view.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20624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206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187952"/>
            <a:ext cx="3367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No banco</a:t>
            </a:r>
            <a:endParaRPr lang="en-US" sz="1400" dirty="0"/>
          </a:p>
          <a:p>
            <a:pPr indent="0" marL="0">
              <a:buNone/>
            </a:pPr>
            <a:r>
              <a:rPr lang="en-US" sz="1050" i="1" dirty="0">
                <a:solidFill>
                  <a:srgbClr val="556B82"/>
                </a:solidFill>
              </a:rPr>
              <a:t>Show SQL Create Statement</a:t>
            </a:r>
            <a:r>
              <a:rPr lang="en-US" sz="1050" dirty="0">
                <a:solidFill>
                  <a:srgbClr val="556B82"/>
                </a:solidFill>
              </a:rPr>
              <a:t> mostra o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OUTER MANY TO ONE JOIN</a:t>
            </a:r>
            <a:r>
              <a:rPr lang="en-US" sz="1050" dirty="0">
                <a:solidFill>
                  <a:srgbClr val="556B82"/>
                </a:solidFill>
              </a:rPr>
              <a:t> gerado.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23036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E1F4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207008" y="523036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Join on demand  </a:t>
            </a:r>
            <a:r>
              <a:rPr lang="en-US" sz="1200" dirty="0">
                <a:solidFill>
                  <a:srgbClr val="1D2D3E"/>
                </a:solidFill>
              </a:rPr>
              <a:t>definir, expor ou propagar uma associação </a:t>
            </a:r>
            <a:r>
              <a:rPr lang="en-US" sz="1200" b="1" dirty="0">
                <a:solidFill>
                  <a:srgbClr val="1D2D3E"/>
                </a:solidFill>
              </a:rPr>
              <a:t>não</a:t>
            </a:r>
            <a:r>
              <a:rPr lang="en-US" sz="1200" dirty="0">
                <a:solidFill>
                  <a:srgbClr val="1D2D3E"/>
                </a:solidFill>
              </a:rPr>
              <a:t> cria join; só o uso em uma path expression cria.</a:t>
            </a:r>
            <a:endParaRPr lang="en-US" sz="14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326380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PATH EXPRESSIONS · CUIDADO COM "PARA MUITOS"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Path expressions com cardinalidade maior que 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568607"/>
            <a:ext cx="5410048" cy="2680907"/>
          </a:xfrm>
          <a:prstGeom prst="roundRect">
            <a:avLst>
              <a:gd name="adj" fmla="val 341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568607"/>
            <a:ext cx="5410048" cy="73152"/>
          </a:xfrm>
          <a:prstGeom prst="rect">
            <a:avLst/>
          </a:prstGeom>
          <a:solidFill>
            <a:srgbClr val="E76500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84292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8D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842927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4F00"/>
                </a:solidFill>
              </a:rPr>
              <a:t>Problema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483007"/>
            <a:ext cx="4952848" cy="1629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No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350" dirty="0">
                <a:solidFill>
                  <a:srgbClr val="1D2D3E"/>
                </a:solidFill>
              </a:rPr>
              <a:t> da view, associações "para muitos" são proibidas: erro de sintaxe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Na lista de elementos, geram aviso: o número de linhas pode mudar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Um pedido com 5 itens passa a aparecer 5 vezes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3008" y="2568607"/>
            <a:ext cx="5410048" cy="2680907"/>
          </a:xfrm>
          <a:prstGeom prst="roundRect">
            <a:avLst>
              <a:gd name="adj" fmla="val 341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3008" y="2568607"/>
            <a:ext cx="5410048" cy="73152"/>
          </a:xfrm>
          <a:prstGeom prst="rect">
            <a:avLst/>
          </a:prstGeom>
          <a:solidFill>
            <a:srgbClr val="30914C"/>
          </a:solidFill>
          <a:ln/>
        </p:spPr>
      </p:sp>
      <p:sp>
        <p:nvSpPr>
          <p:cNvPr id="11" name="Shape 9"/>
          <p:cNvSpPr/>
          <p:nvPr/>
        </p:nvSpPr>
        <p:spPr>
          <a:xfrm>
            <a:off x="6461608" y="284292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55968" y="2842927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F3A"/>
                </a:solidFill>
              </a:rPr>
              <a:t>Soluções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3483007"/>
            <a:ext cx="4952848" cy="1629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Partir do lado "para um": do item para o pedido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Usar a path expression dentro de uma </a:t>
            </a:r>
            <a:r>
              <a:rPr lang="en-US" sz="1350" b="1" dirty="0">
                <a:solidFill>
                  <a:srgbClr val="1D2D3E"/>
                </a:solidFill>
              </a:rPr>
              <a:t>agregação</a:t>
            </a:r>
            <a:r>
              <a:rPr lang="en-US" sz="1350" dirty="0">
                <a:solidFill>
                  <a:srgbClr val="1D2D3E"/>
                </a:solidFill>
              </a:rPr>
              <a:t> com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Restringir o alvo com um </a:t>
            </a:r>
            <a:r>
              <a:rPr lang="en-US" sz="1350" b="1" dirty="0">
                <a:solidFill>
                  <a:srgbClr val="1D2D3E"/>
                </a:solidFill>
              </a:rPr>
              <a:t>filtro</a:t>
            </a:r>
            <a:r>
              <a:rPr lang="en-US" sz="1350" dirty="0">
                <a:solidFill>
                  <a:srgbClr val="1D2D3E"/>
                </a:solidFill>
              </a:rPr>
              <a:t>: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_Endereco[ EnderecoPrincipal = 'X' ]</a:t>
            </a:r>
            <a:endParaRPr lang="en-US" sz="14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2192" y="2943511"/>
            <a:ext cx="256032" cy="256032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2943511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PATH EXPRESSIONS · COMPARAÇÃO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Join explícito ou associação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782919"/>
            <a:ext cx="5410048" cy="2252282"/>
          </a:xfrm>
          <a:prstGeom prst="roundRect">
            <a:avLst>
              <a:gd name="adj" fmla="val 406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782919"/>
            <a:ext cx="5410048" cy="73152"/>
          </a:xfrm>
          <a:prstGeom prst="rect">
            <a:avLst/>
          </a:prstGeom>
          <a:solidFill>
            <a:srgbClr val="556B82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305723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FF1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3057239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548"/>
                </a:solidFill>
              </a:rPr>
              <a:t>JOIN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97319"/>
            <a:ext cx="4952848" cy="1200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Sempre executado, mesmo que ninguém use as colunas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Condição repetida em cada view que precisa da relação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Adequado para necessidades pontuais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3008" y="2782919"/>
            <a:ext cx="5410048" cy="2252282"/>
          </a:xfrm>
          <a:prstGeom prst="roundRect">
            <a:avLst>
              <a:gd name="adj" fmla="val 406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3008" y="2782919"/>
            <a:ext cx="5410048" cy="7315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1" name="Shape 9"/>
          <p:cNvSpPr/>
          <p:nvPr/>
        </p:nvSpPr>
        <p:spPr>
          <a:xfrm>
            <a:off x="6461608" y="305723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55968" y="3057239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4D9"/>
                </a:solidFill>
              </a:rPr>
              <a:t>Associação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3697319"/>
            <a:ext cx="4952848" cy="1200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Join só quando usada (</a:t>
            </a:r>
            <a:r>
              <a:rPr lang="en-US" sz="1350" i="1" dirty="0">
                <a:solidFill>
                  <a:srgbClr val="1D2D3E"/>
                </a:solidFill>
              </a:rPr>
              <a:t>join on demand</a:t>
            </a:r>
            <a:r>
              <a:rPr lang="en-US" sz="1350" dirty="0">
                <a:solidFill>
                  <a:srgbClr val="1D2D3E"/>
                </a:solidFill>
              </a:rPr>
              <a:t>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Relação declarada uma vez e reutilizada por todos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Navegável no Data Preview e base das composições do RAP</a:t>
            </a:r>
            <a:endParaRPr lang="en-US" sz="14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3157823"/>
            <a:ext cx="256032" cy="256032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3157823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03.05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Relações têm </a:t>
            </a:r>
            <a:r>
              <a:rPr lang="en-US" sz="1400" b="1" dirty="0">
                <a:solidFill>
                  <a:srgbClr val="FFFFFF"/>
                </a:solidFill>
              </a:rPr>
              <a:t>cardinalidade</a:t>
            </a:r>
            <a:r>
              <a:rPr lang="en-US" sz="1400" dirty="0">
                <a:solidFill>
                  <a:srgbClr val="FFFFFF"/>
                </a:solidFill>
              </a:rPr>
              <a:t> em cada direção, como 1..1 e 0..*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Chaves estrangeiras</a:t>
            </a:r>
            <a:r>
              <a:rPr lang="en-US" sz="1400" dirty="0">
                <a:solidFill>
                  <a:srgbClr val="FFFFFF"/>
                </a:solidFill>
              </a:rPr>
              <a:t> ligam tabelas no Dicionário e hoje servem sobretudo como documentação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Associações</a:t>
            </a:r>
            <a:r>
              <a:rPr lang="en-US" sz="1400" dirty="0">
                <a:solidFill>
                  <a:srgbClr val="FFFFFF"/>
                </a:solidFill>
              </a:rPr>
              <a:t> ligam views: alvo, nome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</a:t>
            </a:r>
            <a:r>
              <a:rPr lang="en-US" sz="1400" dirty="0">
                <a:solidFill>
                  <a:srgbClr val="FFFFFF"/>
                </a:solidFill>
              </a:rPr>
              <a:t>, cardinalidade e condição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Expor ou propagar a associação a disponibiliza aos consumidores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Path expressions</a:t>
            </a:r>
            <a:r>
              <a:rPr lang="en-US" sz="1400" dirty="0">
                <a:solidFill>
                  <a:srgbClr val="FFFFFF"/>
                </a:solidFill>
              </a:rPr>
              <a:t> geram o join sob demanda, inclusive em caminhos longos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Associações "para muitos" exigem cuidado: agregação, filtro ou o sentido "para um"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03.06  </a:t>
            </a:r>
            <a:r>
              <a:rPr lang="en-US" sz="1500" dirty="0">
                <a:solidFill>
                  <a:srgbClr val="FFFFFF"/>
                </a:solidFill>
              </a:rPr>
              <a:t>Code pushdown em CDS: Expressões, funções, parâmetros e agregações.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03.05 Relacionamentos e associações</dc:title>
  <dc:subject>ABAP Moderno – Módulo 03: Modelagem de Dados com Dicionário e CDS</dc:subject>
  <dc:creator>Adriano Bispo</dc:creator>
  <cp:lastModifiedBy>Adriano Bispo</cp:lastModifiedBy>
  <cp:revision>1</cp:revision>
  <dcterms:created xsi:type="dcterms:W3CDTF">2026-10-29T13:37:16Z</dcterms:created>
  <dcterms:modified xsi:type="dcterms:W3CDTF">2026-10-29T13:37:16Z</dcterms:modified>
</cp:coreProperties>
</file>