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Modelagem de Dados com Dicionário e CDS  ·  Aula 5 de 7 — Associações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Modelagem de Dados com Dicionário e CDS  ·  Aula 5 de 7 — Associações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05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Relacionamentos e associações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Cardinalidade, chaves estrangeiras no Dicionário, associações entre CDS views e path expressions com join sob demanda.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5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88720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8872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ligamos funcionários e departamentos: primeiro com uma chave estrangeira entre tabelas, depois com associações nas duas direções.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as entidades se relacionam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Funcionário e departamento têm duas relações: o funcionário </a:t>
            </a:r>
            <a:r>
              <a:rPr lang="en-US" sz="1500" b="1" dirty="0">
                <a:solidFill>
                  <a:srgbClr val="556B82"/>
                </a:solidFill>
              </a:rPr>
              <a:t>pertence</a:t>
            </a:r>
            <a:r>
              <a:rPr lang="en-US" sz="1500" dirty="0">
                <a:solidFill>
                  <a:srgbClr val="556B82"/>
                </a:solidFill>
              </a:rPr>
              <a:t> a um departamento, e o departamento </a:t>
            </a:r>
            <a:r>
              <a:rPr lang="en-US" sz="1500" b="1" dirty="0">
                <a:solidFill>
                  <a:srgbClr val="556B82"/>
                </a:solidFill>
              </a:rPr>
              <a:t>é chefiado</a:t>
            </a:r>
            <a:r>
              <a:rPr lang="en-US" sz="1500" dirty="0">
                <a:solidFill>
                  <a:srgbClr val="556B82"/>
                </a:solidFill>
              </a:rPr>
              <a:t> por um funcionário.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Funcionário → departamento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Cada funcionário pertence a exatamente um: </a:t>
            </a:r>
            <a:r>
              <a:rPr lang="en-US" sz="1300" b="1" dirty="0">
                <a:solidFill>
                  <a:srgbClr val="556B82"/>
                </a:solidFill>
              </a:rPr>
              <a:t>1..1</a:t>
            </a:r>
            <a:r>
              <a:rPr lang="en-US" sz="1300" dirty="0">
                <a:solidFill>
                  <a:srgbClr val="556B82"/>
                </a:solidFill>
              </a:rPr>
              <a:t>. No sentido oposto, um departamento tem de zero a muitos funcionários: </a:t>
            </a:r>
            <a:r>
              <a:rPr lang="en-US" sz="1300" b="1" dirty="0">
                <a:solidFill>
                  <a:srgbClr val="556B82"/>
                </a:solidFill>
              </a:rPr>
              <a:t>0..</a:t>
            </a:r>
            <a:r>
              <a:rPr lang="en-US" sz="1300" dirty="0">
                <a:solidFill>
                  <a:srgbClr val="556B82"/>
                </a:solidFill>
              </a:rPr>
              <a:t>*.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Departamento → chefe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Cada departamento tem um chefe: </a:t>
            </a:r>
            <a:r>
              <a:rPr lang="en-US" sz="1300" b="1" dirty="0">
                <a:solidFill>
                  <a:srgbClr val="556B82"/>
                </a:solidFill>
              </a:rPr>
              <a:t>1..1</a:t>
            </a:r>
            <a:r>
              <a:rPr lang="en-US" sz="1300" dirty="0">
                <a:solidFill>
                  <a:srgbClr val="556B82"/>
                </a:solidFill>
              </a:rPr>
              <a:t>. Nem todo funcionário chefia, e ninguém chefia dois: </a:t>
            </a:r>
            <a:r>
              <a:rPr lang="en-US" sz="1300" b="1" dirty="0">
                <a:solidFill>
                  <a:srgbClr val="556B82"/>
                </a:solidFill>
              </a:rPr>
              <a:t>0..1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Duas técnicas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 Dicionário, </a:t>
            </a:r>
            <a:r>
              <a:rPr lang="en-US" sz="1300" b="1" dirty="0">
                <a:solidFill>
                  <a:srgbClr val="556B82"/>
                </a:solidFill>
              </a:rPr>
              <a:t>chaves estrangeiras</a:t>
            </a:r>
            <a:r>
              <a:rPr lang="en-US" sz="1300" dirty="0">
                <a:solidFill>
                  <a:srgbClr val="556B82"/>
                </a:solidFill>
              </a:rPr>
              <a:t> ligam tabelas. No CDS, </a:t>
            </a:r>
            <a:r>
              <a:rPr lang="en-US" sz="1300" b="1" dirty="0">
                <a:solidFill>
                  <a:srgbClr val="556B82"/>
                </a:solidFill>
              </a:rPr>
              <a:t>associações</a:t>
            </a:r>
            <a:r>
              <a:rPr lang="en-US" sz="1300" dirty="0">
                <a:solidFill>
                  <a:srgbClr val="556B82"/>
                </a:solidFill>
              </a:rPr>
              <a:t> ligam views, em geral uma em cada direção.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310636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3310636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331063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02.05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Chaves estrangeiras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</a:t>
            </a:r>
            <a:r>
              <a:rPr lang="en-US" sz="1600" b="1" dirty="0">
                <a:solidFill>
                  <a:srgbClr val="D1EFFF"/>
                </a:solidFill>
              </a:rPr>
              <a:t>foreign key dependency</a:t>
            </a:r>
            <a:r>
              <a:rPr lang="en-US" sz="1600" dirty="0">
                <a:solidFill>
                  <a:srgbClr val="D1EFFF"/>
                </a:solidFill>
              </a:rPr>
              <a:t> liga a tabela dependente à </a:t>
            </a:r>
            <a:r>
              <a:rPr lang="en-US" sz="1600" b="1" dirty="0">
                <a:solidFill>
                  <a:srgbClr val="D1EFFF"/>
                </a:solidFill>
              </a:rPr>
              <a:t>check table</a:t>
            </a:r>
            <a:r>
              <a:rPr lang="en-US" sz="1600" dirty="0">
                <a:solidFill>
                  <a:srgbClr val="D1EFFF"/>
                </a:solidFill>
              </a:rPr>
              <a:t>. Hoje seu papel é sobretudo de </a:t>
            </a:r>
            <a:r>
              <a:rPr lang="en-US" sz="1600" b="1" dirty="0">
                <a:solidFill>
                  <a:srgbClr val="D1EFFF"/>
                </a:solidFill>
              </a:rPr>
              <a:t>documentação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foreign key</a:t>
            </a:r>
            <a:r>
              <a:rPr lang="en-US" sz="1000" dirty="0">
                <a:solidFill>
                  <a:srgbClr val="D1EFFF"/>
                </a:solidFill>
              </a:rPr>
              <a:t>  relação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[n,m]</a:t>
            </a:r>
            <a:r>
              <a:rPr lang="en-US" sz="1000" dirty="0">
                <a:solidFill>
                  <a:srgbClr val="D1EFFF"/>
                </a:solidFill>
              </a:rPr>
              <a:t>  cardinalidade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keyType</a:t>
            </a:r>
            <a:r>
              <a:rPr lang="en-US" sz="1000" dirty="0">
                <a:solidFill>
                  <a:srgbClr val="D1EFFF"/>
                </a:solidFill>
              </a:rPr>
              <a:t>  #KEY · #NON_KEY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table</a:t>
            </a:r>
            <a:r>
              <a:rPr lang="en-US" sz="1000" dirty="0">
                <a:solidFill>
                  <a:srgbClr val="D1EFFF"/>
                </a:solidFill>
              </a:rPr>
              <a:t>  tabela referenciada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DICIONÁRIO · DEFINIÇÃO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chave estrangeira do funcionário para o departamento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23113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23113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zs4d430_employ.tabl.abap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Dictionary › Database Tables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zs4d430_employ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zs4d430_employee_id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zs4d430_first_name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@AbapCatalog.foreignKey.keyType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#NON_KEY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@AbapCatalog.foreignKey.screenCheck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zs4d430_department_id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zs4d430_depment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zs4d430_employ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zs4d430_employ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Check table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zs4d430_depment</a:t>
            </a:r>
            <a:r>
              <a:rPr lang="en-US" sz="1050" dirty="0">
                <a:solidFill>
                  <a:srgbClr val="556B82"/>
                </a:solidFill>
              </a:rPr>
              <a:t>: só valores que existem nela são válidos.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[0..*,1]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Muitos funcionários por departamento; todo funcionário em exatamente um.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keyType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#KEY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#NON_KEY</a:t>
            </a:r>
            <a:r>
              <a:rPr lang="en-US" sz="1050" dirty="0">
                <a:solidFill>
                  <a:srgbClr val="556B82"/>
                </a:solidFill>
              </a:rPr>
              <a:t> ou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#TEXT_KEY</a:t>
            </a:r>
            <a:r>
              <a:rPr lang="en-US" sz="1050" dirty="0">
                <a:solidFill>
                  <a:srgbClr val="556B82"/>
                </a:solidFill>
              </a:rPr>
              <a:t> (tabelas de texto).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screenCheck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Checagem em telas clássicas; o editor acrescenta ao salvar.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FF8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Importante  </a:t>
            </a:r>
            <a:r>
              <a:rPr lang="en-US" sz="1200" dirty="0">
                <a:solidFill>
                  <a:srgbClr val="1D2D3E"/>
                </a:solidFill>
              </a:rPr>
              <a:t>chaves estrangeiras ficam na camada ABAP e </a:t>
            </a:r>
            <a:r>
              <a:rPr lang="en-US" sz="1200" b="1" dirty="0">
                <a:solidFill>
                  <a:srgbClr val="1D2D3E"/>
                </a:solidFill>
              </a:rPr>
              <a:t>não</a:t>
            </a:r>
            <a:r>
              <a:rPr lang="en-US" sz="1200" dirty="0">
                <a:solidFill>
                  <a:srgbClr val="1D2D3E"/>
                </a:solidFill>
              </a:rPr>
              <a:t> viram constraints no banco. No RAP, associações e validações fazem esse papel.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02.05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Associações em CDS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</a:t>
            </a:r>
            <a:r>
              <a:rPr lang="en-US" sz="1600" b="1" dirty="0">
                <a:solidFill>
                  <a:srgbClr val="D1EFFF"/>
                </a:solidFill>
              </a:rPr>
              <a:t>associação</a:t>
            </a:r>
            <a:r>
              <a:rPr lang="en-US" sz="1600" dirty="0">
                <a:solidFill>
                  <a:srgbClr val="D1EFFF"/>
                </a:solidFill>
              </a:rPr>
              <a:t> liga uma view (origem) a outra (alvo). É definida na origem, após a fonte de dados, com </a:t>
            </a:r>
            <a:r>
              <a:rPr lang="en-US" sz="1600" b="1" dirty="0">
                <a:solidFill>
                  <a:srgbClr val="D1EFFF"/>
                </a:solidFill>
              </a:rPr>
              <a:t>nome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cardinalidade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condição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 [0..1] to</a:t>
            </a:r>
            <a:r>
              <a:rPr lang="en-US" sz="1000" dirty="0">
                <a:solidFill>
                  <a:srgbClr val="D1EFFF"/>
                </a:solidFill>
              </a:rPr>
              <a:t>  alvo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_Name</a:t>
            </a:r>
            <a:r>
              <a:rPr lang="en-US" sz="1000" dirty="0">
                <a:solidFill>
                  <a:srgbClr val="D1EFFF"/>
                </a:solidFill>
              </a:rPr>
              <a:t>  nome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$projection…</a:t>
            </a:r>
            <a:r>
              <a:rPr lang="en-US" sz="1000" dirty="0">
                <a:solidFill>
                  <a:srgbClr val="D1EFFF"/>
                </a:solidFill>
              </a:rPr>
              <a:t>  condição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_Name na lista</a:t>
            </a:r>
            <a:r>
              <a:rPr lang="en-US" sz="1000" dirty="0">
                <a:solidFill>
                  <a:srgbClr val="D1EFFF"/>
                </a:solidFill>
              </a:rPr>
              <a:t>  exposição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ASSOCIAÇÕES · DEFINIÇÃO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Associações nas duas direções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zs4d430_r_employee.ddls.asddls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Core Data Services (trechos)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ZS4D430_R_Employee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zs4d430_employ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ZS4D430_R_Department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$projection.DepartmentId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exposta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ZS4D430_R_Department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zs4d430_depment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ZS4D430_R_Employee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_Employee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_Employee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_Employee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Alvo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Sempre uma entidade CDS; tabelas como alvo são possíveis, mas não recomendadas.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Nome com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Torna o código legível e permite várias associações para o mesmo alvo.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Condição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Origem à esquerda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</a:t>
            </a:r>
            <a:r>
              <a:rPr lang="en-US" sz="1050" dirty="0">
                <a:solidFill>
                  <a:srgbClr val="556B82"/>
                </a:solidFill>
              </a:rPr>
              <a:t>, alvo à direita com o nome da associação.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Listar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r>
              <a:rPr lang="en-US" sz="1050" dirty="0">
                <a:solidFill>
                  <a:srgbClr val="556B82"/>
                </a:solidFill>
              </a:rPr>
              <a:t> torna a associação visível aos consumidores.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ASSOCIAÇÕES · CARDINALIDADE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ler e escolher a cardinalidade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852928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803349"/>
                <a:gridCol w="4057536"/>
                <a:gridCol w="495921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[0..1]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Nenhum ou um alvo (padrão se omitida)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Funcionário → chefe imediato opcional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[1..1]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Exatamente um alvo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Funcionário → departamento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[0..*]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Nenhum ou muitos alvos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Departamento → funcionários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[1..*]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Pelo menos um alvo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Pedido → itens (sempre ao menos um)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[*]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: o mesmo que [0..*]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Forma curta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817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81728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Aviso do editor  </a:t>
            </a:r>
            <a:r>
              <a:rPr lang="en-US" sz="1200" dirty="0">
                <a:solidFill>
                  <a:srgbClr val="1D2D3E"/>
                </a:solidFill>
              </a:rPr>
              <a:t>se a condição cobre toda a chave do alvo, espera-se no máximo 1; se não cobre, espera-se "para muitos". Em modelos complexos, o aviso pode ser ignorado.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809744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02.05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Path expressions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associação só vira </a:t>
            </a:r>
            <a:r>
              <a:rPr lang="en-US" sz="1600" b="1" dirty="0">
                <a:solidFill>
                  <a:srgbClr val="D1EFFF"/>
                </a:solidFill>
              </a:rPr>
              <a:t>join</a:t>
            </a:r>
            <a:r>
              <a:rPr lang="en-US" sz="1600" dirty="0">
                <a:solidFill>
                  <a:srgbClr val="D1EFFF"/>
                </a:solidFill>
              </a:rPr>
              <a:t> quando é usada em uma </a:t>
            </a:r>
            <a:r>
              <a:rPr lang="en-US" sz="1600" b="1" dirty="0">
                <a:solidFill>
                  <a:srgbClr val="D1EFFF"/>
                </a:solidFill>
              </a:rPr>
              <a:t>path expression</a:t>
            </a:r>
            <a:r>
              <a:rPr lang="en-US" sz="1600" dirty="0">
                <a:solidFill>
                  <a:srgbClr val="D1EFFF"/>
                </a:solidFill>
              </a:rPr>
              <a:t>: é o </a:t>
            </a:r>
            <a:r>
              <a:rPr lang="en-US" sz="1600" i="1" dirty="0">
                <a:solidFill>
                  <a:srgbClr val="D1EFFF"/>
                </a:solidFill>
              </a:rPr>
              <a:t>join on demand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_Department.Name</a:t>
            </a:r>
            <a:r>
              <a:rPr lang="en-US" sz="1000" dirty="0">
                <a:solidFill>
                  <a:srgbClr val="D1EFFF"/>
                </a:solidFill>
              </a:rPr>
              <a:t>  path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Propagar</a:t>
            </a:r>
            <a:r>
              <a:rPr lang="en-US" sz="1000" dirty="0">
                <a:solidFill>
                  <a:srgbClr val="D1EFFF"/>
                </a:solidFill>
              </a:rPr>
              <a:t>  repassar ao consumidor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_A._B.Campo</a:t>
            </a:r>
            <a:r>
              <a:rPr lang="en-US" sz="1000" dirty="0">
                <a:solidFill>
                  <a:srgbClr val="D1EFFF"/>
                </a:solidFill>
              </a:rPr>
              <a:t>  caminhos longos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filtro ]</a:t>
            </a:r>
            <a:r>
              <a:rPr lang="en-US" sz="1000" dirty="0">
                <a:solidFill>
                  <a:srgbClr val="D1EFFF"/>
                </a:solidFill>
              </a:rPr>
              <a:t>  restringir o alvo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PATH EXPRESSIONS · USANDO A ASSOCIAÇÃO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Propagar ou ler pela associação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474720"/>
          </a:xfrm>
          <a:prstGeom prst="roundRect">
            <a:avLst>
              <a:gd name="adj" fmla="val 2105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zs4d430_c_employee.ddls.asddls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Core Data Services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ZS4D430_C_Employee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ZS4D430_R_Employee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_Head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propagada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Path expression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_Department.Description</a:t>
            </a:r>
            <a:r>
              <a:rPr lang="en-US" sz="1050" dirty="0">
                <a:solidFill>
                  <a:srgbClr val="556B82"/>
                </a:solidFill>
              </a:rPr>
              <a:t> lê um campo do alvo da associação.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65176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63347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Caminho longo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_Department._Head.LastName</a:t>
            </a:r>
            <a:r>
              <a:rPr lang="en-US" sz="1050" dirty="0">
                <a:solidFill>
                  <a:srgbClr val="556B82"/>
                </a:solidFill>
              </a:rPr>
              <a:t> encadeia associações; o join de três fontes é gerado.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4290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41071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Propagar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Listar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_Department</a:t>
            </a:r>
            <a:r>
              <a:rPr lang="en-US" sz="1050" dirty="0">
                <a:solidFill>
                  <a:srgbClr val="556B82"/>
                </a:solidFill>
              </a:rPr>
              <a:t> repassa a associação a quem ler esta view.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20624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187952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No banco</a:t>
            </a:r>
            <a:endParaRPr lang="en-US" sz="14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6B82"/>
                </a:solidFill>
              </a:rPr>
              <a:t>Show SQL Create Statement</a:t>
            </a:r>
            <a:r>
              <a:rPr lang="en-US" sz="1050" dirty="0">
                <a:solidFill>
                  <a:srgbClr val="556B82"/>
                </a:solidFill>
              </a:rPr>
              <a:t> mostra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 MANY TO ONE JOIN</a:t>
            </a:r>
            <a:r>
              <a:rPr lang="en-US" sz="1050" dirty="0">
                <a:solidFill>
                  <a:srgbClr val="556B82"/>
                </a:solidFill>
              </a:rPr>
              <a:t> gerado.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230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Join on demand  </a:t>
            </a:r>
            <a:r>
              <a:rPr lang="en-US" sz="1200" dirty="0">
                <a:solidFill>
                  <a:srgbClr val="1D2D3E"/>
                </a:solidFill>
              </a:rPr>
              <a:t>definir, expor ou propagar uma associação </a:t>
            </a:r>
            <a:r>
              <a:rPr lang="en-US" sz="1200" b="1" dirty="0">
                <a:solidFill>
                  <a:srgbClr val="1D2D3E"/>
                </a:solidFill>
              </a:rPr>
              <a:t>não</a:t>
            </a:r>
            <a:r>
              <a:rPr lang="en-US" sz="1200" dirty="0">
                <a:solidFill>
                  <a:srgbClr val="1D2D3E"/>
                </a:solidFill>
              </a:rPr>
              <a:t> cria join; só o uso em uma path expression cria.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263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PATH EXPRESSIONS · CUIDADO COM "PARA MUITOS"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Path expressions com cardinalidade maior que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145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1451"/>
            <a:ext cx="5410048" cy="73152"/>
          </a:xfrm>
          <a:prstGeom prst="rect">
            <a:avLst/>
          </a:prstGeom>
          <a:solidFill>
            <a:srgbClr val="E7650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3577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73577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Problema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7585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50" dirty="0">
                <a:solidFill>
                  <a:srgbClr val="1D2D3E"/>
                </a:solidFill>
              </a:rPr>
              <a:t> da view, associações "para muitos" são proibidas: erro de sintaxe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Na lista de elementos, geram aviso: o número de linhas pode mudar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departamento com 5 funcionários passa a aparecer 5 vezes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6145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61451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73577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73577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Soluções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7585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Partir do lado "para um": de funcionário para departamento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Usar a path expression dentro de uma </a:t>
            </a:r>
            <a:r>
              <a:rPr lang="en-US" sz="1350" b="1" dirty="0">
                <a:solidFill>
                  <a:srgbClr val="1D2D3E"/>
                </a:solidFill>
              </a:rPr>
              <a:t>agregação</a:t>
            </a:r>
            <a:r>
              <a:rPr lang="en-US" sz="1350" dirty="0">
                <a:solidFill>
                  <a:srgbClr val="1D2D3E"/>
                </a:solidFill>
              </a:rPr>
              <a:t>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Restringir o alvo com um </a:t>
            </a:r>
            <a:r>
              <a:rPr lang="en-US" sz="1350" b="1" dirty="0">
                <a:solidFill>
                  <a:srgbClr val="1D2D3E"/>
                </a:solidFill>
              </a:rPr>
              <a:t>filtro</a:t>
            </a:r>
            <a:r>
              <a:rPr lang="en-US" sz="1350" dirty="0">
                <a:solidFill>
                  <a:srgbClr val="1D2D3E"/>
                </a:solidFill>
              </a:rPr>
              <a:t>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_Employee[ Active = 'X' ]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836354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836354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PATH EXPRESSIONS · COMPARAÇÃO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Join explícito ou associação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JOIN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Sempre executado, mesmo que ninguém use as colunas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Condição repetida em cada view que precisa da relação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Adequado para necessidades pontuais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Associação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Join só quando usada (</a:t>
            </a:r>
            <a:r>
              <a:rPr lang="en-US" sz="1350" i="1" dirty="0">
                <a:solidFill>
                  <a:srgbClr val="1D2D3E"/>
                </a:solidFill>
              </a:rPr>
              <a:t>join on demand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Relação declarada uma vez e reutilizada por todos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Navegável no Data Preview e base das composições do RAP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Relações têm </a:t>
            </a:r>
            <a:r>
              <a:rPr lang="en-US" sz="1400" b="1" dirty="0">
                <a:solidFill>
                  <a:srgbClr val="FFFFFF"/>
                </a:solidFill>
              </a:rPr>
              <a:t>cardinalidade</a:t>
            </a:r>
            <a:r>
              <a:rPr lang="en-US" sz="1400" dirty="0">
                <a:solidFill>
                  <a:srgbClr val="FFFFFF"/>
                </a:solidFill>
              </a:rPr>
              <a:t> em cada direção, como 1..1 e 0..*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Chaves estrangeiras</a:t>
            </a:r>
            <a:r>
              <a:rPr lang="en-US" sz="1400" dirty="0">
                <a:solidFill>
                  <a:srgbClr val="FFFFFF"/>
                </a:solidFill>
              </a:rPr>
              <a:t> ligam tabelas no Dicionário e hoje servem sobretudo como documentação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Associações</a:t>
            </a:r>
            <a:r>
              <a:rPr lang="en-US" sz="1400" dirty="0">
                <a:solidFill>
                  <a:srgbClr val="FFFFFF"/>
                </a:solidFill>
              </a:rPr>
              <a:t> ligam views: alvo, nome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r>
              <a:rPr lang="en-US" sz="1400" dirty="0">
                <a:solidFill>
                  <a:srgbClr val="FFFFFF"/>
                </a:solidFill>
              </a:rPr>
              <a:t>, cardinalidade e condição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Expor ou propagar a associação a disponibiliza aos consumidores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Path expressions</a:t>
            </a:r>
            <a:r>
              <a:rPr lang="en-US" sz="1400" dirty="0">
                <a:solidFill>
                  <a:srgbClr val="FFFFFF"/>
                </a:solidFill>
              </a:rPr>
              <a:t> geram o join sob demanda, inclusive em caminhos longos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Associações "para muitos" exigem cuidado: agregação, filtro ou o sentido "para um"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02.06  </a:t>
            </a:r>
            <a:r>
              <a:rPr lang="en-US" sz="1500" dirty="0">
                <a:solidFill>
                  <a:srgbClr val="FFFFFF"/>
                </a:solidFill>
              </a:rPr>
              <a:t>Code pushdown em CDS: Expressões, funções, parâmetros e agregações.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02.05 Relacionamentos e associações</dc:title>
  <dc:subject>ABAP Moderno – Módulo 02: Modelagem de Dados com Dicionário e CDS</dc:subject>
  <dc:creator>Adriano Bispo</dc:creator>
  <cp:lastModifiedBy>Adriano Bispo</cp:lastModifiedBy>
  <cp:revision>1</cp:revision>
  <dcterms:created xsi:type="dcterms:W3CDTF">2026-10-29T01:04:07Z</dcterms:created>
  <dcterms:modified xsi:type="dcterms:W3CDTF">2026-10-29T01:04:07Z</dcterms:modified>
</cp:coreProperties>
</file>