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03 — SAP Fiori Elements com OData V4  ·  Aula 6 de 11 — List Report e Object Page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03 — SAP Fiori Elements com OData V4  ·  Aula 6 de 11 — List Report e Object Page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03 · AULA 06 DE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Configurando List Report e Object Page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Configurações gerais do app, ordenação padrão, colunas pelo Page Editor e seções da Object Page com identification e field groups.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48729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790709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094124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397538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0953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4367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7782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1196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14611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1802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6 de 11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03 — SAP Fiori Elements com OData V4 · Design System SAP Horizon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03 em 11 aulas: Fiori Elements com OData V4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Fiori Elements e OData V4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Apps guiados por metadados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8189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9278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9278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592781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Exposição de serviços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592781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Service definition e service binding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773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7233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7233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447233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Anotações de UI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7233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headerInfo, lineItem, selectionField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728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635188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SAP Fiori Tools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35188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Gerador, Page Map e Guided Development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66837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142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3142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8231429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Floorplans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31429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 Report, Object Page e facetas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46386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110978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11097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10110978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List Report e Object Page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0110978" y="2852928"/>
            <a:ext cx="1367485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110978" y="2852928"/>
            <a:ext cx="13674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Tabelas: cores e ações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Criticality, ações e importância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428189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9278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59278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3" name="Text 41"/>
          <p:cNvSpPr txBox="1"/>
          <p:nvPr/>
        </p:nvSpPr>
        <p:spPr>
          <a:xfrm>
            <a:off x="2592781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Navegação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2592781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Interna, externa e baseada em intenção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30773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7233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7233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8" name="Text 46"/>
          <p:cNvSpPr txBox="1"/>
          <p:nvPr/>
        </p:nvSpPr>
        <p:spPr>
          <a:xfrm>
            <a:off x="447233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Object Page avançada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447233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 facets, visibilidade e tabelas filhas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8728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10</a:t>
            </a:r>
            <a:endParaRPr lang="en-US" sz="1260" dirty="0"/>
          </a:p>
        </p:txBody>
      </p:sp>
      <p:sp>
        <p:nvSpPr>
          <p:cNvPr id="53" name="Text 51"/>
          <p:cNvSpPr txBox="1"/>
          <p:nvPr/>
        </p:nvSpPr>
        <p:spPr>
          <a:xfrm>
            <a:off x="635188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Programação flexível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635188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Flexible Programming Model e building blocks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66837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3142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23142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11</a:t>
            </a:r>
            <a:endParaRPr lang="en-US" sz="1260" dirty="0"/>
          </a:p>
        </p:txBody>
      </p:sp>
      <p:sp>
        <p:nvSpPr>
          <p:cNvPr id="58" name="Text 56"/>
          <p:cNvSpPr txBox="1"/>
          <p:nvPr/>
        </p:nvSpPr>
        <p:spPr>
          <a:xfrm>
            <a:off x="8231429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Deploy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8231429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Publicação, launchpad e acesso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deixamos o Manage Travels com cara de produto: layout em colunas, carga inicial, ordenação, colunas ajustadas e seções organizadas.</a:t>
            </a:r>
            <a:endParaRPr lang="en-US" sz="1400" dirty="0"/>
          </a:p>
        </p:txBody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669" y="1847088"/>
            <a:ext cx="347472" cy="347472"/>
          </a:xfrm>
          <a:prstGeom prst="rect">
            <a:avLst/>
          </a:prstGeom>
        </p:spPr>
      </p:pic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218" y="1847088"/>
            <a:ext cx="347472" cy="347472"/>
          </a:xfrm>
          <a:prstGeom prst="rect">
            <a:avLst/>
          </a:prstGeom>
        </p:spPr>
      </p:pic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4866" y="1847088"/>
            <a:ext cx="347472" cy="347472"/>
          </a:xfrm>
          <a:prstGeom prst="rect">
            <a:avLst/>
          </a:prstGeom>
        </p:spPr>
      </p:pic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5317" y="1847088"/>
            <a:ext cx="347472" cy="347472"/>
          </a:xfrm>
          <a:prstGeom prst="rect">
            <a:avLst/>
          </a:prstGeom>
        </p:spPr>
      </p:pic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6669" y="3858768"/>
            <a:ext cx="347472" cy="347472"/>
          </a:xfrm>
          <a:prstGeom prst="rect">
            <a:avLst/>
          </a:prstGeom>
        </p:spPr>
      </p:pic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6218" y="3858768"/>
            <a:ext cx="347472" cy="347472"/>
          </a:xfrm>
          <a:prstGeom prst="rect">
            <a:avLst/>
          </a:prstGeom>
        </p:spPr>
      </p:pic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5317" y="3858768"/>
            <a:ext cx="347472" cy="347472"/>
          </a:xfrm>
          <a:prstGeom prst="rect">
            <a:avLst/>
          </a:prstGeom>
        </p:spPr>
      </p:pic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4866" y="3858768"/>
            <a:ext cx="347472" cy="347472"/>
          </a:xfrm>
          <a:prstGeom prst="rect">
            <a:avLst/>
          </a:prstGeom>
        </p:spPr>
      </p:pic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Dois lugares para configurar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1715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Anotações CDS no back-end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@UI.presentationVariant</a:t>
            </a:r>
            <a:r>
              <a:rPr lang="en-US" sz="1350" dirty="0">
                <a:solidFill>
                  <a:srgbClr val="1D2D3E"/>
                </a:solidFill>
              </a:rPr>
              <a:t>,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@UI.fieldGroup</a:t>
            </a:r>
            <a:r>
              <a:rPr lang="en-US" sz="1350" dirty="0">
                <a:solidFill>
                  <a:srgbClr val="1D2D3E"/>
                </a:solidFill>
              </a:rPr>
              <a:t>,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@UI.facet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Valem para todo app sobre o serviço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Editadas no ADT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417159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Page Editor no app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Gera anotações locais e ajustes no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Valem só para este app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Editado no BAS ou VS Code, pelo Page Map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34033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834033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Mesmo resultado  </a:t>
            </a:r>
            <a:r>
              <a:rPr lang="en-US" sz="1200" dirty="0">
                <a:solidFill>
                  <a:srgbClr val="1D2D3E"/>
                </a:solidFill>
              </a:rPr>
              <a:t>o curso mostra as duas vias; o importante é saber </a:t>
            </a:r>
            <a:r>
              <a:rPr lang="en-US" sz="1200" b="1" dirty="0">
                <a:solidFill>
                  <a:srgbClr val="1D2D3E"/>
                </a:solidFill>
              </a:rPr>
              <a:t>onde</a:t>
            </a:r>
            <a:r>
              <a:rPr lang="en-US" sz="1200" dirty="0">
                <a:solidFill>
                  <a:srgbClr val="1D2D3E"/>
                </a:solidFill>
              </a:rPr>
              <a:t> cada ajuste foi parar.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792063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962049"/>
            <a:ext cx="310896" cy="310896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92" y="2792063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03.06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Configurações gerais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Ajustes do app inteiro ficam no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r>
              <a:rPr lang="en-US" sz="1600" dirty="0">
                <a:solidFill>
                  <a:srgbClr val="D1EFFF"/>
                </a:solidFill>
              </a:rPr>
              <a:t>: </a:t>
            </a:r>
            <a:r>
              <a:rPr lang="en-US" sz="1600" b="1" dirty="0">
                <a:solidFill>
                  <a:srgbClr val="D1EFFF"/>
                </a:solidFill>
              </a:rPr>
              <a:t>flexible column layout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carga inicial</a:t>
            </a:r>
            <a:r>
              <a:rPr lang="en-US" sz="1600" dirty="0">
                <a:solidFill>
                  <a:srgbClr val="D1EFFF"/>
                </a:solidFill>
              </a:rPr>
              <a:t> da tabela.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Flexible column layout</a:t>
            </a:r>
            <a:r>
              <a:rPr lang="en-US" sz="1000" dirty="0">
                <a:solidFill>
                  <a:srgbClr val="D1EFFF"/>
                </a:solidFill>
              </a:rPr>
              <a:t>  lista + detalhe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initialLoad</a:t>
            </a:r>
            <a:r>
              <a:rPr lang="en-US" sz="1000" dirty="0">
                <a:solidFill>
                  <a:srgbClr val="D1EFFF"/>
                </a:solidFill>
              </a:rPr>
              <a:t>  sem clicar em Go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Map</a:t>
            </a:r>
            <a:r>
              <a:rPr lang="en-US" sz="1000" dirty="0">
                <a:solidFill>
                  <a:srgbClr val="D1EFFF"/>
                </a:solidFill>
              </a:rPr>
              <a:t>  edita o manifest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Variant management</a:t>
            </a:r>
            <a:r>
              <a:rPr lang="en-US" sz="1000" dirty="0">
                <a:solidFill>
                  <a:srgbClr val="D1EFFF"/>
                </a:solidFill>
              </a:rPr>
              <a:t>  visões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APP · MANIFEST.JSON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Layout em colunas e carga inicial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2024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2024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webapp/manifest.json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travels › webapp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"routing":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"config":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"routerClass": "sap.f.routing.Router",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"flexibleColumnLayout":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"defaultTwoColumnLayoutType": "TwoColumnsMidExpanded",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"defaultThreeColumnLayoutType": "ThreeColumnsEndExpanded"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"targets":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"TravelList":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"name": "sap.fe.templates.ListReport",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"options": { "settings":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"contextPath": "/Travel",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"initialLoad": "Enabled"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Flexible column layout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Lista e Object Page lado a lado; com subobjeto, três colunas.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Mid / End expanded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Qual coluna ganha mais espaço em 2 e em 3 colunas.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initialLoad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tabela carrega ao abrir o app, sem clicar em </a:t>
            </a:r>
            <a:r>
              <a:rPr lang="en-US" sz="1050" b="1" dirty="0">
                <a:solidFill>
                  <a:srgbClr val="556B82"/>
                </a:solidFill>
              </a:rPr>
              <a:t>Go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Via Page Map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No curso, tudo isso é marcado no Page Map, que grava aqui.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03.06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Refinando o List Report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Uma </a:t>
            </a:r>
            <a:r>
              <a:rPr lang="en-US" sz="1600" b="1" dirty="0">
                <a:solidFill>
                  <a:srgbClr val="D1EFFF"/>
                </a:solidFill>
              </a:rPr>
              <a:t>ordenação padrão</a:t>
            </a:r>
            <a:r>
              <a:rPr lang="en-US" sz="1600" dirty="0">
                <a:solidFill>
                  <a:srgbClr val="D1EFFF"/>
                </a:solidFill>
              </a:rPr>
              <a:t> com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@UI.presentationVariant</a:t>
            </a:r>
            <a:r>
              <a:rPr lang="en-US" sz="1600" dirty="0">
                <a:solidFill>
                  <a:srgbClr val="D1EFFF"/>
                </a:solidFill>
              </a:rPr>
              <a:t> e colunas ajustadas no </a:t>
            </a:r>
            <a:r>
              <a:rPr lang="en-US" sz="1600" b="1" dirty="0">
                <a:solidFill>
                  <a:srgbClr val="D1EFFF"/>
                </a:solidFill>
              </a:rPr>
              <a:t>Page Editor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presentationVariant</a:t>
            </a:r>
            <a:r>
              <a:rPr lang="en-US" sz="1000" dirty="0">
                <a:solidFill>
                  <a:srgbClr val="D1EFFF"/>
                </a:solidFill>
              </a:rPr>
              <a:t>  ordenação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Editor</a:t>
            </a:r>
            <a:r>
              <a:rPr lang="en-US" sz="1000" dirty="0">
                <a:solidFill>
                  <a:srgbClr val="D1EFFF"/>
                </a:solidFill>
              </a:rPr>
              <a:t>  colunas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Mover · remover</a:t>
            </a:r>
            <a:r>
              <a:rPr lang="en-US" sz="1000" dirty="0">
                <a:solidFill>
                  <a:srgbClr val="D1EFFF"/>
                </a:solidFill>
              </a:rPr>
              <a:t>  ordem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Rótulos</a:t>
            </a:r>
            <a:r>
              <a:rPr lang="en-US" sz="1000" dirty="0">
                <a:solidFill>
                  <a:srgbClr val="D1EFFF"/>
                </a:solidFill>
              </a:rPr>
              <a:t>  i18n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LIST REPORT · ORDENAÇÃO PADRÃO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mais recentes primeiro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85292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85292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zc_fe_travel_######.ddlx.asddlxs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ZFE_TRAVEL_###### › Metadata Extensions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presentationVariant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sortOrder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'LastChangedAt'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AS_LINEITEM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ZC_FE_TRAVEL_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presentationVariant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No nível da entidade: define a ordenação inicial da tabela.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visualizations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Diz que a variante se aplica ao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 telas pequenas, só colunas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r>
              <a:rPr lang="en-US" sz="1050" dirty="0">
                <a:solidFill>
                  <a:srgbClr val="556B82"/>
                </a:solidFill>
              </a:rPr>
              <a:t> continuam visíveis.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Usuário no controle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Ele ainda pode mudar a ordenação e salvar como variante.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LIST REPORT · EXERCÍCIO DO CURSO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Editando colunas pelo Page Editor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60004" y="2656332"/>
            <a:ext cx="847168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12532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2532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Abrir o editor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Botão direito em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webapp</a:t>
            </a:r>
            <a:r>
              <a:rPr lang="en-US" sz="1150" dirty="0">
                <a:solidFill>
                  <a:srgbClr val="556B82"/>
                </a:solidFill>
              </a:rPr>
              <a:t> › </a:t>
            </a:r>
            <a:r>
              <a:rPr lang="en-US" sz="1150" i="1" dirty="0">
                <a:solidFill>
                  <a:srgbClr val="556B82"/>
                </a:solidFill>
              </a:rPr>
              <a:t>Show Page Map</a:t>
            </a:r>
            <a:r>
              <a:rPr lang="en-US" sz="1150" dirty="0">
                <a:solidFill>
                  <a:srgbClr val="556B82"/>
                </a:solidFill>
              </a:rPr>
              <a:t> › editar a página </a:t>
            </a:r>
            <a:r>
              <a:rPr lang="en-US" sz="1150" b="1" dirty="0">
                <a:solidFill>
                  <a:srgbClr val="556B82"/>
                </a:solidFill>
              </a:rPr>
              <a:t>List Report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6428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6428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3372536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55416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Remover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Tirar a coluna </a:t>
            </a:r>
            <a:r>
              <a:rPr lang="en-US" sz="1150" b="1" dirty="0">
                <a:solidFill>
                  <a:srgbClr val="556B82"/>
                </a:solidFill>
              </a:rPr>
              <a:t>Time Stamp</a:t>
            </a:r>
            <a:r>
              <a:rPr lang="en-US" sz="1150" dirty="0">
                <a:solidFill>
                  <a:srgbClr val="556B82"/>
                </a:solidFill>
              </a:rPr>
              <a:t> da tabela.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0324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60324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6196432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9312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Reordenar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Mover </a:t>
            </a:r>
            <a:r>
              <a:rPr lang="en-US" sz="1150" b="1" dirty="0">
                <a:solidFill>
                  <a:srgbClr val="556B82"/>
                </a:solidFill>
              </a:rPr>
              <a:t>Overall Status</a:t>
            </a:r>
            <a:r>
              <a:rPr lang="en-US" sz="1150" dirty="0">
                <a:solidFill>
                  <a:srgbClr val="556B82"/>
                </a:solidFill>
              </a:rPr>
              <a:t> para antes de </a:t>
            </a:r>
            <a:r>
              <a:rPr lang="en-US" sz="1150" b="1" dirty="0">
                <a:solidFill>
                  <a:srgbClr val="556B82"/>
                </a:solidFill>
              </a:rPr>
              <a:t>Booking Fee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84219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84219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9020327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03207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Adicionar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Nova coluna </a:t>
            </a:r>
            <a:r>
              <a:rPr lang="en-US" sz="1150" b="1" dirty="0">
                <a:solidFill>
                  <a:srgbClr val="556B82"/>
                </a:solidFill>
              </a:rPr>
              <a:t>Description</a:t>
            </a:r>
            <a:r>
              <a:rPr lang="en-US" sz="1150" dirty="0">
                <a:solidFill>
                  <a:srgbClr val="556B82"/>
                </a:solidFill>
              </a:rPr>
              <a:t> logo após </a:t>
            </a:r>
            <a:r>
              <a:rPr lang="en-US" sz="1150" b="1" dirty="0">
                <a:solidFill>
                  <a:srgbClr val="556B82"/>
                </a:solidFill>
              </a:rPr>
              <a:t>Travel ID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9423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07008" y="49423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Alternativa  </a:t>
            </a:r>
            <a:r>
              <a:rPr lang="en-US" sz="1200" dirty="0">
                <a:solidFill>
                  <a:srgbClr val="1D2D3E"/>
                </a:solidFill>
              </a:rPr>
              <a:t>o guia </a:t>
            </a:r>
            <a:r>
              <a:rPr lang="en-US" sz="1200" i="1" dirty="0">
                <a:solidFill>
                  <a:srgbClr val="1D2D3E"/>
                </a:solidFill>
              </a:rPr>
              <a:t>Add and Edit Table Columns</a:t>
            </a:r>
            <a:r>
              <a:rPr lang="en-US" sz="1200" dirty="0">
                <a:solidFill>
                  <a:srgbClr val="1D2D3E"/>
                </a:solidFill>
              </a:rPr>
              <a:t> do Guided Development faz o mesmo passo a passo.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0703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03.06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Seções da Object Page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Uma seção </a:t>
            </a:r>
            <a:r>
              <a:rPr lang="en-US" sz="1600" b="1" dirty="0">
                <a:solidFill>
                  <a:srgbClr val="D1EFFF"/>
                </a:solidFill>
              </a:rPr>
              <a:t>General Information</a:t>
            </a:r>
            <a:r>
              <a:rPr lang="en-US" sz="1600" dirty="0">
                <a:solidFill>
                  <a:srgbClr val="D1EFFF"/>
                </a:solidFill>
              </a:rPr>
              <a:t> com subseções </a:t>
            </a:r>
            <a:r>
              <a:rPr lang="en-US" sz="1600" b="1" dirty="0">
                <a:solidFill>
                  <a:srgbClr val="D1EFFF"/>
                </a:solidFill>
              </a:rPr>
              <a:t>General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Prices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Dates</a:t>
            </a:r>
            <a:r>
              <a:rPr lang="en-US" sz="1600" dirty="0">
                <a:solidFill>
                  <a:srgbClr val="D1EFFF"/>
                </a:solidFill>
              </a:rPr>
              <a:t>, e outra seção com a tabela de </a:t>
            </a:r>
            <a:r>
              <a:rPr lang="en-US" sz="1600" b="1" dirty="0">
                <a:solidFill>
                  <a:srgbClr val="D1EFFF"/>
                </a:solidFill>
              </a:rPr>
              <a:t>Bookings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identification</a:t>
            </a:r>
            <a:r>
              <a:rPr lang="en-US" sz="1000" dirty="0">
                <a:solidFill>
                  <a:srgbClr val="D1EFFF"/>
                </a:solidFill>
              </a:rPr>
              <a:t>  um conjunto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fieldGroup</a:t>
            </a:r>
            <a:r>
              <a:rPr lang="en-US" sz="1000" dirty="0">
                <a:solidFill>
                  <a:srgbClr val="D1EFFF"/>
                </a:solidFill>
              </a:rPr>
              <a:t>  vários, com qualifier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#COLLECTION</a:t>
            </a:r>
            <a:r>
              <a:rPr lang="en-US" sz="1000" dirty="0">
                <a:solidFill>
                  <a:srgbClr val="D1EFFF"/>
                </a:solidFill>
              </a:rPr>
              <a:t>  seção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#LINEITEM_REFERENCE</a:t>
            </a:r>
            <a:r>
              <a:rPr lang="en-US" sz="1000" dirty="0">
                <a:solidFill>
                  <a:srgbClr val="D1EFFF"/>
                </a:solidFill>
              </a:rPr>
              <a:t>  tabela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OBJECT PAGE · ESCOLHA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Identification ou field group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78291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@UI.identification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Um único conjunto de campos por entidade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Bom para os dados principais do objeto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Faceta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#IDENTIFICATION_REFERENCE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782919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@UI.fieldGroup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Quantos grupos quiser, cada um com um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Ideal para separar preços, datas, administração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Faceta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#FIELDGROUP_REFERENCE</a:t>
            </a:r>
            <a:r>
              <a:rPr lang="en-US" sz="1350" dirty="0">
                <a:solidFill>
                  <a:srgbClr val="1D2D3E"/>
                </a:solidFill>
              </a:rPr>
              <a:t> com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192" y="3157823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157823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OBJECT PAGE · EXERCÍCIO DO CURSO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Subseções Prices e Dates com field groups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85292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85292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zc_fe_travel_######.ddlx.asddlxs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ZFE_TRAVEL_###### › Metadata Extensions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ZC_FE_TRAVEL_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facet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'GeneralInfo'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'General Information'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'General'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IDENTIFICATION_REFERENCE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'GeneralInfo'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'Prices'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FIELDGROUP_REFERENCE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'GeneralInfo'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'PricesGroup'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'Dates'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FIELDGROUP_REFERENCE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'GeneralInfo'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'DatesGroup'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fieldGroup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'PricesGroup'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TotalPrice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fieldGroup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'PricesGroup'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BookingFee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fieldGroup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'DatesGroup'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BeginDate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fieldGroup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'DatesGroup'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EndDate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Dá nome ao grupo; campos com o mesmo qualifier ficam juntos.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faceta escolhe qual grupo mostrar.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As três subseções ficam dentro de </a:t>
            </a:r>
            <a:r>
              <a:rPr lang="en-US" sz="1050" i="1" dirty="0">
                <a:solidFill>
                  <a:srgbClr val="556B82"/>
                </a:solidFill>
              </a:rPr>
              <a:t>General Information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Tabela de bookings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Outra seção, criada no Page Editor como </a:t>
            </a:r>
            <a:r>
              <a:rPr lang="en-US" sz="1050" i="1" dirty="0">
                <a:solidFill>
                  <a:srgbClr val="556B82"/>
                </a:solidFill>
              </a:rPr>
              <a:t>Table Section</a:t>
            </a:r>
            <a:r>
              <a:rPr lang="en-US" sz="1050" dirty="0">
                <a:solidFill>
                  <a:srgbClr val="556B82"/>
                </a:solidFill>
              </a:rPr>
              <a:t> sobre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_Booking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03.06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Configure no </a:t>
            </a:r>
            <a:r>
              <a:rPr lang="en-US" sz="1400" b="1" dirty="0">
                <a:solidFill>
                  <a:srgbClr val="FFFFFF"/>
                </a:solidFill>
              </a:rPr>
              <a:t>CDS</a:t>
            </a:r>
            <a:r>
              <a:rPr lang="en-US" sz="1400" dirty="0">
                <a:solidFill>
                  <a:srgbClr val="FFFFFF"/>
                </a:solidFill>
              </a:rPr>
              <a:t> (todos os apps) ou no </a:t>
            </a:r>
            <a:r>
              <a:rPr lang="en-US" sz="1400" b="1" dirty="0">
                <a:solidFill>
                  <a:srgbClr val="FFFFFF"/>
                </a:solidFill>
              </a:rPr>
              <a:t>Page Editor</a:t>
            </a:r>
            <a:r>
              <a:rPr lang="en-US" sz="1400" dirty="0">
                <a:solidFill>
                  <a:srgbClr val="FFFFFF"/>
                </a:solidFill>
              </a:rPr>
              <a:t> (só este app)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Flexible column layout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initialLoad</a:t>
            </a:r>
            <a:r>
              <a:rPr lang="en-US" sz="1400" dirty="0">
                <a:solidFill>
                  <a:srgbClr val="FFFFFF"/>
                </a:solidFill>
              </a:rPr>
              <a:t> ficam no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@UI.presentationVariant</a:t>
            </a:r>
            <a:r>
              <a:rPr lang="en-US" sz="1400" dirty="0">
                <a:solidFill>
                  <a:srgbClr val="FFFFFF"/>
                </a:solidFill>
              </a:rPr>
              <a:t> define a </a:t>
            </a:r>
            <a:r>
              <a:rPr lang="en-US" sz="1400" b="1" dirty="0">
                <a:solidFill>
                  <a:srgbClr val="FFFFFF"/>
                </a:solidFill>
              </a:rPr>
              <a:t>ordenação padrão</a:t>
            </a:r>
            <a:r>
              <a:rPr lang="en-US" sz="1400" dirty="0">
                <a:solidFill>
                  <a:srgbClr val="FFFFFF"/>
                </a:solidFill>
              </a:rPr>
              <a:t> da tabela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Page Editor remove, reordena e adiciona colunas sem código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r>
              <a:rPr lang="en-US" sz="1400" dirty="0">
                <a:solidFill>
                  <a:srgbClr val="FFFFFF"/>
                </a:solidFill>
              </a:rPr>
              <a:t> para os dados principais;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@UI.fieldGroup</a:t>
            </a:r>
            <a:r>
              <a:rPr lang="en-US" sz="1400" dirty="0">
                <a:solidFill>
                  <a:srgbClr val="FFFFFF"/>
                </a:solidFill>
              </a:rPr>
              <a:t> para vários grupos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Seções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#COLLECTION</a:t>
            </a:r>
            <a:r>
              <a:rPr lang="en-US" sz="1400" dirty="0">
                <a:solidFill>
                  <a:srgbClr val="FFFFFF"/>
                </a:solidFill>
              </a:rPr>
              <a:t> com subseções e uma seção de tabela para os bookings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03.07  </a:t>
            </a:r>
            <a:r>
              <a:rPr lang="en-US" sz="1500" dirty="0">
                <a:solidFill>
                  <a:srgbClr val="FFFFFF"/>
                </a:solidFill>
              </a:rPr>
              <a:t>Tabelas: cores e ações: Criticality, ações e importância.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03.06 Configurando List Report e Object Page</dc:title>
  <dc:subject>ABAP Moderno – Módulo 03: SAP Fiori Elements com OData V4</dc:subject>
  <dc:creator>Adriano Bispo</dc:creator>
  <cp:lastModifiedBy>Adriano Bispo</cp:lastModifiedBy>
  <cp:revision>1</cp:revision>
  <dcterms:created xsi:type="dcterms:W3CDTF">2026-10-29T01:37:36Z</dcterms:created>
  <dcterms:modified xsi:type="dcterms:W3CDTF">2026-10-29T01:37:36Z</dcterms:modified>
</cp:coreProperties>
</file>