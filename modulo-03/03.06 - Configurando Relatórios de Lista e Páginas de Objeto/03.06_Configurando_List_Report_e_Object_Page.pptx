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rizon Title">
    <p:bg>
      <p:bgPr>
        <a:solidFill>
          <a:srgbClr val="1D2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548640" y="1554480"/>
            <a:ext cx="786384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dirty="0">
                <a:solidFill>
                  <a:srgbClr val="4DB1FF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3" name="Text 0"/>
          <p:cNvSpPr/>
          <p:nvPr>
            <p:ph idx="103" type="title" hasCustomPrompt="1"/>
          </p:nvPr>
        </p:nvSpPr>
        <p:spPr>
          <a:xfrm>
            <a:off x="548640" y="2057400"/>
            <a:ext cx="81381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4" type="body" hasCustomPrompt="1"/>
          </p:nvPr>
        </p:nvSpPr>
        <p:spPr>
          <a:xfrm>
            <a:off x="548640" y="4206240"/>
            <a:ext cx="76809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9D3DE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396A8"/>
                </a:solidFill>
              </a:rPr>
              <a:t>ABAP Moderno  ·  Módulo 03  ·  03.06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rizon Content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dirty="0">
                <a:solidFill>
                  <a:srgbClr val="0070F2"/>
                </a:solidFill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D2D3E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ABAP Moderno  ·  Módulo 03  ·  03.06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rizon Closing">
    <p:bg>
      <p:bgPr>
        <a:solidFill>
          <a:srgbClr val="1D2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dirty="0">
                <a:solidFill>
                  <a:srgbClr val="4DB1FF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396A8"/>
                </a:solidFill>
              </a:rPr>
              <a:t>ABAP Moderno  ·  Módulo 03  ·  03.06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396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548640" y="15544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DB1FF"/>
                </a:solidFill>
              </a:rPr>
              <a:t>Módulo 03  ·  03.06</a:t>
            </a:r>
            <a:endParaRPr lang="en-US" sz="1600" dirty="0"/>
          </a:p>
        </p:txBody>
      </p:sp>
      <p:sp>
        <p:nvSpPr>
          <p:cNvPr id="3" name="Text 0"/>
          <p:cNvSpPr/>
          <p:nvPr>
            <p:ph idx="103" type="title" hasCustomPrompt="1"/>
          </p:nvPr>
        </p:nvSpPr>
        <p:spPr>
          <a:xfrm>
            <a:off x="548640" y="2057400"/>
            <a:ext cx="8138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Do Rascunho à Obra-Prima</a:t>
            </a:r>
            <a:endParaRPr lang="en-US" sz="4000" dirty="0"/>
          </a:p>
        </p:txBody>
      </p:sp>
      <p:sp>
        <p:nvSpPr>
          <p:cNvPr id="4" name="Text 0"/>
          <p:cNvSpPr/>
          <p:nvPr>
            <p:ph idx="104" type="body" hasCustomPrompt="1"/>
          </p:nvPr>
        </p:nvSpPr>
        <p:spPr>
          <a:xfrm>
            <a:off x="548640" y="42062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3DE"/>
                </a:solidFill>
              </a:rPr>
              <a:t>Criando a experiência Fiori perfeita com anotações: um guia prático para configurar Relatórios de Lista e Páginas de Objeto.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686800" y="1600200"/>
            <a:ext cx="29718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281160" y="160020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@UI.presentationVariant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686800" y="2350008"/>
            <a:ext cx="29718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281160" y="235000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#COLLECTION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686800" y="3099816"/>
            <a:ext cx="29718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281160" y="3099816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#IDENTIFICATION_REF…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686800" y="3849624"/>
            <a:ext cx="29718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281160" y="384962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#FIELDGROUP_REFERENCE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686800" y="4599432"/>
            <a:ext cx="29718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81160" y="459943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qualifier</a:t>
            </a:r>
            <a:endParaRPr lang="en-US" sz="13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1737360"/>
            <a:ext cx="292608" cy="292608"/>
          </a:xfrm>
          <a:prstGeom prst="rect">
            <a:avLst/>
          </a:prstGeom>
        </p:spPr>
      </p:pic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0" y="2487168"/>
            <a:ext cx="292608" cy="292608"/>
          </a:xfrm>
          <a:prstGeom prst="rect">
            <a:avLst/>
          </a:prstGeom>
        </p:spPr>
      </p:pic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3986784"/>
            <a:ext cx="292608" cy="292608"/>
          </a:xfrm>
          <a:prstGeom prst="rect">
            <a:avLst/>
          </a:prstGeom>
        </p:spPr>
      </p:pic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0" y="3236976"/>
            <a:ext cx="292608" cy="292608"/>
          </a:xfrm>
          <a:prstGeom prst="rect">
            <a:avLst/>
          </a:prstGeom>
        </p:spPr>
      </p:pic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0" y="4736592"/>
            <a:ext cx="292608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Nossos Objetivos de Aprendizagem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FFF8D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417320" y="1673352"/>
            <a:ext cx="102257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D2D3E"/>
                </a:solidFill>
              </a:rPr>
              <a:t>Aplicar ordenação padrão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rgbClr val="556B82"/>
                </a:solidFill>
              </a:rPr>
              <a:t>Dominar a anotação 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PresentationVariant</a:t>
            </a:r>
            <a:r>
              <a:rPr lang="en-US" sz="1500" dirty="0">
                <a:solidFill>
                  <a:srgbClr val="556B82"/>
                </a:solidFill>
              </a:rPr>
              <a:t> para apresentar dados de forma inteligente no List Report.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788920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FFF8D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417320" y="2770632"/>
            <a:ext cx="102257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D2D3E"/>
                </a:solidFill>
              </a:rPr>
              <a:t>Estruturar a Object Page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rgbClr val="556B82"/>
                </a:solidFill>
              </a:rPr>
              <a:t>Organizar uma página de objeto vazia em seções e subseções usando Facetas.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886200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FFF8D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417320" y="3867912"/>
            <a:ext cx="102257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D2D3E"/>
                </a:solidFill>
              </a:rPr>
              <a:t>Agrupar campos estrategicamente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rgbClr val="556B82"/>
                </a:solidFill>
              </a:rPr>
              <a:t>Utilizar 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FieldGroups</a:t>
            </a:r>
            <a:r>
              <a:rPr lang="en-US" sz="1500" dirty="0">
                <a:solidFill>
                  <a:srgbClr val="556B82"/>
                </a:solidFill>
              </a:rPr>
              <a:t> para quebrar formulários longos em blocos lógicos e legíveis.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4983480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FFF8D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417320" y="4965192"/>
            <a:ext cx="102257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D2D3E"/>
                </a:solidFill>
              </a:rPr>
              <a:t>Dominar as ferramentas certas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rgbClr val="556B82"/>
                </a:solidFill>
              </a:rPr>
              <a:t>Diferenciar o uso de 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#IDENTIFICATION_REFERENCE</a:t>
            </a:r>
            <a:r>
              <a:rPr lang="en-US" sz="1500" dirty="0">
                <a:solidFill>
                  <a:srgbClr val="556B82"/>
                </a:solidFill>
              </a:rPr>
              <a:t> e 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#FIELDGROUP_REFERENCE</a:t>
            </a:r>
            <a:r>
              <a:rPr lang="en-US" sz="1500" dirty="0">
                <a:solidFill>
                  <a:srgbClr val="556B82"/>
                </a:solidFill>
              </a:rPr>
              <a:t> para cada cenário.</a:t>
            </a:r>
            <a:endParaRPr lang="en-US" sz="16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259" y="1845259"/>
            <a:ext cx="332842" cy="332842"/>
          </a:xfrm>
          <a:prstGeom prst="rect">
            <a:avLst/>
          </a:prstGeom>
        </p:spPr>
      </p:pic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59" y="4039819"/>
            <a:ext cx="332842" cy="332842"/>
          </a:xfrm>
          <a:prstGeom prst="rect">
            <a:avLst/>
          </a:prstGeom>
        </p:spPr>
      </p:pic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59" y="2942539"/>
            <a:ext cx="332842" cy="332842"/>
          </a:xfrm>
          <a:prstGeom prst="rect">
            <a:avLst/>
          </a:prstGeom>
        </p:spPr>
      </p:pic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259" y="5137099"/>
            <a:ext cx="332842" cy="332842"/>
          </a:xfrm>
          <a:prstGeom prst="rect">
            <a:avLst/>
          </a:prstGeom>
        </p:spPr>
      </p:pic>
      <p:sp>
        <p:nvSpPr>
          <p:cNvPr id="15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O Ponto de Partida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Um Relatório de Lista Sem Refinamento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120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D2D3E"/>
                </a:solidFill>
              </a:rPr>
              <a:t>Quando um usuário abre um aplicativo, a primeira impressão é vital. Por padrão, os registros são exibidos na ordem da chave primária (UUID) ou de inserção, o que raramente é útil para o negócio. O usuário quer ver “o que aconteceu por último” ou “o que é mais urgente”.</a:t>
            </a:r>
            <a:endParaRPr lang="en-US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1783080"/>
          <a:ext cx="5608015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947672"/>
                <a:gridCol w="1097280"/>
                <a:gridCol w="10972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56B82"/>
                          </a:solidFill>
                        </a:rPr>
                        <a:t>Travel UUID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56B82"/>
                          </a:solidFill>
                        </a:rPr>
                        <a:t>Customer Name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56B82"/>
                          </a:solidFill>
                        </a:rPr>
                        <a:t>Begin Date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56B82"/>
                          </a:solidFill>
                        </a:rPr>
                        <a:t>End Date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0A3B1F…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Acrilico LTDA.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15/08/2023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20/08/2023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5E7D2A…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Soluções Tech SA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02/03/2024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10/03/2024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8G9H4C…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Comércio Global S/A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21/11/2023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25/11/2023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035040" y="3977640"/>
            <a:ext cx="5608015" cy="822960"/>
          </a:xfrm>
          <a:prstGeom prst="roundRect">
            <a:avLst>
              <a:gd name="adj" fmla="val 13333"/>
            </a:avLst>
          </a:prstGeom>
          <a:solidFill>
            <a:srgbClr val="FFF8D6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766560" y="3977640"/>
            <a:ext cx="4602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D2D3E"/>
                </a:solidFill>
              </a:rPr>
              <a:t>Por que estes dados estão nesta ordem?</a:t>
            </a:r>
            <a:endParaRPr lang="en-US" sz="16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4215384"/>
            <a:ext cx="347472" cy="3474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A Primeira Pincelada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Ordenação Inteligente com @UI.presentationVariant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2D3E"/>
                </a:solidFill>
              </a:rPr>
              <a:t>Para controlar a visualização inicial e economizar cliques do usuário, usamos </a:t>
            </a:r>
            <a:r>
              <a:rPr lang="en-US" sz="16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@UI.presentationVariant</a:t>
            </a:r>
            <a:r>
              <a:rPr lang="en-US" sz="1600" dirty="0">
                <a:solidFill>
                  <a:srgbClr val="1D2D3E"/>
                </a:solidFill>
              </a:rPr>
              <a:t> no nível da entidade: ela direciona a atenção para os itens mais relevantes.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6309360" cy="310896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2551176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4D9"/>
                </a:solidFill>
              </a:rPr>
              <a:t>O Código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935224"/>
            <a:ext cx="630936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3063240"/>
            <a:ext cx="5852160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D3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@UI.presentationVariant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sortOrder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 mais recente primeiro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3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0064D9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</a:t>
            </a:r>
            <a:r>
              <a:rPr lang="en-US" sz="13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3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256F3A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'BeginDate'</a:t>
            </a:r>
            <a:r>
              <a:rPr lang="en-US" sz="13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r>
              <a:rPr lang="en-US" sz="13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direction</a:t>
            </a:r>
            <a:r>
              <a:rPr lang="en-US" sz="13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3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B44F00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#DESC</a:t>
            </a:r>
            <a:r>
              <a:rPr lang="en-US" sz="13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3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 agrupa status iguais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3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0064D9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</a:t>
            </a:r>
            <a:r>
              <a:rPr lang="en-US" sz="13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3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256F3A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'OverallStatus'</a:t>
            </a:r>
            <a:r>
              <a:rPr lang="en-US" sz="13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direction</a:t>
            </a:r>
            <a:r>
              <a:rPr lang="en-US" sz="13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3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B44F00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#ASC</a:t>
            </a:r>
            <a:r>
              <a:rPr lang="en-US" sz="13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visualizations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#AS_LINEITEM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223760" y="2423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64D9"/>
                </a:solidFill>
              </a:rPr>
              <a:t>O Resultado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23760" y="2880360"/>
          <a:ext cx="441929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947672"/>
                <a:gridCol w="128016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56B82"/>
                          </a:solidFill>
                        </a:rPr>
                        <a:t>Travel UUID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56B82"/>
                          </a:solidFill>
                        </a:rPr>
                        <a:t>Customer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56B82"/>
                          </a:solidFill>
                        </a:rPr>
                        <a:t>Begin Date ↓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5E7D2A…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Soluções Tech SA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B44F00"/>
                          </a:solidFill>
                        </a:rPr>
                        <a:t>02/03/2024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8G9H4C…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Comércio Global S/A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B44F00"/>
                          </a:solidFill>
                        </a:rPr>
                        <a:t>21/11/2023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0A3B1F…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Acrilico LTDA.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B44F00"/>
                          </a:solidFill>
                        </a:rPr>
                        <a:t>15/08/2023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O Próximo Desafio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Transformando uma Página de Objeto Vazia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2D3E"/>
                </a:solidFill>
              </a:rPr>
              <a:t>Após refinar a lista, o próximo passo é a página de detalhes (Object Page). Por padrão, ela é uma tela em branco: nossa tarefa é construir uma estrutura lógica e visualmente organizada para exibir os dados da entidade.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377440" y="2560320"/>
            <a:ext cx="7436815" cy="356616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377440" y="2560320"/>
            <a:ext cx="7436815" cy="365760"/>
          </a:xfrm>
          <a:prstGeom prst="rect">
            <a:avLst/>
          </a:prstGeom>
          <a:solidFill>
            <a:srgbClr val="1D2D3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560320" y="2560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Object Page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0320" y="3364992"/>
            <a:ext cx="1463040" cy="0"/>
          </a:xfrm>
          <a:prstGeom prst="line">
            <a:avLst/>
          </a:prstGeom>
          <a:noFill/>
          <a:ln w="25400">
            <a:solidFill>
              <a:srgbClr val="0070F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377440" y="3474720"/>
            <a:ext cx="74368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56B82"/>
                </a:solidFill>
              </a:rPr>
              <a:t>Nenhum item a ser exibido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A Fundação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Criando Seções com Facetas #COLLECTION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2D3E"/>
                </a:solidFill>
              </a:rPr>
              <a:t>O primeiro passo é criar os ‘containers’ principais. Uma faceta </a:t>
            </a:r>
            <a:r>
              <a:rPr lang="en-US" sz="16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#COLLECTION</a:t>
            </a:r>
            <a:r>
              <a:rPr lang="en-US" sz="1600" dirty="0">
                <a:solidFill>
                  <a:srgbClr val="1D2D3E"/>
                </a:solidFill>
              </a:rPr>
              <a:t> no nível superior cria uma </a:t>
            </a:r>
            <a:r>
              <a:rPr lang="en-US" sz="1600" b="1" dirty="0">
                <a:solidFill>
                  <a:srgbClr val="1D2D3E"/>
                </a:solidFill>
              </a:rPr>
              <a:t>Seção</a:t>
            </a:r>
            <a:r>
              <a:rPr lang="en-US" sz="1600" dirty="0">
                <a:solidFill>
                  <a:srgbClr val="1D2D3E"/>
                </a:solidFill>
              </a:rPr>
              <a:t>: uma aba clicável na barra de navegação da Object Page, que organiza o conteúdo que virá a seguir.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6766560" cy="356616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2642616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4D9"/>
                </a:solidFill>
              </a:rPr>
              <a:t>O Código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026664"/>
            <a:ext cx="676656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3154680"/>
            <a:ext cx="6309360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D3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@UI.facet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 Nível 1: a Seção (cria a aba)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r>
              <a:rPr lang="en-US" sz="12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r>
              <a:rPr lang="en-US" sz="1200" dirty="0">
                <a:solidFill>
                  <a:srgbClr val="256F3A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'GeneralSection'</a:t>
            </a:r>
            <a:r>
              <a:rPr lang="en-US" sz="12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i="1" dirty="0">
                <a:solidFill>
                  <a:srgbClr val="6A7B8C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ID técnico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2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r>
              <a:rPr lang="en-US" sz="1200" dirty="0">
                <a:solidFill>
                  <a:srgbClr val="B44F00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#COLLECTION</a:t>
            </a:r>
            <a:r>
              <a:rPr lang="en-US" sz="12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200" i="1" dirty="0">
                <a:solidFill>
                  <a:srgbClr val="6A7B8C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é um container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r>
              <a:rPr lang="en-US" sz="12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dirty="0">
                <a:solidFill>
                  <a:srgbClr val="256F3A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'Informações Gerais'</a:t>
            </a:r>
            <a:r>
              <a:rPr lang="en-US" sz="12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r>
              <a:rPr lang="en-US" sz="12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ordem da aba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589520" y="2514600"/>
            <a:ext cx="4053535" cy="356616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589520" y="2514600"/>
            <a:ext cx="4053535" cy="365760"/>
          </a:xfrm>
          <a:prstGeom prst="rect">
            <a:avLst/>
          </a:prstGeom>
          <a:solidFill>
            <a:srgbClr val="1D2D3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0" y="2514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Object Page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0" y="29718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Informações Gerais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772400" y="3319272"/>
            <a:ext cx="1463040" cy="0"/>
          </a:xfrm>
          <a:prstGeom prst="line">
            <a:avLst/>
          </a:prstGeom>
          <a:noFill/>
          <a:ln w="25400">
            <a:solidFill>
              <a:srgbClr val="0070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0" y="3429000"/>
            <a:ext cx="405353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56B82"/>
                </a:solidFill>
              </a:rPr>
              <a:t>Nenhum item a ser exibido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Preenchendo a Seção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Uma Escolha Estratégica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2D3E"/>
                </a:solidFill>
              </a:rPr>
              <a:t>Com a Seção criada, precisamos preenchê-la com os campos do formulário. O Fiori Elements oferece duas ferramentas principais, e a escolha correta depende da complexidade e da semântica dos seus dados.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5364328" cy="356616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2743200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#IDENTIFICATION_REFERENCE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46120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44F00"/>
                </a:solidFill>
              </a:rPr>
              <a:t>Abordagem Direta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3840480"/>
            <a:ext cx="548640" cy="1097280"/>
          </a:xfrm>
          <a:prstGeom prst="roundRect">
            <a:avLst>
              <a:gd name="adj" fmla="val 10000"/>
            </a:avLst>
          </a:prstGeom>
          <a:solidFill>
            <a:srgbClr val="E7650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154680" y="3749040"/>
            <a:ext cx="248396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D3E"/>
                </a:solidFill>
              </a:rPr>
              <a:t>Ideal para o bloco de dados principal e essencial. Renderiza todos os campos de ‘identificação’ juntos.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78728" y="2560320"/>
            <a:ext cx="5364328" cy="356616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553048" y="2743200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#FIELDGROUP_REFERENCE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553048" y="3246120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44F00"/>
                </a:solidFill>
              </a:rPr>
              <a:t>Abordagem Flexível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644488" y="3840480"/>
            <a:ext cx="548640" cy="1097280"/>
          </a:xfrm>
          <a:prstGeom prst="roundRect">
            <a:avLst>
              <a:gd name="adj" fmla="val 10000"/>
            </a:avLst>
          </a:prstGeom>
          <a:solidFill>
            <a:srgbClr val="E76500"/>
          </a:solidFill>
          <a:ln/>
        </p:spPr>
      </p:sp>
      <p:sp>
        <p:nvSpPr>
          <p:cNvPr id="14" name="Shape 12"/>
          <p:cNvSpPr/>
          <p:nvPr/>
        </p:nvSpPr>
        <p:spPr>
          <a:xfrm>
            <a:off x="7330288" y="3840480"/>
            <a:ext cx="548640" cy="1097280"/>
          </a:xfrm>
          <a:prstGeom prst="roundRect">
            <a:avLst>
              <a:gd name="adj" fmla="val 10000"/>
            </a:avLst>
          </a:prstGeom>
          <a:solidFill>
            <a:srgbClr val="E76500"/>
          </a:solidFill>
          <a:ln/>
        </p:spPr>
      </p:sp>
      <p:sp>
        <p:nvSpPr>
          <p:cNvPr id="15" name="Shape 13"/>
          <p:cNvSpPr/>
          <p:nvPr/>
        </p:nvSpPr>
        <p:spPr>
          <a:xfrm>
            <a:off x="8016088" y="3840480"/>
            <a:ext cx="548640" cy="1097280"/>
          </a:xfrm>
          <a:prstGeom prst="roundRect">
            <a:avLst>
              <a:gd name="adj" fmla="val 10000"/>
            </a:avLst>
          </a:prstGeom>
          <a:solidFill>
            <a:srgbClr val="E7650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884768" y="3749040"/>
            <a:ext cx="248396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D3E"/>
                </a:solidFill>
              </a:rPr>
              <a:t>Perfeito para agrupar campos temáticos e criar layouts com múltiplas colunas.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Estratégia 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#IDENTIFICATION_REFERENCE para Dados Essenciais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2D3E"/>
                </a:solidFill>
              </a:rPr>
              <a:t>Esta é a abordagem ‘simples e direta’: a faceta renderiza todos os campos marcados com </a:t>
            </a:r>
            <a:r>
              <a:rPr lang="en-US" sz="16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@UI.identification</a:t>
            </a:r>
            <a:r>
              <a:rPr lang="en-US" sz="1600" dirty="0">
                <a:solidFill>
                  <a:srgbClr val="1D2D3E"/>
                </a:solidFill>
              </a:rPr>
              <a:t>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1094415" cy="777240"/>
          </a:xfrm>
          <a:prstGeom prst="roundRect">
            <a:avLst>
              <a:gd name="adj" fmla="val 14118"/>
            </a:avLst>
          </a:prstGeom>
          <a:solidFill>
            <a:srgbClr val="FFF8D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2148840"/>
            <a:ext cx="100885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Limitação:</a:t>
            </a:r>
            <a:r>
              <a:rPr lang="en-US" sz="1500" dirty="0">
                <a:solidFill>
                  <a:srgbClr val="1D2D3E"/>
                </a:solidFill>
              </a:rPr>
              <a:t> só é possível ter </a:t>
            </a:r>
            <a:r>
              <a:rPr lang="en-US" sz="1500" b="1" dirty="0">
                <a:solidFill>
                  <a:srgbClr val="1D2D3E"/>
                </a:solidFill>
              </a:rPr>
              <a:t>um</a:t>
            </a:r>
            <a:r>
              <a:rPr lang="en-US" sz="1500" dirty="0">
                <a:solidFill>
                  <a:srgbClr val="1D2D3E"/>
                </a:solidFill>
              </a:rPr>
              <a:t> grupo de identificação por entidade. Os campos sempre aparecerão juntos em uma única lista vertical.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154680"/>
            <a:ext cx="6309360" cy="301752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77240" y="3282696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4D9"/>
                </a:solidFill>
              </a:rPr>
              <a:t>O Código da Faceta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666744"/>
            <a:ext cx="630936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794760"/>
            <a:ext cx="585216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r>
              <a:rPr lang="en-US" sz="14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'BasicData'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r>
              <a:rPr lang="en-US" sz="14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#IDENTIFICATION_REFERENCE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4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'Dados Básicos'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parentId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'GeneralSection'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dentro da aba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223760" y="3154680"/>
            <a:ext cx="4419295" cy="301752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223760" y="3154680"/>
            <a:ext cx="4419295" cy="365760"/>
          </a:xfrm>
          <a:prstGeom prst="rect">
            <a:avLst/>
          </a:prstGeom>
          <a:solidFill>
            <a:srgbClr val="1D2D3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06640" y="3154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Object Page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7406640" y="36118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Informações Gerais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406640" y="3959352"/>
            <a:ext cx="1463040" cy="0"/>
          </a:xfrm>
          <a:prstGeom prst="line">
            <a:avLst/>
          </a:prstGeom>
          <a:noFill/>
          <a:ln w="25400">
            <a:solidFill>
              <a:srgbClr val="0070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06640" y="4114800"/>
            <a:ext cx="4053535" cy="1874520"/>
          </a:xfrm>
          <a:prstGeom prst="rect">
            <a:avLst/>
          </a:prstGeom>
          <a:solidFill>
            <a:srgbClr val="FFF8D6"/>
          </a:solidFill>
          <a:ln w="19050">
            <a:solidFill>
              <a:srgbClr val="E765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16368" y="4160520"/>
            <a:ext cx="383407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D2D3E"/>
                </a:solidFill>
              </a:rPr>
              <a:t>Dados Básicos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516368" y="4526280"/>
            <a:ext cx="3834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56B82"/>
                </a:solidFill>
              </a:rPr>
              <a:t>Travel ID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7516368" y="4709160"/>
            <a:ext cx="3834079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16368" y="4983480"/>
            <a:ext cx="3834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56B82"/>
                </a:solidFill>
              </a:rPr>
              <a:t>Agency ID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7516368" y="5166360"/>
            <a:ext cx="3834079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16368" y="5440680"/>
            <a:ext cx="3834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56B82"/>
                </a:solidFill>
              </a:rPr>
              <a:t>Customer ID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516368" y="5623560"/>
            <a:ext cx="3834079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363724"/>
            <a:ext cx="347472" cy="3474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Estratégia B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#FIELDGROUP_REFERENCE para Máxima Flexibilidade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2D3E"/>
                </a:solidFill>
              </a:rPr>
              <a:t>Permite criar quantos grupos de campos você quiser, por meio de um sistema de ‘etiquetas’ (</a:t>
            </a:r>
            <a:r>
              <a:rPr lang="en-US" sz="16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qualifier</a:t>
            </a:r>
            <a:r>
              <a:rPr lang="en-US" sz="1600" dirty="0">
                <a:solidFill>
                  <a:srgbClr val="1D2D3E"/>
                </a:solidFill>
              </a:rPr>
              <a:t>) que conecta um grupo de campos a uma faceta específica.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11094415" cy="548640"/>
          </a:xfrm>
          <a:prstGeom prst="roundRect">
            <a:avLst>
              <a:gd name="adj" fmla="val 20000"/>
            </a:avLst>
          </a:prstGeom>
          <a:solidFill>
            <a:srgbClr val="F5FAE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2331720"/>
            <a:ext cx="100885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Vantagem:</a:t>
            </a:r>
            <a:r>
              <a:rPr lang="en-US" sz="1500" dirty="0">
                <a:solidFill>
                  <a:srgbClr val="1D2D3E"/>
                </a:solidFill>
              </a:rPr>
              <a:t> múltiplos blocos de dados e layouts com múltiplas colunas (lado a lado).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6309360" cy="2331720"/>
          </a:xfrm>
          <a:prstGeom prst="roundRect">
            <a:avLst>
              <a:gd name="adj" fmla="val 549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77240" y="3145536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4D9"/>
                </a:solidFill>
              </a:rPr>
              <a:t>Definição da Faceta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529584"/>
            <a:ext cx="630936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657600"/>
            <a:ext cx="5852160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</a:t>
            </a:r>
            <a:r>
              <a:rPr lang="en-US" sz="12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'Prices'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12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#FIELDGROUP_REFERENCE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</a:t>
            </a:r>
            <a:r>
              <a:rPr lang="en-US" sz="12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'Valores Financeiros'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parentId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2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'GeneralSection'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2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targetQualifier</a:t>
            </a:r>
            <a:r>
              <a:rPr lang="en-US" sz="12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256F3A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'PriceData'</a:t>
            </a:r>
            <a:r>
              <a:rPr lang="en-US" sz="12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i="1" dirty="0">
                <a:solidFill>
                  <a:srgbClr val="6A7B8C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o elo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5440680"/>
            <a:ext cx="6309360" cy="777240"/>
          </a:xfrm>
          <a:prstGeom prst="roundRect">
            <a:avLst>
              <a:gd name="adj" fmla="val 16471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77240" y="5605272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D36FF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@UI.fieldGroup</a:t>
            </a:r>
            <a:r>
              <a:rPr lang="en-US" sz="12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2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2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qualifier</a:t>
            </a:r>
            <a:r>
              <a:rPr lang="en-US" sz="12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256F3A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'PriceData'</a:t>
            </a:r>
            <a:r>
              <a:rPr lang="en-US" sz="12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r>
              <a:rPr lang="en-US" sz="12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B44F00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12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2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TotalPrice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223760" y="3063240"/>
            <a:ext cx="4419295" cy="310896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223760" y="3063240"/>
            <a:ext cx="4419295" cy="365760"/>
          </a:xfrm>
          <a:prstGeom prst="rect">
            <a:avLst/>
          </a:prstGeom>
          <a:solidFill>
            <a:srgbClr val="1D2D3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406640" y="3063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Object Page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7406640" y="35204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Informações Gerais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406640" y="3867912"/>
            <a:ext cx="1463040" cy="0"/>
          </a:xfrm>
          <a:prstGeom prst="line">
            <a:avLst/>
          </a:prstGeom>
          <a:noFill/>
          <a:ln w="25400">
            <a:solidFill>
              <a:srgbClr val="0070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06640" y="4023360"/>
            <a:ext cx="1935328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516368" y="4069080"/>
            <a:ext cx="1715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D2D3E"/>
                </a:solidFill>
              </a:rPr>
              <a:t>Dados Básicos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516368" y="4434840"/>
            <a:ext cx="1715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56B82"/>
                </a:solidFill>
              </a:rPr>
              <a:t>Travel ID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7516368" y="4617720"/>
            <a:ext cx="1715872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16368" y="4892040"/>
            <a:ext cx="1715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56B82"/>
                </a:solidFill>
              </a:rPr>
              <a:t>Agency ID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516368" y="5074920"/>
            <a:ext cx="1715872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516368" y="5349240"/>
            <a:ext cx="1715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56B82"/>
                </a:solidFill>
              </a:rPr>
              <a:t>Customer ID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516368" y="5532120"/>
            <a:ext cx="1715872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524848" y="4023360"/>
            <a:ext cx="1935328" cy="1965960"/>
          </a:xfrm>
          <a:prstGeom prst="rect">
            <a:avLst/>
          </a:prstGeom>
          <a:solidFill>
            <a:srgbClr val="FFF8D6"/>
          </a:solidFill>
          <a:ln w="19050">
            <a:solidFill>
              <a:srgbClr val="E7650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634576" y="4069080"/>
            <a:ext cx="1715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D2D3E"/>
                </a:solidFill>
              </a:rPr>
              <a:t>Valores Financeiros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9634576" y="4434840"/>
            <a:ext cx="1715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56B82"/>
                </a:solidFill>
              </a:rPr>
              <a:t>Total Price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9634576" y="4617720"/>
            <a:ext cx="1715872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634576" y="4892040"/>
            <a:ext cx="1715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56B82"/>
                </a:solidFill>
              </a:rPr>
              <a:t>Currency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9634576" y="5074920"/>
            <a:ext cx="1715872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432304"/>
            <a:ext cx="347472" cy="3474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A Obra-Prima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Juntando Todas as Peças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766560" cy="4709160"/>
          </a:xfrm>
          <a:prstGeom prst="roundRect">
            <a:avLst>
              <a:gd name="adj" fmla="val 2718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673352"/>
            <a:ext cx="630936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5D3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@Metadata.layer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#CORE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5D3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@UI.headerInfo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5D3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@UI.presentationVariant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sortOrder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'BeginDate'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direction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#DESC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annotate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Z_C_TRAVEL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D3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@UI.facet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'General'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#COLLECTION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'Visão Geral'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'TravelData'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parentId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'General'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#IDENTIFICATION_REFERENCE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'Dados da Viagem'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'DateData'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parentId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'General'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#FIELDGROUP_REFERENCE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'Planejamento e Datas'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targetQualifier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'DatesGroup'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D3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@UI.identification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TravelID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D3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@UI.fieldGroup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qualifier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'DatesGroup'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BeginDate</a:t>
            </a: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589520" y="1508760"/>
            <a:ext cx="4053535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54112" y="1618488"/>
            <a:ext cx="329184" cy="32918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54112" y="1618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1508760"/>
            <a:ext cx="3276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2D3E"/>
                </a:solidFill>
              </a:rPr>
              <a:t>Ordena a lista inicial.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589520" y="2167128"/>
            <a:ext cx="4053535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54112" y="2276856"/>
            <a:ext cx="329184" cy="32918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54112" y="22768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0" y="2167128"/>
            <a:ext cx="3276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2D3E"/>
                </a:solidFill>
              </a:rPr>
              <a:t>Cria a aba ‘Visão Geral’.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589520" y="2825496"/>
            <a:ext cx="4053535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54112" y="2935224"/>
            <a:ext cx="329184" cy="32918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54112" y="29352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0" y="2825496"/>
            <a:ext cx="3276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2D3E"/>
                </a:solidFill>
              </a:rPr>
              <a:t>Duas colunas lado a lado: Identification + FieldGroup.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589520" y="3520440"/>
            <a:ext cx="4053535" cy="2697480"/>
          </a:xfrm>
          <a:prstGeom prst="roundRect">
            <a:avLst>
              <a:gd name="adj" fmla="val 4746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589520" y="3520440"/>
            <a:ext cx="4053535" cy="365760"/>
          </a:xfrm>
          <a:prstGeom prst="rect">
            <a:avLst/>
          </a:prstGeom>
          <a:solidFill>
            <a:srgbClr val="1D2D3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72400" y="3520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Object Page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0" y="39776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Visão Geral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772400" y="4325112"/>
            <a:ext cx="1463040" cy="0"/>
          </a:xfrm>
          <a:prstGeom prst="line">
            <a:avLst/>
          </a:prstGeom>
          <a:noFill/>
          <a:ln w="25400">
            <a:solidFill>
              <a:srgbClr val="0070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72400" y="4480560"/>
            <a:ext cx="1752448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882128" y="4526280"/>
            <a:ext cx="1532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D2D3E"/>
                </a:solidFill>
              </a:rPr>
              <a:t>Dados da Viagem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7882128" y="4892040"/>
            <a:ext cx="1532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56B82"/>
                </a:solidFill>
              </a:rPr>
              <a:t>Travel ID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882128" y="5074920"/>
            <a:ext cx="1532992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882128" y="5349240"/>
            <a:ext cx="1532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56B82"/>
                </a:solidFill>
              </a:rPr>
              <a:t>Agency ID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882128" y="5532120"/>
            <a:ext cx="1532992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707728" y="4480560"/>
            <a:ext cx="1752448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817456" y="4526280"/>
            <a:ext cx="1532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D2D3E"/>
                </a:solidFill>
              </a:rPr>
              <a:t>Planejamento e Datas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9817456" y="4892040"/>
            <a:ext cx="1532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56B82"/>
                </a:solidFill>
              </a:rPr>
              <a:t>Begin Date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9817456" y="5074920"/>
            <a:ext cx="1532992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817456" y="5349240"/>
            <a:ext cx="1532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56B82"/>
                </a:solidFill>
              </a:rPr>
              <a:t>End Date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9817456" y="5532120"/>
            <a:ext cx="1532992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Glossário Técnico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O Kit de Ferramentas do Arquiteto Fiori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799832"/>
              </a:tblGrid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56B82"/>
                          </a:solidFill>
                        </a:rPr>
                        <a:t>Termo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56B82"/>
                          </a:solidFill>
                        </a:rPr>
                        <a:t>Definição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@UI.presentationVariant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D2D3E"/>
                          </a:solidFill>
                        </a:rPr>
                        <a:t>Define o estado inicial da tabela (ordenação, agrupamento). Essencial para UX.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#COLLECTION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D2D3E"/>
                          </a:solidFill>
                        </a:rPr>
                        <a:t>Faceta container estrutural que cria uma Seção (Aba) na Object Page.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#IDENTIFICATION_REFERENCE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D2D3E"/>
                          </a:solidFill>
                        </a:rPr>
                        <a:t>Faceta que renderiza o bloco de campos ‘padrão’ da entidade (anotados com </a:t>
                      </a:r>
                      <a:r>
                        <a:rPr lang="en-US" sz="14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@UI.identification</a:t>
                      </a:r>
                      <a:r>
                        <a:rPr lang="en-US" sz="1400" dirty="0">
                          <a:solidFill>
                            <a:srgbClr val="1D2D3E"/>
                          </a:solidFill>
                        </a:rPr>
                        <a:t>).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#FIELDGROUP_REFERENCE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D2D3E"/>
                          </a:solidFill>
                        </a:rPr>
                        <a:t>Faceta flexível que renderiza campos agrupados por um ‘qualifier’. Permite múltiplos blocos.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parentId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D2D3E"/>
                          </a:solidFill>
                        </a:rPr>
                        <a:t>Estabelece a hierarquia visual, aninhando um bloco dentro de uma Seção.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qualifier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D2D3E"/>
                          </a:solidFill>
                        </a:rPr>
                        <a:t>A ‘etiqueta’ que conecta um grupo de campos (</a:t>
                      </a:r>
                      <a:r>
                        <a:rPr lang="en-US" sz="14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@UI.fieldGroup</a:t>
                      </a:r>
                      <a:r>
                        <a:rPr lang="en-US" sz="1400" dirty="0">
                          <a:solidFill>
                            <a:srgbClr val="1D2D3E"/>
                          </a:solidFill>
                        </a:rPr>
                        <a:t>) a uma faceta específica (</a:t>
                      </a:r>
                      <a:r>
                        <a:rPr lang="en-US" sz="14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#FIELDGROUP_REFERENCE</a:t>
                      </a:r>
                      <a:r>
                        <a:rPr lang="en-US" sz="1400" dirty="0">
                          <a:solidFill>
                            <a:srgbClr val="1D2D3E"/>
                          </a:solidFill>
                        </a:rPr>
                        <a:t>).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DB1FF"/>
                </a:solidFill>
              </a:rPr>
              <a:t>Conclusão</a:t>
            </a: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Guia de Decisão: Identification vs. FieldGroup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468880" cy="640080"/>
          </a:xfrm>
          <a:prstGeom prst="roundRect">
            <a:avLst>
              <a:gd name="adj" fmla="val 11429"/>
            </a:avLst>
          </a:prstGeom>
          <a:solidFill>
            <a:srgbClr val="0070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7830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Critério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0" y="1783080"/>
            <a:ext cx="4069080" cy="640080"/>
          </a:xfrm>
          <a:prstGeom prst="roundRect">
            <a:avLst>
              <a:gd name="adj" fmla="val 11429"/>
            </a:avLst>
          </a:prstGeom>
          <a:solidFill>
            <a:srgbClr val="0070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383280" y="178308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#IDENTIFICATION_REFERENCE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452360" y="1783080"/>
            <a:ext cx="4187952" cy="640080"/>
          </a:xfrm>
          <a:prstGeom prst="roundRect">
            <a:avLst>
              <a:gd name="adj" fmla="val 11429"/>
            </a:avLst>
          </a:prstGeom>
          <a:solidFill>
            <a:srgbClr val="0070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635240" y="1783080"/>
            <a:ext cx="3822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#FIELDGROUP_REFERENCE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532888"/>
            <a:ext cx="2468880" cy="640080"/>
          </a:xfrm>
          <a:prstGeom prst="roundRect">
            <a:avLst>
              <a:gd name="adj" fmla="val 11429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253288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Quantidade de blocos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200400" y="2532888"/>
            <a:ext cx="4069080" cy="640080"/>
          </a:xfrm>
          <a:prstGeom prst="roundRect">
            <a:avLst>
              <a:gd name="adj" fmla="val 11429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383280" y="2532888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Apenas 1 bloco principal.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452360" y="2532888"/>
            <a:ext cx="4187952" cy="640080"/>
          </a:xfrm>
          <a:prstGeom prst="roundRect">
            <a:avLst>
              <a:gd name="adj" fmla="val 11429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635240" y="2532888"/>
            <a:ext cx="3822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Múltiplos blocos (2, 3, 10…).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3282696"/>
            <a:ext cx="2468880" cy="640080"/>
          </a:xfrm>
          <a:prstGeom prst="roundRect">
            <a:avLst>
              <a:gd name="adj" fmla="val 11429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3282696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Layout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200400" y="3282696"/>
            <a:ext cx="4069080" cy="640080"/>
          </a:xfrm>
          <a:prstGeom prst="roundRect">
            <a:avLst>
              <a:gd name="adj" fmla="val 11429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383280" y="3282696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Lista vertical única.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452360" y="3282696"/>
            <a:ext cx="4187952" cy="640080"/>
          </a:xfrm>
          <a:prstGeom prst="roundRect">
            <a:avLst>
              <a:gd name="adj" fmla="val 11429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635240" y="3282696"/>
            <a:ext cx="3822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Múltiplas colunas (lado a lado).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48640" y="4032504"/>
            <a:ext cx="2468880" cy="640080"/>
          </a:xfrm>
          <a:prstGeom prst="roundRect">
            <a:avLst>
              <a:gd name="adj" fmla="val 11429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" y="4032504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Semântica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3200400" y="4032504"/>
            <a:ext cx="4069080" cy="640080"/>
          </a:xfrm>
          <a:prstGeom prst="roundRect">
            <a:avLst>
              <a:gd name="adj" fmla="val 11429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383280" y="4032504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Dados de identificação geral.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452360" y="4032504"/>
            <a:ext cx="4187952" cy="640080"/>
          </a:xfrm>
          <a:prstGeom prst="roundRect">
            <a:avLst>
              <a:gd name="adj" fmla="val 11429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635240" y="4032504"/>
            <a:ext cx="3822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Dados temáticos (financeiro, logística, auditoria).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48640" y="4782312"/>
            <a:ext cx="2468880" cy="640080"/>
          </a:xfrm>
          <a:prstGeom prst="roundRect">
            <a:avLst>
              <a:gd name="adj" fmla="val 11429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31520" y="478231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Complexidade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3200400" y="4782312"/>
            <a:ext cx="4069080" cy="640080"/>
          </a:xfrm>
          <a:prstGeom prst="roundRect">
            <a:avLst>
              <a:gd name="adj" fmla="val 11429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383280" y="4782312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Baixa / rápida implementação.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7452360" y="4782312"/>
            <a:ext cx="4187952" cy="640080"/>
          </a:xfrm>
          <a:prstGeom prst="roundRect">
            <a:avLst>
              <a:gd name="adj" fmla="val 11429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635240" y="4782312"/>
            <a:ext cx="3822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Média / exige definição de qualifiers.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553212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9D3DE"/>
                </a:solidFill>
              </a:rPr>
              <a:t>Escolher a ferramenta certa não é apenas uma decisão técnica: é um passo fundamental na criação de uma experiência de usuário </a:t>
            </a:r>
            <a:r>
              <a:rPr lang="en-US" sz="1600" b="1" dirty="0">
                <a:solidFill>
                  <a:srgbClr val="C9D3DE"/>
                </a:solidFill>
              </a:rPr>
              <a:t>intuitiva e eficiente</a:t>
            </a:r>
            <a:r>
              <a:rPr lang="en-US" sz="1600" dirty="0">
                <a:solidFill>
                  <a:srgbClr val="C9D3DE"/>
                </a:solidFill>
              </a:rPr>
              <a:t>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396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P Horizon">
  <a:themeElements>
    <a:clrScheme name="SAP Horizon">
      <a:dk1>
        <a:srgbClr val="1D2D3E"/>
      </a:dk1>
      <a:lt1>
        <a:srgbClr val="FFFFFF"/>
      </a:lt1>
      <a:dk2>
        <a:srgbClr val="556B82"/>
      </a:dk2>
      <a:lt2>
        <a:srgbClr val="F5F6F7"/>
      </a:lt2>
      <a:accent1>
        <a:srgbClr val="0070F2"/>
      </a:accent1>
      <a:accent2>
        <a:srgbClr val="30914C"/>
      </a:accent2>
      <a:accent3>
        <a:srgbClr val="E76500"/>
      </a:accent3>
      <a:accent4>
        <a:srgbClr val="D20A0A"/>
      </a:accent4>
      <a:accent5>
        <a:srgbClr val="7858FF"/>
      </a:accent5>
      <a:accent6>
        <a:srgbClr val="07838F"/>
      </a:accent6>
      <a:hlink>
        <a:srgbClr val="0064D9"/>
      </a:hlink>
      <a:folHlink>
        <a:srgbClr val="5D36FF"/>
      </a:folHlink>
    </a:clrScheme>
    <a:fontScheme name="SAP Horizon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Fiori Elements: Do Rascunho à Obra-Prima</dc:title>
  <dc:subject>ABAP Moderno – Módulo 03</dc:subject>
  <dc:creator>Adriano Bispo</dc:creator>
  <cp:lastModifiedBy>Adriano Bispo</cp:lastModifiedBy>
  <cp:revision>1</cp:revision>
  <dcterms:created xsi:type="dcterms:W3CDTF">2026-10-25T15:38:14Z</dcterms:created>
  <dcterms:modified xsi:type="dcterms:W3CDTF">2026-10-25T15:38:14Z</dcterms:modified>
</cp:coreProperties>
</file>