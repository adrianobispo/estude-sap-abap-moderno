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Modelagem de Dados com Dicionário e CDS  ·  Aula 6 de 7 — Code pushdown em CDS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Modelagem de Dados com Dicionário e CDS  ·  Aula 6 de 7 — Code pushdown em CDS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06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Code pushdown em CDS views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Expressões SQL, funções embutidas, variáveis de sessão, parâmetros de entrada, agregações, joins e unions dentro das views.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6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08044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008044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levamos para a view de funcionários os cálculos que antes ficavam no ABAP: nomes, conversão de salário, tempo de casa e totais.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SELECT no ABAP para a definição da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94637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894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Cálculo no ABAP SQL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consumidor.abap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/dmo/flight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seats_max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seats_occupied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seats_free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lógica fica presa a um programa: cada consumidor reescreve o cálculo.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894637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894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Cálculo na CDS 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zs4d430_c_flight.ddls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ZS4D430_C_Flight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/dmo/flight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seats_max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seats_occupied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SeatsFree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quem lê a view,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SeatsFree</a:t>
            </a:r>
            <a:r>
              <a:rPr lang="en-US" sz="1200" dirty="0">
                <a:solidFill>
                  <a:srgbClr val="556B82"/>
                </a:solidFill>
              </a:rPr>
              <a:t> é um elemento como outro qualquer. A lógica ganha </a:t>
            </a:r>
            <a:r>
              <a:rPr lang="en-US" sz="1200" b="1" dirty="0">
                <a:solidFill>
                  <a:srgbClr val="556B82"/>
                </a:solidFill>
              </a:rPr>
              <a:t>encapsulamento</a:t>
            </a:r>
            <a:r>
              <a:rPr lang="en-US" sz="1200" dirty="0">
                <a:solidFill>
                  <a:srgbClr val="556B82"/>
                </a:solidFill>
              </a:rPr>
              <a:t>, </a:t>
            </a:r>
            <a:r>
              <a:rPr lang="en-US" sz="1200" b="1" dirty="0">
                <a:solidFill>
                  <a:srgbClr val="556B82"/>
                </a:solidFill>
              </a:rPr>
              <a:t>reuso</a:t>
            </a:r>
            <a:r>
              <a:rPr lang="en-US" sz="1200" dirty="0">
                <a:solidFill>
                  <a:srgbClr val="556B82"/>
                </a:solidFill>
              </a:rPr>
              <a:t>, </a:t>
            </a:r>
            <a:r>
              <a:rPr lang="en-US" sz="1200" b="1" dirty="0">
                <a:solidFill>
                  <a:srgbClr val="556B82"/>
                </a:solidFill>
              </a:rPr>
              <a:t>semântica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b="1" dirty="0">
                <a:solidFill>
                  <a:srgbClr val="556B82"/>
                </a:solidFill>
              </a:rPr>
              <a:t>autorização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02.06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Expressões SQL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Quase todas as expressões do ABAP SQL existem em CDS: </a:t>
            </a:r>
            <a:r>
              <a:rPr lang="en-US" sz="1600" b="1" dirty="0">
                <a:solidFill>
                  <a:srgbClr val="D1EFFF"/>
                </a:solidFill>
              </a:rPr>
              <a:t>aritmética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CASE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CAST</a:t>
            </a:r>
            <a:r>
              <a:rPr lang="en-US" sz="1600" dirty="0">
                <a:solidFill>
                  <a:srgbClr val="D1EFFF"/>
                </a:solidFill>
              </a:rPr>
              <a:t> e literais com mais tipos.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</a:t>
            </a:r>
            <a:r>
              <a:rPr lang="en-US" sz="1000" dirty="0">
                <a:solidFill>
                  <a:srgbClr val="D1EFFF"/>
                </a:solidFill>
              </a:rPr>
              <a:t>  aritmética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… when</a:t>
            </a:r>
            <a:r>
              <a:rPr lang="en-US" sz="1000" dirty="0">
                <a:solidFill>
                  <a:srgbClr val="D1EFFF"/>
                </a:solidFill>
              </a:rPr>
              <a:t>  condições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cast( … as abap.… )</a:t>
            </a:r>
            <a:r>
              <a:rPr lang="en-US" sz="1000" dirty="0">
                <a:solidFill>
                  <a:srgbClr val="D1EFFF"/>
                </a:solidFill>
              </a:rPr>
              <a:t>  conversão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literais</a:t>
            </a:r>
            <a:r>
              <a:rPr lang="en-US" sz="1000" dirty="0">
                <a:solidFill>
                  <a:srgbClr val="D1EFFF"/>
                </a:solidFill>
              </a:rPr>
              <a:t>  INT1 · NUMC · FLTP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Aritmética, CASE e CAST na lista de elementos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08610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08610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903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zs4d430_c_employeequery.ddls.asddls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ZS4D430_C_EmployeeQuery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ZS4D430_R_Employee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SalaryBand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Aritmética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Operações sobre campos da fonte; o resultado vira um elemento da view.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Forma simples (por valor) ou complexa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556B82"/>
                </a:solidFill>
              </a:rPr>
              <a:t> com condições).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 de destino com o prefixo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</a:t>
            </a:r>
            <a:r>
              <a:rPr lang="en-US" sz="1050" dirty="0">
                <a:solidFill>
                  <a:srgbClr val="556B82"/>
                </a:solidFill>
              </a:rPr>
              <a:t>; nem toda combinação é permitida.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Literais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CDS escolhe o menor tipo: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r>
              <a:rPr lang="en-US" sz="1050" dirty="0">
                <a:solidFill>
                  <a:srgbClr val="556B82"/>
                </a:solidFill>
              </a:rPr>
              <a:t> é INT1,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'0042'</a:t>
            </a:r>
            <a:r>
              <a:rPr lang="en-US" sz="1050" dirty="0">
                <a:solidFill>
                  <a:srgbClr val="556B82"/>
                </a:solidFill>
              </a:rPr>
              <a:t> é NUMC,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r>
              <a:rPr lang="en-US" sz="1050" dirty="0">
                <a:solidFill>
                  <a:srgbClr val="556B82"/>
                </a:solidFill>
              </a:rPr>
              <a:t> é FLTP.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02.06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Funções embutidas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Funções numéricas, de texto, de data e de conversão também existem em CDS, com algumas </a:t>
            </a:r>
            <a:r>
              <a:rPr lang="en-US" sz="1600" b="1" dirty="0">
                <a:solidFill>
                  <a:srgbClr val="D1EFFF"/>
                </a:solidFill>
              </a:rPr>
              <a:t>diferenças de sintaxe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concat_with_space( )</a:t>
            </a:r>
            <a:r>
              <a:rPr lang="en-US" sz="1000" dirty="0">
                <a:solidFill>
                  <a:srgbClr val="D1EFFF"/>
                </a:solidFill>
              </a:rPr>
              <a:t>  texto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dats_days_between( )</a:t>
            </a:r>
            <a:r>
              <a:rPr lang="en-US" sz="1000" dirty="0">
                <a:solidFill>
                  <a:srgbClr val="D1EFFF"/>
                </a:solidFill>
              </a:rPr>
              <a:t>  datas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currency_conversion( )</a:t>
            </a:r>
            <a:r>
              <a:rPr lang="en-US" sz="1000" dirty="0">
                <a:solidFill>
                  <a:srgbClr val="D1EFFF"/>
                </a:solidFill>
              </a:rPr>
              <a:t>  moeda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$session.…</a:t>
            </a:r>
            <a:r>
              <a:rPr lang="en-US" sz="1000" dirty="0">
                <a:solidFill>
                  <a:srgbClr val="D1EFFF"/>
                </a:solidFill>
              </a:rPr>
              <a:t>  variáveis de sessão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FUNÇÕES · ABAP SQL X CDS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muda entre ABAP SQL e ABAP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52928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4057536"/>
                <a:gridCol w="4057536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Área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 SQL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 CDS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Numéricas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Todas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Todas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Todas, inclusive com regex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Quase todas; regex só no ABAP SQL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e hora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Genéricas: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add_days( )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days_between(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Específicas: </a:t>
                      </a:r>
                      <a:r>
                        <a:rPr lang="en-US" sz="1100" dirty="0">
                          <a:solidFill>
                            <a:srgbClr val="B44F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dats_add_days( )</a:t>
                      </a: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B44F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tstmp_…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Extração de data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extract_month( )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weekday(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Não suportadas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Parâmetros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Nomeados, alguns opcionais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Posicionais e todos obrigatórios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817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8172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Referência  </a:t>
            </a:r>
            <a:r>
              <a:rPr lang="en-US" sz="1200" dirty="0">
                <a:solidFill>
                  <a:srgbClr val="1D2D3E"/>
                </a:solidFill>
              </a:rPr>
              <a:t>a lista completa de funções por contexto está na ABAP Keyword Documentation (</a:t>
            </a:r>
            <a:r>
              <a:rPr lang="en-US" sz="1200" i="1" dirty="0">
                <a:solidFill>
                  <a:srgbClr val="1D2D3E"/>
                </a:solidFill>
              </a:rPr>
              <a:t>CDS DDL – CDS View Entity, Built-In Functions</a:t>
            </a:r>
            <a:r>
              <a:rPr lang="en-US" sz="1200" dirty="0">
                <a:solidFill>
                  <a:srgbClr val="1D2D3E"/>
                </a:solidFill>
              </a:rPr>
              <a:t>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0974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FUNÇÕES · EXEMPLOS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Texto, datas, moeda e variáveis de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08610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08610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903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zs4d430_c_employeequery.ddls.asddls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DaysInCompany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'TargetCurrency'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currency_conversion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$projection.TargetCurrency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exchange_rate_date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$session.system_date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SalaryConverted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'EUR'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cuky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TargetCurrency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Junta textos com um número fixo de espaços.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dats_…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 específicas do tipo de data, como diferença em dias.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currency_conversion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Conversão com taxa de câmbio; o resultado também precisa da moeda.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system_date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system_language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556B82"/>
                </a:solidFill>
              </a:rPr>
              <a:t>…; definidos só quando quem lê é o ABAP.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FF8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Prefira parâmetros  </a:t>
            </a:r>
            <a:r>
              <a:rPr lang="en-US" sz="1200" dirty="0">
                <a:solidFill>
                  <a:srgbClr val="1D2D3E"/>
                </a:solidFill>
              </a:rPr>
              <a:t>fora do ABAP as variáveis de sessão ficam indefinidas; para valores do sistema, parâmetros de entrada são mais seguros.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02.06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Parâmetros de entrada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parâmetro de entrada</a:t>
            </a:r>
            <a:r>
              <a:rPr lang="en-US" sz="1600" dirty="0">
                <a:solidFill>
                  <a:srgbClr val="D1EFFF"/>
                </a:solidFill>
              </a:rPr>
              <a:t> obriga o consumidor a informar um valor que a view usa nos cálculos, filtros ou textos.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parameters</a:t>
            </a:r>
            <a:r>
              <a:rPr lang="en-US" sz="1000" dirty="0">
                <a:solidFill>
                  <a:srgbClr val="D1EFFF"/>
                </a:solidFill>
              </a:rPr>
              <a:t>  declaração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</a:t>
            </a:r>
            <a:r>
              <a:rPr lang="en-US" sz="1000" dirty="0">
                <a:solidFill>
                  <a:srgbClr val="D1EFFF"/>
                </a:solidFill>
              </a:rPr>
              <a:t>  uso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valor</a:t>
            </a:r>
            <a:r>
              <a:rPr lang="en-US" sz="1000" dirty="0">
                <a:solidFill>
                  <a:srgbClr val="D1EFFF"/>
                </a:solidFill>
              </a:rPr>
              <a:t>  em CDS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@valor</a:t>
            </a:r>
            <a:r>
              <a:rPr lang="en-US" sz="1000" dirty="0">
                <a:solidFill>
                  <a:srgbClr val="D1EFFF"/>
                </a:solidFill>
              </a:rPr>
              <a:t>  em ABAP SQL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PARÂMETROS · DECLARAR E USAR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view que exige a moeda de destino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08610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08610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903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zs4d430_c_employeeparam.ddls.asddls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ZS4D430_C_EmployeeParam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p_target_currency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/dmo/currency_code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ZS4D430_R_Employee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'TargetCurrency'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currency_conversion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$parameters.p_target_currency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exchange_rate_date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$parameters.p_date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AnnualSalaryConverted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$parameters.p_target_currency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TargetCurrency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$parameters.p_date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Tipos elementares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 embutido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abap.…</a:t>
            </a:r>
            <a:r>
              <a:rPr lang="en-US" sz="1050" dirty="0">
                <a:solidFill>
                  <a:srgbClr val="556B82"/>
                </a:solidFill>
              </a:rPr>
              <a:t> ou data element; nada de estruturas ou tabelas.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326136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3261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24307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Na lista de elementos,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556B82"/>
                </a:solidFill>
              </a:rPr>
              <a:t>, funções,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556B82"/>
                </a:solidFill>
              </a:rPr>
              <a:t> e filtros de path.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6482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648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62991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Seleção obrigatória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Diferente de um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556B82"/>
                </a:solidFill>
              </a:rPr>
              <a:t> do consumidor, o parâmetro não pode faltar.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PARÂMETROS · CONSUMIR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Passando parâmetros em CDS e em ABAP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3837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538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Em outra view (dois-pontos)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zs4d430_c_report.ddls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ZS4D430_C_Report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ZS4D430_C_EmployeeParam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p_target_currency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'EUR'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$parameters.p_date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Repassar o parâmetro para a view de baixo é comum em pilhas de views.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618842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2618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No ABAP SQL (sinal de igual)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zcl_report.clas.abap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zs4d430_c_employeeparam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p_target_currency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'USD'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AnnualSalaryConverted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TargetCurrency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Data Preview, o ADT pede os valores obrigatórios (marcados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556B82"/>
                </a:solidFill>
              </a:rPr>
              <a:t>) antes de mostrar o resultado.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02.06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Processando conjuntos de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Agregações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joins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unions</a:t>
            </a:r>
            <a:r>
              <a:rPr lang="en-US" sz="1600" dirty="0">
                <a:solidFill>
                  <a:srgbClr val="D1EFFF"/>
                </a:solidFill>
              </a:rPr>
              <a:t> também existem em CDS, com pequenas diferenças.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600" dirty="0">
                <a:solidFill>
                  <a:srgbClr val="D1EFFF"/>
                </a:solidFill>
              </a:rPr>
              <a:t> não existe em views.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· sum · avg</a:t>
            </a:r>
            <a:r>
              <a:rPr lang="en-US" sz="1000" dirty="0">
                <a:solidFill>
                  <a:srgbClr val="D1EFFF"/>
                </a:solidFill>
              </a:rPr>
              <a:t>  agregação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000" dirty="0">
                <a:solidFill>
                  <a:srgbClr val="D1EFFF"/>
                </a:solidFill>
              </a:rPr>
              <a:t>  grupos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· left outer join</a:t>
            </a:r>
            <a:r>
              <a:rPr lang="en-US" sz="1000" dirty="0">
                <a:solidFill>
                  <a:srgbClr val="D1EFFF"/>
                </a:solidFill>
              </a:rPr>
              <a:t>  joins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lang="en-US" sz="1000" dirty="0">
                <a:solidFill>
                  <a:srgbClr val="D1EFFF"/>
                </a:solidFill>
              </a:rPr>
              <a:t>  unir resultados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CONJUNTOS · AGREGAÇÕES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Totais por departamento com GROUP BY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77520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77520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92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zs4d430_c_depsalary.ddls.asddls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Core Data Services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ZS4D430_C_DepSalary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ZS4D430_R_Employee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AnnualSalary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AverageSalary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 todos os campos que aparecem fora das agregações.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3017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999232"/>
            <a:ext cx="3367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 … as …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 CDS, o tipo do resultado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50" dirty="0">
                <a:solidFill>
                  <a:srgbClr val="556B82"/>
                </a:solidFill>
              </a:rPr>
              <a:t> é obrigatório.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160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142232"/>
            <a:ext cx="3367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editor gera e atualiza a cláusula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050" dirty="0">
                <a:solidFill>
                  <a:srgbClr val="556B82"/>
                </a:solidFill>
              </a:rPr>
              <a:t> para você.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Sem ORDER BY  </a:t>
            </a:r>
            <a:r>
              <a:rPr lang="en-US" sz="1200" dirty="0">
                <a:solidFill>
                  <a:srgbClr val="1D2D3E"/>
                </a:solidFill>
              </a:rPr>
              <a:t>views não ordenam: a ordem é responsabilidade de quem lê.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1D2D3E"/>
                </a:solidFill>
              </a:rPr>
              <a:t> existe, logo após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CONJUNTOS · JOINS E UNIONS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Combinando fontes dentro da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145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1451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3577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73577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Join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7585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Mesmos tipos do ABAP SQL: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outer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Campos sempre qualificados pela fonte, com ponto: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Employee.LastName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Para relações reutilizáveis, prefira </a:t>
            </a: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r>
              <a:rPr lang="en-US" sz="1350" dirty="0">
                <a:solidFill>
                  <a:srgbClr val="1D2D3E"/>
                </a:solidFill>
              </a:rPr>
              <a:t> (aula 02.05)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6145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61451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73577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73577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Union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7585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Une as linhas de vários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1D2D3E"/>
                </a:solidFill>
              </a:rPr>
              <a:t> em um só resultado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Os ramos precisam de elementos compatíveis em nome, tipo e ordem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 chave e as anotações seguem regras especiais definidas no primeiro ramo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836354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836354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Levar cálculos para a view traz </a:t>
            </a:r>
            <a:r>
              <a:rPr lang="en-US" sz="1400" b="1" dirty="0">
                <a:solidFill>
                  <a:srgbClr val="FFFFFF"/>
                </a:solidFill>
              </a:rPr>
              <a:t>encapsulamento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reuso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semântica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autorização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Expressões </a:t>
            </a:r>
            <a:r>
              <a:rPr lang="en-US" sz="1400" b="1" dirty="0">
                <a:solidFill>
                  <a:srgbClr val="FFFFFF"/>
                </a:solidFill>
              </a:rPr>
              <a:t>aritméticas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case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cast</a:t>
            </a:r>
            <a:r>
              <a:rPr lang="en-US" sz="1400" dirty="0">
                <a:solidFill>
                  <a:srgbClr val="FFFFFF"/>
                </a:solidFill>
              </a:rPr>
              <a:t> funcionam em CDS como no ABAP 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Funções de data em CDS são específicas por tipo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dats_…</a:t>
            </a:r>
            <a:r>
              <a:rPr lang="en-US" sz="1400" dirty="0">
                <a:solidFill>
                  <a:srgbClr val="FFFFFF"/>
                </a:solidFill>
              </a:rPr>
              <a:t>); parâmetros são posicionais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</a:t>
            </a:r>
            <a:r>
              <a:rPr lang="en-US" sz="1400" dirty="0">
                <a:solidFill>
                  <a:srgbClr val="FFFFFF"/>
                </a:solidFill>
              </a:rPr>
              <a:t> dá acesso a data, idioma e usuário, mas só quando o ABAP lê a 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Parâmetros de entrada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parameters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$parameters.</a:t>
            </a:r>
            <a:r>
              <a:rPr lang="en-US" sz="1400" dirty="0">
                <a:solidFill>
                  <a:srgbClr val="FFFFFF"/>
                </a:solidFill>
              </a:rPr>
              <a:t> tornam valores obrigatórios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Agregações</a:t>
            </a:r>
            <a:r>
              <a:rPr lang="en-US" sz="1400" dirty="0">
                <a:solidFill>
                  <a:srgbClr val="FFFFFF"/>
                </a:solidFill>
              </a:rPr>
              <a:t> exigem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400" dirty="0">
                <a:solidFill>
                  <a:srgbClr val="FFFFFF"/>
                </a:solidFill>
              </a:rPr>
              <a:t>; joins e unions também existem;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400" dirty="0">
                <a:solidFill>
                  <a:srgbClr val="FFFFFF"/>
                </a:solidFill>
              </a:rPr>
              <a:t> não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02.07  </a:t>
            </a:r>
            <a:r>
              <a:rPr lang="en-US" sz="1500" dirty="0">
                <a:solidFill>
                  <a:srgbClr val="FFFFFF"/>
                </a:solidFill>
              </a:rPr>
              <a:t>Meta objetos: DCL, extensões e metadata extensions.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02.06 Code pushdown em CDS views</dc:title>
  <dc:subject>ABAP Moderno – Módulo 02: Modelagem de Dados com Dicionário e CDS</dc:subject>
  <dc:creator>Adriano Bispo</dc:creator>
  <cp:lastModifiedBy>Adriano Bispo</cp:lastModifiedBy>
  <cp:revision>1</cp:revision>
  <dcterms:created xsi:type="dcterms:W3CDTF">2026-10-29T01:05:20Z</dcterms:created>
  <dcterms:modified xsi:type="dcterms:W3CDTF">2026-10-29T01:05:20Z</dcterms:modified>
</cp:coreProperties>
</file>