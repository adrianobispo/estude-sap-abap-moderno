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SAP Fiori Elements com OData V4  ·  Aula 9 de 11 — Object Page avançada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SAP Fiori Elements com OData V4  ·  Aula 9 de 11 — Object Page avançada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AULA 09 DE 11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Object Page avançada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Header com data points, tabela filha de bookings, a subobject page configurada e comportamento dinâmico com feature control.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48729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790709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094124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397538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9700953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04367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307782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11196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14611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1802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9 de 11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SAP Fiori Elements com OData V4 · Design System SAP Horizon</a:t>
            </a:r>
            <a:endParaRPr lang="en-US" sz="11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03 em 11 aulas: Fiori Elements com OData V4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Fiori Elements e OData V4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Apps guiados por metadados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8189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278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9278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592781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Exposição de serviços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592781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Service definition e service binding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0773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7233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7233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447233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Anotações de UI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47233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headerInfo, lineItem, selectionField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8728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635188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SAP Fiori Tools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35188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Gerador, Page Map e Guided Development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66837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3142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3142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8231429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Floorplans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231429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 Report, Object Page e facetas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946386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11097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11097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10110978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List Report e Object Page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10110978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Ordenação, seções e field groups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Tabelas: cores e ações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Criticality, ações e importância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28189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59278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59278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2" name="Text 40"/>
          <p:cNvSpPr txBox="1"/>
          <p:nvPr/>
        </p:nvSpPr>
        <p:spPr>
          <a:xfrm>
            <a:off x="2592781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Navegação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2592781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Interna, externa e baseada em intenção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30773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472330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47233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9</a:t>
            </a:r>
            <a:endParaRPr lang="en-US" sz="1260" dirty="0"/>
          </a:p>
        </p:txBody>
      </p:sp>
      <p:sp>
        <p:nvSpPr>
          <p:cNvPr id="47" name="Text 45"/>
          <p:cNvSpPr txBox="1"/>
          <p:nvPr/>
        </p:nvSpPr>
        <p:spPr>
          <a:xfrm>
            <a:off x="447233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Object Page avançada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4472330" y="4864608"/>
            <a:ext cx="1367485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72330" y="4864608"/>
            <a:ext cx="136748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18728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10</a:t>
            </a:r>
            <a:endParaRPr lang="en-US" sz="1260" dirty="0"/>
          </a:p>
        </p:txBody>
      </p:sp>
      <p:sp>
        <p:nvSpPr>
          <p:cNvPr id="53" name="Text 51"/>
          <p:cNvSpPr txBox="1"/>
          <p:nvPr/>
        </p:nvSpPr>
        <p:spPr>
          <a:xfrm>
            <a:off x="635188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Programação flexível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635188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Flexible Programming Model e building blocks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066837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3142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23142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11</a:t>
            </a:r>
            <a:endParaRPr lang="en-US" sz="1260" dirty="0"/>
          </a:p>
        </p:txBody>
      </p:sp>
      <p:sp>
        <p:nvSpPr>
          <p:cNvPr id="58" name="Text 56"/>
          <p:cNvSpPr txBox="1"/>
          <p:nvPr/>
        </p:nvSpPr>
        <p:spPr>
          <a:xfrm>
            <a:off x="8231429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Deploy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8231429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Publicação, launchpad e acesso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deixamos a Object Page da viagem rica: KPIs no header, bookings em tabela e botões que reagem ao status.</a:t>
            </a:r>
            <a:endParaRPr lang="en-US" sz="1400" dirty="0"/>
          </a:p>
        </p:txBody>
      </p:sp>
      <p:pic>
        <p:nvPicPr>
          <p:cNvPr id="6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669" y="1847088"/>
            <a:ext cx="347472" cy="347472"/>
          </a:xfrm>
          <a:prstGeom prst="rect">
            <a:avLst/>
          </a:prstGeom>
        </p:spPr>
      </p:pic>
      <p:pic>
        <p:nvPicPr>
          <p:cNvPr id="6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218" y="1847088"/>
            <a:ext cx="347472" cy="347472"/>
          </a:xfrm>
          <a:prstGeom prst="rect">
            <a:avLst/>
          </a:prstGeom>
        </p:spPr>
      </p:pic>
      <p:pic>
        <p:nvPicPr>
          <p:cNvPr id="6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317" y="1847088"/>
            <a:ext cx="347472" cy="347472"/>
          </a:xfrm>
          <a:prstGeom prst="rect">
            <a:avLst/>
          </a:prstGeom>
        </p:spPr>
      </p:pic>
      <p:pic>
        <p:nvPicPr>
          <p:cNvPr id="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6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4866" y="1847088"/>
            <a:ext cx="347472" cy="347472"/>
          </a:xfrm>
          <a:prstGeom prst="rect">
            <a:avLst/>
          </a:prstGeom>
        </p:spPr>
      </p:pic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6669" y="3858768"/>
            <a:ext cx="347472" cy="347472"/>
          </a:xfrm>
          <a:prstGeom prst="rect">
            <a:avLst/>
          </a:prstGeom>
        </p:spPr>
      </p:pic>
      <p:pic>
        <p:nvPicPr>
          <p:cNvPr id="6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6218" y="3858768"/>
            <a:ext cx="347472" cy="347472"/>
          </a:xfrm>
          <a:prstGeom prst="rect">
            <a:avLst/>
          </a:prstGeom>
        </p:spPr>
      </p:pic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7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5317" y="3858768"/>
            <a:ext cx="347472" cy="347472"/>
          </a:xfrm>
          <a:prstGeom prst="rect">
            <a:avLst/>
          </a:prstGeom>
        </p:spPr>
      </p:pic>
      <p:pic>
        <p:nvPicPr>
          <p:cNvPr id="7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4866" y="3858768"/>
            <a:ext cx="347472" cy="347472"/>
          </a:xfrm>
          <a:prstGeom prst="rect">
            <a:avLst/>
          </a:prstGeom>
        </p:spPr>
      </p:pic>
      <p:pic>
        <p:nvPicPr>
          <p:cNvPr id="7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Da página simples à página completa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Uma Object Page boa mostra </a:t>
            </a:r>
            <a:r>
              <a:rPr lang="en-US" sz="1500" b="1" dirty="0">
                <a:solidFill>
                  <a:srgbClr val="556B82"/>
                </a:solidFill>
              </a:rPr>
              <a:t>o essencial no topo</a:t>
            </a:r>
            <a:r>
              <a:rPr lang="en-US" sz="1500" dirty="0">
                <a:solidFill>
                  <a:srgbClr val="556B82"/>
                </a:solidFill>
              </a:rPr>
              <a:t>, os </a:t>
            </a:r>
            <a:r>
              <a:rPr lang="en-US" sz="1500" b="1" dirty="0">
                <a:solidFill>
                  <a:srgbClr val="556B82"/>
                </a:solidFill>
              </a:rPr>
              <a:t>filhos em tabela</a:t>
            </a:r>
            <a:r>
              <a:rPr lang="en-US" sz="1500" dirty="0">
                <a:solidFill>
                  <a:srgbClr val="556B82"/>
                </a:solidFill>
              </a:rPr>
              <a:t> e </a:t>
            </a:r>
            <a:r>
              <a:rPr lang="en-US" sz="1500" b="1" dirty="0">
                <a:solidFill>
                  <a:srgbClr val="556B82"/>
                </a:solidFill>
              </a:rPr>
              <a:t>só as ações possíveis</a:t>
            </a:r>
            <a:r>
              <a:rPr lang="en-US" sz="1500" dirty="0">
                <a:solidFill>
                  <a:srgbClr val="556B82"/>
                </a:solidFill>
              </a:rPr>
              <a:t> naquele momento.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223514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42468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4028186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Header facets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Preço total e status em destaque, com cor.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978" y="3223514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4146" y="342468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4146" y="4028186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Tabelas filhas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Bookings da viagem, com navegação para o detalhe.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3223514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98485" y="342468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8485" y="4028186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Comportamento dinâmico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Ações e campos habilitados conforme os dados.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525266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069" y="3525266"/>
            <a:ext cx="256032" cy="256032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730" y="352526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03.09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Header facets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</a:t>
            </a:r>
            <a:r>
              <a:rPr lang="en-US" sz="1600" b="1" dirty="0">
                <a:solidFill>
                  <a:srgbClr val="D1EFFF"/>
                </a:solidFill>
              </a:rPr>
              <a:t>data point</a:t>
            </a:r>
            <a:r>
              <a:rPr lang="en-US" sz="1600" dirty="0">
                <a:solidFill>
                  <a:srgbClr val="D1EFFF"/>
                </a:solidFill>
              </a:rPr>
              <a:t> destaca um valor; uma faceta com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purpose: #HEADER</a:t>
            </a:r>
            <a:r>
              <a:rPr lang="en-US" sz="1600" dirty="0">
                <a:solidFill>
                  <a:srgbClr val="D1EFFF"/>
                </a:solidFill>
              </a:rPr>
              <a:t> o coloca no header da Object Page.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@UI.dataPoint</a:t>
            </a:r>
            <a:r>
              <a:rPr lang="en-US" sz="1000" dirty="0">
                <a:solidFill>
                  <a:srgbClr val="D1EFFF"/>
                </a:solidFill>
              </a:rPr>
              <a:t>  valor em destaque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r>
              <a:rPr lang="en-US" sz="1000" dirty="0">
                <a:solidFill>
                  <a:srgbClr val="D1EFFF"/>
                </a:solidFill>
              </a:rPr>
              <a:t>  nome do data point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#DATAPOINT_REFERENCE</a:t>
            </a:r>
            <a:r>
              <a:rPr lang="en-US" sz="1000" dirty="0">
                <a:solidFill>
                  <a:srgbClr val="D1EFFF"/>
                </a:solidFill>
              </a:rPr>
              <a:t>  faceta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000" dirty="0">
                <a:solidFill>
                  <a:srgbClr val="D1EFFF"/>
                </a:solidFill>
              </a:rPr>
              <a:t>  cor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HEADER · EXERCÍCIO DO CURSO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Preço e status no header da viagem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zc_fe_travel_######.ddlx.asddlxs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ZFE_TRAVEL_###### › Metadata Extensions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DATAPOINT_REFERENCE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'PriceData'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DATAPOINT_REFERENCE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'StatusData'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dataPoint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'PriceData'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 Price'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TotalPrice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dataPoint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'StatusData'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'OverallStatusCriticality'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OverallStatus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purpose: #HEADER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faceta vai para o header content, não para o corpo.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#DATAPOINT_REFERENCE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Referencia um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@UI.dataPoint</a:t>
            </a:r>
            <a:r>
              <a:rPr lang="en-US" sz="1050" dirty="0">
                <a:solidFill>
                  <a:srgbClr val="556B82"/>
                </a:solidFill>
              </a:rPr>
              <a:t> pelo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Rótulo exibido acima do valor no header.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mesmo campo 0–3 da tabela colore o status.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HEADER · SUBOBJECT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Configurando o header do Booking no Page Editor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2656332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Título</a:t>
            </a:r>
            <a:endParaRPr lang="en-US" sz="1400" dirty="0"/>
          </a:p>
          <a:p>
            <a:pPr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Booking ID</a:t>
            </a:r>
            <a:r>
              <a:rPr lang="en-US" sz="1150" dirty="0">
                <a:solidFill>
                  <a:srgbClr val="556B82"/>
                </a:solidFill>
              </a:rPr>
              <a:t> como título e </a:t>
            </a:r>
            <a:r>
              <a:rPr lang="en-US" sz="1150" i="1" dirty="0">
                <a:solidFill>
                  <a:srgbClr val="556B82"/>
                </a:solidFill>
              </a:rPr>
              <a:t>Booking</a:t>
            </a:r>
            <a:r>
              <a:rPr lang="en-US" sz="1150" dirty="0">
                <a:solidFill>
                  <a:srgbClr val="556B82"/>
                </a:solidFill>
              </a:rPr>
              <a:t> como type name.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Imagem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logo da companhia aérea ao lado do título.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Data points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Companhia, partida, aeroporto de origem, chegada e destino.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Conferir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editor gera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UI.HeaderInfo</a:t>
            </a:r>
            <a:r>
              <a:rPr lang="en-US" sz="1150" dirty="0">
                <a:solidFill>
                  <a:srgbClr val="556B82"/>
                </a:solidFill>
              </a:rPr>
              <a:t>,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UI.HeaderFacets</a:t>
            </a:r>
            <a:r>
              <a:rPr lang="en-US" sz="1150" dirty="0">
                <a:solidFill>
                  <a:srgbClr val="556B82"/>
                </a:solidFill>
              </a:rPr>
              <a:t> e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UI.DataPoint</a:t>
            </a:r>
            <a:r>
              <a:rPr lang="en-US" sz="1150" dirty="0">
                <a:solidFill>
                  <a:srgbClr val="556B82"/>
                </a:solidFill>
              </a:rPr>
              <a:t> locais.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423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07008" y="49423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Duas vias  </a:t>
            </a:r>
            <a:r>
              <a:rPr lang="en-US" sz="1200" dirty="0">
                <a:solidFill>
                  <a:srgbClr val="1D2D3E"/>
                </a:solidFill>
              </a:rPr>
              <a:t>o mesmo resultado sai com anotações CDS no back-end, como no slide anterior.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0703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03.09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Tabelas filhas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faceta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#LINEITEM_REFERENCE</a:t>
            </a:r>
            <a:r>
              <a:rPr lang="en-US" sz="1600" dirty="0">
                <a:solidFill>
                  <a:srgbClr val="D1EFFF"/>
                </a:solidFill>
              </a:rPr>
              <a:t> mostra o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600" dirty="0">
                <a:solidFill>
                  <a:srgbClr val="D1EFFF"/>
                </a:solidFill>
              </a:rPr>
              <a:t> da </a:t>
            </a:r>
            <a:r>
              <a:rPr lang="en-US" sz="1600" b="1" dirty="0">
                <a:solidFill>
                  <a:srgbClr val="D1EFFF"/>
                </a:solidFill>
              </a:rPr>
              <a:t>entidade filha</a:t>
            </a:r>
            <a:r>
              <a:rPr lang="en-US" sz="1600" dirty="0">
                <a:solidFill>
                  <a:srgbClr val="D1EFFF"/>
                </a:solidFill>
              </a:rPr>
              <a:t>, alcançada por uma associação.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#LINEITEM_REFERENCE</a:t>
            </a:r>
            <a:r>
              <a:rPr lang="en-US" sz="1000" dirty="0">
                <a:solidFill>
                  <a:srgbClr val="D1EFFF"/>
                </a:solidFill>
              </a:rPr>
              <a:t>  seção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r>
              <a:rPr lang="en-US" sz="1000" dirty="0">
                <a:solidFill>
                  <a:srgbClr val="D1EFFF"/>
                </a:solidFill>
              </a:rPr>
              <a:t>  _Booking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 do Booking</a:t>
            </a:r>
            <a:r>
              <a:rPr lang="en-US" sz="1000" dirty="0">
                <a:solidFill>
                  <a:srgbClr val="D1EFFF"/>
                </a:solidFill>
              </a:rPr>
              <a:t>  colunas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 e logo</a:t>
            </a:r>
            <a:r>
              <a:rPr lang="en-US" sz="1000" dirty="0">
                <a:solidFill>
                  <a:srgbClr val="D1EFFF"/>
                </a:solidFill>
              </a:rPr>
              <a:t>  Page Editor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TABELAS · BOOKINGS DA VIAGEM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 seção no pai, as colunas no filho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84856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848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Travel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2441448"/>
          </a:xfrm>
          <a:prstGeom prst="roundRect">
            <a:avLst>
              <a:gd name="adj" fmla="val 299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zc_fe_travel_######.ddlx.asddlxs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'Bookings'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'Bookings'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LINEITEM_REFERENCE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'_Booking'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590288"/>
            <a:ext cx="541004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seção aponta para a associação; o conteúdo vem da entidade Booking.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92903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92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Booking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2441448"/>
          </a:xfrm>
          <a:prstGeom prst="roundRect">
            <a:avLst>
              <a:gd name="adj" fmla="val 299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293065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293065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2747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zc_fe_booking_######.ddlx.asddlxs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'Airline'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FlightPrice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4590288"/>
            <a:ext cx="541004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curso: BookingID, BookingDate, CarrierID, ConnectionID, CustomerID, FlightDate e FlightPrice.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TABELAS · ACABAMENTO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Deixando a tabela legível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7429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37896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Rótulos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556B82"/>
                </a:solidFill>
              </a:rPr>
              <a:t>Customer ID</a:t>
            </a:r>
            <a:r>
              <a:rPr lang="en-US" sz="1300" dirty="0">
                <a:solidFill>
                  <a:srgbClr val="556B82"/>
                </a:solidFill>
              </a:rPr>
              <a:t> vira </a:t>
            </a:r>
            <a:r>
              <a:rPr lang="en-US" sz="1300" b="1" dirty="0">
                <a:solidFill>
                  <a:srgbClr val="556B82"/>
                </a:solidFill>
              </a:rPr>
              <a:t>Customer</a:t>
            </a:r>
            <a:r>
              <a:rPr lang="en-US" sz="1300" dirty="0">
                <a:solidFill>
                  <a:srgbClr val="556B82"/>
                </a:solidFill>
              </a:rPr>
              <a:t> e </a:t>
            </a:r>
            <a:r>
              <a:rPr lang="en-US" sz="1300" i="1" dirty="0">
                <a:solidFill>
                  <a:srgbClr val="556B82"/>
                </a:solidFill>
              </a:rPr>
              <a:t>Airline ID</a:t>
            </a:r>
            <a:r>
              <a:rPr lang="en-US" sz="1300" dirty="0">
                <a:solidFill>
                  <a:srgbClr val="556B82"/>
                </a:solidFill>
              </a:rPr>
              <a:t> vira </a:t>
            </a:r>
            <a:r>
              <a:rPr lang="en-US" sz="1300" b="1" dirty="0">
                <a:solidFill>
                  <a:srgbClr val="556B82"/>
                </a:solidFill>
              </a:rPr>
              <a:t>Airline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57429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37896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Texto junto do código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Sobrenome do cliente e nome da companhia ao lado das chaves.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574290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378962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Logo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Uma coluna de imagem com o logo da companhia, sem rótulo.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67690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67690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Linha clicável  </a:t>
            </a:r>
            <a:r>
              <a:rPr lang="en-US" sz="1200" dirty="0">
                <a:solidFill>
                  <a:srgbClr val="1D2D3E"/>
                </a:solidFill>
              </a:rPr>
              <a:t>com a subobject page da aula 03.08, clicar no booking abre seus detalhes.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876042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876042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2876042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80491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03.09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Comportamento dinâmico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que pode ser feito depende dos dados. No RAP, isso é </a:t>
            </a:r>
            <a:r>
              <a:rPr lang="en-US" sz="1600" b="1" dirty="0">
                <a:solidFill>
                  <a:srgbClr val="D1EFFF"/>
                </a:solidFill>
              </a:rPr>
              <a:t>feature control</a:t>
            </a:r>
            <a:r>
              <a:rPr lang="en-US" sz="1600" dirty="0">
                <a:solidFill>
                  <a:srgbClr val="D1EFFF"/>
                </a:solidFill>
              </a:rPr>
              <a:t>: o BO diz à UI o que habilitar.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features: instance</a:t>
            </a:r>
            <a:r>
              <a:rPr lang="en-US" sz="1000" dirty="0">
                <a:solidFill>
                  <a:srgbClr val="D1EFFF"/>
                </a:solidFill>
              </a:rPr>
              <a:t>  BDEF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get_instance_features</a:t>
            </a:r>
            <a:r>
              <a:rPr lang="en-US" sz="1000" dirty="0">
                <a:solidFill>
                  <a:srgbClr val="D1EFFF"/>
                </a:solidFill>
              </a:rPr>
              <a:t>  método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fc-o-enabled</a:t>
            </a:r>
            <a:r>
              <a:rPr lang="en-US" sz="1000" dirty="0">
                <a:solidFill>
                  <a:srgbClr val="D1EFFF"/>
                </a:solidFill>
              </a:rPr>
              <a:t>  ação ativa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fc-f-read_only</a:t>
            </a:r>
            <a:r>
              <a:rPr lang="en-US" sz="1000" dirty="0">
                <a:solidFill>
                  <a:srgbClr val="D1EFFF"/>
                </a:solidFill>
              </a:rPr>
              <a:t>  campo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DINÂMICO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Accept Travel só para viagens não aceitas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370789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370789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35250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zbp_i_fe_travel_######.clas.locals_imp.abap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Behavior pool › lhc_travel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BDEF: action ( features : instance ) acceptTravel result [1] $self;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get_instance_features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ZI_FE_TRAVEL_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OverallStatus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tky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travel-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tky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action-acceptTravel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travel-OverallStatus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if_abap_behv=&gt;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fc-o-disabled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if_abap_behv=&gt;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fc-o-enabled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 : instance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 BDEF: a disponibilidade depende de cada instância.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EML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LOCAL MODE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Lê o status sem checagens de autorização e feature control.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%action-…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Habilita ou desabilita o botão linha a linha.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Também para campos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( features : instance )</a:t>
            </a:r>
            <a:r>
              <a:rPr lang="en-US" sz="1050" dirty="0">
                <a:solidFill>
                  <a:srgbClr val="556B82"/>
                </a:solidFill>
              </a:rPr>
              <a:t>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fc-f-read_only</a:t>
            </a:r>
            <a:r>
              <a:rPr lang="en-US" sz="1050" dirty="0">
                <a:solidFill>
                  <a:srgbClr val="556B82"/>
                </a:solidFill>
              </a:rPr>
              <a:t> ou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fc-f-mandatory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DINÂMICO · ONDE DECIDIR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Feature control ou anotação de UI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310003"/>
            <a:ext cx="5410048" cy="73152"/>
          </a:xfrm>
          <a:prstGeom prst="rect">
            <a:avLst/>
          </a:prstGeom>
          <a:solidFill>
            <a:srgbClr val="30914C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F3A"/>
                </a:solidFill>
              </a:rPr>
              <a:t>Feature control (BO)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Vale para </a:t>
            </a:r>
            <a:r>
              <a:rPr lang="en-US" sz="1350" b="1" dirty="0">
                <a:solidFill>
                  <a:srgbClr val="1D2D3E"/>
                </a:solidFill>
              </a:rPr>
              <a:t>todo</a:t>
            </a:r>
            <a:r>
              <a:rPr lang="en-US" sz="1350" dirty="0">
                <a:solidFill>
                  <a:srgbClr val="1D2D3E"/>
                </a:solidFill>
              </a:rPr>
              <a:t> consumidor: UI, Web API e EML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Bloqueia de verdade: a ação não executa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Ações, campos e operações como update e delete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310003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Esconder na UI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r>
              <a:rPr lang="en-US" sz="1350" dirty="0">
                <a:solidFill>
                  <a:srgbClr val="1D2D3E"/>
                </a:solidFill>
              </a:rPr>
              <a:t> esconde campos de forma estática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Facetas podem usar um campo booleano para esconder seções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Só visual: não protege a regra de negócio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941189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941189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Regra  </a:t>
            </a:r>
            <a:r>
              <a:rPr lang="en-US" sz="1200" dirty="0">
                <a:solidFill>
                  <a:srgbClr val="1D2D3E"/>
                </a:solidFill>
              </a:rPr>
              <a:t>regra de negócio no BO com feature control; a UI só reflete o que o BO permite.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684907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684907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069205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03.09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@UI.dataPoint</a:t>
            </a:r>
            <a:r>
              <a:rPr lang="en-US" sz="1400" dirty="0">
                <a:solidFill>
                  <a:srgbClr val="FFFFFF"/>
                </a:solidFill>
              </a:rPr>
              <a:t> + faceta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#HEADER</a:t>
            </a:r>
            <a:r>
              <a:rPr lang="en-US" sz="1400" dirty="0">
                <a:solidFill>
                  <a:srgbClr val="FFFFFF"/>
                </a:solidFill>
              </a:rPr>
              <a:t> destacam preço e status no header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Page Editor configura o header da subobject page com título, logo e data points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#LINEITEM_REFERENCE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r>
              <a:rPr lang="en-US" sz="1400" dirty="0">
                <a:solidFill>
                  <a:srgbClr val="FFFFFF"/>
                </a:solidFill>
              </a:rPr>
              <a:t> mostra os bookings da viagem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As colunas da tabela filha vêm do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400" dirty="0">
                <a:solidFill>
                  <a:srgbClr val="FFFFFF"/>
                </a:solidFill>
              </a:rPr>
              <a:t> da entidade Booking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Feature control</a:t>
            </a:r>
            <a:r>
              <a:rPr lang="en-US" sz="1400" dirty="0">
                <a:solidFill>
                  <a:srgbClr val="FFFFFF"/>
                </a:solidFill>
              </a:rPr>
              <a:t> (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 : instance</a:t>
            </a:r>
            <a:r>
              <a:rPr lang="en-US" sz="1400" dirty="0">
                <a:solidFill>
                  <a:srgbClr val="FFFFFF"/>
                </a:solidFill>
              </a:rPr>
              <a:t>) habilita ações e campos por instância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Regras ficam no BO; esconder na UI é só apresentação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03.10  </a:t>
            </a:r>
            <a:r>
              <a:rPr lang="en-US" sz="1500" dirty="0">
                <a:solidFill>
                  <a:srgbClr val="FFFFFF"/>
                </a:solidFill>
              </a:rPr>
              <a:t>Programação flexível: Flexible Programming Model e building blocks.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03.09 Object Page avançada</dc:title>
  <dc:subject>ABAP Moderno – Módulo 03: SAP Fiori Elements com OData V4</dc:subject>
  <dc:creator>Adriano Bispo</dc:creator>
  <cp:lastModifiedBy>Adriano Bispo</cp:lastModifiedBy>
  <cp:revision>1</cp:revision>
  <dcterms:created xsi:type="dcterms:W3CDTF">2026-10-29T01:40:20Z</dcterms:created>
  <dcterms:modified xsi:type="dcterms:W3CDTF">2026-10-29T01:40:20Z</dcterms:modified>
</cp:coreProperties>
</file>