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 Title">
    <p:bg>
      <p:bgPr>
        <a:solidFill>
          <a:srgbClr val="1D2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548640" y="1554480"/>
            <a:ext cx="786384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dirty="0">
                <a:solidFill>
                  <a:srgbClr val="4DB1FF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548640" y="2057400"/>
            <a:ext cx="81381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4" type="body" hasCustomPrompt="1"/>
          </p:nvPr>
        </p:nvSpPr>
        <p:spPr>
          <a:xfrm>
            <a:off x="548640" y="4206240"/>
            <a:ext cx="76809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9D3DE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396A8"/>
                </a:solidFill>
              </a:rPr>
              <a:t>ABAP Moderno  ·  Módulo 03  ·  03.09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 Content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dirty="0">
                <a:solidFill>
                  <a:srgbClr val="0070F2"/>
                </a:solidFill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D2D3E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ABAP Moderno  ·  Módulo 03  ·  03.09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 Closing">
    <p:bg>
      <p:bgPr>
        <a:solidFill>
          <a:srgbClr val="1D2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dirty="0">
                <a:solidFill>
                  <a:srgbClr val="4DB1FF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396A8"/>
                </a:solidFill>
              </a:rPr>
              <a:t>ABAP Moderno  ·  Módulo 03  ·  03.09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396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548640" y="15544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DB1FF"/>
                </a:solidFill>
              </a:rPr>
              <a:t>Módulo 03  ·  03.09</a:t>
            </a:r>
            <a:endParaRPr lang="en-US" sz="16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548640" y="2057400"/>
            <a:ext cx="8138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De Básico a Brilhante</a:t>
            </a:r>
            <a:endParaRPr lang="en-US" sz="4000" dirty="0"/>
          </a:p>
        </p:txBody>
      </p:sp>
      <p:sp>
        <p:nvSpPr>
          <p:cNvPr id="4" name="Text 0"/>
          <p:cNvSpPr/>
          <p:nvPr>
            <p:ph idx="104" type="body" hasCustomPrompt="1"/>
          </p:nvPr>
        </p:nvSpPr>
        <p:spPr>
          <a:xfrm>
            <a:off x="548640" y="42062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3DE"/>
                </a:solidFill>
              </a:rPr>
              <a:t>Construindo uma Object Page SAP Fiori Elements de alta performance.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915400" y="1600200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509760" y="1600200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Header Facets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915400" y="2350008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509760" y="2350008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@UI.hidden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915400" y="3099816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509760" y="3099816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Sub-Seções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915400" y="3849624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509760" y="3849624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Tabelas Filhas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15400" y="4599432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509760" y="4599432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targetElement</a:t>
            </a:r>
            <a:endParaRPr lang="en-US" sz="13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8280" y="1737360"/>
            <a:ext cx="292608" cy="292608"/>
          </a:xfrm>
          <a:prstGeom prst="rect">
            <a:avLst/>
          </a:prstGeom>
        </p:spPr>
      </p:pic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2487168"/>
            <a:ext cx="292608" cy="292608"/>
          </a:xfrm>
          <a:prstGeom prst="rect">
            <a:avLst/>
          </a:prstGeom>
        </p:spPr>
      </p:pic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3236976"/>
            <a:ext cx="292608" cy="292608"/>
          </a:xfrm>
          <a:prstGeom prst="rect">
            <a:avLst/>
          </a:prstGeom>
        </p:spPr>
      </p:pic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8280" y="3986784"/>
            <a:ext cx="292608" cy="292608"/>
          </a:xfrm>
          <a:prstGeom prst="rect">
            <a:avLst/>
          </a:prstGeom>
        </p:spPr>
      </p:pic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8280" y="4736592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O Destino da Nossa Jornada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Clareza e Inteligência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4998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56B82"/>
                </a:solidFill>
              </a:rPr>
              <a:t>ANTES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4998568" cy="301752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2057400"/>
            <a:ext cx="4961992" cy="320040"/>
          </a:xfrm>
          <a:prstGeom prst="rect">
            <a:avLst/>
          </a:prstGeom>
          <a:solidFill>
            <a:srgbClr val="1D2D3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2057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SAP Fiori Object Page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468880"/>
            <a:ext cx="463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64D9"/>
                </a:solidFill>
              </a:rPr>
              <a:t>Status da Viagem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0080" y="2788920"/>
            <a:ext cx="4815688" cy="2340864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807208"/>
            <a:ext cx="4632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D2D3E"/>
                </a:solidFill>
              </a:rPr>
              <a:t>Todos os campos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31520" y="3108960"/>
            <a:ext cx="4632808" cy="182880"/>
          </a:xfrm>
          <a:prstGeom prst="rect">
            <a:avLst/>
          </a:prstGeom>
          <a:solidFill>
            <a:srgbClr val="F5F6F7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3401568"/>
            <a:ext cx="4632808" cy="182880"/>
          </a:xfrm>
          <a:prstGeom prst="rect">
            <a:avLst/>
          </a:prstGeom>
          <a:solidFill>
            <a:srgbClr val="F5F6F7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3694176"/>
            <a:ext cx="4632808" cy="182880"/>
          </a:xfrm>
          <a:prstGeom prst="rect">
            <a:avLst/>
          </a:prstGeom>
          <a:solidFill>
            <a:srgbClr val="F5F6F7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3986784"/>
            <a:ext cx="4632808" cy="182880"/>
          </a:xfrm>
          <a:prstGeom prst="rect">
            <a:avLst/>
          </a:prstGeom>
          <a:solidFill>
            <a:srgbClr val="F5F6F7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4279392"/>
            <a:ext cx="4632808" cy="182880"/>
          </a:xfrm>
          <a:prstGeom prst="rect">
            <a:avLst/>
          </a:prstGeom>
          <a:solidFill>
            <a:srgbClr val="F5F6F7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4572000"/>
            <a:ext cx="4632808" cy="182880"/>
          </a:xfrm>
          <a:prstGeom prst="rect">
            <a:avLst/>
          </a:prstGeom>
          <a:solidFill>
            <a:srgbClr val="F5F6F7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4864608"/>
            <a:ext cx="4632808" cy="182880"/>
          </a:xfrm>
          <a:prstGeom prst="rect">
            <a:avLst/>
          </a:prstGeom>
          <a:solidFill>
            <a:srgbClr val="F5F6F7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5166360"/>
            <a:ext cx="499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Página padrão: excesso de informação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684368" y="3246120"/>
            <a:ext cx="822960" cy="640080"/>
          </a:xfrm>
          <a:prstGeom prst="rightArrow">
            <a:avLst/>
          </a:prstGeom>
          <a:solidFill>
            <a:srgbClr val="0070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644488" y="1600200"/>
            <a:ext cx="4998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64D9"/>
                </a:solidFill>
              </a:rPr>
              <a:t>DEPOIS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644488" y="2057400"/>
            <a:ext cx="4998568" cy="301752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662776" y="2057400"/>
            <a:ext cx="4961992" cy="320040"/>
          </a:xfrm>
          <a:prstGeom prst="rect">
            <a:avLst/>
          </a:prstGeom>
          <a:solidFill>
            <a:srgbClr val="1D2D3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781648" y="2057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SAP Fiori Object Page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735928" y="2468880"/>
            <a:ext cx="4815688" cy="822960"/>
          </a:xfrm>
          <a:prstGeom prst="rect">
            <a:avLst/>
          </a:prstGeom>
          <a:solidFill>
            <a:srgbClr val="EEF1F4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73088" y="2468880"/>
            <a:ext cx="24992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B82"/>
                </a:solidFill>
              </a:rPr>
              <a:t>Custo Total</a:t>
            </a:r>
            <a:endParaRPr lang="en-US" sz="1600" dirty="0"/>
          </a:p>
          <a:p>
            <a:pPr indent="0" marL="0">
              <a:buNone/>
            </a:pPr>
            <a:r>
              <a:rPr lang="en-US" sz="2000" b="1" dirty="0">
                <a:solidFill>
                  <a:srgbClr val="0064D9"/>
                </a:solidFill>
              </a:rPr>
              <a:t>$ 1.350,00 ↗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827368" y="3383280"/>
            <a:ext cx="463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64D9"/>
                </a:solidFill>
              </a:rPr>
              <a:t>Visão Geral    Reservas de Voo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735928" y="3703320"/>
            <a:ext cx="4815688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27368" y="3721608"/>
            <a:ext cx="4632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D2D3E"/>
                </a:solidFill>
              </a:rPr>
              <a:t>Informações Básicas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827368" y="4023360"/>
            <a:ext cx="4632808" cy="182880"/>
          </a:xfrm>
          <a:prstGeom prst="rect">
            <a:avLst/>
          </a:prstGeom>
          <a:solidFill>
            <a:srgbClr val="F5F6F7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735928" y="4379976"/>
            <a:ext cx="4815688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827368" y="4398264"/>
            <a:ext cx="4632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D2D3E"/>
                </a:solidFill>
              </a:rPr>
              <a:t>Status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827368" y="4700016"/>
            <a:ext cx="4632808" cy="182880"/>
          </a:xfrm>
          <a:prstGeom prst="rect">
            <a:avLst/>
          </a:prstGeom>
          <a:solidFill>
            <a:srgbClr val="F5F6F7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644488" y="5166360"/>
            <a:ext cx="499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4D9"/>
                </a:solidFill>
              </a:rPr>
              <a:t>Página profissional: foco no essencial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566928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Vamos transformar a sobrecarga de dados em insights acionáveis, usando o poder declarativo das anotações.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A Anatomia de uma Object Page de Alta Performance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05840" y="1691640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965960" y="1673352"/>
            <a:ext cx="92198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D2D3E"/>
                </a:solidFill>
              </a:rPr>
              <a:t>O Cabeçalho Inteligente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556B82"/>
                </a:solidFill>
              </a:rPr>
              <a:t>Exibindo KPIs e dados críticos para decisões rápidas com 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 Facets</a:t>
            </a:r>
            <a:r>
              <a:rPr lang="en-US" sz="1500" dirty="0">
                <a:solidFill>
                  <a:srgbClr val="556B82"/>
                </a:solidFill>
              </a:rPr>
              <a:t>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05840" y="2788920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F5FAE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965960" y="2770632"/>
            <a:ext cx="92198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D2D3E"/>
                </a:solidFill>
              </a:rPr>
              <a:t>A Interface Adaptativa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556B82"/>
                </a:solidFill>
              </a:rPr>
              <a:t>Ocultando campos irrelevantes para um formulário limpo com 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Visibilidade Dinâmica</a:t>
            </a:r>
            <a:r>
              <a:rPr lang="en-US" sz="1500" dirty="0">
                <a:solidFill>
                  <a:srgbClr val="556B82"/>
                </a:solidFill>
              </a:rPr>
              <a:t>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05840" y="3886200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FFF8D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965960" y="3867912"/>
            <a:ext cx="92198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D2D3E"/>
                </a:solidFill>
              </a:rPr>
              <a:t>A Organização Lógica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556B82"/>
                </a:solidFill>
              </a:rPr>
              <a:t>Estruturando formulários longos em blocos coesos com 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Sub-Seções</a:t>
            </a:r>
            <a:r>
              <a:rPr lang="en-US" sz="1500" dirty="0">
                <a:solidFill>
                  <a:srgbClr val="556B82"/>
                </a:solidFill>
              </a:rPr>
              <a:t>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05840" y="4983480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F1ED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965960" y="4965192"/>
            <a:ext cx="92198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D2D3E"/>
                </a:solidFill>
              </a:rPr>
              <a:t>Os Dados Conectados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556B82"/>
                </a:solidFill>
              </a:rPr>
              <a:t>Exibindo listas de itens relacionados em 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Tabelas Filhas</a:t>
            </a:r>
            <a:r>
              <a:rPr lang="en-US" sz="1500" dirty="0">
                <a:solidFill>
                  <a:srgbClr val="556B82"/>
                </a:solidFill>
              </a:rPr>
              <a:t>.</a:t>
            </a:r>
            <a:endParaRPr lang="en-US" sz="16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1405" y="1867205"/>
            <a:ext cx="380390" cy="380390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405" y="2964485"/>
            <a:ext cx="380390" cy="380390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405" y="4061765"/>
            <a:ext cx="380390" cy="380390"/>
          </a:xfrm>
          <a:prstGeom prst="rect">
            <a:avLst/>
          </a:prstGeom>
        </p:spPr>
      </p:pic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1405" y="5159045"/>
            <a:ext cx="380390" cy="380390"/>
          </a:xfrm>
          <a:prstGeom prst="rect">
            <a:avLst/>
          </a:prstGeom>
        </p:spPr>
      </p:pic>
      <p:sp>
        <p:nvSpPr>
          <p:cNvPr id="15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O Cabeçalho Inteligente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Destacando o Importante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64D9"/>
                </a:solidFill>
              </a:rPr>
              <a:t>O desafio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65960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D2D3E"/>
                </a:solidFill>
              </a:rPr>
              <a:t>Como um usuário pode aprovar ou rejeitar um orçamento sem rolar por dezenas de campos?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88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64D9"/>
                </a:solidFill>
              </a:rPr>
              <a:t>A anatomia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15468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D3E"/>
                </a:solidFill>
              </a:rPr>
              <a:t>O Header Content é o imóvel mais nobre da tela: funciona como um dashboard resumido do objeto, reservado para KPIs, métricas críticas e status de alto nível.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251960"/>
            <a:ext cx="5852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D2D3E"/>
                </a:solidFill>
              </a:rPr>
              <a:t>Data Points:</a:t>
            </a:r>
            <a:r>
              <a:rPr lang="en-US" sz="1400" dirty="0">
                <a:solidFill>
                  <a:srgbClr val="1D2D3E"/>
                </a:solidFill>
              </a:rPr>
              <a:t> valores únicos com destaque (cores, setas de tendência).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D2D3E"/>
                </a:solidFill>
              </a:rPr>
              <a:t>Micro Charts:</a:t>
            </a:r>
            <a:r>
              <a:rPr lang="en-US" sz="1400" dirty="0">
                <a:solidFill>
                  <a:srgbClr val="1D2D3E"/>
                </a:solidFill>
              </a:rPr>
              <a:t> gráficos (bullet, radial) para a saúde visual do registro.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D2D3E"/>
                </a:solidFill>
              </a:rPr>
              <a:t>Contact Details:</a:t>
            </a:r>
            <a:r>
              <a:rPr lang="en-US" sz="1400" dirty="0">
                <a:solidFill>
                  <a:srgbClr val="1D2D3E"/>
                </a:solidFill>
              </a:rPr>
              <a:t> cartões de visita com links de comunicação.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949440" y="1600200"/>
            <a:ext cx="4693615" cy="4572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967728" y="1600200"/>
            <a:ext cx="4657039" cy="320040"/>
          </a:xfrm>
          <a:prstGeom prst="rect">
            <a:avLst/>
          </a:prstGeom>
          <a:solidFill>
            <a:srgbClr val="1D2D3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086600" y="1600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SAP Fiori Object Page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040880" y="2011680"/>
            <a:ext cx="4510735" cy="822960"/>
          </a:xfrm>
          <a:prstGeom prst="rect">
            <a:avLst/>
          </a:prstGeom>
          <a:solidFill>
            <a:srgbClr val="EBF8FF"/>
          </a:solidFill>
          <a:ln w="22225">
            <a:solidFill>
              <a:srgbClr val="0070F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78040" y="2011680"/>
            <a:ext cx="23468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B82"/>
                </a:solidFill>
              </a:rPr>
              <a:t>Custo Total</a:t>
            </a:r>
            <a:endParaRPr lang="en-US" sz="1600" dirty="0"/>
          </a:p>
          <a:p>
            <a:pPr indent="0" marL="0">
              <a:buNone/>
            </a:pPr>
            <a:r>
              <a:rPr lang="en-US" sz="2000" b="1" dirty="0">
                <a:solidFill>
                  <a:srgbClr val="0064D9"/>
                </a:solidFill>
              </a:rPr>
              <a:t>€ 1.250,00 ↗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0" y="2926080"/>
            <a:ext cx="4327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64D9"/>
                </a:solidFill>
              </a:rPr>
              <a:t>Visão Geral    Reservas de Voo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040880" y="3246120"/>
            <a:ext cx="4510735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0" y="3264408"/>
            <a:ext cx="4327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D2D3E"/>
                </a:solidFill>
              </a:rPr>
              <a:t>Informações Básicas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132320" y="3566160"/>
            <a:ext cx="4327855" cy="182880"/>
          </a:xfrm>
          <a:prstGeom prst="rect">
            <a:avLst/>
          </a:prstGeom>
          <a:solidFill>
            <a:srgbClr val="F5F6F7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40880" y="3922776"/>
            <a:ext cx="4510735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132320" y="3941064"/>
            <a:ext cx="4327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D2D3E"/>
                </a:solidFill>
              </a:rPr>
              <a:t>Status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132320" y="4242816"/>
            <a:ext cx="4327855" cy="182880"/>
          </a:xfrm>
          <a:prstGeom prst="rect">
            <a:avLst/>
          </a:prstGeom>
          <a:solidFill>
            <a:srgbClr val="F5F6F7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40880" y="4599432"/>
            <a:ext cx="4510735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132320" y="4617720"/>
            <a:ext cx="4327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D2D3E"/>
                </a:solidFill>
              </a:rPr>
              <a:t>Período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132320" y="4919472"/>
            <a:ext cx="4327855" cy="182880"/>
          </a:xfrm>
          <a:prstGeom prst="rect">
            <a:avLst/>
          </a:prstGeom>
          <a:solidFill>
            <a:srgbClr val="F5F6F7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Header Facet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O Código: Posicionando Dados no Topo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400800" cy="338328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728216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4D9"/>
                </a:solidFill>
              </a:rPr>
              <a:t>O Código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12264"/>
            <a:ext cx="640080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240280"/>
            <a:ext cx="594360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D3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@UI.facet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/* Faceta de cabeçalho: mostra o Preço no topo */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</a:t>
            </a:r>
            <a:r>
              <a:rPr lang="en-US" sz="14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'HeaderPrice'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4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purpose</a:t>
            </a:r>
            <a:r>
              <a:rPr lang="en-US" sz="14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4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r>
              <a:rPr lang="en-US" sz="1400" dirty="0">
                <a:solidFill>
                  <a:srgbClr val="B44F00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#HEADER</a:t>
            </a:r>
            <a:r>
              <a:rPr lang="en-US" sz="14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4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400" i="1" dirty="0">
                <a:solidFill>
                  <a:srgbClr val="6A7B8C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a mágica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4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4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4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1400" dirty="0">
                <a:solidFill>
                  <a:srgbClr val="B44F00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#DATAPOINT_REFERENCE</a:t>
            </a:r>
            <a:r>
              <a:rPr lang="en-US" sz="14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targetQualifier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'PriceData'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4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5120640"/>
            <a:ext cx="640080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5207508"/>
            <a:ext cx="329184" cy="32918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13232" y="52075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5120640"/>
            <a:ext cx="5623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purpose: #HEADER</a:t>
            </a:r>
            <a:r>
              <a:rPr lang="en-US" sz="1300" dirty="0">
                <a:solidFill>
                  <a:srgbClr val="1D2D3E"/>
                </a:solidFill>
              </a:rPr>
              <a:t> instrui o framework a renderizar este bloco no </a:t>
            </a:r>
            <a:r>
              <a:rPr lang="en-US" sz="1300" b="1" dirty="0">
                <a:solidFill>
                  <a:srgbClr val="1D2D3E"/>
                </a:solidFill>
              </a:rPr>
              <a:t>painel superior</a:t>
            </a:r>
            <a:r>
              <a:rPr lang="en-US" sz="1300" dirty="0">
                <a:solidFill>
                  <a:srgbClr val="1D2D3E"/>
                </a:solidFill>
              </a:rPr>
              <a:t>, fora das abas.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5715000"/>
            <a:ext cx="640080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5801868"/>
            <a:ext cx="329184" cy="32918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13232" y="58018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5715000"/>
            <a:ext cx="5623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#DATAPOINT_REFERENCE</a:t>
            </a:r>
            <a:r>
              <a:rPr lang="en-US" sz="1300" dirty="0">
                <a:solidFill>
                  <a:srgbClr val="1D2D3E"/>
                </a:solidFill>
              </a:rPr>
              <a:t> exibe um </a:t>
            </a:r>
            <a:r>
              <a:rPr lang="en-US" sz="1300" b="1" dirty="0">
                <a:solidFill>
                  <a:srgbClr val="1D2D3E"/>
                </a:solidFill>
              </a:rPr>
              <a:t>valor numérico formatado</a:t>
            </a:r>
            <a:r>
              <a:rPr lang="en-US" sz="1300" dirty="0">
                <a:solidFill>
                  <a:srgbClr val="1D2D3E"/>
                </a:solidFill>
              </a:rPr>
              <a:t>, ideal para KPIs.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15200" y="1600200"/>
            <a:ext cx="4327855" cy="27432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33488" y="1600200"/>
            <a:ext cx="4291279" cy="320040"/>
          </a:xfrm>
          <a:prstGeom prst="rect">
            <a:avLst/>
          </a:prstGeom>
          <a:solidFill>
            <a:srgbClr val="1D2D3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452360" y="1600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SAP Fiori Object Page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406640" y="2011680"/>
            <a:ext cx="4144975" cy="822960"/>
          </a:xfrm>
          <a:prstGeom prst="rect">
            <a:avLst/>
          </a:prstGeom>
          <a:solidFill>
            <a:srgbClr val="EBF8FF"/>
          </a:solidFill>
          <a:ln w="22225">
            <a:solidFill>
              <a:srgbClr val="0070F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43800" y="2011680"/>
            <a:ext cx="21639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B82"/>
                </a:solidFill>
              </a:rPr>
              <a:t>Custo Total</a:t>
            </a:r>
            <a:endParaRPr lang="en-US" sz="1600" dirty="0"/>
          </a:p>
          <a:p>
            <a:pPr indent="0" marL="0">
              <a:buNone/>
            </a:pPr>
            <a:r>
              <a:rPr lang="en-US" sz="2000" b="1" dirty="0">
                <a:solidFill>
                  <a:srgbClr val="0064D9"/>
                </a:solidFill>
              </a:rPr>
              <a:t>€ 1.250,00 ↗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498080" y="2926080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64D9"/>
                </a:solidFill>
              </a:rPr>
              <a:t>Visão Geral    Reservas de Voo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406640" y="3246120"/>
            <a:ext cx="4144975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498080" y="3264408"/>
            <a:ext cx="3962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D2D3E"/>
                </a:solidFill>
              </a:rPr>
              <a:t>Informações Básicas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498080" y="3566160"/>
            <a:ext cx="3962095" cy="182880"/>
          </a:xfrm>
          <a:prstGeom prst="rect">
            <a:avLst/>
          </a:prstGeom>
          <a:solidFill>
            <a:srgbClr val="F5F6F7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A Interface Adaptativa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Apenas o Relevante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64D9"/>
                </a:solidFill>
              </a:rPr>
              <a:t>O desafio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6596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D2D3E"/>
                </a:solidFill>
              </a:rPr>
              <a:t>O campo ‘Motivo da Rejeição’ só deve aparecer se o status da viagem for ‘Rejeitado’. Como fazer isso sem escrever JavaScript?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1600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64D9"/>
                </a:solidFill>
              </a:rPr>
              <a:t>A anatomia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1965960"/>
            <a:ext cx="53336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D3E"/>
                </a:solidFill>
              </a:rPr>
              <a:t>Controlamos a visibilidade de forma declarativa, vinculando 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@UI.hidden</a:t>
            </a:r>
            <a:r>
              <a:rPr lang="en-US" sz="1500" dirty="0">
                <a:solidFill>
                  <a:srgbClr val="1D2D3E"/>
                </a:solidFill>
              </a:rPr>
              <a:t> a um campo booleano calculado na CDS View. A interface reage instantaneamente às mudanças nos dados, sem recarregar a página.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429000"/>
            <a:ext cx="499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Status = ‘Aprovado’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794760"/>
            <a:ext cx="4998568" cy="237744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66928" y="3794760"/>
            <a:ext cx="4961992" cy="320040"/>
          </a:xfrm>
          <a:prstGeom prst="rect">
            <a:avLst/>
          </a:prstGeom>
          <a:solidFill>
            <a:srgbClr val="1D2D3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" y="3794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SAP Fiori Object Page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4206240"/>
            <a:ext cx="463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64D9"/>
                </a:solidFill>
              </a:rPr>
              <a:t>Visão Geral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" y="4526280"/>
            <a:ext cx="4815688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4544568"/>
            <a:ext cx="4632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D2D3E"/>
                </a:solidFill>
              </a:rPr>
              <a:t>Informações Básicas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31520" y="4846320"/>
            <a:ext cx="4632808" cy="182880"/>
          </a:xfrm>
          <a:prstGeom prst="rect">
            <a:avLst/>
          </a:prstGeom>
          <a:solidFill>
            <a:srgbClr val="F5F6F7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5202936"/>
            <a:ext cx="4815688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5221224"/>
            <a:ext cx="4632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D2D3E"/>
                </a:solidFill>
              </a:rPr>
              <a:t>Status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31520" y="5522976"/>
            <a:ext cx="4632808" cy="182880"/>
          </a:xfrm>
          <a:prstGeom prst="rect">
            <a:avLst/>
          </a:prstGeom>
          <a:solidFill>
            <a:srgbClr val="F5F6F7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30088" y="4709160"/>
            <a:ext cx="731520" cy="548640"/>
          </a:xfrm>
          <a:prstGeom prst="rightArrow">
            <a:avLst/>
          </a:prstGeom>
          <a:solidFill>
            <a:srgbClr val="30914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644488" y="3429000"/>
            <a:ext cx="499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Status = ‘Rejeitado’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644488" y="3794760"/>
            <a:ext cx="4998568" cy="237744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662776" y="3794760"/>
            <a:ext cx="4961992" cy="320040"/>
          </a:xfrm>
          <a:prstGeom prst="rect">
            <a:avLst/>
          </a:prstGeom>
          <a:solidFill>
            <a:srgbClr val="1D2D3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781648" y="3794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SAP Fiori Object Page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6827368" y="4206240"/>
            <a:ext cx="463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64D9"/>
                </a:solidFill>
              </a:rPr>
              <a:t>Visão Geral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735928" y="4526280"/>
            <a:ext cx="4815688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27368" y="4544568"/>
            <a:ext cx="4632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D2D3E"/>
                </a:solidFill>
              </a:rPr>
              <a:t>Informações Básicas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827368" y="4846320"/>
            <a:ext cx="4632808" cy="182880"/>
          </a:xfrm>
          <a:prstGeom prst="rect">
            <a:avLst/>
          </a:prstGeom>
          <a:solidFill>
            <a:srgbClr val="F5F6F7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35928" y="5202936"/>
            <a:ext cx="4815688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27368" y="5221224"/>
            <a:ext cx="4632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D2D3E"/>
                </a:solidFill>
              </a:rPr>
              <a:t>Status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827368" y="5522976"/>
            <a:ext cx="4632808" cy="182880"/>
          </a:xfrm>
          <a:prstGeom prst="rect">
            <a:avLst/>
          </a:prstGeom>
          <a:solidFill>
            <a:srgbClr val="F5F6F7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735928" y="5879592"/>
            <a:ext cx="4815688" cy="585216"/>
          </a:xfrm>
          <a:prstGeom prst="rect">
            <a:avLst/>
          </a:prstGeom>
          <a:solidFill>
            <a:srgbClr val="F5FAE5"/>
          </a:solidFill>
          <a:ln w="22225">
            <a:solidFill>
              <a:srgbClr val="30914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827368" y="5897880"/>
            <a:ext cx="4632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D2D3E"/>
                </a:solidFill>
              </a:rPr>
              <a:t>Motivo da Rejeição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827368" y="6199632"/>
            <a:ext cx="4632808" cy="182880"/>
          </a:xfrm>
          <a:prstGeom prst="rect">
            <a:avLst/>
          </a:prstGeom>
          <a:solidFill>
            <a:srgbClr val="F5F6F7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O Código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Lógica no Backend, Declaração no Frontend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914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0" b="1" dirty="0">
                <a:solidFill>
                  <a:srgbClr val="30914C"/>
                </a:solidFill>
              </a:rPr>
              <a:t>1</a:t>
            </a:r>
            <a:endParaRPr lang="en-US" sz="70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60020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D2D3E"/>
                </a:solidFill>
              </a:rPr>
              <a:t>Passo 1: lógica na CDS View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Criamos um campo calculado que retorna 'X' (true) para esconder, ou '' (false) para exibir.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554480" y="2331720"/>
            <a:ext cx="10088575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1783080" y="2496312"/>
            <a:ext cx="96313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Esconder se NÃO for Rejeitado ('X') */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overall_status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'X'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'X'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IsRejectionHidden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520440"/>
            <a:ext cx="914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0" b="1" dirty="0">
                <a:solidFill>
                  <a:srgbClr val="30914C"/>
                </a:solidFill>
              </a:rPr>
              <a:t>2</a:t>
            </a:r>
            <a:endParaRPr lang="en-US" sz="70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352044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D2D3E"/>
                </a:solidFill>
              </a:rPr>
              <a:t>Passo 2: anotação na Metadata Extension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Vinculamos a propriedade </a:t>
            </a: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hidden</a:t>
            </a:r>
            <a:r>
              <a:rPr lang="en-US" sz="1400" dirty="0">
                <a:solidFill>
                  <a:srgbClr val="556B82"/>
                </a:solidFill>
              </a:rPr>
              <a:t> ao nosso campo calculado.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554480" y="4251960"/>
            <a:ext cx="10088575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1783080" y="4416552"/>
            <a:ext cx="96313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O framework lê 'IsRejectionHidden' a cada alteração */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D36FF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@UI.hidden</a:t>
            </a:r>
            <a:r>
              <a:rPr lang="en-US" sz="13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3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B44F00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13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IsRejectionHidden</a:t>
            </a:r>
            <a:r>
              <a:rPr lang="en-US" sz="13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RejectionReason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5532120"/>
            <a:ext cx="11094415" cy="640080"/>
          </a:xfrm>
          <a:prstGeom prst="roundRect">
            <a:avLst>
              <a:gd name="adj" fmla="val 17143"/>
            </a:avLst>
          </a:prstGeom>
          <a:solidFill>
            <a:srgbClr val="F5FAE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280160" y="5532120"/>
            <a:ext cx="10088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Poder da visibilidade:</a:t>
            </a:r>
            <a:r>
              <a:rPr lang="en-US" sz="1500" dirty="0">
                <a:solidFill>
                  <a:srgbClr val="1D2D3E"/>
                </a:solidFill>
              </a:rPr>
              <a:t> esta técnica funciona para campos individuais, botões de ação e até abas (facetas) inteiras.</a:t>
            </a:r>
            <a:endParaRPr lang="en-US" sz="16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678424"/>
            <a:ext cx="347472" cy="3474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A Organização Lógica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Evitando a Fadiga de Rolagem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O desafio: </a:t>
            </a:r>
            <a:r>
              <a:rPr lang="en-US" sz="1600" i="1" dirty="0">
                <a:solidFill>
                  <a:srgbClr val="1D2D3E"/>
                </a:solidFill>
              </a:rPr>
              <a:t>“Formulários com muitos campos se tornam uma longa e cansativa lista vertical. Como agrupar informações relacionadas de forma visual?”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05840" y="2423160"/>
            <a:ext cx="10180015" cy="868680"/>
          </a:xfrm>
          <a:prstGeom prst="roundRect">
            <a:avLst>
              <a:gd name="adj" fmla="val 8421"/>
            </a:avLst>
          </a:prstGeom>
          <a:solidFill>
            <a:srgbClr val="FFF8D6"/>
          </a:solidFill>
          <a:ln w="22225">
            <a:solidFill>
              <a:srgbClr val="E765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423160"/>
            <a:ext cx="101800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Collection Facet (type: #COLLECTION)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D2D3E"/>
                </a:solidFill>
              </a:rPr>
              <a:t>Cria a aba principal, clicável na barra de navegação. Ex.: ‘Visão Geral’.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095848" y="3291840"/>
            <a:ext cx="0" cy="274320"/>
          </a:xfrm>
          <a:prstGeom prst="line">
            <a:avLst/>
          </a:prstGeom>
          <a:noFill/>
          <a:ln w="25400">
            <a:solidFill>
              <a:srgbClr val="E765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50844" y="3566160"/>
            <a:ext cx="5090008" cy="0"/>
          </a:xfrm>
          <a:prstGeom prst="line">
            <a:avLst/>
          </a:prstGeom>
          <a:noFill/>
          <a:ln w="25400">
            <a:solidFill>
              <a:srgbClr val="E765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59404" y="3566160"/>
            <a:ext cx="0" cy="274320"/>
          </a:xfrm>
          <a:prstGeom prst="line">
            <a:avLst/>
          </a:prstGeom>
          <a:noFill/>
          <a:ln w="25400">
            <a:solidFill>
              <a:srgbClr val="E7650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005840" y="3886200"/>
            <a:ext cx="490712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E765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88720" y="3886200"/>
            <a:ext cx="45413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Reference Facet (#IDENTIFICATION_REFERENCE)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D2D3E"/>
                </a:solidFill>
              </a:rPr>
              <a:t>Cria um bloco/sub-seção dentro da aba. Ex.: ‘Dados da Viagem’.</a:t>
            </a:r>
            <a:endParaRPr lang="en-US" sz="1600" dirty="0"/>
          </a:p>
          <a:p>
            <a:pPr indent="0" marL="0">
              <a:buNone/>
            </a:pPr>
            <a:r>
              <a:rPr lang="en-US" sz="1200" b="1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parentId: 'General'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732291" y="3566160"/>
            <a:ext cx="0" cy="274320"/>
          </a:xfrm>
          <a:prstGeom prst="line">
            <a:avLst/>
          </a:prstGeom>
          <a:noFill/>
          <a:ln w="25400">
            <a:solidFill>
              <a:srgbClr val="E7650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278728" y="3886200"/>
            <a:ext cx="490712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E765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61608" y="3886200"/>
            <a:ext cx="45413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Reference Facet (#FIELDGROUP_REFERENCE)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D2D3E"/>
                </a:solidFill>
              </a:rPr>
              <a:t>Cria outro bloco. Ex.: ‘Detalhes da Aprovação’.</a:t>
            </a:r>
            <a:endParaRPr lang="en-US" sz="1600" dirty="0"/>
          </a:p>
          <a:p>
            <a:pPr indent="0" marL="0">
              <a:buNone/>
            </a:pPr>
            <a:r>
              <a:rPr lang="en-US" sz="1200" b="1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parentId: 'General'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3949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D2D3E"/>
                </a:solidFill>
              </a:rPr>
              <a:t>Usamos 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parentId</a:t>
            </a:r>
            <a:r>
              <a:rPr lang="en-US" sz="1500" dirty="0">
                <a:solidFill>
                  <a:srgbClr val="1D2D3E"/>
                </a:solidFill>
              </a:rPr>
              <a:t> para aninhar blocos de formulário (</a:t>
            </a:r>
            <a:r>
              <a:rPr lang="en-US" sz="1500" b="1" dirty="0">
                <a:solidFill>
                  <a:srgbClr val="1D2D3E"/>
                </a:solidFill>
              </a:rPr>
              <a:t>Reference Facets</a:t>
            </a:r>
            <a:r>
              <a:rPr lang="en-US" sz="1500" dirty="0">
                <a:solidFill>
                  <a:srgbClr val="1D2D3E"/>
                </a:solidFill>
              </a:rPr>
              <a:t>) dentro de uma aba (</a:t>
            </a:r>
            <a:r>
              <a:rPr lang="en-US" sz="1500" b="1" dirty="0">
                <a:solidFill>
                  <a:srgbClr val="1D2D3E"/>
                </a:solidFill>
              </a:rPr>
              <a:t>Collection Facet</a:t>
            </a:r>
            <a:r>
              <a:rPr lang="en-US" sz="1500" dirty="0">
                <a:solidFill>
                  <a:srgbClr val="1D2D3E"/>
                </a:solidFill>
              </a:rPr>
              <a:t>), criando uma estrutura clara e fácil de navegar.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Os Dados Conectados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Gerenciando Itens Relacionados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O desafio: </a:t>
            </a:r>
            <a:r>
              <a:rPr lang="en-US" sz="1500" i="1" dirty="0">
                <a:solidFill>
                  <a:srgbClr val="1D2D3E"/>
                </a:solidFill>
              </a:rPr>
              <a:t>“Uma Viagem tem múltiplas Reservas. Como exibir e gerenciar a lista de Reservas diretamente na página da Viagem?”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560320"/>
            <a:ext cx="5943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D3E"/>
                </a:solidFill>
              </a:rPr>
              <a:t>Uma Object Page raramente vive isolada. Para exibir uma tabela de itens filhos, usamos uma faceta 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#LINEITEM_REFERENCE</a:t>
            </a:r>
            <a:r>
              <a:rPr lang="en-US" sz="1500" dirty="0">
                <a:solidFill>
                  <a:srgbClr val="1D2D3E"/>
                </a:solidFill>
              </a:rPr>
              <a:t> que aponta para uma </a:t>
            </a:r>
            <a:r>
              <a:rPr lang="en-US" sz="1500" b="1" dirty="0">
                <a:solidFill>
                  <a:srgbClr val="1D2D3E"/>
                </a:solidFill>
              </a:rPr>
              <a:t>Associação</a:t>
            </a:r>
            <a:r>
              <a:rPr lang="en-US" sz="1500" dirty="0">
                <a:solidFill>
                  <a:srgbClr val="1D2D3E"/>
                </a:solidFill>
              </a:rPr>
              <a:t> na CDS View.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977640"/>
            <a:ext cx="5943600" cy="1371600"/>
          </a:xfrm>
          <a:prstGeom prst="roundRect">
            <a:avLst>
              <a:gd name="adj" fmla="val 8000"/>
            </a:avLst>
          </a:prstGeom>
          <a:solidFill>
            <a:srgbClr val="F1ED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280160" y="397764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Ponto crítico de design:</a:t>
            </a:r>
            <a:r>
              <a:rPr lang="en-US" sz="1400" dirty="0">
                <a:solidFill>
                  <a:srgbClr val="1D2D3E"/>
                </a:solidFill>
              </a:rPr>
              <a:t> as colunas da tabela filha são definidas pelas anotações </a:t>
            </a: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@UI.lineItem</a:t>
            </a:r>
            <a:r>
              <a:rPr lang="en-US" sz="1400" dirty="0">
                <a:solidFill>
                  <a:srgbClr val="1D2D3E"/>
                </a:solidFill>
              </a:rPr>
              <a:t> na entidade </a:t>
            </a:r>
            <a:r>
              <a:rPr lang="en-US" sz="1400" b="1" dirty="0">
                <a:solidFill>
                  <a:srgbClr val="1D2D3E"/>
                </a:solidFill>
              </a:rPr>
              <a:t>Filha</a:t>
            </a:r>
            <a:r>
              <a:rPr lang="en-US" sz="1400" dirty="0">
                <a:solidFill>
                  <a:srgbClr val="1D2D3E"/>
                </a:solidFill>
              </a:rPr>
              <a:t> (Booking), não na entidade Pai (Travel).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949440" y="260604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F1EDFF"/>
          </a:solidFill>
          <a:ln w="25400">
            <a:solidFill>
              <a:srgbClr val="7858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949440" y="260604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Viagem (Pai)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692640" y="260604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F1EDFF"/>
          </a:solidFill>
          <a:ln w="25400">
            <a:solidFill>
              <a:srgbClr val="7858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92640" y="260604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Reservas (Filho)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961120" y="3200400"/>
            <a:ext cx="731520" cy="0"/>
          </a:xfrm>
          <a:prstGeom prst="line">
            <a:avLst/>
          </a:prstGeom>
          <a:noFill/>
          <a:ln w="31750">
            <a:solidFill>
              <a:srgbClr val="7858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006840" y="269748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7858FF"/>
                </a:solidFill>
              </a:rPr>
              <a:t>1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9372600" y="269748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7858FF"/>
                </a:solidFill>
              </a:rPr>
              <a:t>∞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8961120" y="3200400"/>
            <a:ext cx="731520" cy="0"/>
          </a:xfrm>
          <a:prstGeom prst="line">
            <a:avLst/>
          </a:prstGeom>
          <a:noFill/>
          <a:ln w="31750">
            <a:solidFill>
              <a:srgbClr val="7858FF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489704"/>
            <a:ext cx="347472" cy="3474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O Código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Conectando Mundos com targetElement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675120" cy="265176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728216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4D9"/>
                </a:solidFill>
              </a:rPr>
              <a:t>O Código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12264"/>
            <a:ext cx="667512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240280"/>
            <a:ext cx="621792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14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'BookingTab'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r>
              <a:rPr lang="en-US" sz="14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#LINEITEM_REFERENCE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tabela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r>
              <a:rPr lang="en-US" sz="14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'Reservas de Voo'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4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4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targetElement</a:t>
            </a:r>
            <a:r>
              <a:rPr lang="en-US" sz="14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4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256F3A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'_Booking'</a:t>
            </a:r>
            <a:r>
              <a:rPr lang="en-US" sz="14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400" i="1" dirty="0">
                <a:solidFill>
                  <a:srgbClr val="6A7B8C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associação CDS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4480560"/>
            <a:ext cx="6675120" cy="1005840"/>
          </a:xfrm>
          <a:prstGeom prst="roundRect">
            <a:avLst>
              <a:gd name="adj" fmla="val 10909"/>
            </a:avLst>
          </a:prstGeom>
          <a:solidFill>
            <a:srgbClr val="F1ED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280160" y="448056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Esta é a ponte.</a:t>
            </a:r>
            <a:r>
              <a:rPr lang="en-US" sz="1500" dirty="0">
                <a:solidFill>
                  <a:srgbClr val="1D2D3E"/>
                </a:solidFill>
              </a:rPr>
              <a:t> O framework usa o nome desta associação para buscar e exibir os dados da entidade filha.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498080" y="1600200"/>
            <a:ext cx="4144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64D9"/>
                </a:solidFill>
              </a:rPr>
              <a:t>O Resultado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498080" y="2057400"/>
            <a:ext cx="4144975" cy="246888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680960" y="2148840"/>
            <a:ext cx="3779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7858FF"/>
                </a:solidFill>
              </a:rPr>
              <a:t>Visão Geral      Reservas de Voo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35240" y="2560320"/>
          <a:ext cx="3870655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548640"/>
                <a:gridCol w="1143000"/>
                <a:gridCol w="126187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556B82"/>
                          </a:solidFill>
                        </a:rPr>
                        <a:t>Cia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556B82"/>
                          </a:solidFill>
                        </a:rPr>
                        <a:t>Voo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556B82"/>
                          </a:solidFill>
                        </a:rPr>
                        <a:t>Data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556B82"/>
                          </a:solidFill>
                        </a:rPr>
                        <a:t>Status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</a:rPr>
                        <a:t>LH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</a:rPr>
                        <a:t>401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</a:rPr>
                        <a:t>01.12.2023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</a:rPr>
                        <a:t>Confirmado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</a:rPr>
                        <a:t>AA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</a:rPr>
                        <a:t>75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</a:rPr>
                        <a:t>15.12.2023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</a:rPr>
                        <a:t>Reservado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</a:rPr>
                        <a:t>UA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</a:rPr>
                        <a:t>902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</a:rPr>
                        <a:t>20.12.2023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</a:rPr>
                        <a:t>Em espera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809744"/>
            <a:ext cx="347472" cy="3474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A Síntese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Do Código à Interface Completa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023360" y="1600200"/>
            <a:ext cx="4114800" cy="45720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041648" y="1600200"/>
            <a:ext cx="4078224" cy="320040"/>
          </a:xfrm>
          <a:prstGeom prst="rect">
            <a:avLst/>
          </a:prstGeom>
          <a:solidFill>
            <a:srgbClr val="1D2D3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160520" y="1600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SAP Fiori Object Page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0" y="2011680"/>
            <a:ext cx="3931920" cy="822960"/>
          </a:xfrm>
          <a:prstGeom prst="rect">
            <a:avLst/>
          </a:prstGeom>
          <a:solidFill>
            <a:srgbClr val="EEF1F4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251960" y="201168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B82"/>
                </a:solidFill>
              </a:rPr>
              <a:t>Custo Total</a:t>
            </a:r>
            <a:endParaRPr lang="en-US" sz="1600" dirty="0"/>
          </a:p>
          <a:p>
            <a:pPr indent="0" marL="0">
              <a:buNone/>
            </a:pPr>
            <a:r>
              <a:rPr lang="en-US" sz="2000" b="1" dirty="0">
                <a:solidFill>
                  <a:srgbClr val="0064D9"/>
                </a:solidFill>
              </a:rPr>
              <a:t>15.500 EUR ↗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29260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64D9"/>
                </a:solidFill>
              </a:rPr>
              <a:t>Visão Geral    Itinerário    Reservas de Voo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14800" y="3246120"/>
            <a:ext cx="393192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206240" y="32644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D2D3E"/>
                </a:solidFill>
              </a:rPr>
              <a:t>Informações Gerais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206240" y="3566160"/>
            <a:ext cx="3749040" cy="182880"/>
          </a:xfrm>
          <a:prstGeom prst="rect">
            <a:avLst/>
          </a:prstGeom>
          <a:solidFill>
            <a:srgbClr val="F5F6F7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06240" y="3858768"/>
            <a:ext cx="3749040" cy="182880"/>
          </a:xfrm>
          <a:prstGeom prst="rect">
            <a:avLst/>
          </a:prstGeom>
          <a:solidFill>
            <a:srgbClr val="F5F6F7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0" y="4215384"/>
            <a:ext cx="3931920" cy="585216"/>
          </a:xfrm>
          <a:prstGeom prst="rect">
            <a:avLst/>
          </a:prstGeom>
          <a:solidFill>
            <a:srgbClr val="F5FAE5"/>
          </a:solidFill>
          <a:ln w="22225">
            <a:solidFill>
              <a:srgbClr val="30914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206240" y="42336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D2D3E"/>
                </a:solidFill>
              </a:rPr>
              <a:t>Motivo da Rejeição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206240" y="4535424"/>
            <a:ext cx="3749040" cy="182880"/>
          </a:xfrm>
          <a:prstGeom prst="rect">
            <a:avLst/>
          </a:prstGeom>
          <a:solidFill>
            <a:srgbClr val="F5F6F7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0" y="4892040"/>
            <a:ext cx="393192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206240" y="491032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D2D3E"/>
                </a:solidFill>
              </a:rPr>
              <a:t>Reservas de Voo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206240" y="5212080"/>
            <a:ext cx="3749040" cy="182880"/>
          </a:xfrm>
          <a:prstGeom prst="rect">
            <a:avLst/>
          </a:prstGeom>
          <a:solidFill>
            <a:srgbClr val="F5F6F7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06240" y="5504688"/>
            <a:ext cx="3749040" cy="182880"/>
          </a:xfrm>
          <a:prstGeom prst="rect">
            <a:avLst/>
          </a:prstGeom>
          <a:solidFill>
            <a:srgbClr val="F5F6F7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06240" y="5797296"/>
            <a:ext cx="3749040" cy="182880"/>
          </a:xfrm>
          <a:prstGeom prst="rect">
            <a:avLst/>
          </a:prstGeom>
          <a:solidFill>
            <a:srgbClr val="F5F6F7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1600200"/>
            <a:ext cx="32461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25400">
            <a:solidFill>
              <a:srgbClr val="0070F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169164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purpose: #HEADER,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type: #DATAPOINT_REFERENCE,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targetQualifier: 'TotalCost'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3977640"/>
            <a:ext cx="32461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25400">
            <a:solidFill>
              <a:srgbClr val="30914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" y="406908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@UI.hidden: #(IsRejectionHidden),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label: 'Motivo da Rejeição',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value: RejectionReason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412480" y="1600200"/>
            <a:ext cx="32461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25400">
            <a:solidFill>
              <a:srgbClr val="E7650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549640" y="169164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id: 'GeneralInfo',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type: #FIELDGROUP_REFERENCE,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parentId: 'OverviewTab'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412480" y="3977640"/>
            <a:ext cx="32461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25400">
            <a:solidFill>
              <a:srgbClr val="7858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549640" y="406908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3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id: 'BookingTab',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D3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type: #LINEITEM_REFERENCE,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D3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targetElement: '_Booking'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Glossário Essencial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Seu Kit de Ferramentas Técnico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7982712"/>
              </a:tblGrid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56B82"/>
                          </a:solidFill>
                        </a:rPr>
                        <a:t>Termo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56B82"/>
                          </a:solidFill>
                        </a:rPr>
                        <a:t>Definição concisa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0064D9"/>
                          </a:solidFill>
                        </a:rPr>
                        <a:t>Header Facet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D2D3E"/>
                          </a:solidFill>
                        </a:rPr>
                        <a:t>Faceta especial para a área de cabeçalho, usada para KPIs e dados de alto nível sempre acessíveis.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56F3A"/>
                          </a:solidFill>
                        </a:rPr>
                        <a:t>Dynamic Visibility (Hidden)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D2D3E"/>
                          </a:solidFill>
                        </a:rPr>
                        <a:t>Capacidade de ocultar/exibir elementos da UI com base no estado dos dados, criando interfaces adaptativas.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5D36FF"/>
                          </a:solidFill>
                        </a:rPr>
                        <a:t>#LINEITEM_REFERENCE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D2D3E"/>
                          </a:solidFill>
                        </a:rPr>
                        <a:t>Tipo de faceta para renderizar uma tabela de itens relacionados (1:N), exigindo a propriedade </a:t>
                      </a:r>
                      <a:r>
                        <a:rPr lang="en-US" sz="15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targetElement</a:t>
                      </a:r>
                      <a:r>
                        <a:rPr lang="en-US" sz="1500" dirty="0">
                          <a:solidFill>
                            <a:srgbClr val="1D2D3E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0064D9"/>
                          </a:solidFill>
                        </a:rPr>
                        <a:t>#DATAPOINT_REFERENCE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D2D3E"/>
                          </a:solidFill>
                        </a:rPr>
                        <a:t>Tipo de faceta para exibir um único valor com grande destaque visual, ideal para cabeçalhos.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5D36FF"/>
                          </a:solidFill>
                        </a:rPr>
                        <a:t>Target Element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D2D3E"/>
                          </a:solidFill>
                        </a:rPr>
                        <a:t>Propriedade mandatória que indica qual associação CDS deve ser usada para buscar dados de uma entidade filha.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Guia de Aninhamento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Entendendo a Hierarquia das Facetas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Level 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1094415" cy="777240"/>
          </a:xfrm>
          <a:prstGeom prst="roundRect">
            <a:avLst>
              <a:gd name="adj" fmla="val 9412"/>
            </a:avLst>
          </a:prstGeom>
          <a:solidFill>
            <a:srgbClr val="EEF1F4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828800"/>
            <a:ext cx="10728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 (purpose: #HEADER)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Visível sempre. Ideal para DataPoints, MicroCharts.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697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Level 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280160" y="2971800"/>
            <a:ext cx="10362895" cy="777240"/>
          </a:xfrm>
          <a:prstGeom prst="roundRect">
            <a:avLst>
              <a:gd name="adj" fmla="val 9412"/>
            </a:avLst>
          </a:prstGeom>
          <a:solidFill>
            <a:srgbClr val="E2E7EC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463040" y="2971800"/>
            <a:ext cx="99971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(type: #COLLECTION)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Cria um item na barra de navegação (aba). Atua como container.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68680" y="2651760"/>
            <a:ext cx="411480" cy="685800"/>
          </a:xfrm>
          <a:prstGeom prst="line">
            <a:avLst/>
          </a:prstGeom>
          <a:noFill/>
          <a:ln w="19050">
            <a:solidFill>
              <a:srgbClr val="556B82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2011680" y="3840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Level 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011680" y="4114800"/>
            <a:ext cx="9631375" cy="777240"/>
          </a:xfrm>
          <a:prstGeom prst="roundRect">
            <a:avLst>
              <a:gd name="adj" fmla="val 9412"/>
            </a:avLst>
          </a:prstGeom>
          <a:solidFill>
            <a:srgbClr val="D5DCE3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194560" y="4114800"/>
            <a:ext cx="9265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Sub-Section (parentId: 'ID_da_Section')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Renderiza o conteúdo real (formulário ou tabela) DENTRO de uma Section.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600200" y="3794760"/>
            <a:ext cx="411480" cy="685800"/>
          </a:xfrm>
          <a:prstGeom prst="line">
            <a:avLst/>
          </a:prstGeom>
          <a:noFill/>
          <a:ln w="19050">
            <a:solidFill>
              <a:srgbClr val="556B8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48640" y="5257800"/>
            <a:ext cx="11094415" cy="731520"/>
          </a:xfrm>
          <a:prstGeom prst="roundRect">
            <a:avLst>
              <a:gd name="adj" fmla="val 15000"/>
            </a:avLst>
          </a:prstGeom>
          <a:solidFill>
            <a:srgbClr val="EBF8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280160" y="5257800"/>
            <a:ext cx="100885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A chave para sub-seções é a propriedade </a:t>
            </a:r>
            <a:r>
              <a:rPr lang="en-US" sz="16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parentId</a:t>
            </a:r>
            <a:r>
              <a:rPr lang="en-US" sz="1600" dirty="0">
                <a:solidFill>
                  <a:srgbClr val="1D2D3E"/>
                </a:solidFill>
              </a:rPr>
              <a:t>, que vincula um bloco de conteúdo a uma aba container.</a:t>
            </a:r>
            <a:endParaRPr lang="en-US" sz="16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449824"/>
            <a:ext cx="347472" cy="3474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Teste Seu Conhecimento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83080"/>
            <a:ext cx="3515258" cy="3931920"/>
          </a:xfrm>
          <a:prstGeom prst="roundRect">
            <a:avLst>
              <a:gd name="adj" fmla="val 364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68680" y="19659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070F2"/>
                </a:solidFill>
              </a:rPr>
              <a:t>Q1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880360"/>
            <a:ext cx="287517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D2D3E"/>
                </a:solidFill>
              </a:rPr>
              <a:t>Qual a diferença visual e funcional entre definir uma faceta com </a:t>
            </a:r>
            <a:r>
              <a:rPr lang="en-US" sz="17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purpose: #STANDARD</a:t>
            </a:r>
            <a:r>
              <a:rPr lang="en-US" sz="1700" dirty="0">
                <a:solidFill>
                  <a:srgbClr val="1D2D3E"/>
                </a:solidFill>
              </a:rPr>
              <a:t> e </a:t>
            </a:r>
            <a:r>
              <a:rPr lang="en-US" sz="17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purpose: #HEADER</a:t>
            </a:r>
            <a:r>
              <a:rPr lang="en-US" sz="1700" dirty="0">
                <a:solidFill>
                  <a:srgbClr val="1D2D3E"/>
                </a:solidFill>
              </a:rPr>
              <a:t>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38218" y="1783080"/>
            <a:ext cx="3515258" cy="3931920"/>
          </a:xfrm>
          <a:prstGeom prst="roundRect">
            <a:avLst>
              <a:gd name="adj" fmla="val 364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658258" y="19659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070F2"/>
                </a:solidFill>
              </a:rPr>
              <a:t>Q2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4658258" y="2880360"/>
            <a:ext cx="287517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D2D3E"/>
                </a:solidFill>
              </a:rPr>
              <a:t>Para exibir uma lista de itens (tabela filha), que tipo de faceta devo usar e qual propriedade é obrigatória para conectar os dados?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127797" y="1783080"/>
            <a:ext cx="3515258" cy="3931920"/>
          </a:xfrm>
          <a:prstGeom prst="roundRect">
            <a:avLst>
              <a:gd name="adj" fmla="val 364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447837" y="19659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070F2"/>
                </a:solidFill>
              </a:rPr>
              <a:t>Q3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8447837" y="2880360"/>
            <a:ext cx="287517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D2D3E"/>
                </a:solidFill>
              </a:rPr>
              <a:t>Como posso ocultar dinamicamente um campo ‘Comentário’ se o status da viagem for ‘Em Aberto’, sem usar JavaScript?</a:t>
            </a:r>
            <a:endParaRPr lang="en-US" sz="1600" dirty="0"/>
          </a:p>
        </p:txBody>
      </p:sp>
      <p:sp>
        <p:nvSpPr>
          <p:cNvPr id="1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DB1FF"/>
                </a:solidFill>
              </a:rPr>
              <a:t>Conclusão</a:t>
            </a: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Respostas e Princípios-Chave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15258" cy="3291840"/>
          </a:xfrm>
          <a:prstGeom prst="roundRect">
            <a:avLst>
              <a:gd name="adj" fmla="val 3889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29666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A1: O Cabeçalho é para Estratégia, o Corpo é para Operação.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108960"/>
            <a:ext cx="296661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#HEADER</a:t>
            </a:r>
            <a:r>
              <a:rPr lang="en-US" sz="1400" dirty="0">
                <a:solidFill>
                  <a:srgbClr val="C9D3DE"/>
                </a:solidFill>
              </a:rPr>
              <a:t> posiciona KPIs para decisões rápidas no topo. </a:t>
            </a:r>
            <a:r>
              <a:rPr lang="en-US" sz="14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#STANDARD</a:t>
            </a:r>
            <a:r>
              <a:rPr lang="en-US" sz="1400" dirty="0">
                <a:solidFill>
                  <a:srgbClr val="C9D3DE"/>
                </a:solidFill>
              </a:rPr>
              <a:t> organiza o detalhamento e formulários de edição no corpo da página, em abas.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38218" y="1783080"/>
            <a:ext cx="3515258" cy="3291840"/>
          </a:xfrm>
          <a:prstGeom prst="roundRect">
            <a:avLst>
              <a:gd name="adj" fmla="val 3889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12538" y="1965960"/>
            <a:ext cx="29666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A2: Relacionamentos são definidos pelo targetElement.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612538" y="3108960"/>
            <a:ext cx="296661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3DE"/>
                </a:solidFill>
              </a:rPr>
              <a:t>Use </a:t>
            </a:r>
            <a:r>
              <a:rPr lang="en-US" sz="14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#LINEITEM_REFERENCE</a:t>
            </a:r>
            <a:r>
              <a:rPr lang="en-US" sz="1400" dirty="0">
                <a:solidFill>
                  <a:srgbClr val="C9D3DE"/>
                </a:solidFill>
              </a:rPr>
              <a:t> e aponte </a:t>
            </a:r>
            <a:r>
              <a:rPr lang="en-US" sz="14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targetElement</a:t>
            </a:r>
            <a:r>
              <a:rPr lang="en-US" sz="1400" dirty="0">
                <a:solidFill>
                  <a:srgbClr val="C9D3DE"/>
                </a:solidFill>
              </a:rPr>
              <a:t> para o nome da associação CDS. O framework cuida do resto.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27797" y="1783080"/>
            <a:ext cx="3515258" cy="3291840"/>
          </a:xfrm>
          <a:prstGeom prst="roundRect">
            <a:avLst>
              <a:gd name="adj" fmla="val 3889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02117" y="1965960"/>
            <a:ext cx="29666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A3: A Visibilidade é Declarativa, não Imperativa.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402117" y="3108960"/>
            <a:ext cx="296661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3DE"/>
                </a:solidFill>
              </a:rPr>
              <a:t>Crie um campo booleano na CDS e vincule-o via </a:t>
            </a:r>
            <a:r>
              <a:rPr lang="en-US" sz="14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@UI.hidden: #(NomeDoCampo)</a:t>
            </a:r>
            <a:r>
              <a:rPr lang="en-US" sz="1400" dirty="0">
                <a:solidFill>
                  <a:srgbClr val="C9D3DE"/>
                </a:solidFill>
              </a:rPr>
              <a:t>. A UI reage aos dados, não a scripts.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3035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Dominar estas quatro técnicas é o caminho para transformar qualquer Object Page padrão em uma ferramenta de trabalho </a:t>
            </a:r>
            <a:r>
              <a:rPr lang="en-US" sz="1700" b="1" dirty="0">
                <a:solidFill>
                  <a:srgbClr val="FFFFFF"/>
                </a:solidFill>
              </a:rPr>
              <a:t>inteligente, limpa e altamente eficaz</a:t>
            </a:r>
            <a:r>
              <a:rPr lang="en-US" sz="1700" dirty="0">
                <a:solidFill>
                  <a:srgbClr val="FFFFFF"/>
                </a:solidFill>
              </a:rPr>
              <a:t>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396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P Horizon">
  <a:themeElements>
    <a:clrScheme name="SAP Horizon">
      <a:dk1>
        <a:srgbClr val="1D2D3E"/>
      </a:dk1>
      <a:lt1>
        <a:srgbClr val="FFFFFF"/>
      </a:lt1>
      <a:dk2>
        <a:srgbClr val="556B82"/>
      </a:dk2>
      <a:lt2>
        <a:srgbClr val="F5F6F7"/>
      </a:lt2>
      <a:accent1>
        <a:srgbClr val="0070F2"/>
      </a:accent1>
      <a:accent2>
        <a:srgbClr val="30914C"/>
      </a:accent2>
      <a:accent3>
        <a:srgbClr val="E76500"/>
      </a:accent3>
      <a:accent4>
        <a:srgbClr val="D20A0A"/>
      </a:accent4>
      <a:accent5>
        <a:srgbClr val="7858FF"/>
      </a:accent5>
      <a:accent6>
        <a:srgbClr val="07838F"/>
      </a:accent6>
      <a:hlink>
        <a:srgbClr val="0064D9"/>
      </a:hlink>
      <a:folHlink>
        <a:srgbClr val="5D36FF"/>
      </a:folHlink>
    </a:clrScheme>
    <a:fontScheme name="SAP Horizon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 Básico a Brilhante: Object Pages de Alta Performance</dc:title>
  <dc:subject>ABAP Moderno – Módulo 03</dc:subject>
  <dc:creator>Adriano Bispo</dc:creator>
  <cp:lastModifiedBy>Adriano Bispo</cp:lastModifiedBy>
  <cp:revision>1</cp:revision>
  <dcterms:created xsi:type="dcterms:W3CDTF">2026-10-25T15:44:01Z</dcterms:created>
  <dcterms:modified xsi:type="dcterms:W3CDTF">2026-10-25T15:44:01Z</dcterms:modified>
</cp:coreProperties>
</file>