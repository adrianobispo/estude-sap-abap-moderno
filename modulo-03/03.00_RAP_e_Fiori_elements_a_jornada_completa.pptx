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Guia Essencial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Dominando SAP Fiori Elements com RAP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 jornada completa do desenvolvedor: da ideia à aplicação em produção.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Freestyle SAPUI5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@UI annotations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OData V4 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 Report · Object Page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Fiori Launchpad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 Artesão de Pixels a Arquiteto de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Freestyle SAPUI5 (O Artesão)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Flexibilidade total: cada botão e tabela são codificados manualmente.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Contras:</a:t>
            </a:r>
            <a:r>
              <a:rPr lang="en-US" sz="1500" dirty="0">
                <a:solidFill>
                  <a:srgbClr val="1D2D3E"/>
                </a:solidFill>
              </a:rPr>
              <a:t> custo de desenvolvimento e manutenção elevados (alto TCO), lento para entregar, propenso a inconsistências visuais.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SAP Fiori Elements (O Arquiteto)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Biblioteca de templates inteligentes que renderizam a UI com base em metadados do backend.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Prós:</a:t>
            </a:r>
            <a:r>
              <a:rPr lang="en-US" sz="1500" dirty="0">
                <a:solidFill>
                  <a:srgbClr val="1D2D3E"/>
                </a:solidFill>
              </a:rPr>
              <a:t> desenvolvimento extremamente rápido, baixo TCO, consistência de UX garantida e conformidade automática com as SAP Fiori Design Guidelines.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FF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937760"/>
            <a:ext cx="10088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 analogia do Lego:</a:t>
            </a:r>
            <a:r>
              <a:rPr lang="en-US" sz="1500" dirty="0">
                <a:solidFill>
                  <a:srgbClr val="1D2D3E"/>
                </a:solidFill>
              </a:rPr>
              <a:t> em vez de moldar argila (Freestyle), você recebe blocos prontos (Elements). Você não codifica ‘crie um botão azul aqui’: anota no backend ‘esta entidade é editável’, e o Fiori Elements lê a intenção e desenha a tela correta.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81244"/>
            <a:ext cx="347472" cy="347472"/>
          </a:xfrm>
          <a:prstGeom prst="rect">
            <a:avLst/>
          </a:prstGeom>
        </p:spPr>
      </p:pic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Arquitetura em Uma Página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Fluxo da Informação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2378" cy="4572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82880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Fonte da Verdade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Componentes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ABAP CDS Views (modelo de dados) + Behavior Definition (lógica transacional)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Responsabilidade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Definir a semântica, o comportamento e as anotações de UI (@UI).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54170" y="3611880"/>
            <a:ext cx="402336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658" y="1600200"/>
            <a:ext cx="3332378" cy="4572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978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26938" y="182880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Transporte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Protocolo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3978" y="283464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Componentes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OData V4 Service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3978" y="416052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Responsabilidade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Expor dados e metadados (traduzidos das anotações CDS) de forma padronizada. V4: performance, payload reduzido e edição rica (Deep Insert).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35189" y="3611880"/>
            <a:ext cx="402336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0677" y="1600200"/>
            <a:ext cx="3332378" cy="457200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84997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07957" y="182880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Frontend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Renderizador Inteligente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84997" y="283464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Componentes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SAP Fiori Elements (Floorplans &amp; Smart Controls)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84997" y="416052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Responsabilidade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Ler os metadados do serviço OData e renderizar a interface dinamicamente, sem código de UI manual.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70" y="2039112"/>
            <a:ext cx="356616" cy="356616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589" y="2039112"/>
            <a:ext cx="356616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Definindo o Contrato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“Cardápio” da sua Aplicação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87452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1. Service Definition (o “Cardápio”)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Atua como uma whitelist para selecionar explicitamente quais entidades (CDS Views) farão parte do serviço. Define o escopo do negócio, garantindo segurança e organização.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815688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4279392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alias desacopla o nome técnico interno do nome público da API.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3048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76008" y="187452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2. Service Binding (o “Protocolo e Tomada”)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74320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“Amarra” uma Service Definition a um endpoint HTTP real e a um protocolo.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356616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Protocolo:</a:t>
            </a:r>
            <a:r>
              <a:rPr lang="en-US" sz="1500" dirty="0">
                <a:solidFill>
                  <a:srgbClr val="1D2D3E"/>
                </a:solidFill>
              </a:rPr>
              <a:t> OData V4 (padrão) vs. OData V2 (compatibilidade).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Tipo de uso:</a:t>
            </a:r>
            <a:r>
              <a:rPr lang="en-US" sz="1500" dirty="0">
                <a:solidFill>
                  <a:srgbClr val="1D2D3E"/>
                </a:solidFill>
              </a:rPr>
              <a:t> UI (inclui anotações de UI para Fiori) vs. Web API (remove anotações de UI para integrações A2A/B2B).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40" y="2039112"/>
            <a:ext cx="356616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Descrevendo a Interface, Não a Codificando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Anotações ABAP CDS são a linguagem que o backend usa para instruir o frontend sobre como se desenhar. Você declara intenções, não implementa pixels.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603504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587752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'Viagem'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'Description'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24231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2404872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@UI.lineItem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Vira uma coluna na tabela do List Report.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3337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3319272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@UI.selectionField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Vira um filtro na barra de filtros.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4251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4233672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@UI.headerInfo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Define o título da Object Page (‘Viagem: [Description]’).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35240" y="5148072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@UI.identification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Vira um campo no formulário da Object Page.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3447288"/>
            <a:ext cx="237744" cy="237744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532888"/>
            <a:ext cx="237744" cy="237744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4361688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5276088"/>
            <a:ext cx="237744" cy="237744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Jornada do Usuário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Lista ao Detalhe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9"/>
                </a:solidFill>
              </a:rPr>
              <a:t>1. List Report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Foco: encontrar registros em grandes volumes de dados.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Smart Filter Bar:</a:t>
            </a:r>
            <a:r>
              <a:rPr lang="en-US" sz="1500" dirty="0">
                <a:solidFill>
                  <a:srgbClr val="1D2D3E"/>
                </a:solidFill>
              </a:rPr>
              <a:t> área de filtros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Smart Table:</a:t>
            </a:r>
            <a:r>
              <a:rPr lang="en-US" sz="1500" dirty="0">
                <a:solidFill>
                  <a:srgbClr val="1D2D3E"/>
                </a:solidFill>
              </a:rPr>
              <a:t> tabela de resultados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Ações na toolbar:</a:t>
            </a:r>
            <a:r>
              <a:rPr lang="en-US" sz="1500" dirty="0">
                <a:solidFill>
                  <a:srgbClr val="1D2D3E"/>
                </a:solidFill>
              </a:rPr>
              <a:t> criar, excluir, exportar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96735" y="1600200"/>
            <a:ext cx="48463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71055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94015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9"/>
                </a:solidFill>
              </a:rPr>
              <a:t>2. Object Page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071055" y="2788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Foco: entender e modificar um único registro.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71055" y="36576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Header:</a:t>
            </a:r>
            <a:r>
              <a:rPr lang="en-US" sz="1500" dirty="0">
                <a:solidFill>
                  <a:srgbClr val="1D2D3E"/>
                </a:solidFill>
              </a:rPr>
              <a:t> área de título e KPIs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Sections / Facets:</a:t>
            </a:r>
            <a:r>
              <a:rPr lang="en-US" sz="1500" dirty="0">
                <a:solidFill>
                  <a:srgbClr val="1D2D3E"/>
                </a:solidFill>
              </a:rPr>
              <a:t> corpo da página dividido em abas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77840" y="3611880"/>
            <a:ext cx="1036015" cy="54864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4251960"/>
            <a:ext cx="1401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Drill-down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47" y="2039112"/>
            <a:ext cx="356616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SAP Fiori Tools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Acelerando com Ferramentas Visuais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Ambientes suportados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0391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SAP Business Application Studio (BAS)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IDE na nuvem, pré-configurada.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90779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Visual Studio Code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Editor local com o “SAP Fiori Tools – Extension Pack”.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Ferramentas essenciais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2039112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Application Generator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a estrutura inicial do projeto via assistente.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2907792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Page Map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Visualiza a hierarquia de páginas e facilita extensões.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3776472"/>
            <a:ext cx="4647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Guided Development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Biblioteca de “receitas” de código para tarefas comuns.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342381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4965192"/>
            <a:ext cx="32409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Application Generator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gera o projeto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45610" y="53492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3938" y="4892040"/>
            <a:ext cx="342381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475378" y="4965192"/>
            <a:ext cx="32409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Page Map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List Report → Object Page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80909" y="53492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19237" y="4892040"/>
            <a:ext cx="342381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10677" y="4965192"/>
            <a:ext cx="32409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Guided Development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aplica receitas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67128"/>
            <a:ext cx="237744" cy="237744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167128"/>
            <a:ext cx="237744" cy="237744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35808"/>
            <a:ext cx="237744" cy="237744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035808"/>
            <a:ext cx="237744" cy="237744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90448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Facetas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Blocos de Construção da Object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Facetas (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700" dirty="0">
                <a:solidFill>
                  <a:srgbClr val="1D2D3E"/>
                </a:solidFill>
              </a:rPr>
              <a:t>) dizem ao </a:t>
            </a:r>
            <a:r>
              <a:rPr lang="en-US" sz="1700" b="1" dirty="0">
                <a:solidFill>
                  <a:srgbClr val="1D2D3E"/>
                </a:solidFill>
              </a:rPr>
              <a:t>Fiori Elements</a:t>
            </a:r>
            <a:r>
              <a:rPr lang="en-US" sz="1700" dirty="0">
                <a:solidFill>
                  <a:srgbClr val="1D2D3E"/>
                </a:solidFill>
              </a:rPr>
              <a:t> como </a:t>
            </a:r>
            <a:r>
              <a:rPr lang="en-US" sz="1700" b="1" dirty="0">
                <a:solidFill>
                  <a:srgbClr val="1D2D3E"/>
                </a:solidFill>
              </a:rPr>
              <a:t>organizar o conteúdo na Object Page</a:t>
            </a:r>
            <a:r>
              <a:rPr lang="en-US" sz="1700" dirty="0">
                <a:solidFill>
                  <a:srgbClr val="1D2D3E"/>
                </a:solidFill>
              </a:rPr>
              <a:t>. Sem elas, a página fica vazia.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766560" cy="3611880"/>
          </a:xfrm>
          <a:prstGeom prst="roundRect">
            <a:avLst>
              <a:gd name="adj" fmla="val 3544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Collection Facet (estrutura)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Resultado visual: cria a seção/aba ‘Informações Gerais’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971800" cy="2286000"/>
          </a:xfrm>
          <a:prstGeom prst="roundRect">
            <a:avLst>
              <a:gd name="adj" fmla="val 4800"/>
            </a:avLst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6118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Reference Facet (conteúdo)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Renderiza o formulário “Dados Básicos”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9080" y="3611880"/>
            <a:ext cx="2971800" cy="2286000"/>
          </a:xfrm>
          <a:prstGeom prst="roundRect">
            <a:avLst>
              <a:gd name="adj" fmla="val 4800"/>
            </a:avLst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36118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Reference Facet (conteúdo)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Renderiza a tabela “Itens”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2587752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Collection Facet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Propósito:</a:t>
            </a:r>
            <a:r>
              <a:rPr lang="en-US" sz="1400" dirty="0">
                <a:solidFill>
                  <a:srgbClr val="556B82"/>
                </a:solidFill>
              </a:rPr>
              <a:t> agrupar outras facetas. Não renderiza conteúdo diretamente.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4251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4233672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Reference Facet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Propósito:</a:t>
            </a:r>
            <a:r>
              <a:rPr lang="en-US" sz="1400" dirty="0">
                <a:solidFill>
                  <a:srgbClr val="556B82"/>
                </a:solidFill>
              </a:rPr>
              <a:t> apontar para uma definição de conteúdo (formulários, tabelas) e renderizá-la.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661" y="2726741"/>
            <a:ext cx="261518" cy="26151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437266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Dando Vida à Interface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Feedback Visual e 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78024"/>
            <a:ext cx="300319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1. Criticality (cores semânticas)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Mapeia um valor numérico para cores que transmitem significado (vermelho/amarelo/verde) para status, com ícones para acessibilidade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#WITH_ICON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2478024"/>
            <a:ext cx="300319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2. Actions (ações de negócio)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Adiciona botões na linha ou na barra de ferramentas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300" dirty="0">
                <a:solidFill>
                  <a:srgbClr val="556B82"/>
                </a:solidFill>
              </a:rPr>
              <a:t>) que disparam lógica de negócio definida no backend.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2478024"/>
            <a:ext cx="300319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3. Importance (responsividade)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Controla quais colunas se adaptam a telas menores, garantindo usabilidade em celulares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#LOW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743200"/>
                <a:gridCol w="41422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Pedido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Ações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10030071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7,00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6F3A"/>
                          </a:solidFill>
                        </a:rPr>
                        <a:t>✓ Aprovado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</a:rPr>
                        <a:t>[Aprovar]  [Rejeitar]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10000133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45,00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4F00"/>
                          </a:solidFill>
                        </a:rPr>
                        <a:t>! Pendente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</a:rPr>
                        <a:t>[Aprovar]  [Rejeitar]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10003137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0,00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0808"/>
                          </a:solidFill>
                        </a:rPr>
                        <a:t>✗ Rejeitado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</a:rPr>
                        <a:t>[Aprovar]  [Rejeitar]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3557" y="1965960"/>
            <a:ext cx="237744" cy="237744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237744" cy="237744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Conectando o Ecossistema com Navegação Inteligente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O mecanismo: navegação baseada em intenção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677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SemanticObject-Action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Customer-display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app de origem não sabe qual app de destino será aberto: apenas declara uma intenção (“quero exibir um cliente”). O </a:t>
            </a:r>
            <a:r>
              <a:rPr lang="en-US" sz="1400" b="1" dirty="0">
                <a:solidFill>
                  <a:srgbClr val="1D2D3E"/>
                </a:solidFill>
              </a:rPr>
              <a:t>Fiori Launchpad</a:t>
            </a:r>
            <a:r>
              <a:rPr lang="en-US" sz="1400" dirty="0">
                <a:solidFill>
                  <a:srgbClr val="1D2D3E"/>
                </a:solidFill>
              </a:rPr>
              <a:t> atua como um “corretor” que resolve essa intenção com base na configuração e nas permissões do usuário (</a:t>
            </a:r>
            <a:r>
              <a:rPr lang="en-US" sz="1400" b="1" dirty="0">
                <a:solidFill>
                  <a:srgbClr val="1D2D3E"/>
                </a:solidFill>
              </a:rPr>
              <a:t>Target Mapping</a:t>
            </a:r>
            <a:r>
              <a:rPr lang="en-US" sz="1400" dirty="0">
                <a:solidFill>
                  <a:srgbClr val="1D2D3E"/>
                </a:solidFill>
              </a:rPr>
              <a:t>). Usa-se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@UI.lineItem: { type: #FOR_INTENT_BASED_NAVIGATION }</a:t>
            </a:r>
            <a:r>
              <a:rPr lang="en-US" sz="1400" dirty="0">
                <a:solidFill>
                  <a:srgbClr val="1D2D3E"/>
                </a:solidFill>
              </a:rPr>
              <a:t> na coluna.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2971800"/>
            <a:ext cx="1645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App de Viagens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0" y="3520440"/>
            <a:ext cx="68580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2743200"/>
            <a:ext cx="1600200" cy="1554480"/>
          </a:xfrm>
          <a:prstGeom prst="hexagon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7432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Fiori Launchpad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Target Mapping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87000" y="3520440"/>
            <a:ext cx="27432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607040" y="2971800"/>
            <a:ext cx="1036015" cy="1097280"/>
          </a:xfrm>
          <a:prstGeom prst="roundRect">
            <a:avLst>
              <a:gd name="adj" fmla="val 12357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607040" y="2971800"/>
            <a:ext cx="1036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App Cockpit do Cliente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43484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#Customer-display  →  ?CustomerID=0001</a:t>
            </a:r>
            <a:endParaRPr lang="en-US" sz="1200" dirty="0"/>
          </a:p>
        </p:txBody>
      </p:sp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Melhor dos Dois Mundos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Padrão com Flexibilidade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 solução:</a:t>
            </a:r>
            <a:r>
              <a:rPr lang="en-US" sz="1600" dirty="0">
                <a:solidFill>
                  <a:srgbClr val="1D2D3E"/>
                </a:solidFill>
              </a:rPr>
              <a:t> o Flexible Programming Model (FPM) permite manter 90% da aplicação padrão e “injetar” código customizado nos 10% que precisam de algo especial, de forma suportada e estável.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49631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Extension Points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Locais seguros na estrutura padrão para inserir seções, colunas ou ações customizadas (Views e Fragments XML).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68503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Building Blocks (Macros)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Componentes inteligentes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&lt;macros:Table&gt;</a:t>
            </a:r>
            <a:r>
              <a:rPr lang="en-US" sz="1400" dirty="0">
                <a:solidFill>
                  <a:srgbClr val="556B82"/>
                </a:solidFill>
              </a:rPr>
              <a:t>) que trazem a funcionalidade ‘metadata-driven’ para dentro das seções customizadas.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87375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Controller Extensions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Arquivos JavaScript que adicionam lógica de frontend customizada, interagindo com a aplicação via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ExtensionAPI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2514600"/>
            <a:ext cx="4327855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43800" y="2788920"/>
            <a:ext cx="1821028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43800" y="288036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Seção padrão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93428" y="2788920"/>
            <a:ext cx="1821028" cy="1417320"/>
          </a:xfrm>
          <a:prstGeom prst="roundRect">
            <a:avLst>
              <a:gd name="adj" fmla="val 5161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593428" y="288036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Extension 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4434840"/>
            <a:ext cx="1821028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452628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Seção padrão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93428" y="4434840"/>
            <a:ext cx="1821028" cy="1417320"/>
          </a:xfrm>
          <a:prstGeom prst="roundRect">
            <a:avLst>
              <a:gd name="adj" fmla="val 5161"/>
            </a:avLst>
          </a:prstGeom>
          <a:solidFill>
            <a:srgbClr val="EEF1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93428" y="452628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Seção padrão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635301"/>
            <a:ext cx="261518" cy="26151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824021"/>
            <a:ext cx="261518" cy="26151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012741"/>
            <a:ext cx="261518" cy="261518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901" y="329184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Da Sua Máquina ao Launchpad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Processo de ‘Go-Live’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00200"/>
            <a:ext cx="963137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14600" y="1600200"/>
            <a:ext cx="8259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Passo 1: Build &amp; Deploy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As Fiori Tools executam um build (otimizando o código) e fazem o upload para o servidor ABAP. </a:t>
            </a:r>
            <a:r>
              <a:rPr lang="en-US" sz="1400" b="1" dirty="0">
                <a:solidFill>
                  <a:srgbClr val="1D2D3E"/>
                </a:solidFill>
              </a:rPr>
              <a:t>Resultado:</a:t>
            </a:r>
            <a:r>
              <a:rPr lang="en-US" sz="1400" dirty="0">
                <a:solidFill>
                  <a:srgbClr val="1D2D3E"/>
                </a:solidFill>
              </a:rPr>
              <a:t> código armazenado como uma </a:t>
            </a:r>
            <a:r>
              <a:rPr lang="en-US" sz="1400" b="1" dirty="0">
                <a:solidFill>
                  <a:srgbClr val="1D2D3E"/>
                </a:solidFill>
              </a:rPr>
              <a:t>BSP Application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12968" y="2880360"/>
            <a:ext cx="365760" cy="27432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3154680"/>
            <a:ext cx="963137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54480" y="34290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14600" y="3154680"/>
            <a:ext cx="8259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Passo 2: Configuração do Fiori Launchpad (FLP)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Em dois níveis, para reutilização: </a:t>
            </a:r>
            <a:r>
              <a:rPr lang="en-US" sz="1400" b="1" dirty="0">
                <a:solidFill>
                  <a:srgbClr val="1D2D3E"/>
                </a:solidFill>
              </a:rPr>
              <a:t>Technical Catalog</a:t>
            </a:r>
            <a:r>
              <a:rPr lang="en-US" sz="1400" dirty="0">
                <a:solidFill>
                  <a:srgbClr val="1D2D3E"/>
                </a:solidFill>
              </a:rPr>
              <a:t> (repositório com Tile + Target Mapping) e </a:t>
            </a:r>
            <a:r>
              <a:rPr lang="en-US" sz="1400" b="1" dirty="0">
                <a:solidFill>
                  <a:srgbClr val="1D2D3E"/>
                </a:solidFill>
              </a:rPr>
              <a:t>Business Catalog</a:t>
            </a:r>
            <a:r>
              <a:rPr lang="en-US" sz="1400" dirty="0">
                <a:solidFill>
                  <a:srgbClr val="1D2D3E"/>
                </a:solidFill>
              </a:rPr>
              <a:t> (agrupamento funcional que referencia o catálogo técnico).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12968" y="4434840"/>
            <a:ext cx="365760" cy="27432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4709160"/>
            <a:ext cx="963137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54480" y="4983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14600" y="4709160"/>
            <a:ext cx="8259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Passo 3: Atribuição de Acesso (IAM)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</a:t>
            </a:r>
            <a:r>
              <a:rPr lang="en-US" sz="1400" b="1" dirty="0">
                <a:solidFill>
                  <a:srgbClr val="1D2D3E"/>
                </a:solidFill>
              </a:rPr>
              <a:t>Business Catalog</a:t>
            </a:r>
            <a:r>
              <a:rPr lang="en-US" sz="1400" dirty="0">
                <a:solidFill>
                  <a:srgbClr val="1D2D3E"/>
                </a:solidFill>
              </a:rPr>
              <a:t> é atribuído a uma </a:t>
            </a:r>
            <a:r>
              <a:rPr lang="en-US" sz="1400" b="1" dirty="0">
                <a:solidFill>
                  <a:srgbClr val="1D2D3E"/>
                </a:solidFill>
              </a:rPr>
              <a:t>Business Role</a:t>
            </a:r>
            <a:r>
              <a:rPr lang="en-US" sz="1400" dirty="0">
                <a:solidFill>
                  <a:srgbClr val="1D2D3E"/>
                </a:solidFill>
              </a:rPr>
              <a:t>. A Role é atribuída ao </a:t>
            </a:r>
            <a:r>
              <a:rPr lang="en-US" sz="1400" b="1" dirty="0">
                <a:solidFill>
                  <a:srgbClr val="1D2D3E"/>
                </a:solidFill>
              </a:rPr>
              <a:t>usuário final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045" y="2050085"/>
            <a:ext cx="380390" cy="38039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45" y="3604565"/>
            <a:ext cx="380390" cy="38039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45" y="515904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Workflow do Desenvolvedor Moderno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2219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026664"/>
            <a:ext cx="2055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1. Modelar &amp; Anotar (Backend)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Criar CDS Views, Behavior Definitions e anotações @UI.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96596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46856" y="22219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46856" y="3026664"/>
            <a:ext cx="2055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2. Visualizar &amp; Validar (Preview)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Validar instantaneamente o resultado das anotações no Service Binding Preview.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9040" y="22219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9040" y="3026664"/>
            <a:ext cx="2055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3. Estender &amp; Refinar (Frontend)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Gerar o projeto, adicionar extensões FPM e overrides locais com Fiori Tools.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96596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31223" y="22219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1223" y="3026664"/>
            <a:ext cx="2055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4. Implantar &amp; Integrar (Deploy)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Publicar a aplicação no servidor ABAP e configurá-la no Fiori Launchpad.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534924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 ciclo contínuo: cada iteração começa no backend e termina na mão do usuário — e recomeça com o próximo requisito.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375611"/>
            <a:ext cx="332842" cy="33284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2375611"/>
            <a:ext cx="332842" cy="332842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59" y="2375611"/>
            <a:ext cx="332842" cy="332842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64124"/>
            <a:ext cx="347472" cy="347472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843" y="2375611"/>
            <a:ext cx="332842" cy="332842"/>
          </a:xfrm>
          <a:prstGeom prst="rect">
            <a:avLst/>
          </a:prstGeom>
        </p:spPr>
      </p:pic>
      <p:sp>
        <p:nvSpPr>
          <p:cNvPr id="2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Arquitetura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Lógica de Negócio ao Acesso do Usuário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Usuário e Acesso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1600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200400" y="1673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Business Role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82970" y="1920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6075578" y="1600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167018" y="1673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Business Catalog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49589" y="1920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9042197" y="1600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33637" y="1673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Technical Catalog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36FF"/>
                </a:solidFill>
              </a:rPr>
              <a:t>Frontend e Navegação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2743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F1ED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200400" y="2816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36FF"/>
                </a:solidFill>
              </a:rPr>
              <a:t>Tile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82970" y="3063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5578" y="2743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F1ED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67018" y="2816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36FF"/>
                </a:solidFill>
              </a:rPr>
              <a:t>Target Mapping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49589" y="3063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2197" y="2743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F1ED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33637" y="2816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36FF"/>
                </a:solidFill>
              </a:rPr>
              <a:t>Aplicação BSP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86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C76"/>
                </a:solidFill>
              </a:rPr>
              <a:t>Protocolo e Contrato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3886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0F7F7"/>
          </a:solidFill>
          <a:ln w="9525">
            <a:solidFill>
              <a:srgbClr val="07838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200400" y="3959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OData V4 Service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82970" y="4206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6" name="Shape 24"/>
          <p:cNvSpPr/>
          <p:nvPr/>
        </p:nvSpPr>
        <p:spPr>
          <a:xfrm>
            <a:off x="6075578" y="3886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0F7F7"/>
          </a:solidFill>
          <a:ln w="9525">
            <a:solidFill>
              <a:srgbClr val="07838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67018" y="3959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Service Binding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49589" y="4206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2197" y="3886200"/>
            <a:ext cx="2600858" cy="914400"/>
          </a:xfrm>
          <a:prstGeom prst="roundRect">
            <a:avLst>
              <a:gd name="adj" fmla="val 14000"/>
            </a:avLst>
          </a:prstGeom>
          <a:solidFill>
            <a:srgbClr val="E0F7F7"/>
          </a:solidFill>
          <a:ln w="9525">
            <a:solidFill>
              <a:srgbClr val="07838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33637" y="3959352"/>
            <a:ext cx="24179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Service Definition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Backend e Lógica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108960" y="5029200"/>
            <a:ext cx="4084168" cy="914400"/>
          </a:xfrm>
          <a:prstGeom prst="roundRect">
            <a:avLst>
              <a:gd name="adj" fmla="val 14000"/>
            </a:avLst>
          </a:prstGeom>
          <a:solidFill>
            <a:srgbClr val="F5FAE5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200400" y="5102352"/>
            <a:ext cx="3901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Consumption Views (CDS)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66280" y="534924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35" name="Shape 33"/>
          <p:cNvSpPr/>
          <p:nvPr/>
        </p:nvSpPr>
        <p:spPr>
          <a:xfrm>
            <a:off x="7558888" y="5029200"/>
            <a:ext cx="4084168" cy="914400"/>
          </a:xfrm>
          <a:prstGeom prst="roundRect">
            <a:avLst>
              <a:gd name="adj" fmla="val 14000"/>
            </a:avLst>
          </a:prstGeom>
          <a:solidFill>
            <a:srgbClr val="F5FAE5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650328" y="5102352"/>
            <a:ext cx="3901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Behavior Definition (RAP)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Lembrar Desta Jornada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4343400"/>
          </a:xfrm>
          <a:prstGeom prst="roundRect">
            <a:avLst>
              <a:gd name="adj" fmla="val 498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83464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 Backend é o Rei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019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verdade da UI reside nas anotações CDS: a maior parte da interface deve ser definida no backend, para consistência e reutilização.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0824" y="1783080"/>
            <a:ext cx="2567864" cy="4343400"/>
          </a:xfrm>
          <a:prstGeom prst="roundRect">
            <a:avLst>
              <a:gd name="adj" fmla="val 498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5144" y="283464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Padrão Primeiro, Flexibilidade Sob Demanda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3749040"/>
            <a:ext cx="2019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Fiori Elements para 90% dos casos; FPM como ‘válvula de escape’ cirúrgica para requisitos complexos.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67864" cy="4343400"/>
          </a:xfrm>
          <a:prstGeom prst="roundRect">
            <a:avLst>
              <a:gd name="adj" fmla="val 498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83464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Ferramentas Aceleram, Não Substituem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3749040"/>
            <a:ext cx="2019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Use as SAP Fiori Tools para eliminar trabalho manual, mas entenda a arquitetura que elas manipulam.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75191" y="1783080"/>
            <a:ext cx="2567864" cy="4343400"/>
          </a:xfrm>
          <a:prstGeom prst="roundRect">
            <a:avLst>
              <a:gd name="adj" fmla="val 498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49511" y="283464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Desacoplamento é Poder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49511" y="3749040"/>
            <a:ext cx="2019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Navegação baseada em intenção e hierarquia de catálogos mantêm o ecossistema estável quando outros apps mudam.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144" y="2057400"/>
            <a:ext cx="640080" cy="64008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57400"/>
            <a:ext cx="640080" cy="64008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511" y="20574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Dominando SAP Fiori Elements com RAP</dc:title>
  <dc:subject>ABAP Moderno – Módulo 03</dc:subject>
  <dc:creator>Adriano Bispo</dc:creator>
  <cp:lastModifiedBy>Adriano Bispo</cp:lastModifiedBy>
  <cp:revision>1</cp:revision>
  <dcterms:created xsi:type="dcterms:W3CDTF">2026-10-25T15:28:06Z</dcterms:created>
  <dcterms:modified xsi:type="dcterms:W3CDTF">2026-10-25T15:28:06Z</dcterms:modified>
</cp:coreProperties>
</file>