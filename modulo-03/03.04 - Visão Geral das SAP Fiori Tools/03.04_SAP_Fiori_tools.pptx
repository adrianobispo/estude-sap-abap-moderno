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03.04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 Lógica de Negócio à Experiência do Usuário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Dominando o desenvolvimento frontend com SAP Fiori Tools — um guia para desenvolvedores ABAP e CDS.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 à mão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Generator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Guided 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vs. Frontend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Por que precisamos dele?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 Novo Conjunto de Ferramentas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Nosso foco até agora: o Backend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Todo o nosso trabalho esteve no ADT/Eclipse, definindo modelos de dados e comportamentos com ABAP e CDS Views.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76008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 realidade do Frontend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Para que o aplicativo exista no Fiori Launchpad, ele precisa ser um projeto Web (HTML5/JavaScript). No passado, isso significava editar manualmente arquivos de configuração complexos (JSON, XML): um processo lento e propenso a erros.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4526280"/>
            <a:ext cx="10088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As </a:t>
            </a:r>
            <a:r>
              <a:rPr lang="en-US" sz="1600" b="1" dirty="0">
                <a:solidFill>
                  <a:srgbClr val="1D2D3E"/>
                </a:solidFill>
              </a:rPr>
              <a:t>SAP Fiori Tools</a:t>
            </a:r>
            <a:r>
              <a:rPr lang="en-US" sz="1600" dirty="0">
                <a:solidFill>
                  <a:srgbClr val="1D2D3E"/>
                </a:solidFill>
              </a:rPr>
              <a:t> são um conjunto de extensões que automatizam e simplificam este processo, transformando a complexidade do frontend em um fluxo de trabalho </a:t>
            </a:r>
            <a:r>
              <a:rPr lang="en-US" sz="1600" b="1" dirty="0">
                <a:solidFill>
                  <a:srgbClr val="1D2D3E"/>
                </a:solidFill>
              </a:rPr>
              <a:t>visual e guiado</a:t>
            </a:r>
            <a:r>
              <a:rPr lang="en-US" sz="1600" dirty="0">
                <a:solidFill>
                  <a:srgbClr val="1D2D3E"/>
                </a:solidFill>
              </a:rPr>
              <a:t>: a ponte entre o backend e a experiência do usuário.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667" y="2028139"/>
            <a:ext cx="332842" cy="33284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926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Escolhendo seu Ambiente de Desenvolvimento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1987906" cy="329184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987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Recomendação SAP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SAP Business Application Studio (BAS)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Tipo: </a:t>
            </a:r>
            <a:r>
              <a:rPr lang="en-US" sz="1400" dirty="0">
                <a:solidFill>
                  <a:srgbClr val="1D2D3E"/>
                </a:solidFill>
              </a:rPr>
              <a:t>Ambiente de desenvolvimento em nuvem (Cloud IDE) no SAP BTP.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Vantagens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Pré-configurado com Fiori Tools, Java, Node.js.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Conectividade nativa com sistemas S/4HANA (Cloud e On-Premise).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Zero setup local: basta um navegador.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Ideal para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Desenvolvimento Side-by-Side e S/4HANA Cloud.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3048" y="1828800"/>
            <a:ext cx="2300630" cy="329184"/>
          </a:xfrm>
          <a:prstGeom prst="roundRect">
            <a:avLst>
              <a:gd name="adj" fmla="val 50000"/>
            </a:avLst>
          </a:prstGeom>
          <a:solidFill>
            <a:srgbClr val="EAEC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3048" y="1828800"/>
            <a:ext cx="23006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Flexibilidade Local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2860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Visual Studio Code (VS Code)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30175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Tipo: </a:t>
            </a:r>
            <a:r>
              <a:rPr lang="en-US" sz="1400" dirty="0">
                <a:solidFill>
                  <a:srgbClr val="1D2D3E"/>
                </a:solidFill>
              </a:rPr>
              <a:t>Editor de código local, open-source.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6118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Vantagens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39319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Familiar para desenvolvedores web.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Performance local e funcionamento offline.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Vasto ecossistema de extensões.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52578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Requisito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Instalação manual de Node.js e do pacote ‘SAP Fiori Tools – Extension Pack’.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828800"/>
            <a:ext cx="640080" cy="64008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828800"/>
            <a:ext cx="640080" cy="640080"/>
          </a:xfrm>
          <a:prstGeom prst="rect">
            <a:avLst/>
          </a:prstGeom>
        </p:spPr>
      </p:pic>
      <p:sp>
        <p:nvSpPr>
          <p:cNvPr id="2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Ponto de Partida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Gerando a Estrutura do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Esqueça a criação manual de pastas (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</a:t>
            </a:r>
            <a:r>
              <a:rPr lang="en-US" sz="1700" dirty="0">
                <a:solidFill>
                  <a:srgbClr val="1D2D3E"/>
                </a:solidFill>
              </a:rPr>
              <a:t>,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r>
              <a:rPr lang="en-US" sz="1700" dirty="0">
                <a:solidFill>
                  <a:srgbClr val="1D2D3E"/>
                </a:solidFill>
              </a:rPr>
              <a:t>) ou arquivos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700" dirty="0">
                <a:solidFill>
                  <a:srgbClr val="1D2D3E"/>
                </a:solidFill>
              </a:rPr>
              <a:t>. O </a:t>
            </a:r>
            <a:r>
              <a:rPr lang="en-US" sz="1700" b="1" dirty="0">
                <a:solidFill>
                  <a:srgbClr val="1D2D3E"/>
                </a:solidFill>
              </a:rPr>
              <a:t>Application Generator</a:t>
            </a:r>
            <a:r>
              <a:rPr lang="en-US" sz="1700" dirty="0">
                <a:solidFill>
                  <a:srgbClr val="1D2D3E"/>
                </a:solidFill>
              </a:rPr>
              <a:t> é um assistente que constrói o esqueleto de uma aplicação Fiori Elements profissional em minutos.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Como acessar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Abra a paleta de comandos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r>
              <a:rPr lang="en-US" sz="1500" dirty="0">
                <a:solidFill>
                  <a:srgbClr val="1D2D3E"/>
                </a:solidFill>
              </a:rPr>
              <a:t> ou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Ctrl+Shift+P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Digite e selecione: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Fiori: Open Application Generator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33695" cy="4206240"/>
          </a:xfrm>
          <a:prstGeom prst="roundRect">
            <a:avLst>
              <a:gd name="adj" fmla="val 2609"/>
            </a:avLst>
          </a:prstGeom>
          <a:solidFill>
            <a:srgbClr val="EEF1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600200"/>
            <a:ext cx="5333695" cy="365760"/>
          </a:xfrm>
          <a:prstGeom prst="rect">
            <a:avLst/>
          </a:prstGeom>
          <a:solidFill>
            <a:srgbClr val="C4CC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60020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VS Code / BAS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457200" cy="38404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2240280"/>
            <a:ext cx="4053535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60920" y="228600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2697480"/>
            <a:ext cx="3870655" cy="41148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269748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Fiori: Open Application Generator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97180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Fluxo do Application Generator em 3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706624"/>
            <a:ext cx="300319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1. Definir o Template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Selecionar ‘SAP Fiori Elements’ e o floorplan, como ‘List Report Object Page’. Define a estrutura visual e de navegação padrão, ideal para cenários transacionais RAP.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706624"/>
            <a:ext cx="300319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2. Conectar aos Dados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Conectar ao sistema S/4HANA e selecionar o </a:t>
            </a:r>
            <a:r>
              <a:rPr lang="en-US" sz="1400" b="1" dirty="0">
                <a:solidFill>
                  <a:srgbClr val="556B82"/>
                </a:solidFill>
              </a:rPr>
              <a:t>Service Binding</a:t>
            </a:r>
            <a:r>
              <a:rPr lang="en-US" sz="1400" dirty="0">
                <a:solidFill>
                  <a:srgbClr val="556B82"/>
                </a:solidFill>
              </a:rPr>
              <a:t> (OData V4 – UI) criado no backend. O gerador lê os metadados para entender as entidades (ex.: Travel, Booking) e suas relações.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706624"/>
            <a:ext cx="300319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3. Configurar o Projeto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Definir nome, namespace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z.travel</a:t>
            </a:r>
            <a:r>
              <a:rPr lang="en-US" sz="1400" dirty="0">
                <a:solidFill>
                  <a:srgbClr val="556B82"/>
                </a:solidFill>
              </a:rPr>
              <a:t>) e opções de deploy. O gerador cria toda a estrutura e configura o proxy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ui5.yaml</a:t>
            </a:r>
            <a:r>
              <a:rPr lang="en-US" sz="1400" dirty="0">
                <a:solidFill>
                  <a:srgbClr val="556B82"/>
                </a:solidFill>
              </a:rPr>
              <a:t>) para rodar o app localmente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00" dirty="0">
                <a:solidFill>
                  <a:srgbClr val="556B82"/>
                </a:solidFill>
              </a:rPr>
              <a:t>) consumindo dados do backend.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356616" cy="35661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421" y="2020824"/>
            <a:ext cx="356616" cy="356616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842" y="2020824"/>
            <a:ext cx="356616" cy="356616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Page Map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Visualizando e Moldando sua Aplicação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que é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ferramenta visual mais impactante das Fiori Tools: uma representação gráfica e interativa do fluxo do seu aplicativo.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Como acessar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Clique com o botão direito no projeto (pasta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</a:t>
            </a:r>
            <a:r>
              <a:rPr lang="en-US" sz="1500" dirty="0">
                <a:solidFill>
                  <a:srgbClr val="1D2D3E"/>
                </a:solidFill>
              </a:rPr>
              <a:t>) e selecione ‘Show Page Map’.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43434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Principal benefício:</a:t>
            </a:r>
            <a:r>
              <a:rPr lang="en-US" sz="1500" dirty="0">
                <a:solidFill>
                  <a:srgbClr val="1D2D3E"/>
                </a:solidFill>
              </a:rPr>
              <a:t> configurar e estender a aplicação sem editar manualmente os complexos arquivos de anotação XML ou 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333695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97480"/>
            <a:ext cx="1320698" cy="182880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788920"/>
            <a:ext cx="1320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List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32461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34747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37033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0840" y="39319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61149" y="4343400"/>
            <a:ext cx="365760" cy="365760"/>
          </a:xfrm>
          <a:prstGeom prst="ellipse">
            <a:avLst/>
          </a:prstGeom>
          <a:solidFill>
            <a:srgbClr val="0070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61149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04378" y="3611880"/>
            <a:ext cx="2743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8698" y="2697480"/>
            <a:ext cx="1320698" cy="1828800"/>
          </a:xfrm>
          <a:prstGeom prst="roundRect">
            <a:avLst>
              <a:gd name="adj" fmla="val 5539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78698" y="2788920"/>
            <a:ext cx="1320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Object Page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15858" y="32461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315858" y="34747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4" name="Shape 22"/>
          <p:cNvSpPr/>
          <p:nvPr/>
        </p:nvSpPr>
        <p:spPr>
          <a:xfrm>
            <a:off x="8315858" y="37033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5858" y="39319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6" name="Shape 24"/>
          <p:cNvSpPr/>
          <p:nvPr/>
        </p:nvSpPr>
        <p:spPr>
          <a:xfrm>
            <a:off x="8656168" y="4343400"/>
            <a:ext cx="365760" cy="365760"/>
          </a:xfrm>
          <a:prstGeom prst="ellipse">
            <a:avLst/>
          </a:prstGeom>
          <a:solidFill>
            <a:srgbClr val="0070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5616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99397" y="3611880"/>
            <a:ext cx="2743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73717" y="2697480"/>
            <a:ext cx="1320698" cy="182880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73717" y="2788920"/>
            <a:ext cx="1320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Sub-Object Page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10877" y="32461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2" name="Shape 30"/>
          <p:cNvSpPr/>
          <p:nvPr/>
        </p:nvSpPr>
        <p:spPr>
          <a:xfrm>
            <a:off x="9910877" y="34747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3" name="Shape 31"/>
          <p:cNvSpPr/>
          <p:nvPr/>
        </p:nvSpPr>
        <p:spPr>
          <a:xfrm>
            <a:off x="9910877" y="37033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4" name="Shape 32"/>
          <p:cNvSpPr/>
          <p:nvPr/>
        </p:nvSpPr>
        <p:spPr>
          <a:xfrm>
            <a:off x="9910877" y="3931920"/>
            <a:ext cx="1046378" cy="146304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51186" y="4343400"/>
            <a:ext cx="365760" cy="365760"/>
          </a:xfrm>
          <a:prstGeom prst="ellipse">
            <a:avLst/>
          </a:prstGeom>
          <a:solidFill>
            <a:srgbClr val="0070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51186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489204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+ Adicionar seção / estender</a:t>
            </a:r>
            <a:endParaRPr lang="en-US" sz="12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097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Capacidades do Page 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1. Configuração de Layout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Adiciona, remove ou reordena colunas, seções e campos diretamente na interface visual.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3149498" cy="1508760"/>
          </a:xfrm>
          <a:prstGeom prst="roundRect">
            <a:avLst>
              <a:gd name="adj" fmla="val 7273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26008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Importante:</a:t>
            </a:r>
            <a:r>
              <a:rPr lang="en-US" sz="1200" dirty="0">
                <a:solidFill>
                  <a:srgbClr val="1D2D3E"/>
                </a:solidFill>
              </a:rPr>
              <a:t> essas mudanças criam overrides locais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annotation.xml</a:t>
            </a:r>
            <a:r>
              <a:rPr lang="en-US" sz="1200" dirty="0">
                <a:solidFill>
                  <a:srgbClr val="1D2D3E"/>
                </a:solidFill>
              </a:rPr>
              <a:t>). A recomendação principal é definir a estrutura no backend.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2538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2538" y="2651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2. Extensões (Flexible Programming Model)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Funcionalidades customizadas que vão além do padrão Fiori Elements: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429768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Uma </a:t>
            </a:r>
            <a:r>
              <a:rPr lang="en-US" sz="1300" b="1" dirty="0">
                <a:solidFill>
                  <a:srgbClr val="1D2D3E"/>
                </a:solidFill>
              </a:rPr>
              <a:t>coluna customizada</a:t>
            </a:r>
            <a:r>
              <a:rPr lang="en-US" sz="1300" dirty="0">
                <a:solidFill>
                  <a:srgbClr val="1D2D3E"/>
                </a:solidFill>
              </a:rPr>
              <a:t> com micrográfico.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Uma </a:t>
            </a:r>
            <a:r>
              <a:rPr lang="en-US" sz="1300" b="1" dirty="0">
                <a:solidFill>
                  <a:srgbClr val="1D2D3E"/>
                </a:solidFill>
              </a:rPr>
              <a:t>seção customizada</a:t>
            </a:r>
            <a:r>
              <a:rPr lang="en-US" sz="1300" dirty="0">
                <a:solidFill>
                  <a:srgbClr val="1D2D3E"/>
                </a:solidFill>
              </a:rPr>
              <a:t> com um mapa interativo.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Um </a:t>
            </a:r>
            <a:r>
              <a:rPr lang="en-US" sz="1300" b="1" dirty="0">
                <a:solidFill>
                  <a:srgbClr val="1D2D3E"/>
                </a:solidFill>
              </a:rPr>
              <a:t>botão na toolbar</a:t>
            </a:r>
            <a:r>
              <a:rPr lang="en-US" sz="1300" dirty="0">
                <a:solidFill>
                  <a:srgbClr val="1D2D3E"/>
                </a:solidFill>
              </a:rPr>
              <a:t> que executa uma função JavaScript.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2117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17" y="2651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3. Navegação Visual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Configura como o usuário navega entre as páginas, simplificando o roteamento que seria complexo de editar no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028139"/>
            <a:ext cx="332842" cy="33284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028139"/>
            <a:ext cx="332842" cy="332842"/>
          </a:xfrm>
          <a:prstGeom prst="rect">
            <a:avLst/>
          </a:prstGeom>
        </p:spPr>
      </p:pic>
      <p:sp>
        <p:nvSpPr>
          <p:cNvPr id="2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Para Tarefas Complexas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Use o Desenvolvimento Guiado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desafio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Algumas funcionalidades em Fiori Elements exigem configurações de anotações ou snippets difíceis de memorizar: </a:t>
            </a:r>
            <a:r>
              <a:rPr lang="en-US" sz="1400" i="1" dirty="0">
                <a:solidFill>
                  <a:srgbClr val="556B82"/>
                </a:solidFill>
              </a:rPr>
              <a:t>“Como adiciono um botão que abre um PDF?” · “Como faço uma linha ficar vermelha se o valor for negativo?”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 solução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‘Guided Development’: uma biblioteca de ‘receitas’ e tutoriais interativos integrados diretamente na IDE.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50709" y="1965960"/>
            <a:ext cx="3433877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84949" y="1600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84949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560320"/>
            <a:ext cx="15706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Pesquise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Sua intenção: ‘Add Custom Action’.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01888" y="1600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0188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82330" y="2560320"/>
            <a:ext cx="15706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Preencha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guia apresenta um formulário com IDs, nomes, labels.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18826" y="1600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1882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999269" y="2560320"/>
            <a:ext cx="15706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Aplique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snippet correto (JS, XML ou JSON) é inserido no arquivo certo.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FFF8D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461772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Benefício:</a:t>
            </a:r>
            <a:r>
              <a:rPr lang="en-US" sz="1600" dirty="0">
                <a:solidFill>
                  <a:srgbClr val="1D2D3E"/>
                </a:solidFill>
              </a:rPr>
              <a:t> reduz drasticamente a curva de aprendizado e previne erros de sintaxe.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554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Decisão Crítica de Arquitetura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78308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D2D3E"/>
                </a:solidFill>
              </a:rPr>
              <a:t>“Se eu posso configurar a tela (colunas, labels) com as Fiori Tools, por que aprendemos a fazer isso no Backend (ADT)?”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9377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Saber </a:t>
            </a:r>
            <a:r>
              <a:rPr lang="en-US" sz="1800" b="1" dirty="0">
                <a:solidFill>
                  <a:srgbClr val="1D2D3E"/>
                </a:solidFill>
              </a:rPr>
              <a:t>como</a:t>
            </a:r>
            <a:r>
              <a:rPr lang="en-US" sz="1800" dirty="0">
                <a:solidFill>
                  <a:srgbClr val="1D2D3E"/>
                </a:solidFill>
              </a:rPr>
              <a:t> fazer uma alteração é apenas metade da batalha. Saber </a:t>
            </a:r>
            <a:r>
              <a:rPr lang="en-US" sz="1800" b="1" dirty="0">
                <a:solidFill>
                  <a:srgbClr val="1D2D3E"/>
                </a:solidFill>
              </a:rPr>
              <a:t>onde</a:t>
            </a:r>
            <a:r>
              <a:rPr lang="en-US" sz="1800" dirty="0">
                <a:solidFill>
                  <a:srgbClr val="1D2D3E"/>
                </a:solidFill>
              </a:rPr>
              <a:t> fazê-la define a qualidade, a manutenibilidade e a consistência da sua solução no longo prazo.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3063240"/>
            <a:ext cx="1645920" cy="16459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Backend vs. Frontend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Cada Configuração Pertence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Backend (ADT / CDS Views)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Escopo: </a:t>
            </a:r>
            <a:r>
              <a:rPr lang="en-US" sz="1400" dirty="0">
                <a:solidFill>
                  <a:srgbClr val="1D2D3E"/>
                </a:solidFill>
              </a:rPr>
              <a:t>Global e reutilizável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Defina uma vez, use em todos os lugares. Se você define o label ‘Cliente’ no backend, </a:t>
            </a:r>
            <a:r>
              <a:rPr lang="en-US" sz="1300" b="1" dirty="0">
                <a:solidFill>
                  <a:srgbClr val="1D2D3E"/>
                </a:solidFill>
              </a:rPr>
              <a:t>todos</a:t>
            </a:r>
            <a:r>
              <a:rPr lang="en-US" sz="1300" dirty="0">
                <a:solidFill>
                  <a:srgbClr val="1D2D3E"/>
                </a:solidFill>
              </a:rPr>
              <a:t> os apps, APIs ou relatórios que consomem essa CDS View herdam a configuração. Consistência total.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90%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886200"/>
            <a:ext cx="330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Use para a maioria das configurações: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4815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Estrutura da UI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Labels padrão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Tipos de dados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Validações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4F00"/>
                </a:solidFill>
              </a:rPr>
              <a:t>Local (Fiori Tools / annotation.xml)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Escopo: </a:t>
            </a:r>
            <a:r>
              <a:rPr lang="en-US" sz="1400" dirty="0">
                <a:solidFill>
                  <a:srgbClr val="1D2D3E"/>
                </a:solidFill>
              </a:rPr>
              <a:t>Específico do aplicativo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65176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Permite exceções e customizações que só fazem sentido no contexto deste app específico.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3886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6500"/>
                </a:solidFill>
              </a:rPr>
              <a:t>10%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061808" y="3886200"/>
            <a:ext cx="330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Use apenas para: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754880"/>
            <a:ext cx="4815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Overrides visuais (ex.: ocultar uma coluna só neste app)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Extensões com lógica de frontend (ex.: botão com JavaScript)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Anotações não suportadas no backend (raro no RAP moderno)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Rápido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Configurar?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3108960"/>
                <a:gridCol w="368503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Tipo de configuração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Onde fazer?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Ferramenta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Motivo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Label do campo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D9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ADT (Data Element)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Reutilização global e tradução centralizada.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Posição da coluna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D9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ADT (Metadata Extension)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Padrão para todos os consumidores do serviço.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Ocultar coluna (caso específico)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Page Map (Local Annotation)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Regra de negócio exclusiva deste aplicativo.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Botão com lógica JavaScript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Guided Development (VS Code / BAS)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Lógica de cliente que não existe no OData.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Tema do app (ex.: escuro/claro)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Launchpad (User Settings)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Preferência do usuário, não do desenvolvedor.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Sua Nova Caixa de Ferramentas para o Frontend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As SAP Fiori Tools não são apenas utilitários: representam uma metodologia completa para construir aplicações Fiori Elements de forma rápida, consistente e profissional.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41004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724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346704"/>
            <a:ext cx="48979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Application Generator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Para criar a fundação perfeita.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2468880"/>
            <a:ext cx="541004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89040" y="2724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9040" y="3346704"/>
            <a:ext cx="48979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Page Map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Para visualizar e estender a aplicação.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57700"/>
            <a:ext cx="541004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713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335524"/>
            <a:ext cx="48979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Guided Development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Para implementar funcionalidades complexas sem esforço.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457700"/>
            <a:ext cx="541004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4713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9040" y="5335524"/>
            <a:ext cx="48979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Arquitetura (Backend vs. Frontend)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Para tomar decisões inteligentes e sustentáveis.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237744" cy="237744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2834640"/>
            <a:ext cx="237744" cy="237744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23460"/>
            <a:ext cx="237744" cy="23774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4823460"/>
            <a:ext cx="237744" cy="237744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Referência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Glossário de Conceitos Essenciais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7360" y="20116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manifest.json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O “descritor” da aplicação: arquivo central que define modelo de dados, rotas, bibliotecas e configurações gerais. É o coração da aplicação.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20116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Annotation Files (.xml)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Metadados que controlam a aparência e o comportamento da UI, seja no backend (Metadata Extension) ou no frontend (Local Annotation).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416052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UI5 Tooling (ui5.yaml)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Ferramenta de linha de comando e configuração: gerencia o ciclo de vida do projeto (build, serve) e os proxies para o backend.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416052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Flexible Programming Model (FPM)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Framework que permite estender aplicações Fiori Elements padrão com seções, colunas e lógicas customizadas.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48840"/>
            <a:ext cx="640080" cy="6400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640080" cy="6400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9768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Backend à Experiência Fiori: As Ferramentas Essenciais</dc:title>
  <dc:subject>ABAP Moderno – Módulo 03</dc:subject>
  <dc:creator>Adriano Bispo</dc:creator>
  <cp:lastModifiedBy>Adriano Bispo</cp:lastModifiedBy>
  <cp:revision>1</cp:revision>
  <dcterms:created xsi:type="dcterms:W3CDTF">2026-10-25T15:35:00Z</dcterms:created>
  <dcterms:modified xsi:type="dcterms:W3CDTF">2026-10-25T15:35:00Z</dcterms:modified>
</cp:coreProperties>
</file>