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Modelagem de Dados com Dicionário e CDS  ·  Aula 2 de 7 — Tabelas de banco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Modelagem de Dados com Dicionário e CDS  ·  Aula 2 de 7 — Tabelas de banco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02 DE 07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Criando tabelas de banco de dados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A definição em código, chaves e tipos, valores monetários, configurações técnicas e o ajuste de tabelas já existentes.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60674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9" name="Shape 7"/>
          <p:cNvSpPr/>
          <p:nvPr/>
        </p:nvSpPr>
        <p:spPr>
          <a:xfrm>
            <a:off x="9137469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614263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91057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7851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44646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2 de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Modelagem de Dados com Dicionário e CDS · Design System SAP Horizon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7 aulas: Dicionário e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Modelagem no ABAP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Dicionário x CDS, code-to-data e VDM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de banco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TABLE, chaves, tipos e ajustes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08044" y="189280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008044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globais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Domínios, data elements, estruturas e table types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CDS views básicas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 entities, anotações e views sobre views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Associações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 estrangeiras, associações e path expressions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em CDS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funções, parâmetros e agregações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Meta objetos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DCL, extensões e metadata extensions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montamos uma tabela como a de pedidos do projeto Pedidos de Compras, com chave, valores monetários e campos administrativos, e alteramos sem perder dados.</a:t>
            </a:r>
            <a:endParaRPr lang="en-US" sz="14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modelo que o editor do ADT oferece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Ao criar uma tabela, o editor parte de um modelo com três partes e valores padrão que já permitem ativar.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129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94246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354596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Atributos semânticos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Linhas com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300" dirty="0">
                <a:solidFill>
                  <a:srgbClr val="556B82"/>
                </a:solidFill>
              </a:rPr>
              <a:t>: anotações como categoria, classe de entrega e manutenção de dados.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274129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4146" y="294246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4146" y="354596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table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nome da tabela, definido na criação. Mudá-lo no código gera erro de sintaxe.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274129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98485" y="294246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8485" y="354596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Lista de campos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Entre chaves: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 : tipo;</a:t>
            </a:r>
            <a:r>
              <a:rPr lang="en-US" sz="1300" dirty="0">
                <a:solidFill>
                  <a:srgbClr val="556B82"/>
                </a:solidFill>
              </a:rPr>
              <a:t> para cada campo, começando pelo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5058537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5058537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Sempre revise  </a:t>
            </a:r>
            <a:r>
              <a:rPr lang="en-US" sz="1200" dirty="0">
                <a:solidFill>
                  <a:srgbClr val="1D2D3E"/>
                </a:solidFill>
              </a:rPr>
              <a:t>os valores padrão das anotações e das configurações técnicas precisam fazer sentido para a sua tabela.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9069" y="3043047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186553"/>
            <a:ext cx="310896" cy="310896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043047"/>
            <a:ext cx="256032" cy="25603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730" y="3043047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03.02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Definindo a tabela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Toda tabela tem uma </a:t>
            </a:r>
            <a:r>
              <a:rPr lang="en-US" sz="1600" b="1" dirty="0">
                <a:solidFill>
                  <a:srgbClr val="D1EFFF"/>
                </a:solidFill>
              </a:rPr>
              <a:t>chave primária</a:t>
            </a:r>
            <a:r>
              <a:rPr lang="en-US" sz="1600" dirty="0">
                <a:solidFill>
                  <a:srgbClr val="D1EFFF"/>
                </a:solidFill>
              </a:rPr>
              <a:t>; os campos usam, de preferência, </a:t>
            </a:r>
            <a:r>
              <a:rPr lang="en-US" sz="1600" b="1" dirty="0">
                <a:solidFill>
                  <a:srgbClr val="D1EFFF"/>
                </a:solidFill>
              </a:rPr>
              <a:t>data elements</a:t>
            </a:r>
            <a:r>
              <a:rPr lang="en-US" sz="1600" dirty="0">
                <a:solidFill>
                  <a:srgbClr val="D1EFFF"/>
                </a:solidFill>
              </a:rPr>
              <a:t>, que trazem tipo técnico e rótulos.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table</a:t>
            </a:r>
            <a:r>
              <a:rPr lang="en-US" sz="1000" dirty="0">
                <a:solidFill>
                  <a:srgbClr val="D1EFFF"/>
                </a:solidFill>
              </a:rPr>
              <a:t>  nome e campos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00" dirty="0">
                <a:solidFill>
                  <a:srgbClr val="D1EFFF"/>
                </a:solidFill>
              </a:rPr>
              <a:t>  até 16 campos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· abap.clnt</a:t>
            </a:r>
            <a:r>
              <a:rPr lang="en-US" sz="1000" dirty="0">
                <a:solidFill>
                  <a:srgbClr val="D1EFFF"/>
                </a:solidFill>
              </a:rPr>
              <a:t>  mandante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element</a:t>
            </a:r>
            <a:r>
              <a:rPr lang="en-US" sz="1000" dirty="0">
                <a:solidFill>
                  <a:srgbClr val="D1EFFF"/>
                </a:solidFill>
              </a:rPr>
              <a:t>  tipo + rótulos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DEFINIÇÃO · TABELA DE PEDIDOS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Chave, tipos e campos administrativos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zta_pc_pedido.tabl.abap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ZAVBS_PC_PEDIDOS › ZTA_PC_PEDIDO (simplificada)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 de compra'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#NOT_EXTENSIBLE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@AbapCatalog.dataMaintenance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#RESTRICTED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cuky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'zta_pc_pedido.currency'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abp_lastchange_tstmpl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Primeiro campo-chave, tipo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r>
              <a:rPr lang="en-US" sz="1050" dirty="0">
                <a:solidFill>
                  <a:srgbClr val="556B82"/>
                </a:solidFill>
              </a:rPr>
              <a:t>: mantém a tabela dependente de mandante.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Ao menos uma e no máximo 16 chaves, todas juntas no início.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Data elements x embutidos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abp_*</a:t>
            </a:r>
            <a:r>
              <a:rPr lang="en-US" sz="1050" dirty="0">
                <a:solidFill>
                  <a:srgbClr val="556B82"/>
                </a:solidFill>
              </a:rPr>
              <a:t> trazem rótulos; o projeto usa tipos embutidos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abap.char(10)</a:t>
            </a:r>
            <a:r>
              <a:rPr lang="en-US" sz="1050" dirty="0">
                <a:solidFill>
                  <a:srgbClr val="556B82"/>
                </a:solidFill>
              </a:rPr>
              <a:t>) nos campos de negócio.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Campos administrativos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tipos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abp_*</a:t>
            </a:r>
            <a:r>
              <a:rPr lang="en-US" sz="1050" dirty="0">
                <a:solidFill>
                  <a:srgbClr val="556B82"/>
                </a:solidFill>
              </a:rPr>
              <a:t> dizem ao RAP quem e quando criou ou alterou; uma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</a:t>
            </a:r>
            <a:r>
              <a:rPr lang="en-US" sz="1050" dirty="0">
                <a:solidFill>
                  <a:srgbClr val="556B82"/>
                </a:solidFill>
              </a:rPr>
              <a:t> também poderia trazê-los.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DEFINIÇÃO · REGRAS DOS CAMPOS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Chaves, NOT NULL e valores nulos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3290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450592"/>
            <a:ext cx="50305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Chave primária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Identifica cada linha de forma única e gera o índice primário, que acelera o acesso pela chave.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148" y="1645920"/>
            <a:ext cx="543290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1131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11316" y="2450592"/>
            <a:ext cx="50305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Nulos no ABAP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Um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200" dirty="0">
                <a:solidFill>
                  <a:srgbClr val="556B82"/>
                </a:solidFill>
              </a:rPr>
              <a:t> vindo do banco vira o valor inicial do tipo na variável ABAP.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543290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38587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4462272"/>
            <a:ext cx="50305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NULL</a:t>
            </a:r>
            <a:r>
              <a:rPr lang="en-US" sz="1500" b="1" dirty="0">
                <a:solidFill>
                  <a:srgbClr val="1D2D3E"/>
                </a:solidFill>
              </a:rPr>
              <a:t> hoje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Obrigatório nas chaves (o editor acrescenta sozinho), mas sem efeito prático: o Dicionário garante o valor inicial quase sempre.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0148" y="3657600"/>
            <a:ext cx="543290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1316" y="38587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11316" y="4462272"/>
            <a:ext cx="50305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Exceção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Tipos sem valor inicial, como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STRG</a:t>
            </a:r>
            <a:r>
              <a:rPr lang="en-US" sz="1200" dirty="0">
                <a:solidFill>
                  <a:srgbClr val="556B82"/>
                </a:solidFill>
              </a:rPr>
              <a:t>, não aceitam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NULL</a:t>
            </a:r>
            <a:r>
              <a:rPr lang="en-US" sz="1200" dirty="0">
                <a:solidFill>
                  <a:srgbClr val="556B82"/>
                </a:solidFill>
              </a:rPr>
              <a:t>: o editor acusa erro de sintaxe.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Quick fix  </a:t>
            </a:r>
            <a:r>
              <a:rPr lang="en-US" sz="1200" dirty="0">
                <a:solidFill>
                  <a:srgbClr val="1D2D3E"/>
                </a:solidFill>
              </a:rPr>
              <a:t>digite o nome de um data element que não existe e use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200" dirty="0">
                <a:solidFill>
                  <a:srgbClr val="1D2D3E"/>
                </a:solidFill>
              </a:rPr>
              <a:t> para criá-lo na hora. Domínios não podem ser usados direto na tabela.</a:t>
            </a:r>
            <a:endParaRPr lang="en-US" sz="14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1900" y="1947672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947672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900" y="3959352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3959352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03.02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Tipos do Dicionário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Dicionário tem tipos próprios, independentes do banco. Alguns têm </a:t>
            </a:r>
            <a:r>
              <a:rPr lang="en-US" sz="1600" b="1" dirty="0">
                <a:solidFill>
                  <a:srgbClr val="D1EFFF"/>
                </a:solidFill>
              </a:rPr>
              <a:t>semântica especial</a:t>
            </a:r>
            <a:r>
              <a:rPr lang="en-US" sz="1600" dirty="0">
                <a:solidFill>
                  <a:srgbClr val="D1EFFF"/>
                </a:solidFill>
              </a:rPr>
              <a:t>: mandante, idioma, moeda e unidade.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· INT4 · DEC</a:t>
            </a:r>
            <a:r>
              <a:rPr lang="en-US" sz="1000" dirty="0">
                <a:solidFill>
                  <a:srgbClr val="D1EFFF"/>
                </a:solidFill>
              </a:rPr>
              <a:t>  uso geral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NUMC · CLNT · LANG</a:t>
            </a:r>
            <a:r>
              <a:rPr lang="en-US" sz="1000" dirty="0">
                <a:solidFill>
                  <a:srgbClr val="D1EFFF"/>
                </a:solidFill>
              </a:rPr>
              <a:t>  semântica especial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+ CUKY</a:t>
            </a:r>
            <a:r>
              <a:rPr lang="en-US" sz="1000" dirty="0">
                <a:solidFill>
                  <a:srgbClr val="D1EFFF"/>
                </a:solidFill>
              </a:rPr>
              <a:t>  valor e moeda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 + UNIT</a:t>
            </a:r>
            <a:r>
              <a:rPr lang="en-US" sz="1000" dirty="0">
                <a:solidFill>
                  <a:srgbClr val="D1EFFF"/>
                </a:solidFill>
              </a:rPr>
              <a:t>  quantidade e unidade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TIPOS · TIPOS EMBUTIDOS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tipos do Dicionário e seus pares no ABAP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026664"/>
          </a:xfrm>
          <a:prstGeom prst="roundRect">
            <a:avLst>
              <a:gd name="adj" fmla="val 302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596823"/>
                <a:gridCol w="1731215"/>
                <a:gridCol w="6492057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Dicionário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ABAP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Uso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 · INT4 · FLTP · DEC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· i · f · 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Tipos de uso geral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Só dígitos; alguns frameworks completam com zeros à esquerda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CLNT · LANG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Na chave, marcam o campo de mandante e o de idioma (tabelas de texto)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 · QUAN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Valor monetário e quantidade; exigem referência a moeda ou unidade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CUKY · UNIT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Código de moeda (5) e unidade de medida (2 ou 3)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DATS · TIMS · DATN · TIMN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· 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Datas e horas;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DATN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TIMN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usam formato otimizado no banco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55464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FF8D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855464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Atenção ao DEC  </a:t>
            </a:r>
            <a:r>
              <a:rPr lang="en-US" sz="1200" dirty="0">
                <a:solidFill>
                  <a:srgbClr val="1D2D3E"/>
                </a:solidFill>
              </a:rPr>
              <a:t>no Dicionário o comprimento é em </a:t>
            </a:r>
            <a:r>
              <a:rPr lang="en-US" sz="1200" b="1" dirty="0">
                <a:solidFill>
                  <a:srgbClr val="1D2D3E"/>
                </a:solidFill>
              </a:rPr>
              <a:t>dígitos</a:t>
            </a:r>
            <a:r>
              <a:rPr lang="en-US" sz="1200" dirty="0">
                <a:solidFill>
                  <a:srgbClr val="1D2D3E"/>
                </a:solidFill>
              </a:rPr>
              <a:t>; no ABAP,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p LENGTH n</a:t>
            </a:r>
            <a:r>
              <a:rPr lang="en-US" sz="1200" dirty="0">
                <a:solidFill>
                  <a:srgbClr val="1D2D3E"/>
                </a:solidFill>
              </a:rPr>
              <a:t> é em </a:t>
            </a:r>
            <a:r>
              <a:rPr lang="en-US" sz="1200" b="1" dirty="0">
                <a:solidFill>
                  <a:srgbClr val="1D2D3E"/>
                </a:solidFill>
              </a:rPr>
              <a:t>bytes</a:t>
            </a:r>
            <a:r>
              <a:rPr lang="en-US" sz="1200" dirty="0">
                <a:solidFill>
                  <a:srgbClr val="1D2D3E"/>
                </a:solidFill>
              </a:rPr>
              <a:t> (2n − 1 dígitos).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8348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TIPOS · VALORES E QUANTIDADES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Todo valor aponta para a sua moeda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zta_pc_item.tabl.abap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ZAVBS_PC_ESTOQUE › ZTA_PC_ITEM (trecho, com peso hipotético)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cuky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peso: campos hipotéticos, para calcular frete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@Semantics.quantity.unitOfMeasure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'zta_pc_item.unidade_peso'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peso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unidade_peso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1250" b="1" dirty="0">
                <a:solidFill>
                  <a:srgbClr val="1D2D3E"/>
                </a:solidFill>
              </a:rPr>
              <a:t> →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CUKY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1050" dirty="0">
                <a:solidFill>
                  <a:srgbClr val="556B82"/>
                </a:solidFill>
              </a:rPr>
              <a:t> aponta tabela e campo da moeda.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</a:t>
            </a:r>
            <a:r>
              <a:rPr lang="en-US" sz="1250" b="1" dirty="0">
                <a:solidFill>
                  <a:srgbClr val="1D2D3E"/>
                </a:solidFill>
              </a:rPr>
              <a:t> →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@Semantics.quantity.unitOfMeasure</a:t>
            </a:r>
            <a:r>
              <a:rPr lang="en-US" sz="1050" dirty="0">
                <a:solidFill>
                  <a:srgbClr val="556B82"/>
                </a:solidFill>
              </a:rPr>
              <a:t> faz o mesmo para unidades.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Mesmo ou outra tabela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Normalmente a referência fica na própria tabela, mas pode apontar para outra.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Para a UI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referência permite formatar valores pela moeda e quantidades pela unidade.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03.02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Configurações técnicas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Além das anotações, cada tabela tem </a:t>
            </a:r>
            <a:r>
              <a:rPr lang="en-US" sz="1600" b="1" dirty="0">
                <a:solidFill>
                  <a:srgbClr val="D1EFFF"/>
                </a:solidFill>
              </a:rPr>
              <a:t>Technical Settings</a:t>
            </a:r>
            <a:r>
              <a:rPr lang="en-US" sz="1600" dirty="0">
                <a:solidFill>
                  <a:srgbClr val="D1EFFF"/>
                </a:solidFill>
              </a:rPr>
              <a:t>: um objeto à parte que influencia o banco e o acesso via ABAP SQL.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class</a:t>
            </a:r>
            <a:r>
              <a:rPr lang="en-US" sz="1000" dirty="0">
                <a:solidFill>
                  <a:srgbClr val="D1EFFF"/>
                </a:solidFill>
              </a:rPr>
              <a:t>  documentação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category</a:t>
            </a:r>
            <a:r>
              <a:rPr lang="en-US" sz="1000" dirty="0">
                <a:solidFill>
                  <a:srgbClr val="D1EFFF"/>
                </a:solidFill>
              </a:rPr>
              <a:t>  espaço inicial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Buffering</a:t>
            </a:r>
            <a:r>
              <a:rPr lang="en-US" sz="1000" dirty="0">
                <a:solidFill>
                  <a:srgbClr val="D1EFFF"/>
                </a:solidFill>
              </a:rPr>
              <a:t>  buffer de tabela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 type · load unit</a:t>
            </a:r>
            <a:r>
              <a:rPr lang="en-US" sz="1000" dirty="0">
                <a:solidFill>
                  <a:srgbClr val="D1EFFF"/>
                </a:solidFill>
              </a:rPr>
              <a:t>  SAP HANA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TÉCNICO · TECHNICAL SETTINGS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cada configuração técnica controla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705024"/>
                <a:gridCol w="8115071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Configuração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 class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Obrigatória, mas no SAP HANA só documenta: APPL0 dados mestre, APPL1 transacionais, APPL2 organizacionais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Size category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Espaço inicial reservado (0 a 9) conforme o número esperado de linhas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Buffering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 e como a tabela pode ficar no buffer do servidor de aplicação; o ABAP SQL o usa sozinho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Storage type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Column store (padrão, análises e volumes grandes) ou row store (acessos a linha única)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Load unit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Column loadable (tudo em memória) ou page loadable (NSE: páginas carregadas sob demanda)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Log de alterações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Grava mudanças em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DBTABLOG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; use com moderação, prefira log na aplicação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98348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ADT  </a:t>
            </a:r>
            <a:r>
              <a:rPr lang="en-US" sz="1200" dirty="0">
                <a:solidFill>
                  <a:srgbClr val="1D2D3E"/>
                </a:solidFill>
              </a:rPr>
              <a:t>botão direito na definição → </a:t>
            </a:r>
            <a:r>
              <a:rPr lang="en-US" sz="1200" b="1" dirty="0">
                <a:solidFill>
                  <a:srgbClr val="1D2D3E"/>
                </a:solidFill>
              </a:rPr>
              <a:t>Open Others → Technical Settings</a:t>
            </a:r>
            <a:r>
              <a:rPr lang="en-US" sz="1200" dirty="0">
                <a:solidFill>
                  <a:srgbClr val="1D2D3E"/>
                </a:solidFill>
              </a:rPr>
              <a:t>. O objeto também aparece sob a tabela no Project Explorer.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11149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03.02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Alterando tabelas existentes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Mudar uma tabela que já tem dados exige </a:t>
            </a:r>
            <a:r>
              <a:rPr lang="en-US" sz="1600" b="1" dirty="0">
                <a:solidFill>
                  <a:srgbClr val="D1EFFF"/>
                </a:solidFill>
              </a:rPr>
              <a:t>ajustar</a:t>
            </a:r>
            <a:r>
              <a:rPr lang="en-US" sz="1600" dirty="0">
                <a:solidFill>
                  <a:srgbClr val="D1EFFF"/>
                </a:solidFill>
              </a:rPr>
              <a:t> o objeto no banco. O Dicionário escolhe a técnica, mas às vezes pede sua ajuda.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</a:t>
            </a:r>
            <a:r>
              <a:rPr lang="en-US" sz="1000" dirty="0">
                <a:solidFill>
                  <a:srgbClr val="D1EFFF"/>
                </a:solidFill>
              </a:rPr>
              <a:t>  ajuste direto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and create</a:t>
            </a:r>
            <a:r>
              <a:rPr lang="en-US" sz="1000" dirty="0">
                <a:solidFill>
                  <a:srgbClr val="D1EFFF"/>
                </a:solidFill>
              </a:rPr>
              <a:t>  tabela vazia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Conversão</a:t>
            </a:r>
            <a:r>
              <a:rPr lang="en-US" sz="1000" dirty="0">
                <a:solidFill>
                  <a:srgbClr val="D1EFFF"/>
                </a:solidFill>
              </a:rPr>
              <a:t>  copia e converte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000" dirty="0">
                <a:solidFill>
                  <a:srgbClr val="D1EFFF"/>
                </a:solidFill>
              </a:rPr>
              <a:t>  quick fixes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AJUSTES · TRÊS TÉCNICAS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Como uma mudança chega ao banco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ALTER TABLE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Altera o layout no banco e ajusta os dados. Não é usado quando há risco de perda ou erro de conversão.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Apagar e recriar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 mais simples: só faz sentido se a tabela estiver vazia ou se os dados forem redundantes.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Conversão de tabela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Cria a tabela com outro nome, copia e converte os dados e troca as tabelas. Pode perder dados ao remover ou encurtar campos.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4730" y="3036316"/>
            <a:ext cx="256032" cy="256032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3036316"/>
            <a:ext cx="256032" cy="256032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03631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AJUSTES · NA PRÁTICA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Quando a ativação não consegue ajustar sozinha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56489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086100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268980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Erro de ativação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 … was not activated</a:t>
            </a:r>
            <a:r>
              <a:rPr lang="en-US" sz="1150" dirty="0">
                <a:solidFill>
                  <a:srgbClr val="556B82"/>
                </a:solidFill>
              </a:rPr>
              <a:t>. Mudanças indiretas (domínio, data element, include) também disparam o aviso.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086100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268980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Ler o log</a:t>
            </a:r>
            <a:endParaRPr lang="en-US" sz="1400" dirty="0"/>
          </a:p>
          <a:p>
            <a:pPr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Open With → Dictionary Log</a:t>
            </a:r>
            <a:r>
              <a:rPr lang="en-US" sz="1150" dirty="0">
                <a:solidFill>
                  <a:srgbClr val="556B82"/>
                </a:solidFill>
              </a:rPr>
              <a:t> mostra o motivo, ex.: </a:t>
            </a:r>
            <a:r>
              <a:rPr lang="en-US" sz="1150" i="1" dirty="0">
                <a:solidFill>
                  <a:srgbClr val="556B82"/>
                </a:solidFill>
              </a:rPr>
              <a:t>Structure change at field level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086100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268980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Quick fix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150" dirty="0">
                <a:solidFill>
                  <a:srgbClr val="556B82"/>
                </a:solidFill>
              </a:rPr>
              <a:t> → </a:t>
            </a:r>
            <a:r>
              <a:rPr lang="en-US" sz="1150" i="1" dirty="0">
                <a:solidFill>
                  <a:srgbClr val="556B82"/>
                </a:solidFill>
              </a:rPr>
              <a:t>Adjust and activate database table, convert data</a:t>
            </a:r>
            <a:r>
              <a:rPr lang="en-US" sz="1150" dirty="0">
                <a:solidFill>
                  <a:srgbClr val="556B82"/>
                </a:solidFill>
              </a:rPr>
              <a:t> (ou </a:t>
            </a:r>
            <a:r>
              <a:rPr lang="en-US" sz="1150" i="1" dirty="0">
                <a:solidFill>
                  <a:srgbClr val="556B82"/>
                </a:solidFill>
              </a:rPr>
              <a:t>delete data</a:t>
            </a:r>
            <a:r>
              <a:rPr lang="en-US" sz="1150" dirty="0">
                <a:solidFill>
                  <a:srgbClr val="556B82"/>
                </a:solidFill>
              </a:rPr>
              <a:t>, se os dados não importam).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2174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2174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086100"/>
            <a:ext cx="2622728" cy="1764792"/>
          </a:xfrm>
          <a:prstGeom prst="roundRect">
            <a:avLst>
              <a:gd name="adj" fmla="val 518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268980"/>
            <a:ext cx="184548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Conferir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 view </a:t>
            </a:r>
            <a:r>
              <a:rPr lang="en-US" sz="1150" b="1" dirty="0">
                <a:solidFill>
                  <a:srgbClr val="556B82"/>
                </a:solidFill>
              </a:rPr>
              <a:t>Quick Assist</a:t>
            </a:r>
            <a:r>
              <a:rPr lang="en-US" sz="1150" dirty="0">
                <a:solidFill>
                  <a:srgbClr val="556B82"/>
                </a:solidFill>
              </a:rPr>
              <a:t> mostra o resultado e o </a:t>
            </a:r>
            <a:r>
              <a:rPr lang="en-US" sz="1150" i="1" dirty="0">
                <a:solidFill>
                  <a:srgbClr val="556B82"/>
                </a:solidFill>
              </a:rPr>
              <a:t>DB Adjusting Log</a:t>
            </a:r>
            <a:r>
              <a:rPr lang="en-US" sz="1150" dirty="0">
                <a:solidFill>
                  <a:srgbClr val="556B82"/>
                </a:solidFill>
              </a:rPr>
              <a:t> detalhado.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03377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FF8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503377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Evite  </a:t>
            </a:r>
            <a:r>
              <a:rPr lang="en-US" sz="1200" dirty="0">
                <a:solidFill>
                  <a:srgbClr val="1D2D3E"/>
                </a:solidFill>
              </a:rPr>
              <a:t>o quick fix </a:t>
            </a:r>
            <a:r>
              <a:rPr lang="en-US" sz="1200" i="1" dirty="0">
                <a:solidFill>
                  <a:srgbClr val="1D2D3E"/>
                </a:solidFill>
              </a:rPr>
              <a:t>Delete table on database</a:t>
            </a:r>
            <a:r>
              <a:rPr lang="en-US" sz="1200" dirty="0">
                <a:solidFill>
                  <a:srgbClr val="1D2D3E"/>
                </a:solidFill>
              </a:rPr>
              <a:t>: a tabela some do banco e todo acesso falha até ser ativada de novo.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728" y="3241548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519" y="3241548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624" y="3241548"/>
            <a:ext cx="329184" cy="329184"/>
          </a:xfrm>
          <a:prstGeom prst="rect">
            <a:avLst/>
          </a:prstGeom>
        </p:spPr>
      </p:pic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3241548"/>
            <a:ext cx="329184" cy="329184"/>
          </a:xfrm>
          <a:prstGeom prst="rect">
            <a:avLst/>
          </a:prstGeom>
        </p:spPr>
      </p:pic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16178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tabela é definida em código: anotações,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table</a:t>
            </a:r>
            <a:r>
              <a:rPr lang="en-US" sz="1400" dirty="0">
                <a:solidFill>
                  <a:srgbClr val="FFFFFF"/>
                </a:solidFill>
              </a:rPr>
              <a:t> e a lista de campos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Chave primária com até 16 campos, começando pelo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400" dirty="0">
                <a:solidFill>
                  <a:srgbClr val="FFFFFF"/>
                </a:solidFill>
              </a:rPr>
              <a:t>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NULL</a:t>
            </a:r>
            <a:r>
              <a:rPr lang="en-US" sz="1400" dirty="0">
                <a:solidFill>
                  <a:srgbClr val="FFFFFF"/>
                </a:solidFill>
              </a:rPr>
              <a:t> só nas chaves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Use </a:t>
            </a:r>
            <a:r>
              <a:rPr lang="en-US" sz="1400" b="1" dirty="0">
                <a:solidFill>
                  <a:srgbClr val="FFFFFF"/>
                </a:solidFill>
              </a:rPr>
              <a:t>data elements</a:t>
            </a:r>
            <a:r>
              <a:rPr lang="en-US" sz="1400" dirty="0">
                <a:solidFill>
                  <a:srgbClr val="FFFFFF"/>
                </a:solidFill>
              </a:rPr>
              <a:t> nos campos; tipos embutidos só para campos técnicos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Campos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</a:t>
            </a:r>
            <a:r>
              <a:rPr lang="en-US" sz="1400" dirty="0">
                <a:solidFill>
                  <a:srgbClr val="FFFFFF"/>
                </a:solidFill>
              </a:rPr>
              <a:t> exigem referência à moeda (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CUKY</a:t>
            </a:r>
            <a:r>
              <a:rPr lang="en-US" sz="1400" dirty="0">
                <a:solidFill>
                  <a:srgbClr val="FFFFFF"/>
                </a:solidFill>
              </a:rPr>
              <a:t>) e à unidade (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</a:t>
            </a:r>
            <a:r>
              <a:rPr lang="en-US" sz="1400" dirty="0">
                <a:solidFill>
                  <a:srgbClr val="FFFFFF"/>
                </a:solidFill>
              </a:rPr>
              <a:t>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Technical Settings</a:t>
            </a:r>
            <a:r>
              <a:rPr lang="en-US" sz="1400" dirty="0">
                <a:solidFill>
                  <a:srgbClr val="FFFFFF"/>
                </a:solidFill>
              </a:rPr>
              <a:t> definem data class, tamanho, buffer, armazenamento e carga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Mudanças em tabelas com dados usam ALTER TABLE, recriação ou </a:t>
            </a:r>
            <a:r>
              <a:rPr lang="en-US" sz="1400" b="1" dirty="0">
                <a:solidFill>
                  <a:srgbClr val="FFFFFF"/>
                </a:solidFill>
              </a:rPr>
              <a:t>conversão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03.03  </a:t>
            </a:r>
            <a:r>
              <a:rPr lang="en-US" sz="1500" dirty="0">
                <a:solidFill>
                  <a:srgbClr val="FFFFFF"/>
                </a:solidFill>
              </a:rPr>
              <a:t>Tipos globais: Domínios, data elements, estruturas e table types.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03.02 Criando tabelas de banco de dados</dc:title>
  <dc:subject>ABAP Moderno – Módulo 03: Modelagem de Dados com Dicionário e CDS</dc:subject>
  <dc:creator>Adriano Bispo</dc:creator>
  <cp:lastModifiedBy>Adriano Bispo</cp:lastModifiedBy>
  <cp:revision>1</cp:revision>
  <dcterms:created xsi:type="dcterms:W3CDTF">2026-10-29T13:36:08Z</dcterms:created>
  <dcterms:modified xsi:type="dcterms:W3CDTF">2026-10-29T13:36:08Z</dcterms:modified>
</cp:coreProperties>
</file>