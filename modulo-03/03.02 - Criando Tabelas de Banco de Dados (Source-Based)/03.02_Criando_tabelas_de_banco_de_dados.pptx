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Modelagem de Dados com Dicionário e CDS  ·  Aula 2 de 7 — Tabelas de banco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Modelagem de Dados com Dicionário e CDS  ·  Aula 2 de 7 — Tabelas de banco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02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Criando tabelas de banco de dados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 definição em código, chaves e tipos, valores monetários, configurações técnicas e o ajuste de tabelas já existentes.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08044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8044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criamos uma tabela de funcionários do zero, com data elements, valores monetários e campos administrativos, e alteramos sem perder dados.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modelo que o editor do ADT oferece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Ao criar uma tabela, o editor parte de um modelo com três partes e valores padrão que já permitem ativar.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Atributos semânticos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Linhas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300" dirty="0">
                <a:solidFill>
                  <a:srgbClr val="556B82"/>
                </a:solidFill>
              </a:rPr>
              <a:t>: anotações como categoria, classe de entrega e manutenção de dados.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nome da tabela, definido na criação. Mudá-lo no código gera erro de sintaxe.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Lista de campos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Entre chaves: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: tipo;</a:t>
            </a:r>
            <a:r>
              <a:rPr lang="en-US" sz="1300" dirty="0">
                <a:solidFill>
                  <a:srgbClr val="556B82"/>
                </a:solidFill>
              </a:rPr>
              <a:t> para cada campo, começando pelo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5853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05853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Sempre revise  </a:t>
            </a:r>
            <a:r>
              <a:rPr lang="en-US" sz="1200" dirty="0">
                <a:solidFill>
                  <a:srgbClr val="1D2D3E"/>
                </a:solidFill>
              </a:rPr>
              <a:t>os valores padrão das anotações e das configurações técnicas precisam fazer sentido para a sua tabela.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304304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3043047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43047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18655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Definindo a tabela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Toda tabela tem uma </a:t>
            </a:r>
            <a:r>
              <a:rPr lang="en-US" sz="1600" b="1" dirty="0">
                <a:solidFill>
                  <a:srgbClr val="D1EFFF"/>
                </a:solidFill>
              </a:rPr>
              <a:t>chave primária</a:t>
            </a:r>
            <a:r>
              <a:rPr lang="en-US" sz="1600" dirty="0">
                <a:solidFill>
                  <a:srgbClr val="D1EFFF"/>
                </a:solidFill>
              </a:rPr>
              <a:t>; os campos usam, de preferência, </a:t>
            </a:r>
            <a:r>
              <a:rPr lang="en-US" sz="1600" b="1" dirty="0">
                <a:solidFill>
                  <a:srgbClr val="D1EFFF"/>
                </a:solidFill>
              </a:rPr>
              <a:t>data elements</a:t>
            </a:r>
            <a:r>
              <a:rPr lang="en-US" sz="1600" dirty="0">
                <a:solidFill>
                  <a:srgbClr val="D1EFFF"/>
                </a:solidFill>
              </a:rPr>
              <a:t>, que trazem tipo técnico e rótulos.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r>
              <a:rPr lang="en-US" sz="1000" dirty="0">
                <a:solidFill>
                  <a:srgbClr val="D1EFFF"/>
                </a:solidFill>
              </a:rPr>
              <a:t>  nome e campos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D1EFFF"/>
                </a:solidFill>
              </a:rPr>
              <a:t>  até 16 campos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· abap.clnt</a:t>
            </a:r>
            <a:r>
              <a:rPr lang="en-US" sz="1000" dirty="0">
                <a:solidFill>
                  <a:srgbClr val="D1EFFF"/>
                </a:solidFill>
              </a:rPr>
              <a:t>  mandante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</a:t>
            </a:r>
            <a:r>
              <a:rPr lang="en-US" sz="1000" dirty="0">
                <a:solidFill>
                  <a:srgbClr val="D1EFFF"/>
                </a:solidFill>
              </a:rPr>
              <a:t>  tipo + rótulos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TABELA DE FUNCIONÁRIOS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Chave, data elements e include de campos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zs4d430_employ.tabl.abap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Dictionary › Database Tables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'Employees'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zs4d430_employee_id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zs4d430_first_name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zs4d430_last_name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zs4d430_department_id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'zs4d430_employ.currency_code'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annual_salary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zs4d430_salary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zs4d430_admin_fields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Primeiro campo-chave, tipo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r>
              <a:rPr lang="en-US" sz="1050" dirty="0">
                <a:solidFill>
                  <a:srgbClr val="556B82"/>
                </a:solidFill>
              </a:rPr>
              <a:t>: mantém a tabela dependente de mandante.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Ao menos uma e no máximo 16 chaves, todas juntas no início.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Data elements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Ligam o campo a rótulos traduzíveis; tipos embutidos só para campos técnicos.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Insere os campos de uma estrutura, como os administrativos do 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REGRAS DOS CAMPOS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Chaves, NOT NULL e valores nulos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Chave primária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Identifica cada linha de forma única e gera o índice primário, que acelera o acesso pela chave.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Nulos no ABAP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556B82"/>
                </a:solidFill>
              </a:rPr>
              <a:t> vindo do banco vira o valor inicial do tipo na variável ABAP.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r>
              <a:rPr lang="en-US" sz="1500" b="1" dirty="0">
                <a:solidFill>
                  <a:srgbClr val="1D2D3E"/>
                </a:solidFill>
              </a:rPr>
              <a:t> hoje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Obrigatório nas chaves (o editor acrescenta sozinho), mas sem efeito prático: o Dicionário garante o valor inicial quase sempre.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Exceção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 sem valor inicial,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STRG</a:t>
            </a:r>
            <a:r>
              <a:rPr lang="en-US" sz="1200" dirty="0">
                <a:solidFill>
                  <a:srgbClr val="556B82"/>
                </a:solidFill>
              </a:rPr>
              <a:t>, não aceitam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r>
              <a:rPr lang="en-US" sz="1200" dirty="0">
                <a:solidFill>
                  <a:srgbClr val="556B82"/>
                </a:solidFill>
              </a:rPr>
              <a:t>: o editor acusa erro de sintaxe.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Quick fix  </a:t>
            </a:r>
            <a:r>
              <a:rPr lang="en-US" sz="1200" dirty="0">
                <a:solidFill>
                  <a:srgbClr val="1D2D3E"/>
                </a:solidFill>
              </a:rPr>
              <a:t>digite o nome de um data element que não existe e use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200" dirty="0">
                <a:solidFill>
                  <a:srgbClr val="1D2D3E"/>
                </a:solidFill>
              </a:rPr>
              <a:t> para criá-lo na hora. Domínios não podem ser usados direto na tabela.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194767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95935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95935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Tipos do Dicionário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Dicionário tem tipos próprios, independentes do banco. Alguns têm </a:t>
            </a:r>
            <a:r>
              <a:rPr lang="en-US" sz="1600" b="1" dirty="0">
                <a:solidFill>
                  <a:srgbClr val="D1EFFF"/>
                </a:solidFill>
              </a:rPr>
              <a:t>semântica especial</a:t>
            </a:r>
            <a:r>
              <a:rPr lang="en-US" sz="1600" dirty="0">
                <a:solidFill>
                  <a:srgbClr val="D1EFFF"/>
                </a:solidFill>
              </a:rPr>
              <a:t>: mandante, idioma, moeda e unidade.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· INT4 · DEC</a:t>
            </a:r>
            <a:r>
              <a:rPr lang="en-US" sz="1000" dirty="0">
                <a:solidFill>
                  <a:srgbClr val="D1EFFF"/>
                </a:solidFill>
              </a:rPr>
              <a:t>  uso geral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 · CLNT · LANG</a:t>
            </a:r>
            <a:r>
              <a:rPr lang="en-US" sz="1000" dirty="0">
                <a:solidFill>
                  <a:srgbClr val="D1EFFF"/>
                </a:solidFill>
              </a:rPr>
              <a:t>  semântica especial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 + CUKY</a:t>
            </a:r>
            <a:r>
              <a:rPr lang="en-US" sz="1000" dirty="0">
                <a:solidFill>
                  <a:srgbClr val="D1EFFF"/>
                </a:solidFill>
              </a:rPr>
              <a:t>  valor e moeda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 + UNIT</a:t>
            </a:r>
            <a:r>
              <a:rPr lang="en-US" sz="1000" dirty="0">
                <a:solidFill>
                  <a:srgbClr val="D1EFFF"/>
                </a:solidFill>
              </a:rPr>
              <a:t>  quantidade e unidade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· TIPOS EMBUTIDOS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do Dicionário e seus pares no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596823"/>
                <a:gridCol w="1731215"/>
                <a:gridCol w="6492057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Dicionário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 · INT4 · FLTP · DEC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· i · f · 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de uso geral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Só dígitos; alguns frameworks completam com zeros à esquerda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CLNT · LANG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 chave, marcam o campo de mandante e o de idioma (tabelas de texto)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 · QUAN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 monetário e quantidade; exigem referência a moeda ou unidade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CUKY · UNIT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Código de moeda (5) e unidade de medida (2 ou 3)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DATS · TIMS · DATN · TIMN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· 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Datas e horas;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usam formato otimizado no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Atenção ao DEC  </a:t>
            </a:r>
            <a:r>
              <a:rPr lang="en-US" sz="1200" dirty="0">
                <a:solidFill>
                  <a:srgbClr val="1D2D3E"/>
                </a:solidFill>
              </a:rPr>
              <a:t>no Dicionário o comprimento é em </a:t>
            </a:r>
            <a:r>
              <a:rPr lang="en-US" sz="1200" b="1" dirty="0">
                <a:solidFill>
                  <a:srgbClr val="1D2D3E"/>
                </a:solidFill>
              </a:rPr>
              <a:t>dígitos</a:t>
            </a:r>
            <a:r>
              <a:rPr lang="en-US" sz="1200" dirty="0">
                <a:solidFill>
                  <a:srgbClr val="1D2D3E"/>
                </a:solidFill>
              </a:rPr>
              <a:t>; no ABAP,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 LENGTH n</a:t>
            </a:r>
            <a:r>
              <a:rPr lang="en-US" sz="1200" dirty="0">
                <a:solidFill>
                  <a:srgbClr val="1D2D3E"/>
                </a:solidFill>
              </a:rPr>
              <a:t> é em </a:t>
            </a:r>
            <a:r>
              <a:rPr lang="en-US" sz="1200" b="1" dirty="0">
                <a:solidFill>
                  <a:srgbClr val="1D2D3E"/>
                </a:solidFill>
              </a:rPr>
              <a:t>bytes</a:t>
            </a:r>
            <a:r>
              <a:rPr lang="en-US" sz="1200" dirty="0">
                <a:solidFill>
                  <a:srgbClr val="1D2D3E"/>
                </a:solidFill>
              </a:rPr>
              <a:t> (2n − 1 dígitos).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· VALORES E QUANTIDADES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Todo valor aponta para a sua moeda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zs4d430_flight.tabl.abap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Dictionary › Database Tables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'zs4d430_flight.currency_code'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/dmo/flight_price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/dmo/currency_code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@Semantics.quantity.unitOfMeasure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'zs4d430_flight.weight_unit'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cargo_weight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weight_unit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250" b="1" dirty="0">
                <a:solidFill>
                  <a:srgbClr val="1D2D3E"/>
                </a:solidFill>
              </a:rPr>
              <a:t> →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556B82"/>
                </a:solidFill>
              </a:rPr>
              <a:t> aponta tabela e campo da moeda.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250" b="1" dirty="0">
                <a:solidFill>
                  <a:srgbClr val="1D2D3E"/>
                </a:solidFill>
              </a:rPr>
              <a:t> →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@Semantics.quantity.unitOfMeasure</a:t>
            </a:r>
            <a:r>
              <a:rPr lang="en-US" sz="1050" dirty="0">
                <a:solidFill>
                  <a:srgbClr val="556B82"/>
                </a:solidFill>
              </a:rPr>
              <a:t> faz o mesmo para unidades.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Mesmo ou outra tabela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Normalmente a referência fica na própria tabela, mas pode apontar para outra.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Para a UI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referência permite formatar valores pela moeda e quantidades pela unidade.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Configurações técnicas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Além das anotações, cada tabela tem </a:t>
            </a:r>
            <a:r>
              <a:rPr lang="en-US" sz="1600" b="1" dirty="0">
                <a:solidFill>
                  <a:srgbClr val="D1EFFF"/>
                </a:solidFill>
              </a:rPr>
              <a:t>Technical Settings</a:t>
            </a:r>
            <a:r>
              <a:rPr lang="en-US" sz="1600" dirty="0">
                <a:solidFill>
                  <a:srgbClr val="D1EFFF"/>
                </a:solidFill>
              </a:rPr>
              <a:t>: um objeto à parte que influencia o banco e o acesso via ABAP SQL.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class</a:t>
            </a:r>
            <a:r>
              <a:rPr lang="en-US" sz="1000" dirty="0">
                <a:solidFill>
                  <a:srgbClr val="D1EFFF"/>
                </a:solidFill>
              </a:rPr>
              <a:t>  documentação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category</a:t>
            </a:r>
            <a:r>
              <a:rPr lang="en-US" sz="1000" dirty="0">
                <a:solidFill>
                  <a:srgbClr val="D1EFFF"/>
                </a:solidFill>
              </a:rPr>
              <a:t>  espaço inicial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Buffering</a:t>
            </a:r>
            <a:r>
              <a:rPr lang="en-US" sz="1000" dirty="0">
                <a:solidFill>
                  <a:srgbClr val="D1EFFF"/>
                </a:solidFill>
              </a:rPr>
              <a:t>  buffer de tabela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type · load unit</a:t>
            </a:r>
            <a:r>
              <a:rPr lang="en-US" sz="1000" dirty="0">
                <a:solidFill>
                  <a:srgbClr val="D1EFFF"/>
                </a:solidFill>
              </a:rPr>
              <a:t>  SAP HANA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TÉCNICO · TECHNICAL SETTINGS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configuração técnica controla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811507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Configuração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class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Obrigatória, mas no SAP HANA só documenta: APPL0 dados mestre, APPL1 transacionais, APPL2 organizacionais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Size category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Espaço inicial reservado (0 a 9) conforme o número esperado de linhas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Buffering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 e como a tabela pode ficar no buffer do servidor de aplicação; o ABAP SQL o usa sozinho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Storage type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Column store (padrão, análises e volumes grandes) ou row store (acessos a linha única)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Load unit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Column loadable (tudo em memória) ou page loadable (NSE: páginas carregadas sob demanda)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Log de alterações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Grava mudanças em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DBTABLOG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; use com moderação, prefira log na aplicação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98348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ADT  </a:t>
            </a:r>
            <a:r>
              <a:rPr lang="en-US" sz="1200" dirty="0">
                <a:solidFill>
                  <a:srgbClr val="1D2D3E"/>
                </a:solidFill>
              </a:rPr>
              <a:t>botão direito na definição → </a:t>
            </a:r>
            <a:r>
              <a:rPr lang="en-US" sz="1200" b="1" dirty="0">
                <a:solidFill>
                  <a:srgbClr val="1D2D3E"/>
                </a:solidFill>
              </a:rPr>
              <a:t>Open Others → Technical Settings</a:t>
            </a:r>
            <a:r>
              <a:rPr lang="en-US" sz="1200" dirty="0">
                <a:solidFill>
                  <a:srgbClr val="1D2D3E"/>
                </a:solidFill>
              </a:rPr>
              <a:t>. O objeto também aparece sob a tabela no Project Explorer.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1149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02.02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Alterando tabelas existentes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Mudar uma tabela que já tem dados exige </a:t>
            </a:r>
            <a:r>
              <a:rPr lang="en-US" sz="1600" b="1" dirty="0">
                <a:solidFill>
                  <a:srgbClr val="D1EFFF"/>
                </a:solidFill>
              </a:rPr>
              <a:t>ajustar</a:t>
            </a:r>
            <a:r>
              <a:rPr lang="en-US" sz="1600" dirty="0">
                <a:solidFill>
                  <a:srgbClr val="D1EFFF"/>
                </a:solidFill>
              </a:rPr>
              <a:t> o objeto no banco. O Dicionário escolhe a técnica, mas às vezes pede sua ajuda.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r>
              <a:rPr lang="en-US" sz="1000" dirty="0">
                <a:solidFill>
                  <a:srgbClr val="D1EFFF"/>
                </a:solidFill>
              </a:rPr>
              <a:t>  ajuste direto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and create</a:t>
            </a:r>
            <a:r>
              <a:rPr lang="en-US" sz="1000" dirty="0">
                <a:solidFill>
                  <a:srgbClr val="D1EFFF"/>
                </a:solidFill>
              </a:rPr>
              <a:t>  tabela vazia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</a:t>
            </a:r>
            <a:r>
              <a:rPr lang="en-US" sz="1000" dirty="0">
                <a:solidFill>
                  <a:srgbClr val="D1EFFF"/>
                </a:solidFill>
              </a:rPr>
              <a:t>  copia e converte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quick fixes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AJUSTES · TRÊS TÉCNICAS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uma mudança chega ao banco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ALTER TABLE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Altera o layout no banco e ajusta os dados. Não é usado quando há risco de perda ou erro de conversão.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Apagar e recriar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mais simples: só faz sentido se a tabela estiver vazia ou se os dados forem redundantes.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Conversão de tabela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a tabela com outro nome, copia e converte os dados e troca as tabelas. Pode perder dados ao remover ou encurtar campos.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AJUSTES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Quando a ativação não consegue ajustar sozinha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56489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Erro de ativação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… was not activated</a:t>
            </a:r>
            <a:r>
              <a:rPr lang="en-US" sz="1150" dirty="0">
                <a:solidFill>
                  <a:srgbClr val="556B82"/>
                </a:solidFill>
              </a:rPr>
              <a:t>. Mudanças indiretas (domínio, data element, include) também disparam o aviso.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Ler o log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Open With → Dictionary Log</a:t>
            </a:r>
            <a:r>
              <a:rPr lang="en-US" sz="1150" dirty="0">
                <a:solidFill>
                  <a:srgbClr val="556B82"/>
                </a:solidFill>
              </a:rPr>
              <a:t> mostra o motivo, ex.: </a:t>
            </a:r>
            <a:r>
              <a:rPr lang="en-US" sz="1150" i="1" dirty="0">
                <a:solidFill>
                  <a:srgbClr val="556B82"/>
                </a:solidFill>
              </a:rPr>
              <a:t>Structure change at field level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150" dirty="0">
                <a:solidFill>
                  <a:srgbClr val="556B82"/>
                </a:solidFill>
              </a:rPr>
              <a:t> → </a:t>
            </a:r>
            <a:r>
              <a:rPr lang="en-US" sz="1150" i="1" dirty="0">
                <a:solidFill>
                  <a:srgbClr val="556B82"/>
                </a:solidFill>
              </a:rPr>
              <a:t>Adjust and activate database table, convert data</a:t>
            </a:r>
            <a:r>
              <a:rPr lang="en-US" sz="1150" dirty="0">
                <a:solidFill>
                  <a:srgbClr val="556B82"/>
                </a:solidFill>
              </a:rPr>
              <a:t> (ou </a:t>
            </a:r>
            <a:r>
              <a:rPr lang="en-US" sz="1150" i="1" dirty="0">
                <a:solidFill>
                  <a:srgbClr val="556B82"/>
                </a:solidFill>
              </a:rPr>
              <a:t>delete data</a:t>
            </a:r>
            <a:r>
              <a:rPr lang="en-US" sz="1150" dirty="0">
                <a:solidFill>
                  <a:srgbClr val="556B82"/>
                </a:solidFill>
              </a:rPr>
              <a:t>, se os dados não importam).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Conferir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 view </a:t>
            </a:r>
            <a:r>
              <a:rPr lang="en-US" sz="1150" b="1" dirty="0">
                <a:solidFill>
                  <a:srgbClr val="556B82"/>
                </a:solidFill>
              </a:rPr>
              <a:t>Quick Assist</a:t>
            </a:r>
            <a:r>
              <a:rPr lang="en-US" sz="1150" dirty="0">
                <a:solidFill>
                  <a:srgbClr val="556B82"/>
                </a:solidFill>
              </a:rPr>
              <a:t> mostra o resultado e o </a:t>
            </a:r>
            <a:r>
              <a:rPr lang="en-US" sz="1150" i="1" dirty="0">
                <a:solidFill>
                  <a:srgbClr val="556B82"/>
                </a:solidFill>
              </a:rPr>
              <a:t>DB Adjusting Log</a:t>
            </a:r>
            <a:r>
              <a:rPr lang="en-US" sz="1150" dirty="0">
                <a:solidFill>
                  <a:srgbClr val="556B82"/>
                </a:solidFill>
              </a:rPr>
              <a:t> detalhado.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Evite  </a:t>
            </a:r>
            <a:r>
              <a:rPr lang="en-US" sz="1200" dirty="0">
                <a:solidFill>
                  <a:srgbClr val="1D2D3E"/>
                </a:solidFill>
              </a:rPr>
              <a:t>o quick fix </a:t>
            </a:r>
            <a:r>
              <a:rPr lang="en-US" sz="1200" i="1" dirty="0">
                <a:solidFill>
                  <a:srgbClr val="1D2D3E"/>
                </a:solidFill>
              </a:rPr>
              <a:t>Delete table on database</a:t>
            </a:r>
            <a:r>
              <a:rPr lang="en-US" sz="1200" dirty="0">
                <a:solidFill>
                  <a:srgbClr val="1D2D3E"/>
                </a:solidFill>
              </a:rPr>
              <a:t>: a tabela some do banco e todo acesso falha até ser ativada de novo.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24154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24154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19" y="324154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241548"/>
            <a:ext cx="329184" cy="32918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tabela é definida em código: anotações,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r>
              <a:rPr lang="en-US" sz="1400" dirty="0">
                <a:solidFill>
                  <a:srgbClr val="FFFFFF"/>
                </a:solidFill>
              </a:rPr>
              <a:t> e a lista de campos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Chave primária com até 16 campos, começando pelo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400" dirty="0">
                <a:solidFill>
                  <a:srgbClr val="FFFFFF"/>
                </a:solidFill>
              </a:rPr>
              <a:t>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r>
              <a:rPr lang="en-US" sz="1400" dirty="0">
                <a:solidFill>
                  <a:srgbClr val="FFFFFF"/>
                </a:solidFill>
              </a:rPr>
              <a:t> só nas chaves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</a:t>
            </a:r>
            <a:r>
              <a:rPr lang="en-US" sz="1400" b="1" dirty="0">
                <a:solidFill>
                  <a:srgbClr val="FFFFFF"/>
                </a:solidFill>
              </a:rPr>
              <a:t>data elements</a:t>
            </a:r>
            <a:r>
              <a:rPr lang="en-US" sz="1400" dirty="0">
                <a:solidFill>
                  <a:srgbClr val="FFFFFF"/>
                </a:solidFill>
              </a:rPr>
              <a:t> nos campos; tipos embutidos só para campos técnicos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Campos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400" dirty="0">
                <a:solidFill>
                  <a:srgbClr val="FFFFFF"/>
                </a:solidFill>
              </a:rPr>
              <a:t> exigem referência à moeda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CUKY</a:t>
            </a:r>
            <a:r>
              <a:rPr lang="en-US" sz="1400" dirty="0">
                <a:solidFill>
                  <a:srgbClr val="FFFFFF"/>
                </a:solidFill>
              </a:rPr>
              <a:t>) e à unidade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Settings</a:t>
            </a:r>
            <a:r>
              <a:rPr lang="en-US" sz="1400" dirty="0">
                <a:solidFill>
                  <a:srgbClr val="FFFFFF"/>
                </a:solidFill>
              </a:rPr>
              <a:t> definem data class, tamanho, buffer, armazenamento e carga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Mudanças em tabelas com dados usam ALTER TABLE, recriação ou </a:t>
            </a:r>
            <a:r>
              <a:rPr lang="en-US" sz="1400" b="1" dirty="0">
                <a:solidFill>
                  <a:srgbClr val="FFFFFF"/>
                </a:solidFill>
              </a:rPr>
              <a:t>conversão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02.03  </a:t>
            </a:r>
            <a:r>
              <a:rPr lang="en-US" sz="1500" dirty="0">
                <a:solidFill>
                  <a:srgbClr val="FFFFFF"/>
                </a:solidFill>
              </a:rPr>
              <a:t>Tipos globais: Domínios, data elements, estruturas e table types.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02.02 Criando tabelas de banco de dados</dc:title>
  <dc:subject>ABAP Moderno – Módulo 02: Modelagem de Dados com Dicionário e CDS</dc:subject>
  <dc:creator>Adriano Bispo</dc:creator>
  <cp:lastModifiedBy>Adriano Bispo</cp:lastModifiedBy>
  <cp:revision>1</cp:revision>
  <dcterms:created xsi:type="dcterms:W3CDTF">2026-10-29T01:01:21Z</dcterms:created>
  <dcterms:modified xsi:type="dcterms:W3CDTF">2026-10-29T01:01:21Z</dcterms:modified>
</cp:coreProperties>
</file>