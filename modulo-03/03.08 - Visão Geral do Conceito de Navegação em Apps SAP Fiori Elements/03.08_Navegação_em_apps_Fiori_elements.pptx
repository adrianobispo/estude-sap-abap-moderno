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03.08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03  ·  03.08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03  ·  03.08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Navegação Inteligente em SAP Fiori Elements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O guia definitivo: do drill-down hierárquico à navegação cross-app por intenção.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fixa (hardcoded)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Drill-down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Cross-App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#Objeto-Ação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 Mapping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Rota da Nossa Jornada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Que Você Vai Dominar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56946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Os Dois Caminhos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Diferenciar navegação interna (drill-down) de externa (cross-app).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33008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89040" y="185623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89040" y="256946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A Torre de Controle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Entender a navegação baseada em intenção e o papel do Fiori Launchpad como “broker”.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427939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499262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A Linguagem da Navegação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Construir intenções com Objeto Semântico (o que é) e Ação (o que fazer).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33008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89040" y="427939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89040" y="4992624"/>
            <a:ext cx="489798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A Conexão na Prática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Configurar links inteligentes em tabelas com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#FOR_INTENT_BASED_NAVIGATION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1987906"/>
            <a:ext cx="285293" cy="285293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46" y="4411066"/>
            <a:ext cx="285293" cy="285293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713" y="1987906"/>
            <a:ext cx="285293" cy="285293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713" y="4411066"/>
            <a:ext cx="285293" cy="2852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Filosofia da Navegação Fiori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Mais do que Apenas um Link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A navegação em Fiori não é sobre URLs fixas: é projetada para suportar o fluxo de pensamento do usuário.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64328" cy="388620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420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81328" y="25420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0808"/>
                </a:solidFill>
              </a:rPr>
              <a:t>O Problema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48156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Modelo antigo: alto risco, alta manutenção.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Links estáticos (hardcoded) são frágeis: se o app de destino muda, todos os links que apontam para ele quebram.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78728" y="2286000"/>
            <a:ext cx="5364328" cy="388620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3048" y="25420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11416" y="25420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A Solução Fiori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246120"/>
            <a:ext cx="48156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D2D3E"/>
                </a:solidFill>
              </a:rPr>
              <a:t>Modelo Fiori: flexível e desacoplado.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Um sistema desacoplado em que a origem não precisa conhecer o destino, apenas a ‘intenção’ do usuário.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2664927"/>
            <a:ext cx="266273" cy="266273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2664927"/>
            <a:ext cx="266273" cy="2662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Caminho 1 · A Jornada Vertical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Navegação Interna (Drill-Down)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Definição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É o padrão hierárquico: o usuário começa em uma visão ampla e mergulha nos detalhes, permanecendo sempre DENTRO do mesmo aplicativo.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Cenário exemplo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Tela 1:</a:t>
            </a:r>
            <a:r>
              <a:rPr lang="en-US" sz="1500" dirty="0">
                <a:solidFill>
                  <a:srgbClr val="1D2D3E"/>
                </a:solidFill>
              </a:rPr>
              <a:t> lista de todas as Viagens (List Report).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D2D3E"/>
                </a:solidFill>
              </a:rPr>
              <a:t>Clique na Viagem 100 → </a:t>
            </a:r>
            <a:r>
              <a:rPr lang="en-US" sz="1500" b="1" dirty="0">
                <a:solidFill>
                  <a:srgbClr val="1D2D3E"/>
                </a:solidFill>
              </a:rPr>
              <a:t>Tela 2:</a:t>
            </a:r>
            <a:r>
              <a:rPr lang="en-US" sz="1500" dirty="0">
                <a:solidFill>
                  <a:srgbClr val="1D2D3E"/>
                </a:solidFill>
              </a:rPr>
              <a:t> detalhes da Viagem 100 (Object Page).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D2D3E"/>
                </a:solidFill>
              </a:rPr>
              <a:t>Clique na Reserva 50 → </a:t>
            </a:r>
            <a:r>
              <a:rPr lang="en-US" sz="1500" b="1" dirty="0">
                <a:solidFill>
                  <a:srgbClr val="1D2D3E"/>
                </a:solidFill>
              </a:rPr>
              <a:t>Tela 3:</a:t>
            </a:r>
            <a:r>
              <a:rPr lang="en-US" sz="1500" dirty="0">
                <a:solidFill>
                  <a:srgbClr val="1D2D3E"/>
                </a:solidFill>
              </a:rPr>
              <a:t> detalhes da Reserva 50 (Sub-Object Page).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75120" y="1600200"/>
            <a:ext cx="347472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12280" y="1673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Tela 1: List Report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12280" y="2057400"/>
            <a:ext cx="3200400" cy="182880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1" name="Shape 9"/>
          <p:cNvSpPr/>
          <p:nvPr/>
        </p:nvSpPr>
        <p:spPr>
          <a:xfrm>
            <a:off x="6812280" y="2313432"/>
            <a:ext cx="3200400" cy="182880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2" name="Shape 10"/>
          <p:cNvSpPr/>
          <p:nvPr/>
        </p:nvSpPr>
        <p:spPr>
          <a:xfrm>
            <a:off x="6812280" y="2569464"/>
            <a:ext cx="3200400" cy="182880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3" name="Shape 11"/>
          <p:cNvSpPr/>
          <p:nvPr/>
        </p:nvSpPr>
        <p:spPr>
          <a:xfrm>
            <a:off x="7452360" y="2651760"/>
            <a:ext cx="347472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89520" y="2724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Tela 2: Object Page (Viagem 100)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3108960"/>
            <a:ext cx="3200400" cy="182880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6" name="Shape 14"/>
          <p:cNvSpPr/>
          <p:nvPr/>
        </p:nvSpPr>
        <p:spPr>
          <a:xfrm>
            <a:off x="7589520" y="3364992"/>
            <a:ext cx="3200400" cy="182880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0" y="3621024"/>
            <a:ext cx="3200400" cy="182880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3703320"/>
            <a:ext cx="347472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66760" y="3776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Tela 3: Sub-Object Page (Reserva 50)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66760" y="4160520"/>
            <a:ext cx="3200400" cy="182880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1" name="Shape 19"/>
          <p:cNvSpPr/>
          <p:nvPr/>
        </p:nvSpPr>
        <p:spPr>
          <a:xfrm>
            <a:off x="8366760" y="4416552"/>
            <a:ext cx="3200400" cy="182880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2" name="Shape 20"/>
          <p:cNvSpPr/>
          <p:nvPr/>
        </p:nvSpPr>
        <p:spPr>
          <a:xfrm>
            <a:off x="8366760" y="4672584"/>
            <a:ext cx="3200400" cy="182880"/>
          </a:xfrm>
          <a:prstGeom prst="rect">
            <a:avLst/>
          </a:prstGeom>
          <a:solidFill>
            <a:srgbClr val="DCE3EA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8D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280160" y="544068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Ponto-chave: configuração praticamente automática.</a:t>
            </a:r>
            <a:r>
              <a:rPr lang="en-US" sz="1500" dirty="0">
                <a:solidFill>
                  <a:srgbClr val="1D2D3E"/>
                </a:solidFill>
              </a:rPr>
              <a:t> Se as associações CDS estiverem corretas, o framework cuida de tudo.</a:t>
            </a:r>
            <a:endParaRPr lang="en-US" sz="16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3270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Caminho 2 · A Jornada Horizontal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Navegação Externa (Cross-App)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Definição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É quando o usuário muda de ‘papel’ ou ‘domínio de negócio’, saindo de um aplicativo e entrando em outro completamente diferente.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Cenário exemplo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App de origem (Aprovar Viagens):</a:t>
            </a:r>
            <a:r>
              <a:rPr lang="en-US" sz="1400" dirty="0">
                <a:solidFill>
                  <a:srgbClr val="1D2D3E"/>
                </a:solidFill>
              </a:rPr>
              <a:t> analisando uma viagem para o Cliente ‘SAP’.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Ação do usuário:</a:t>
            </a:r>
            <a:r>
              <a:rPr lang="en-US" sz="1400" dirty="0">
                <a:solidFill>
                  <a:srgbClr val="1D2D3E"/>
                </a:solidFill>
              </a:rPr>
              <a:t> clica no ID do Cliente para verificar sua situação financeira.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App de destino (Cockpit Financeiro):</a:t>
            </a:r>
            <a:r>
              <a:rPr lang="en-US" sz="1400" dirty="0">
                <a:solidFill>
                  <a:srgbClr val="1D2D3E"/>
                </a:solidFill>
              </a:rPr>
              <a:t> o sistema abre um app diferente, focado na gestão financeira daquele cliente.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0" y="2331720"/>
            <a:ext cx="1920240" cy="1463040"/>
          </a:xfrm>
          <a:prstGeom prst="ellipse">
            <a:avLst/>
          </a:prstGeom>
          <a:solidFill>
            <a:srgbClr val="EBF8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3317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App de Viagens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92640" y="2331720"/>
            <a:ext cx="1920240" cy="1463040"/>
          </a:xfrm>
          <a:prstGeom prst="ellipse">
            <a:avLst/>
          </a:prstGeom>
          <a:solidFill>
            <a:srgbClr val="EBF8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0" y="23317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App Financeiro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ID do Cliente → Navegação Externa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FFF8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544068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Ponto-chave: requer configuração explícita.</a:t>
            </a:r>
            <a:r>
              <a:rPr lang="en-US" sz="1500" dirty="0">
                <a:solidFill>
                  <a:srgbClr val="1D2D3E"/>
                </a:solidFill>
              </a:rPr>
              <a:t> É preciso definir o significado de negócio do campo (seu ‘Objeto Semântico’).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606040"/>
            <a:ext cx="1097280" cy="109728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3270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Como o Sistema Sabe Para Onde Ir?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011680" y="2606040"/>
            <a:ext cx="16459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2011680" y="26060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6B82"/>
                </a:solidFill>
              </a:rPr>
              <a:t>App 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flipV="1">
            <a:off x="3657600" y="2057400"/>
            <a:ext cx="4206240" cy="960120"/>
          </a:xfrm>
          <a:prstGeom prst="line">
            <a:avLst/>
          </a:prstGeom>
          <a:noFill/>
          <a:ln w="19050">
            <a:solidFill>
              <a:srgbClr val="D9D9D9"/>
            </a:solidFill>
            <a:prstDash val="dash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955280" y="1691640"/>
            <a:ext cx="1645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691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E"/>
                </a:solidFill>
              </a:rPr>
              <a:t>App 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flipV="1">
            <a:off x="3657600" y="2971800"/>
            <a:ext cx="4206240" cy="45720"/>
          </a:xfrm>
          <a:prstGeom prst="line">
            <a:avLst/>
          </a:prstGeom>
          <a:noFill/>
          <a:ln w="19050">
            <a:solidFill>
              <a:srgbClr val="D9D9D9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955280" y="2606040"/>
            <a:ext cx="1645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2606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E"/>
                </a:solidFill>
              </a:rPr>
              <a:t>App 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0" y="3017520"/>
            <a:ext cx="4206240" cy="868680"/>
          </a:xfrm>
          <a:prstGeom prst="line">
            <a:avLst/>
          </a:prstGeom>
          <a:noFill/>
          <a:ln w="19050">
            <a:solidFill>
              <a:srgbClr val="D9D9D9"/>
            </a:solidFill>
            <a:prstDash val="dash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955280" y="3520440"/>
            <a:ext cx="16459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0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B4BE"/>
                </a:solidFill>
              </a:rPr>
              <a:t>App 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1508760"/>
            <a:ext cx="1463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0070F2"/>
                </a:solidFill>
              </a:rPr>
              <a:t>?</a:t>
            </a:r>
            <a:endParaRPr lang="en-US" sz="14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A mágica por trás da conexão entre aplicativos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5074920"/>
            <a:ext cx="9448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Se os links não são fixos, como o Fiori Launchpad decide qual aplicativo abrir quando o usuário clica em um ID de Cliente?</a:t>
            </a:r>
            <a:endParaRPr lang="en-US" sz="1800" dirty="0"/>
          </a:p>
        </p:txBody>
      </p:sp>
      <p:sp>
        <p:nvSpPr>
          <p:cNvPr id="17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Motor da Navegação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Intent-Based Navigation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D2D3E"/>
                </a:solidFill>
              </a:rPr>
              <a:t>Pense no Fiori Launchpad como uma </a:t>
            </a:r>
            <a:r>
              <a:rPr lang="en-US" sz="1900" b="1" dirty="0">
                <a:solidFill>
                  <a:srgbClr val="1D2D3E"/>
                </a:solidFill>
              </a:rPr>
              <a:t>Torre de Controle Aéreo</a:t>
            </a:r>
            <a:r>
              <a:rPr lang="en-US" sz="19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97709" y="2926080"/>
            <a:ext cx="7396277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4789" y="242316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94789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70F2"/>
                </a:solidFill>
              </a:rPr>
              <a:t>1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657600"/>
            <a:ext cx="355183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Origem (o Piloto)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Não informa uma URL: preenche um ‘plano de voo’, declarando sua </a:t>
            </a:r>
            <a:r>
              <a:rPr lang="en-US" sz="1500" b="1" dirty="0">
                <a:solidFill>
                  <a:srgbClr val="556B82"/>
                </a:solidFill>
              </a:rPr>
              <a:t>intenção</a:t>
            </a:r>
            <a:r>
              <a:rPr lang="en-US" sz="1500" dirty="0">
                <a:solidFill>
                  <a:srgbClr val="556B82"/>
                </a:solidFill>
              </a:rPr>
              <a:t> (ex.: “quero exibir um Cliente”).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92928" y="242316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92928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70F2"/>
                </a:solidFill>
              </a:rPr>
              <a:t>2</a:t>
            </a:r>
            <a:endParaRPr lang="en-US" sz="3300" dirty="0"/>
          </a:p>
        </p:txBody>
      </p:sp>
      <p:sp>
        <p:nvSpPr>
          <p:cNvPr id="11" name="Text 9"/>
          <p:cNvSpPr txBox="1"/>
          <p:nvPr/>
        </p:nvSpPr>
        <p:spPr>
          <a:xfrm>
            <a:off x="4319930" y="3657600"/>
            <a:ext cx="355183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Launchpad (a Torre de Controle)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Intercepta a intenção e verifica as rotas disponíveis (Target Mapping) para aquele usuário.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91066" y="2423160"/>
            <a:ext cx="1005840" cy="10058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91066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70F2"/>
                </a:solidFill>
              </a:rPr>
              <a:t>3</a:t>
            </a:r>
            <a:endParaRPr lang="en-US" sz="3300" dirty="0"/>
          </a:p>
        </p:txBody>
      </p:sp>
      <p:sp>
        <p:nvSpPr>
          <p:cNvPr id="14" name="Text 12"/>
          <p:cNvSpPr txBox="1"/>
          <p:nvPr/>
        </p:nvSpPr>
        <p:spPr>
          <a:xfrm>
            <a:off x="8018069" y="3657600"/>
            <a:ext cx="355183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Destino (o Portão de Chegada)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O Launchpad direciona o usuário para o aplicativo correto, que já o aguarda com o contexto (o ID do Cliente).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Linguagem da Intenção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Anatomia do “Plano de Voo”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D2D3E"/>
                </a:solidFill>
              </a:rPr>
              <a:t>#</a:t>
            </a:r>
            <a:r>
              <a:rPr lang="en-US" sz="5200" b="1" dirty="0">
                <a:solidFill>
                  <a:srgbClr val="0070F2"/>
                </a:solidFill>
              </a:rPr>
              <a:t>ObjetoSemântico</a:t>
            </a:r>
            <a:r>
              <a:rPr lang="en-US" sz="5200" b="1" dirty="0">
                <a:solidFill>
                  <a:srgbClr val="1D2D3E"/>
                </a:solidFill>
              </a:rPr>
              <a:t>-</a:t>
            </a:r>
            <a:r>
              <a:rPr lang="en-US" sz="5200" b="1" dirty="0">
                <a:solidFill>
                  <a:srgbClr val="30914C"/>
                </a:solidFill>
              </a:rPr>
              <a:t>Ação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36432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78892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4D9"/>
                </a:solidFill>
              </a:rPr>
              <a:t>Objeto Semântico (o Substantivo)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Define </a:t>
            </a:r>
            <a:r>
              <a:rPr lang="en-US" sz="1400" b="1" dirty="0">
                <a:solidFill>
                  <a:srgbClr val="1D2D3E"/>
                </a:solidFill>
              </a:rPr>
              <a:t>O QUÊ</a:t>
            </a:r>
            <a:r>
              <a:rPr lang="en-US" sz="1400" dirty="0">
                <a:solidFill>
                  <a:srgbClr val="1D2D3E"/>
                </a:solidFill>
              </a:rPr>
              <a:t>: representa a entidade de negócio.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1084478" cy="347472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069080"/>
            <a:ext cx="10844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Customer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7166" y="4069080"/>
            <a:ext cx="1275588" cy="347472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017166" y="4069080"/>
            <a:ext cx="12755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SalesOrder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02482" y="4069080"/>
            <a:ext cx="893369" cy="347472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02482" y="4069080"/>
            <a:ext cx="8933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Travel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05579" y="4069080"/>
            <a:ext cx="1275588" cy="347472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05579" y="4069080"/>
            <a:ext cx="12755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CostCenter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8728" y="2651760"/>
            <a:ext cx="536432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53048" y="278892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56F3A"/>
                </a:solidFill>
              </a:rPr>
              <a:t>Ação (o Verbo)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3246120"/>
            <a:ext cx="481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Define </a:t>
            </a:r>
            <a:r>
              <a:rPr lang="en-US" sz="1400" b="1" dirty="0">
                <a:solidFill>
                  <a:srgbClr val="1D2D3E"/>
                </a:solidFill>
              </a:rPr>
              <a:t>O QUE FAZER</a:t>
            </a:r>
            <a:r>
              <a:rPr lang="en-US" sz="1400" dirty="0">
                <a:solidFill>
                  <a:srgbClr val="1D2D3E"/>
                </a:solidFill>
              </a:rPr>
              <a:t>: representa a tarefa que o usuário deseja executar.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53048" y="4069080"/>
            <a:ext cx="988924" cy="347472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4069080"/>
            <a:ext cx="988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display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51699" y="4069080"/>
            <a:ext cx="893369" cy="347472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51699" y="4069080"/>
            <a:ext cx="8933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manage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54796" y="4069080"/>
            <a:ext cx="988924" cy="347472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54796" y="4069080"/>
            <a:ext cx="988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approve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53448" y="4069080"/>
            <a:ext cx="988924" cy="347472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53448" y="4069080"/>
            <a:ext cx="9889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analyze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Exemplos reais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03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#SalesOrder-display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Ver detalhes de um pedido de venda.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5303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#Customer-manage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Editar/gerenciar um cliente.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5303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#Travel-analyze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Ver gráficos sobre viagens.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Mapa de Rotas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Conectando Intenção ao Destino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Target Mapping</a:t>
            </a:r>
            <a:r>
              <a:rPr lang="en-US" sz="1600" dirty="0">
                <a:solidFill>
                  <a:srgbClr val="1D2D3E"/>
                </a:solidFill>
              </a:rPr>
              <a:t> é a “tabela de roteamento” do Fiori Launchpad: a regra administrativa que diz à Torre de Controle para onde enviar cada “voo”.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23818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42032"/>
            <a:ext cx="324093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1. Intenção recebida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#Customer-display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45610" y="320040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8" name="Shape 6"/>
          <p:cNvSpPr/>
          <p:nvPr/>
        </p:nvSpPr>
        <p:spPr>
          <a:xfrm>
            <a:off x="4383938" y="2468880"/>
            <a:ext cx="3423818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75378" y="2542032"/>
            <a:ext cx="324093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2. Consulta ao mapa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Launchpad procura uma regra correspondente nos catálogos do usuário.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80909" y="3200400"/>
            <a:ext cx="2651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8219237" y="2468880"/>
            <a:ext cx="3423818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10677" y="2542032"/>
            <a:ext cx="324093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3. Resolução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“Para esta intenção, execute o aplicativo Z_CUSTOMER_COCKPIT.”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4526280"/>
            <a:ext cx="10088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 grande benefício: desacoplamento total.</a:t>
            </a:r>
            <a:r>
              <a:rPr lang="en-US" sz="1500" dirty="0">
                <a:solidFill>
                  <a:srgbClr val="1D2D3E"/>
                </a:solidFill>
              </a:rPr>
              <a:t> Se você criar um novo aplicativo de clientes amanhã, basta atualizar esta regra em um único lugar: todos os outros aplicativos que usam a intenção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#Customer-display</a:t>
            </a:r>
            <a:r>
              <a:rPr lang="en-US" sz="1500" dirty="0">
                <a:solidFill>
                  <a:srgbClr val="1D2D3E"/>
                </a:solidFill>
              </a:rPr>
              <a:t> passarão a apontar para o novo destino automaticamente.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8406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Do Conceito ao Código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Ativando a Navegação em uma Tabela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Para transformar uma coluna em um link de navegação inteligente (Smart Link), usamos o tipo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#FOR_INTENT_BASED_NAVIGATION</a:t>
            </a:r>
            <a:r>
              <a:rPr lang="en-US" sz="1600" dirty="0">
                <a:solidFill>
                  <a:srgbClr val="1D2D3E"/>
                </a:solidFill>
              </a:rPr>
              <a:t> em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7406640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87752"/>
            <a:ext cx="6949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'Cliente'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Define que esta coluna é um link de navegação */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3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#FOR_INTENT_BASED_NAVIGATION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O "Substantivo": sobre qual objeto estamos falando? */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300" dirty="0">
                <a:solidFill>
                  <a:srgbClr val="256F3A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'Customer'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O "Verbo": o que queremos fazer com ele? */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semanticObjectAction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'display'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0" y="2697480"/>
            <a:ext cx="341345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299008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94192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2697480"/>
            <a:ext cx="2636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Define o comportamento como </a:t>
            </a:r>
            <a:r>
              <a:rPr lang="en-US" sz="1400" b="1" dirty="0">
                <a:solidFill>
                  <a:srgbClr val="1D2D3E"/>
                </a:solidFill>
              </a:rPr>
              <a:t>navegação por intenção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886200"/>
            <a:ext cx="341345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94192" y="41788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94192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3886200"/>
            <a:ext cx="2636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 </a:t>
            </a:r>
            <a:r>
              <a:rPr lang="en-US" sz="1400" b="1" dirty="0">
                <a:solidFill>
                  <a:srgbClr val="1D2D3E"/>
                </a:solidFill>
              </a:rPr>
              <a:t>substantivo</a:t>
            </a:r>
            <a:r>
              <a:rPr lang="en-US" sz="1400" dirty="0">
                <a:solidFill>
                  <a:srgbClr val="1D2D3E"/>
                </a:solidFill>
              </a:rPr>
              <a:t> da nossa intenção.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0" y="5074920"/>
            <a:ext cx="341345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536752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94192" y="5367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5074920"/>
            <a:ext cx="2636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 </a:t>
            </a:r>
            <a:r>
              <a:rPr lang="en-US" sz="1400" b="1" dirty="0">
                <a:solidFill>
                  <a:srgbClr val="1D2D3E"/>
                </a:solidFill>
              </a:rPr>
              <a:t>verbo</a:t>
            </a:r>
            <a:r>
              <a:rPr lang="en-US" sz="1400" dirty="0">
                <a:solidFill>
                  <a:srgbClr val="1D2D3E"/>
                </a:solidFill>
              </a:rPr>
              <a:t> da nossa intenção.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Passagem de Contexto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Como o Destino Sabe ‘Qual’ Cliente Abrir?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1600200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1. Clique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600200"/>
            <a:ext cx="679673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 usuário clica no link do Cliente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0001</a:t>
            </a:r>
            <a:r>
              <a:rPr lang="en-US" sz="1400" dirty="0">
                <a:solidFill>
                  <a:srgbClr val="1D2D3E"/>
                </a:solidFill>
              </a:rPr>
              <a:t> na tabela de Viagens.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94415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2608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00200" y="2743200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2. Disparo da intenção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743200"/>
            <a:ext cx="679673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 framework gera a intenção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#Customer-display</a:t>
            </a:r>
            <a:r>
              <a:rPr lang="en-US" sz="1400" dirty="0">
                <a:solidFill>
                  <a:srgbClr val="1D2D3E"/>
                </a:solidFill>
              </a:rPr>
              <a:t> e anexa automaticamente o contexto da linha: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?CustomerID=0001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94415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06908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600200" y="3886200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3. Resolução no Launchpad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886200"/>
            <a:ext cx="679673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 Launchpad recebe a intenção completa e encontra o app de destino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Z_CUSTOMER_COCKPIT</a:t>
            </a:r>
            <a:r>
              <a:rPr lang="en-US" sz="1400" dirty="0">
                <a:solidFill>
                  <a:srgbClr val="1D2D3E"/>
                </a:solidFill>
              </a:rPr>
              <a:t>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94415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5212080"/>
            <a:ext cx="621792" cy="621792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600200" y="5029200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4. Abertura com contexto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5029200"/>
            <a:ext cx="679673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 app de destino lê o parâmetro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CustomerID=0001</a:t>
            </a:r>
            <a:r>
              <a:rPr lang="en-US" sz="1400" dirty="0">
                <a:solidFill>
                  <a:srgbClr val="1D2D3E"/>
                </a:solidFill>
              </a:rPr>
              <a:t> na inicialização e filtra os dados para exibir apenas o cliente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0001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470" y="1932310"/>
            <a:ext cx="323332" cy="323332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70" y="5361310"/>
            <a:ext cx="323332" cy="323332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70" y="3075310"/>
            <a:ext cx="323332" cy="323332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470" y="4218310"/>
            <a:ext cx="323332" cy="3233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Cenário Avançado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Lidando com Nomes de Parâmetros Diferentes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A0808"/>
                </a:solidFill>
              </a:rPr>
              <a:t>O Problema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O app de origem (Viagens) tem o campo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MyCustID</a:t>
            </a:r>
            <a:r>
              <a:rPr lang="en-US" sz="1400" dirty="0">
                <a:solidFill>
                  <a:srgbClr val="1D2D3E"/>
                </a:solidFill>
              </a:rPr>
              <a:t>, mas o app de destino (Cockpit Financeiro) espera receber um parâmetro chamado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PartnerID</a:t>
            </a:r>
            <a:r>
              <a:rPr lang="en-US" sz="1400" dirty="0">
                <a:solidFill>
                  <a:srgbClr val="1D2D3E"/>
                </a:solidFill>
              </a:rPr>
              <a:t>. A navegação não funcionará automaticamente.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1645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840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MyCustID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01288" y="3840480"/>
            <a:ext cx="1645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01288" y="3840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PartnerID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1600200"/>
            <a:ext cx="536432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53048" y="1783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56F3A"/>
                </a:solidFill>
              </a:rPr>
              <a:t>A Solução Elegante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286000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Usar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@Consumption.semanticObject</a:t>
            </a:r>
            <a:r>
              <a:rPr lang="en-US" sz="1400" dirty="0">
                <a:solidFill>
                  <a:srgbClr val="1D2D3E"/>
                </a:solidFill>
              </a:rPr>
              <a:t> na sua CDS View: a anotação ‘ensina’ ao sistema o significado semântico do seu campo.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53048" y="3154680"/>
            <a:ext cx="4815688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781648" y="3319272"/>
            <a:ext cx="4358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MyCustID representa a entidade 'Customer' */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@Consumption.semanticObject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'Customer'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MyCustID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EC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80160" y="512064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Plano B:</a:t>
            </a:r>
            <a:r>
              <a:rPr lang="en-US" sz="1500" dirty="0">
                <a:solidFill>
                  <a:srgbClr val="1D2D3E"/>
                </a:solidFill>
              </a:rPr>
              <a:t> em cenários muito complexos, o mapeamento de parâmetros pode ser configurado manualmente no Target Mapping do Launchpad.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6484" y="3886200"/>
            <a:ext cx="548640" cy="54864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8124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Rota de Fuga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Links para URLs Externas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91640" y="1691640"/>
            <a:ext cx="403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Ecossistema Interno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#FOR_INTENT_BASED_NAVIGATION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Use para navegar entre aplicativos Fiori.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07328" y="187452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21728" y="1691640"/>
            <a:ext cx="403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Mundo Externo</a:t>
            </a: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#WITH_URL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Use para sistemas legados, sites de parceiros etc.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1680" y="3063240"/>
            <a:ext cx="8168335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240280" y="3191256"/>
            <a:ext cx="7711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A Ferramenta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0" y="3575304"/>
            <a:ext cx="81683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0280" y="3703320"/>
            <a:ext cx="7711135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#WITH_URL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A URL vem do conteúdo do campo 'WebAddress' na view */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'WebAddress'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'Website do Parceiro'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WebsiteLink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34924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FF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80160" y="534924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Cuidado essencial:</a:t>
            </a:r>
            <a:r>
              <a:rPr lang="en-US" sz="1400" dirty="0">
                <a:solidFill>
                  <a:srgbClr val="1D2D3E"/>
                </a:solidFill>
              </a:rPr>
              <a:t> não use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#WITH_URL</a:t>
            </a:r>
            <a:r>
              <a:rPr lang="en-US" sz="1400" dirty="0">
                <a:solidFill>
                  <a:srgbClr val="1D2D3E"/>
                </a:solidFill>
              </a:rPr>
              <a:t> para navegar para outros apps SAP internos. Você perde a flexibilidade do desacoplamento, a gestão de sessão e a manutenção centralizada do Launchpad. É exclusivamente para o mundo externo.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050085"/>
            <a:ext cx="380390" cy="38039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09844"/>
            <a:ext cx="347472" cy="34747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892" y="2050085"/>
            <a:ext cx="380390" cy="3803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Resumo Estratégico da Navegação Fiori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83080" y="20116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Navegação Interna (Drill-down)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É </a:t>
            </a:r>
            <a:r>
              <a:rPr lang="en-US" sz="1400" b="1" dirty="0">
                <a:solidFill>
                  <a:srgbClr val="C9D3DE"/>
                </a:solidFill>
              </a:rPr>
              <a:t>vertical</a:t>
            </a:r>
            <a:r>
              <a:rPr lang="en-US" sz="1400" dirty="0">
                <a:solidFill>
                  <a:srgbClr val="C9D3DE"/>
                </a:solidFill>
              </a:rPr>
              <a:t> e </a:t>
            </a:r>
            <a:r>
              <a:rPr lang="en-US" sz="1400" b="1" dirty="0">
                <a:solidFill>
                  <a:srgbClr val="C9D3DE"/>
                </a:solidFill>
              </a:rPr>
              <a:t>automática</a:t>
            </a:r>
            <a:r>
              <a:rPr lang="en-US" sz="1400" dirty="0">
                <a:solidFill>
                  <a:srgbClr val="C9D3DE"/>
                </a:solidFill>
              </a:rPr>
              <a:t>: aprofunda o contexto dentro do mesmo app.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82880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20116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Navegação Externa (Cross-App)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É </a:t>
            </a:r>
            <a:r>
              <a:rPr lang="en-US" sz="1400" b="1" dirty="0">
                <a:solidFill>
                  <a:srgbClr val="C9D3DE"/>
                </a:solidFill>
              </a:rPr>
              <a:t>horizontal</a:t>
            </a:r>
            <a:r>
              <a:rPr lang="en-US" sz="1400" dirty="0">
                <a:solidFill>
                  <a:srgbClr val="C9D3DE"/>
                </a:solidFill>
              </a:rPr>
              <a:t> e </a:t>
            </a:r>
            <a:r>
              <a:rPr lang="en-US" sz="1400" b="1" dirty="0">
                <a:solidFill>
                  <a:srgbClr val="C9D3DE"/>
                </a:solidFill>
              </a:rPr>
              <a:t>explícita</a:t>
            </a:r>
            <a:r>
              <a:rPr lang="en-US" sz="1400" dirty="0">
                <a:solidFill>
                  <a:srgbClr val="C9D3DE"/>
                </a:solidFill>
              </a:rPr>
              <a:t>: muda de contexto e cruza para outros apps.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41605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O Padrão-Ouro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A </a:t>
            </a:r>
            <a:r>
              <a:rPr lang="en-US" sz="1400" b="1" dirty="0">
                <a:solidFill>
                  <a:srgbClr val="C9D3DE"/>
                </a:solidFill>
              </a:rPr>
              <a:t>Navegação Baseada em Intenção</a:t>
            </a:r>
            <a:r>
              <a:rPr lang="en-US" sz="1400" dirty="0">
                <a:solidFill>
                  <a:srgbClr val="C9D3DE"/>
                </a:solidFill>
              </a:rPr>
              <a:t> (</a:t>
            </a:r>
            <a:r>
              <a:rPr lang="en-US" sz="14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#Objeto-Ação</a:t>
            </a:r>
            <a:r>
              <a:rPr lang="en-US" sz="1400" dirty="0">
                <a:solidFill>
                  <a:srgbClr val="C9D3DE"/>
                </a:solidFill>
              </a:rPr>
              <a:t>) garante desacoplamento e flexibilidade. Use-a sempre entre apps Fiori.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397764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416052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Sua Ferramenta no Código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Ative este poder com </a:t>
            </a:r>
            <a:r>
              <a:rPr lang="en-US" sz="14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400" dirty="0">
                <a:solidFill>
                  <a:srgbClr val="C9D3DE"/>
                </a:solidFill>
              </a:rPr>
              <a:t> e o tipo </a:t>
            </a:r>
            <a:r>
              <a:rPr lang="en-US" sz="14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#FOR_INTENT_BASED_NAVIGATION</a:t>
            </a:r>
            <a:r>
              <a:rPr lang="en-US" sz="1400" dirty="0">
                <a:solidFill>
                  <a:srgbClr val="C9D3DE"/>
                </a:solidFill>
              </a:rPr>
              <a:t>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685800" cy="6858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148840"/>
            <a:ext cx="685800" cy="68580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297680"/>
            <a:ext cx="685800" cy="68580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97680"/>
            <a:ext cx="685800" cy="685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Navegação Inteligente em SAP Fiori Elements</dc:title>
  <dc:subject>ABAP Moderno – Módulo 03</dc:subject>
  <dc:creator>Adriano Bispo</dc:creator>
  <cp:lastModifiedBy>Adriano Bispo</cp:lastModifiedBy>
  <cp:revision>1</cp:revision>
  <dcterms:created xsi:type="dcterms:W3CDTF">2026-10-25T15:42:01Z</dcterms:created>
  <dcterms:modified xsi:type="dcterms:W3CDTF">2026-10-25T15:42:01Z</dcterms:modified>
</cp:coreProperties>
</file>