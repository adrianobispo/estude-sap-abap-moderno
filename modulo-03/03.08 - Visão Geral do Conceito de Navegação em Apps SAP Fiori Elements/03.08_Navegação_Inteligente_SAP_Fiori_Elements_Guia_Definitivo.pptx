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03 — SAP Fiori Elements com OData V4  ·  Aula 8 de 11 — Navegação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03 — SAP Fiori Elements com OData V4  ·  Aula 8 de 11 — Navegação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03 · AULA 08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Navegação em apps Fiori elements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Navegação interna entre páginas do app e navegação externa entre apps com intents, semantic objects e links.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8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03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03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2592781" y="486460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92781" y="486460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levamos o usuário da viagem até o booking dentro do app e de um cliente para outro app pelo launchpad.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Dentro do app ou entre apps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Navegação interna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List Report → Object Page → subobject page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Configurada no </a:t>
            </a:r>
            <a:r>
              <a:rPr lang="en-US" sz="1350" b="1" dirty="0">
                <a:solidFill>
                  <a:srgbClr val="1D2D3E"/>
                </a:solidFill>
              </a:rPr>
              <a:t>Page Map</a:t>
            </a:r>
            <a:r>
              <a:rPr lang="en-US" sz="1350" dirty="0">
                <a:solidFill>
                  <a:srgbClr val="1D2D3E"/>
                </a:solidFill>
              </a:rPr>
              <a:t> e no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Funciona até no preview, sem launchpad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Navegação externa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 um app para outro, como Travel → Customer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Baseada em </a:t>
            </a:r>
            <a:r>
              <a:rPr lang="en-US" sz="1350" b="1" dirty="0">
                <a:solidFill>
                  <a:srgbClr val="1D2D3E"/>
                </a:solidFill>
              </a:rPr>
              <a:t>intents</a:t>
            </a:r>
            <a:r>
              <a:rPr lang="en-US" sz="1350" dirty="0">
                <a:solidFill>
                  <a:srgbClr val="1D2D3E"/>
                </a:solidFill>
              </a:rPr>
              <a:t> (semantic object + action)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Exige o </a:t>
            </a:r>
            <a:r>
              <a:rPr lang="en-US" sz="1350" b="1" dirty="0">
                <a:solidFill>
                  <a:srgbClr val="1D2D3E"/>
                </a:solidFill>
              </a:rPr>
              <a:t>SAP Fiori launchpad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03.08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Navegação interna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Cada página do app é uma </a:t>
            </a:r>
            <a:r>
              <a:rPr lang="en-US" sz="1600" b="1" dirty="0">
                <a:solidFill>
                  <a:srgbClr val="D1EFFF"/>
                </a:solidFill>
              </a:rPr>
              <a:t>rota</a:t>
            </a:r>
            <a:r>
              <a:rPr lang="en-US" sz="1600" dirty="0">
                <a:solidFill>
                  <a:srgbClr val="D1EFFF"/>
                </a:solidFill>
              </a:rPr>
              <a:t>. Clicar numa linha de tabela leva à página da entidade daquela linha.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Map</a:t>
            </a:r>
            <a:r>
              <a:rPr lang="en-US" sz="1000" dirty="0">
                <a:solidFill>
                  <a:srgbClr val="D1EFFF"/>
                </a:solidFill>
              </a:rPr>
              <a:t>  adicionar páginas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Rotas</a:t>
            </a:r>
            <a:r>
              <a:rPr lang="en-US" sz="1000" dirty="0">
                <a:solidFill>
                  <a:srgbClr val="D1EFFF"/>
                </a:solidFill>
              </a:rPr>
              <a:t>  manifest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Subobject page</a:t>
            </a:r>
            <a:r>
              <a:rPr lang="en-US" sz="1000" dirty="0">
                <a:solidFill>
                  <a:srgbClr val="D1EFFF"/>
                </a:solidFill>
              </a:rPr>
              <a:t>  Booking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page</a:t>
            </a:r>
            <a:r>
              <a:rPr lang="en-US" sz="1000" dirty="0">
                <a:solidFill>
                  <a:srgbClr val="D1EFFF"/>
                </a:solidFill>
              </a:rPr>
              <a:t>  opcional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INTERNA · EXERCÍCIO DO CURSO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 lista de viagens ao detalhe do booking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List Report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Travels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4561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4383938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75378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Object Page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Travel com tabela de Bookings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80909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8219237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10677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Subobject Page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Booking: voo, horários, aeroportos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No Page Map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Na tabela Bookings, adicionar navegação para uma nova página do tipo </a:t>
            </a:r>
            <a:r>
              <a:rPr lang="en-US" sz="1200" b="1" dirty="0">
                <a:solidFill>
                  <a:srgbClr val="556B82"/>
                </a:solidFill>
              </a:rPr>
              <a:t>Object Page</a:t>
            </a:r>
            <a:r>
              <a:rPr lang="en-US" sz="1200" dirty="0">
                <a:solidFill>
                  <a:srgbClr val="556B82"/>
                </a:solidFill>
              </a:rPr>
              <a:t> da entidade Booking.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Com FCL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Com flexible column layout, a terceira página abre como </a:t>
            </a:r>
            <a:r>
              <a:rPr lang="en-US" sz="1200" b="1" dirty="0">
                <a:solidFill>
                  <a:srgbClr val="556B82"/>
                </a:solidFill>
              </a:rPr>
              <a:t>terceira coluna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Outras opções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Navegar após uma ação, entre entidades e dentro da página (âncoras).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669" y="2084832"/>
            <a:ext cx="365760" cy="36576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968" y="2084832"/>
            <a:ext cx="365760" cy="36576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266" y="2084832"/>
            <a:ext cx="365760" cy="36576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INTERNA · MANIFEST.JSON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navegação do Travel para o Booking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webapp/manifest.json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travels › webapp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"routes":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"pattern": ":?query:", "name": "TravelList", "target": "TravelList"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"pattern": "Travel({key}):?query:", "name": "TravelObjectPage",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"target": "TravelObjectPage"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"pattern": "Travel({key})/_Booking({key2}):?query:",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"BookingObjectPage", "target": "BookingObjectPage"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"TravelObjectPage": { "options": { "settings":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"contextPath": "/Travel",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"navigation":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"_Booking": { "detail": { "route": "BookingObjectPage" }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Cada página tem um padrão de URL com as chaves do objeto.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_Booking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associação de composição que leva da viagem aos bookings.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detail.route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Clique numa linha da tabela abre a rota indicada.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Gerado pelas tools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Page Map escreve rotas, targets e navegação por você.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03.08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Navegação externa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No launchpad, navega-se por </a:t>
            </a:r>
            <a:r>
              <a:rPr lang="en-US" sz="1600" b="1" dirty="0">
                <a:solidFill>
                  <a:srgbClr val="D1EFFF"/>
                </a:solidFill>
              </a:rPr>
              <a:t>intents</a:t>
            </a:r>
            <a:r>
              <a:rPr lang="en-US" sz="1600" dirty="0">
                <a:solidFill>
                  <a:srgbClr val="D1EFFF"/>
                </a:solidFill>
              </a:rPr>
              <a:t>: um </a:t>
            </a:r>
            <a:r>
              <a:rPr lang="en-US" sz="1600" b="1" dirty="0">
                <a:solidFill>
                  <a:srgbClr val="D1EFFF"/>
                </a:solidFill>
              </a:rPr>
              <a:t>semantic object</a:t>
            </a:r>
            <a:r>
              <a:rPr lang="en-US" sz="1600" dirty="0">
                <a:solidFill>
                  <a:srgbClr val="D1EFFF"/>
                </a:solidFill>
              </a:rPr>
              <a:t> e uma </a:t>
            </a:r>
            <a:r>
              <a:rPr lang="en-US" sz="1600" b="1" dirty="0">
                <a:solidFill>
                  <a:srgbClr val="D1EFFF"/>
                </a:solidFill>
              </a:rPr>
              <a:t>action</a:t>
            </a:r>
            <a:r>
              <a:rPr lang="en-US" sz="1600" dirty="0">
                <a:solidFill>
                  <a:srgbClr val="D1EFFF"/>
                </a:solidFill>
              </a:rPr>
              <a:t>, resolvidos em runtime conforme o papel do usuário.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object</a:t>
            </a:r>
            <a:r>
              <a:rPr lang="en-US" sz="1000" dirty="0">
                <a:solidFill>
                  <a:srgbClr val="D1EFFF"/>
                </a:solidFill>
              </a:rPr>
              <a:t>  Customer, Travel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00" dirty="0">
                <a:solidFill>
                  <a:srgbClr val="D1EFFF"/>
                </a:solidFill>
              </a:rPr>
              <a:t>  display, manage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Parâmetros</a:t>
            </a:r>
            <a:r>
              <a:rPr lang="en-US" sz="1000" dirty="0">
                <a:solidFill>
                  <a:srgbClr val="D1EFFF"/>
                </a:solidFill>
              </a:rPr>
              <a:t>  chaves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mapping</a:t>
            </a:r>
            <a:r>
              <a:rPr lang="en-US" sz="1000" dirty="0">
                <a:solidFill>
                  <a:srgbClr val="D1EFFF"/>
                </a:solidFill>
              </a:rPr>
              <a:t>  admin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EXTERNA · INTENTS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Como uma intent vira um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Semantic object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entidade de negócio, como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r>
              <a:rPr lang="en-US" sz="1300" dirty="0">
                <a:solidFill>
                  <a:srgbClr val="556B82"/>
                </a:solidFill>
              </a:rPr>
              <a:t> ou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Action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que fazer com ela, como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300" dirty="0">
                <a:solidFill>
                  <a:srgbClr val="556B82"/>
                </a:solidFill>
              </a:rPr>
              <a:t> ou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</a:t>
            </a:r>
            <a:r>
              <a:rPr lang="en-US" sz="1300" dirty="0">
                <a:solidFill>
                  <a:srgbClr val="556B82"/>
                </a:solidFill>
              </a:rPr>
              <a:t>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#Customer-display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Resolução por papel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launchpad acha o app pela </a:t>
            </a:r>
            <a:r>
              <a:rPr lang="en-US" sz="1300" b="1" dirty="0">
                <a:solidFill>
                  <a:srgbClr val="556B82"/>
                </a:solidFill>
              </a:rPr>
              <a:t>target mapping</a:t>
            </a:r>
            <a:r>
              <a:rPr lang="en-US" sz="1300" dirty="0">
                <a:solidFill>
                  <a:srgbClr val="556B82"/>
                </a:solidFill>
              </a:rPr>
              <a:t> dos catálogos do usuário.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769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6769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Vantagem  </a:t>
            </a:r>
            <a:r>
              <a:rPr lang="en-US" sz="1200" dirty="0">
                <a:solidFill>
                  <a:srgbClr val="1D2D3E"/>
                </a:solidFill>
              </a:rPr>
              <a:t>o app de origem não conhece o app de destino; trocar o destino não exige mudar código.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87604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87604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87604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80491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EXTERNA · ANOTAÇÕES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Links e botões para outros apps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85292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85292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zc_fe_travel_######.ddlx.asddlxs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ZFE_TRAVEL_###### › Metadata Extensions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FOR_INTENT_BASED_NAVIGATION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'Customer'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semanticObjectAction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'display'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'Show Customer'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Consumption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'Customer'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#FOR_INTENT_BASED_NAVIGATION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 </a:t>
            </a:r>
            <a:r>
              <a:rPr lang="en-US" sz="1050" b="1" dirty="0">
                <a:solidFill>
                  <a:srgbClr val="556B82"/>
                </a:solidFill>
              </a:rPr>
              <a:t>botão</a:t>
            </a:r>
            <a:r>
              <a:rPr lang="en-US" sz="1050" dirty="0">
                <a:solidFill>
                  <a:srgbClr val="556B82"/>
                </a:solidFill>
              </a:rPr>
              <a:t> na toolbar que navega para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#Customer-display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Transforma o valor em </a:t>
            </a:r>
            <a:r>
              <a:rPr lang="en-US" sz="1050" b="1" dirty="0">
                <a:solidFill>
                  <a:srgbClr val="556B82"/>
                </a:solidFill>
              </a:rPr>
              <a:t>link</a:t>
            </a:r>
            <a:r>
              <a:rPr lang="en-US" sz="1050" dirty="0">
                <a:solidFill>
                  <a:srgbClr val="556B82"/>
                </a:solidFill>
              </a:rPr>
              <a:t> com os apps disponíveis para Customer.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Parâmetros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As chaves da linha seguem como parâmetros;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</a:t>
            </a:r>
            <a:r>
              <a:rPr lang="en-US" sz="1050" dirty="0">
                <a:solidFill>
                  <a:srgbClr val="556B82"/>
                </a:solidFill>
              </a:rPr>
              <a:t> renomeia quando preciso.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Pela linha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navegação da linha também pode trocar a Object Page por outro 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03.08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Interna</a:t>
            </a:r>
            <a:r>
              <a:rPr lang="en-US" sz="1400" dirty="0">
                <a:solidFill>
                  <a:srgbClr val="FFFFFF"/>
                </a:solidFill>
              </a:rPr>
              <a:t>: entre páginas do mesmo app; </a:t>
            </a:r>
            <a:r>
              <a:rPr lang="en-US" sz="1400" b="1" dirty="0">
                <a:solidFill>
                  <a:srgbClr val="FFFFFF"/>
                </a:solidFill>
              </a:rPr>
              <a:t>externa</a:t>
            </a:r>
            <a:r>
              <a:rPr lang="en-US" sz="1400" dirty="0">
                <a:solidFill>
                  <a:srgbClr val="FFFFFF"/>
                </a:solidFill>
              </a:rPr>
              <a:t>: entre apps no launchpad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Páginas são </a:t>
            </a:r>
            <a:r>
              <a:rPr lang="en-US" sz="1400" b="1" dirty="0">
                <a:solidFill>
                  <a:srgbClr val="FFFFFF"/>
                </a:solidFill>
              </a:rPr>
              <a:t>rotas</a:t>
            </a:r>
            <a:r>
              <a:rPr lang="en-US" sz="1400" dirty="0">
                <a:solidFill>
                  <a:srgbClr val="FFFFFF"/>
                </a:solidFill>
              </a:rPr>
              <a:t> no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400" dirty="0">
                <a:solidFill>
                  <a:srgbClr val="FFFFFF"/>
                </a:solidFill>
              </a:rPr>
              <a:t>, geradas pelo </a:t>
            </a:r>
            <a:r>
              <a:rPr lang="en-US" sz="1400" b="1" dirty="0">
                <a:solidFill>
                  <a:srgbClr val="FFFFFF"/>
                </a:solidFill>
              </a:rPr>
              <a:t>Page Map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tabela de Bookings navega para uma </a:t>
            </a:r>
            <a:r>
              <a:rPr lang="en-US" sz="1400" b="1" dirty="0">
                <a:solidFill>
                  <a:srgbClr val="FFFFFF"/>
                </a:solidFill>
              </a:rPr>
              <a:t>subobject page</a:t>
            </a:r>
            <a:r>
              <a:rPr lang="en-US" sz="1400" dirty="0">
                <a:solidFill>
                  <a:srgbClr val="FFFFFF"/>
                </a:solidFill>
              </a:rPr>
              <a:t> pela associação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_Booking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Uma </a:t>
            </a:r>
            <a:r>
              <a:rPr lang="en-US" sz="1400" b="1" dirty="0">
                <a:solidFill>
                  <a:srgbClr val="FFFFFF"/>
                </a:solidFill>
              </a:rPr>
              <a:t>intent</a:t>
            </a:r>
            <a:r>
              <a:rPr lang="en-US" sz="1400" dirty="0">
                <a:solidFill>
                  <a:srgbClr val="FFFFFF"/>
                </a:solidFill>
              </a:rPr>
              <a:t> é semantic object + action, resolvida pelo papel do usuário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#FOR_INTENT_BASED_NAVIGATION</a:t>
            </a:r>
            <a:r>
              <a:rPr lang="en-US" sz="1400" dirty="0">
                <a:solidFill>
                  <a:srgbClr val="FFFFFF"/>
                </a:solidFill>
              </a:rPr>
              <a:t> cria botões;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r>
              <a:rPr lang="en-US" sz="1400" dirty="0">
                <a:solidFill>
                  <a:srgbClr val="FFFFFF"/>
                </a:solidFill>
              </a:rPr>
              <a:t> cria links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Externa por </a:t>
            </a:r>
            <a:r>
              <a:rPr lang="en-US" sz="1400" b="1" dirty="0">
                <a:solidFill>
                  <a:srgbClr val="FFFFFF"/>
                </a:solidFill>
              </a:rPr>
              <a:t>links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linhas de tabela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b="1" dirty="0">
                <a:solidFill>
                  <a:srgbClr val="FFFFFF"/>
                </a:solidFill>
              </a:rPr>
              <a:t>botões</a:t>
            </a:r>
            <a:r>
              <a:rPr lang="en-US" sz="1400" dirty="0">
                <a:solidFill>
                  <a:srgbClr val="FFFFFF"/>
                </a:solidFill>
              </a:rPr>
              <a:t>, sempre no launchpad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03.09  </a:t>
            </a:r>
            <a:r>
              <a:rPr lang="en-US" sz="1500" dirty="0">
                <a:solidFill>
                  <a:srgbClr val="FFFFFF"/>
                </a:solidFill>
              </a:rPr>
              <a:t>Object Page avançada: Header facets, visibilidade e tabelas filhas.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03.08 Navegação em apps Fiori elements</dc:title>
  <dc:subject>ABAP Moderno – Módulo 03: SAP Fiori Elements com OData V4</dc:subject>
  <dc:creator>Adriano Bispo</dc:creator>
  <cp:lastModifiedBy>Adriano Bispo</cp:lastModifiedBy>
  <cp:revision>1</cp:revision>
  <dcterms:created xsi:type="dcterms:W3CDTF">2026-10-29T01:39:07Z</dcterms:created>
  <dcterms:modified xsi:type="dcterms:W3CDTF">2026-10-29T01:39:07Z</dcterms:modified>
</cp:coreProperties>
</file>