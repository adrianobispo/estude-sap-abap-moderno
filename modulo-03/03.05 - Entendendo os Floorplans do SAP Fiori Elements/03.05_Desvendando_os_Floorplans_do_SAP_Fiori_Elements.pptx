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03.05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03  ·  03.05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03  ·  03.05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03  ·  03.05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Desvendando os Floorplans do SAP Fiori Elements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Um guia visual para dominar o List Report, a Object Page e as Facetas.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List Report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Smart Filter Bar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Object Page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Collection Facet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Reference Facet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que Vamos Dominar Hoje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2567864" cy="347472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22199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118104"/>
            <a:ext cx="20558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Decompor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a anatomia do List Report e da Object Page.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90824" y="1965960"/>
            <a:ext cx="2567864" cy="347472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46856" y="222199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46856" y="3118104"/>
            <a:ext cx="20558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Compreender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o conceito de Facetas como blocos de construção.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33008" y="1965960"/>
            <a:ext cx="2567864" cy="347472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89040" y="222199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9040" y="3118104"/>
            <a:ext cx="20558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Distinguir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os tipos de Facetas e seu papel na criação de layouts.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075191" y="1965960"/>
            <a:ext cx="2567864" cy="347472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331223" y="2221992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31223" y="3118104"/>
            <a:ext cx="205580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D2D3E"/>
                </a:solidFill>
              </a:rPr>
              <a:t>Conectar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anotações de metadados ao resultado visual final.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37" y="2397557"/>
            <a:ext cx="380390" cy="380390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604" y="2397557"/>
            <a:ext cx="380390" cy="380390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2421" y="2397557"/>
            <a:ext cx="380390" cy="380390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788" y="2397557"/>
            <a:ext cx="380390" cy="380390"/>
          </a:xfrm>
          <a:prstGeom prst="rect">
            <a:avLst/>
          </a:prstGeom>
        </p:spPr>
      </p:pic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Jornada Padrão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Da Descoberta à Análise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80160" y="1783080"/>
            <a:ext cx="27432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8016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List Report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68335" y="1783080"/>
            <a:ext cx="274320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168335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D2D3E"/>
                </a:solidFill>
              </a:rPr>
              <a:t>Object Page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297680" y="2651760"/>
            <a:ext cx="3593592" cy="548640"/>
          </a:xfrm>
          <a:prstGeom prst="rightArrow">
            <a:avLst/>
          </a:prstGeom>
          <a:solidFill>
            <a:srgbClr val="0783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97680" y="2148840"/>
            <a:ext cx="3593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46C76"/>
                </a:solidFill>
              </a:rPr>
              <a:t>Navegação do usuário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5364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1. Encontrar:</a:t>
            </a:r>
            <a:r>
              <a:rPr lang="en-US" sz="1600" dirty="0">
                <a:solidFill>
                  <a:srgbClr val="1D2D3E"/>
                </a:solidFill>
              </a:rPr>
              <a:t> o usuário começa no </a:t>
            </a:r>
            <a:r>
              <a:rPr lang="en-US" sz="1600" b="1" dirty="0">
                <a:solidFill>
                  <a:srgbClr val="1D2D3E"/>
                </a:solidFill>
              </a:rPr>
              <a:t>List Report</a:t>
            </a:r>
            <a:r>
              <a:rPr lang="en-US" sz="1600" dirty="0">
                <a:solidFill>
                  <a:srgbClr val="1D2D3E"/>
                </a:solidFill>
              </a:rPr>
              <a:t> para pesquisar, filtrar e localizar registros específicos em um grande volume de dados.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78728" y="4526280"/>
            <a:ext cx="5364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2. Entender e agir:</a:t>
            </a:r>
            <a:r>
              <a:rPr lang="en-US" sz="1600" dirty="0">
                <a:solidFill>
                  <a:srgbClr val="1D2D3E"/>
                </a:solidFill>
              </a:rPr>
              <a:t> ao selecionar um registro, navega para a </a:t>
            </a:r>
            <a:r>
              <a:rPr lang="en-US" sz="1600" b="1" dirty="0">
                <a:solidFill>
                  <a:srgbClr val="1D2D3E"/>
                </a:solidFill>
              </a:rPr>
              <a:t>Object Page</a:t>
            </a:r>
            <a:r>
              <a:rPr lang="en-US" sz="1600" dirty="0">
                <a:solidFill>
                  <a:srgbClr val="1D2D3E"/>
                </a:solidFill>
              </a:rPr>
              <a:t> para ver todos os detalhes, analisar informações relacionadas e executar ações.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2057400"/>
            <a:ext cx="914400" cy="9144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5" y="2057400"/>
            <a:ext cx="914400" cy="914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Anatomia do List Report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Painel de Controle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556B82"/>
                </a:solidFill>
              </a:rPr>
              <a:t>Projetado para encontrar a agulha no palheiro.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583680" cy="4160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6400800" cy="1097280"/>
          </a:xfrm>
          <a:prstGeom prst="rect">
            <a:avLst/>
          </a:prstGeom>
          <a:solidFill>
            <a:srgbClr val="E0F7F7"/>
          </a:solidFill>
          <a:ln w="19050">
            <a:solidFill>
              <a:srgbClr val="0783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468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77440" y="2468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31920" y="2468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2468880"/>
            <a:ext cx="1371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291840"/>
            <a:ext cx="6400800" cy="2743200"/>
          </a:xfrm>
          <a:prstGeom prst="rect">
            <a:avLst/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474720"/>
            <a:ext cx="6035040" cy="338328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813048"/>
            <a:ext cx="6035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51376"/>
            <a:ext cx="6035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89704"/>
            <a:ext cx="6035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828032"/>
            <a:ext cx="6035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166360"/>
            <a:ext cx="6035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504688"/>
            <a:ext cx="6035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98080" y="1965960"/>
            <a:ext cx="41449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List Report é dividido em duas áreas verticais com responsabilidades distintas: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98080" y="29718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0" y="2953512"/>
            <a:ext cx="3413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Cabeçalho de Filtros (Smart Filter Bar)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Reduz o universo de dados antes que ele seja exibido, garantindo performance e relevância.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0" y="4526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0" y="4507992"/>
            <a:ext cx="3413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Área de Conteúdo (Content Area)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Exibe os resultados filtrados, oferece ferramentas de análise e fornece gatilhos para ações.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781" y="3092501"/>
            <a:ext cx="261518" cy="261518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81" y="464698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Cérebro da Busca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Smart Filter Bar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1600200"/>
            <a:ext cx="8168335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0" y="1783080"/>
            <a:ext cx="2011680" cy="320040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774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D3E"/>
                </a:solidFill>
              </a:rPr>
              <a:t>Minha Visão 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2240280"/>
            <a:ext cx="20116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Buscar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Status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240280"/>
            <a:ext cx="12801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Data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12801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9808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Categoria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498080" y="2240280"/>
            <a:ext cx="12801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34095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Adaptar Filtros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08960" y="265176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089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265176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82735" y="265176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82735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783080" y="173736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7830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2918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34747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3429000"/>
            <a:ext cx="1653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Busca Livre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06908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O ‘Google Search’ da sua aplicação: busca aproximada em colunas pré-configuradas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@Search.defaultSearchElement</a:t>
            </a:r>
            <a:r>
              <a:rPr lang="en-US" sz="1300" dirty="0">
                <a:solidFill>
                  <a:srgbClr val="1D2D3E"/>
                </a:solidFill>
              </a:rPr>
              <a:t>).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390824" y="32918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9424" y="34747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19424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122344" y="3429000"/>
            <a:ext cx="1653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Campos de Seleção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619424" y="406908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Filtros estruturados e precisos, configurados via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300" dirty="0">
                <a:solidFill>
                  <a:srgbClr val="1D2D3E"/>
                </a:solidFill>
              </a:rPr>
              <a:t>, que suportam F4 Helps e intervalos.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33008" y="32918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61608" y="34747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61608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964528" y="3429000"/>
            <a:ext cx="1653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Adaptar Filtros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61608" y="406908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Permite ao usuário adicionar filtros sob demanda, mantendo a tela limpa mas poderosa.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75191" y="3291840"/>
            <a:ext cx="2567864" cy="288036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03791" y="34747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03791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9806711" y="3429000"/>
            <a:ext cx="1653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Gerenciamento de Variantes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303791" y="4069080"/>
            <a:ext cx="21106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Salva combinações de filtros como uma visão favorita para acesso rápido.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Área de Resultados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Onde a Ação Acontece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6309360" cy="457200"/>
          </a:xfrm>
          <a:prstGeom prst="rect">
            <a:avLst/>
          </a:prstGeom>
          <a:solidFill>
            <a:srgbClr val="FFF8D6"/>
          </a:solidFill>
          <a:ln w="15875">
            <a:solidFill>
              <a:srgbClr val="E765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+ Create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Delete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Export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ID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Name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Status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Value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56B82"/>
                </a:solidFill>
              </a:rPr>
              <a:t>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651760"/>
            <a:ext cx="6309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999232"/>
            <a:ext cx="6309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346704"/>
            <a:ext cx="6309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694176"/>
            <a:ext cx="6309360" cy="347472"/>
          </a:xfrm>
          <a:prstGeom prst="rect">
            <a:avLst/>
          </a:prstGeom>
          <a:solidFill>
            <a:srgbClr val="E0F7F7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4041648"/>
            <a:ext cx="6309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389120"/>
            <a:ext cx="6309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773936"/>
            <a:ext cx="384048" cy="384048"/>
          </a:xfrm>
          <a:prstGeom prst="ellipse">
            <a:avLst/>
          </a:prstGeom>
          <a:solidFill>
            <a:srgbClr val="E76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306324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" y="3675888"/>
            <a:ext cx="384048" cy="384048"/>
          </a:xfrm>
          <a:prstGeom prst="ellipse">
            <a:avLst/>
          </a:prstGeom>
          <a:solidFill>
            <a:srgbClr val="0783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040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98080" y="1600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183880" y="1581912"/>
            <a:ext cx="34591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1. Barra de Ferramentas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Centro de comando com ações como Criar, Excluir, ações customizadas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300" dirty="0">
                <a:solidFill>
                  <a:srgbClr val="556B82"/>
                </a:solidFill>
              </a:rPr>
              <a:t> com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#FOR_ACTION</a:t>
            </a:r>
            <a:r>
              <a:rPr lang="en-US" sz="1300" dirty="0">
                <a:solidFill>
                  <a:srgbClr val="556B82"/>
                </a:solidFill>
              </a:rPr>
              <a:t>) e de sistema (Exportar para Excel).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0" y="3017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83880" y="2999232"/>
            <a:ext cx="34591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2. Tabela Inteligente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Exibe os dados configurados via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300" dirty="0">
                <a:solidFill>
                  <a:srgbClr val="556B82"/>
                </a:solidFill>
              </a:rPr>
              <a:t>. Suporta ordenação, agrupamento e responsividade.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98080" y="4434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83880" y="4416552"/>
            <a:ext cx="345917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3. Navegação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clique em uma linha é o gatilho que leva à Object Page.</a:t>
            </a:r>
            <a:endParaRPr lang="en-US" sz="16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1709928"/>
            <a:ext cx="237744" cy="237744"/>
          </a:xfrm>
          <a:prstGeom prst="rect">
            <a:avLst/>
          </a:prstGeom>
        </p:spPr>
      </p:pic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8" y="3127248"/>
            <a:ext cx="237744" cy="237744"/>
          </a:xfrm>
          <a:prstGeom prst="rect">
            <a:avLst/>
          </a:prstGeom>
        </p:spPr>
      </p:pic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454456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Navegamos do ‘Encontrar’ para o ‘Entender’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0" y="2651760"/>
            <a:ext cx="3017520" cy="502920"/>
          </a:xfrm>
          <a:prstGeom prst="rightArrow">
            <a:avLst/>
          </a:prstGeom>
          <a:solidFill>
            <a:srgbClr val="07838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80160" y="4343400"/>
            <a:ext cx="96313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D2D3E"/>
                </a:solidFill>
              </a:rPr>
              <a:t>Bem-vindo à </a:t>
            </a:r>
            <a:r>
              <a:rPr lang="en-US" sz="2200" b="1" dirty="0">
                <a:solidFill>
                  <a:srgbClr val="1D2D3E"/>
                </a:solidFill>
              </a:rPr>
              <a:t>Object Page</a:t>
            </a:r>
            <a:r>
              <a:rPr lang="en-US" sz="2200" dirty="0">
                <a:solidFill>
                  <a:srgbClr val="1D2D3E"/>
                </a:solidFill>
              </a:rPr>
              <a:t>: o coração transacional da sua aplicação. Aqui exibimos os detalhes profundos de uma única entidade e suas relações.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2057400"/>
            <a:ext cx="1645920" cy="164592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965960"/>
            <a:ext cx="1828800" cy="1828800"/>
          </a:xfrm>
          <a:prstGeom prst="rect">
            <a:avLst/>
          </a:prstGeom>
        </p:spPr>
      </p:pic>
      <p:sp>
        <p:nvSpPr>
          <p:cNvPr id="7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Anatomia da Object Page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Uma Visão 360°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30936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126480" cy="685800"/>
          </a:xfrm>
          <a:prstGeom prst="rect">
            <a:avLst/>
          </a:prstGeom>
          <a:solidFill>
            <a:srgbClr val="E0F7F7"/>
          </a:solidFill>
          <a:ln w="19050">
            <a:solidFill>
              <a:srgbClr val="0783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Viagem 001234  ·  Editar  Aprovar  Rejeitar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6126480" cy="1005840"/>
          </a:xfrm>
          <a:prstGeom prst="rect">
            <a:avLst/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2.75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KPI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2.75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KPI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2.75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KPI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5146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2.75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KPI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6126480" cy="2514600"/>
          </a:xfrm>
          <a:prstGeom prst="rect">
            <a:avLst/>
          </a:prstGeom>
          <a:solidFill>
            <a:srgbClr val="EBF8FF"/>
          </a:solidFill>
          <a:ln w="19050">
            <a:solidFill>
              <a:srgbClr val="0070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Overview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</a:rPr>
              <a:t>Details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36118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4D9"/>
                </a:solidFill>
              </a:rPr>
              <a:t>Related Objects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4069080"/>
            <a:ext cx="5760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434840"/>
            <a:ext cx="5760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800600"/>
            <a:ext cx="5760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5166360"/>
            <a:ext cx="5760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5532120"/>
            <a:ext cx="57607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BDE6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847088"/>
            <a:ext cx="384048" cy="384048"/>
          </a:xfrm>
          <a:prstGeom prst="ellipse">
            <a:avLst/>
          </a:prstGeom>
          <a:solidFill>
            <a:srgbClr val="07838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2788920"/>
            <a:ext cx="384048" cy="384048"/>
          </a:xfrm>
          <a:prstGeom prst="ellipse">
            <a:avLst/>
          </a:prstGeom>
          <a:solidFill>
            <a:srgbClr val="E765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4617720"/>
            <a:ext cx="384048" cy="384048"/>
          </a:xfrm>
          <a:prstGeom prst="ellipse">
            <a:avLst/>
          </a:prstGeom>
          <a:solidFill>
            <a:srgbClr val="0070F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1600200"/>
            <a:ext cx="4419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página é organizada em uma hierarquia visual clara, projetada para guiar o olhar: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223760" y="2468880"/>
            <a:ext cx="441929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8300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388352" y="28300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863840" y="2468880"/>
            <a:ext cx="3642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Título do Cabeçalho (Header Title):</a:t>
            </a:r>
            <a:r>
              <a:rPr lang="en-US" sz="1400" dirty="0">
                <a:solidFill>
                  <a:srgbClr val="1D2D3E"/>
                </a:solidFill>
              </a:rPr>
              <a:t> o contexto imediato e ações globais. Permanece fixo.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23760" y="3703320"/>
            <a:ext cx="441929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88352" y="40645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88352" y="40645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3703320"/>
            <a:ext cx="3642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Conteúdo do Cabeçalho (Header Content):</a:t>
            </a:r>
            <a:r>
              <a:rPr lang="en-US" sz="1400" dirty="0">
                <a:solidFill>
                  <a:srgbClr val="1D2D3E"/>
                </a:solidFill>
              </a:rPr>
              <a:t> KPIs e insights rápidos, em uma área expansível.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223760" y="4937760"/>
            <a:ext cx="4419295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88352" y="52989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88352" y="52989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7863840" y="4937760"/>
            <a:ext cx="36420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Corpo da Página (Page Body):</a:t>
            </a:r>
            <a:r>
              <a:rPr lang="en-US" sz="1400" dirty="0">
                <a:solidFill>
                  <a:srgbClr val="1D2D3E"/>
                </a:solidFill>
              </a:rPr>
              <a:t> a massa de dados, organizada em seções lógicas.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Topo da Página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Contexto e Decisão Rápida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46C76"/>
                </a:solidFill>
              </a:rPr>
              <a:t>Título do Cabeçalho (Header Title)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432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07838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Viagem 001234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Confirmado   [Editar] [Aprovar] [Rejeitar]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51814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 quê:</a:t>
            </a:r>
            <a:r>
              <a:rPr lang="en-US" sz="1500" dirty="0">
                <a:solidFill>
                  <a:srgbClr val="1D2D3E"/>
                </a:solidFill>
              </a:rPr>
              <a:t> título do objeto (‘Viagem 001234’) e status (‘Confirmado’).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Ações:</a:t>
            </a:r>
            <a:r>
              <a:rPr lang="en-US" sz="1500" dirty="0">
                <a:solidFill>
                  <a:srgbClr val="1D2D3E"/>
                </a:solidFill>
              </a:rPr>
              <a:t> botões globais como Editar, Aprovar, Rejeitar.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Anotação:</a:t>
            </a:r>
            <a:r>
              <a:rPr lang="en-US" sz="1500" dirty="0">
                <a:solidFill>
                  <a:srgbClr val="1D2D3E"/>
                </a:solidFill>
              </a:rPr>
              <a:t> controlado por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@UI.headerInfo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278728" y="160020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4F00"/>
                </a:solidFill>
              </a:rPr>
              <a:t>Conteúdo do Cabeçalho (Header Content)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8728" y="2103120"/>
            <a:ext cx="5364328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53048" y="210312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6C76"/>
                </a:solidFill>
              </a:rPr>
              <a:t>Valor Total: R$ 5.000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Partida: 24 Out 2023 · Passageiros: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70168" y="3657600"/>
            <a:ext cx="51814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 quê:</a:t>
            </a:r>
            <a:r>
              <a:rPr lang="en-US" sz="1500" dirty="0">
                <a:solidFill>
                  <a:srgbClr val="1D2D3E"/>
                </a:solidFill>
              </a:rPr>
              <a:t> KPIs e métricas (‘Valor Total: R$ 5.000’).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Ações:</a:t>
            </a:r>
            <a:r>
              <a:rPr lang="en-US" sz="1500" dirty="0">
                <a:solidFill>
                  <a:srgbClr val="1D2D3E"/>
                </a:solidFill>
              </a:rPr>
              <a:t> ajuda na tomada de decisão rápida.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Anotação:</a:t>
            </a:r>
            <a:r>
              <a:rPr lang="en-US" sz="1500" dirty="0">
                <a:solidFill>
                  <a:srgbClr val="1D2D3E"/>
                </a:solidFill>
              </a:rPr>
              <a:t>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500" dirty="0">
                <a:solidFill>
                  <a:srgbClr val="1D2D3E"/>
                </a:solidFill>
              </a:rPr>
              <a:t> com a propriedade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Bloco de Construção Fundamental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Apresentando as Facetas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79476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D2D3E"/>
                </a:solidFill>
              </a:rPr>
              <a:t>Pense em Facetas como os </a:t>
            </a:r>
            <a:r>
              <a:rPr lang="en-US" sz="2000" b="1" dirty="0">
                <a:solidFill>
                  <a:srgbClr val="1D2D3E"/>
                </a:solidFill>
              </a:rPr>
              <a:t>blocos de LEGO</a:t>
            </a:r>
            <a:r>
              <a:rPr lang="en-US" sz="2000" dirty="0">
                <a:solidFill>
                  <a:srgbClr val="1D2D3E"/>
                </a:solidFill>
              </a:rPr>
              <a:t> do layout da Object Page. Sem elas, a página ficaria vazia.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E0F7F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4892040"/>
            <a:ext cx="100885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Uma </a:t>
            </a:r>
            <a:r>
              <a:rPr lang="en-US" sz="1700" b="1" dirty="0">
                <a:solidFill>
                  <a:srgbClr val="1D2D3E"/>
                </a:solidFill>
              </a:rPr>
              <a:t>Faceta</a:t>
            </a:r>
            <a:r>
              <a:rPr lang="en-US" sz="1700" dirty="0">
                <a:solidFill>
                  <a:srgbClr val="1D2D3E"/>
                </a:solidFill>
              </a:rPr>
              <a:t> é uma anotação de metadados (</a:t>
            </a:r>
            <a:r>
              <a:rPr lang="en-US" sz="17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@UI.facet</a:t>
            </a:r>
            <a:r>
              <a:rPr lang="en-US" sz="1700" dirty="0">
                <a:solidFill>
                  <a:srgbClr val="1D2D3E"/>
                </a:solidFill>
              </a:rPr>
              <a:t>) que diz ao Fiori Elements: </a:t>
            </a:r>
            <a:r>
              <a:rPr lang="en-US" sz="1700" b="1" dirty="0">
                <a:solidFill>
                  <a:srgbClr val="1D2D3E"/>
                </a:solidFill>
              </a:rPr>
              <a:t>‘Pegue este grupo de informações e desenhe-o AQUI, com ESTE título.’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1448" y="1691640"/>
            <a:ext cx="1828800" cy="18288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2057400"/>
            <a:ext cx="1005840" cy="100584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535" y="2057400"/>
            <a:ext cx="1005840" cy="100584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2669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Os Dois Tipos de Facetas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Estrutura vs. Conteúdo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Collection Facet (a Caixa)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Função: </a:t>
            </a:r>
            <a:r>
              <a:rPr lang="en-US" sz="1700" b="1" dirty="0">
                <a:solidFill>
                  <a:srgbClr val="046C76"/>
                </a:solidFill>
              </a:rPr>
              <a:t>ESTRUTURA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348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É um container para agrupar outras facetas.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0352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Resultado visual: </a:t>
            </a:r>
            <a:r>
              <a:rPr lang="en-US" sz="1500" dirty="0">
                <a:solidFill>
                  <a:srgbClr val="1D2D3E"/>
                </a:solidFill>
              </a:rPr>
              <a:t>Cria uma </a:t>
            </a:r>
            <a:r>
              <a:rPr lang="en-US" sz="1500" b="1" dirty="0">
                <a:solidFill>
                  <a:srgbClr val="1D2D3E"/>
                </a:solidFill>
              </a:rPr>
              <a:t>Seção (Aba)</a:t>
            </a:r>
            <a:r>
              <a:rPr lang="en-US" sz="1500" dirty="0">
                <a:solidFill>
                  <a:srgbClr val="1D2D3E"/>
                </a:solidFill>
              </a:rPr>
              <a:t> na página.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78728" y="17830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Reference Facet (o Conteúdo)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97764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Função: </a:t>
            </a:r>
            <a:r>
              <a:rPr lang="en-US" sz="1700" b="1" dirty="0">
                <a:solidFill>
                  <a:srgbClr val="B44F00"/>
                </a:solidFill>
              </a:rPr>
              <a:t>CONTEÚDO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44348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Aponta para os campos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r>
              <a:rPr lang="en-US" sz="1500" dirty="0">
                <a:solidFill>
                  <a:srgbClr val="1D2D3E"/>
                </a:solidFill>
              </a:rPr>
              <a:t>) ou tabelas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500" dirty="0">
                <a:solidFill>
                  <a:srgbClr val="1D2D3E"/>
                </a:solidFill>
              </a:rPr>
              <a:t>) que serão exibidos.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530352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Resultado visual: </a:t>
            </a:r>
            <a:r>
              <a:rPr lang="en-US" sz="1500" dirty="0">
                <a:solidFill>
                  <a:srgbClr val="1D2D3E"/>
                </a:solidFill>
              </a:rPr>
              <a:t>Renderiza um </a:t>
            </a:r>
            <a:r>
              <a:rPr lang="en-US" sz="1500" b="1" dirty="0">
                <a:solidFill>
                  <a:srgbClr val="1D2D3E"/>
                </a:solidFill>
              </a:rPr>
              <a:t>bloco de formulário</a:t>
            </a:r>
            <a:r>
              <a:rPr lang="en-US" sz="1500" dirty="0">
                <a:solidFill>
                  <a:srgbClr val="1D2D3E"/>
                </a:solidFill>
              </a:rPr>
              <a:t> ou uma </a:t>
            </a:r>
            <a:r>
              <a:rPr lang="en-US" sz="1500" b="1" dirty="0">
                <a:solidFill>
                  <a:srgbClr val="1D2D3E"/>
                </a:solidFill>
              </a:rPr>
              <a:t>tabela</a:t>
            </a:r>
            <a:r>
              <a:rPr lang="en-US" sz="1500" dirty="0">
                <a:solidFill>
                  <a:srgbClr val="1D2D3E"/>
                </a:solidFill>
              </a:rPr>
              <a:t> dentro de uma Seção.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5004" y="2377440"/>
            <a:ext cx="1371600" cy="137160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091" y="2377440"/>
            <a:ext cx="1371600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Montando o Quebra-Cabeça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Hierarquia das Facetas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600200"/>
            <a:ext cx="9997135" cy="2194560"/>
          </a:xfrm>
          <a:prstGeom prst="roundRect">
            <a:avLst>
              <a:gd name="adj" fmla="val 4167"/>
            </a:avLst>
          </a:prstGeom>
          <a:solidFill>
            <a:srgbClr val="E0F7F7"/>
          </a:solidFill>
          <a:ln w="25400">
            <a:solidFill>
              <a:srgbClr val="0783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69164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Seção (Aba) “Informações Gerais”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046C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 Facet (type: #COLLECTION)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560320"/>
            <a:ext cx="4587088" cy="1051560"/>
          </a:xfrm>
          <a:prstGeom prst="roundRect">
            <a:avLst>
              <a:gd name="adj" fmla="val 6957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560320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Formulário “Dados Básicos”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Facet (type: #IDENTIFICATION_REFERENCE)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3008" y="2560320"/>
            <a:ext cx="4587088" cy="1051560"/>
          </a:xfrm>
          <a:prstGeom prst="roundRect">
            <a:avLst>
              <a:gd name="adj" fmla="val 6957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15888" y="2560320"/>
            <a:ext cx="4221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Formulário “Dados Financeiros”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Facet (type: #FIELDGROUP_REFERENCE)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9997135" cy="2148840"/>
          </a:xfrm>
          <a:prstGeom prst="roundRect">
            <a:avLst>
              <a:gd name="adj" fmla="val 4255"/>
            </a:avLst>
          </a:prstGeom>
          <a:solidFill>
            <a:srgbClr val="FFF8D6"/>
          </a:solidFill>
          <a:ln w="19050">
            <a:solidFill>
              <a:srgbClr val="E765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4114800"/>
            <a:ext cx="94484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Seção “Itens”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 Facet (type: #LINEITEM_REFERENCE)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71600" y="4892040"/>
            <a:ext cx="9448495" cy="292608"/>
          </a:xfrm>
          <a:prstGeom prst="rect">
            <a:avLst/>
          </a:prstGeom>
          <a:solidFill>
            <a:srgbClr val="EEF1F4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5184648"/>
            <a:ext cx="94484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5477256"/>
            <a:ext cx="94484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5769864"/>
            <a:ext cx="9448495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Mapa Conceitual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 Código à Tela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Tipo de Faceta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Propriedade-chave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Resultado visual na tela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Header Facet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purpose: #HEADER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Informação de destaque no topo da página (KPI, status).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Collection Facet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type: #COLLECTION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Uma nova </a:t>
                      </a: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Seção / Aba navegável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na Anchor Bar.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Reference Facet (Formulário)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targetQualifier: '...'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Um </a:t>
                      </a: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bloco de formulário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dentro de uma seção.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Reference Facet (Tabela)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targetElement: '...'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Uma </a:t>
                      </a: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tabela de itens</a:t>
                      </a:r>
                      <a:r>
                        <a:rPr lang="en-US" sz="1500" dirty="0">
                          <a:solidFill>
                            <a:srgbClr val="1D2D3E"/>
                          </a:solidFill>
                        </a:rPr>
                        <a:t> (normalmente em sua própria seção).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Seus Principais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DB1FF"/>
                </a:solidFill>
              </a:rPr>
              <a:t>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List Report é para ENCONTRAR.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8620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Use a Smart Filter Bar para refinar e a Content Area para visualizar os resultados e iniciar ações.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38218" y="182880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DB1FF"/>
                </a:solidFill>
              </a:rPr>
              <a:t>2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30175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Object Page é para ENTENDER.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88620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A estrutura (Header, Body) guia o usuário do resumo ao detalhe, fornecendo uma visão 360° do objeto.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7797" y="182880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201168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4DB1FF"/>
                </a:solidFill>
              </a:rPr>
              <a:t>3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301752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Facetas são para CONSTRUIR.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3886200"/>
            <a:ext cx="296661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Use Collection Facets para a </a:t>
            </a:r>
            <a:r>
              <a:rPr lang="en-US" sz="1500" b="1" dirty="0">
                <a:solidFill>
                  <a:srgbClr val="C9D3DE"/>
                </a:solidFill>
              </a:rPr>
              <a:t>estrutura</a:t>
            </a:r>
            <a:r>
              <a:rPr lang="en-US" sz="1500" dirty="0">
                <a:solidFill>
                  <a:srgbClr val="C9D3DE"/>
                </a:solidFill>
              </a:rPr>
              <a:t> (seções) e Reference Facets para o </a:t>
            </a:r>
            <a:r>
              <a:rPr lang="en-US" sz="1500" b="1" dirty="0">
                <a:solidFill>
                  <a:srgbClr val="C9D3DE"/>
                </a:solidFill>
              </a:rPr>
              <a:t>conteúdo</a:t>
            </a:r>
            <a:r>
              <a:rPr lang="en-US" sz="1500" dirty="0">
                <a:solidFill>
                  <a:srgbClr val="C9D3DE"/>
                </a:solidFill>
              </a:rPr>
              <a:t> (formulários, tabelas) da Object Page.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8058" y="2148840"/>
            <a:ext cx="640080" cy="64008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215" y="2148840"/>
            <a:ext cx="640080" cy="64008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637" y="2148840"/>
            <a:ext cx="640080" cy="640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Desvendando os Floorplans do SAP Fiori Elements</dc:title>
  <dc:subject>ABAP Moderno – Módulo 03</dc:subject>
  <dc:creator>Adriano Bispo</dc:creator>
  <cp:lastModifiedBy>Adriano Bispo</cp:lastModifiedBy>
  <cp:revision>1</cp:revision>
  <dcterms:created xsi:type="dcterms:W3CDTF">2026-10-25T15:36:29Z</dcterms:created>
  <dcterms:modified xsi:type="dcterms:W3CDTF">2026-10-25T15:36:29Z</dcterms:modified>
</cp:coreProperties>
</file>