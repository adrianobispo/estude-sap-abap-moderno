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SAP Fiori Elements com OData V4  ·  Aula 5 de 11 — Floorplans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SAP Fiori Elements com OData V4  ·  Aula 5 de 11 — Floorplans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05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Floorplans do SAP Fiori elements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Os templates prontos, a anatomia do List Report e da Object Page e o conceito de facetas que organiza as páginas.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5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31429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31429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escolhemos o floorplan certo para cada caso e entendemos cada região das páginas do app de viagens.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Quem decide o quê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O app decide o quê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Metadados do serviço: entidades, campos, associações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Anotações OData: colunas, filtros, seções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Configurações do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 template decide o como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Layout, navegação, busca e filtros padronizados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Segue sempre as diretrizes de design mais recentes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Mesma experiência em todos os apps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Feature Map  </a:t>
            </a:r>
            <a:r>
              <a:rPr lang="en-US" sz="1200" dirty="0">
                <a:solidFill>
                  <a:srgbClr val="1D2D3E"/>
                </a:solidFill>
              </a:rPr>
              <a:t>a documentação do Fiori elements lista os recursos disponíveis por floorplan e versão do OData.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03.05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Os templates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maioria dos cenários de negócio é </a:t>
            </a:r>
            <a:r>
              <a:rPr lang="en-US" sz="1600" b="1" dirty="0">
                <a:solidFill>
                  <a:srgbClr val="D1EFFF"/>
                </a:solidFill>
              </a:rPr>
              <a:t>visão geral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lista de objetos</a:t>
            </a:r>
            <a:r>
              <a:rPr lang="en-US" sz="1600" dirty="0">
                <a:solidFill>
                  <a:srgbClr val="D1EFFF"/>
                </a:solidFill>
              </a:rPr>
              <a:t> ou </a:t>
            </a:r>
            <a:r>
              <a:rPr lang="en-US" sz="1600" b="1" dirty="0">
                <a:solidFill>
                  <a:srgbClr val="D1EFFF"/>
                </a:solidFill>
              </a:rPr>
              <a:t>gestão de um objeto</a:t>
            </a:r>
            <a:r>
              <a:rPr lang="en-US" sz="1600" dirty="0">
                <a:solidFill>
                  <a:srgbClr val="D1EFFF"/>
                </a:solidFill>
              </a:rPr>
              <a:t>. Cada um tem um floorplan.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 Page</a:t>
            </a:r>
            <a:r>
              <a:rPr lang="en-US" sz="1000" dirty="0">
                <a:solidFill>
                  <a:srgbClr val="D1EFFF"/>
                </a:solidFill>
              </a:rPr>
              <a:t>  cards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Report</a:t>
            </a:r>
            <a:r>
              <a:rPr lang="en-US" sz="1000" dirty="0">
                <a:solidFill>
                  <a:srgbClr val="D1EFFF"/>
                </a:solidFill>
              </a:rPr>
              <a:t>  o mais usado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Worklist · ALP</a:t>
            </a:r>
            <a:r>
              <a:rPr lang="en-US" sz="1000" dirty="0">
                <a:solidFill>
                  <a:srgbClr val="D1EFFF"/>
                </a:solidFill>
              </a:rPr>
              <a:t>  variações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Page</a:t>
            </a:r>
            <a:r>
              <a:rPr lang="en-US" sz="1000" dirty="0">
                <a:solidFill>
                  <a:srgbClr val="D1EFFF"/>
                </a:solidFill>
              </a:rPr>
              <a:t>  detalhes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TEMPLATES · ESCOLHA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Qual floorplan para qual cenário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930442"/>
                <a:gridCol w="4733792"/>
                <a:gridCol w="3155861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Floorplan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Destaque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 Report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Filtrar e ordenar muitos itens e abrir os detalhes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Quase sempre com 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Worklist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Processar uma lista de tarefas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 barra de filtros complexa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Analytical List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Analisar e agir sobre dados transacionais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Gráficos e filtros visuais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Overview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Visão de uma área ou 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Cards como ponto de entrada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Ver, organizar e editar um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Header dinâmico e seções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curso  </a:t>
            </a:r>
            <a:r>
              <a:rPr lang="en-US" sz="1200" dirty="0">
                <a:solidFill>
                  <a:srgbClr val="1D2D3E"/>
                </a:solidFill>
              </a:rPr>
              <a:t>o template </a:t>
            </a:r>
            <a:r>
              <a:rPr lang="en-US" sz="1200" b="1" dirty="0">
                <a:solidFill>
                  <a:srgbClr val="1D2D3E"/>
                </a:solidFill>
              </a:rPr>
              <a:t>List Report Page</a:t>
            </a:r>
            <a:r>
              <a:rPr lang="en-US" sz="1200" dirty="0">
                <a:solidFill>
                  <a:srgbClr val="1D2D3E"/>
                </a:solidFill>
              </a:rPr>
              <a:t> gera o par List Report + Object Page do app Manage Travels.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03.05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do List Report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página com </a:t>
            </a:r>
            <a:r>
              <a:rPr lang="en-US" sz="1600" b="1" dirty="0">
                <a:solidFill>
                  <a:srgbClr val="D1EFFF"/>
                </a:solidFill>
              </a:rPr>
              <a:t>cabeçalho e filtros</a:t>
            </a:r>
            <a:r>
              <a:rPr lang="en-US" sz="1600" dirty="0">
                <a:solidFill>
                  <a:srgbClr val="D1EFFF"/>
                </a:solidFill>
              </a:rPr>
              <a:t> em cima e </a:t>
            </a:r>
            <a:r>
              <a:rPr lang="en-US" sz="1600" b="1" dirty="0">
                <a:solidFill>
                  <a:srgbClr val="D1EFFF"/>
                </a:solidFill>
              </a:rPr>
              <a:t>área de conteúdo</a:t>
            </a:r>
            <a:r>
              <a:rPr lang="en-US" sz="1600" dirty="0">
                <a:solidFill>
                  <a:srgbClr val="D1EFFF"/>
                </a:solidFill>
              </a:rPr>
              <a:t> embaixo, ligada à Object Page.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 management</a:t>
            </a:r>
            <a:r>
              <a:rPr lang="en-US" sz="1000" dirty="0">
                <a:solidFill>
                  <a:srgbClr val="D1EFFF"/>
                </a:solidFill>
              </a:rPr>
              <a:t>  visões salvas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bar</a:t>
            </a:r>
            <a:r>
              <a:rPr lang="en-US" sz="1000" dirty="0">
                <a:solidFill>
                  <a:srgbClr val="D1EFFF"/>
                </a:solidFill>
              </a:rPr>
              <a:t>  selectionField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</a:t>
            </a:r>
            <a:r>
              <a:rPr lang="en-US" sz="1000" dirty="0">
                <a:solidFill>
                  <a:srgbClr val="D1EFFF"/>
                </a:solidFill>
              </a:rPr>
              <a:t>  lineItem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Toolbar</a:t>
            </a:r>
            <a:r>
              <a:rPr lang="en-US" sz="1000" dirty="0">
                <a:solidFill>
                  <a:srgbClr val="D1EFFF"/>
                </a:solidFill>
              </a:rPr>
              <a:t>  criar, excluir, ações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REGIÕES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Cada região e o que a controla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155861"/>
                <a:gridCol w="4508373"/>
                <a:gridCol w="3155861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Região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 que mostra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Controlado por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Título e variantes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Nome do app e visões salvas pelo usuário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headerInfo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manifest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Barra de filtros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Busca, filtros e status de edição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@UI.selectionField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@Search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Toolbar da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Criar, excluir e ações próprias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Behavior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#FOR_ACTION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Os registros, com colunas e cores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@UI.lineItem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Navegação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Clique na linha abre o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manifest (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navigation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Variações  </a:t>
            </a:r>
            <a:r>
              <a:rPr lang="en-US" sz="1200" dirty="0">
                <a:solidFill>
                  <a:srgbClr val="1D2D3E"/>
                </a:solidFill>
              </a:rPr>
              <a:t>a área de conteúdo pode ter várias visões (tabelas ou gráficos) em abas, e a tabela pode ser responsive, grid ou analytical.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03.05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da Object Page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Header title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header content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page body</a:t>
            </a:r>
            <a:r>
              <a:rPr lang="en-US" sz="1600" dirty="0">
                <a:solidFill>
                  <a:srgbClr val="D1EFFF"/>
                </a:solidFill>
              </a:rPr>
              <a:t>. O corpo é organizado em </a:t>
            </a:r>
            <a:r>
              <a:rPr lang="en-US" sz="1600" b="1" dirty="0">
                <a:solidFill>
                  <a:srgbClr val="D1EFFF"/>
                </a:solidFill>
              </a:rPr>
              <a:t>facetas</a:t>
            </a:r>
            <a:r>
              <a:rPr lang="en-US" sz="1600" dirty="0">
                <a:solidFill>
                  <a:srgbClr val="D1EFFF"/>
                </a:solidFill>
              </a:rPr>
              <a:t>: seções, subseções e referências.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title</a:t>
            </a:r>
            <a:r>
              <a:rPr lang="en-US" sz="1000" dirty="0">
                <a:solidFill>
                  <a:srgbClr val="D1EFFF"/>
                </a:solidFill>
              </a:rPr>
              <a:t>  headerInfo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content</a:t>
            </a:r>
            <a:r>
              <a:rPr lang="en-US" sz="1000" dirty="0">
                <a:solidFill>
                  <a:srgbClr val="D1EFFF"/>
                </a:solidFill>
              </a:rPr>
              <a:t>  #HEADER facets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000" dirty="0">
                <a:solidFill>
                  <a:srgbClr val="D1EFFF"/>
                </a:solidFill>
              </a:rPr>
              <a:t>  seções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Facetas</a:t>
            </a:r>
            <a:r>
              <a:rPr lang="en-US" sz="1000" dirty="0">
                <a:solidFill>
                  <a:srgbClr val="D1EFFF"/>
                </a:solidFill>
              </a:rPr>
              <a:t>  reference · collection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REGIÕES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três partes de uma Object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Header title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Tipo e título do objeto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headerInfo</a:t>
            </a:r>
            <a:r>
              <a:rPr lang="en-US" sz="1300" dirty="0">
                <a:solidFill>
                  <a:srgbClr val="556B82"/>
                </a:solidFill>
              </a:rPr>
              <a:t>), com ações como Editar e Excluir.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Header content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KPIs e campos-chave via facetas com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r>
              <a:rPr lang="en-US" sz="1300" dirty="0">
                <a:solidFill>
                  <a:srgbClr val="556B82"/>
                </a:solidFill>
              </a:rPr>
              <a:t>, como preço e status.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Page body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Seções e subseções com navegação por âncora ou abas; modo de edição com draft.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143631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143631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14363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FACETAS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Reference facet e collection facet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7576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Reference facet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Aponta para um </a:t>
            </a:r>
            <a:r>
              <a:rPr lang="en-US" sz="1350" b="1" dirty="0">
                <a:solidFill>
                  <a:srgbClr val="1D2D3E"/>
                </a:solidFill>
              </a:rPr>
              <a:t>conteúdo</a:t>
            </a:r>
            <a:r>
              <a:rPr lang="en-US" sz="1350" dirty="0">
                <a:solidFill>
                  <a:srgbClr val="1D2D3E"/>
                </a:solidFill>
              </a:rPr>
              <a:t>: identification, field group, data point ou line item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#FIELDGROUP_REFERENCE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350" dirty="0">
                <a:solidFill>
                  <a:srgbClr val="1D2D3E"/>
                </a:solidFill>
              </a:rPr>
              <a:t>…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Vira uma subseção (ou seção, se não tiver pai)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67576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Collection facet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</a:t>
            </a:r>
            <a:r>
              <a:rPr lang="en-US" sz="1350" b="1" dirty="0">
                <a:solidFill>
                  <a:srgbClr val="1D2D3E"/>
                </a:solidFill>
              </a:rPr>
              <a:t>contêiner</a:t>
            </a:r>
            <a:r>
              <a:rPr lang="en-US" sz="1350" dirty="0">
                <a:solidFill>
                  <a:srgbClr val="1D2D3E"/>
                </a:solidFill>
              </a:rPr>
              <a:t> sem conteúdo próprio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#COLLECTION</a:t>
            </a:r>
            <a:r>
              <a:rPr lang="en-US" sz="1350" dirty="0">
                <a:solidFill>
                  <a:srgbClr val="1D2D3E"/>
                </a:solidFill>
              </a:rPr>
              <a:t> com um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Agrupa reference facets que usam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05066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05066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Header, seção e tabela filha em uma anotação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zc_fe_travel_######.ddlx.asddlxs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ZFE_TRAVEL_###### › Metadata Extensions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'PriceData'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'GeneralInfo'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 Information'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'GeneralInfo'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'PricesGroup'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'Bookings'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'Bookings'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'_Booking'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faceta vai para o header content, aqui um data point de preço.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Collection + reference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Seção </a:t>
            </a:r>
            <a:r>
              <a:rPr lang="en-US" sz="1050" i="1" dirty="0">
                <a:solidFill>
                  <a:srgbClr val="556B82"/>
                </a:solidFill>
              </a:rPr>
              <a:t>General Information</a:t>
            </a:r>
            <a:r>
              <a:rPr lang="en-US" sz="1050" dirty="0">
                <a:solidFill>
                  <a:srgbClr val="556B82"/>
                </a:solidFill>
              </a:rPr>
              <a:t> com a subseção </a:t>
            </a:r>
            <a:r>
              <a:rPr lang="en-US" sz="1050" i="1" dirty="0">
                <a:solidFill>
                  <a:srgbClr val="556B82"/>
                </a:solidFill>
              </a:rPr>
              <a:t>Prices</a:t>
            </a:r>
            <a:r>
              <a:rPr lang="en-US" sz="1050" dirty="0">
                <a:solidFill>
                  <a:srgbClr val="556B82"/>
                </a:solidFill>
              </a:rPr>
              <a:t> de um field group.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tabela filha com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50" dirty="0">
                <a:solidFill>
                  <a:srgbClr val="556B82"/>
                </a:solidFill>
              </a:rPr>
              <a:t> da entidade Booking.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associação de composição que leva aos itens.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app define </a:t>
            </a:r>
            <a:r>
              <a:rPr lang="en-US" sz="1400" b="1" dirty="0">
                <a:solidFill>
                  <a:srgbClr val="FFFFFF"/>
                </a:solidFill>
              </a:rPr>
              <a:t>o quê</a:t>
            </a:r>
            <a:r>
              <a:rPr lang="en-US" sz="1400" dirty="0">
                <a:solidFill>
                  <a:srgbClr val="FFFFFF"/>
                </a:solidFill>
              </a:rPr>
              <a:t> (metadados, anotações, manifest); o template define </a:t>
            </a:r>
            <a:r>
              <a:rPr lang="en-US" sz="1400" b="1" dirty="0">
                <a:solidFill>
                  <a:srgbClr val="FFFFFF"/>
                </a:solidFill>
              </a:rPr>
              <a:t>o como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Floorplans: </a:t>
            </a:r>
            <a:r>
              <a:rPr lang="en-US" sz="1400" b="1" dirty="0">
                <a:solidFill>
                  <a:srgbClr val="FFFFFF"/>
                </a:solidFill>
              </a:rPr>
              <a:t>List Report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Worklist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Analytical List Page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Overview Page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Object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List Report: variantes, barra de filtros, toolbar e tabela, cada um com sua anotação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Object Page: </a:t>
            </a:r>
            <a:r>
              <a:rPr lang="en-US" sz="1400" b="1" dirty="0">
                <a:solidFill>
                  <a:srgbClr val="FFFFFF"/>
                </a:solidFill>
              </a:rPr>
              <a:t>header title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header content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page body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Reference facets</a:t>
            </a:r>
            <a:r>
              <a:rPr lang="en-US" sz="1400" dirty="0">
                <a:solidFill>
                  <a:srgbClr val="FFFFFF"/>
                </a:solidFill>
              </a:rPr>
              <a:t> apontam para conteúdo; </a:t>
            </a:r>
            <a:r>
              <a:rPr lang="en-US" sz="1400" b="1" dirty="0">
                <a:solidFill>
                  <a:srgbClr val="FFFFFF"/>
                </a:solidFill>
              </a:rPr>
              <a:t>collection facets</a:t>
            </a:r>
            <a:r>
              <a:rPr lang="en-US" sz="1400" dirty="0">
                <a:solidFill>
                  <a:srgbClr val="FFFFFF"/>
                </a:solidFill>
              </a:rPr>
              <a:t> agrupam subseções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Header facets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</a:t>
            </a:r>
            <a:r>
              <a:rPr lang="en-US" sz="1400" dirty="0">
                <a:solidFill>
                  <a:srgbClr val="FFFFFF"/>
                </a:solidFill>
              </a:rPr>
              <a:t> e tabelas filhas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03.06  </a:t>
            </a:r>
            <a:r>
              <a:rPr lang="en-US" sz="1500" dirty="0">
                <a:solidFill>
                  <a:srgbClr val="FFFFFF"/>
                </a:solidFill>
              </a:rPr>
              <a:t>List Report e Object Page: Ordenação, seções e field groups.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03.05 Floorplans do SAP Fiori elements</dc:title>
  <dc:subject>ABAP Moderno – Módulo 03: SAP Fiori Elements com OData V4</dc:subject>
  <dc:creator>Adriano Bispo</dc:creator>
  <cp:lastModifiedBy>Adriano Bispo</cp:lastModifiedBy>
  <cp:revision>1</cp:revision>
  <dcterms:created xsi:type="dcterms:W3CDTF">2026-10-29T01:36:45Z</dcterms:created>
  <dcterms:modified xsi:type="dcterms:W3CDTF">2026-10-29T01:36:45Z</dcterms:modified>
</cp:coreProperties>
</file>