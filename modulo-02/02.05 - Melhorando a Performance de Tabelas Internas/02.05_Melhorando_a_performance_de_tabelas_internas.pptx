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Programação ABAP Intermediária  ·  Aula 5 de 9 — Performance de tabelas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Programação ABAP Intermediária  ·  Aula 5 de 9 — Performance de tabelas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05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Melhorando a performance de tabelas internas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Ordenar e condensar, construir tabelas com FOR e REDUCE, field symbols, tabelas sorted e hashed e chaves secundárias.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5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210556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10556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aceleramos o processamento de uma tabela com milhares de voos: menos cópias, buscas pela chave e índices secundários.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Onde o tempo das tabelas internas se perde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O(n)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Busca linear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standard lida sem chave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O(log n)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Busca binária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sorted pela chave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O(1)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Hash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hashed pela chave completa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25–40%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Ganho típico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field symbols em vez de cópias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Três alavancas de desempenho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Escolher o </a:t>
            </a:r>
            <a:r>
              <a:rPr lang="en-US" sz="1200" b="1" dirty="0">
                <a:solidFill>
                  <a:srgbClr val="556B82"/>
                </a:solidFill>
              </a:rPr>
              <a:t>tipo de tabela</a:t>
            </a:r>
            <a:r>
              <a:rPr lang="en-US" sz="1200" dirty="0">
                <a:solidFill>
                  <a:srgbClr val="556B82"/>
                </a:solidFill>
              </a:rPr>
              <a:t> certo para o acesso mais frequente, evitar </a:t>
            </a:r>
            <a:r>
              <a:rPr lang="en-US" sz="1200" b="1" dirty="0">
                <a:solidFill>
                  <a:srgbClr val="556B82"/>
                </a:solidFill>
              </a:rPr>
              <a:t>cópias</a:t>
            </a:r>
            <a:r>
              <a:rPr lang="en-US" sz="1200" dirty="0">
                <a:solidFill>
                  <a:srgbClr val="556B82"/>
                </a:solidFill>
              </a:rPr>
              <a:t> de linhas e criar </a:t>
            </a:r>
            <a:r>
              <a:rPr lang="en-US" sz="1200" b="1" dirty="0">
                <a:solidFill>
                  <a:srgbClr val="556B82"/>
                </a:solidFill>
              </a:rPr>
              <a:t>chaves secundárias</a:t>
            </a:r>
            <a:r>
              <a:rPr lang="en-US" sz="1200" dirty="0">
                <a:solidFill>
                  <a:srgbClr val="556B82"/>
                </a:solidFill>
              </a:rPr>
              <a:t> para buscas por outras colunas. Meça sempre com o ABAP Profiler (aula 04.01).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940003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9400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SORTED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35163" y="3977640"/>
            <a:ext cx="940003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35163" y="3977640"/>
            <a:ext cx="9400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HASHED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12326" y="397764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12326" y="397764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ASSIGNING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1583741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15837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Secondary keys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78901" y="4416552"/>
            <a:ext cx="1422806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78901" y="4416552"/>
            <a:ext cx="14228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FOR · REDUCE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855464"/>
            <a:ext cx="2227478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855464"/>
            <a:ext cx="22274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SORT · DELETE ADJACENT</a:t>
            </a:r>
            <a:endParaRPr lang="en-US" sz="10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04.05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Processando o conteúdo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Ordenar, remover duplicatas e construir uma tabela a partir de outra com </a:t>
            </a:r>
            <a:r>
              <a:rPr lang="en-US" sz="1600" b="1" dirty="0">
                <a:solidFill>
                  <a:srgbClr val="D1EFFF"/>
                </a:solidFill>
              </a:rPr>
              <a:t>expressões</a:t>
            </a:r>
            <a:r>
              <a:rPr lang="en-US" sz="1600" dirty="0">
                <a:solidFill>
                  <a:srgbClr val="D1EFFF"/>
                </a:solidFill>
              </a:rPr>
              <a:t>, sem laços manuais.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… BY</a:t>
            </a:r>
            <a:r>
              <a:rPr lang="en-US" sz="1000" dirty="0">
                <a:solidFill>
                  <a:srgbClr val="D1EFFF"/>
                </a:solidFill>
              </a:rPr>
              <a:t>  ordenar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ADJACENT DUPLICATES</a:t>
            </a:r>
            <a:r>
              <a:rPr lang="en-US" sz="1000" dirty="0">
                <a:solidFill>
                  <a:srgbClr val="D1EFFF"/>
                </a:solidFill>
              </a:rPr>
              <a:t>  duplicatas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FOR … )</a:t>
            </a:r>
            <a:r>
              <a:rPr lang="en-US" sz="1000" dirty="0">
                <a:solidFill>
                  <a:srgbClr val="D1EFFF"/>
                </a:solidFill>
              </a:rPr>
              <a:t>  transformar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r>
              <a:rPr lang="en-US" sz="1000" dirty="0">
                <a:solidFill>
                  <a:srgbClr val="D1EFFF"/>
                </a:solidFill>
              </a:rPr>
              <a:t>  resumir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CONTEÚDO · ORDENAR E CONDENSAR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SORT e DELETE ADJACENT DUPLICATES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zcl_05_itab.clas.abap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ZCL_05_ITAB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pela chave primária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Duplicatas só são removidas se estiverem lado a lado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ADJACENT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Sem COMPARING: compara a chave inteira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COMPARING ALL FIELDS: compara a linha toda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556B82"/>
                </a:solidFill>
              </a:rPr>
              <a:t>, ordena pela chave primária;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556B82"/>
                </a:solidFill>
              </a:rPr>
              <a:t>, por quaisquer colunas.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Ordem primeiro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Ordene pelas mesmas colunas que serão comparadas.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quais colunas tornam duas linhas "iguais".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Só standard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Tabelas sorted já estão ordenadas e não aceitam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Alternativa no banco  </a:t>
            </a:r>
            <a:r>
              <a:rPr lang="en-US" sz="1200" dirty="0">
                <a:solidFill>
                  <a:srgbClr val="1D2D3E"/>
                </a:solidFill>
              </a:rPr>
              <a:t>se os dados vêm de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1D2D3E"/>
                </a:solidFill>
              </a:rPr>
              <a:t>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1D2D3E"/>
                </a:solidFill>
              </a:rPr>
              <a:t>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1D2D3E"/>
                </a:solidFill>
              </a:rPr>
              <a:t> resolvem antes de chegar ao ABAP (aula 04.04).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CONTEÚDO · EXPRESSÕES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Construir e resumir tabelas com FOR e REDUCE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zcl_05_itab.clas.abap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ZCL_05_ITAB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Uma tabela nova a partir de outra, linha a linha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tt_routes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line-carrier_id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line-airport_from_id }-{ line-airport_to_id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Um único valor a partir de todas as linhas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total_seats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flight-seats_occupied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Copiar por nome continua com CORRESPONDING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tt_targets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… FOR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Percorre a origem e monta cada linha do destino; aceita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050" dirty="0">
                <a:solidFill>
                  <a:srgbClr val="556B82"/>
                </a:solidFill>
              </a:rPr>
              <a:t> cria o acumulador;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50" dirty="0">
                <a:solidFill>
                  <a:srgbClr val="556B82"/>
                </a:solidFill>
              </a:rPr>
              <a:t> o atualiza a cada linha.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Atribuição com cálculo: forma curta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total + …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Sem laço manual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código diz </a:t>
            </a:r>
            <a:r>
              <a:rPr lang="en-US" sz="1050" b="1" dirty="0">
                <a:solidFill>
                  <a:srgbClr val="556B82"/>
                </a:solidFill>
              </a:rPr>
              <a:t>o que</a:t>
            </a:r>
            <a:r>
              <a:rPr lang="en-US" sz="1050" dirty="0">
                <a:solidFill>
                  <a:srgbClr val="556B82"/>
                </a:solidFill>
              </a:rPr>
              <a:t> construir, não como percorrer.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04.05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Field symbols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field symbol</a:t>
            </a:r>
            <a:r>
              <a:rPr lang="en-US" sz="1600" dirty="0">
                <a:solidFill>
                  <a:srgbClr val="D1EFFF"/>
                </a:solidFill>
              </a:rPr>
              <a:t> aponta para a linha da tabela: alterar o field symbol altera a tabela, </a:t>
            </a:r>
            <a:r>
              <a:rPr lang="en-US" sz="1600" b="1" dirty="0">
                <a:solidFill>
                  <a:srgbClr val="D1EFFF"/>
                </a:solidFill>
              </a:rPr>
              <a:t>sem copiar</a:t>
            </a:r>
            <a:r>
              <a:rPr lang="en-US" sz="1600" dirty="0">
                <a:solidFill>
                  <a:srgbClr val="D1EFFF"/>
                </a:solidFill>
              </a:rPr>
              <a:t> dados.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r>
              <a:rPr lang="en-US" sz="1000" dirty="0">
                <a:solidFill>
                  <a:srgbClr val="D1EFFF"/>
                </a:solidFill>
              </a:rPr>
              <a:t>  no LOOP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FIELD-SYMBOL( &lt;fs&gt; )</a:t>
            </a:r>
            <a:r>
              <a:rPr lang="en-US" sz="1000" dirty="0">
                <a:solidFill>
                  <a:srgbClr val="D1EFFF"/>
                </a:solidFill>
              </a:rPr>
              <a:t>  inline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MODIFY</a:t>
            </a:r>
            <a:r>
              <a:rPr lang="en-US" sz="1000" dirty="0">
                <a:solidFill>
                  <a:srgbClr val="D1EFFF"/>
                </a:solidFill>
              </a:rPr>
              <a:t>  alteração direta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INTO</a:t>
            </a:r>
            <a:r>
              <a:rPr lang="en-US" sz="1000" dirty="0">
                <a:solidFill>
                  <a:srgbClr val="D1EFFF"/>
                </a:solidFill>
              </a:rPr>
              <a:t>  alternativa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FIELD SYMBOLS · CÓPIA OU PONTEIRO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Work area com MODIFY ou field symbol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18842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618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Work area · copia duas vezes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antes.abap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flight-price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flight-price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'1.1'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linha é copiada para a work area e, depois do ajuste, copiada de volta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29697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22969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Field symbol · sem cópia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depois.abap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FIELD-SYMBOL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'1.1'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&lt;flight&gt;</a:t>
            </a:r>
            <a:r>
              <a:rPr lang="en-US" sz="1200" dirty="0">
                <a:solidFill>
                  <a:srgbClr val="556B82"/>
                </a:solidFill>
              </a:rPr>
              <a:t> aponta para a própria linha: a alteração é imediata. Em geral, </a:t>
            </a:r>
            <a:r>
              <a:rPr lang="en-US" sz="1200" b="1" dirty="0">
                <a:solidFill>
                  <a:srgbClr val="556B82"/>
                </a:solidFill>
              </a:rPr>
              <a:t>25 a 40%</a:t>
            </a:r>
            <a:r>
              <a:rPr lang="en-US" sz="1200" dirty="0">
                <a:solidFill>
                  <a:srgbClr val="556B82"/>
                </a:solidFill>
              </a:rPr>
              <a:t> mais rápido em alterações.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04.05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Sorted, hashed e chaves secundárias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busca pela chave só é rápida em tabelas </a:t>
            </a:r>
            <a:r>
              <a:rPr lang="en-US" sz="1600" b="1" dirty="0">
                <a:solidFill>
                  <a:srgbClr val="D1EFFF"/>
                </a:solidFill>
              </a:rPr>
              <a:t>sorted</a:t>
            </a:r>
            <a:r>
              <a:rPr lang="en-US" sz="1600" dirty="0">
                <a:solidFill>
                  <a:srgbClr val="D1EFFF"/>
                </a:solidFill>
              </a:rPr>
              <a:t> ou </a:t>
            </a:r>
            <a:r>
              <a:rPr lang="en-US" sz="1600" b="1" dirty="0">
                <a:solidFill>
                  <a:srgbClr val="D1EFFF"/>
                </a:solidFill>
              </a:rPr>
              <a:t>hashed</a:t>
            </a:r>
            <a:r>
              <a:rPr lang="en-US" sz="1600" dirty="0">
                <a:solidFill>
                  <a:srgbClr val="D1EFFF"/>
                </a:solidFill>
              </a:rPr>
              <a:t>. Para buscar por outras colunas, crie </a:t>
            </a:r>
            <a:r>
              <a:rPr lang="en-US" sz="1600" b="1" dirty="0">
                <a:solidFill>
                  <a:srgbClr val="D1EFFF"/>
                </a:solidFill>
              </a:rPr>
              <a:t>chaves secundárias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 · HASHED</a:t>
            </a:r>
            <a:r>
              <a:rPr lang="en-US" sz="1000" dirty="0">
                <a:solidFill>
                  <a:srgbClr val="D1EFFF"/>
                </a:solidFill>
              </a:rPr>
              <a:t>  chave primária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… KEY name</a:t>
            </a:r>
            <a:r>
              <a:rPr lang="en-US" sz="1000" dirty="0">
                <a:solidFill>
                  <a:srgbClr val="D1EFFF"/>
                </a:solidFill>
              </a:rPr>
              <a:t>  chave secundária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KEY</a:t>
            </a:r>
            <a:r>
              <a:rPr lang="en-US" sz="1000" dirty="0">
                <a:solidFill>
                  <a:srgbClr val="D1EFFF"/>
                </a:solidFill>
              </a:rPr>
              <a:t>  usar a chave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 update</a:t>
            </a:r>
            <a:r>
              <a:rPr lang="en-US" sz="1000" dirty="0">
                <a:solidFill>
                  <a:srgbClr val="D1EFFF"/>
                </a:solidFill>
              </a:rPr>
              <a:t>  custo de manutenção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CHAVES · CHAVES SECUNDÁRIAS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tabela, várias formas rápidas de buscar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zcl_05_keys.clas.abap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ZCL_05_KEYS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zs4d401_flights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NON-UNIQUE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flight_date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NON-UNIQUE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by_plane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plane_type_id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Busca pela chave secundária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by_plane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plane_type_id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'A350'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'0405'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'20250101'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Primária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como a tabela é armazenada (aqui, sorted).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Secundárias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Sorted (única ou não) ou hashed (sempre única), com nome próprio.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KEY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chave secundária só é usada quando você a nomeia.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Buscar sem chave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busca por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plane_type_id</a:t>
            </a:r>
            <a:r>
              <a:rPr lang="en-US" sz="1050" dirty="0">
                <a:solidFill>
                  <a:srgbClr val="556B82"/>
                </a:solidFill>
              </a:rPr>
              <a:t> sem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KEY</a:t>
            </a:r>
            <a:r>
              <a:rPr lang="en-US" sz="1050" dirty="0">
                <a:solidFill>
                  <a:srgbClr val="556B82"/>
                </a:solidFill>
              </a:rPr>
              <a:t> volta a ser linear.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CHAVES · CUSTOS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Quando a chave secundária compensa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02847"/>
            <a:ext cx="5410048" cy="73152"/>
          </a:xfrm>
          <a:prstGeom prst="rect">
            <a:avLst/>
          </a:prstGeom>
          <a:solidFill>
            <a:srgbClr val="E7650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Não única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Criada só no </a:t>
            </a:r>
            <a:r>
              <a:rPr lang="en-US" sz="1350" b="1" dirty="0">
                <a:solidFill>
                  <a:srgbClr val="1D2D3E"/>
                </a:solidFill>
              </a:rPr>
              <a:t>primeiro</a:t>
            </a:r>
            <a:r>
              <a:rPr lang="en-US" sz="1350" dirty="0">
                <a:solidFill>
                  <a:srgbClr val="1D2D3E"/>
                </a:solidFill>
              </a:rPr>
              <a:t> acesso por ela: essa leitura é mais cara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Após mudanças na tabela, atualizada na próxima leitura (</a:t>
            </a:r>
            <a:r>
              <a:rPr lang="en-US" sz="1350" i="1" dirty="0">
                <a:solidFill>
                  <a:srgbClr val="1D2D3E"/>
                </a:solidFill>
              </a:rPr>
              <a:t>lazy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Compensa com muitas leituras e poucas alterações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02847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Única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Também garante que não haja duplicatas nos componentes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Mantida atualizada </a:t>
            </a:r>
            <a:r>
              <a:rPr lang="en-US" sz="1350" b="1" dirty="0">
                <a:solidFill>
                  <a:srgbClr val="1D2D3E"/>
                </a:solidFill>
              </a:rPr>
              <a:t>a cada</a:t>
            </a:r>
            <a:r>
              <a:rPr lang="en-US" sz="1350" dirty="0">
                <a:solidFill>
                  <a:srgbClr val="1D2D3E"/>
                </a:solidFill>
              </a:rPr>
              <a:t> inclusão ou alteração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Leituras sempre rápidas; escritas um pouco mais caras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48345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048345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 </a:t>
            </a:r>
            <a:r>
              <a:rPr lang="en-US" sz="1200" dirty="0">
                <a:solidFill>
                  <a:srgbClr val="1D2D3E"/>
                </a:solidFill>
              </a:rPr>
              <a:t>meça antes e depois com o ABAP Profiler: chaves secundárias custam memória e manutenção.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577751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577751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176361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ADJACENT DUPLICATES … COMPARING</a:t>
            </a:r>
            <a:r>
              <a:rPr lang="en-US" sz="1400" dirty="0">
                <a:solidFill>
                  <a:srgbClr val="FFFFFF"/>
                </a:solidFill>
              </a:rPr>
              <a:t> ordenam e condensam tabelas standard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… FOR</a:t>
            </a:r>
            <a:r>
              <a:rPr lang="en-US" sz="1400" dirty="0">
                <a:solidFill>
                  <a:srgbClr val="FFFFFF"/>
                </a:solidFill>
              </a:rPr>
              <a:t> transforma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r>
              <a:rPr lang="en-US" sz="1400" dirty="0">
                <a:solidFill>
                  <a:srgbClr val="FFFFFF"/>
                </a:solidFill>
              </a:rPr>
              <a:t> resume tabelas sem laços manuais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Field symbols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r>
              <a:rPr lang="en-US" sz="1400" dirty="0">
                <a:solidFill>
                  <a:srgbClr val="FFFFFF"/>
                </a:solidFill>
              </a:rPr>
              <a:t> alteram linhas sem cópias: 25 a 40% mais rápido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Tabelas </a:t>
            </a:r>
            <a:r>
              <a:rPr lang="en-US" sz="1400" b="1" dirty="0">
                <a:solidFill>
                  <a:srgbClr val="FFFFFF"/>
                </a:solidFill>
              </a:rPr>
              <a:t>sorted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hashed</a:t>
            </a:r>
            <a:r>
              <a:rPr lang="en-US" sz="1400" dirty="0">
                <a:solidFill>
                  <a:srgbClr val="FFFFFF"/>
                </a:solidFill>
              </a:rPr>
              <a:t> aceleram buscas pela chave primária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Chaves secundárias</a:t>
            </a:r>
            <a:r>
              <a:rPr lang="en-US" sz="1400" dirty="0">
                <a:solidFill>
                  <a:srgbClr val="FFFFFF"/>
                </a:solidFill>
              </a:rPr>
              <a:t> aceleram buscas por outras colunas, usadas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KEY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Chaves não únicas são atualizadas sob demanda; únicas, a cada mudança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04.06  </a:t>
            </a:r>
            <a:r>
              <a:rPr lang="en-US" sz="1500" dirty="0">
                <a:solidFill>
                  <a:srgbClr val="FFFFFF"/>
                </a:solidFill>
              </a:rPr>
              <a:t>Autorizações: Conceito, CDS DCL e AUTHORITY-CHECK.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04.05 Melhorando a performance de tabelas internas</dc:title>
  <dc:subject>ABAP Moderno – Módulo 04: Programação ABAP Intermediária</dc:subject>
  <dc:creator>Adriano Bispo</dc:creator>
  <cp:lastModifiedBy>Adriano Bispo</cp:lastModifiedBy>
  <cp:revision>1</cp:revision>
  <dcterms:created xsi:type="dcterms:W3CDTF">2026-10-29T01:11:41Z</dcterms:created>
  <dcterms:modified xsi:type="dcterms:W3CDTF">2026-10-29T01:11:41Z</dcterms:modified>
</cp:coreProperties>
</file>