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02 — Programação ABAP Intermediária  ·  Aula 5 de 9 — Performance de tabelas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02 — Programação ABAP Intermediária  ·  Aula 5 de 9 — Performance de tabelas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02 · AULA 05 DE 09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Melhorando a performance de tabelas internas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Ordenar e condensar, construir tabelas com FOR e REDUCE, field symbols, tabelas sorted e hashed e chaves secundárias.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55472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892556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929640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1" name="Shape 9"/>
          <p:cNvSpPr/>
          <p:nvPr/>
        </p:nvSpPr>
        <p:spPr>
          <a:xfrm>
            <a:off x="966724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3808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0892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7976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5060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5 de 9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02 — Programação ABAP Intermediária · Design System SAP Horizon</a:t>
            </a:r>
            <a:endParaRPr lang="en-US" sz="11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02 em 9 aulas: ABAP intermediário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Analisar e testar código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ATC, ABAP Unit, Profiling e SQL Trace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04099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68691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68691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2968691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Tipos e conversões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968691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Tipos técnicos, conversões e datas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59558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2415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2415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7" name="Text 15"/>
          <p:cNvSpPr txBox="1"/>
          <p:nvPr/>
        </p:nvSpPr>
        <p:spPr>
          <a:xfrm>
            <a:off x="5224150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Campos de caracteres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224150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Funções, regex e textos traduzíveis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315017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79609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79609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4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7479609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Code pushdown no SQL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479609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Expressões, joins, agregações e UNION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570476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735068" y="182880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73506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5</a:t>
            </a:r>
            <a:endParaRPr lang="en-US" sz="1260" dirty="0"/>
          </a:p>
        </p:txBody>
      </p:sp>
      <p:sp>
        <p:nvSpPr>
          <p:cNvPr id="27" name="Text 25"/>
          <p:cNvSpPr txBox="1"/>
          <p:nvPr/>
        </p:nvSpPr>
        <p:spPr>
          <a:xfrm>
            <a:off x="9735068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Performance de tabelas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9735068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Chaves, field symbols e chaves secundárias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0210556" y="1892808"/>
            <a:ext cx="792419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210556" y="1892808"/>
            <a:ext cx="7924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6</a:t>
            </a:r>
            <a:endParaRPr lang="en-US" sz="1260" dirty="0"/>
          </a:p>
        </p:txBody>
      </p:sp>
      <p:sp>
        <p:nvSpPr>
          <p:cNvPr id="34" name="Text 32"/>
          <p:cNvSpPr txBox="1"/>
          <p:nvPr/>
        </p:nvSpPr>
        <p:spPr>
          <a:xfrm>
            <a:off x="713232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Autorizações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713232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Conceito, CDS DCL e AUTHORITY-CHECK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804099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2968691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968691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7</a:t>
            </a:r>
            <a:endParaRPr lang="en-US" sz="1260" dirty="0"/>
          </a:p>
        </p:txBody>
      </p:sp>
      <p:sp>
        <p:nvSpPr>
          <p:cNvPr id="39" name="Text 37"/>
          <p:cNvSpPr txBox="1"/>
          <p:nvPr/>
        </p:nvSpPr>
        <p:spPr>
          <a:xfrm>
            <a:off x="2968691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OO eficaz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2968691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Herança, interfaces e factory methods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059558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522415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22415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8</a:t>
            </a:r>
            <a:endParaRPr lang="en-US" sz="1260" dirty="0"/>
          </a:p>
        </p:txBody>
      </p:sp>
      <p:sp>
        <p:nvSpPr>
          <p:cNvPr id="44" name="Text 42"/>
          <p:cNvSpPr txBox="1"/>
          <p:nvPr/>
        </p:nvSpPr>
        <p:spPr>
          <a:xfrm>
            <a:off x="5224150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Classes de exceção</a:t>
            </a:r>
            <a:endParaRPr lang="en-US" sz="1350" dirty="0"/>
          </a:p>
        </p:txBody>
      </p:sp>
      <p:sp>
        <p:nvSpPr>
          <p:cNvPr id="45" name="Text 43"/>
          <p:cNvSpPr txBox="1"/>
          <p:nvPr/>
        </p:nvSpPr>
        <p:spPr>
          <a:xfrm>
            <a:off x="5224150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Categorias, T100 e tratamento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315017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7479609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479609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9</a:t>
            </a:r>
            <a:endParaRPr lang="en-US" sz="1260" dirty="0"/>
          </a:p>
        </p:txBody>
      </p:sp>
      <p:sp>
        <p:nvSpPr>
          <p:cNvPr id="49" name="Text 47"/>
          <p:cNvSpPr txBox="1"/>
          <p:nvPr/>
        </p:nvSpPr>
        <p:spPr>
          <a:xfrm>
            <a:off x="7479609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ABAP Doc</a:t>
            </a:r>
            <a:endParaRPr lang="en-US" sz="1350" dirty="0"/>
          </a:p>
        </p:txBody>
      </p:sp>
      <p:sp>
        <p:nvSpPr>
          <p:cNvPr id="50" name="Text 48"/>
          <p:cNvSpPr txBox="1"/>
          <p:nvPr/>
        </p:nvSpPr>
        <p:spPr>
          <a:xfrm>
            <a:off x="7479609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Documentação no código e no ADT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aceleramos o processamento de uma tabela com milhares de itens de pedido: menos cópias, buscas pela chave e índices secundários.</a:t>
            </a:r>
            <a:endParaRPr lang="en-US" sz="1400" dirty="0"/>
          </a:p>
        </p:txBody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497" y="1847088"/>
            <a:ext cx="347472" cy="347472"/>
          </a:xfrm>
          <a:prstGeom prst="rect">
            <a:avLst/>
          </a:prstGeom>
        </p:spPr>
      </p:pic>
      <p:pic>
        <p:nvPicPr>
          <p:cNvPr id="5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579" y="1847088"/>
            <a:ext cx="347472" cy="347472"/>
          </a:xfrm>
          <a:prstGeom prst="rect">
            <a:avLst/>
          </a:prstGeom>
        </p:spPr>
      </p:pic>
      <p:pic>
        <p:nvPicPr>
          <p:cNvPr id="5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8038" y="1847088"/>
            <a:ext cx="347472" cy="347472"/>
          </a:xfrm>
          <a:prstGeom prst="rect">
            <a:avLst/>
          </a:prstGeom>
        </p:spPr>
      </p:pic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8956" y="1847088"/>
            <a:ext cx="347472" cy="347472"/>
          </a:xfrm>
          <a:prstGeom prst="rect">
            <a:avLst/>
          </a:prstGeom>
        </p:spPr>
      </p:pic>
      <p:pic>
        <p:nvPicPr>
          <p:cNvPr id="5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72579" y="3858768"/>
            <a:ext cx="347472" cy="347472"/>
          </a:xfrm>
          <a:prstGeom prst="rect">
            <a:avLst/>
          </a:prstGeom>
        </p:spPr>
      </p:pic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8038" y="3858768"/>
            <a:ext cx="347472" cy="347472"/>
          </a:xfrm>
          <a:prstGeom prst="rect">
            <a:avLst/>
          </a:prstGeom>
        </p:spPr>
      </p:pic>
      <p:pic>
        <p:nvPicPr>
          <p:cNvPr id="6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497" y="3858768"/>
            <a:ext cx="347472" cy="347472"/>
          </a:xfrm>
          <a:prstGeom prst="rect">
            <a:avLst/>
          </a:prstGeom>
        </p:spPr>
      </p:pic>
      <p:pic>
        <p:nvPicPr>
          <p:cNvPr id="6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pic>
        <p:nvPicPr>
          <p:cNvPr id="6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38956" y="3858768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Onde o tempo das tabelas internas se perde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2272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783080"/>
            <a:ext cx="2220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70F2"/>
                </a:solidFill>
              </a:rPr>
              <a:t>O(n)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514600"/>
            <a:ext cx="2220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Busca linear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standard lida sem chave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72536" y="1645920"/>
            <a:ext cx="262272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73704" y="1783080"/>
            <a:ext cx="2220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3E"/>
                </a:solidFill>
              </a:rPr>
              <a:t>O(log n)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573704" y="2514600"/>
            <a:ext cx="2220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Busca binária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sorted pela chave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96432" y="1645920"/>
            <a:ext cx="262272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97600" y="1783080"/>
            <a:ext cx="2220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2D3E"/>
                </a:solidFill>
              </a:rPr>
              <a:t>O(1)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397600" y="2514600"/>
            <a:ext cx="2220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Hash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hashed pela chave completa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020327" y="1645920"/>
            <a:ext cx="262272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221495" y="1783080"/>
            <a:ext cx="2220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3E"/>
                </a:solidFill>
              </a:rPr>
              <a:t>25–40%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9221495" y="2514600"/>
            <a:ext cx="2220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Ganho típico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field symbols em vez de cópias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11094415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3931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508760" y="39776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Três alavancas de desempenho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57200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Escolher o </a:t>
            </a:r>
            <a:r>
              <a:rPr lang="en-US" sz="1200" b="1" dirty="0">
                <a:solidFill>
                  <a:srgbClr val="556B82"/>
                </a:solidFill>
              </a:rPr>
              <a:t>tipo de tabela</a:t>
            </a:r>
            <a:r>
              <a:rPr lang="en-US" sz="1200" dirty="0">
                <a:solidFill>
                  <a:srgbClr val="556B82"/>
                </a:solidFill>
              </a:rPr>
              <a:t> certo para o acesso mais frequente, evitar </a:t>
            </a:r>
            <a:r>
              <a:rPr lang="en-US" sz="1200" b="1" dirty="0">
                <a:solidFill>
                  <a:srgbClr val="556B82"/>
                </a:solidFill>
              </a:rPr>
              <a:t>cópias</a:t>
            </a:r>
            <a:r>
              <a:rPr lang="en-US" sz="1200" dirty="0">
                <a:solidFill>
                  <a:srgbClr val="556B82"/>
                </a:solidFill>
              </a:rPr>
              <a:t> de linhas e criar </a:t>
            </a:r>
            <a:r>
              <a:rPr lang="en-US" sz="1200" b="1" dirty="0">
                <a:solidFill>
                  <a:srgbClr val="556B82"/>
                </a:solidFill>
              </a:rPr>
              <a:t>chaves secundárias</a:t>
            </a:r>
            <a:r>
              <a:rPr lang="en-US" sz="1200" dirty="0">
                <a:solidFill>
                  <a:srgbClr val="556B82"/>
                </a:solidFill>
              </a:rPr>
              <a:t> para buscas por outras colunas. Meça sempre com o ABAP Profiler (aula 02.01).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0" y="3977640"/>
            <a:ext cx="940003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58000" y="3977640"/>
            <a:ext cx="9400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SORTED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35163" y="3977640"/>
            <a:ext cx="940003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935163" y="3977640"/>
            <a:ext cx="9400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HASHED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012326" y="3977640"/>
            <a:ext cx="1181405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012326" y="3977640"/>
            <a:ext cx="118140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ASSIGNING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58000" y="4416552"/>
            <a:ext cx="1583741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0" y="4416552"/>
            <a:ext cx="158374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Secondary keys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78901" y="4416552"/>
            <a:ext cx="1422806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578901" y="4416552"/>
            <a:ext cx="14228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548"/>
                </a:solidFill>
              </a:rPr>
              <a:t>FOR · REDUCE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58000" y="4855464"/>
            <a:ext cx="2227478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858000" y="4855464"/>
            <a:ext cx="22274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548"/>
                </a:solidFill>
              </a:rPr>
              <a:t>SORT · DELETE ADJACENT</a:t>
            </a:r>
            <a:endParaRPr lang="en-US" sz="1000" dirty="0"/>
          </a:p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3602" y="4042562"/>
            <a:ext cx="281635" cy="2816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02.05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Processando o conteúdo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Ordenar, remover duplicatas e construir uma tabela a partir de outra com </a:t>
            </a:r>
            <a:r>
              <a:rPr lang="en-US" sz="1600" b="1" dirty="0">
                <a:solidFill>
                  <a:srgbClr val="D1EFFF"/>
                </a:solidFill>
              </a:rPr>
              <a:t>expressões</a:t>
            </a:r>
            <a:r>
              <a:rPr lang="en-US" sz="1600" dirty="0">
                <a:solidFill>
                  <a:srgbClr val="D1EFFF"/>
                </a:solidFill>
              </a:rPr>
              <a:t>, sem laços manuais.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 … BY</a:t>
            </a:r>
            <a:r>
              <a:rPr lang="en-US" sz="1000" dirty="0">
                <a:solidFill>
                  <a:srgbClr val="D1EFFF"/>
                </a:solidFill>
              </a:rPr>
              <a:t>  ordenar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ADJACENT DUPLICATES</a:t>
            </a:r>
            <a:r>
              <a:rPr lang="en-US" sz="1000" dirty="0">
                <a:solidFill>
                  <a:srgbClr val="D1EFFF"/>
                </a:solidFill>
              </a:rPr>
              <a:t>  duplicatas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#( FOR … )</a:t>
            </a:r>
            <a:r>
              <a:rPr lang="en-US" sz="1000" dirty="0">
                <a:solidFill>
                  <a:srgbClr val="D1EFFF"/>
                </a:solidFill>
              </a:rPr>
              <a:t>  transformar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REDUCE</a:t>
            </a:r>
            <a:r>
              <a:rPr lang="en-US" sz="1000" dirty="0">
                <a:solidFill>
                  <a:srgbClr val="D1EFFF"/>
                </a:solidFill>
              </a:rPr>
              <a:t>  resumir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CONTEÚDO · ORDENAR E CONDENSAR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SORT e DELETE ADJACENT DUPLICATES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3794760"/>
          </a:xfrm>
          <a:prstGeom prst="roundRect">
            <a:avLst>
              <a:gd name="adj" fmla="val 1928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38658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38658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zcl_pc_itab_demo.clas.abap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Exemplo sobre ZTA_PC_ITEM_PED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pela chave primária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DESCENDING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Duplicatas só são removidas se estiverem lado a lado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ADJACENT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DUPLICATES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COMPARING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Sem COMPARING: compara a chave inteira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COMPARING ALL FIELDS: compara a linha toda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lang="en-US" sz="1050" dirty="0">
                <a:solidFill>
                  <a:srgbClr val="556B82"/>
                </a:solidFill>
              </a:rPr>
              <a:t>, ordena pela chave primária; com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lang="en-US" sz="1050" dirty="0">
                <a:solidFill>
                  <a:srgbClr val="556B82"/>
                </a:solidFill>
              </a:rPr>
              <a:t>, por quaisquer colunas.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731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7317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71348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Ordem primeiro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Ordene pelas mesmas colunas que serão comparadas.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5890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589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57073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COMPARING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Define quais colunas tornam duas linhas "iguais".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4462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446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42798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Só standard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Tabelas sorted já estão ordenadas e não aceitam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55040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E1F4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207008" y="555040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Alternativa no banco  </a:t>
            </a:r>
            <a:r>
              <a:rPr lang="en-US" sz="1200" dirty="0">
                <a:solidFill>
                  <a:srgbClr val="1D2D3E"/>
                </a:solidFill>
              </a:rPr>
              <a:t>se os dados vêm de um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200" dirty="0">
                <a:solidFill>
                  <a:srgbClr val="1D2D3E"/>
                </a:solidFill>
              </a:rPr>
              <a:t>,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r>
              <a:rPr lang="en-US" sz="1200" dirty="0">
                <a:solidFill>
                  <a:srgbClr val="1D2D3E"/>
                </a:solidFill>
              </a:rPr>
              <a:t> e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DISTINCT</a:t>
            </a:r>
            <a:r>
              <a:rPr lang="en-US" sz="1200" dirty="0">
                <a:solidFill>
                  <a:srgbClr val="1D2D3E"/>
                </a:solidFill>
              </a:rPr>
              <a:t> resolvem antes de chegar ao ABAP (aula 02.04).</a:t>
            </a:r>
            <a:endParaRPr lang="en-US" sz="14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646420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CONTEÚDO · EXPRESSÕES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Construir e resumir tabelas com FOR e REDUCE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316382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316382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zbp_r_pc_pedido.clas.locals_imp.abap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BO Pedido (CalcularTotalPedido) e exemplo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Uma tabela nova a partir de outra, linha a linha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tt_pedidos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is_draft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is_draft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k-PedidoUUID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Um único valor a partir de todas as linhas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REDUCE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zta_pc_pedido-valor_total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item-valor_total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Copiar por nome continua com CORRESPONDING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copia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tt_itens_snapshot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… FOR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Percorre a origem e monta cada linha do destino; aceita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050" dirty="0">
                <a:solidFill>
                  <a:srgbClr val="556B82"/>
                </a:solidFill>
              </a:rPr>
              <a:t>. O BO Pedido monta assim os pedidos a recalcular.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REDUCE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</a:t>
            </a:r>
            <a:r>
              <a:rPr lang="en-US" sz="1050" dirty="0">
                <a:solidFill>
                  <a:srgbClr val="556B82"/>
                </a:solidFill>
              </a:rPr>
              <a:t> cria o acumulador;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50" dirty="0">
                <a:solidFill>
                  <a:srgbClr val="556B82"/>
                </a:solidFill>
              </a:rPr>
              <a:t> o atualiza a cada linha.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+=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Atribuição com cálculo: forma curta de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= total + …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Sem laço manual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 código diz </a:t>
            </a:r>
            <a:r>
              <a:rPr lang="en-US" sz="1050" b="1" dirty="0">
                <a:solidFill>
                  <a:srgbClr val="556B82"/>
                </a:solidFill>
              </a:rPr>
              <a:t>o que</a:t>
            </a:r>
            <a:r>
              <a:rPr lang="en-US" sz="1050" dirty="0">
                <a:solidFill>
                  <a:srgbClr val="556B82"/>
                </a:solidFill>
              </a:rPr>
              <a:t> construir, não como percorrer.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02.05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Field symbols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Um </a:t>
            </a:r>
            <a:r>
              <a:rPr lang="en-US" sz="1600" b="1" dirty="0">
                <a:solidFill>
                  <a:srgbClr val="D1EFFF"/>
                </a:solidFill>
              </a:rPr>
              <a:t>field symbol</a:t>
            </a:r>
            <a:r>
              <a:rPr lang="en-US" sz="1600" dirty="0">
                <a:solidFill>
                  <a:srgbClr val="D1EFFF"/>
                </a:solidFill>
              </a:rPr>
              <a:t> aponta para a linha da tabela: alterar o field symbol altera a tabela, </a:t>
            </a:r>
            <a:r>
              <a:rPr lang="en-US" sz="1600" b="1" dirty="0">
                <a:solidFill>
                  <a:srgbClr val="D1EFFF"/>
                </a:solidFill>
              </a:rPr>
              <a:t>sem copiar</a:t>
            </a:r>
            <a:r>
              <a:rPr lang="en-US" sz="1600" dirty="0">
                <a:solidFill>
                  <a:srgbClr val="D1EFFF"/>
                </a:solidFill>
              </a:rPr>
              <a:t> dados.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ASSIGNING</a:t>
            </a:r>
            <a:r>
              <a:rPr lang="en-US" sz="1000" dirty="0">
                <a:solidFill>
                  <a:srgbClr val="D1EFFF"/>
                </a:solidFill>
              </a:rPr>
              <a:t>  no LOOP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FIELD-SYMBOL( &lt;fs&gt; )</a:t>
            </a:r>
            <a:r>
              <a:rPr lang="en-US" sz="1000" dirty="0">
                <a:solidFill>
                  <a:srgbClr val="D1EFFF"/>
                </a:solidFill>
              </a:rPr>
              <a:t>  inline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 MODIFY</a:t>
            </a:r>
            <a:r>
              <a:rPr lang="en-US" sz="1000" dirty="0">
                <a:solidFill>
                  <a:srgbClr val="D1EFFF"/>
                </a:solidFill>
              </a:rPr>
              <a:t>  alteração direta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REFERENCE INTO</a:t>
            </a:r>
            <a:r>
              <a:rPr lang="en-US" sz="1000" dirty="0">
                <a:solidFill>
                  <a:srgbClr val="D1EFFF"/>
                </a:solidFill>
              </a:rPr>
              <a:t>  alternativa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FIELD SYMBOLS · CÓPIA OU PONTEIRO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Work area com MODIFY ou field symbol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18842" cy="274320"/>
          </a:xfrm>
          <a:prstGeom prst="roundRect">
            <a:avLst>
              <a:gd name="adj" fmla="val 50000"/>
            </a:avLst>
          </a:prstGeom>
          <a:solidFill>
            <a:srgbClr val="FFF8D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26188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Work area · copia duas vezes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029968"/>
            <a:ext cx="5410048" cy="1563624"/>
          </a:xfrm>
          <a:prstGeom prst="roundRect">
            <a:avLst>
              <a:gd name="adj" fmla="val 4678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128016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084832"/>
            <a:ext cx="128016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1031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antes.abap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487168"/>
            <a:ext cx="3200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487168"/>
            <a:ext cx="4769968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item-valor_total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item-qtde_item_pedido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item-preco_unitario_snap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12464"/>
            <a:ext cx="5410048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 linha é copiada para a work area e, depois do ajuste, copiada de volta com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r>
              <a:rPr lang="en-US" sz="12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33008" y="1645920"/>
            <a:ext cx="229697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33008" y="1645920"/>
            <a:ext cx="22969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Field symbol · sem cópia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33008" y="2029968"/>
            <a:ext cx="5410048" cy="1563624"/>
          </a:xfrm>
          <a:prstGeom prst="roundRect">
            <a:avLst>
              <a:gd name="adj" fmla="val 4678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51296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324448" y="2084832"/>
            <a:ext cx="128016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9" name="Shape 17"/>
          <p:cNvSpPr/>
          <p:nvPr/>
        </p:nvSpPr>
        <p:spPr>
          <a:xfrm>
            <a:off x="6324448" y="2084832"/>
            <a:ext cx="128016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15888" y="21031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depois.abap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70168" y="2487168"/>
            <a:ext cx="3200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735928" y="2487168"/>
            <a:ext cx="4769968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ASSIGNING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FIELD-SYMBOL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qtde_item_pedido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preco_unitario_snap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33008" y="3712464"/>
            <a:ext cx="5410048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&lt;item&gt;</a:t>
            </a:r>
            <a:r>
              <a:rPr lang="en-US" sz="1200" dirty="0">
                <a:solidFill>
                  <a:srgbClr val="556B82"/>
                </a:solidFill>
              </a:rPr>
              <a:t> aponta para a própria linha: a alteração é imediata. Em geral, </a:t>
            </a:r>
            <a:r>
              <a:rPr lang="en-US" sz="1200" b="1" dirty="0">
                <a:solidFill>
                  <a:srgbClr val="556B82"/>
                </a:solidFill>
              </a:rPr>
              <a:t>25 a 40%</a:t>
            </a:r>
            <a:r>
              <a:rPr lang="en-US" sz="1200" dirty="0">
                <a:solidFill>
                  <a:srgbClr val="556B82"/>
                </a:solidFill>
              </a:rPr>
              <a:t> mais rápido em alterações.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02.05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Sorted, hashed e chaves secundárias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A busca pela chave só é rápida em tabelas </a:t>
            </a:r>
            <a:r>
              <a:rPr lang="en-US" sz="1600" b="1" dirty="0">
                <a:solidFill>
                  <a:srgbClr val="D1EFFF"/>
                </a:solidFill>
              </a:rPr>
              <a:t>sorted</a:t>
            </a:r>
            <a:r>
              <a:rPr lang="en-US" sz="1600" dirty="0">
                <a:solidFill>
                  <a:srgbClr val="D1EFFF"/>
                </a:solidFill>
              </a:rPr>
              <a:t> ou </a:t>
            </a:r>
            <a:r>
              <a:rPr lang="en-US" sz="1600" b="1" dirty="0">
                <a:solidFill>
                  <a:srgbClr val="D1EFFF"/>
                </a:solidFill>
              </a:rPr>
              <a:t>hashed</a:t>
            </a:r>
            <a:r>
              <a:rPr lang="en-US" sz="1600" dirty="0">
                <a:solidFill>
                  <a:srgbClr val="D1EFFF"/>
                </a:solidFill>
              </a:rPr>
              <a:t>. Para buscar por outras colunas, crie </a:t>
            </a:r>
            <a:r>
              <a:rPr lang="en-US" sz="1600" b="1" dirty="0">
                <a:solidFill>
                  <a:srgbClr val="D1EFFF"/>
                </a:solidFill>
              </a:rPr>
              <a:t>chaves secundárias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SORTED · HASHED</a:t>
            </a:r>
            <a:r>
              <a:rPr lang="en-US" sz="1000" dirty="0">
                <a:solidFill>
                  <a:srgbClr val="D1EFFF"/>
                </a:solidFill>
              </a:rPr>
              <a:t>  chave primária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… KEY name</a:t>
            </a:r>
            <a:r>
              <a:rPr lang="en-US" sz="1000" dirty="0">
                <a:solidFill>
                  <a:srgbClr val="D1EFFF"/>
                </a:solidFill>
              </a:rPr>
              <a:t>  chave secundária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KEY</a:t>
            </a:r>
            <a:r>
              <a:rPr lang="en-US" sz="1000" dirty="0">
                <a:solidFill>
                  <a:srgbClr val="D1EFFF"/>
                </a:solidFill>
              </a:rPr>
              <a:t>  usar a chave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Lazy update</a:t>
            </a:r>
            <a:r>
              <a:rPr lang="en-US" sz="1000" dirty="0">
                <a:solidFill>
                  <a:srgbClr val="D1EFFF"/>
                </a:solidFill>
              </a:rPr>
              <a:t>  custo de manutenção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CHAVES · CHAVES SECUNDÁRIAS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Uma tabela, várias formas rápidas de buscar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38658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38658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zcl_pc_itab_demo.clas.abap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Exemplo sobre ZTA_PC_ITEM_PED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zta_pc_item_ped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NON-UNIQUE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NON-UNIQUE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por_item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por_id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item_pedido_uuid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Busca pela chave secundária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por_item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… quanto deste item está reservado em pedidos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por_id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item_pedido_uuid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lv_item_pedido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Primária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Define como a tabela é armazenada (aqui, sorted).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Secundárias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Sorted (única ou não) ou hashed (sempre única), com nome próprio.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KEY</a:t>
            </a:r>
            <a:r>
              <a:rPr lang="en-US" sz="1250" b="1" dirty="0">
                <a:solidFill>
                  <a:srgbClr val="1D2D3E"/>
                </a:solidFill>
              </a:rPr>
              <a:t> · </a:t>
            </a: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 chave secundária só é usada quando você a nomeia.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Buscar sem chave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Uma busca por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r>
              <a:rPr lang="en-US" sz="1050" dirty="0">
                <a:solidFill>
                  <a:srgbClr val="556B82"/>
                </a:solidFill>
              </a:rPr>
              <a:t> sem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KEY</a:t>
            </a:r>
            <a:r>
              <a:rPr lang="en-US" sz="1050" dirty="0">
                <a:solidFill>
                  <a:srgbClr val="556B82"/>
                </a:solidFill>
              </a:rPr>
              <a:t> volta a ser linear.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CHAVES · CUSTOS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Quando a chave secundária compensa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202847"/>
            <a:ext cx="5410048" cy="2680907"/>
          </a:xfrm>
          <a:prstGeom prst="roundRect">
            <a:avLst>
              <a:gd name="adj" fmla="val 341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202847"/>
            <a:ext cx="5410048" cy="73152"/>
          </a:xfrm>
          <a:prstGeom prst="rect">
            <a:avLst/>
          </a:prstGeom>
          <a:solidFill>
            <a:srgbClr val="E76500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47716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8D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477167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4F00"/>
                </a:solidFill>
              </a:rPr>
              <a:t>Não única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17247"/>
            <a:ext cx="4952848" cy="1629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Criada só no </a:t>
            </a:r>
            <a:r>
              <a:rPr lang="en-US" sz="1350" b="1" dirty="0">
                <a:solidFill>
                  <a:srgbClr val="1D2D3E"/>
                </a:solidFill>
              </a:rPr>
              <a:t>primeiro</a:t>
            </a:r>
            <a:r>
              <a:rPr lang="en-US" sz="1350" dirty="0">
                <a:solidFill>
                  <a:srgbClr val="1D2D3E"/>
                </a:solidFill>
              </a:rPr>
              <a:t> acesso por ela: essa leitura é mais cara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Após mudanças na tabela, atualizada na próxima leitura (</a:t>
            </a:r>
            <a:r>
              <a:rPr lang="en-US" sz="1350" i="1" dirty="0">
                <a:solidFill>
                  <a:srgbClr val="1D2D3E"/>
                </a:solidFill>
              </a:rPr>
              <a:t>lazy</a:t>
            </a:r>
            <a:r>
              <a:rPr lang="en-US" sz="1350" dirty="0">
                <a:solidFill>
                  <a:srgbClr val="1D2D3E"/>
                </a:solidFill>
              </a:rPr>
              <a:t>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Compensa com muitas leituras e poucas alterações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3008" y="2202847"/>
            <a:ext cx="5410048" cy="2680907"/>
          </a:xfrm>
          <a:prstGeom prst="roundRect">
            <a:avLst>
              <a:gd name="adj" fmla="val 341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3008" y="2202847"/>
            <a:ext cx="5410048" cy="7315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1" name="Shape 9"/>
          <p:cNvSpPr/>
          <p:nvPr/>
        </p:nvSpPr>
        <p:spPr>
          <a:xfrm>
            <a:off x="6461608" y="247716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55968" y="2477167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4D9"/>
                </a:solidFill>
              </a:rPr>
              <a:t>Única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3117247"/>
            <a:ext cx="4952848" cy="1629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Também garante que não haja duplicatas nos componentes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Mantida atualizada </a:t>
            </a:r>
            <a:r>
              <a:rPr lang="en-US" sz="1350" b="1" dirty="0">
                <a:solidFill>
                  <a:srgbClr val="1D2D3E"/>
                </a:solidFill>
              </a:rPr>
              <a:t>a cada</a:t>
            </a:r>
            <a:r>
              <a:rPr lang="en-US" sz="1350" dirty="0">
                <a:solidFill>
                  <a:srgbClr val="1D2D3E"/>
                </a:solidFill>
              </a:rPr>
              <a:t> inclusão ou alteração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Leituras sempre rápidas; escritas um pouco mais caras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5048345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07008" y="5048345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Regra  </a:t>
            </a:r>
            <a:r>
              <a:rPr lang="en-US" sz="1200" dirty="0">
                <a:solidFill>
                  <a:srgbClr val="1D2D3E"/>
                </a:solidFill>
              </a:rPr>
              <a:t>meça antes e depois com o ABAP Profiler: chaves secundárias custam memória e manutenção.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577751"/>
            <a:ext cx="256032" cy="256032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5176361"/>
            <a:ext cx="310896" cy="310896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192" y="2577751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02.05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ADJACENT DUPLICATES … COMPARING</a:t>
            </a:r>
            <a:r>
              <a:rPr lang="en-US" sz="1400" dirty="0">
                <a:solidFill>
                  <a:srgbClr val="FFFFFF"/>
                </a:solidFill>
              </a:rPr>
              <a:t> ordenam e condensam tabelas standard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… FOR</a:t>
            </a:r>
            <a:r>
              <a:rPr lang="en-US" sz="1400" dirty="0">
                <a:solidFill>
                  <a:srgbClr val="FFFFFF"/>
                </a:solidFill>
              </a:rPr>
              <a:t> transforma 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REDUCE</a:t>
            </a:r>
            <a:r>
              <a:rPr lang="en-US" sz="1400" dirty="0">
                <a:solidFill>
                  <a:srgbClr val="FFFFFF"/>
                </a:solidFill>
              </a:rPr>
              <a:t> resume tabelas sem laços manuais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Field symbols</a:t>
            </a:r>
            <a:r>
              <a:rPr lang="en-US" sz="1400" dirty="0">
                <a:solidFill>
                  <a:srgbClr val="FFFFFF"/>
                </a:solidFill>
              </a:rPr>
              <a:t>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ASSIGNING</a:t>
            </a:r>
            <a:r>
              <a:rPr lang="en-US" sz="1400" dirty="0">
                <a:solidFill>
                  <a:srgbClr val="FFFFFF"/>
                </a:solidFill>
              </a:rPr>
              <a:t> alteram linhas sem cópias: 25 a 40% mais rápido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Tabelas </a:t>
            </a:r>
            <a:r>
              <a:rPr lang="en-US" sz="1400" b="1" dirty="0">
                <a:solidFill>
                  <a:srgbClr val="FFFFFF"/>
                </a:solidFill>
              </a:rPr>
              <a:t>sorted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b="1" dirty="0">
                <a:solidFill>
                  <a:srgbClr val="FFFFFF"/>
                </a:solidFill>
              </a:rPr>
              <a:t>hashed</a:t>
            </a:r>
            <a:r>
              <a:rPr lang="en-US" sz="1400" dirty="0">
                <a:solidFill>
                  <a:srgbClr val="FFFFFF"/>
                </a:solidFill>
              </a:rPr>
              <a:t> aceleram buscas pela chave primária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Chaves secundárias</a:t>
            </a:r>
            <a:r>
              <a:rPr lang="en-US" sz="1400" dirty="0">
                <a:solidFill>
                  <a:srgbClr val="FFFFFF"/>
                </a:solidFill>
              </a:rPr>
              <a:t> aceleram buscas por outras colunas, usadas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KEY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Chaves não únicas são atualizadas sob demanda; únicas, a cada mudança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02.06  </a:t>
            </a:r>
            <a:r>
              <a:rPr lang="en-US" sz="1500" dirty="0">
                <a:solidFill>
                  <a:srgbClr val="FFFFFF"/>
                </a:solidFill>
              </a:rPr>
              <a:t>Autorizações: Conceito, CDS DCL e AUTHORITY-CHECK.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02.05 Melhorando a performance de tabelas internas</dc:title>
  <dc:subject>ABAP Moderno – Módulo 02: Programação ABAP Intermediária</dc:subject>
  <dc:creator>Adriano Bispo</dc:creator>
  <cp:lastModifiedBy>Adriano Bispo</cp:lastModifiedBy>
  <cp:revision>1</cp:revision>
  <dcterms:created xsi:type="dcterms:W3CDTF">2026-10-29T13:30:36Z</dcterms:created>
  <dcterms:modified xsi:type="dcterms:W3CDTF">2026-10-29T13:30:36Z</dcterms:modified>
</cp:coreProperties>
</file>