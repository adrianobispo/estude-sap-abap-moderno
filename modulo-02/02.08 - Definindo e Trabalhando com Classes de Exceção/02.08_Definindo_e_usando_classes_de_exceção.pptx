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7"/>
                </a:solidFill>
              </a:rPr>
              <a:t>ABAP Moderno · Módulo 02 — Programação ABAP Intermediária  ·  Aula 8 de 9 — Classes de exceção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rgbClr val="0064D9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ABAP Moderno · Módulo 02 — Programação ABAP Intermediária  ·  Aula 8 de 9 — Classes de exceção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MÓDULO 02 · AULA 08 DE 09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Definindo e usando classes de exceção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1EFFF"/>
                </a:solidFill>
              </a:rPr>
              <a:t>A hierarquia de exceções, CATCH em ordem, propagação com RAISING e classes de exceção próprias com mensagens T100.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83880" y="1325880"/>
            <a:ext cx="3246120" cy="3246120"/>
          </a:xfrm>
          <a:prstGeom prst="roundRect">
            <a:avLst>
              <a:gd name="adj" fmla="val 15493"/>
            </a:avLst>
          </a:prstGeom>
          <a:solidFill>
            <a:srgbClr val="1B3A7A"/>
          </a:solidFill>
          <a:ln/>
        </p:spPr>
      </p:sp>
      <p:sp>
        <p:nvSpPr>
          <p:cNvPr id="6" name="Shape 4"/>
          <p:cNvSpPr/>
          <p:nvPr/>
        </p:nvSpPr>
        <p:spPr>
          <a:xfrm>
            <a:off x="8732520" y="1874520"/>
            <a:ext cx="2148840" cy="2148840"/>
          </a:xfrm>
          <a:prstGeom prst="roundRect">
            <a:avLst>
              <a:gd name="adj" fmla="val 17021"/>
            </a:avLst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8" name="Shape 6"/>
          <p:cNvSpPr/>
          <p:nvPr/>
        </p:nvSpPr>
        <p:spPr>
          <a:xfrm>
            <a:off x="855472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9" name="Shape 7"/>
          <p:cNvSpPr/>
          <p:nvPr/>
        </p:nvSpPr>
        <p:spPr>
          <a:xfrm>
            <a:off x="892556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0" name="Shape 8"/>
          <p:cNvSpPr/>
          <p:nvPr/>
        </p:nvSpPr>
        <p:spPr>
          <a:xfrm>
            <a:off x="929640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1" name="Shape 9"/>
          <p:cNvSpPr/>
          <p:nvPr/>
        </p:nvSpPr>
        <p:spPr>
          <a:xfrm>
            <a:off x="966724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2" name="Shape 10"/>
          <p:cNvSpPr/>
          <p:nvPr/>
        </p:nvSpPr>
        <p:spPr>
          <a:xfrm>
            <a:off x="1003808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3" name="Shape 11"/>
          <p:cNvSpPr/>
          <p:nvPr/>
        </p:nvSpPr>
        <p:spPr>
          <a:xfrm>
            <a:off x="1040892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4" name="Shape 12"/>
          <p:cNvSpPr/>
          <p:nvPr/>
        </p:nvSpPr>
        <p:spPr>
          <a:xfrm>
            <a:off x="1077976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89D1FF"/>
          </a:solidFill>
          <a:ln/>
        </p:spPr>
      </p:sp>
      <p:sp>
        <p:nvSpPr>
          <p:cNvPr id="15" name="Shape 13"/>
          <p:cNvSpPr/>
          <p:nvPr/>
        </p:nvSpPr>
        <p:spPr>
          <a:xfrm>
            <a:off x="11150600" y="4937760"/>
            <a:ext cx="279400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183880" y="5120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Aula 8 de 9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989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7"/>
                </a:solidFill>
              </a:rPr>
              <a:t>ABAP Moderno · Módulo 02 — Programação ABAP Intermediária · Design System SAP Horizon</a:t>
            </a:r>
            <a:endParaRPr lang="en-US" sz="11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46888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 SÉRIE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Módulo 02 em 9 aulas: ABAP intermediário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Analisar e testar código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8892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ATC, ABAP Unit, Profiling e SQL Trace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04099" y="164592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68691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968691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2</a:t>
            </a:r>
            <a:endParaRPr lang="en-US" sz="1260" dirty="0"/>
          </a:p>
        </p:txBody>
      </p:sp>
      <p:sp>
        <p:nvSpPr>
          <p:cNvPr id="12" name="Text 10"/>
          <p:cNvSpPr txBox="1"/>
          <p:nvPr/>
        </p:nvSpPr>
        <p:spPr>
          <a:xfrm>
            <a:off x="2968691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Tipos e conversões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968691" y="278892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Tipos técnicos, conversões e datas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59558" y="164592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24150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22415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3</a:t>
            </a:r>
            <a:endParaRPr lang="en-US" sz="1260" dirty="0"/>
          </a:p>
        </p:txBody>
      </p:sp>
      <p:sp>
        <p:nvSpPr>
          <p:cNvPr id="17" name="Text 15"/>
          <p:cNvSpPr txBox="1"/>
          <p:nvPr/>
        </p:nvSpPr>
        <p:spPr>
          <a:xfrm>
            <a:off x="5224150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Campos de caracteres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224150" y="278892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Funções, regex e textos traduzíveis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15017" y="164592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79609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79609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4</a:t>
            </a:r>
            <a:endParaRPr lang="en-US" sz="1260" dirty="0"/>
          </a:p>
        </p:txBody>
      </p:sp>
      <p:sp>
        <p:nvSpPr>
          <p:cNvPr id="22" name="Text 20"/>
          <p:cNvSpPr txBox="1"/>
          <p:nvPr/>
        </p:nvSpPr>
        <p:spPr>
          <a:xfrm>
            <a:off x="7479609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Code pushdown no SQL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479609" y="278892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Expressões, joins, agregações e UNION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570476" y="164592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735068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735068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5</a:t>
            </a:r>
            <a:endParaRPr lang="en-US" sz="1260" dirty="0"/>
          </a:p>
        </p:txBody>
      </p:sp>
      <p:sp>
        <p:nvSpPr>
          <p:cNvPr id="27" name="Text 25"/>
          <p:cNvSpPr txBox="1"/>
          <p:nvPr/>
        </p:nvSpPr>
        <p:spPr>
          <a:xfrm>
            <a:off x="9735068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Performance de tabelas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9735068" y="278892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Chaves, field symbols e chaves secundárias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365760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13232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13232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6</a:t>
            </a:r>
            <a:endParaRPr lang="en-US" sz="1260" dirty="0"/>
          </a:p>
        </p:txBody>
      </p:sp>
      <p:sp>
        <p:nvSpPr>
          <p:cNvPr id="32" name="Text 30"/>
          <p:cNvSpPr txBox="1"/>
          <p:nvPr/>
        </p:nvSpPr>
        <p:spPr>
          <a:xfrm>
            <a:off x="713232" y="434340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Autorizações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713232" y="480060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Conceito, CDS DCL e AUTHORITY-CHECK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804099" y="365760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968691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2968691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7</a:t>
            </a:r>
            <a:endParaRPr lang="en-US" sz="1260" dirty="0"/>
          </a:p>
        </p:txBody>
      </p:sp>
      <p:sp>
        <p:nvSpPr>
          <p:cNvPr id="37" name="Text 35"/>
          <p:cNvSpPr txBox="1"/>
          <p:nvPr/>
        </p:nvSpPr>
        <p:spPr>
          <a:xfrm>
            <a:off x="2968691" y="434340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OO eficaz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2968691" y="480060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Herança, interfaces e factory methods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059558" y="365760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224150" y="3840480"/>
            <a:ext cx="384048" cy="384048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22415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8</a:t>
            </a:r>
            <a:endParaRPr lang="en-US" sz="1260" dirty="0"/>
          </a:p>
        </p:txBody>
      </p:sp>
      <p:sp>
        <p:nvSpPr>
          <p:cNvPr id="42" name="Text 40"/>
          <p:cNvSpPr txBox="1"/>
          <p:nvPr/>
        </p:nvSpPr>
        <p:spPr>
          <a:xfrm>
            <a:off x="5224150" y="434340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Classes de exceção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5224150" y="480060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Categorias, T100 e tratamento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699638" y="3904488"/>
            <a:ext cx="792419" cy="256032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5699638" y="3904488"/>
            <a:ext cx="7924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4D9"/>
                </a:solidFill>
              </a:rPr>
              <a:t>Você está aqui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315017" y="3657600"/>
            <a:ext cx="2072579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479609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7479609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9</a:t>
            </a:r>
            <a:endParaRPr lang="en-US" sz="1260" dirty="0"/>
          </a:p>
        </p:txBody>
      </p:sp>
      <p:sp>
        <p:nvSpPr>
          <p:cNvPr id="49" name="Text 47"/>
          <p:cNvSpPr txBox="1"/>
          <p:nvPr/>
        </p:nvSpPr>
        <p:spPr>
          <a:xfrm>
            <a:off x="7479609" y="434340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ABAP Doc</a:t>
            </a:r>
            <a:endParaRPr lang="en-US" sz="1350" dirty="0"/>
          </a:p>
        </p:txBody>
      </p:sp>
      <p:sp>
        <p:nvSpPr>
          <p:cNvPr id="50" name="Text 48"/>
          <p:cNvSpPr txBox="1"/>
          <p:nvPr/>
        </p:nvSpPr>
        <p:spPr>
          <a:xfrm>
            <a:off x="7479609" y="4800600"/>
            <a:ext cx="17433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Documentação no código e no ADT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1207008" y="562356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Nesta aula  </a:t>
            </a:r>
            <a:r>
              <a:rPr lang="en-US" sz="1200" dirty="0">
                <a:solidFill>
                  <a:srgbClr val="1D2D3E"/>
                </a:solidFill>
              </a:rPr>
              <a:t>trocamos exceções técnicas por uma exceção da aplicação que diz exatamente o que aconteceu, como a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ZCX_PC_MSG</a:t>
            </a:r>
            <a:r>
              <a:rPr lang="en-US" sz="1200" dirty="0">
                <a:solidFill>
                  <a:srgbClr val="1D2D3E"/>
                </a:solidFill>
              </a:rPr>
              <a:t> do projeto: estoque insuficiente, cliente inativo, CPF inválido.</a:t>
            </a:r>
            <a:endParaRPr lang="en-US" sz="1400" dirty="0"/>
          </a:p>
        </p:txBody>
      </p:sp>
      <p:pic>
        <p:nvPicPr>
          <p:cNvPr id="5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497" y="1847088"/>
            <a:ext cx="347472" cy="347472"/>
          </a:xfrm>
          <a:prstGeom prst="rect">
            <a:avLst/>
          </a:prstGeom>
        </p:spPr>
      </p:pic>
      <p:pic>
        <p:nvPicPr>
          <p:cNvPr id="5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579" y="1847088"/>
            <a:ext cx="347472" cy="347472"/>
          </a:xfrm>
          <a:prstGeom prst="rect">
            <a:avLst/>
          </a:prstGeom>
        </p:spPr>
      </p:pic>
      <p:pic>
        <p:nvPicPr>
          <p:cNvPr id="5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8038" y="1847088"/>
            <a:ext cx="347472" cy="347472"/>
          </a:xfrm>
          <a:prstGeom prst="rect">
            <a:avLst/>
          </a:prstGeom>
        </p:spPr>
      </p:pic>
      <p:pic>
        <p:nvPicPr>
          <p:cNvPr id="5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8956" y="1847088"/>
            <a:ext cx="347472" cy="347472"/>
          </a:xfrm>
          <a:prstGeom prst="rect">
            <a:avLst/>
          </a:prstGeom>
        </p:spPr>
      </p:pic>
      <p:pic>
        <p:nvPicPr>
          <p:cNvPr id="5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2579" y="3858768"/>
            <a:ext cx="347472" cy="347472"/>
          </a:xfrm>
          <a:prstGeom prst="rect">
            <a:avLst/>
          </a:prstGeom>
        </p:spPr>
      </p:pic>
      <p:pic>
        <p:nvPicPr>
          <p:cNvPr id="5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94415" y="1847088"/>
            <a:ext cx="347472" cy="347472"/>
          </a:xfrm>
          <a:prstGeom prst="rect">
            <a:avLst/>
          </a:prstGeom>
        </p:spPr>
      </p:pic>
      <p:pic>
        <p:nvPicPr>
          <p:cNvPr id="5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497" y="3858768"/>
            <a:ext cx="347472" cy="347472"/>
          </a:xfrm>
          <a:prstGeom prst="rect">
            <a:avLst/>
          </a:prstGeom>
        </p:spPr>
      </p:pic>
      <p:pic>
        <p:nvPicPr>
          <p:cNvPr id="6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28038" y="3858768"/>
            <a:ext cx="347472" cy="347472"/>
          </a:xfrm>
          <a:prstGeom prst="rect">
            <a:avLst/>
          </a:prstGeom>
        </p:spPr>
      </p:pic>
      <p:pic>
        <p:nvPicPr>
          <p:cNvPr id="6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808" y="5751576"/>
            <a:ext cx="310896" cy="310896"/>
          </a:xfrm>
          <a:prstGeom prst="rect">
            <a:avLst/>
          </a:prstGeom>
        </p:spPr>
      </p:pic>
      <p:pic>
        <p:nvPicPr>
          <p:cNvPr id="6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38956" y="3858768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GERAL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As três categorias de exceção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Toda exceção é um objeto de uma classe que herda de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CX_ROOT</a:t>
            </a:r>
            <a:r>
              <a:rPr lang="en-US" sz="1500" dirty="0">
                <a:solidFill>
                  <a:srgbClr val="556B82"/>
                </a:solidFill>
              </a:rPr>
              <a:t>. A superclasse direta define </a:t>
            </a:r>
            <a:r>
              <a:rPr lang="en-US" sz="1500" b="1" dirty="0">
                <a:solidFill>
                  <a:srgbClr val="556B82"/>
                </a:solidFill>
              </a:rPr>
              <a:t>quem é obrigado a tratar</a:t>
            </a:r>
            <a:r>
              <a:rPr lang="en-US" sz="150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116199"/>
            <a:ext cx="3545738" cy="2134362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3317367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7" name="Shape 5"/>
          <p:cNvSpPr/>
          <p:nvPr/>
        </p:nvSpPr>
        <p:spPr>
          <a:xfrm>
            <a:off x="2964180" y="3390519"/>
            <a:ext cx="929030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964180" y="3390519"/>
            <a:ext cx="9290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checada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3920871"/>
            <a:ext cx="3143402" cy="1219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CX_STATIC_CHECK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O compilador exige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r>
              <a:rPr lang="en-US" sz="1300" dirty="0">
                <a:solidFill>
                  <a:srgbClr val="556B82"/>
                </a:solidFill>
              </a:rPr>
              <a:t> ou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RAISING</a:t>
            </a:r>
            <a:r>
              <a:rPr lang="en-US" sz="1300" dirty="0">
                <a:solidFill>
                  <a:srgbClr val="556B82"/>
                </a:solidFill>
              </a:rPr>
              <a:t>. Para erros de negócio previsíveis, como "conexão não existe".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22978" y="3116199"/>
            <a:ext cx="3545738" cy="2134362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24146" y="3317367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12" name="Shape 10"/>
          <p:cNvSpPr/>
          <p:nvPr/>
        </p:nvSpPr>
        <p:spPr>
          <a:xfrm>
            <a:off x="6416650" y="3390519"/>
            <a:ext cx="1250899" cy="274320"/>
          </a:xfrm>
          <a:prstGeom prst="roundRect">
            <a:avLst>
              <a:gd name="adj" fmla="val 50000"/>
            </a:avLst>
          </a:prstGeom>
          <a:solidFill>
            <a:srgbClr val="FFF8D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16650" y="3390519"/>
            <a:ext cx="1250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4F00"/>
                </a:solidFill>
              </a:rPr>
              <a:t>em execução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524146" y="3920871"/>
            <a:ext cx="3143402" cy="1219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CX_DYNAMIC_CHECK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Checada só em tempo de execução. Para erros que pré-condições evitam, como divisão por zero.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97317" y="3116199"/>
            <a:ext cx="3545738" cy="2134362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98485" y="3317367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sp>
        <p:nvSpPr>
          <p:cNvPr id="17" name="Shape 15"/>
          <p:cNvSpPr/>
          <p:nvPr/>
        </p:nvSpPr>
        <p:spPr>
          <a:xfrm>
            <a:off x="10190988" y="3390519"/>
            <a:ext cx="1250899" cy="274320"/>
          </a:xfrm>
          <a:prstGeom prst="roundRect">
            <a:avLst>
              <a:gd name="adj" fmla="val 50000"/>
            </a:avLst>
          </a:prstGeom>
          <a:solidFill>
            <a:srgbClr val="FFEAF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190988" y="3390519"/>
            <a:ext cx="12508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A0808"/>
                </a:solidFill>
              </a:rPr>
              <a:t>não checada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298485" y="3920871"/>
            <a:ext cx="3143402" cy="1219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CX_NO_CHECK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Pode ocorrer em qualquer lugar e raramente tem tratamento local útil, como falta de memória.</a:t>
            </a:r>
            <a:endParaRPr lang="en-US" sz="14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9069" y="3417951"/>
            <a:ext cx="256032" cy="256032"/>
          </a:xfrm>
          <a:prstGeom prst="rect">
            <a:avLst/>
          </a:prstGeom>
        </p:spPr>
      </p:pic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4730" y="3417951"/>
            <a:ext cx="256032" cy="256032"/>
          </a:xfrm>
          <a:prstGeom prst="rect">
            <a:avLst/>
          </a:prstGeom>
        </p:spPr>
      </p:pic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3417951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02.08 · SEÇÃO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Tratando exceções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Um </a:t>
            </a:r>
            <a:r>
              <a:rPr lang="en-US" sz="16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r>
              <a:rPr lang="en-US" sz="1600" dirty="0">
                <a:solidFill>
                  <a:srgbClr val="D1EFFF"/>
                </a:solidFill>
              </a:rPr>
              <a:t> pode ter vários </a:t>
            </a:r>
            <a:r>
              <a:rPr lang="en-US" sz="16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r>
              <a:rPr lang="en-US" sz="1600" dirty="0">
                <a:solidFill>
                  <a:srgbClr val="D1EFFF"/>
                </a:solidFill>
              </a:rPr>
              <a:t>. Uma classe no </a:t>
            </a:r>
            <a:r>
              <a:rPr lang="en-US" sz="16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r>
              <a:rPr lang="en-US" sz="1600" dirty="0">
                <a:solidFill>
                  <a:srgbClr val="D1EFFF"/>
                </a:solidFill>
              </a:rPr>
              <a:t> também captura </a:t>
            </a:r>
            <a:r>
              <a:rPr lang="en-US" sz="1600" b="1" dirty="0">
                <a:solidFill>
                  <a:srgbClr val="D1EFFF"/>
                </a:solidFill>
              </a:rPr>
              <a:t>todas as suas subclasses</a:t>
            </a:r>
            <a:r>
              <a:rPr lang="en-US" sz="1600" dirty="0">
                <a:solidFill>
                  <a:srgbClr val="D1EFFF"/>
                </a:solidFill>
              </a:rPr>
              <a:t>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 a b</a:t>
            </a:r>
            <a:r>
              <a:rPr lang="en-US" sz="1000" dirty="0">
                <a:solidFill>
                  <a:srgbClr val="D1EFFF"/>
                </a:solidFill>
              </a:rPr>
              <a:t>  várias classes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 cx_root</a:t>
            </a:r>
            <a:r>
              <a:rPr lang="en-US" sz="1000" dirty="0">
                <a:solidFill>
                  <a:srgbClr val="D1EFFF"/>
                </a:solidFill>
              </a:rPr>
              <a:t>  qualquer exceção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 DATA( )</a:t>
            </a:r>
            <a:r>
              <a:rPr lang="en-US" sz="1000" dirty="0">
                <a:solidFill>
                  <a:srgbClr val="D1EFFF"/>
                </a:solidFill>
              </a:rPr>
              <a:t>  objeto da exceção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get_text( )</a:t>
            </a:r>
            <a:r>
              <a:rPr lang="en-US" sz="1000" dirty="0">
                <a:solidFill>
                  <a:srgbClr val="D1EFFF"/>
                </a:solidFill>
              </a:rPr>
              <a:t>  texto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TRATAMENTO · NA PRÁTICA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Do mais específico para o mais genérico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308860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308860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21259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zcl_08_handling.clas.abap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ZS4D401_## › ZCL_08_HANDLING › main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lv_b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cx_sy_zerodivide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|Divisão por zero: { zero-&gt;get_text( ) }|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cx_sy_arithmetic_error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arith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overflow e outras subclasses chegam aqui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arith-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get_text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cx_root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último recurso: qualquer exceção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get_text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ENDTRY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Ordem obrigatória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Subclasses antes de superclasses; o contrário é erro de sintaxe.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Hierarquia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cx_sy_arithmetic_error</a:t>
            </a:r>
            <a:r>
              <a:rPr lang="en-US" sz="1050" dirty="0">
                <a:solidFill>
                  <a:srgbClr val="556B82"/>
                </a:solidFill>
              </a:rPr>
              <a:t> captura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cx_sy_zerodivide</a:t>
            </a:r>
            <a:r>
              <a:rPr lang="en-US" sz="1050" dirty="0">
                <a:solidFill>
                  <a:srgbClr val="556B82"/>
                </a:solidFill>
              </a:rPr>
              <a:t> e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cx_sy_arithmetic_overflow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 DATA( )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Guarda o objeto da exceção com o tipo certo.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get_text( )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Devolve o texto; a classe também traz atributos com detalhes.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TRATAMENTO · PROPAGAÇÃO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Tratar aqui ou deixar subir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60004" y="3031236"/>
            <a:ext cx="8471687" cy="0"/>
          </a:xfrm>
          <a:prstGeom prst="line">
            <a:avLst/>
          </a:prstGeom>
          <a:noFill/>
          <a:ln w="25400">
            <a:solidFill>
              <a:srgbClr val="0070F2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512532" y="2683764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12532" y="2683764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1</a:t>
            </a:r>
            <a:endParaRPr lang="en-US" sz="2280" dirty="0"/>
          </a:p>
        </p:txBody>
      </p:sp>
      <p:sp>
        <p:nvSpPr>
          <p:cNvPr id="7" name="Shape 5"/>
          <p:cNvSpPr/>
          <p:nvPr/>
        </p:nvSpPr>
        <p:spPr>
          <a:xfrm>
            <a:off x="548640" y="3552444"/>
            <a:ext cx="2622728" cy="1581912"/>
          </a:xfrm>
          <a:prstGeom prst="roundRect">
            <a:avLst>
              <a:gd name="adj" fmla="val 578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3735324"/>
            <a:ext cx="184548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RAISING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O método declara a exceção e a repassa a quem chamou, sem </a:t>
            </a:r>
            <a:r>
              <a:rPr lang="en-US" sz="11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r>
              <a:rPr lang="en-US" sz="11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36428" y="2683764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36428" y="2683764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2</a:t>
            </a:r>
            <a:endParaRPr lang="en-US" sz="2280" dirty="0"/>
          </a:p>
        </p:txBody>
      </p:sp>
      <p:sp>
        <p:nvSpPr>
          <p:cNvPr id="11" name="Shape 9"/>
          <p:cNvSpPr/>
          <p:nvPr/>
        </p:nvSpPr>
        <p:spPr>
          <a:xfrm>
            <a:off x="3372536" y="3552444"/>
            <a:ext cx="2622728" cy="1581912"/>
          </a:xfrm>
          <a:prstGeom prst="roundRect">
            <a:avLst>
              <a:gd name="adj" fmla="val 578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555416" y="3735324"/>
            <a:ext cx="184548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Cadeia de chamadas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A exceção sobe até encontrar um </a:t>
            </a:r>
            <a:r>
              <a:rPr lang="en-US" sz="11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r>
              <a:rPr lang="en-US" sz="1150" dirty="0">
                <a:solidFill>
                  <a:srgbClr val="556B82"/>
                </a:solidFill>
              </a:rPr>
              <a:t>; sem nenhum, vira runtime error.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60324" y="2683764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60324" y="2683764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3</a:t>
            </a:r>
            <a:endParaRPr lang="en-US" sz="2280" dirty="0"/>
          </a:p>
        </p:txBody>
      </p:sp>
      <p:sp>
        <p:nvSpPr>
          <p:cNvPr id="15" name="Shape 13"/>
          <p:cNvSpPr/>
          <p:nvPr/>
        </p:nvSpPr>
        <p:spPr>
          <a:xfrm>
            <a:off x="6196432" y="3552444"/>
            <a:ext cx="2622728" cy="1581912"/>
          </a:xfrm>
          <a:prstGeom prst="roundRect">
            <a:avLst>
              <a:gd name="adj" fmla="val 578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379312" y="3735324"/>
            <a:ext cx="184548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previous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Ao trocar uma exceção técnica por uma de negócio, passe a original em </a:t>
            </a:r>
            <a:r>
              <a:rPr lang="en-US" sz="11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previous</a:t>
            </a:r>
            <a:r>
              <a:rPr lang="en-US" sz="11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984219" y="2683764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984219" y="2683764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4</a:t>
            </a:r>
            <a:endParaRPr lang="en-US" sz="2280" dirty="0"/>
          </a:p>
        </p:txBody>
      </p:sp>
      <p:sp>
        <p:nvSpPr>
          <p:cNvPr id="19" name="Shape 17"/>
          <p:cNvSpPr/>
          <p:nvPr/>
        </p:nvSpPr>
        <p:spPr>
          <a:xfrm>
            <a:off x="9020327" y="3552444"/>
            <a:ext cx="2622728" cy="1581912"/>
          </a:xfrm>
          <a:prstGeom prst="roundRect">
            <a:avLst>
              <a:gd name="adj" fmla="val 578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203207" y="3735324"/>
            <a:ext cx="184548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CLEANUP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Bloco opcional do </a:t>
            </a:r>
            <a:r>
              <a:rPr lang="en-US" sz="11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r>
              <a:rPr lang="en-US" sz="1150" dirty="0">
                <a:solidFill>
                  <a:srgbClr val="556B82"/>
                </a:solidFill>
              </a:rPr>
              <a:t> que libera recursos quando a exceção sai do método.</a:t>
            </a:r>
            <a:endParaRPr lang="en-US" sz="14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2728" y="3707892"/>
            <a:ext cx="329184" cy="329184"/>
          </a:xfrm>
          <a:prstGeom prst="rect">
            <a:avLst/>
          </a:prstGeom>
        </p:spPr>
      </p:pic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6624" y="3707892"/>
            <a:ext cx="329184" cy="329184"/>
          </a:xfrm>
          <a:prstGeom prst="rect">
            <a:avLst/>
          </a:prstGeom>
        </p:spPr>
      </p:pic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415" y="3707892"/>
            <a:ext cx="329184" cy="329184"/>
          </a:xfrm>
          <a:prstGeom prst="rect">
            <a:avLst/>
          </a:prstGeom>
        </p:spPr>
      </p:pic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0519" y="3707892"/>
            <a:ext cx="329184" cy="32918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02.08 · SEÇÃO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Exceções da aplicação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Exceções </a:t>
            </a:r>
            <a:r>
              <a:rPr lang="en-US" sz="16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CX_SY_*</a:t>
            </a:r>
            <a:r>
              <a:rPr lang="en-US" sz="1600" dirty="0">
                <a:solidFill>
                  <a:srgbClr val="D1EFFF"/>
                </a:solidFill>
              </a:rPr>
              <a:t> são técnicas. Uma </a:t>
            </a:r>
            <a:r>
              <a:rPr lang="en-US" sz="1600" b="1" dirty="0">
                <a:solidFill>
                  <a:srgbClr val="D1EFFF"/>
                </a:solidFill>
              </a:rPr>
              <a:t>classe de exceção própria</a:t>
            </a:r>
            <a:r>
              <a:rPr lang="en-US" sz="1600" dirty="0">
                <a:solidFill>
                  <a:srgbClr val="D1EFFF"/>
                </a:solidFill>
              </a:rPr>
              <a:t> descreve o erro de negócio e traz os dados para a mensagem.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INHERITING FROM cx_static_check</a:t>
            </a:r>
            <a:r>
              <a:rPr lang="en-US" sz="1000" dirty="0">
                <a:solidFill>
                  <a:srgbClr val="D1EFFF"/>
                </a:solidFill>
              </a:rPr>
              <a:t>  classe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 class</a:t>
            </a:r>
            <a:r>
              <a:rPr lang="en-US" sz="1000" dirty="0">
                <a:solidFill>
                  <a:srgbClr val="D1EFFF"/>
                </a:solidFill>
              </a:rPr>
              <a:t>  textos T100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if_t100_message</a:t>
            </a:r>
            <a:r>
              <a:rPr lang="en-US" sz="1000" dirty="0">
                <a:solidFill>
                  <a:srgbClr val="D1EFFF"/>
                </a:solidFill>
              </a:rPr>
              <a:t>  liga ao texto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Atributos</a:t>
            </a:r>
            <a:r>
              <a:rPr lang="en-US" sz="1000" dirty="0">
                <a:solidFill>
                  <a:srgbClr val="D1EFFF"/>
                </a:solidFill>
              </a:rPr>
              <a:t>  placeholders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CLASSES PRÓPRIAS · DEFINIÇÃO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Uma exceção com mensagem T100 e atributos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1920240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1920240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zcx_pc_msg.clas.abap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ZAVBS_PC_COMMON › ZIF_PC_MSG e ZCX_PC_MSG (simplificadas)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8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ZIF_PC_MSG: o text ID da mensagem 011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CONSTANTS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item_estoque_insuficiente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msgid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symsgid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'ZPC_MSG'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msgno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symsgno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'011'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attr1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scx_attrname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'ZIF_PC_MSG~MV_ATTR1'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attr2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scx_attrname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'ZIF_PC_MSG~MV_ATTR2'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attr3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scx_attrname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attr4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scx_attrname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item_estoque_insuficiente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zcx_pc_msg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INHERITING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cx_static_check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INTERFACES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if_t100_message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if_t100_dyn_msg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r>
              <a:rPr lang="en-US" sz="8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if_abap_behv_message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zif_pc_msg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METHODS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constructor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IMPORTING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textid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if_t100_message=&gt;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t100key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OPTIONAL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previous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LIKE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previous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OPTIONAL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severity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if_abap_behv_message=&gt;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t_severity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if_abap_behv_message=&gt;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severity-error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attr1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csequence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OPTIONAL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attr2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csequence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OPTIONAL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ENDCLASS</a:t>
            </a:r>
            <a:r>
              <a:rPr lang="en-US" sz="8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Superclasse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cx_static_check</a:t>
            </a:r>
            <a:r>
              <a:rPr lang="en-US" sz="1050" dirty="0">
                <a:solidFill>
                  <a:srgbClr val="556B82"/>
                </a:solidFill>
              </a:rPr>
              <a:t>: quem chamar terá de tratar ou propagar.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Text ID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ZIF_PC_MSG</a:t>
            </a:r>
            <a:r>
              <a:rPr lang="en-US" sz="1050" dirty="0">
                <a:solidFill>
                  <a:srgbClr val="556B82"/>
                </a:solidFill>
              </a:rPr>
              <a:t> guarda uma constante por mensagem da message class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ZPC_MSG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attr1</a:t>
            </a:r>
            <a:r>
              <a:rPr lang="en-US" sz="1250" b="1" dirty="0">
                <a:solidFill>
                  <a:srgbClr val="1D2D3E"/>
                </a:solidFill>
              </a:rPr>
              <a:t> · </a:t>
            </a: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attr2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Os atributos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MV_ATTR1</a:t>
            </a:r>
            <a:r>
              <a:rPr lang="en-US" sz="1050" dirty="0">
                <a:solidFill>
                  <a:srgbClr val="556B82"/>
                </a:solidFill>
              </a:rPr>
              <a:t> e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MV_ATTR2</a:t>
            </a:r>
            <a:r>
              <a:rPr lang="en-US" sz="1050" dirty="0">
                <a:solidFill>
                  <a:srgbClr val="556B82"/>
                </a:solidFill>
              </a:rPr>
              <a:t> substituem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&amp;1</a:t>
            </a:r>
            <a:r>
              <a:rPr lang="en-US" sz="1050" dirty="0">
                <a:solidFill>
                  <a:srgbClr val="556B82"/>
                </a:solidFill>
              </a:rPr>
              <a:t> (SKU) e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&amp;2</a:t>
            </a:r>
            <a:r>
              <a:rPr lang="en-US" sz="1050" dirty="0">
                <a:solidFill>
                  <a:srgbClr val="556B82"/>
                </a:solidFill>
              </a:rPr>
              <a:t> (saldo).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if_abap_behv_message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 mesma exceção vira mensagem do RAP em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reported-%msg</a:t>
            </a:r>
            <a:r>
              <a:rPr lang="en-US" sz="1050" dirty="0">
                <a:solidFill>
                  <a:srgbClr val="556B82"/>
                </a:solidFill>
              </a:rPr>
              <a:t>, com severidade.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CLASSES PRÓPRIAS · LEVANTAR E TRATAR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RAISE EXCEPTION com dados e CATCH com texto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009498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100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Levantar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029968"/>
            <a:ext cx="5410048" cy="2221992"/>
          </a:xfrm>
          <a:prstGeom prst="roundRect">
            <a:avLst>
              <a:gd name="adj" fmla="val 3292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2048256"/>
            <a:ext cx="5373472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084832"/>
            <a:ext cx="1609344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084832"/>
            <a:ext cx="1609344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10312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lcl_estoque.abap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87168"/>
            <a:ext cx="32004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487168"/>
            <a:ext cx="4769968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lv_qtde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lv_livre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zcx_pc_msg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EXPORTING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zif_pc_msg=&gt;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item_estoque_insuficiente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attr1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lv_sku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attr2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|{ lv_livre }|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ENDIF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370832"/>
            <a:ext cx="5410048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O método declara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RAISING zcx_pc_msg</a:t>
            </a:r>
            <a:r>
              <a:rPr lang="en-US" sz="1200" dirty="0">
                <a:solidFill>
                  <a:srgbClr val="556B82"/>
                </a:solidFill>
              </a:rPr>
              <a:t>. No RAP, o projeto cria o mesmo objeto em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%msg = NEW zcx_pc_msg( … )</a:t>
            </a:r>
            <a:r>
              <a:rPr lang="en-US" sz="120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33008" y="1645920"/>
            <a:ext cx="848563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33008" y="1645920"/>
            <a:ext cx="8485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Tratar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33008" y="2029968"/>
            <a:ext cx="5410048" cy="2221992"/>
          </a:xfrm>
          <a:prstGeom prst="roundRect">
            <a:avLst>
              <a:gd name="adj" fmla="val 3292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51296" y="2048256"/>
            <a:ext cx="5373472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18" name="Shape 16"/>
          <p:cNvSpPr/>
          <p:nvPr/>
        </p:nvSpPr>
        <p:spPr>
          <a:xfrm>
            <a:off x="6324448" y="2084832"/>
            <a:ext cx="1280160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19" name="Shape 17"/>
          <p:cNvSpPr/>
          <p:nvPr/>
        </p:nvSpPr>
        <p:spPr>
          <a:xfrm>
            <a:off x="6324448" y="2084832"/>
            <a:ext cx="1280160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15888" y="2103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main.abap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370168" y="2487168"/>
            <a:ext cx="32004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735928" y="2487168"/>
            <a:ext cx="4769968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reservar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iv_sku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'SKU-ELE-0000000001'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iv_qtde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zcx_pc_msg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get_text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Estoque insuficiente para o item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SKU-ELE-0000000001 (disponível: 25).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ENDTRY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233008" y="4370832"/>
            <a:ext cx="5410048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get_text( )</a:t>
            </a:r>
            <a:r>
              <a:rPr lang="en-US" sz="1200" dirty="0">
                <a:solidFill>
                  <a:srgbClr val="556B82"/>
                </a:solidFill>
              </a:rPr>
              <a:t> monta o texto da mensagem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011</a:t>
            </a:r>
            <a:r>
              <a:rPr lang="en-US" sz="1200" dirty="0">
                <a:solidFill>
                  <a:srgbClr val="556B82"/>
                </a:solidFill>
              </a:rPr>
              <a:t> (</a:t>
            </a:r>
            <a:r>
              <a:rPr lang="en-US" sz="1200" i="1" dirty="0">
                <a:solidFill>
                  <a:srgbClr val="556B82"/>
                </a:solidFill>
              </a:rPr>
              <a:t>Estoque insuficiente para o item &amp;1 (disponível: &amp;2)</a:t>
            </a:r>
            <a:r>
              <a:rPr lang="en-US" sz="1200" dirty="0">
                <a:solidFill>
                  <a:srgbClr val="556B82"/>
                </a:solidFill>
              </a:rPr>
              <a:t>) no idioma do usuário.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CLASSES PRÓPRIAS · MENSAGENS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Message classes e a interface moderna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574290"/>
            <a:ext cx="5432908" cy="1919732"/>
          </a:xfrm>
          <a:prstGeom prst="roundRect">
            <a:avLst>
              <a:gd name="adj" fmla="val 476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77545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3378962"/>
            <a:ext cx="5030572" cy="1005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Message class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Até 1000 mensagens numeradas, com até 4 placeholders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&amp;1</a:t>
            </a:r>
            <a:r>
              <a:rPr lang="en-US" sz="1300" dirty="0">
                <a:solidFill>
                  <a:srgbClr val="556B82"/>
                </a:solidFill>
              </a:rPr>
              <a:t>…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&amp;4</a:t>
            </a:r>
            <a:r>
              <a:rPr lang="en-US" sz="1300" dirty="0">
                <a:solidFill>
                  <a:srgbClr val="556B82"/>
                </a:solidFill>
              </a:rPr>
              <a:t>, traduzíveis. Não precisa ativar: basta salvar.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0148" y="2574290"/>
            <a:ext cx="5432908" cy="1919732"/>
          </a:xfrm>
          <a:prstGeom prst="roundRect">
            <a:avLst>
              <a:gd name="adj" fmla="val 476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11316" y="277545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11316" y="3378962"/>
            <a:ext cx="5030572" cy="1005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IF_T100_DYN_MSG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Versão dinâmica: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RAISE EXCEPTION … MESSAGE ID … NUMBER … WITH …</a:t>
            </a:r>
            <a:r>
              <a:rPr lang="en-US" sz="1300" dirty="0">
                <a:solidFill>
                  <a:srgbClr val="556B82"/>
                </a:solidFill>
              </a:rPr>
              <a:t> define o texto na hora de levantar, sem constantes.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67690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07008" y="4676902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No RAP  </a:t>
            </a:r>
            <a:r>
              <a:rPr lang="en-US" sz="1200" dirty="0">
                <a:solidFill>
                  <a:srgbClr val="1D2D3E"/>
                </a:solidFill>
              </a:rPr>
              <a:t>as mesmas mensagens T100 chegam ao app Fiori pela tabela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reported</a:t>
            </a:r>
            <a:r>
              <a:rPr lang="en-US" sz="1200" dirty="0">
                <a:solidFill>
                  <a:srgbClr val="1D2D3E"/>
                </a:solidFill>
              </a:rPr>
              <a:t> (aula 01.08).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876042"/>
            <a:ext cx="256032" cy="256032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4804918"/>
            <a:ext cx="310896" cy="310896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900" y="2876042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RESUMO DA AULA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 que aprendemos na aula 02.08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5331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Exceções são objetos de classes sob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CX_ROOT</a:t>
            </a:r>
            <a:r>
              <a:rPr lang="en-US" sz="1400" dirty="0">
                <a:solidFill>
                  <a:srgbClr val="FFFFFF"/>
                </a:solidFill>
              </a:rPr>
              <a:t>, em três categorias de checagem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8543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CX_STATIC_CHECK</a:t>
            </a:r>
            <a:r>
              <a:rPr lang="en-US" sz="1400" dirty="0">
                <a:solidFill>
                  <a:srgbClr val="FFFFFF"/>
                </a:solidFill>
              </a:rPr>
              <a:t> para erros de negócio que o chamador deve tratar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5331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Vários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r>
              <a:rPr lang="en-US" sz="1400" dirty="0">
                <a:solidFill>
                  <a:srgbClr val="FFFFFF"/>
                </a:solidFill>
              </a:rPr>
              <a:t>, do mais específico ao mais genérico, com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 DATA( 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8543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RAISING</a:t>
            </a:r>
            <a:r>
              <a:rPr lang="en-US" sz="1400" dirty="0">
                <a:solidFill>
                  <a:srgbClr val="FFFFFF"/>
                </a:solidFill>
              </a:rPr>
              <a:t> propaga;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previous</a:t>
            </a:r>
            <a:r>
              <a:rPr lang="en-US" sz="1400" dirty="0">
                <a:solidFill>
                  <a:srgbClr val="FFFFFF"/>
                </a:solidFill>
              </a:rPr>
              <a:t> encadeia; sem tratamento, runtime error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5331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Classes próprias com </a:t>
            </a:r>
            <a:r>
              <a:rPr lang="en-US" sz="1400" b="1" dirty="0">
                <a:solidFill>
                  <a:srgbClr val="FFFFFF"/>
                </a:solidFill>
              </a:rPr>
              <a:t>if_t100_message</a:t>
            </a:r>
            <a:r>
              <a:rPr lang="en-US" sz="1400" dirty="0">
                <a:solidFill>
                  <a:srgbClr val="FFFFFF"/>
                </a:solidFill>
              </a:rPr>
              <a:t>, text IDs e atributos para placeholders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8543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Mensagens ficam em </a:t>
            </a:r>
            <a:r>
              <a:rPr lang="en-US" sz="1400" b="1" dirty="0">
                <a:solidFill>
                  <a:srgbClr val="FFFFFF"/>
                </a:solidFill>
              </a:rPr>
              <a:t>message classes</a:t>
            </a:r>
            <a:r>
              <a:rPr lang="en-US" sz="1400" dirty="0">
                <a:solidFill>
                  <a:srgbClr val="FFFFFF"/>
                </a:solidFill>
              </a:rPr>
              <a:t>, traduzíveis e reaproveitadas pelo RAP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349240"/>
            <a:ext cx="10698480" cy="749808"/>
          </a:xfrm>
          <a:prstGeom prst="roundRect">
            <a:avLst>
              <a:gd name="adj" fmla="val 12195"/>
            </a:avLst>
          </a:prstGeom>
          <a:solidFill>
            <a:srgbClr val="1B3A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534924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9D1FF"/>
                </a:solidFill>
              </a:rPr>
              <a:t>Próxima aula · 02.09  </a:t>
            </a:r>
            <a:r>
              <a:rPr lang="en-US" sz="1500" dirty="0">
                <a:solidFill>
                  <a:srgbClr val="FFFFFF"/>
                </a:solidFill>
              </a:rPr>
              <a:t>ABAP Doc: Documentação no código e no ADT.</a:t>
            </a:r>
            <a:endParaRPr lang="en-US" sz="1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65960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26080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926080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3886200"/>
            <a:ext cx="256032" cy="256032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886200"/>
            <a:ext cx="256032" cy="256032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4126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BAP Moderno">
  <a:themeElements>
    <a:clrScheme name="ABAP Moderno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1B3A7A"/>
      </a:accent5>
      <a:accent6>
        <a:srgbClr val="89D1FF"/>
      </a:accent6>
      <a:hlink>
        <a:srgbClr val="0064D9"/>
      </a:hlink>
      <a:folHlink>
        <a:srgbClr val="1B3A7A"/>
      </a:folHlink>
    </a:clrScheme>
    <a:fontScheme name="ABAP Modern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02.08 Definindo e usando classes de exceção</dc:title>
  <dc:subject>ABAP Moderno – Módulo 02: Programação ABAP Intermediária</dc:subject>
  <dc:creator>Adriano Bispo</dc:creator>
  <cp:lastModifiedBy>Adriano Bispo</cp:lastModifiedBy>
  <cp:revision>1</cp:revision>
  <dcterms:created xsi:type="dcterms:W3CDTF">2026-10-29T13:30:51Z</dcterms:created>
  <dcterms:modified xsi:type="dcterms:W3CDTF">2026-10-29T13:30:51Z</dcterms:modified>
</cp:coreProperties>
</file>