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04 — Programação ABAP Intermediária  ·  Aula 3 de 9 — Campos de caracteres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04 — Programação ABAP Intermediária  ·  Aula 3 de 9 — Campos de caracteres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04 · AULA 03 DE 09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Processando campos de caracteres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Funções de texto com parâmetros comuns, expressões regulares PCRE e textos traduzíveis com text symbols.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5547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9255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0" name="Shape 8"/>
          <p:cNvSpPr/>
          <p:nvPr/>
        </p:nvSpPr>
        <p:spPr>
          <a:xfrm>
            <a:off x="92964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66724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380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089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797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506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3 de 9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04 — Programação ABAP Intermediária · Design System SAP Horizon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04 em 9 aulas: ABAP intermediário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Analisar e testar código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ATC, ABAP Unit, Profiling e SQL Trace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4099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6869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6869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968691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Tipos e conversões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968691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técnicos, conversões e datas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59558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24150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2415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5224150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Campos de caracteres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224150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Funções, regex e textos traduzíveis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99638" y="1892808"/>
            <a:ext cx="792419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99638" y="1892808"/>
            <a:ext cx="7924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017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7960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7960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7479609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Code pushdown no SQL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479609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Expressões, joins, agregações e UNION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570476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73506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73506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9735068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Performance de tabelas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735068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Chaves, field symbols e chaves secundárias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713232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Autorizações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713232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Conceito, CDS DCL e AUTHORITY-CHECK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804099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96869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96869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2968691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OO eficaz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2968691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Herança, interfaces e factory methods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59558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22415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22415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4" name="Text 42"/>
          <p:cNvSpPr txBox="1"/>
          <p:nvPr/>
        </p:nvSpPr>
        <p:spPr>
          <a:xfrm>
            <a:off x="5224150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de exceção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5224150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Categorias, T100 e tratamento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315017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47960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47960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9" name="Text 47"/>
          <p:cNvSpPr txBox="1"/>
          <p:nvPr/>
        </p:nvSpPr>
        <p:spPr>
          <a:xfrm>
            <a:off x="7479609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ABAP Doc</a:t>
            </a:r>
            <a:endParaRPr lang="en-US" sz="1350" dirty="0"/>
          </a:p>
        </p:txBody>
      </p:sp>
      <p:sp>
        <p:nvSpPr>
          <p:cNvPr id="50" name="Text 48"/>
          <p:cNvSpPr txBox="1"/>
          <p:nvPr/>
        </p:nvSpPr>
        <p:spPr>
          <a:xfrm>
            <a:off x="7479609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Documentação no código e no ADT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limpamos, buscamos e validamos textos com funções embutidas e regex, e tornamos a saída traduzível.</a:t>
            </a:r>
            <a:endParaRPr lang="en-US" sz="1400" dirty="0"/>
          </a:p>
        </p:txBody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8038" y="1847088"/>
            <a:ext cx="347472" cy="347472"/>
          </a:xfrm>
          <a:prstGeom prst="rect">
            <a:avLst/>
          </a:prstGeom>
        </p:spPr>
      </p:pic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579" y="1847088"/>
            <a:ext cx="347472" cy="347472"/>
          </a:xfrm>
          <a:prstGeom prst="rect">
            <a:avLst/>
          </a:prstGeom>
        </p:spPr>
      </p:pic>
      <p:pic>
        <p:nvPicPr>
          <p:cNvPr id="5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497" y="1847088"/>
            <a:ext cx="347472" cy="347472"/>
          </a:xfrm>
          <a:prstGeom prst="rect">
            <a:avLst/>
          </a:prstGeom>
        </p:spPr>
      </p:pic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956" y="1847088"/>
            <a:ext cx="347472" cy="347472"/>
          </a:xfrm>
          <a:prstGeom prst="rect">
            <a:avLst/>
          </a:prstGeom>
        </p:spPr>
      </p:pic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8038" y="3858768"/>
            <a:ext cx="347472" cy="347472"/>
          </a:xfrm>
          <a:prstGeom prst="rect">
            <a:avLst/>
          </a:prstGeom>
        </p:spPr>
      </p:pic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2579" y="3858768"/>
            <a:ext cx="347472" cy="347472"/>
          </a:xfrm>
          <a:prstGeom prst="rect">
            <a:avLst/>
          </a:prstGeom>
        </p:spPr>
      </p:pic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497" y="3858768"/>
            <a:ext cx="347472" cy="347472"/>
          </a:xfrm>
          <a:prstGeom prst="rect">
            <a:avLst/>
          </a:prstGeom>
        </p:spPr>
      </p:pic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8956" y="3858768"/>
            <a:ext cx="347472" cy="347472"/>
          </a:xfrm>
          <a:prstGeom prst="rect">
            <a:avLst/>
          </a:prstGeom>
        </p:spPr>
      </p:pic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Três famílias de funções de texto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Além de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r>
              <a:rPr lang="en-US" sz="1500" dirty="0">
                <a:solidFill>
                  <a:srgbClr val="556B82"/>
                </a:solidFill>
              </a:rPr>
              <a:t> e string templates, o ABAP tem dezenas de funções de texto, agrupadas pelo tipo do resultado.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116199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331736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3920871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Descrição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Devolvem um número: tamanho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strlen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numofchar</a:t>
            </a:r>
            <a:r>
              <a:rPr lang="en-US" sz="1300" dirty="0">
                <a:solidFill>
                  <a:srgbClr val="556B82"/>
                </a:solidFill>
              </a:rPr>
              <a:t>), contagem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00" dirty="0">
                <a:solidFill>
                  <a:srgbClr val="556B82"/>
                </a:solidFill>
              </a:rPr>
              <a:t>) ou posição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300" dirty="0">
                <a:solidFill>
                  <a:srgbClr val="556B82"/>
                </a:solidFill>
              </a:rPr>
              <a:t>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2978" y="3116199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4146" y="331736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4146" y="3920871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Processamento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Devolvem um texto novo: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to_upper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condense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substring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shift_left</a:t>
            </a:r>
            <a:r>
              <a:rPr lang="en-US" sz="1300" dirty="0">
                <a:solidFill>
                  <a:srgbClr val="556B82"/>
                </a:solidFill>
              </a:rPr>
              <a:t>…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7317" y="3116199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98485" y="331736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98485" y="3920871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Predicativas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Devolvem verdadeiro ou falso e são condições: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</a:t>
            </a:r>
            <a:r>
              <a:rPr lang="en-US" sz="13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9069" y="3417951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3417951"/>
            <a:ext cx="256032" cy="256032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417951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04.03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Funções com parâmetros comuns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Quase todas as funções de texto compartilham os mesmos </a:t>
            </a:r>
            <a:r>
              <a:rPr lang="en-US" sz="1600" b="1" dirty="0">
                <a:solidFill>
                  <a:srgbClr val="D1EFFF"/>
                </a:solidFill>
              </a:rPr>
              <a:t>parâmetros nomeados</a:t>
            </a:r>
            <a:r>
              <a:rPr lang="en-US" sz="1600" dirty="0">
                <a:solidFill>
                  <a:srgbClr val="D1EFFF"/>
                </a:solidFill>
              </a:rPr>
              <a:t>: aprenda-os uma vez e use em todas.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1000" dirty="0">
                <a:solidFill>
                  <a:srgbClr val="D1EFFF"/>
                </a:solidFill>
              </a:rPr>
              <a:t>  texto de entrada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r>
              <a:rPr lang="en-US" sz="1000" dirty="0">
                <a:solidFill>
                  <a:srgbClr val="D1EFFF"/>
                </a:solidFill>
              </a:rPr>
              <a:t>  trecho buscado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· occ</a:t>
            </a:r>
            <a:r>
              <a:rPr lang="en-US" sz="1000" dirty="0">
                <a:solidFill>
                  <a:srgbClr val="D1EFFF"/>
                </a:solidFill>
              </a:rPr>
              <a:t>  maiúsculas e ocorrência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 · len</a:t>
            </a:r>
            <a:r>
              <a:rPr lang="en-US" sz="1000" dirty="0">
                <a:solidFill>
                  <a:srgbClr val="D1EFFF"/>
                </a:solidFill>
              </a:rPr>
              <a:t>  subárea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FUNÇÕES · PARÂMETROS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Os parâmetros que se repetem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1803349"/>
                <a:gridCol w="901674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Parâmetro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Significado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 texto a processar; aceita expressões e chamadas de método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Trecho a buscar ou inserir; nas funções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…_any_of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, uma lista de caracteres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case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abap_false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ignora maiúsculas e minúsculas (o padrão diferencia)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occ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Qual ocorrência: 1, 2… da esquerda; −1, −2… da direita; em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replace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, 0 = todas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off · len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Início e tamanho da subárea; valores inválidos levantam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CX_SY_RANGE_OUT_OF_BOUNDS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463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84632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Exceção  </a:t>
            </a:r>
            <a:r>
              <a:rPr lang="en-US" sz="1200" dirty="0">
                <a:solidFill>
                  <a:srgbClr val="1D2D3E"/>
                </a:solidFill>
              </a:rPr>
              <a:t>funções com um único argumento, como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numofchar( text )</a:t>
            </a:r>
            <a:r>
              <a:rPr lang="en-US" sz="1200" dirty="0">
                <a:solidFill>
                  <a:srgbClr val="1D2D3E"/>
                </a:solidFill>
              </a:rPr>
              <a:t>, recebem o texto direto entre parênteses, sem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=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97433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FUNÇÕES · EXEMPLOS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Buscar, contar, medir e transformar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9796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9796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zcl_04_text.clas.abap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ZS4D401_## › ZCL_04_TEXT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  Let's talk about ABAP  `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pos1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19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pos2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abap_false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última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abap_false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len1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strlen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conta os espaços finais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len2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numofchar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ignora os espaços finais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condense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`Let's talk about ABAP`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to_upper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substring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`ABAP`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'talk'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'learn'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250" b="1" dirty="0">
                <a:solidFill>
                  <a:srgbClr val="1D2D3E"/>
                </a:solidFill>
              </a:rPr>
              <a:t> ·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Posição ou total de ocorrências; também aceitam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pcre</a:t>
            </a:r>
            <a:r>
              <a:rPr lang="en-US" sz="1050" dirty="0">
                <a:solidFill>
                  <a:srgbClr val="556B82"/>
                </a:solidFill>
              </a:rPr>
              <a:t> em vez de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strlen</a:t>
            </a:r>
            <a:r>
              <a:rPr lang="en-US" sz="1250" b="1" dirty="0">
                <a:solidFill>
                  <a:srgbClr val="1D2D3E"/>
                </a:solidFill>
              </a:rPr>
              <a:t> x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numofchar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Diferem só em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556B82"/>
                </a:solidFill>
              </a:rPr>
              <a:t> com espaços no fim.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condense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Remove espaços nas pontas e reduz espaços internos a um só.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Resultado novo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Funções de processamento não alteram a variável de entrada.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04.03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Expressões regulares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Para padrões que um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r>
              <a:rPr lang="en-US" sz="1600" dirty="0">
                <a:solidFill>
                  <a:srgbClr val="D1EFFF"/>
                </a:solidFill>
              </a:rPr>
              <a:t> não descreve, o ABAP usa expressões regulares </a:t>
            </a:r>
            <a:r>
              <a:rPr lang="en-US" sz="1600" b="1" dirty="0">
                <a:solidFill>
                  <a:srgbClr val="D1EFFF"/>
                </a:solidFill>
              </a:rPr>
              <a:t>PCRE</a:t>
            </a:r>
            <a:r>
              <a:rPr lang="en-US" sz="1600" dirty="0">
                <a:solidFill>
                  <a:srgbClr val="D1EFFF"/>
                </a:solidFill>
              </a:rPr>
              <a:t>, com o parâmetro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pcre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pcre =</a:t>
            </a:r>
            <a:r>
              <a:rPr lang="en-US" sz="1000" dirty="0">
                <a:solidFill>
                  <a:srgbClr val="D1EFFF"/>
                </a:solidFill>
              </a:rPr>
              <a:t>  parâmetro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matches( )</a:t>
            </a:r>
            <a:r>
              <a:rPr lang="en-US" sz="1000" dirty="0">
                <a:solidFill>
                  <a:srgbClr val="D1EFFF"/>
                </a:solidFill>
              </a:rPr>
              <a:t>  validar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· replace</a:t>
            </a:r>
            <a:r>
              <a:rPr lang="en-US" sz="1000" dirty="0">
                <a:solidFill>
                  <a:srgbClr val="D1EFFF"/>
                </a:solidFill>
              </a:rPr>
              <a:t>  buscar e trocar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POSIX</a:t>
            </a:r>
            <a:r>
              <a:rPr lang="en-US" sz="1000" dirty="0">
                <a:solidFill>
                  <a:srgbClr val="D1EFFF"/>
                </a:solidFill>
              </a:rPr>
              <a:t>  obsoleto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REGEX · PCRE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Validar, buscar e substituir com padrões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3794760"/>
          </a:xfrm>
          <a:prstGeom prst="roundRect">
            <a:avLst>
              <a:gd name="adj" fmla="val 1928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075688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075688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zcl_04_regex.clas.abap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ZS4D401_## › ZCL_04_REGEX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`ana.souza@example.com`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`[\w.+-]+@[\w-]+\.[\w.]+`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`E-mail com formato válido`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`(11) 98765-4321`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`\D`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`11987654321`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first_number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`Pedido 4500012345 aprovado`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`\d+`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matches(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Verdadeiro se o texto </a:t>
            </a:r>
            <a:r>
              <a:rPr lang="en-US" sz="1050" b="1" dirty="0">
                <a:solidFill>
                  <a:srgbClr val="556B82"/>
                </a:solidFill>
              </a:rPr>
              <a:t>inteiro</a:t>
            </a:r>
            <a:r>
              <a:rPr lang="en-US" sz="1050" dirty="0">
                <a:solidFill>
                  <a:srgbClr val="556B82"/>
                </a:solidFill>
              </a:rPr>
              <a:t> segue o padrão: ideal para validar entradas.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7317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7317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71348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… occ = 0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Troca todas as ocorrências: aqui, remove tudo que não é dígito.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5890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5890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57073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find( pcre =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Posição da primeira ocorrência do padrão.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4462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446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42798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Escapes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\d</a:t>
            </a:r>
            <a:r>
              <a:rPr lang="en-US" sz="1050" dirty="0">
                <a:solidFill>
                  <a:srgbClr val="556B82"/>
                </a:solidFill>
              </a:rPr>
              <a:t> dígito,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\w</a:t>
            </a:r>
            <a:r>
              <a:rPr lang="en-US" sz="1050" dirty="0">
                <a:solidFill>
                  <a:srgbClr val="556B82"/>
                </a:solidFill>
              </a:rPr>
              <a:t> letra ou dígito,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\D</a:t>
            </a:r>
            <a:r>
              <a:rPr lang="en-US" sz="1050" dirty="0">
                <a:solidFill>
                  <a:srgbClr val="556B82"/>
                </a:solidFill>
              </a:rPr>
              <a:t> não dígito.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550408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FFF8D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07008" y="555040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POSIX  </a:t>
            </a:r>
            <a:r>
              <a:rPr lang="en-US" sz="1200" dirty="0">
                <a:solidFill>
                  <a:srgbClr val="1D2D3E"/>
                </a:solidFill>
              </a:rPr>
              <a:t>o parâmetro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</a:t>
            </a:r>
            <a:r>
              <a:rPr lang="en-US" sz="1200" dirty="0">
                <a:solidFill>
                  <a:srgbClr val="1D2D3E"/>
                </a:solidFill>
              </a:rPr>
              <a:t> (POSIX) é obsoleto. Em código novo, use sempre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pcre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4642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04.03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Textos traduzíveis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Literais no código </a:t>
            </a:r>
            <a:r>
              <a:rPr lang="en-US" sz="1600" b="1" dirty="0">
                <a:solidFill>
                  <a:srgbClr val="D1EFFF"/>
                </a:solidFill>
              </a:rPr>
              <a:t>não são traduzidos</a:t>
            </a:r>
            <a:r>
              <a:rPr lang="en-US" sz="1600" dirty="0">
                <a:solidFill>
                  <a:srgbClr val="D1EFFF"/>
                </a:solidFill>
              </a:rPr>
              <a:t>. Textos que chegam à interface devem vir de </a:t>
            </a:r>
            <a:r>
              <a:rPr lang="en-US" sz="1600" b="1" dirty="0">
                <a:solidFill>
                  <a:srgbClr val="D1EFFF"/>
                </a:solidFill>
              </a:rPr>
              <a:t>text symbols</a:t>
            </a:r>
            <a:r>
              <a:rPr lang="en-US" sz="1600" dirty="0">
                <a:solidFill>
                  <a:srgbClr val="D1EFFF"/>
                </a:solidFill>
              </a:rPr>
              <a:t> ou de objetos traduzíveis.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TEXT-001</a:t>
            </a:r>
            <a:r>
              <a:rPr lang="en-US" sz="1000" dirty="0">
                <a:solidFill>
                  <a:srgbClr val="D1EFFF"/>
                </a:solidFill>
              </a:rPr>
              <a:t>  text symbol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'…'(001)</a:t>
            </a:r>
            <a:r>
              <a:rPr lang="en-US" sz="1000" dirty="0">
                <a:solidFill>
                  <a:srgbClr val="D1EFFF"/>
                </a:solidFill>
              </a:rPr>
              <a:t>  literal com fallback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Ctrl+1</a:t>
            </a:r>
            <a:r>
              <a:rPr lang="en-US" sz="1000" dirty="0">
                <a:solidFill>
                  <a:srgbClr val="D1EFFF"/>
                </a:solidFill>
              </a:rPr>
              <a:t>  criar pelo quick fix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SLIN</a:t>
            </a:r>
            <a:r>
              <a:rPr lang="en-US" sz="1000" dirty="0">
                <a:solidFill>
                  <a:srgbClr val="D1EFFF"/>
                </a:solidFill>
              </a:rPr>
              <a:t>  texto e literal iguais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TRADUÇÃO · TEXT SYMBOLS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literal fixo ao texto traduzível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3474720"/>
          </a:xfrm>
          <a:prstGeom prst="roundRect">
            <a:avLst>
              <a:gd name="adj" fmla="val 2105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075688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075688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zcl_04_texts.clas.abap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ZS4D401_## › ZCL_04_TEXTS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Literal: sempre no mesmo idioma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'Voos encontrados:'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Text symbol isolado, do text pool da classe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TEXT-001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Literal com text symbol: traduz se existir,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senão usa o literal como fallback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'Voos encontrados:'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Text pool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Text symbols ficam no text pool da classe global, com ID de 3 caracteres.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65176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633472"/>
            <a:ext cx="3367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Tamanho máximo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Defina bem acima do atual (limite 255): é o limite do tradutor.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42900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410712"/>
            <a:ext cx="3367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Quick fix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Ctrl+1</a:t>
            </a:r>
            <a:r>
              <a:rPr lang="en-US" sz="1050" dirty="0">
                <a:solidFill>
                  <a:srgbClr val="556B82"/>
                </a:solidFill>
              </a:rPr>
              <a:t> sobre o literal cria o text symbol automaticamente.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20624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187952"/>
            <a:ext cx="3367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Mantenha iguais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checagem SLIN do ATC avisa se literal e text symbol divergem.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07008" y="523036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Já traduzíveis  </a:t>
            </a:r>
            <a:r>
              <a:rPr lang="en-US" sz="1200" dirty="0">
                <a:solidFill>
                  <a:srgbClr val="1D2D3E"/>
                </a:solidFill>
              </a:rPr>
              <a:t>rótulos de data elements, anotações como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</a:t>
            </a:r>
            <a:r>
              <a:rPr lang="en-US" sz="1200" dirty="0">
                <a:solidFill>
                  <a:srgbClr val="1D2D3E"/>
                </a:solidFill>
              </a:rPr>
              <a:t> e mensagens de message classes. Mantenha-os no </a:t>
            </a:r>
            <a:r>
              <a:rPr lang="en-US" sz="1200" b="1" dirty="0">
                <a:solidFill>
                  <a:srgbClr val="1D2D3E"/>
                </a:solidFill>
              </a:rPr>
              <a:t>idioma original</a:t>
            </a:r>
            <a:r>
              <a:rPr lang="en-US" sz="1200" dirty="0">
                <a:solidFill>
                  <a:srgbClr val="1D2D3E"/>
                </a:solidFill>
              </a:rPr>
              <a:t> do objeto.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32638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04.03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Funções de texto se dividem em </a:t>
            </a:r>
            <a:r>
              <a:rPr lang="en-US" sz="1400" b="1" dirty="0">
                <a:solidFill>
                  <a:srgbClr val="FFFFFF"/>
                </a:solidFill>
              </a:rPr>
              <a:t>descrição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processamento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predicativas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Parâmetros comuns: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strlen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numofchar</a:t>
            </a:r>
            <a:r>
              <a:rPr lang="en-US" sz="1400" dirty="0">
                <a:solidFill>
                  <a:srgbClr val="FFFFFF"/>
                </a:solidFill>
              </a:rPr>
              <a:t> diferem nos espaços finais de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Expressões regulares </a:t>
            </a:r>
            <a:r>
              <a:rPr lang="en-US" sz="1400" b="1" dirty="0">
                <a:solidFill>
                  <a:srgbClr val="FFFFFF"/>
                </a:solidFill>
              </a:rPr>
              <a:t>PCRE</a:t>
            </a:r>
            <a:r>
              <a:rPr lang="en-US" sz="1400" dirty="0">
                <a:solidFill>
                  <a:srgbClr val="FFFFFF"/>
                </a:solidFill>
              </a:rPr>
              <a:t>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pcre =</a:t>
            </a:r>
            <a:r>
              <a:rPr lang="en-US" sz="1400" dirty="0">
                <a:solidFill>
                  <a:srgbClr val="FFFFFF"/>
                </a:solidFill>
              </a:rPr>
              <a:t> em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Literais não são traduzidos; use </a:t>
            </a:r>
            <a:r>
              <a:rPr lang="en-US" sz="1400" b="1" dirty="0">
                <a:solidFill>
                  <a:srgbClr val="FFFFFF"/>
                </a:solidFill>
              </a:rPr>
              <a:t>text symbols</a:t>
            </a:r>
            <a:r>
              <a:rPr lang="en-US" sz="1400" dirty="0">
                <a:solidFill>
                  <a:srgbClr val="FFFFFF"/>
                </a:solidFill>
              </a:rPr>
              <a:t> (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TEXT-001</a:t>
            </a:r>
            <a:r>
              <a:rPr lang="en-US" sz="1400" dirty="0">
                <a:solidFill>
                  <a:srgbClr val="FFFFFF"/>
                </a:solidFill>
              </a:rPr>
              <a:t> ou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'…'(001)</a:t>
            </a:r>
            <a:r>
              <a:rPr lang="en-US" sz="1400" dirty="0">
                <a:solidFill>
                  <a:srgbClr val="FFFFFF"/>
                </a:solidFill>
              </a:rPr>
              <a:t>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Rótulos, anotações e mensagens já são traduzíveis a partir do idioma original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04.04  </a:t>
            </a:r>
            <a:r>
              <a:rPr lang="en-US" sz="1500" dirty="0">
                <a:solidFill>
                  <a:srgbClr val="FFFFFF"/>
                </a:solidFill>
              </a:rPr>
              <a:t>Code pushdown no SQL: Expressões, joins, agregações e UNION.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04.03 Processando campos de caracteres</dc:title>
  <dc:subject>ABAP Moderno – Módulo 04: Programação ABAP Intermediária</dc:subject>
  <dc:creator>Adriano Bispo</dc:creator>
  <cp:lastModifiedBy>Adriano Bispo</cp:lastModifiedBy>
  <cp:revision>1</cp:revision>
  <dcterms:created xsi:type="dcterms:W3CDTF">2026-10-29T01:10:03Z</dcterms:created>
  <dcterms:modified xsi:type="dcterms:W3CDTF">2026-10-29T01:10:03Z</dcterms:modified>
</cp:coreProperties>
</file>