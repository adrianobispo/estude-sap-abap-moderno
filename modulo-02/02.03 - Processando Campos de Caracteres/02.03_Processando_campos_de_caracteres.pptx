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C7"/>
                </a:solidFill>
              </a:rPr>
              <a:t>ABAP Moderno · Módulo 02 — Programação ABAP Intermediária  ·  Aula 3 de 9 — Campos de caracteres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rgbClr val="0064D9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D2D3E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473952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ABAP Moderno · Módulo 02 — Programação ABAP Intermediária  ·  Aula 3 de 9 — Campos de caracteres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slideLayout" Target="../slideLayouts/slideLayout4.xml"/><Relationship Id="rId1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MÓDULO 02 · AULA 03 DE 09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Processando campos de caracteres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9476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D1EFFF"/>
                </a:solidFill>
              </a:rPr>
              <a:t>Funções de texto com parâmetros comuns, expressões regulares PCRE e textos traduzíveis com text symbols.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183880" y="1325880"/>
            <a:ext cx="3246120" cy="3246120"/>
          </a:xfrm>
          <a:prstGeom prst="roundRect">
            <a:avLst>
              <a:gd name="adj" fmla="val 15493"/>
            </a:avLst>
          </a:prstGeom>
          <a:solidFill>
            <a:srgbClr val="1B3A7A"/>
          </a:solidFill>
          <a:ln/>
        </p:spPr>
      </p:sp>
      <p:sp>
        <p:nvSpPr>
          <p:cNvPr id="6" name="Shape 4"/>
          <p:cNvSpPr/>
          <p:nvPr/>
        </p:nvSpPr>
        <p:spPr>
          <a:xfrm>
            <a:off x="8732520" y="1874520"/>
            <a:ext cx="2148840" cy="2148840"/>
          </a:xfrm>
          <a:prstGeom prst="roundRect">
            <a:avLst>
              <a:gd name="adj" fmla="val 17021"/>
            </a:avLst>
          </a:prstGeom>
          <a:solidFill>
            <a:srgbClr val="0070F2"/>
          </a:solidFill>
          <a:ln/>
        </p:spPr>
      </p:sp>
      <p:sp>
        <p:nvSpPr>
          <p:cNvPr id="7" name="Shape 5"/>
          <p:cNvSpPr/>
          <p:nvPr/>
        </p:nvSpPr>
        <p:spPr>
          <a:xfrm>
            <a:off x="8183880" y="4937760"/>
            <a:ext cx="279400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8" name="Shape 6"/>
          <p:cNvSpPr/>
          <p:nvPr/>
        </p:nvSpPr>
        <p:spPr>
          <a:xfrm>
            <a:off x="8554720" y="4937760"/>
            <a:ext cx="279400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9" name="Shape 7"/>
          <p:cNvSpPr/>
          <p:nvPr/>
        </p:nvSpPr>
        <p:spPr>
          <a:xfrm>
            <a:off x="8925560" y="4937760"/>
            <a:ext cx="279400" cy="82296"/>
          </a:xfrm>
          <a:prstGeom prst="roundRect">
            <a:avLst>
              <a:gd name="adj" fmla="val 44444"/>
            </a:avLst>
          </a:prstGeom>
          <a:solidFill>
            <a:srgbClr val="89D1FF"/>
          </a:solidFill>
          <a:ln/>
        </p:spPr>
      </p:sp>
      <p:sp>
        <p:nvSpPr>
          <p:cNvPr id="10" name="Shape 8"/>
          <p:cNvSpPr/>
          <p:nvPr/>
        </p:nvSpPr>
        <p:spPr>
          <a:xfrm>
            <a:off x="9296400" y="4937760"/>
            <a:ext cx="279400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1" name="Shape 9"/>
          <p:cNvSpPr/>
          <p:nvPr/>
        </p:nvSpPr>
        <p:spPr>
          <a:xfrm>
            <a:off x="9667240" y="4937760"/>
            <a:ext cx="279400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2" name="Shape 10"/>
          <p:cNvSpPr/>
          <p:nvPr/>
        </p:nvSpPr>
        <p:spPr>
          <a:xfrm>
            <a:off x="10038080" y="4937760"/>
            <a:ext cx="279400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3" name="Shape 11"/>
          <p:cNvSpPr/>
          <p:nvPr/>
        </p:nvSpPr>
        <p:spPr>
          <a:xfrm>
            <a:off x="10408920" y="4937760"/>
            <a:ext cx="279400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4" name="Shape 12"/>
          <p:cNvSpPr/>
          <p:nvPr/>
        </p:nvSpPr>
        <p:spPr>
          <a:xfrm>
            <a:off x="10779760" y="4937760"/>
            <a:ext cx="279400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5" name="Shape 13"/>
          <p:cNvSpPr/>
          <p:nvPr/>
        </p:nvSpPr>
        <p:spPr>
          <a:xfrm>
            <a:off x="11150600" y="4937760"/>
            <a:ext cx="279400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183880" y="51206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Aula 3 de 9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5989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FA3C7"/>
                </a:solidFill>
              </a:rPr>
              <a:t>ABAP Moderno · Módulo 02 — Programação ABAP Intermediária · Design System SAP Horizon</a:t>
            </a:r>
            <a:endParaRPr lang="en-US" sz="11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0" y="2468880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A SÉRIE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Módulo 02 em 9 aulas: ABAP intermediário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07257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1</a:t>
            </a:r>
            <a:endParaRPr lang="en-US" sz="126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3172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Analisar e testar código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788920"/>
            <a:ext cx="17433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ATC, ABAP Unit, Profiling e SQL Trace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804099" y="1645920"/>
            <a:ext cx="207257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968691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968691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2</a:t>
            </a:r>
            <a:endParaRPr lang="en-US" sz="1260" dirty="0"/>
          </a:p>
        </p:txBody>
      </p:sp>
      <p:sp>
        <p:nvSpPr>
          <p:cNvPr id="12" name="Text 10"/>
          <p:cNvSpPr txBox="1"/>
          <p:nvPr/>
        </p:nvSpPr>
        <p:spPr>
          <a:xfrm>
            <a:off x="2968691" y="233172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Tipos e conversões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968691" y="2788920"/>
            <a:ext cx="17433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Tipos técnicos, conversões e datas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59558" y="1645920"/>
            <a:ext cx="207257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70F2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224150" y="1828800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22415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</a:rPr>
              <a:t>3</a:t>
            </a:r>
            <a:endParaRPr lang="en-US" sz="1260" dirty="0"/>
          </a:p>
        </p:txBody>
      </p:sp>
      <p:sp>
        <p:nvSpPr>
          <p:cNvPr id="17" name="Text 15"/>
          <p:cNvSpPr txBox="1"/>
          <p:nvPr/>
        </p:nvSpPr>
        <p:spPr>
          <a:xfrm>
            <a:off x="5224150" y="233172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Campos de caracteres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5224150" y="2788920"/>
            <a:ext cx="17433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Funções, regex e textos traduzíveis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699638" y="1892808"/>
            <a:ext cx="792419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699638" y="1892808"/>
            <a:ext cx="79241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64D9"/>
                </a:solidFill>
              </a:rPr>
              <a:t>Você está aqui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315017" y="1645920"/>
            <a:ext cx="207257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79609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79609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4</a:t>
            </a:r>
            <a:endParaRPr lang="en-US" sz="1260" dirty="0"/>
          </a:p>
        </p:txBody>
      </p:sp>
      <p:sp>
        <p:nvSpPr>
          <p:cNvPr id="24" name="Text 22"/>
          <p:cNvSpPr txBox="1"/>
          <p:nvPr/>
        </p:nvSpPr>
        <p:spPr>
          <a:xfrm>
            <a:off x="7479609" y="233172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Code pushdown no SQL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7479609" y="2788920"/>
            <a:ext cx="17433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Expressões, joins, agregações e UNION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9570476" y="1645920"/>
            <a:ext cx="207257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735068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73506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5</a:t>
            </a:r>
            <a:endParaRPr lang="en-US" sz="1260" dirty="0"/>
          </a:p>
        </p:txBody>
      </p:sp>
      <p:sp>
        <p:nvSpPr>
          <p:cNvPr id="29" name="Text 27"/>
          <p:cNvSpPr txBox="1"/>
          <p:nvPr/>
        </p:nvSpPr>
        <p:spPr>
          <a:xfrm>
            <a:off x="9735068" y="233172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Performance de tabelas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9735068" y="2788920"/>
            <a:ext cx="17433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Chaves, field symbols e chaves secundárias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48640" y="3657600"/>
            <a:ext cx="207257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713232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13232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6</a:t>
            </a:r>
            <a:endParaRPr lang="en-US" sz="1260" dirty="0"/>
          </a:p>
        </p:txBody>
      </p:sp>
      <p:sp>
        <p:nvSpPr>
          <p:cNvPr id="34" name="Text 32"/>
          <p:cNvSpPr txBox="1"/>
          <p:nvPr/>
        </p:nvSpPr>
        <p:spPr>
          <a:xfrm>
            <a:off x="713232" y="434340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Autorizações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713232" y="4800600"/>
            <a:ext cx="17433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Conceito, CDS DCL e AUTHORITY-CHECK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2804099" y="3657600"/>
            <a:ext cx="207257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2968691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968691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7</a:t>
            </a:r>
            <a:endParaRPr lang="en-US" sz="1260" dirty="0"/>
          </a:p>
        </p:txBody>
      </p:sp>
      <p:sp>
        <p:nvSpPr>
          <p:cNvPr id="39" name="Text 37"/>
          <p:cNvSpPr txBox="1"/>
          <p:nvPr/>
        </p:nvSpPr>
        <p:spPr>
          <a:xfrm>
            <a:off x="2968691" y="434340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OO eficaz</a:t>
            </a:r>
            <a:endParaRPr lang="en-US" sz="1350" dirty="0"/>
          </a:p>
        </p:txBody>
      </p:sp>
      <p:sp>
        <p:nvSpPr>
          <p:cNvPr id="40" name="Text 38"/>
          <p:cNvSpPr txBox="1"/>
          <p:nvPr/>
        </p:nvSpPr>
        <p:spPr>
          <a:xfrm>
            <a:off x="2968691" y="4800600"/>
            <a:ext cx="17433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Herança, interfaces e factory methods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059558" y="3657600"/>
            <a:ext cx="207257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5224150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224150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8</a:t>
            </a:r>
            <a:endParaRPr lang="en-US" sz="1260" dirty="0"/>
          </a:p>
        </p:txBody>
      </p:sp>
      <p:sp>
        <p:nvSpPr>
          <p:cNvPr id="44" name="Text 42"/>
          <p:cNvSpPr txBox="1"/>
          <p:nvPr/>
        </p:nvSpPr>
        <p:spPr>
          <a:xfrm>
            <a:off x="5224150" y="434340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Classes de exceção</a:t>
            </a:r>
            <a:endParaRPr lang="en-US" sz="1350" dirty="0"/>
          </a:p>
        </p:txBody>
      </p:sp>
      <p:sp>
        <p:nvSpPr>
          <p:cNvPr id="45" name="Text 43"/>
          <p:cNvSpPr txBox="1"/>
          <p:nvPr/>
        </p:nvSpPr>
        <p:spPr>
          <a:xfrm>
            <a:off x="5224150" y="4800600"/>
            <a:ext cx="17433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Categorias, T100 e tratamento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7315017" y="3657600"/>
            <a:ext cx="207257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7479609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7479609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9</a:t>
            </a:r>
            <a:endParaRPr lang="en-US" sz="1260" dirty="0"/>
          </a:p>
        </p:txBody>
      </p:sp>
      <p:sp>
        <p:nvSpPr>
          <p:cNvPr id="49" name="Text 47"/>
          <p:cNvSpPr txBox="1"/>
          <p:nvPr/>
        </p:nvSpPr>
        <p:spPr>
          <a:xfrm>
            <a:off x="7479609" y="434340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ABAP Doc</a:t>
            </a:r>
            <a:endParaRPr lang="en-US" sz="1350" dirty="0"/>
          </a:p>
        </p:txBody>
      </p:sp>
      <p:sp>
        <p:nvSpPr>
          <p:cNvPr id="50" name="Text 48"/>
          <p:cNvSpPr txBox="1"/>
          <p:nvPr/>
        </p:nvSpPr>
        <p:spPr>
          <a:xfrm>
            <a:off x="7479609" y="4800600"/>
            <a:ext cx="17433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Documentação no código e no ADT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548640" y="562356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1207008" y="5623560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Nesta aula  </a:t>
            </a:r>
            <a:r>
              <a:rPr lang="en-US" sz="1200" dirty="0">
                <a:solidFill>
                  <a:srgbClr val="1D2D3E"/>
                </a:solidFill>
              </a:rPr>
              <a:t>limpamos, buscamos e validamos textos com funções embutidas e regex, e tornamos a saída traduzível.</a:t>
            </a:r>
            <a:endParaRPr lang="en-US" sz="1400" dirty="0"/>
          </a:p>
        </p:txBody>
      </p:sp>
      <p:pic>
        <p:nvPicPr>
          <p:cNvPr id="5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497" y="1847088"/>
            <a:ext cx="347472" cy="347472"/>
          </a:xfrm>
          <a:prstGeom prst="rect">
            <a:avLst/>
          </a:prstGeom>
        </p:spPr>
      </p:pic>
      <p:pic>
        <p:nvPicPr>
          <p:cNvPr id="5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2579" y="1847088"/>
            <a:ext cx="347472" cy="347472"/>
          </a:xfrm>
          <a:prstGeom prst="rect">
            <a:avLst/>
          </a:prstGeom>
        </p:spPr>
      </p:pic>
      <p:pic>
        <p:nvPicPr>
          <p:cNvPr id="5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8038" y="1847088"/>
            <a:ext cx="347472" cy="347472"/>
          </a:xfrm>
          <a:prstGeom prst="rect">
            <a:avLst/>
          </a:prstGeom>
        </p:spPr>
      </p:pic>
      <p:pic>
        <p:nvPicPr>
          <p:cNvPr id="5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38956" y="1847088"/>
            <a:ext cx="347472" cy="347472"/>
          </a:xfrm>
          <a:prstGeom prst="rect">
            <a:avLst/>
          </a:prstGeom>
        </p:spPr>
      </p:pic>
      <p:pic>
        <p:nvPicPr>
          <p:cNvPr id="5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4415" y="1847088"/>
            <a:ext cx="347472" cy="347472"/>
          </a:xfrm>
          <a:prstGeom prst="rect">
            <a:avLst/>
          </a:prstGeom>
        </p:spPr>
      </p:pic>
      <p:pic>
        <p:nvPicPr>
          <p:cNvPr id="5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72579" y="3858768"/>
            <a:ext cx="347472" cy="347472"/>
          </a:xfrm>
          <a:prstGeom prst="rect">
            <a:avLst/>
          </a:prstGeom>
        </p:spPr>
      </p:pic>
      <p:pic>
        <p:nvPicPr>
          <p:cNvPr id="5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28038" y="3858768"/>
            <a:ext cx="347472" cy="347472"/>
          </a:xfrm>
          <a:prstGeom prst="rect">
            <a:avLst/>
          </a:prstGeom>
        </p:spPr>
      </p:pic>
      <p:pic>
        <p:nvPicPr>
          <p:cNvPr id="6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83497" y="3858768"/>
            <a:ext cx="347472" cy="347472"/>
          </a:xfrm>
          <a:prstGeom prst="rect">
            <a:avLst/>
          </a:prstGeom>
        </p:spPr>
      </p:pic>
      <p:pic>
        <p:nvPicPr>
          <p:cNvPr id="6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9808" y="5751576"/>
            <a:ext cx="310896" cy="310896"/>
          </a:xfrm>
          <a:prstGeom prst="rect">
            <a:avLst/>
          </a:prstGeom>
        </p:spPr>
      </p:pic>
      <p:pic>
        <p:nvPicPr>
          <p:cNvPr id="6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38956" y="3858768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VISÃO GERAL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Três famílias de funções de texto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56B82"/>
                </a:solidFill>
              </a:rPr>
              <a:t>Além de </a:t>
            </a:r>
            <a:r>
              <a:rPr lang="en-US" sz="15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&amp;&amp;</a:t>
            </a:r>
            <a:r>
              <a:rPr lang="en-US" sz="1500" dirty="0">
                <a:solidFill>
                  <a:srgbClr val="556B82"/>
                </a:solidFill>
              </a:rPr>
              <a:t> e string templates, o ABAP tem dezenas de funções de texto, agrupadas pelo tipo do resultado.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3116199"/>
            <a:ext cx="3545738" cy="2134362"/>
          </a:xfrm>
          <a:prstGeom prst="roundRect">
            <a:avLst>
              <a:gd name="adj" fmla="val 4284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9808" y="3317367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49808" y="3920871"/>
            <a:ext cx="3143402" cy="12199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Descrição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Devolvem um número: tamanho (</a:t>
            </a:r>
            <a:r>
              <a:rPr lang="en-US" sz="13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strlen</a:t>
            </a:r>
            <a:r>
              <a:rPr lang="en-US" sz="1300" dirty="0">
                <a:solidFill>
                  <a:srgbClr val="556B82"/>
                </a:solidFill>
              </a:rPr>
              <a:t>, </a:t>
            </a:r>
            <a:r>
              <a:rPr lang="en-US" sz="13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numofchar</a:t>
            </a:r>
            <a:r>
              <a:rPr lang="en-US" sz="1300" dirty="0">
                <a:solidFill>
                  <a:srgbClr val="556B82"/>
                </a:solidFill>
              </a:rPr>
              <a:t>), contagem (</a:t>
            </a:r>
            <a:r>
              <a:rPr lang="en-US" sz="13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</a:t>
            </a:r>
            <a:r>
              <a:rPr lang="en-US" sz="1300" dirty="0">
                <a:solidFill>
                  <a:srgbClr val="556B82"/>
                </a:solidFill>
              </a:rPr>
              <a:t>) ou posição (</a:t>
            </a:r>
            <a:r>
              <a:rPr lang="en-US" sz="13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</a:t>
            </a:r>
            <a:r>
              <a:rPr lang="en-US" sz="1300" dirty="0">
                <a:solidFill>
                  <a:srgbClr val="556B82"/>
                </a:solidFill>
              </a:rPr>
              <a:t>).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22978" y="3116199"/>
            <a:ext cx="3545738" cy="2134362"/>
          </a:xfrm>
          <a:prstGeom prst="roundRect">
            <a:avLst>
              <a:gd name="adj" fmla="val 4284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24146" y="3317367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24146" y="3920871"/>
            <a:ext cx="3143402" cy="12199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Processamento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Devolvem um texto novo: </a:t>
            </a:r>
            <a:r>
              <a:rPr lang="en-US" sz="13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to_upper</a:t>
            </a:r>
            <a:r>
              <a:rPr lang="en-US" sz="1300" dirty="0">
                <a:solidFill>
                  <a:srgbClr val="556B82"/>
                </a:solidFill>
              </a:rPr>
              <a:t>, </a:t>
            </a:r>
            <a:r>
              <a:rPr lang="en-US" sz="13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condense</a:t>
            </a:r>
            <a:r>
              <a:rPr lang="en-US" sz="1300" dirty="0">
                <a:solidFill>
                  <a:srgbClr val="556B82"/>
                </a:solidFill>
              </a:rPr>
              <a:t>, </a:t>
            </a:r>
            <a:r>
              <a:rPr lang="en-US" sz="13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substring</a:t>
            </a:r>
            <a:r>
              <a:rPr lang="en-US" sz="1300" dirty="0">
                <a:solidFill>
                  <a:srgbClr val="556B82"/>
                </a:solidFill>
              </a:rPr>
              <a:t>, </a:t>
            </a:r>
            <a:r>
              <a:rPr lang="en-US" sz="13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replace</a:t>
            </a:r>
            <a:r>
              <a:rPr lang="en-US" sz="1300" dirty="0">
                <a:solidFill>
                  <a:srgbClr val="556B82"/>
                </a:solidFill>
              </a:rPr>
              <a:t>, </a:t>
            </a:r>
            <a:r>
              <a:rPr lang="en-US" sz="13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shift_left</a:t>
            </a:r>
            <a:r>
              <a:rPr lang="en-US" sz="1300" dirty="0">
                <a:solidFill>
                  <a:srgbClr val="556B82"/>
                </a:solidFill>
              </a:rPr>
              <a:t>…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097317" y="3116199"/>
            <a:ext cx="3545738" cy="2134362"/>
          </a:xfrm>
          <a:prstGeom prst="roundRect">
            <a:avLst>
              <a:gd name="adj" fmla="val 4284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298485" y="3317367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98485" y="3920871"/>
            <a:ext cx="3143402" cy="12199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Predicativas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Devolvem verdadeiro ou falso e são condições: </a:t>
            </a:r>
            <a:r>
              <a:rPr lang="en-US" sz="13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contains</a:t>
            </a:r>
            <a:r>
              <a:rPr lang="en-US" sz="1300" dirty="0">
                <a:solidFill>
                  <a:srgbClr val="556B82"/>
                </a:solidFill>
              </a:rPr>
              <a:t>, </a:t>
            </a:r>
            <a:r>
              <a:rPr lang="en-US" sz="13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matches</a:t>
            </a:r>
            <a:r>
              <a:rPr lang="en-US" sz="130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99069" y="3417951"/>
            <a:ext cx="256032" cy="256032"/>
          </a:xfrm>
          <a:prstGeom prst="rect">
            <a:avLst/>
          </a:prstGeom>
        </p:spPr>
      </p:pic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4730" y="3417951"/>
            <a:ext cx="256032" cy="256032"/>
          </a:xfrm>
          <a:prstGeom prst="rect">
            <a:avLst/>
          </a:prstGeom>
        </p:spPr>
      </p:pic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3417951"/>
            <a:ext cx="256032" cy="2560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02.03 · SEÇÃO 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Funções com parâmetros comuns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Quase todas as funções de texto compartilham os mesmos </a:t>
            </a:r>
            <a:r>
              <a:rPr lang="en-US" sz="1600" b="1" dirty="0">
                <a:solidFill>
                  <a:srgbClr val="D1EFFF"/>
                </a:solidFill>
              </a:rPr>
              <a:t>parâmetros nomeados</a:t>
            </a:r>
            <a:r>
              <a:rPr lang="en-US" sz="1600" dirty="0">
                <a:solidFill>
                  <a:srgbClr val="D1EFFF"/>
                </a:solidFill>
              </a:rPr>
              <a:t>: aprenda-os uma vez e use em todas.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r>
              <a:rPr lang="en-US" sz="1000" dirty="0">
                <a:solidFill>
                  <a:srgbClr val="D1EFFF"/>
                </a:solidFill>
              </a:rPr>
              <a:t>  texto de entrada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</a:t>
            </a:r>
            <a:r>
              <a:rPr lang="en-US" sz="1000" dirty="0">
                <a:solidFill>
                  <a:srgbClr val="D1EFFF"/>
                </a:solidFill>
              </a:rPr>
              <a:t>  trecho buscado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 · occ</a:t>
            </a:r>
            <a:r>
              <a:rPr lang="en-US" sz="1000" dirty="0">
                <a:solidFill>
                  <a:srgbClr val="D1EFFF"/>
                </a:solidFill>
              </a:rPr>
              <a:t>  maiúsculas e ocorrência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 · len</a:t>
            </a:r>
            <a:r>
              <a:rPr lang="en-US" sz="1000" dirty="0">
                <a:solidFill>
                  <a:srgbClr val="D1EFFF"/>
                </a:solidFill>
              </a:rPr>
              <a:t>  subárea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FUNÇÕES · PARÂMETROS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Os parâmetros que se repetem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4415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83080"/>
          <a:ext cx="10820095" cy="914400"/>
        </p:xfrm>
        <a:graphic>
          <a:graphicData uri="http://schemas.openxmlformats.org/drawingml/2006/table">
            <a:tbl>
              <a:tblPr/>
              <a:tblGrid>
                <a:gridCol w="1803349"/>
                <a:gridCol w="9016746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Parâmetro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Significado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O texto a processar; aceita expressões e chamadas de método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sub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Trecho a buscar ou inserir; nas funções </a:t>
                      </a: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…_any_of</a:t>
                      </a: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, uma lista de caracteres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case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abap_false</a:t>
                      </a: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 ignora maiúsculas e minúsculas (o padrão diferencia)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occ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Qual ocorrência: 1, 2… da esquerda; −1, −2… da direita; em </a:t>
                      </a: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replace</a:t>
                      </a: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, 0 = todas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off · len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Início e tamanho da subárea; valores inválidos levantam </a:t>
                      </a: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CX_SY_RANGE_OUT_OF_BOUNDS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84632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207008" y="4846320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Exceção  </a:t>
            </a:r>
            <a:r>
              <a:rPr lang="en-US" sz="1200" dirty="0">
                <a:solidFill>
                  <a:srgbClr val="1D2D3E"/>
                </a:solidFill>
              </a:rPr>
              <a:t>funções com um único argumento, como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numofchar( text )</a:t>
            </a:r>
            <a:r>
              <a:rPr lang="en-US" sz="1200" dirty="0">
                <a:solidFill>
                  <a:srgbClr val="1D2D3E"/>
                </a:solidFill>
              </a:rPr>
              <a:t>, recebem o texto direto entre parênteses, sem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 =</a:t>
            </a:r>
            <a:r>
              <a:rPr lang="en-US" sz="1200" dirty="0">
                <a:solidFill>
                  <a:srgbClr val="1D2D3E"/>
                </a:solidFill>
              </a:rPr>
              <a:t>.</a:t>
            </a:r>
            <a:endParaRPr lang="en-US" sz="14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4974336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FUNÇÕES · EXEMPLOS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Buscar, contar, medir e transformar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1616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1997964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1997964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18150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zcl_02_text.clas.abap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ZS4D401_## › ZCL_02_TEXT › main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  Let's talk about ABAP  `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pos1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'A'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</a:t>
            </a:r>
            <a:r>
              <a:rPr lang="en-US" sz="9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19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pos2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'a'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abap_false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occ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</a:t>
            </a:r>
            <a:r>
              <a:rPr lang="en-US" sz="9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última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'a'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abap_false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len1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strlen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r>
              <a:rPr lang="en-US" sz="9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conta os espaços finais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len2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numofchar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ignora os espaços finais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clean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condense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</a:t>
            </a:r>
            <a:r>
              <a:rPr lang="en-US" sz="9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`Let's talk about ABAP`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upper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to_upper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clean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substring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clean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`ABAP`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swap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replace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clean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'talk'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'learn'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</a:t>
            </a:r>
            <a:r>
              <a:rPr lang="en-US" sz="1250" b="1" dirty="0">
                <a:solidFill>
                  <a:srgbClr val="1D2D3E"/>
                </a:solidFill>
              </a:rPr>
              <a:t> · </a:t>
            </a: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Posição ou total de ocorrências; também aceitam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pcre</a:t>
            </a:r>
            <a:r>
              <a:rPr lang="en-US" sz="1050" dirty="0">
                <a:solidFill>
                  <a:srgbClr val="556B82"/>
                </a:solidFill>
              </a:rPr>
              <a:t> em vez de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</a:t>
            </a:r>
            <a:r>
              <a:rPr lang="en-US" sz="105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91465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9146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89636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strlen</a:t>
            </a:r>
            <a:r>
              <a:rPr lang="en-US" sz="1250" b="1" dirty="0">
                <a:solidFill>
                  <a:srgbClr val="1D2D3E"/>
                </a:solidFill>
              </a:rPr>
              <a:t> x </a:t>
            </a: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numofchar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Diferem só em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r>
              <a:rPr lang="en-US" sz="1050" dirty="0">
                <a:solidFill>
                  <a:srgbClr val="556B82"/>
                </a:solidFill>
              </a:rPr>
              <a:t> com espaços no fim.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9547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93649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condense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Remove espaços nas pontas e reduz espaços internos a um só.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99491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9949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97662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Resultado novo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Funções de processamento não alteram a variável de entrada.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02.03 · SEÇÃO 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Expressões regulares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Para padrões que um </a:t>
            </a:r>
            <a:r>
              <a:rPr lang="en-US" sz="16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</a:t>
            </a:r>
            <a:r>
              <a:rPr lang="en-US" sz="1600" dirty="0">
                <a:solidFill>
                  <a:srgbClr val="D1EFFF"/>
                </a:solidFill>
              </a:rPr>
              <a:t> não descreve, o ABAP usa expressões regulares </a:t>
            </a:r>
            <a:r>
              <a:rPr lang="en-US" sz="1600" b="1" dirty="0">
                <a:solidFill>
                  <a:srgbClr val="D1EFFF"/>
                </a:solidFill>
              </a:rPr>
              <a:t>PCRE</a:t>
            </a:r>
            <a:r>
              <a:rPr lang="en-US" sz="1600" dirty="0">
                <a:solidFill>
                  <a:srgbClr val="D1EFFF"/>
                </a:solidFill>
              </a:rPr>
              <a:t>, com o parâmetro </a:t>
            </a:r>
            <a:r>
              <a:rPr lang="en-US" sz="16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pcre</a:t>
            </a:r>
            <a:r>
              <a:rPr lang="en-US" sz="1600" dirty="0">
                <a:solidFill>
                  <a:srgbClr val="D1EFFF"/>
                </a:solidFill>
              </a:rPr>
              <a:t>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pcre =</a:t>
            </a:r>
            <a:r>
              <a:rPr lang="en-US" sz="1000" dirty="0">
                <a:solidFill>
                  <a:srgbClr val="D1EFFF"/>
                </a:solidFill>
              </a:rPr>
              <a:t>  parâmetro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matches( )</a:t>
            </a:r>
            <a:r>
              <a:rPr lang="en-US" sz="1000" dirty="0">
                <a:solidFill>
                  <a:srgbClr val="D1EFFF"/>
                </a:solidFill>
              </a:rPr>
              <a:t>  validar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 · replace</a:t>
            </a:r>
            <a:r>
              <a:rPr lang="en-US" sz="1000" dirty="0">
                <a:solidFill>
                  <a:srgbClr val="D1EFFF"/>
                </a:solidFill>
              </a:rPr>
              <a:t>  buscar e trocar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POSIX</a:t>
            </a:r>
            <a:r>
              <a:rPr lang="en-US" sz="1000" dirty="0">
                <a:solidFill>
                  <a:srgbClr val="D1EFFF"/>
                </a:solidFill>
              </a:rPr>
              <a:t>  obsoleto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REGEX · PCRE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Validar, buscar e substituir com padrões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3794760"/>
          </a:xfrm>
          <a:prstGeom prst="roundRect">
            <a:avLst>
              <a:gd name="adj" fmla="val 1928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1997964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1997964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18150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zcl_pc_util.clas.abap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ZAVBS_PC_COMMON › ZCL_PC_UTIL e ZCL_PC_VIACEP (trechos)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validar_email: o texto inteiro precisa seguir o padrão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lv_email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condense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to_lower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iv_email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rv_valido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matches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lv_email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pcre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`^[a-z0-9._%+\-]+@[a-z0-9\-]+(\.[a-z0-9\-]+)*\.[a-z]{2,}$`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somente_digitos: '529.982.247-25' vira `52998224725`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rv_valor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replace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iv_valor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pcre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`[^0-9]`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``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occ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extrair_campo (ViaCEP): captura o valor de "uf" no JSON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PCRE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`"uf"\s*:\s*"([^"]*)"`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lv_json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SUBMATCHES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lv_uf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matches( )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Verdadeiro se o texto </a:t>
            </a:r>
            <a:r>
              <a:rPr lang="en-US" sz="1050" b="1" dirty="0">
                <a:solidFill>
                  <a:srgbClr val="556B82"/>
                </a:solidFill>
              </a:rPr>
              <a:t>inteiro</a:t>
            </a:r>
            <a:r>
              <a:rPr lang="en-US" sz="1050" dirty="0">
                <a:solidFill>
                  <a:srgbClr val="556B82"/>
                </a:solidFill>
              </a:rPr>
              <a:t> segue o padrão: é assim que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validar_email</a:t>
            </a:r>
            <a:r>
              <a:rPr lang="en-US" sz="1050" dirty="0">
                <a:solidFill>
                  <a:srgbClr val="556B82"/>
                </a:solidFill>
              </a:rPr>
              <a:t> aceita um e-mail.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731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7317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713482"/>
            <a:ext cx="3367735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replace … occ = 0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Troca todas as ocorrências: limpa CPF, CEP, telefone e cartão.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5890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5890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570732"/>
            <a:ext cx="3367735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 PCRE … SUBMATCHES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Devolve o grupo entre parênteses: a classe do ViaCEP lê cada campo do JSON assim.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4462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446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427982"/>
            <a:ext cx="3367735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Escapes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[^0-9]</a:t>
            </a:r>
            <a:r>
              <a:rPr lang="en-US" sz="1050" dirty="0">
                <a:solidFill>
                  <a:srgbClr val="556B82"/>
                </a:solidFill>
              </a:rPr>
              <a:t> não dígito,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\s*</a:t>
            </a:r>
            <a:r>
              <a:rPr lang="en-US" sz="1050" dirty="0">
                <a:solidFill>
                  <a:srgbClr val="556B82"/>
                </a:solidFill>
              </a:rPr>
              <a:t> espaços opcionais,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{2,}</a:t>
            </a:r>
            <a:r>
              <a:rPr lang="en-US" sz="1050" dirty="0">
                <a:solidFill>
                  <a:srgbClr val="556B82"/>
                </a:solidFill>
              </a:rPr>
              <a:t> duas ou mais vezes.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48640" y="5550408"/>
            <a:ext cx="11094415" cy="502920"/>
          </a:xfrm>
          <a:prstGeom prst="roundRect">
            <a:avLst>
              <a:gd name="adj" fmla="val 14545"/>
            </a:avLst>
          </a:prstGeom>
          <a:solidFill>
            <a:srgbClr val="FFF8D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207008" y="555040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4F00"/>
                </a:solidFill>
              </a:rPr>
              <a:t>POSIX  </a:t>
            </a:r>
            <a:r>
              <a:rPr lang="en-US" sz="1200" dirty="0">
                <a:solidFill>
                  <a:srgbClr val="1D2D3E"/>
                </a:solidFill>
              </a:rPr>
              <a:t>o parâmetro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regex</a:t>
            </a:r>
            <a:r>
              <a:rPr lang="en-US" sz="1200" dirty="0">
                <a:solidFill>
                  <a:srgbClr val="1D2D3E"/>
                </a:solidFill>
              </a:rPr>
              <a:t> (POSIX) é obsoleto. Em código novo, use sempre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pcre</a:t>
            </a:r>
            <a:r>
              <a:rPr lang="en-US" sz="1200" dirty="0">
                <a:solidFill>
                  <a:srgbClr val="1D2D3E"/>
                </a:solidFill>
              </a:rPr>
              <a:t>.</a:t>
            </a:r>
            <a:endParaRPr lang="en-US" sz="1400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5646420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02.03 · SEÇÃO 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Textos traduzíveis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Literais no código </a:t>
            </a:r>
            <a:r>
              <a:rPr lang="en-US" sz="1600" b="1" dirty="0">
                <a:solidFill>
                  <a:srgbClr val="D1EFFF"/>
                </a:solidFill>
              </a:rPr>
              <a:t>não são traduzidos</a:t>
            </a:r>
            <a:r>
              <a:rPr lang="en-US" sz="1600" dirty="0">
                <a:solidFill>
                  <a:srgbClr val="D1EFFF"/>
                </a:solidFill>
              </a:rPr>
              <a:t>. Textos que chegam à interface devem vir de </a:t>
            </a:r>
            <a:r>
              <a:rPr lang="en-US" sz="1600" b="1" dirty="0">
                <a:solidFill>
                  <a:srgbClr val="D1EFFF"/>
                </a:solidFill>
              </a:rPr>
              <a:t>text symbols</a:t>
            </a:r>
            <a:r>
              <a:rPr lang="en-US" sz="1600" dirty="0">
                <a:solidFill>
                  <a:srgbClr val="D1EFFF"/>
                </a:solidFill>
              </a:rPr>
              <a:t> ou de objetos traduzíveis.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TEXT-001</a:t>
            </a:r>
            <a:r>
              <a:rPr lang="en-US" sz="1000" dirty="0">
                <a:solidFill>
                  <a:srgbClr val="D1EFFF"/>
                </a:solidFill>
              </a:rPr>
              <a:t>  text symbol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'…'(001)</a:t>
            </a:r>
            <a:r>
              <a:rPr lang="en-US" sz="1000" dirty="0">
                <a:solidFill>
                  <a:srgbClr val="D1EFFF"/>
                </a:solidFill>
              </a:rPr>
              <a:t>  literal com fallback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Ctrl+1</a:t>
            </a:r>
            <a:r>
              <a:rPr lang="en-US" sz="1000" dirty="0">
                <a:solidFill>
                  <a:srgbClr val="D1EFFF"/>
                </a:solidFill>
              </a:rPr>
              <a:t>  criar pelo quick fix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SLIN</a:t>
            </a:r>
            <a:r>
              <a:rPr lang="en-US" sz="1000" dirty="0">
                <a:solidFill>
                  <a:srgbClr val="D1EFFF"/>
                </a:solidFill>
              </a:rPr>
              <a:t>  texto e literal iguais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TRADUÇÃO · TEXT SYMBOLS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Do literal fixo ao texto traduzível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3474720"/>
          </a:xfrm>
          <a:prstGeom prst="roundRect">
            <a:avLst>
              <a:gd name="adj" fmla="val 2105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2075688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2075688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zcl_02_texts.clas.abap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ZS4D401_## › ZCL_02_TEXTS › main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2633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2633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Literal: sempre no mesmo idioma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'Pedidos encontrados:'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Text symbol isolado, do text pool da classe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TEXT-001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Literal com text symbol: traduz se existir,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senão usa o literal como fallback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'Pedidos encontrados:'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34747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Text pool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Text symbols ficam no text pool da classe global, com ID de 3 caracteres.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65176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633472"/>
            <a:ext cx="33677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Tamanho máximo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Defina bem acima do atual (limite 255): é o limite do tradutor.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4290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429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410712"/>
            <a:ext cx="33677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Quick fix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Ctrl+1</a:t>
            </a:r>
            <a:r>
              <a:rPr lang="en-US" sz="1050" dirty="0">
                <a:solidFill>
                  <a:srgbClr val="556B82"/>
                </a:solidFill>
              </a:rPr>
              <a:t> sobre o literal cria o text symbol automaticamente.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20624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206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187952"/>
            <a:ext cx="33677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Mantenha iguais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 checagem SLIN do ATC avisa se literal e text symbol divergem.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48640" y="5230368"/>
            <a:ext cx="11094415" cy="502920"/>
          </a:xfrm>
          <a:prstGeom prst="roundRect">
            <a:avLst>
              <a:gd name="adj" fmla="val 14545"/>
            </a:avLst>
          </a:prstGeom>
          <a:solidFill>
            <a:srgbClr val="E1F4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207008" y="523036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Já traduzíveis  </a:t>
            </a:r>
            <a:r>
              <a:rPr lang="en-US" sz="1200" dirty="0">
                <a:solidFill>
                  <a:srgbClr val="1D2D3E"/>
                </a:solidFill>
              </a:rPr>
              <a:t>rótulos de data elements, anotações como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</a:t>
            </a:r>
            <a:r>
              <a:rPr lang="en-US" sz="1200" dirty="0">
                <a:solidFill>
                  <a:srgbClr val="1D2D3E"/>
                </a:solidFill>
              </a:rPr>
              <a:t> e mensagens de message classes. Mantenha-os no </a:t>
            </a:r>
            <a:r>
              <a:rPr lang="en-US" sz="1200" b="1" dirty="0">
                <a:solidFill>
                  <a:srgbClr val="1D2D3E"/>
                </a:solidFill>
              </a:rPr>
              <a:t>idioma original</a:t>
            </a:r>
            <a:r>
              <a:rPr lang="en-US" sz="1200" dirty="0">
                <a:solidFill>
                  <a:srgbClr val="1D2D3E"/>
                </a:solidFill>
              </a:rPr>
              <a:t> do objeto.</a:t>
            </a:r>
            <a:endParaRPr lang="en-US" sz="1400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5326380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RESUMO DA AULA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O que aprendemos na aula 02.03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87452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53312" y="181965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Funções de texto se dividem em </a:t>
            </a:r>
            <a:r>
              <a:rPr lang="en-US" sz="1400" b="1" dirty="0">
                <a:solidFill>
                  <a:srgbClr val="FFFFFF"/>
                </a:solidFill>
              </a:rPr>
              <a:t>descrição</a:t>
            </a:r>
            <a:r>
              <a:rPr lang="en-US" sz="1400" dirty="0">
                <a:solidFill>
                  <a:srgbClr val="FFFFFF"/>
                </a:solidFill>
              </a:rPr>
              <a:t>, </a:t>
            </a:r>
            <a:r>
              <a:rPr lang="en-US" sz="1400" b="1" dirty="0">
                <a:solidFill>
                  <a:srgbClr val="FFFFFF"/>
                </a:solidFill>
              </a:rPr>
              <a:t>processamento</a:t>
            </a:r>
            <a:r>
              <a:rPr lang="en-US" sz="1400" dirty="0">
                <a:solidFill>
                  <a:srgbClr val="FFFFFF"/>
                </a:solidFill>
              </a:rPr>
              <a:t> e </a:t>
            </a:r>
            <a:r>
              <a:rPr lang="en-US" sz="1400" b="1" dirty="0">
                <a:solidFill>
                  <a:srgbClr val="FFFFFF"/>
                </a:solidFill>
              </a:rPr>
              <a:t>predicativas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63640" y="187452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85432" y="181965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Parâmetros comuns: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r>
              <a:rPr lang="en-US" sz="1400" dirty="0">
                <a:solidFill>
                  <a:srgbClr val="FFFFFF"/>
                </a:solidFill>
              </a:rPr>
              <a:t>,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</a:t>
            </a:r>
            <a:r>
              <a:rPr lang="en-US" sz="1400" dirty="0">
                <a:solidFill>
                  <a:srgbClr val="FFFFFF"/>
                </a:solidFill>
              </a:rPr>
              <a:t>,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r>
              <a:rPr lang="en-US" sz="1400" dirty="0">
                <a:solidFill>
                  <a:srgbClr val="FFFFFF"/>
                </a:solidFill>
              </a:rPr>
              <a:t>,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occ</a:t>
            </a:r>
            <a:r>
              <a:rPr lang="en-US" sz="1400" dirty="0">
                <a:solidFill>
                  <a:srgbClr val="FFFFFF"/>
                </a:solidFill>
              </a:rPr>
              <a:t>,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</a:t>
            </a:r>
            <a:r>
              <a:rPr lang="en-US" sz="1400" dirty="0">
                <a:solidFill>
                  <a:srgbClr val="FFFFFF"/>
                </a:solidFill>
              </a:rPr>
              <a:t> e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83464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53312" y="277977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strlen</a:t>
            </a:r>
            <a:r>
              <a:rPr lang="en-US" sz="1400" dirty="0">
                <a:solidFill>
                  <a:srgbClr val="FFFFFF"/>
                </a:solidFill>
              </a:rPr>
              <a:t> e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numofchar</a:t>
            </a:r>
            <a:r>
              <a:rPr lang="en-US" sz="1400" dirty="0">
                <a:solidFill>
                  <a:srgbClr val="FFFFFF"/>
                </a:solidFill>
              </a:rPr>
              <a:t> diferem nos espaços finais de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63640" y="283464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85432" y="277977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Expressões regulares </a:t>
            </a:r>
            <a:r>
              <a:rPr lang="en-US" sz="1400" b="1" dirty="0">
                <a:solidFill>
                  <a:srgbClr val="FFFFFF"/>
                </a:solidFill>
              </a:rPr>
              <a:t>PCRE</a:t>
            </a:r>
            <a:r>
              <a:rPr lang="en-US" sz="1400" dirty="0">
                <a:solidFill>
                  <a:srgbClr val="FFFFFF"/>
                </a:solidFill>
              </a:rPr>
              <a:t> com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pcre =</a:t>
            </a:r>
            <a:r>
              <a:rPr lang="en-US" sz="1400" dirty="0">
                <a:solidFill>
                  <a:srgbClr val="FFFFFF"/>
                </a:solidFill>
              </a:rPr>
              <a:t> em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matches</a:t>
            </a:r>
            <a:r>
              <a:rPr lang="en-US" sz="1400" dirty="0">
                <a:solidFill>
                  <a:srgbClr val="FFFFFF"/>
                </a:solidFill>
              </a:rPr>
              <a:t>,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</a:t>
            </a:r>
            <a:r>
              <a:rPr lang="en-US" sz="1400" dirty="0">
                <a:solidFill>
                  <a:srgbClr val="FFFFFF"/>
                </a:solidFill>
              </a:rPr>
              <a:t>,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</a:t>
            </a:r>
            <a:r>
              <a:rPr lang="en-US" sz="1400" dirty="0">
                <a:solidFill>
                  <a:srgbClr val="FFFFFF"/>
                </a:solidFill>
              </a:rPr>
              <a:t> e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replace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379476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53312" y="373989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Literais não são traduzidos; use </a:t>
            </a:r>
            <a:r>
              <a:rPr lang="en-US" sz="1400" b="1" dirty="0">
                <a:solidFill>
                  <a:srgbClr val="FFFFFF"/>
                </a:solidFill>
              </a:rPr>
              <a:t>text symbols</a:t>
            </a:r>
            <a:r>
              <a:rPr lang="en-US" sz="1400" dirty="0">
                <a:solidFill>
                  <a:srgbClr val="FFFFFF"/>
                </a:solidFill>
              </a:rPr>
              <a:t> (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TEXT-001</a:t>
            </a:r>
            <a:r>
              <a:rPr lang="en-US" sz="1400" dirty="0">
                <a:solidFill>
                  <a:srgbClr val="FFFFFF"/>
                </a:solidFill>
              </a:rPr>
              <a:t> ou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'…'(001)</a:t>
            </a:r>
            <a:r>
              <a:rPr lang="en-US" sz="1400" dirty="0">
                <a:solidFill>
                  <a:srgbClr val="FFFFFF"/>
                </a:solidFill>
              </a:rPr>
              <a:t>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63640" y="379476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85432" y="373989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Rótulos, anotações e mensagens já são traduzíveis a partir do idioma original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5349240"/>
            <a:ext cx="10698480" cy="749808"/>
          </a:xfrm>
          <a:prstGeom prst="roundRect">
            <a:avLst>
              <a:gd name="adj" fmla="val 12195"/>
            </a:avLst>
          </a:prstGeom>
          <a:solidFill>
            <a:srgbClr val="1B3A7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508760" y="5349240"/>
            <a:ext cx="9692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9D1FF"/>
                </a:solidFill>
              </a:rPr>
              <a:t>Próxima aula · 02.04  </a:t>
            </a:r>
            <a:r>
              <a:rPr lang="en-US" sz="1500" dirty="0">
                <a:solidFill>
                  <a:srgbClr val="FFFFFF"/>
                </a:solidFill>
              </a:rPr>
              <a:t>Code pushdown no SQL: Expressões, joins, agregações e UNION.</a:t>
            </a:r>
            <a:endParaRPr lang="en-US" sz="15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965960"/>
            <a:ext cx="256032" cy="256032"/>
          </a:xfrm>
          <a:prstGeom prst="rect">
            <a:avLst/>
          </a:prstGeom>
        </p:spPr>
      </p:pic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965960"/>
            <a:ext cx="256032" cy="256032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926080"/>
            <a:ext cx="256032" cy="256032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2926080"/>
            <a:ext cx="256032" cy="256032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3886200"/>
            <a:ext cx="256032" cy="256032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3886200"/>
            <a:ext cx="256032" cy="256032"/>
          </a:xfrm>
          <a:prstGeom prst="rect">
            <a:avLst/>
          </a:prstGeom>
        </p:spPr>
      </p:pic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5541264"/>
            <a:ext cx="365760" cy="3657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ABAP Moderno">
  <a:themeElements>
    <a:clrScheme name="ABAP Moderno">
      <a:dk1>
        <a:srgbClr val="1D2D3E"/>
      </a:dk1>
      <a:lt1>
        <a:srgbClr val="FFFFFF"/>
      </a:lt1>
      <a:dk2>
        <a:srgbClr val="556B82"/>
      </a:dk2>
      <a:lt2>
        <a:srgbClr val="F5F6F7"/>
      </a:lt2>
      <a:accent1>
        <a:srgbClr val="0070F2"/>
      </a:accent1>
      <a:accent2>
        <a:srgbClr val="30914C"/>
      </a:accent2>
      <a:accent3>
        <a:srgbClr val="E76500"/>
      </a:accent3>
      <a:accent4>
        <a:srgbClr val="D20A0A"/>
      </a:accent4>
      <a:accent5>
        <a:srgbClr val="1B3A7A"/>
      </a:accent5>
      <a:accent6>
        <a:srgbClr val="89D1FF"/>
      </a:accent6>
      <a:hlink>
        <a:srgbClr val="0064D9"/>
      </a:hlink>
      <a:folHlink>
        <a:srgbClr val="1B3A7A"/>
      </a:folHlink>
    </a:clrScheme>
    <a:fontScheme name="ABAP Moderno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02.03 Processando campos de caracteres</dc:title>
  <dc:subject>ABAP Moderno – Módulo 02: Programação ABAP Intermediária</dc:subject>
  <dc:creator>Adriano Bispo</dc:creator>
  <cp:lastModifiedBy>Adriano Bispo</cp:lastModifiedBy>
  <cp:revision>1</cp:revision>
  <dcterms:created xsi:type="dcterms:W3CDTF">2026-10-29T13:30:26Z</dcterms:created>
  <dcterms:modified xsi:type="dcterms:W3CDTF">2026-10-29T13:30:26Z</dcterms:modified>
</cp:coreProperties>
</file>