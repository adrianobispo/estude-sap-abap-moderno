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Title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rgbClr val="C9D3DE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  <p:sp>
        <p:nvSpPr>
          <p:cNvPr id="5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02.00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ontent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300" b="1" dirty="0">
                <a:solidFill>
                  <a:srgbClr val="0070F2"/>
                </a:solidFill>
              </a:defRPr>
            </a:lvl1pPr>
          </a:lstStyle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ABAP Moderno  ·  Módulo 02  ·  02.00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rizon Closing">
    <p:bg>
      <p:bgPr>
        <a:solidFill>
          <a:srgbClr val="1D2D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b="1" dirty="0">
                <a:solidFill>
                  <a:srgbClr val="4DB1FF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396A8"/>
                </a:solidFill>
              </a:rPr>
              <a:t>ABAP Moderno  ·  Módulo 02  ·  02.00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DB1FF"/>
                </a:solidFill>
              </a:rPr>
              <a:t>Módulo 02  ·  Guia Essencial</a:t>
            </a:r>
            <a:endParaRPr lang="en-US" sz="1600" dirty="0"/>
          </a:p>
        </p:txBody>
      </p:sp>
      <p:sp>
        <p:nvSpPr>
          <p:cNvPr id="3" name="Text 0"/>
          <p:cNvSpPr/>
          <p:nvPr>
            <p:ph idx="103" type="title" hasCustomPrompt="1"/>
          </p:nvPr>
        </p:nvSpPr>
        <p:spPr>
          <a:xfrm>
            <a:off x="548640" y="2057400"/>
            <a:ext cx="81381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Modelagem de Dados Moderna em ABAP</a:t>
            </a:r>
            <a:endParaRPr lang="en-US" sz="4000" dirty="0"/>
          </a:p>
        </p:txBody>
      </p:sp>
      <p:sp>
        <p:nvSpPr>
          <p:cNvPr id="4" name="Text 0"/>
          <p:cNvSpPr/>
          <p:nvPr>
            <p:ph idx="104" type="body" hasCustomPrompt="1"/>
          </p:nvPr>
        </p:nvSpPr>
        <p:spPr>
          <a:xfrm>
            <a:off x="548640" y="42062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3DE"/>
                </a:solidFill>
              </a:rPr>
              <a:t>Da fundação física à interface inteligente com ABAP CDS — uma jornada construtiva através do RAP.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8915400" y="1600200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33302B"/>
          </a:solidFill>
          <a:ln w="9525">
            <a:solidFill>
              <a:srgbClr val="6B5E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509760" y="1600200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 zrap_travel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915400" y="216712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B1FF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915400" y="2350008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509760" y="2350008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Z_I_TRAVEL (Interface)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915400" y="3099816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509760" y="3099816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association [0..1]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915400" y="3849624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509760" y="3849624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case … end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915400" y="4599432"/>
            <a:ext cx="2743200" cy="566928"/>
          </a:xfrm>
          <a:prstGeom prst="roundRect">
            <a:avLst>
              <a:gd name="adj" fmla="val 50000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509760" y="4599432"/>
            <a:ext cx="2057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annotate view …</a:t>
            </a:r>
            <a:endParaRPr lang="en-US" sz="13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1737360"/>
            <a:ext cx="292608" cy="292608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8280" y="2487168"/>
            <a:ext cx="292608" cy="292608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8280" y="3236976"/>
            <a:ext cx="292608" cy="292608"/>
          </a:xfrm>
          <a:prstGeom prst="rect">
            <a:avLst/>
          </a:prstGeom>
        </p:spPr>
      </p:pic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8280" y="3986784"/>
            <a:ext cx="292608" cy="292608"/>
          </a:xfrm>
          <a:prstGeom prst="rect">
            <a:avLst/>
          </a:prstGeom>
        </p:spPr>
      </p:pic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8280" y="4736592"/>
            <a:ext cx="292608" cy="29260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Revolução do “Code Pushdown”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Por Que Tudo Mudou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</a:rPr>
              <a:t>O Paradigma Antigo: “Data-to-Code”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005840" y="2377440"/>
            <a:ext cx="1645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554480" y="2377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ABAP Server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508760" y="3081528"/>
            <a:ext cx="640080" cy="1005840"/>
          </a:xfrm>
          <a:prstGeom prst="upArrow">
            <a:avLst/>
          </a:prstGeom>
          <a:solidFill>
            <a:srgbClr val="D20A0A"/>
          </a:solidFill>
          <a:ln/>
        </p:spPr>
      </p:sp>
      <p:sp>
        <p:nvSpPr>
          <p:cNvPr id="9" name="Shape 7"/>
          <p:cNvSpPr/>
          <p:nvPr/>
        </p:nvSpPr>
        <p:spPr>
          <a:xfrm>
            <a:off x="1005840" y="416052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EEF1F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554480" y="4160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DATABASE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2423160"/>
            <a:ext cx="2621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ABAP seleciona milhões de linhas, transfere pela rede e processa em tabelas internas gigantes. </a:t>
            </a:r>
            <a:r>
              <a:rPr lang="en-US" sz="1500" b="1" dirty="0">
                <a:solidFill>
                  <a:srgbClr val="1D2D3E"/>
                </a:solidFill>
              </a:rPr>
              <a:t>Ineficiente e lento.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78728" y="160020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F3A"/>
                </a:solidFill>
              </a:rPr>
              <a:t>O Novo Paradigma: “Code-to-Data”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735928" y="2377440"/>
            <a:ext cx="1645920" cy="6400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284568" y="237744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D2D3E"/>
                </a:solidFill>
              </a:rPr>
              <a:t>ABAP Server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147408" y="3081528"/>
            <a:ext cx="320040" cy="1005840"/>
          </a:xfrm>
          <a:prstGeom prst="downArrow">
            <a:avLst/>
          </a:prstGeom>
          <a:solidFill>
            <a:srgbClr val="0070F2"/>
          </a:solidFill>
          <a:ln/>
        </p:spPr>
      </p:sp>
      <p:sp>
        <p:nvSpPr>
          <p:cNvPr id="17" name="Shape 15"/>
          <p:cNvSpPr/>
          <p:nvPr/>
        </p:nvSpPr>
        <p:spPr>
          <a:xfrm>
            <a:off x="7650328" y="3081528"/>
            <a:ext cx="320040" cy="1005840"/>
          </a:xfrm>
          <a:prstGeom prst="upArrow">
            <a:avLst/>
          </a:prstGeom>
          <a:solidFill>
            <a:srgbClr val="30914C"/>
          </a:solidFill>
          <a:ln/>
        </p:spPr>
      </p:sp>
      <p:sp>
        <p:nvSpPr>
          <p:cNvPr id="18" name="Shape 16"/>
          <p:cNvSpPr/>
          <p:nvPr/>
        </p:nvSpPr>
        <p:spPr>
          <a:xfrm>
            <a:off x="6735928" y="4160520"/>
            <a:ext cx="1645920" cy="640080"/>
          </a:xfrm>
          <a:prstGeom prst="roundRect">
            <a:avLst>
              <a:gd name="adj" fmla="val 17143"/>
            </a:avLst>
          </a:prstGeom>
          <a:solidFill>
            <a:srgbClr val="1D2D3E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284568" y="4160520"/>
            <a:ext cx="1051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HANA DB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8793328" y="2423160"/>
            <a:ext cx="262112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ABAP envia a lógica para o HANA. O banco processa, agrega e devolve apenas o resultado final. </a:t>
            </a:r>
            <a:r>
              <a:rPr lang="en-US" sz="1500" b="1" dirty="0">
                <a:solidFill>
                  <a:srgbClr val="1D2D3E"/>
                </a:solidFill>
              </a:rPr>
              <a:t>Performance massiva.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80160" y="55321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D2D3E"/>
                </a:solidFill>
              </a:rPr>
              <a:t>Deixamos de trazer os dados até o código. Agora, </a:t>
            </a:r>
            <a:r>
              <a:rPr lang="en-US" sz="1700" b="1" dirty="0">
                <a:solidFill>
                  <a:srgbClr val="1D2D3E"/>
                </a:solidFill>
              </a:rPr>
              <a:t>levamos o código até os dados.</a:t>
            </a:r>
            <a:endParaRPr lang="en-US" sz="16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2542032"/>
            <a:ext cx="310896" cy="310896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432" y="4325112"/>
            <a:ext cx="310896" cy="310896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0520" y="2542032"/>
            <a:ext cx="310896" cy="310896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701284"/>
            <a:ext cx="347472" cy="347472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00520" y="4325112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Nova Caixa de Ferramentas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Divisão de Responsabilidades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645920" y="178308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ABAP Dictionary (via ADT)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Persistência física e semântica técnica.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78892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Tabelas de Banco de Dados:</a:t>
            </a:r>
            <a:r>
              <a:rPr lang="en-US" sz="1500" dirty="0">
                <a:solidFill>
                  <a:srgbClr val="1D2D3E"/>
                </a:solidFill>
              </a:rPr>
              <a:t> onde os dados realmente moram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 TABLE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Elementos de Dados / Domínios:</a:t>
            </a:r>
            <a:r>
              <a:rPr lang="en-US" sz="1500" dirty="0">
                <a:solidFill>
                  <a:srgbClr val="1D2D3E"/>
                </a:solidFill>
              </a:rPr>
              <a:t> tipos reutilizáveis, labels de tela e ajudas de pesquisa.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78728" y="1600200"/>
            <a:ext cx="5364328" cy="36576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53048" y="1828800"/>
            <a:ext cx="640080" cy="64008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76008" y="1783080"/>
            <a:ext cx="3992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2D3E"/>
                </a:solidFill>
              </a:rPr>
              <a:t>ABAP Core Data Services (CDS)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Modelagem lógica e enriquecimento semântico.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553048" y="2788920"/>
            <a:ext cx="481568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Views:</a:t>
            </a:r>
            <a:r>
              <a:rPr lang="en-US" sz="1500" dirty="0">
                <a:solidFill>
                  <a:srgbClr val="1D2D3E"/>
                </a:solidFill>
              </a:rPr>
              <a:t> lógica de leitura, associações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500" dirty="0">
                <a:solidFill>
                  <a:srgbClr val="1D2D3E"/>
                </a:solidFill>
              </a:rPr>
              <a:t>), cálculos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500" dirty="0">
                <a:solidFill>
                  <a:srgbClr val="1D2D3E"/>
                </a:solidFill>
              </a:rPr>
              <a:t>), agregações (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r>
              <a:rPr lang="en-US" sz="1500" dirty="0">
                <a:solidFill>
                  <a:srgbClr val="1D2D3E"/>
                </a:solidFill>
              </a:rPr>
              <a:t>).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Controle de Acesso (DCLs):</a:t>
            </a:r>
            <a:r>
              <a:rPr lang="en-US" sz="1500" dirty="0">
                <a:solidFill>
                  <a:srgbClr val="1D2D3E"/>
                </a:solidFill>
              </a:rPr>
              <a:t> segurança em nível de linha.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b="1" dirty="0">
                <a:solidFill>
                  <a:srgbClr val="1D2D3E"/>
                </a:solidFill>
              </a:rPr>
              <a:t>Metadados de UI (MDEs):</a:t>
            </a:r>
            <a:r>
              <a:rPr lang="en-US" sz="1500" dirty="0">
                <a:solidFill>
                  <a:srgbClr val="1D2D3E"/>
                </a:solidFill>
              </a:rPr>
              <a:t> anotações para Fiori Elements.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4118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280160" y="5440680"/>
            <a:ext cx="1008857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Dicionário define </a:t>
            </a:r>
            <a:r>
              <a:rPr lang="en-US" sz="1500" b="1" dirty="0">
                <a:solidFill>
                  <a:srgbClr val="1D2D3E"/>
                </a:solidFill>
              </a:rPr>
              <a:t>onde</a:t>
            </a:r>
            <a:r>
              <a:rPr lang="en-US" sz="1500" dirty="0">
                <a:solidFill>
                  <a:srgbClr val="1D2D3E"/>
                </a:solidFill>
              </a:rPr>
              <a:t> e </a:t>
            </a:r>
            <a:r>
              <a:rPr lang="en-US" sz="1500" b="1" dirty="0">
                <a:solidFill>
                  <a:srgbClr val="1D2D3E"/>
                </a:solidFill>
              </a:rPr>
              <a:t>como</a:t>
            </a:r>
            <a:r>
              <a:rPr lang="en-US" sz="1500" dirty="0">
                <a:solidFill>
                  <a:srgbClr val="1D2D3E"/>
                </a:solidFill>
              </a:rPr>
              <a:t> os dados são armazenados. O CDS define </a:t>
            </a:r>
            <a:r>
              <a:rPr lang="en-US" sz="1500" b="1" dirty="0">
                <a:solidFill>
                  <a:srgbClr val="1D2D3E"/>
                </a:solidFill>
              </a:rPr>
              <a:t>o que</a:t>
            </a:r>
            <a:r>
              <a:rPr lang="en-US" sz="1500" dirty="0">
                <a:solidFill>
                  <a:srgbClr val="1D2D3E"/>
                </a:solidFill>
              </a:rPr>
              <a:t> eles significam e </a:t>
            </a:r>
            <a:r>
              <a:rPr lang="en-US" sz="1500" b="1" dirty="0">
                <a:solidFill>
                  <a:srgbClr val="1D2D3E"/>
                </a:solidFill>
              </a:rPr>
              <a:t>como</a:t>
            </a:r>
            <a:r>
              <a:rPr lang="en-US" sz="1500" dirty="0">
                <a:solidFill>
                  <a:srgbClr val="1D2D3E"/>
                </a:solidFill>
              </a:rPr>
              <a:t> devem ser lidos e apresentados.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6579" y="1982419"/>
            <a:ext cx="332842" cy="33284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6667" y="1982419"/>
            <a:ext cx="332842" cy="33284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6555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Planta do Projeto · VDM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Arquitetura-Guia do Virtual Data Model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No S/4HANA, desencorajamos o acesso direto a tabelas físicas. Construímos uma </a:t>
            </a:r>
            <a:r>
              <a:rPr lang="en-US" sz="1500" b="1" dirty="0">
                <a:solidFill>
                  <a:srgbClr val="1D2D3E"/>
                </a:solidFill>
              </a:rPr>
              <a:t>hierarquia de CDS Views</a:t>
            </a:r>
            <a:r>
              <a:rPr lang="en-US" sz="1500" dirty="0">
                <a:solidFill>
                  <a:srgbClr val="1D2D3E"/>
                </a:solidFill>
              </a:rPr>
              <a:t> (o VDM) que cria uma </a:t>
            </a:r>
            <a:r>
              <a:rPr lang="en-US" sz="1500" b="1" dirty="0">
                <a:solidFill>
                  <a:srgbClr val="1D2D3E"/>
                </a:solidFill>
              </a:rPr>
              <a:t>camada de abstração</a:t>
            </a:r>
            <a:r>
              <a:rPr lang="en-US" sz="1500" dirty="0">
                <a:solidFill>
                  <a:srgbClr val="1D2D3E"/>
                </a:solidFill>
              </a:rPr>
              <a:t> e fornece </a:t>
            </a:r>
            <a:r>
              <a:rPr lang="en-US" sz="1500" b="1" dirty="0">
                <a:solidFill>
                  <a:srgbClr val="1D2D3E"/>
                </a:solidFill>
              </a:rPr>
              <a:t>visões de negócio prontas</a:t>
            </a:r>
            <a:r>
              <a:rPr lang="en-US" sz="1500" dirty="0">
                <a:solidFill>
                  <a:srgbClr val="1D2D3E"/>
                </a:solidFill>
              </a:rPr>
              <a:t> para consumo.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828800" y="2423160"/>
            <a:ext cx="2743200" cy="960120"/>
          </a:xfrm>
          <a:prstGeom prst="roundRect">
            <a:avLst>
              <a:gd name="adj" fmla="val 9524"/>
            </a:avLst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828800" y="242316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CONSUMPTION / PROJECTION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6172200" y="2423160"/>
            <a:ext cx="5470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Prefixo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</a:t>
            </a:r>
            <a:r>
              <a:rPr lang="en-US" sz="1300" dirty="0">
                <a:solidFill>
                  <a:srgbClr val="556B82"/>
                </a:solidFill>
              </a:rPr>
              <a:t>  (ex.: </a:t>
            </a:r>
            <a:r>
              <a:rPr lang="en-US" sz="13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C_ApproveTravel</a:t>
            </a:r>
            <a:r>
              <a:rPr lang="en-US" sz="1300" dirty="0">
                <a:solidFill>
                  <a:srgbClr val="556B82"/>
                </a:solidFill>
              </a:rPr>
              <a:t>)  ·  </a:t>
            </a:r>
            <a:r>
              <a:rPr lang="en-US" sz="1300" b="1" dirty="0">
                <a:solidFill>
                  <a:srgbClr val="1D2D3E"/>
                </a:solidFill>
              </a:rPr>
              <a:t>@VDM.viewType: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#CONSUMPTION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 ponta do iceberg. Específica para uma UI ou API; contém anotações @UI. Baixa reutilização.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188720" y="3538728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7858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188720" y="3538728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COMPOSITE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172200" y="3538728"/>
            <a:ext cx="5470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Prefixo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</a:t>
            </a:r>
            <a:r>
              <a:rPr lang="en-US" sz="1300" dirty="0">
                <a:solidFill>
                  <a:srgbClr val="556B82"/>
                </a:solidFill>
              </a:rPr>
              <a:t>  (ex.: </a:t>
            </a:r>
            <a:r>
              <a:rPr lang="en-US" sz="13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I_SalesOrderWithCustomer</a:t>
            </a:r>
            <a:r>
              <a:rPr lang="en-US" sz="1300" dirty="0">
                <a:solidFill>
                  <a:srgbClr val="556B82"/>
                </a:solidFill>
              </a:rPr>
              <a:t>)  ·  </a:t>
            </a:r>
            <a:r>
              <a:rPr lang="en-US" sz="1300" b="1" dirty="0">
                <a:solidFill>
                  <a:srgbClr val="1D2D3E"/>
                </a:solidFill>
              </a:rPr>
              <a:t>@VDM.viewType: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#COMPOSITE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Combinam Interface Views; contêm lógica de negócio reutilizável. A base para a analítica.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654296"/>
            <a:ext cx="5303520" cy="960120"/>
          </a:xfrm>
          <a:prstGeom prst="roundRect">
            <a:avLst>
              <a:gd name="adj" fmla="val 9524"/>
            </a:avLst>
          </a:prstGeom>
          <a:solidFill>
            <a:srgbClr val="30914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654296"/>
            <a:ext cx="5303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BASIC / INTERFACE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72200" y="4654296"/>
            <a:ext cx="547085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Prefixo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</a:t>
            </a:r>
            <a:r>
              <a:rPr lang="en-US" sz="1300" dirty="0">
                <a:solidFill>
                  <a:srgbClr val="556B82"/>
                </a:solidFill>
              </a:rPr>
              <a:t>  (ex.: </a:t>
            </a:r>
            <a:r>
              <a:rPr lang="en-US" sz="1300" dirty="0">
                <a:solidFill>
                  <a:srgbClr val="556B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I_Product</a:t>
            </a:r>
            <a:r>
              <a:rPr lang="en-US" sz="1300" dirty="0">
                <a:solidFill>
                  <a:srgbClr val="556B82"/>
                </a:solidFill>
              </a:rPr>
              <a:t>)  ·  </a:t>
            </a:r>
            <a:r>
              <a:rPr lang="en-US" sz="1300" b="1" dirty="0">
                <a:solidFill>
                  <a:srgbClr val="1D2D3E"/>
                </a:solidFill>
              </a:rPr>
              <a:t>@VDM.viewType: </a:t>
            </a:r>
            <a:r>
              <a:rPr lang="en-US" sz="13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#BASIC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A fonte da verdade. Espelham a tabela física com nomes limpos e semânticos. Alta reutilização.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85216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56B82"/>
                </a:solidFill>
              </a:rPr>
              <a:t>Vamos construir a nossa aplicação seguindo esta planta, camada por camada.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Lançando os Alicerces com DEFINE TABLE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94944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764792"/>
            <a:ext cx="64922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'Tabela de Viagens - RAP Demo'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@AbapCatalog.tableCategory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#TRANSPARENT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@AbapCatalog.deliveryClass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@AbapCatalog.dataMaintenance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#RESTRICTED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abap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clnt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sysuuid_x16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null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 chave moderna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/dmo/agency_id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'zrap_travel.currency_code'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/dmo/total_price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/dmo/currency_code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Campos de auditoria gerenciados pelo RAP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created_at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last_changed_by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syuname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last_changed_at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timestampl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772400" y="1600200"/>
            <a:ext cx="3870655" cy="3566160"/>
          </a:xfrm>
          <a:prstGeom prst="roundRect">
            <a:avLst>
              <a:gd name="adj" fmla="val 3590"/>
            </a:avLst>
          </a:prstGeom>
          <a:solidFill>
            <a:srgbClr val="FFF8D6"/>
          </a:solidFill>
          <a:ln w="9525">
            <a:solidFill>
              <a:srgbClr val="F5D7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046720" y="2468880"/>
            <a:ext cx="3322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Insight de Arquiteto: por que sysuuid_x16 como chave?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046720" y="3108960"/>
            <a:ext cx="3322015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UUIDs</a:t>
            </a:r>
            <a:r>
              <a:rPr lang="en-US" sz="1300" dirty="0">
                <a:solidFill>
                  <a:srgbClr val="1D2D3E"/>
                </a:solidFill>
              </a:rPr>
              <a:t> são a chave primária padrão no RAP. Permitem cenários como </a:t>
            </a:r>
            <a:r>
              <a:rPr lang="en-US" sz="1300" b="1" dirty="0">
                <a:solidFill>
                  <a:srgbClr val="1D2D3E"/>
                </a:solidFill>
              </a:rPr>
              <a:t>Drafts (Rascunhos)</a:t>
            </a:r>
            <a:r>
              <a:rPr lang="en-US" sz="1300" dirty="0">
                <a:solidFill>
                  <a:srgbClr val="1D2D3E"/>
                </a:solidFill>
              </a:rPr>
              <a:t>, onde um registro precisa existir com uma chave única antes de ser validado e numerado oficialmente (</a:t>
            </a:r>
            <a:r>
              <a:rPr lang="en-US" sz="1300" b="1" dirty="0">
                <a:solidFill>
                  <a:srgbClr val="1D2D3E"/>
                </a:solidFill>
              </a:rPr>
              <a:t>Late Numbering</a:t>
            </a:r>
            <a:r>
              <a:rPr lang="en-US" sz="1300" dirty="0">
                <a:solidFill>
                  <a:srgbClr val="1D2D3E"/>
                </a:solidFill>
              </a:rPr>
              <a:t>). O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300" dirty="0">
                <a:solidFill>
                  <a:srgbClr val="1D2D3E"/>
                </a:solidFill>
              </a:rPr>
              <a:t> legível torna-se um campo secundário de busca.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772400" y="5303520"/>
            <a:ext cx="3870655" cy="868680"/>
          </a:xfrm>
          <a:prstGeom prst="roundRect">
            <a:avLst>
              <a:gd name="adj" fmla="val 12632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503920" y="5303520"/>
            <a:ext cx="2864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2D3E"/>
                </a:solidFill>
              </a:rPr>
              <a:t>Adeus, SE11. Olá, abapGit!</a:t>
            </a:r>
            <a:r>
              <a:rPr lang="en-US" sz="1300" dirty="0">
                <a:solidFill>
                  <a:srgbClr val="1D2D3E"/>
                </a:solidFill>
              </a:rPr>
              <a:t> A definição como código permite versionamento, comparação (diff) e produtividade.</a:t>
            </a:r>
            <a:endParaRPr lang="en-US" sz="16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8394" y="1960474"/>
            <a:ext cx="285293" cy="285293"/>
          </a:xfrm>
          <a:prstGeom prst="rect">
            <a:avLst/>
          </a:prstGeom>
        </p:spPr>
      </p:pic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55641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Definindo os Blocos de Construção Semânticos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583680" cy="2331720"/>
          </a:xfrm>
          <a:prstGeom prst="roundRect">
            <a:avLst>
              <a:gd name="adj" fmla="val 5490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54480" y="178308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Nível 2 (Topo) – ELEMENTO DE DADOS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Responsabilidade: adiciona o significado de NEGÓCIO.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2560320"/>
            <a:ext cx="5303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D2D3E"/>
                </a:solidFill>
              </a:rPr>
              <a:t>Field Labels</a:t>
            </a:r>
            <a:r>
              <a:rPr lang="en-US" sz="1300" dirty="0">
                <a:solidFill>
                  <a:srgbClr val="1D2D3E"/>
                </a:solidFill>
              </a:rPr>
              <a:t> (a mágica do Fiori):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Short (10): ‘Tel. Com.’  ·  Medium (20): ‘Telefone Comercial’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Long (40): ‘Número do Telefone Comercial’  ·  Heading: ‘Telefone’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Ajuda F1: ‘Insira o telefone principal do contato.’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3977640"/>
            <a:ext cx="365760" cy="274320"/>
          </a:xfrm>
          <a:prstGeom prst="upArrow">
            <a:avLst/>
          </a:prstGeom>
          <a:solidFill>
            <a:srgbClr val="0070F2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297680"/>
            <a:ext cx="6583680" cy="1874520"/>
          </a:xfrm>
          <a:prstGeom prst="roundRect">
            <a:avLst>
              <a:gd name="adj" fmla="val 682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452628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EAECE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54480" y="4480560"/>
            <a:ext cx="5303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D2D3E"/>
                </a:solidFill>
              </a:rPr>
              <a:t>Nível 1 (Base) – DOMÍNIO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Responsabilidade: define as propriedades TÉCNICAS.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554480" y="525780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D2D3E"/>
                </a:solidFill>
              </a:rPr>
              <a:t>Tipo de dado: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CHAR30</a:t>
            </a:r>
            <a:r>
              <a:rPr lang="en-US" sz="1300" dirty="0">
                <a:solidFill>
                  <a:srgbClr val="1D2D3E"/>
                </a:solidFill>
              </a:rPr>
              <a:t>  ·  Permite minúsculas: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r>
              <a:rPr lang="en-US" sz="1300" dirty="0">
                <a:solidFill>
                  <a:srgbClr val="1D2D3E"/>
                </a:solidFill>
              </a:rPr>
              <a:t>  ·  Rotina de conversão: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ALPHA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0" y="1600200"/>
            <a:ext cx="4236415" cy="4572000"/>
          </a:xfrm>
          <a:prstGeom prst="roundRect">
            <a:avLst>
              <a:gd name="adj" fmla="val 2590"/>
            </a:avLst>
          </a:prstGeom>
          <a:solidFill>
            <a:srgbClr val="FFF8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138160" y="1600200"/>
            <a:ext cx="323057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Investir tempo aqui se paga sozinho.</a:t>
            </a:r>
            <a:r>
              <a:rPr lang="en-US" sz="1500" dirty="0">
                <a:solidFill>
                  <a:srgbClr val="1D2D3E"/>
                </a:solidFill>
              </a:rPr>
              <a:t> O Fiori Elements é responsivo: herda e escolhe automaticamente o label correto (longo, médio ou curto) conforme o tamanho da tela, garantindo uma UI perfeita em qualquer dispositivo e idioma.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4634" y="1960474"/>
            <a:ext cx="285293" cy="285293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3712464"/>
            <a:ext cx="347472" cy="34747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634" y="4657954"/>
            <a:ext cx="285293" cy="285293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Interface Views (Basic): A Primeira Proteção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Primeira camada do VDM: sem filtros de negócio, para máxima reutilização. Esconde os detalhes da tabela física e cria </a:t>
            </a:r>
            <a:r>
              <a:rPr lang="en-US" sz="1500" b="1" dirty="0">
                <a:solidFill>
                  <a:srgbClr val="1D2D3E"/>
                </a:solidFill>
              </a:rPr>
              <a:t>uma interface estável e amigável</a:t>
            </a:r>
            <a:r>
              <a:rPr lang="en-US" sz="1500" dirty="0">
                <a:solidFill>
                  <a:srgbClr val="1D2D3E"/>
                </a:solidFill>
              </a:rPr>
              <a:t> para APIs e outras views, com nomes em </a:t>
            </a:r>
            <a:r>
              <a:rPr lang="en-US" sz="1500" b="1" dirty="0">
                <a:solidFill>
                  <a:srgbClr val="1D2D3E"/>
                </a:solidFill>
              </a:rPr>
              <a:t>CamelCase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377440"/>
            <a:ext cx="7132320" cy="3794760"/>
          </a:xfrm>
          <a:prstGeom prst="roundRect">
            <a:avLst>
              <a:gd name="adj" fmla="val 3373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777240" y="2542032"/>
            <a:ext cx="667512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@AccessControl.authorizationCheck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#NOT_REQUIRED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@EndUserText.label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'Interface View para Viagens'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i="1" dirty="0">
                <a:solidFill>
                  <a:srgbClr val="6A7B8C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Alias para CamelCase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@Semantics.amount.currencyCode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'CurrencyCode'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total_price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TotalPrice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currency_code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CurrencyCode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955280" y="2377440"/>
            <a:ext cx="3687775" cy="3794760"/>
          </a:xfrm>
          <a:prstGeom prst="roundRect">
            <a:avLst>
              <a:gd name="adj" fmla="val 2975"/>
            </a:avLst>
          </a:prstGeom>
          <a:solidFill>
            <a:srgbClr val="EBF8FF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0" y="2377440"/>
            <a:ext cx="2681935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Transformamos nomes técnicos como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500" dirty="0">
                <a:solidFill>
                  <a:srgbClr val="1D2D3E"/>
                </a:solidFill>
              </a:rPr>
              <a:t> em nomes amigáveis como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500" dirty="0">
                <a:solidFill>
                  <a:srgbClr val="1D2D3E"/>
                </a:solidFill>
              </a:rPr>
              <a:t>. Interfaces modernas (Fiori, APIs REST) padronizam CamelCase — o CDS resolve isso </a:t>
            </a:r>
            <a:r>
              <a:rPr lang="en-US" sz="1500" b="1" dirty="0">
                <a:solidFill>
                  <a:srgbClr val="1D2D3E"/>
                </a:solidFill>
              </a:rPr>
              <a:t>na fonte</a:t>
            </a:r>
            <a:r>
              <a:rPr lang="en-US" sz="15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41010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4 · O poder do ‘Join sob Demanda’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Conectando as Estruturas com Associações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(Eager Loading)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2423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88720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Viagens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749040" y="32918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49040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Clientes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697480"/>
            <a:ext cx="1783080" cy="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2697480"/>
            <a:ext cx="0" cy="594360"/>
          </a:xfrm>
          <a:prstGeom prst="line">
            <a:avLst/>
          </a:prstGeom>
          <a:noFill/>
          <a:ln w="31750">
            <a:solidFill>
              <a:srgbClr val="D20A0A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2788920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A080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97764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500" dirty="0">
                <a:solidFill>
                  <a:srgbClr val="1D2D3E"/>
                </a:solidFill>
              </a:rPr>
              <a:t> é executado fisicamente </a:t>
            </a:r>
            <a:r>
              <a:rPr lang="en-US" sz="1500" b="1" dirty="0">
                <a:solidFill>
                  <a:srgbClr val="1D2D3E"/>
                </a:solidFill>
              </a:rPr>
              <a:t>toda vez</a:t>
            </a:r>
            <a:r>
              <a:rPr lang="en-US" sz="1500" dirty="0">
                <a:solidFill>
                  <a:srgbClr val="1D2D3E"/>
                </a:solidFill>
              </a:rPr>
              <a:t> que a view é lida, mesmo que você só precise de campos da tabela de Viagens. Desperdício de recursos.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78728" y="1600200"/>
            <a:ext cx="5364328" cy="374904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53048" y="1783080"/>
            <a:ext cx="48156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 (Lazy Loading)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918808" y="242316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18808" y="24231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Viagens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479128" y="32918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EBF8FF"/>
          </a:solidFill>
          <a:ln w="12700">
            <a:solidFill>
              <a:srgbClr val="0070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479128" y="32918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64D9"/>
                </a:solidFill>
              </a:rPr>
              <a:t>Clientes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473288" y="2697480"/>
            <a:ext cx="1783080" cy="0"/>
          </a:xfrm>
          <a:prstGeom prst="line">
            <a:avLst/>
          </a:prstGeom>
          <a:noFill/>
          <a:ln w="31750">
            <a:solidFill>
              <a:srgbClr val="30914C"/>
            </a:solidFill>
            <a:prstDash val="dash"/>
          </a:ln>
        </p:spPr>
      </p:sp>
      <p:sp>
        <p:nvSpPr>
          <p:cNvPr id="21" name="Shape 19"/>
          <p:cNvSpPr/>
          <p:nvPr/>
        </p:nvSpPr>
        <p:spPr>
          <a:xfrm>
            <a:off x="10256368" y="2697480"/>
            <a:ext cx="0" cy="594360"/>
          </a:xfrm>
          <a:prstGeom prst="line">
            <a:avLst/>
          </a:prstGeom>
          <a:noFill/>
          <a:ln w="31750">
            <a:solidFill>
              <a:srgbClr val="30914C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8519008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553048" y="3977640"/>
            <a:ext cx="481568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 associação é um relacionamento lógico. O </a:t>
            </a:r>
            <a:r>
              <a:rPr lang="en-US" sz="15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</a:t>
            </a:r>
            <a:r>
              <a:rPr lang="en-US" sz="1500" dirty="0">
                <a:solidFill>
                  <a:srgbClr val="1D2D3E"/>
                </a:solidFill>
              </a:rPr>
              <a:t> físico só acontece quando um campo da entidade associada é </a:t>
            </a:r>
            <a:r>
              <a:rPr lang="en-US" sz="1500" b="1" dirty="0">
                <a:solidFill>
                  <a:srgbClr val="1D2D3E"/>
                </a:solidFill>
              </a:rPr>
              <a:t>explicitamente solicitado</a:t>
            </a:r>
            <a:r>
              <a:rPr lang="en-US" sz="1500" dirty="0">
                <a:solidFill>
                  <a:srgbClr val="1D2D3E"/>
                </a:solidFill>
              </a:rPr>
              <a:t>. Performance e modelos mais limpos.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" y="5532120"/>
            <a:ext cx="11094415" cy="685800"/>
          </a:xfrm>
          <a:prstGeom prst="roundRect">
            <a:avLst>
              <a:gd name="adj" fmla="val 16000"/>
            </a:avLst>
          </a:prstGeom>
          <a:solidFill>
            <a:srgbClr val="EBF8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280160" y="55321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As Associações são a base da navegação no Fiori e permitem modelos ricos </a:t>
            </a:r>
            <a:r>
              <a:rPr lang="en-US" sz="1500" b="1" dirty="0">
                <a:solidFill>
                  <a:srgbClr val="1D2D3E"/>
                </a:solidFill>
              </a:rPr>
              <a:t>sem penalizar</a:t>
            </a:r>
            <a:r>
              <a:rPr lang="en-US" sz="1500" dirty="0">
                <a:solidFill>
                  <a:srgbClr val="1D2D3E"/>
                </a:solidFill>
              </a:rPr>
              <a:t> a performance de consultas simples.</a:t>
            </a:r>
            <a:endParaRPr lang="en-US" sz="16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70128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Aplicando Associações e Expondo Relacionamentos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7132320" cy="4572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764792"/>
            <a:ext cx="66751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define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Z_I_TRAVEL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zrap_travel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// Definição das associações (relacionamentos lógicos)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$projection.AgencyID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/DMO/I_Customer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$projection.CustomerID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association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I_Currency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r>
              <a:rPr lang="en-US" sz="1100" b="1" dirty="0">
                <a:solidFill>
                  <a:srgbClr val="0064D9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$projection.CurrencyCode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travel_uuid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TravelUUID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customer_id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CustomerID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// Exposição das associações (publicação)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_Agency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_Customer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</a:t>
            </a:r>
            <a:r>
              <a:rPr lang="en-US" sz="1100" dirty="0">
                <a:solidFill>
                  <a:srgbClr val="1D2D3E"/>
                </a:solidFill>
                <a:highlight>
                  <a:srgbClr val="FFF3B8"/>
                </a:highlight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_Currency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955280" y="1600200"/>
            <a:ext cx="3687775" cy="4572000"/>
          </a:xfrm>
          <a:prstGeom prst="roundRect">
            <a:avLst>
              <a:gd name="adj" fmla="val 3471"/>
            </a:avLst>
          </a:prstGeom>
          <a:solidFill>
            <a:srgbClr val="FFF8D6"/>
          </a:solidFill>
          <a:ln w="9525">
            <a:solidFill>
              <a:srgbClr val="F5D7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0" y="182880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2468880"/>
            <a:ext cx="31391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Insight de Arquiteto: Cardinalidade e Exposição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3154680"/>
            <a:ext cx="3139135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D2D3E"/>
                </a:solidFill>
              </a:rPr>
              <a:t>A </a:t>
            </a:r>
            <a:r>
              <a:rPr lang="en-US" sz="1300" b="1" dirty="0">
                <a:solidFill>
                  <a:srgbClr val="1D2D3E"/>
                </a:solidFill>
              </a:rPr>
              <a:t>cardinalidade</a:t>
            </a:r>
            <a:r>
              <a:rPr lang="en-US" sz="1300" dirty="0">
                <a:solidFill>
                  <a:srgbClr val="1D2D3E"/>
                </a:solidFill>
              </a:rPr>
              <a:t> (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[0..1]</a:t>
            </a:r>
            <a:r>
              <a:rPr lang="en-US" sz="1300" dirty="0">
                <a:solidFill>
                  <a:srgbClr val="1D2D3E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[1..*]</a:t>
            </a:r>
            <a:r>
              <a:rPr lang="en-US" sz="1300" dirty="0">
                <a:solidFill>
                  <a:srgbClr val="1D2D3E"/>
                </a:solidFill>
              </a:rPr>
              <a:t>) não é só documentação: informa ao otimizador se pode usar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INNER JOIN</a:t>
            </a:r>
            <a:r>
              <a:rPr lang="en-US" sz="1300" dirty="0">
                <a:solidFill>
                  <a:srgbClr val="1D2D3E"/>
                </a:solidFill>
              </a:rPr>
              <a:t> (mais rápido) ou deve usar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OUTER JOIN</a:t>
            </a:r>
            <a:r>
              <a:rPr lang="en-US" sz="1300" dirty="0">
                <a:solidFill>
                  <a:srgbClr val="1D2D3E"/>
                </a:solidFill>
              </a:rPr>
              <a:t>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D2D3E"/>
                </a:solidFill>
              </a:rPr>
              <a:t>Expor a associação</a:t>
            </a:r>
            <a:r>
              <a:rPr lang="en-US" sz="1300" dirty="0">
                <a:solidFill>
                  <a:srgbClr val="1D2D3E"/>
                </a:solidFill>
              </a:rPr>
              <a:t> (colocar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_Alias</a:t>
            </a:r>
            <a:r>
              <a:rPr lang="en-US" sz="1300" dirty="0">
                <a:solidFill>
                  <a:srgbClr val="1D2D3E"/>
                </a:solidFill>
              </a:rPr>
              <a:t> na lista de campos) a transforma em uma ‘Navigation Property’ no serviço OData, permitindo que o Fiori navegue entre entidades automaticamente.</a:t>
            </a:r>
            <a:endParaRPr lang="en-US" sz="16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1274" y="1960474"/>
            <a:ext cx="285293" cy="285293"/>
          </a:xfrm>
          <a:prstGeom prst="rect">
            <a:avLst/>
          </a:prstGeom>
        </p:spPr>
      </p:pic>
      <p:sp>
        <p:nvSpPr>
          <p:cNvPr id="10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Adicionando Inteligência com Expressões SQL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Em vez de fazer loops em ABAP, empurramos a lógica de negócio para a view. Os cálculos ocorrem onde os dados residem — no HANA — de forma centralizada, performática e reutilizável por qualquer consumidor.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15258" cy="37490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560320"/>
            <a:ext cx="2463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1. Lógica condicional com CASE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2461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‘Traduzir’ códigos técnicos em valores semânticos ou visuais (cores).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3977640"/>
            <a:ext cx="314949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960120" y="4142232"/>
            <a:ext cx="2692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overall_status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Verde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Amarelo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Vermelho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</a:t>
            </a: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 Cinza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StatusCriticality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38218" y="2423160"/>
            <a:ext cx="3515258" cy="37490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66818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206898" y="2560320"/>
            <a:ext cx="2463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2. Datas com funções nativas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566818" y="32461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Calcular durações ou datas futuras sem código ABAP.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21098" y="3977640"/>
            <a:ext cx="314949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749698" y="4142232"/>
            <a:ext cx="2692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dats_days_between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begin_date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end_date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DurationDays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27797" y="2423160"/>
            <a:ext cx="3515258" cy="3749040"/>
          </a:xfrm>
          <a:prstGeom prst="roundRect">
            <a:avLst>
              <a:gd name="adj" fmla="val 364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56397" y="260604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996477" y="2560320"/>
            <a:ext cx="246369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3. Variáveis de sessão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356397" y="3246120"/>
            <a:ext cx="305805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Criar views dinâmicas que se adaptam ao usuário logado.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310677" y="3977640"/>
            <a:ext cx="3149498" cy="2011680"/>
          </a:xfrm>
          <a:prstGeom prst="roundRect">
            <a:avLst>
              <a:gd name="adj" fmla="val 636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8539277" y="4142232"/>
            <a:ext cx="26922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created_by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$session.user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'X'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''</a:t>
            </a:r>
            <a:endParaRPr lang="en-US" sz="11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IsMyTravel</a:t>
            </a:r>
            <a:endParaRPr lang="en-US" sz="11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941" y="2726741"/>
            <a:ext cx="261518" cy="261518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7519" y="2726741"/>
            <a:ext cx="261518" cy="261518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7098" y="2726741"/>
            <a:ext cx="261518" cy="26151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O Princípio da Arquitetura Limpa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Separação de Preocupações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5448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D2D3E"/>
                </a:solidFill>
              </a:rPr>
              <a:t>Uma única view pode ter centenas de campos. Misturar lógica SQL com dezenas de anotações @UI torna o código ilegível, rígido e difícil de manter. A solução é separar.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364328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5146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600200" y="246888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CDS View (.ddls)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Responsabilidade: a Verdade do Dado.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291840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Estrutura SQL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Associações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Cálculos de negócio (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dirty="0">
                <a:solidFill>
                  <a:srgbClr val="1D2D3E"/>
                </a:solidFill>
              </a:rPr>
              <a:t>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Anotações semânticas (@Semantics)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278728" y="2331720"/>
            <a:ext cx="5364328" cy="2743200"/>
          </a:xfrm>
          <a:prstGeom prst="roundRect">
            <a:avLst>
              <a:gd name="adj" fmla="val 466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53048" y="2514600"/>
            <a:ext cx="594360" cy="594360"/>
          </a:xfrm>
          <a:prstGeom prst="roundRect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330288" y="2468880"/>
            <a:ext cx="40841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D2D3E"/>
                </a:solidFill>
              </a:rPr>
              <a:t>Metadata Extension (.ddlx)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Responsabilidade: o Estilo do Dado.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553048" y="3291840"/>
            <a:ext cx="481568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Posição das colunas (@UI.lineItem)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Filtros de pesquisa (@UI.selectionField)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Cores e ícones (criticality)</a:t>
            </a:r>
            <a:endParaRPr lang="en-US" sz="1600" dirty="0"/>
          </a:p>
          <a:p>
            <a:pPr marL="203200" indent="-2032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D2D3E"/>
                </a:solidFill>
              </a:rPr>
              <a:t>Visibilidade dos campos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FFF8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80160" y="525780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D2D3E"/>
                </a:solidFill>
              </a:rPr>
              <a:t>Analogia Web:</a:t>
            </a:r>
            <a:r>
              <a:rPr lang="en-US" sz="1500" dirty="0">
                <a:solidFill>
                  <a:srgbClr val="1D2D3E"/>
                </a:solidFill>
              </a:rPr>
              <a:t> CDS View = </a:t>
            </a:r>
            <a:r>
              <a:rPr lang="en-US" sz="1500" b="1" dirty="0">
                <a:solidFill>
                  <a:srgbClr val="1D2D3E"/>
                </a:solidFill>
              </a:rPr>
              <a:t>HTML</a:t>
            </a:r>
            <a:r>
              <a:rPr lang="en-US" sz="1500" dirty="0">
                <a:solidFill>
                  <a:srgbClr val="1D2D3E"/>
                </a:solidFill>
              </a:rPr>
              <a:t> (estrutura e conteúdo). Metadata Extension = </a:t>
            </a:r>
            <a:r>
              <a:rPr lang="en-US" sz="1500" b="1" dirty="0">
                <a:solidFill>
                  <a:srgbClr val="1D2D3E"/>
                </a:solidFill>
              </a:rPr>
              <a:t>CSS</a:t>
            </a:r>
            <a:r>
              <a:rPr lang="en-US" sz="1500" dirty="0">
                <a:solidFill>
                  <a:srgbClr val="1D2D3E"/>
                </a:solidFill>
              </a:rPr>
              <a:t> (estilo, cores e layout). Mantê-los separados é a melhor prática para um código limpo e flexível.</a:t>
            </a:r>
            <a:endParaRPr lang="en-US" sz="16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5606" y="2657246"/>
            <a:ext cx="309067" cy="309067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5541264"/>
            <a:ext cx="347472" cy="34747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5694" y="2657246"/>
            <a:ext cx="309067" cy="309067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Passo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O Acabamento Final com Metadata Extensions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94415" cy="548640"/>
          </a:xfrm>
          <a:prstGeom prst="roundRect">
            <a:avLst>
              <a:gd name="adj" fmla="val 20000"/>
            </a:avLst>
          </a:prstGeom>
          <a:solidFill>
            <a:srgbClr val="FFEAF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280160" y="155448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2D3E"/>
                </a:solidFill>
              </a:rPr>
              <a:t>Pré-requisito:</a:t>
            </a:r>
            <a:r>
              <a:rPr lang="en-US" sz="1400" dirty="0">
                <a:solidFill>
                  <a:srgbClr val="1D2D3E"/>
                </a:solidFill>
              </a:rPr>
              <a:t> a CDS View deve conter a anotação de cabeçalho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@Metadata.allowExtensions: true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731520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 w="9525">
            <a:solidFill>
              <a:srgbClr val="D9D9D9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450592"/>
            <a:ext cx="685800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@Metadata.layer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#CORE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annotate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Z_C_TRAVEL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b="1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TravelID: 1ª coluna, alta importância, 1º filtro */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TravelID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AgencyID: 2ª coluna e 2º filtro */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selectionField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AgencyID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i="1" dirty="0">
                <a:solidFill>
                  <a:srgbClr val="6A7B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/* Status: 5ª coluna, cor vinculada ao campo calculado */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5D3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@UI.lineItem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B44F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#HIGH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256F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'StatusCriticality'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OverallStatus</a:t>
            </a: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;</a:t>
            </a:r>
            <a:endParaRPr lang="en-US" sz="11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1D2D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8138160" y="2286000"/>
            <a:ext cx="350489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302752" y="267004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302752" y="2670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8778240" y="2286000"/>
            <a:ext cx="2727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position</a:t>
            </a:r>
            <a:r>
              <a:rPr lang="en-US" sz="1400" dirty="0">
                <a:solidFill>
                  <a:srgbClr val="1D2D3E"/>
                </a:solidFill>
              </a:rPr>
              <a:t> define a </a:t>
            </a:r>
            <a:r>
              <a:rPr lang="en-US" sz="1400" b="1" dirty="0">
                <a:solidFill>
                  <a:srgbClr val="1D2D3E"/>
                </a:solidFill>
              </a:rPr>
              <a:t>ordem da coluna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38160" y="3611880"/>
            <a:ext cx="350489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399592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302752" y="39959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778240" y="3611880"/>
            <a:ext cx="2727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importance</a:t>
            </a:r>
            <a:r>
              <a:rPr lang="en-US" sz="1400" dirty="0">
                <a:solidFill>
                  <a:srgbClr val="1D2D3E"/>
                </a:solidFill>
              </a:rPr>
              <a:t> controla a </a:t>
            </a:r>
            <a:r>
              <a:rPr lang="en-US" sz="1400" b="1" dirty="0">
                <a:solidFill>
                  <a:srgbClr val="1D2D3E"/>
                </a:solidFill>
              </a:rPr>
              <a:t>responsividade</a:t>
            </a:r>
            <a:r>
              <a:rPr lang="en-US" sz="1400" dirty="0">
                <a:solidFill>
                  <a:srgbClr val="1D2D3E"/>
                </a:solidFill>
              </a:rPr>
              <a:t> em telas móveis.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138160" y="4937760"/>
            <a:ext cx="3504895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02752" y="5321808"/>
            <a:ext cx="329184" cy="32918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8302752" y="53218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8778240" y="4937760"/>
            <a:ext cx="2727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criticality</a:t>
            </a:r>
            <a:r>
              <a:rPr lang="en-US" sz="1400" dirty="0">
                <a:solidFill>
                  <a:srgbClr val="1D2D3E"/>
                </a:solidFill>
              </a:rPr>
              <a:t> conecta a lógica do </a:t>
            </a:r>
            <a:r>
              <a:rPr lang="en-US" sz="14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</a:t>
            </a:r>
            <a:r>
              <a:rPr lang="en-US" sz="1400" dirty="0">
                <a:solidFill>
                  <a:srgbClr val="1D2D3E"/>
                </a:solidFill>
              </a:rPr>
              <a:t> à </a:t>
            </a:r>
            <a:r>
              <a:rPr lang="en-US" sz="1400" b="1" dirty="0">
                <a:solidFill>
                  <a:srgbClr val="1D2D3E"/>
                </a:solidFill>
              </a:rPr>
              <a:t>cor na UI</a:t>
            </a:r>
            <a:r>
              <a:rPr lang="en-US" sz="1400" dirty="0">
                <a:solidFill>
                  <a:srgbClr val="1D2D3E"/>
                </a:solidFill>
              </a:rPr>
              <a:t>.</a:t>
            </a:r>
            <a:endParaRPr lang="en-US" sz="160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65506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84048"/>
            <a:ext cx="110944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70F2"/>
                </a:solidFill>
              </a:rPr>
              <a:t>A Construção Completa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D2D3E"/>
                </a:solidFill>
              </a:rPr>
              <a:t>A Jornada de um Dado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926275" cy="219456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130552"/>
            <a:ext cx="174339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Fundação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zrap_travel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DEFINE TABLE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548067" y="301752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7" name="Shape 5"/>
          <p:cNvSpPr/>
          <p:nvPr/>
        </p:nvSpPr>
        <p:spPr>
          <a:xfrm>
            <a:off x="2840675" y="2057400"/>
            <a:ext cx="1926275" cy="219456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932115" y="2130552"/>
            <a:ext cx="174339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Abstração (VDM)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Z_I_TRAVEL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Aliases, associações, CASE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840102" y="301752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0" name="Shape 8"/>
          <p:cNvSpPr/>
          <p:nvPr/>
        </p:nvSpPr>
        <p:spPr>
          <a:xfrm>
            <a:off x="5132710" y="2057400"/>
            <a:ext cx="1926275" cy="219456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5224150" y="2130552"/>
            <a:ext cx="174339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Projeção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Z_C_TRAVEL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Seleciona e projeta campos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32137" y="301752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3" name="Shape 11"/>
          <p:cNvSpPr/>
          <p:nvPr/>
        </p:nvSpPr>
        <p:spPr>
          <a:xfrm>
            <a:off x="7424745" y="2057400"/>
            <a:ext cx="1926275" cy="219456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9525">
            <a:solidFill>
              <a:srgbClr val="0070F2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7516185" y="2130552"/>
            <a:ext cx="174339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64D9"/>
                </a:solidFill>
              </a:rPr>
              <a:t>Enriquecimento UI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Z_C_TRAVEL.ddlx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Anotações @UI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424172" y="3017520"/>
            <a:ext cx="219456" cy="274320"/>
          </a:xfrm>
          <a:prstGeom prst="rightArrow">
            <a:avLst/>
          </a:prstGeom>
          <a:solidFill>
            <a:srgbClr val="556B82"/>
          </a:solidFill>
          <a:ln/>
        </p:spPr>
      </p:sp>
      <p:sp>
        <p:nvSpPr>
          <p:cNvPr id="16" name="Shape 14"/>
          <p:cNvSpPr/>
          <p:nvPr/>
        </p:nvSpPr>
        <p:spPr>
          <a:xfrm>
            <a:off x="9716780" y="2057400"/>
            <a:ext cx="1926275" cy="2194560"/>
          </a:xfrm>
          <a:prstGeom prst="roundRect">
            <a:avLst>
              <a:gd name="adj" fmla="val 6646"/>
            </a:avLst>
          </a:prstGeom>
          <a:solidFill>
            <a:srgbClr val="FFFFFF"/>
          </a:solidFill>
          <a:ln w="9525">
            <a:solidFill>
              <a:srgbClr val="30914C"/>
            </a:solidFill>
            <a:prstDash val="solid"/>
          </a:ln>
          <a:effectLst>
            <a:outerShdw sx="100000" sy="100000" kx="0" ky="0" algn="bl" rotWithShape="0" blurRad="76200" dist="19050" dir="5400000">
              <a:srgbClr val="1D2D3E">
                <a:alpha val="10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808220" y="2130552"/>
            <a:ext cx="1743395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Resultado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Fiori Elements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List Report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237458" y="1463040"/>
            <a:ext cx="548640" cy="548640"/>
          </a:xfrm>
          <a:prstGeom prst="ellipse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529493" y="1463040"/>
            <a:ext cx="548640" cy="548640"/>
          </a:xfrm>
          <a:prstGeom prst="ellipse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821528" y="1463040"/>
            <a:ext cx="548640" cy="548640"/>
          </a:xfrm>
          <a:prstGeom prst="ellipse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1" name="Shape 19"/>
          <p:cNvSpPr/>
          <p:nvPr/>
        </p:nvSpPr>
        <p:spPr>
          <a:xfrm>
            <a:off x="8113563" y="1463040"/>
            <a:ext cx="548640" cy="548640"/>
          </a:xfrm>
          <a:prstGeom prst="ellipse">
            <a:avLst>
              <a:gd name="adj" fmla="val 22000"/>
            </a:avLst>
          </a:prstGeom>
          <a:solidFill>
            <a:srgbClr val="EBF8FF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05598" y="1463040"/>
            <a:ext cx="548640" cy="548640"/>
          </a:xfrm>
          <a:prstGeom prst="ellipse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23" name="Shape 21"/>
          <p:cNvSpPr/>
          <p:nvPr/>
        </p:nvSpPr>
        <p:spPr>
          <a:xfrm>
            <a:off x="548640" y="4709160"/>
            <a:ext cx="11094415" cy="914400"/>
          </a:xfrm>
          <a:prstGeom prst="roundRect">
            <a:avLst>
              <a:gd name="adj" fmla="val 12000"/>
            </a:avLst>
          </a:prstGeom>
          <a:solidFill>
            <a:srgbClr val="EBF8FF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280160" y="4709160"/>
            <a:ext cx="10088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D2D3E"/>
                </a:solidFill>
              </a:rPr>
              <a:t>Cada artefato tem um propósito claro, construindo sobre o anterior para transformar dados brutos em uma aplicação de negócio robusta e inteligente.</a:t>
            </a:r>
            <a:endParaRPr lang="en-US" sz="16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61166" y="1594714"/>
            <a:ext cx="285293" cy="285293"/>
          </a:xfrm>
          <a:prstGeom prst="rect">
            <a:avLst/>
          </a:prstGeom>
        </p:spPr>
      </p:pic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9131" y="1594714"/>
            <a:ext cx="285293" cy="285293"/>
          </a:xfrm>
          <a:prstGeom prst="rect">
            <a:avLst/>
          </a:prstGeom>
        </p:spPr>
      </p:pic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3201" y="1594714"/>
            <a:ext cx="285293" cy="285293"/>
          </a:xfrm>
          <a:prstGeom prst="rect">
            <a:avLst/>
          </a:prstGeom>
        </p:spPr>
      </p:pic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5236" y="1594714"/>
            <a:ext cx="285293" cy="285293"/>
          </a:xfrm>
          <a:prstGeom prst="rect">
            <a:avLst/>
          </a:prstGeom>
        </p:spPr>
      </p:pic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7271" y="1594714"/>
            <a:ext cx="285293" cy="285293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992624"/>
            <a:ext cx="347472" cy="34747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548640" y="5029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DB1FF"/>
                </a:solidFill>
              </a:rPr>
              <a:t>Conclusão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Os Pilares da Modelagem de Dados Moderna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788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Code Pushdown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4612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performance como princípio fundamental. Delegamos o processamento intensivo ao HANA, minimizando tráfego de rede e uso de memória no servidor de aplicação.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38218" y="182880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12538" y="2788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Virtual Data Model (VDM)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612538" y="324612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A arquitetura em camadas como guia. Abstraímos a complexidade das tabelas físicas, garantindo estabilidade, reutilização e um modelo de negócio claro.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27797" y="1828800"/>
            <a:ext cx="3515258" cy="3108960"/>
          </a:xfrm>
          <a:prstGeom prst="roundRect">
            <a:avLst>
              <a:gd name="adj" fmla="val 4118"/>
            </a:avLst>
          </a:prstGeom>
          <a:solidFill>
            <a:srgbClr val="2A3B4E"/>
          </a:solidFill>
          <a:ln w="9525">
            <a:solidFill>
              <a:srgbClr val="3D50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02117" y="2788920"/>
            <a:ext cx="296661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Separation of Concerns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402117" y="3246120"/>
            <a:ext cx="296661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3DE"/>
                </a:solidFill>
              </a:rPr>
              <a:t>Manutenção e flexibilidade como objetivo. Separamos a lógica de dados (.ddls) da apresentação (.ddlx), com código mais limpo e adaptável.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25780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FFFFFF"/>
                </a:solidFill>
              </a:rPr>
              <a:t>Com esta planta arquitetural, você está pronto para </a:t>
            </a:r>
            <a:r>
              <a:rPr lang="en-US" sz="1900" b="1" dirty="0">
                <a:solidFill>
                  <a:srgbClr val="FFFFFF"/>
                </a:solidFill>
              </a:rPr>
              <a:t>construir as suas próprias aplicações RAP</a:t>
            </a:r>
            <a:r>
              <a:rPr lang="en-US" sz="1900" dirty="0">
                <a:solidFill>
                  <a:srgbClr val="FFFFFF"/>
                </a:solidFill>
              </a:rPr>
              <a:t>.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103120"/>
            <a:ext cx="548640" cy="548640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2117" y="2103120"/>
            <a:ext cx="548640" cy="548640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538" y="2103120"/>
            <a:ext cx="548640" cy="5486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8396A8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P Horizon">
  <a:themeElements>
    <a:clrScheme name="SAP Horizon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7858FF"/>
      </a:accent5>
      <a:accent6>
        <a:srgbClr val="07838F"/>
      </a:accent6>
      <a:hlink>
        <a:srgbClr val="0064D9"/>
      </a:hlink>
      <a:folHlink>
        <a:srgbClr val="5D36FF"/>
      </a:folHlink>
    </a:clrScheme>
    <a:fontScheme name="SAP Horizon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Modelagem de Dados Moderna em ABAP</dc:title>
  <dc:subject>ABAP Moderno – Módulo 02</dc:subject>
  <dc:creator>Adriano Bispo</dc:creator>
  <cp:lastModifiedBy>Adriano Bispo</cp:lastModifiedBy>
  <cp:revision>1</cp:revision>
  <dcterms:created xsi:type="dcterms:W3CDTF">2026-10-25T04:03:56Z</dcterms:created>
  <dcterms:modified xsi:type="dcterms:W3CDTF">2026-10-25T04:03:56Z</dcterms:modified>
</cp:coreProperties>
</file>