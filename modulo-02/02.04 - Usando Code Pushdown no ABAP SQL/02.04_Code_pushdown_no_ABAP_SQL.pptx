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Programação ABAP Intermediária  ·  Aula 4 de 9 — Code pushdown no SQL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Programação ABAP Intermediária  ·  Aula 4 de 9 — Code pushdown no SQL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04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Code pushdown no ABAP SQL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Joins, expressões, cálculos, funções de data, ordenação, DISTINCT e agregações direto no SELECT.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4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097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55097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substituímos loops de cálculo no servidor por um único SELECT que já devolve os pedidos com dados do cliente, saldos de estoque e totais por status.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ABAP SQL ou CDS view?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SQL no código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Lógica específica de </a:t>
            </a:r>
            <a:r>
              <a:rPr lang="en-US" sz="1350" b="1" dirty="0">
                <a:solidFill>
                  <a:srgbClr val="1D2D3E"/>
                </a:solidFill>
              </a:rPr>
              <a:t>um</a:t>
            </a:r>
            <a:r>
              <a:rPr lang="en-US" sz="1350" dirty="0">
                <a:solidFill>
                  <a:srgbClr val="1D2D3E"/>
                </a:solidFill>
              </a:rPr>
              <a:t> método ou relatório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Consulta pontual, sem outros consumidores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Prototipar antes de levar para uma 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CDS view (módulo 03)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Lógica </a:t>
            </a:r>
            <a:r>
              <a:rPr lang="en-US" sz="1350" b="1" dirty="0">
                <a:solidFill>
                  <a:srgbClr val="1D2D3E"/>
                </a:solidFill>
              </a:rPr>
              <a:t>reutilizada</a:t>
            </a:r>
            <a:r>
              <a:rPr lang="en-US" sz="1350" dirty="0">
                <a:solidFill>
                  <a:srgbClr val="1D2D3E"/>
                </a:solidFill>
              </a:rPr>
              <a:t> por vários programas, apps e APIs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Precisa de anotações, associações ou controle de acesso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Base de business objects RAP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Mesma linguagem  </a:t>
            </a:r>
            <a:r>
              <a:rPr lang="en-US" sz="1200" dirty="0">
                <a:solidFill>
                  <a:srgbClr val="1D2D3E"/>
                </a:solidFill>
              </a:rPr>
              <a:t>o ABAP SQL moderno tem quase todos os recursos de expressões do CDS: mover a lógica de um para o outro é simples.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02.04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Joins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join</a:t>
            </a:r>
            <a:r>
              <a:rPr lang="en-US" sz="1600" dirty="0">
                <a:solidFill>
                  <a:srgbClr val="D1EFFF"/>
                </a:solidFill>
              </a:rPr>
              <a:t> combina colunas de duas fontes em um só resultado, ligadas pela condição </a:t>
            </a:r>
            <a:r>
              <a:rPr lang="en-US" sz="1600" b="1" dirty="0">
                <a:solidFill>
                  <a:srgbClr val="D1EFFF"/>
                </a:solidFill>
              </a:rPr>
              <a:t>ON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r>
              <a:rPr lang="en-US" sz="1000" dirty="0">
                <a:solidFill>
                  <a:srgbClr val="D1EFFF"/>
                </a:solidFill>
              </a:rPr>
              <a:t>  só correspondências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JOIN</a:t>
            </a:r>
            <a:r>
              <a:rPr lang="en-US" sz="1000" dirty="0">
                <a:solidFill>
                  <a:srgbClr val="D1EFFF"/>
                </a:solidFill>
              </a:rPr>
              <a:t>  toda a esquerda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000" dirty="0">
                <a:solidFill>
                  <a:srgbClr val="D1EFFF"/>
                </a:solidFill>
              </a:rPr>
              <a:t>  seletor de coluna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rgbClr val="D1EFFF"/>
                </a:solidFill>
              </a:rPr>
              <a:t>  alias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JOINS · SINTAXE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Pedidos e clientes em um único SELECT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zcl_pc_pushdown_demo.clas.abap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as tabelas do projeto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p~cliente_uuid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c~cliente_uuid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p~cliente_uuid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250" b="1" dirty="0">
                <a:solidFill>
                  <a:srgbClr val="1D2D3E"/>
                </a:solidFill>
              </a:rPr>
              <a:t> e não ponto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Qualifica a coluna pela fonte; o ponto já encerra a instrução no ABAP.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Alias obrigatório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p</a:t>
            </a:r>
            <a:r>
              <a:rPr lang="en-US" sz="1050" dirty="0">
                <a:solidFill>
                  <a:srgbClr val="556B82"/>
                </a:solidFill>
              </a:rPr>
              <a:t>, o alias substitui o nome da tabela em todo o comando.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Só quando ambíguo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r>
              <a:rPr lang="en-US" sz="1050" dirty="0">
                <a:solidFill>
                  <a:srgbClr val="556B82"/>
                </a:solidFill>
              </a:rPr>
              <a:t> existe nas duas tabelas;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r>
              <a:rPr lang="en-US" sz="1050" dirty="0">
                <a:solidFill>
                  <a:srgbClr val="556B82"/>
                </a:solidFill>
              </a:rPr>
              <a:t>, só no cliente.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Self-join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Unir uma tabela com ela mesma exige aliases, ex.: comparar pedidos do mesmo cliente.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JOINS · TIPOS DE JOIN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Quais linhas cada join devolve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INNER JOIN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Só as linhas com correspondência nos dois lados. Clientes sem pedidos não aparecem.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LEFT OUTER JOIN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Todas as linhas da esquerda. Sem correspondência, as colunas da direita chegam com o </a:t>
            </a:r>
            <a:r>
              <a:rPr lang="en-US" sz="1300" b="1" dirty="0">
                <a:solidFill>
                  <a:srgbClr val="556B82"/>
                </a:solidFill>
              </a:rPr>
              <a:t>valor inicial</a:t>
            </a:r>
            <a:r>
              <a:rPr lang="en-US" sz="1300" dirty="0">
                <a:solidFill>
                  <a:srgbClr val="556B82"/>
                </a:solidFill>
              </a:rPr>
              <a:t> do tipo.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RIGHT OUTER JOIN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espelho: todas as linhas da direita, mesmo sem correspondência à esquerda.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Reutilizável?  </a:t>
            </a:r>
            <a:r>
              <a:rPr lang="en-US" sz="1200" dirty="0">
                <a:solidFill>
                  <a:srgbClr val="1D2D3E"/>
                </a:solidFill>
              </a:rPr>
              <a:t>se várias leituras precisam da mesma relação, modele uma </a:t>
            </a:r>
            <a:r>
              <a:rPr lang="en-US" sz="1200" b="1" dirty="0">
                <a:solidFill>
                  <a:srgbClr val="1D2D3E"/>
                </a:solidFill>
              </a:rPr>
              <a:t>associação</a:t>
            </a:r>
            <a:r>
              <a:rPr lang="en-US" sz="1200" dirty="0">
                <a:solidFill>
                  <a:srgbClr val="1D2D3E"/>
                </a:solidFill>
              </a:rPr>
              <a:t> em uma CDS view (aula 03.05).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02.04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Expressões e cálculos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Literais, constantes,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600" dirty="0">
                <a:solidFill>
                  <a:srgbClr val="D1EFFF"/>
                </a:solidFill>
              </a:rPr>
              <a:t>, aritmética,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600" dirty="0">
                <a:solidFill>
                  <a:srgbClr val="D1EFFF"/>
                </a:solidFill>
              </a:rPr>
              <a:t> e funções podem compor a lista de campos e 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@constante</a:t>
            </a:r>
            <a:r>
              <a:rPr lang="en-US" sz="1000" dirty="0">
                <a:solidFill>
                  <a:srgbClr val="D1EFFF"/>
                </a:solidFill>
              </a:rPr>
              <a:t>  valores do ABAP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CAST( … AS … )</a:t>
            </a:r>
            <a:r>
              <a:rPr lang="en-US" sz="1000" dirty="0">
                <a:solidFill>
                  <a:srgbClr val="D1EFFF"/>
                </a:solidFill>
              </a:rPr>
              <a:t>  sem conversão implícita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· DIVISION</a:t>
            </a:r>
            <a:r>
              <a:rPr lang="en-US" sz="1000" dirty="0">
                <a:solidFill>
                  <a:srgbClr val="D1EFFF"/>
                </a:solidFill>
              </a:rPr>
              <a:t>  inteira e decimal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· concat</a:t>
            </a:r>
            <a:r>
              <a:rPr lang="en-US" sz="1000" dirty="0">
                <a:solidFill>
                  <a:srgbClr val="D1EFFF"/>
                </a:solidFill>
              </a:rPr>
              <a:t>  texto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CÁLCULOS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Saldo livre, percentuais e textos no banco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zcl_pc_pushdown_demo.clas.abap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ZTA_PC_ITEM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qtde_livre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c_cem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pct_int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pct_dec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esgotado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Sem conversão implícita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Ao contrário do ABAP, o SQL exige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050" dirty="0">
                <a:solidFill>
                  <a:srgbClr val="556B82"/>
                </a:solidFill>
              </a:rPr>
              <a:t> explícito; data elements não servem de destino.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Três aritméticas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Inteira, decimal e ponto flutuante;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050" dirty="0">
                <a:solidFill>
                  <a:srgbClr val="556B82"/>
                </a:solidFill>
              </a:rPr>
              <a:t> só existe em ponto flutuante.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250" b="1" dirty="0">
                <a:solidFill>
                  <a:srgbClr val="1D2D3E"/>
                </a:solidFill>
              </a:rPr>
              <a:t> x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Inteira corta o resto; decimal arredonda para as casas pedidas.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556B82"/>
                </a:solidFill>
              </a:rPr>
              <a:t> evita dividir por zero.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Constantes com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Mais legíveis que literais e com mais tipos que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EXPRESSÕES · DATAS E HORAS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Funções de data, hora e timestamp no 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826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057536"/>
                <a:gridCol w="67625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is_valid(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 se a data, hora ou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utclong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for válida, senão 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add_days( ) · add_months(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Soma dias ou meses a uma data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days_between(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Diferença em dias entre duas datas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extract_year( ) · _month( ) · _day(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Partes de uma data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dats_from_datn( ) · dats_to_datn(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Converte entre os formatos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DATS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tstmp_to_dats( ) · tstmp_to_tims( 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Separa timestamps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DEC(15,0)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em data e hora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1149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1149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Prefira as genéricas  </a:t>
            </a:r>
            <a:r>
              <a:rPr lang="en-US" sz="1200" dirty="0">
                <a:solidFill>
                  <a:srgbClr val="1D2D3E"/>
                </a:solidFill>
              </a:rPr>
              <a:t>funções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is_valid( )</a:t>
            </a:r>
            <a:r>
              <a:rPr lang="en-US" sz="1200" dirty="0">
                <a:solidFill>
                  <a:srgbClr val="1D2D3E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days_between( )</a:t>
            </a:r>
            <a:r>
              <a:rPr lang="en-US" sz="1200" dirty="0">
                <a:solidFill>
                  <a:srgbClr val="1D2D3E"/>
                </a:solidFill>
              </a:rPr>
              <a:t> aceitam vários formatos; as específicas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dats_…</a:t>
            </a:r>
            <a:r>
              <a:rPr lang="en-US" sz="1200" dirty="0">
                <a:solidFill>
                  <a:srgbClr val="1D2D3E"/>
                </a:solidFill>
              </a:rPr>
              <a:t>) continuam para tipos antigos.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395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02.04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Ordenar, condensar e agregar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banco também ordena, remove duplicatas e resume milhares de linhas em uma só, com </a:t>
            </a:r>
            <a:r>
              <a:rPr lang="en-US" sz="1600" b="1" dirty="0">
                <a:solidFill>
                  <a:srgbClr val="D1EFFF"/>
                </a:solidFill>
              </a:rPr>
              <a:t>agregações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GROUP BY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000" dirty="0">
                <a:solidFill>
                  <a:srgbClr val="D1EFFF"/>
                </a:solidFill>
              </a:rPr>
              <a:t>  ordenação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000" dirty="0">
                <a:solidFill>
                  <a:srgbClr val="D1EFFF"/>
                </a:solidFill>
              </a:rPr>
              <a:t>  sem duplicatas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· AVG · COUNT</a:t>
            </a:r>
            <a:r>
              <a:rPr lang="en-US" sz="1000" dirty="0">
                <a:solidFill>
                  <a:srgbClr val="D1EFFF"/>
                </a:solidFill>
              </a:rPr>
              <a:t>  agregação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· HAVING</a:t>
            </a:r>
            <a:r>
              <a:rPr lang="en-US" sz="1000" dirty="0">
                <a:solidFill>
                  <a:srgbClr val="D1EFFF"/>
                </a:solidFill>
              </a:rPr>
              <a:t>  grupos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CONJUNTOS · AGREGAÇÕES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Totais por status do pedido, filtrados e ordenados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9748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9748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zcl_pc_pushdown_demo.clas.abap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ZTA_PC_PEDIDO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ticket_medio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ultimo_pedido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lv_desde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Obrigatório para campos fora das agregações.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Filtra os grupos depois da agregação (o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050" dirty="0">
                <a:solidFill>
                  <a:srgbClr val="556B82"/>
                </a:solidFill>
              </a:rPr>
              <a:t> filtra antes).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 … AS …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o tipo do resultado; sem isso, vira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FLTP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Só agregações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Sem outros campos, o resultado tem sempre exatamente uma linha.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DISTINCT  </a:t>
            </a:r>
            <a:r>
              <a:rPr lang="en-US" sz="1200" dirty="0">
                <a:solidFill>
                  <a:srgbClr val="1D2D3E"/>
                </a:solidFill>
              </a:rPr>
              <a:t>logo antes da lista de campos remove linhas repetidas; dentro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 DISTINCT … )</a:t>
            </a:r>
            <a:r>
              <a:rPr lang="en-US" sz="1200" dirty="0">
                <a:solidFill>
                  <a:srgbClr val="1D2D3E"/>
                </a:solidFill>
              </a:rPr>
              <a:t>, conta valores diferentes.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CONJUNTOS · ANTES E DEPOIS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Loop no servidor ou SQL no banco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75763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Loop no ABAP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r>
              <a:rPr lang="en-US" sz="1350" dirty="0">
                <a:solidFill>
                  <a:srgbClr val="1D2D3E"/>
                </a:solidFill>
              </a:rPr>
              <a:t> traz todas as linhas e colunas pela rede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350" dirty="0">
                <a:solidFill>
                  <a:srgbClr val="1D2D3E"/>
                </a:solidFill>
              </a:rPr>
              <a:t> soma, agrupa e formata no servidor de aplicação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Lento em volumes grandes e difícil de manter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75763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Code pushdown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SAP HANA calcula onde os dados estão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o resultado volta para o ABAP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Uma instrução declarativa, fácil de ler e de mover para uma CDS view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05066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05066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ABAP SQL para lógica pontual e </a:t>
            </a:r>
            <a:r>
              <a:rPr lang="en-US" sz="1400" b="1" dirty="0">
                <a:solidFill>
                  <a:srgbClr val="FFFFFF"/>
                </a:solidFill>
              </a:rPr>
              <a:t>CDS views</a:t>
            </a:r>
            <a:r>
              <a:rPr lang="en-US" sz="1400" dirty="0">
                <a:solidFill>
                  <a:srgbClr val="FFFFFF"/>
                </a:solidFill>
              </a:rPr>
              <a:t> para lógica reutilizável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Joins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400" dirty="0">
                <a:solidFill>
                  <a:srgbClr val="FFFFFF"/>
                </a:solidFill>
              </a:rPr>
              <a:t>, aliases e o seletor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1400" dirty="0">
                <a:solidFill>
                  <a:srgbClr val="FFFFFF"/>
                </a:solidFill>
              </a:rPr>
              <a:t>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</a:t>
            </a:r>
            <a:r>
              <a:rPr lang="en-US" sz="1400" dirty="0">
                <a:solidFill>
                  <a:srgbClr val="FFFFFF"/>
                </a:solidFill>
              </a:rPr>
              <a:t> mantém a esquerda inteira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SQL não converte sozinho: use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400" dirty="0">
                <a:solidFill>
                  <a:srgbClr val="FFFFFF"/>
                </a:solidFill>
              </a:rPr>
              <a:t>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</a:t>
            </a:r>
            <a:r>
              <a:rPr lang="en-US" sz="1400" dirty="0">
                <a:solidFill>
                  <a:srgbClr val="FFFFFF"/>
                </a:solidFill>
              </a:rPr>
              <a:t> para divisões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Funções genéricas de data como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is_valid( )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days_between( 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Agregações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400" dirty="0">
                <a:solidFill>
                  <a:srgbClr val="FFFFFF"/>
                </a:solidFill>
              </a:rPr>
              <a:t>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400" dirty="0">
                <a:solidFill>
                  <a:srgbClr val="FFFFFF"/>
                </a:solidFill>
              </a:rPr>
              <a:t> no banco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Code pushdown devolve só o resultado e substitui loops de cálculo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02.05  </a:t>
            </a:r>
            <a:r>
              <a:rPr lang="en-US" sz="1500" dirty="0">
                <a:solidFill>
                  <a:srgbClr val="FFFFFF"/>
                </a:solidFill>
              </a:rPr>
              <a:t>Performance de tabelas: Chaves, field symbols e chaves secundárias.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02.04 Code pushdown no ABAP SQL</dc:title>
  <dc:subject>ABAP Moderno – Módulo 02: Programação ABAP Intermediária</dc:subject>
  <dc:creator>Adriano Bispo</dc:creator>
  <cp:lastModifiedBy>Adriano Bispo</cp:lastModifiedBy>
  <cp:revision>1</cp:revision>
  <dcterms:created xsi:type="dcterms:W3CDTF">2026-10-29T13:30:31Z</dcterms:created>
  <dcterms:modified xsi:type="dcterms:W3CDTF">2026-10-29T13:30:31Z</dcterms:modified>
</cp:coreProperties>
</file>