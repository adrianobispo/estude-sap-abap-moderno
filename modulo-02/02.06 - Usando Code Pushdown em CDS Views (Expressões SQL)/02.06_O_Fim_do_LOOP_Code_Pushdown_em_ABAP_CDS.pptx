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02  ·  02.06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02  ·  02.06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02  ·  02.06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02  ·  02.06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Fim do LOOP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Dominando o Code Pushdown em ABAP CDS com Expressões SQL — performance e manutenibilidade em S/4HANA.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AT … IF … ENDLOOP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… end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dats_days_between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$session.user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 ) group by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Paradigma Clássico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“Data-to-Code”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No desenvolvimento ABAP clássico, o padrão era simples e direto: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208483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1. SELECIONAR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todos os dados brutos do banco de dados.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295351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2. TRANSFERIR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gigabytes de dados pela rede para o servidor de aplicação.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382219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3. ITERAR (LOOP)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em tabelas internas para aplicar a lógica de negócio, linha a linha.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5943600" cy="1280160"/>
          </a:xfrm>
          <a:prstGeom prst="roundRect">
            <a:avLst>
              <a:gd name="adj" fmla="val 8571"/>
            </a:avLst>
          </a:prstGeom>
          <a:solidFill>
            <a:srgbClr val="FFEA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48463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O problema:</a:t>
            </a:r>
            <a:r>
              <a:rPr lang="en-US" sz="1400" dirty="0">
                <a:solidFill>
                  <a:srgbClr val="1D2D3E"/>
                </a:solidFill>
              </a:rPr>
              <a:t> tráfego de rede imenso, consumo desnecessário de memória e CPU do servidor de aplicação, e subutilização do poder do banco moderno (HANA).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49440" y="1600200"/>
            <a:ext cx="4693615" cy="1097280"/>
          </a:xfrm>
          <a:prstGeom prst="roundRect">
            <a:avLst>
              <a:gd name="adj" fmla="val 11667"/>
            </a:avLst>
          </a:prstGeom>
          <a:solidFill>
            <a:srgbClr val="1D2D3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01000" y="1600200"/>
            <a:ext cx="3504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Banco de Dados (HANA)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56168" y="2788920"/>
            <a:ext cx="1280160" cy="1371600"/>
          </a:xfrm>
          <a:prstGeom prst="downArrow">
            <a:avLst/>
          </a:prstGeom>
          <a:solidFill>
            <a:srgbClr val="A9B4B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27768" y="3063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56B82"/>
                </a:solidFill>
              </a:rPr>
              <a:t>Gigabytes de dados brutos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4251960"/>
            <a:ext cx="4693615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20A0A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223760" y="4343400"/>
            <a:ext cx="4144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Servidor de Aplicação (ABAP)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4846320"/>
            <a:ext cx="3596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0808"/>
                </a:solidFill>
              </a:rPr>
              <a:t>CPU overload · 100%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5394960"/>
            <a:ext cx="3596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0808"/>
                </a:solidFill>
              </a:rPr>
              <a:t>Memory full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2223821"/>
            <a:ext cx="261518" cy="261518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3092501"/>
            <a:ext cx="261518" cy="261518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961181"/>
            <a:ext cx="261518" cy="261518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874520"/>
            <a:ext cx="548640" cy="548640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12664"/>
            <a:ext cx="347472" cy="347472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4892040"/>
            <a:ext cx="384048" cy="384048"/>
          </a:xfrm>
          <a:prstGeom prst="rect">
            <a:avLst/>
          </a:prstGeom>
        </p:spPr>
      </p:pic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544068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Solução Moderna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“Code-to-Data”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Com o Code Pushdown, invertemos o fluxo. Em vez de trazer os dados até a lógica, “empurramos” a lógica para onde os dados residem: o banco de dados.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Como funciona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A lógica de negócio (cálculos, condições, conversões) é definida diretamente na CDS View. O HANA, otimizado para processamento massivo e paralelo, executa essas operações durante a leitura. O ABAP recebe apenas o resultado final, já processado.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16152" y="4370832"/>
            <a:ext cx="5367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Performance radical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cálculo ocorre onde os dados estão, eliminando tráfego de rede e aproveitando o paralelismo do HANA.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285232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16152" y="5266944"/>
            <a:ext cx="5367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Manutenção centralizada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 regra fica na View, reutilizável por relatórios, Fiori Apps e APIs, em vez de duplicada em vários programas.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40880" y="1600200"/>
            <a:ext cx="4602175" cy="1280160"/>
          </a:xfrm>
          <a:prstGeom prst="roundRect">
            <a:avLst>
              <a:gd name="adj" fmla="val 10000"/>
            </a:avLst>
          </a:prstGeom>
          <a:solidFill>
            <a:srgbClr val="1D2D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1600200"/>
            <a:ext cx="34134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Banco de Dados (HANA)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</a:rPr>
              <a:t>executa a lógica da CDS View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80960" y="2971800"/>
            <a:ext cx="548640" cy="1188720"/>
          </a:xfrm>
          <a:prstGeom prst="upArrow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Lógica (CDS View)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454335" y="2971800"/>
            <a:ext cx="548640" cy="1188720"/>
          </a:xfrm>
          <a:prstGeom prst="downArrow">
            <a:avLst/>
          </a:prstGeom>
          <a:solidFill>
            <a:srgbClr val="3091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814255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F3A"/>
                </a:solidFill>
              </a:rPr>
              <a:t>Resultado processado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4617720"/>
            <a:ext cx="4602175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15200" y="4709160"/>
            <a:ext cx="4053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Servidor de Aplicação (ABAP)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5212080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F3A"/>
                </a:solidFill>
              </a:rPr>
              <a:t>Low CPU load · Memory optimized</a:t>
            </a:r>
            <a:endParaRPr lang="en-US" sz="14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979" y="4494459"/>
            <a:ext cx="228234" cy="228234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79" y="5390571"/>
            <a:ext cx="228234" cy="228234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96596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Ferramenta 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Lógica Condicional com Expressões CASE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600" dirty="0">
                <a:solidFill>
                  <a:srgbClr val="1D2D3E"/>
                </a:solidFill>
              </a:rPr>
              <a:t> é o equivalente SQL do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IF…ELSEIF…ELSE</a:t>
            </a:r>
            <a:r>
              <a:rPr lang="en-US" sz="1600" dirty="0">
                <a:solidFill>
                  <a:srgbClr val="1D2D3E"/>
                </a:solidFill>
              </a:rPr>
              <a:t> do ABAP: cria colunas calculadas cujo valor depende de condições em outros campos. </a:t>
            </a:r>
            <a:r>
              <a:rPr lang="en-US" sz="1600" b="1" dirty="0">
                <a:solidFill>
                  <a:srgbClr val="1D2D3E"/>
                </a:solidFill>
              </a:rPr>
              <a:t>Uso comum:</a:t>
            </a:r>
            <a:r>
              <a:rPr lang="en-US" sz="1600" dirty="0">
                <a:solidFill>
                  <a:srgbClr val="1D2D3E"/>
                </a:solidFill>
              </a:rPr>
              <a:t> traduzir códigos técnicos em textos de negócio, diretamente no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364328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688336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0808"/>
                </a:solidFill>
              </a:rPr>
              <a:t>Antes, em ABAP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72384"/>
            <a:ext cx="536432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00400"/>
            <a:ext cx="4907128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lt_travel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ls_travel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ls_travel-overall_status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'O'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ls_travel-status_text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 Aberto'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ELSEIF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ls_travel-overall_status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8728" y="2560320"/>
            <a:ext cx="5364328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07328" y="2688336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F3A"/>
                </a:solidFill>
              </a:rPr>
              <a:t>Agora, na CDS 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3072384"/>
            <a:ext cx="536432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7328" y="3200400"/>
            <a:ext cx="4907128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overall_status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'O'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 Aberto'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'Aceito'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'Cancelado'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'Desconhecido'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StatusText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CASE Avançado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Definindo a “Criticality” para o SAP Fiori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Fiori Elements utiliza um campo numérico de “criticidade” para colorir status e ícones. A lógica para definir essa cor agora reside na CDS View.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411480" cy="411480"/>
          </a:xfrm>
          <a:prstGeom prst="ellipse">
            <a:avLst/>
          </a:prstGeom>
          <a:solidFill>
            <a:srgbClr val="3091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834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Positivo (Verde)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411480" cy="411480"/>
          </a:xfrm>
          <a:prstGeom prst="ellipse">
            <a:avLst/>
          </a:prstGeom>
          <a:solidFill>
            <a:srgbClr val="E765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383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Crítico (Amarelo/Laranja)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411480" cy="411480"/>
          </a:xfrm>
          <a:prstGeom prst="ellipse">
            <a:avLst/>
          </a:prstGeom>
          <a:solidFill>
            <a:srgbClr val="D20A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Negativo (Vermelho)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11480" cy="411480"/>
          </a:xfrm>
          <a:prstGeom prst="ellipse">
            <a:avLst/>
          </a:prstGeom>
          <a:solidFill>
            <a:srgbClr val="556B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480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Neutro (Cinza)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2064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56B82"/>
                          </a:solidFill>
                        </a:rPr>
                        <a:t>Pedido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56B82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56B82"/>
                          </a:solidFill>
                        </a:rPr>
                        <a:t>Valor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2027800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Aceito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4.425,00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2027001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44F00"/>
                          </a:solidFill>
                        </a:rPr>
                        <a:t>Atrasado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4.382,00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2027013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0808"/>
                          </a:solidFill>
                        </a:rPr>
                        <a:t>Cancelado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1.403,00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760720" y="1600200"/>
            <a:ext cx="5882335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989320" y="1764792"/>
            <a:ext cx="542513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Cor do status para o Fiori: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Cancelado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sempre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Vermelho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Aberto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Amarelo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Atrasado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Aceito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overall_status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Vermelho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overall_status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'O'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dats_days_between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created_on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$session.system_date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Amarelo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overall_status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Verde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</a:t>
            </a: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Cinza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StatusCriticality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760720" y="5394960"/>
            <a:ext cx="5882335" cy="777240"/>
          </a:xfrm>
          <a:prstGeom prst="roundRect">
            <a:avLst>
              <a:gd name="adj" fmla="val 14118"/>
            </a:avLst>
          </a:prstGeom>
          <a:solidFill>
            <a:srgbClr val="F5FAE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92240" y="5394960"/>
            <a:ext cx="4876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Observe a combinação de uma comparação simples (=) com uma função de data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dats_days_between</a:t>
            </a:r>
            <a:r>
              <a:rPr lang="en-US" sz="1400" dirty="0">
                <a:solidFill>
                  <a:srgbClr val="1D2D3E"/>
                </a:solidFill>
              </a:rPr>
              <a:t>) na mesma condição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560984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Ferramenta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Funções Nativas (Aritmética e Datas)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ABAP CDS oferece uma rica biblioteca de funções que eliminam o processamento posterior em ABAP para cálculos comuns.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64328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2316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00200" y="2423160"/>
            <a:ext cx="408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Funções Aritméticas Essenciais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81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D2D3E"/>
                </a:solidFill>
              </a:rPr>
              <a:t>Operadores:</a:t>
            </a:r>
            <a:r>
              <a:rPr lang="en-US" sz="1400" dirty="0">
                <a:solidFill>
                  <a:srgbClr val="1D2D3E"/>
                </a:solidFill>
              </a:rPr>
              <a:t>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400" dirty="0">
                <a:solidFill>
                  <a:srgbClr val="1D2D3E"/>
                </a:solidFill>
              </a:rPr>
              <a:t>,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400" dirty="0">
                <a:solidFill>
                  <a:srgbClr val="1D2D3E"/>
                </a:solidFill>
              </a:rPr>
              <a:t>,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400" dirty="0">
                <a:solidFill>
                  <a:srgbClr val="1D2D3E"/>
                </a:solidFill>
              </a:rPr>
              <a:t>,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400" dirty="0">
                <a:solidFill>
                  <a:srgbClr val="1D2D3E"/>
                </a:solidFill>
              </a:rPr>
              <a:t> (divisão exata, retorna FLTP).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D2D3E"/>
                </a:solidFill>
              </a:rPr>
              <a:t>Funções:</a:t>
            </a:r>
            <a:r>
              <a:rPr lang="en-US" sz="1400" dirty="0">
                <a:solidFill>
                  <a:srgbClr val="1D2D3E"/>
                </a:solidFill>
              </a:rPr>
              <a:t>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div(a, b)</a:t>
            </a:r>
            <a:r>
              <a:rPr lang="en-US" sz="1400" dirty="0">
                <a:solidFill>
                  <a:srgbClr val="1D2D3E"/>
                </a:solidFill>
              </a:rPr>
              <a:t> (divisão inteira),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mod(a, b)</a:t>
            </a:r>
            <a:r>
              <a:rPr lang="en-US" sz="1400" dirty="0">
                <a:solidFill>
                  <a:srgbClr val="1D2D3E"/>
                </a:solidFill>
              </a:rPr>
              <a:t> (resto),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ceil(x)</a:t>
            </a:r>
            <a:r>
              <a:rPr lang="en-US" sz="1400" dirty="0">
                <a:solidFill>
                  <a:srgbClr val="1D2D3E"/>
                </a:solidFill>
              </a:rPr>
              <a:t> (arredonda para cima),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floor(x)</a:t>
            </a:r>
            <a:r>
              <a:rPr lang="en-US" sz="1400" dirty="0">
                <a:solidFill>
                  <a:srgbClr val="1D2D3E"/>
                </a:solidFill>
              </a:rPr>
              <a:t> (arredonda para baixo).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4815688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51560" y="5285232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PriceWithMargin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8728" y="2240280"/>
            <a:ext cx="5364328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53048" y="242316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30288" y="2423160"/>
            <a:ext cx="408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Funções de Data Essenciais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3200400"/>
            <a:ext cx="481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dats_days_between(data_inicio, data_fim)</a:t>
            </a:r>
            <a:r>
              <a:rPr lang="en-US" sz="1400" dirty="0">
                <a:solidFill>
                  <a:srgbClr val="1D2D3E"/>
                </a:solidFill>
              </a:rPr>
              <a:t>: número de dias entre duas datas.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dats_add_days(data, dias)</a:t>
            </a:r>
            <a:r>
              <a:rPr lang="en-US" sz="1400" dirty="0">
                <a:solidFill>
                  <a:srgbClr val="1D2D3E"/>
                </a:solidFill>
              </a:rPr>
              <a:t>: adiciona ou subtrai dias de uma data.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53048" y="5120640"/>
            <a:ext cx="4815688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781648" y="5285232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dats_add_days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begin_date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'INITIAL'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DueDate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5694" y="2565806"/>
            <a:ext cx="309067" cy="309067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2565806"/>
            <a:ext cx="309067" cy="3090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Ferramenta 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Contextualizando com Variáveis de Sessão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O desafio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Como uma CDS View (um objeto de banco de dados) acessa informações do contexto do usuário logado, como seu ID ou a data atual? Não podemos usar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sy-datum</a:t>
            </a:r>
            <a:r>
              <a:rPr lang="en-US" sz="1500" dirty="0">
                <a:solidFill>
                  <a:srgbClr val="1D2D3E"/>
                </a:solidFill>
              </a:rPr>
              <a:t> ou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sy-uname</a:t>
            </a:r>
            <a:r>
              <a:rPr lang="en-US" sz="1500" dirty="0">
                <a:solidFill>
                  <a:srgbClr val="1D2D3E"/>
                </a:solidFill>
              </a:rPr>
              <a:t> diretamente no DDL.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A solução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framework provê as </a:t>
            </a:r>
            <a:r>
              <a:rPr lang="en-US" sz="1500" b="1" dirty="0">
                <a:solidFill>
                  <a:srgbClr val="1D2D3E"/>
                </a:solidFill>
              </a:rPr>
              <a:t>variáveis de sessão</a:t>
            </a:r>
            <a:r>
              <a:rPr lang="en-US" sz="1500" dirty="0">
                <a:solidFill>
                  <a:srgbClr val="1D2D3E"/>
                </a:solidFill>
              </a:rPr>
              <a:t>, preenchidas pelo banco de dados no momento da execução.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754880"/>
            <a:ext cx="548640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4919472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created_by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$session.user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IsMyTravel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Variáveis chave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92240" y="21031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0" y="2084832"/>
            <a:ext cx="4419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$session.user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ID do usuário logado.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92240" y="31089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23760" y="3090672"/>
            <a:ext cx="4419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$session.system_date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data atual do servidor.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2240" y="41148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23760" y="4096512"/>
            <a:ext cx="4419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$session.system_language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idioma de logon do usuário.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92240" y="5120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23760" y="5102352"/>
            <a:ext cx="4419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$session.client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mandante atual (geralmente implícito).</a:t>
            </a:r>
            <a:endParaRPr lang="en-US" sz="1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2941" y="2223821"/>
            <a:ext cx="261518" cy="261518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1" y="3229661"/>
            <a:ext cx="261518" cy="261518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41" y="5241341"/>
            <a:ext cx="261518" cy="261518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4235501"/>
            <a:ext cx="261518" cy="2615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Ferramenta 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Garantindo a Integridade com CAST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CAST é uma função explícita para converter um valor de um tipo de dado para outro. Essencial para a segurança de tipos (type safety) do SQL e do ABAP.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2404872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Cálculos aritméticos precisos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Converter campos de moeda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</a:t>
            </a:r>
            <a:r>
              <a:rPr lang="en-US" sz="1400" dirty="0">
                <a:solidFill>
                  <a:srgbClr val="556B82"/>
                </a:solidFill>
              </a:rPr>
              <a:t>) ou decimais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</a:t>
            </a:r>
            <a:r>
              <a:rPr lang="en-US" sz="1400" dirty="0">
                <a:solidFill>
                  <a:srgbClr val="556B82"/>
                </a:solidFill>
              </a:rPr>
              <a:t>) para ponto flutuante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FLTP</a:t>
            </a:r>
            <a:r>
              <a:rPr lang="en-US" sz="1400" dirty="0">
                <a:solidFill>
                  <a:srgbClr val="556B82"/>
                </a:solidFill>
              </a:rPr>
              <a:t>) antes de multiplicar ou dividir, evitando perda de precisão.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3273552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Concatenação de strings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Unir um campo numérico (como um ID) com texto: o número deve ser convertido para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400" dirty="0">
                <a:solidFill>
                  <a:srgbClr val="556B82"/>
                </a:solidFill>
              </a:rPr>
              <a:t> primeiro.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4142232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Uniões (UNION)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Garantir que as colunas correspondentes em diferentes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400" dirty="0">
                <a:solidFill>
                  <a:srgbClr val="556B82"/>
                </a:solidFill>
              </a:rPr>
              <a:t>s de uma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r>
              <a:rPr lang="en-US" sz="1400" dirty="0">
                <a:solidFill>
                  <a:srgbClr val="556B82"/>
                </a:solidFill>
              </a:rPr>
              <a:t> tenham tipos compatíveis.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351525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5248656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Sintaxe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632704"/>
            <a:ext cx="351525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760720"/>
            <a:ext cx="305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expressao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TipoAlvo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38218" y="5120640"/>
            <a:ext cx="351525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566818" y="5248656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Para float (cálculo preciso)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8218" y="5632704"/>
            <a:ext cx="351525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66818" y="5760720"/>
            <a:ext cx="305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fltp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PriceAsFloat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27797" y="5120640"/>
            <a:ext cx="351525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56397" y="5248656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ID para char (uso em texto)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27797" y="5632704"/>
            <a:ext cx="351525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56397" y="5760720"/>
            <a:ext cx="305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TravelIdAsChar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2543861"/>
            <a:ext cx="261518" cy="261518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3412541"/>
            <a:ext cx="261518" cy="261518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281221"/>
            <a:ext cx="261518" cy="2615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Exemplo Prático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Enriquecendo a View de Viagens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Vamos aplicar todos os conceitos em uma única Interface View,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Z_I_TRAVEL_COMPUTED</a:t>
            </a:r>
            <a:r>
              <a:rPr lang="en-US" sz="1600" dirty="0">
                <a:solidFill>
                  <a:srgbClr val="1D2D3E"/>
                </a:solidFill>
              </a:rPr>
              <a:t>, criando uma fonte de dados rica para uma aplicação Fiori, com todos os campos pré-calculados.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15258" cy="1714500"/>
          </a:xfrm>
          <a:prstGeom prst="roundRect">
            <a:avLst>
              <a:gd name="adj" fmla="val 74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72491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3300984"/>
            <a:ext cx="300319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1. Custo Total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Somar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300" dirty="0">
                <a:solidFill>
                  <a:srgbClr val="556B82"/>
                </a:solidFill>
              </a:rPr>
              <a:t> 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booking_fee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38218" y="2468880"/>
            <a:ext cx="3515258" cy="1714500"/>
          </a:xfrm>
          <a:prstGeom prst="roundRect">
            <a:avLst>
              <a:gd name="adj" fmla="val 74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4250" y="272491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4250" y="3300984"/>
            <a:ext cx="300319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2. Duração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Calcular a duração da viagem em dias.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7797" y="2468880"/>
            <a:ext cx="3515258" cy="1714500"/>
          </a:xfrm>
          <a:prstGeom prst="roundRect">
            <a:avLst>
              <a:gd name="adj" fmla="val 74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83829" y="272491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83829" y="3300984"/>
            <a:ext cx="300319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3. Contagem Regressiva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Quantos dias faltam para o início da viagem.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457700"/>
            <a:ext cx="3515258" cy="1714500"/>
          </a:xfrm>
          <a:prstGeom prst="roundRect">
            <a:avLst>
              <a:gd name="adj" fmla="val 74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7137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5289804"/>
            <a:ext cx="300319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4. Status Visual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Definir a Criticality para o Fiori com base no status.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38218" y="4457700"/>
            <a:ext cx="3515258" cy="1714500"/>
          </a:xfrm>
          <a:prstGeom prst="roundRect">
            <a:avLst>
              <a:gd name="adj" fmla="val 74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4250" y="47137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94250" y="5289804"/>
            <a:ext cx="300319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5. Indicador de Histórico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Um flag para viagens que já ocorreram.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27797" y="4457700"/>
            <a:ext cx="3515258" cy="1714500"/>
          </a:xfrm>
          <a:prstGeom prst="roundRect">
            <a:avLst>
              <a:gd name="adj" fmla="val 74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83829" y="47137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83829" y="5289804"/>
            <a:ext cx="300319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6. Indicador de Propriedade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Um flag para viagens criadas pelo usuário logado.</a:t>
            </a:r>
            <a:endParaRPr lang="en-US" sz="16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2823667"/>
            <a:ext cx="213970" cy="213970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006" y="2823667"/>
            <a:ext cx="213970" cy="213970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584" y="2823667"/>
            <a:ext cx="213970" cy="213970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" y="4812487"/>
            <a:ext cx="213970" cy="213970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006" y="4812487"/>
            <a:ext cx="213970" cy="213970"/>
          </a:xfrm>
          <a:prstGeom prst="rect">
            <a:avLst/>
          </a:prstGeom>
        </p:spPr>
      </p:pic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2584" y="4812487"/>
            <a:ext cx="213970" cy="2139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Código Completo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Z_I_TRAVEL_COMPUTED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680960" cy="475488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27632"/>
            <a:ext cx="7223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'Viagens com Cálculos Avançados'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Z_I_TRAVEL_COMPUTED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zrap_travel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travel_uuid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travel_id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begin_date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end_date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booking_fee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overall_status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created_by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/* 1. Aritmética e CAST */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fltp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booking_fee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fltp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GrandTotal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/* 2. Funções de data */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dats_days_between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begin_date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end_date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DurationDays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dats_days_between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$session.system_date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begin_date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DaysUntilStart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/* 3. Lógica condicional com CASE */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overall_status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Aceito (Verde)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'O'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Aberto (Amarelo)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Cancelado (Vermelho)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StatusCriticality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/* 4. Variável de sessão e lógica */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begin_date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$session.system_date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IsPastTravel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created_by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$session.user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IsCreatedByMe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412480" y="1463040"/>
            <a:ext cx="323057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072" y="177850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77072" y="17785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1463040"/>
            <a:ext cx="2453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GrandTotal:</a:t>
            </a:r>
            <a:r>
              <a:rPr lang="en-US" sz="1300" dirty="0">
                <a:solidFill>
                  <a:srgbClr val="1D2D3E"/>
                </a:solidFill>
              </a:rPr>
              <a:t> CAST para FLTP antes de somar.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0" y="2697480"/>
            <a:ext cx="323057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77072" y="301294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77072" y="3012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2697480"/>
            <a:ext cx="2453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DurationDays / DaysUntilStart:</a:t>
            </a:r>
            <a:r>
              <a:rPr lang="en-US" sz="1300" dirty="0">
                <a:solidFill>
                  <a:srgbClr val="1D2D3E"/>
                </a:solidFill>
              </a:rPr>
              <a:t> funções de data.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12480" y="3931920"/>
            <a:ext cx="323057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77072" y="424738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77072" y="42473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3931920"/>
            <a:ext cx="2453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StatusCriticality:</a:t>
            </a:r>
            <a:r>
              <a:rPr lang="en-US" sz="1300" dirty="0">
                <a:solidFill>
                  <a:srgbClr val="1D2D3E"/>
                </a:solidFill>
              </a:rPr>
              <a:t> CASE que alimenta as cores do Fiori.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12480" y="5166360"/>
            <a:ext cx="323057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7072" y="548182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77072" y="54818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5166360"/>
            <a:ext cx="2453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IsPastTravel / IsCreatedByMe:</a:t>
            </a:r>
            <a:r>
              <a:rPr lang="en-US" sz="1300" dirty="0">
                <a:solidFill>
                  <a:srgbClr val="1D2D3E"/>
                </a:solidFill>
              </a:rPr>
              <a:t> flags com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$session</a:t>
            </a:r>
            <a:r>
              <a:rPr lang="en-US" sz="13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Próximo Nível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Views Analíticas com Agregações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Além do 1:1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Até agora vimos views que retornam uma linha por registro da tabela base. Mas o CDS é igualmente poderoso para criar views que sumarizam dados (OLAP).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Funções:</a:t>
            </a:r>
            <a:r>
              <a:rPr lang="en-US" sz="1500" dirty="0">
                <a:solidFill>
                  <a:srgbClr val="1D2D3E"/>
                </a:solidFill>
              </a:rPr>
              <a:t>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r>
              <a:rPr lang="en-US" sz="1500" dirty="0">
                <a:solidFill>
                  <a:srgbClr val="1D2D3E"/>
                </a:solidFill>
              </a:rPr>
              <a:t>,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r>
              <a:rPr lang="en-US" sz="1500" dirty="0">
                <a:solidFill>
                  <a:srgbClr val="1D2D3E"/>
                </a:solidFill>
              </a:rPr>
              <a:t>,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avg()</a:t>
            </a:r>
            <a:r>
              <a:rPr lang="en-US" sz="1500" dirty="0">
                <a:solidFill>
                  <a:srgbClr val="1D2D3E"/>
                </a:solidFill>
              </a:rPr>
              <a:t>,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min()</a:t>
            </a:r>
            <a:r>
              <a:rPr lang="en-US" sz="1500" dirty="0">
                <a:solidFill>
                  <a:srgbClr val="1D2D3E"/>
                </a:solidFill>
              </a:rPr>
              <a:t>,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Cláusula obrigatória:</a:t>
            </a:r>
            <a:r>
              <a:rPr lang="en-US" sz="1500" dirty="0">
                <a:solidFill>
                  <a:srgbClr val="1D2D3E"/>
                </a:solidFill>
              </a:rPr>
              <a:t>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4297680"/>
            <a:ext cx="4114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 regra de ouro do GROUP BY:</a:t>
            </a:r>
            <a:r>
              <a:rPr lang="en-US" sz="1400" dirty="0">
                <a:solidFill>
                  <a:srgbClr val="1D2D3E"/>
                </a:solidFill>
              </a:rPr>
              <a:t> se você usar uma função de agregação (como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400" dirty="0">
                <a:solidFill>
                  <a:srgbClr val="1D2D3E"/>
                </a:solidFill>
              </a:rPr>
              <a:t>) em qualquer campo, </a:t>
            </a:r>
            <a:r>
              <a:rPr lang="en-US" sz="1400" b="1" dirty="0">
                <a:solidFill>
                  <a:srgbClr val="1D2D3E"/>
                </a:solidFill>
              </a:rPr>
              <a:t>todos</a:t>
            </a:r>
            <a:r>
              <a:rPr lang="en-US" sz="1400" dirty="0">
                <a:solidFill>
                  <a:srgbClr val="1D2D3E"/>
                </a:solidFill>
              </a:rPr>
              <a:t> os outros campos não agregados da lista de seleção devem aparecer obrigatoriamente na cláusula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608015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63640" y="1728216"/>
            <a:ext cx="5150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Exemplo: contar viagens e somar gastos por cliente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112264"/>
            <a:ext cx="560801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2240280"/>
            <a:ext cx="5150815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Z_I_TRAVEL_STATS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zrap_travel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NumberOfTravels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TotalSpent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AverageTicketPrice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CurrencyCode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6120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Veredito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Comparativo Direto entre Paradigmas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4416552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Tarefa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Abordagem Clássica (Data-to-Code)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Abordagem CDS (Code-to-Data)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Traduzir status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LOOP</a:t>
                      </a:r>
                      <a:r>
                        <a:rPr lang="en-US" sz="1400" dirty="0">
                          <a:solidFill>
                            <a:srgbClr val="556B82"/>
                          </a:solidFill>
                        </a:rPr>
                        <a:t> na tabela interna com </a:t>
                      </a:r>
                      <a:r>
                        <a:rPr lang="en-US" sz="14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IF/ELSEIF</a:t>
                      </a:r>
                      <a:r>
                        <a:rPr lang="en-US" sz="1400" dirty="0">
                          <a:solidFill>
                            <a:srgbClr val="556B82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56F3A"/>
                          </a:solidFill>
                        </a:rPr>
                        <a:t>Uma coluna com </a:t>
                      </a:r>
                      <a:r>
                        <a:rPr lang="en-US" sz="14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CASE</a:t>
                      </a:r>
                      <a:r>
                        <a:rPr lang="en-US" sz="1400" dirty="0">
                          <a:solidFill>
                            <a:srgbClr val="256F3A"/>
                          </a:solidFill>
                        </a:rPr>
                        <a:t> na CDS View.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Calcular duração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LOOP</a:t>
                      </a:r>
                      <a:r>
                        <a:rPr lang="en-US" sz="1400" dirty="0">
                          <a:solidFill>
                            <a:srgbClr val="556B82"/>
                          </a:solidFill>
                        </a:rPr>
                        <a:t> e subtrair datas em variáveis ABAP.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56F3A"/>
                          </a:solidFill>
                        </a:rPr>
                        <a:t>Função </a:t>
                      </a:r>
                      <a:r>
                        <a:rPr lang="en-US" sz="14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dats_days_between()</a:t>
                      </a:r>
                      <a:r>
                        <a:rPr lang="en-US" sz="1400" dirty="0">
                          <a:solidFill>
                            <a:srgbClr val="256F3A"/>
                          </a:solidFill>
                        </a:rPr>
                        <a:t> na View.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Totalizar por grupo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LOOP</a:t>
                      </a:r>
                      <a:r>
                        <a:rPr lang="en-US" sz="1400" dirty="0">
                          <a:solidFill>
                            <a:srgbClr val="556B82"/>
                          </a:solidFill>
                        </a:rPr>
                        <a:t> com </a:t>
                      </a:r>
                      <a:r>
                        <a:rPr lang="en-US" sz="14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COLLECT</a:t>
                      </a:r>
                      <a:r>
                        <a:rPr lang="en-US" sz="1400" dirty="0">
                          <a:solidFill>
                            <a:srgbClr val="556B82"/>
                          </a:solidFill>
                        </a:rPr>
                        <a:t> ou </a:t>
                      </a:r>
                      <a:r>
                        <a:rPr lang="en-US" sz="14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 END OF</a:t>
                      </a:r>
                      <a:r>
                        <a:rPr lang="en-US" sz="1400" dirty="0">
                          <a:solidFill>
                            <a:srgbClr val="556B82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SUM()</a:t>
                      </a:r>
                      <a:r>
                        <a:rPr lang="en-US" sz="1400" dirty="0">
                          <a:solidFill>
                            <a:srgbClr val="256F3A"/>
                          </a:solidFill>
                        </a:rPr>
                        <a:t> com </a:t>
                      </a:r>
                      <a:r>
                        <a:rPr lang="en-US" sz="14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 BY</a:t>
                      </a:r>
                      <a:r>
                        <a:rPr lang="en-US" sz="1400" dirty="0">
                          <a:solidFill>
                            <a:srgbClr val="256F3A"/>
                          </a:solidFill>
                        </a:rPr>
                        <a:t> na View.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Usar data atual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556B82"/>
                          </a:solidFill>
                        </a:rPr>
                        <a:t>Variável </a:t>
                      </a:r>
                      <a:r>
                        <a:rPr lang="en-US" sz="14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sy-datum</a:t>
                      </a:r>
                      <a:r>
                        <a:rPr lang="en-US" sz="1400" dirty="0">
                          <a:solidFill>
                            <a:srgbClr val="556B82"/>
                          </a:solidFill>
                        </a:rPr>
                        <a:t> no programa.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56F3A"/>
                          </a:solidFill>
                        </a:rPr>
                        <a:t>Variável </a:t>
                      </a:r>
                      <a:r>
                        <a:rPr lang="en-US" sz="14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$session.system_date</a:t>
                      </a:r>
                      <a:r>
                        <a:rPr lang="en-US" sz="1400" dirty="0">
                          <a:solidFill>
                            <a:srgbClr val="256F3A"/>
                          </a:solidFill>
                        </a:rPr>
                        <a:t> na View.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Filtrar por usuário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... WHERE user = sy-uname</a:t>
                      </a:r>
                      <a:r>
                        <a:rPr lang="en-US" sz="1400" dirty="0">
                          <a:solidFill>
                            <a:srgbClr val="556B82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 created_by = $session.user</a:t>
                      </a:r>
                      <a:r>
                        <a:rPr lang="en-US" sz="1400" dirty="0">
                          <a:solidFill>
                            <a:srgbClr val="256F3A"/>
                          </a:solidFill>
                        </a:rPr>
                        <a:t> na View.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Glossário Essencial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562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43230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Code Pushdown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Mover a lógica de processamento de dados do servidor de aplicação para o banco de dados.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94250" y="18562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4250" y="243230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Variável de Sessão ($session)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Variáveis de contexto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$session.user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$session.system_date</a:t>
            </a:r>
            <a:r>
              <a:rPr lang="en-US" sz="1300" dirty="0">
                <a:solidFill>
                  <a:srgbClr val="556B82"/>
                </a:solidFill>
              </a:rPr>
              <a:t>) providas em tempo de execução.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83829" y="18562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83829" y="243230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Expressão SQL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Qualquer comando que gera um novo valor em execução: cálculo, condição (CASE) ou função.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427939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85546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Agregação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Funções (SUM, COUNT, AVG) que condensam vários registros em um resultado. Exigem GROUP BY.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4250" y="427939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4250" y="485546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CAST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Converte explicitamente um valor de um tipo para outro (ex.: NUMC para INT4).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7797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83829" y="427939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83829" y="485546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Criticidade (Criticality)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Valores numéricos (0–3) mapeados no Fiori para cores semânticas: cinza, vermelho, amarelo, verde.</a:t>
            </a:r>
            <a:endParaRPr lang="en-US" sz="16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1954987"/>
            <a:ext cx="213970" cy="213970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27" y="4378147"/>
            <a:ext cx="213970" cy="21397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006" y="1954987"/>
            <a:ext cx="213970" cy="213970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2584" y="1954987"/>
            <a:ext cx="213970" cy="213970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006" y="4378147"/>
            <a:ext cx="213970" cy="213970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2584" y="4378147"/>
            <a:ext cx="213970" cy="213970"/>
          </a:xfrm>
          <a:prstGeom prst="rect">
            <a:avLst/>
          </a:prstGeom>
        </p:spPr>
      </p:pic>
      <p:sp>
        <p:nvSpPr>
          <p:cNvPr id="27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Teste seu Conhecimento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1325880"/>
          </a:xfrm>
          <a:prstGeom prst="roundRect">
            <a:avLst>
              <a:gd name="adj" fmla="val 9655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731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B1FF"/>
                </a:solidFill>
              </a:rPr>
              <a:t>Q1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83080"/>
            <a:ext cx="985997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Por que usamos $session.system_date em uma CDS View em vez de sy-datum?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A CDS View é um objeto do banco (DDL), enquanto </a:t>
            </a:r>
            <a:r>
              <a:rPr lang="en-US" sz="14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sy-datum</a:t>
            </a:r>
            <a:r>
              <a:rPr lang="en-US" sz="1400" dirty="0">
                <a:solidFill>
                  <a:srgbClr val="C9D3DE"/>
                </a:solidFill>
              </a:rPr>
              <a:t> é uma variável de memória do servidor ABAP. </a:t>
            </a:r>
            <a:r>
              <a:rPr lang="en-US" sz="14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$session.system_date</a:t>
            </a:r>
            <a:r>
              <a:rPr lang="en-US" sz="1400" dirty="0">
                <a:solidFill>
                  <a:srgbClr val="C9D3DE"/>
                </a:solidFill>
              </a:rPr>
              <a:t> é o valor de contexto correto no nível do banco.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1094415" cy="1325880"/>
          </a:xfrm>
          <a:prstGeom prst="roundRect">
            <a:avLst>
              <a:gd name="adj" fmla="val 9655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91840"/>
            <a:ext cx="731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B1FF"/>
                </a:solidFill>
              </a:rPr>
              <a:t>Q2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91840"/>
            <a:ext cx="985997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Para transformar o status 'A' no valor 3 para o Fiori, que expressão usamos?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Usamos </a:t>
            </a:r>
            <a:r>
              <a:rPr lang="en-US" sz="1400" b="1" dirty="0">
                <a:solidFill>
                  <a:srgbClr val="C9D3DE"/>
                </a:solidFill>
              </a:rPr>
              <a:t>CASE</a:t>
            </a:r>
            <a:r>
              <a:rPr lang="en-US" sz="1400" dirty="0">
                <a:solidFill>
                  <a:srgbClr val="C9D3DE"/>
                </a:solidFill>
              </a:rPr>
              <a:t>. A lógica de apresentação fica centralizada na View e é reutilizável por qualquer App Fiori, sem que o front-end conheça a regra de negócio.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11094415" cy="1325880"/>
          </a:xfrm>
          <a:prstGeom prst="roundRect">
            <a:avLst>
              <a:gd name="adj" fmla="val 9655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800600"/>
            <a:ext cx="731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B1FF"/>
                </a:solidFill>
              </a:rPr>
              <a:t>Q3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800600"/>
            <a:ext cx="985997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O que acontece se eu usar SUM(price) em uma View sem GROUP BY?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9D3DE"/>
                </a:solidFill>
              </a:rPr>
              <a:t>Erro de sintaxe.</a:t>
            </a:r>
            <a:r>
              <a:rPr lang="en-US" sz="1400" dirty="0">
                <a:solidFill>
                  <a:srgbClr val="C9D3DE"/>
                </a:solidFill>
              </a:rPr>
              <a:t> Agregações precisam saber como agrupar as linhas: o </a:t>
            </a:r>
            <a:r>
              <a:rPr lang="en-US" sz="14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400" dirty="0">
                <a:solidFill>
                  <a:srgbClr val="C9D3DE"/>
                </a:solidFill>
              </a:rPr>
              <a:t> especifica os campos que definem esses grupos (ex.: </a:t>
            </a:r>
            <a:r>
              <a:rPr lang="en-US" sz="14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customer_id</a:t>
            </a:r>
            <a:r>
              <a:rPr lang="en-US" sz="1400" dirty="0">
                <a:solidFill>
                  <a:srgbClr val="C9D3DE"/>
                </a:solidFill>
              </a:rPr>
              <a:t>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Fim do LOOP: Code Pushdown em ABAP CDS</dc:title>
  <dc:subject>ABAP Moderno – Módulo 02</dc:subject>
  <dc:creator>Adriano Bispo</dc:creator>
  <cp:lastModifiedBy>Adriano Bispo</cp:lastModifiedBy>
  <cp:revision>1</cp:revision>
  <dcterms:created xsi:type="dcterms:W3CDTF">2026-10-25T15:24:33Z</dcterms:created>
  <dcterms:modified xsi:type="dcterms:W3CDTF">2026-10-25T15:24:33Z</dcterms:modified>
</cp:coreProperties>
</file>