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04 — Programação ABAP Intermediária  ·  Aula 1 de 9 — Analisar e testar código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04 — Programação ABAP Intermediária  ·  Aula 1 de 9 — Analisar e testar código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04 · AULA 01 DE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Analisando e testando código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Verificações estáticas com o ATC, testes de unidade com ABAP Unit e Joule, e medição com ABAP Profiler e SQL Trace.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8" name="Shape 6"/>
          <p:cNvSpPr/>
          <p:nvPr/>
        </p:nvSpPr>
        <p:spPr>
          <a:xfrm>
            <a:off x="85547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9255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24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380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89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797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06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1 de 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04 — Programação ABAP Intermediária · Design System SAP Horizon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04 em 9 aulas: ABAP intermediário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 e testar código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ATC, ABAP Unit, Profiling e SQL Trace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88720" y="189280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189280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04099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e conversões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968691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técnicos, conversões e datas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59558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 de caracteres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24150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Funções, regex e textos traduzíveis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017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no SQL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79609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joins, agregações e UNION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70476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Performance de tabelas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35068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Chaves, field symbols e chaves secundárias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Autorizações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Conceito, CDS DCL e AUTHORITY-CHECK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804099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6869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96869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2968691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OO eficaz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2968691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Herança, interfaces e factory methods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59558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2415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22415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5224150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de exceção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5224150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Categorias, T100 e tratamento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15017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7960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47960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9" name="Text 47"/>
          <p:cNvSpPr txBox="1"/>
          <p:nvPr/>
        </p:nvSpPr>
        <p:spPr>
          <a:xfrm>
            <a:off x="7479609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Doc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7479609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Documentação no código e no ADT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passamos de "compila" para "está correto e rápido": checamos o código, provamos o comportamento com testes e medimos o desempenho.</a:t>
            </a:r>
            <a:endParaRPr lang="en-US" sz="14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038" y="3858768"/>
            <a:ext cx="347472" cy="347472"/>
          </a:xfrm>
          <a:prstGeom prst="rect">
            <a:avLst/>
          </a:prstGeom>
        </p:spPr>
      </p:pic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2579" y="3858768"/>
            <a:ext cx="347472" cy="347472"/>
          </a:xfrm>
          <a:prstGeom prst="rect">
            <a:avLst/>
          </a:prstGeom>
        </p:spPr>
      </p:pic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497" y="3858768"/>
            <a:ext cx="347472" cy="347472"/>
          </a:xfrm>
          <a:prstGeom prst="rect">
            <a:avLst/>
          </a:prstGeom>
        </p:spPr>
      </p:pic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8956" y="3858768"/>
            <a:ext cx="347472" cy="347472"/>
          </a:xfrm>
          <a:prstGeom prst="rect">
            <a:avLst/>
          </a:prstGeom>
        </p:spPr>
      </p:pic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perguntas sobre o mesmo código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Shape 4"/>
          <p:cNvSpPr/>
          <p:nvPr/>
        </p:nvSpPr>
        <p:spPr>
          <a:xfrm>
            <a:off x="2883713" y="3008884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83713" y="3008884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estático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Segue as regras?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</a:t>
            </a:r>
            <a:r>
              <a:rPr lang="en-US" sz="1300" b="1" dirty="0">
                <a:solidFill>
                  <a:srgbClr val="556B82"/>
                </a:solidFill>
              </a:rPr>
              <a:t>ABAP Test Cockpit</a:t>
            </a:r>
            <a:r>
              <a:rPr lang="en-US" sz="1300" dirty="0">
                <a:solidFill>
                  <a:srgbClr val="556B82"/>
                </a:solidFill>
              </a:rPr>
              <a:t> analisa o código sem executá-lo: desempenho, segurança, convenções e prontidão para a nuvem.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2978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4146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58051" y="3008884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58051" y="3008884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dinâmico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24146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Faz o que deve?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Testes </a:t>
            </a:r>
            <a:r>
              <a:rPr lang="en-US" sz="1300" b="1" dirty="0">
                <a:solidFill>
                  <a:srgbClr val="556B82"/>
                </a:solidFill>
              </a:rPr>
              <a:t>ABAP Unit</a:t>
            </a:r>
            <a:r>
              <a:rPr lang="en-US" sz="1300" dirty="0">
                <a:solidFill>
                  <a:srgbClr val="556B82"/>
                </a:solidFill>
              </a:rPr>
              <a:t> executam métodos com entradas conhecidas e conferem o resultado.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7317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8485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2857" y="3008884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2857" y="3008884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medição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É rápido o bastante?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</a:t>
            </a:r>
            <a:r>
              <a:rPr lang="en-US" sz="1300" b="1" dirty="0">
                <a:solidFill>
                  <a:srgbClr val="556B82"/>
                </a:solidFill>
              </a:rPr>
              <a:t>ABAP Profiler</a:t>
            </a:r>
            <a:r>
              <a:rPr lang="en-US" sz="1300" dirty="0">
                <a:solidFill>
                  <a:srgbClr val="556B82"/>
                </a:solidFill>
              </a:rPr>
              <a:t> e o </a:t>
            </a:r>
            <a:r>
              <a:rPr lang="en-US" sz="1300" b="1" dirty="0">
                <a:solidFill>
                  <a:srgbClr val="556B82"/>
                </a:solidFill>
              </a:rPr>
              <a:t>SQL Trace</a:t>
            </a:r>
            <a:r>
              <a:rPr lang="en-US" sz="1300" dirty="0">
                <a:solidFill>
                  <a:srgbClr val="556B82"/>
                </a:solidFill>
              </a:rPr>
              <a:t> mostram onde o tempo é gasto.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036316"/>
            <a:ext cx="256032" cy="256032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036316"/>
            <a:ext cx="256032" cy="256032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03631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04.01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Verificações estáticas com o ATC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Da verificação de sintaxe obrigatória ao </a:t>
            </a:r>
            <a:r>
              <a:rPr lang="en-US" sz="1600" b="1" dirty="0">
                <a:solidFill>
                  <a:srgbClr val="D1EFFF"/>
                </a:solidFill>
              </a:rPr>
              <a:t>ABAP Test Cockpit</a:t>
            </a:r>
            <a:r>
              <a:rPr lang="en-US" sz="1600" dirty="0">
                <a:solidFill>
                  <a:srgbClr val="D1EFFF"/>
                </a:solidFill>
              </a:rPr>
              <a:t>, que reúne centenas de checagens configuráveis em </a:t>
            </a:r>
            <a:r>
              <a:rPr lang="en-US" sz="1600" b="1" dirty="0">
                <a:solidFill>
                  <a:srgbClr val="D1EFFF"/>
                </a:solidFill>
              </a:rPr>
              <a:t>variantes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 check</a:t>
            </a:r>
            <a:r>
              <a:rPr lang="en-US" sz="1000" dirty="0">
                <a:solidFill>
                  <a:srgbClr val="D1EFFF"/>
                </a:solidFill>
              </a:rPr>
              <a:t>  obrigatório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ATC</a:t>
            </a:r>
            <a:r>
              <a:rPr lang="en-US" sz="1000" dirty="0">
                <a:solidFill>
                  <a:srgbClr val="D1EFFF"/>
                </a:solidFill>
              </a:rPr>
              <a:t>  checagens opcionais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variant</a:t>
            </a:r>
            <a:r>
              <a:rPr lang="en-US" sz="1000" dirty="0">
                <a:solidFill>
                  <a:srgbClr val="D1EFFF"/>
                </a:solidFill>
              </a:rPr>
              <a:t>  o que checar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##pragma · "#EC</a:t>
            </a:r>
            <a:r>
              <a:rPr lang="en-US" sz="1000" dirty="0">
                <a:solidFill>
                  <a:srgbClr val="D1EFFF"/>
                </a:solidFill>
              </a:rPr>
              <a:t>  suprimir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ATC · TRÊS NÍVEIS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erro de sintaxe ao ATC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176272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649819"/>
                <a:gridCol w="2649819"/>
                <a:gridCol w="5520457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Ferramenta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Quando roda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 que faz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Syntax check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Sempre, ao ativar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Erros impedem a ativação; avisos não, mas não devem ser ignorados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Extended check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Sob demanda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Checagens adicionais; no ADT, existe apenas dentro do ATC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ABAP Test Cockpit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Sob demanda ou na liberação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Desempenho, segurança, convenções e ABAP Cloud, controlados por check variants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050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00507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Check variant  </a:t>
            </a:r>
            <a:r>
              <a:rPr lang="en-US" sz="1200" dirty="0">
                <a:solidFill>
                  <a:srgbClr val="1D2D3E"/>
                </a:solidFill>
              </a:rPr>
              <a:t>decide quais checagens rodam e com quais parâmetros. É um objeto de desenvolvimento: pertence a um pacote e pode ser transportado.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13308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ATC · SUPRIMINDO ACHADOS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Pseudo comentários e pragmas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zcl_04_atc.clas.abap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ZCL_04_ATC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Pseudo comentário: no fim da linha, invisível ao compilador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lv_buffer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"#EC NEEDED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Pragma: dentro da instrução, antes do ponto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lv_cache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Literal de texto proposital, sem text symbol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'Teste interno'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NO_TEXT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"#EC …</a:t>
            </a:r>
            <a:endParaRPr lang="en-US" sz="14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6B82"/>
                </a:solidFill>
              </a:rPr>
              <a:t>Extended Check</a:t>
            </a:r>
            <a:r>
              <a:rPr lang="en-US" sz="1050" dirty="0">
                <a:solidFill>
                  <a:srgbClr val="556B82"/>
                </a:solidFill>
              </a:rPr>
              <a:t>: comentário no fim da linha, só o ATC o enxerga.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##…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Pragma: parte da instrução, visível também à verificação de sintaxe.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Qual usar?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Os detalhes de cada achado, na view </a:t>
            </a:r>
            <a:r>
              <a:rPr lang="en-US" sz="1050" b="1" dirty="0">
                <a:solidFill>
                  <a:srgbClr val="556B82"/>
                </a:solidFill>
              </a:rPr>
              <a:t>ATC Problems</a:t>
            </a:r>
            <a:r>
              <a:rPr lang="en-US" sz="1050" dirty="0">
                <a:solidFill>
                  <a:srgbClr val="556B82"/>
                </a:solidFill>
              </a:rPr>
              <a:t>, dizem qual técnica vale.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Com critério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Suprima só falsos alarmes ou riscos conscientes, nunca para "limpar a lista".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04.01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Testes de unidade com ABAP Unit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Testes ABAP Unit são </a:t>
            </a:r>
            <a:r>
              <a:rPr lang="en-US" sz="1600" b="1" dirty="0">
                <a:solidFill>
                  <a:srgbClr val="D1EFFF"/>
                </a:solidFill>
              </a:rPr>
              <a:t>métodos de classes de teste</a:t>
            </a:r>
            <a:r>
              <a:rPr lang="en-US" sz="1600" dirty="0">
                <a:solidFill>
                  <a:srgbClr val="D1EFFF"/>
                </a:solidFill>
              </a:rPr>
              <a:t>. Rodam com poucos cliques, antes da entrega, após mudanças e na análise de erros.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TESTING</a:t>
            </a:r>
            <a:r>
              <a:rPr lang="en-US" sz="1000" dirty="0">
                <a:solidFill>
                  <a:srgbClr val="D1EFFF"/>
                </a:solidFill>
              </a:rPr>
              <a:t>  classe e método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LEVEL · DURATION</a:t>
            </a:r>
            <a:r>
              <a:rPr lang="en-US" sz="1000" dirty="0">
                <a:solidFill>
                  <a:srgbClr val="D1EFFF"/>
                </a:solidFill>
              </a:rPr>
              <a:t>  classificação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cl_abap_unit_assert</a:t>
            </a:r>
            <a:r>
              <a:rPr lang="en-US" sz="1000" dirty="0">
                <a:solidFill>
                  <a:srgbClr val="D1EFFF"/>
                </a:solidFill>
              </a:rPr>
              <a:t>  verificações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Ctrl+Shift+F10</a:t>
            </a:r>
            <a:r>
              <a:rPr lang="en-US" sz="1000" dirty="0">
                <a:solidFill>
                  <a:srgbClr val="D1EFFF"/>
                </a:solidFill>
              </a:rPr>
              <a:t>  executar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ABAP UNIT · CLASSE DE TESTE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teste com cenário positivo e negativo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93065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93065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747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zcl_04_calc.clas.testclasses.abap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ZCL_04_CALC › aba Test Classes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ltcl_calc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HARMLESS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zcl_04_calc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code under test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divide_ok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divide_zero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ltcl_calc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divide_ok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cl_abap_unit_assert=&gt;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assert_equals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divide_zero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cl_abap_unit_assert=&gt;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`Exceção esperada`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cx_sy_zerodivide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TESTING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Marca a classe e cada método de teste; métodos de teste não têm parâmetros.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LEVEL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HARMLESS, DANGEROUS ou CRITICAL; SHORT, MEDIUM ou LONG.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Roda antes de cada teste e cria um objeto novo.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cl_abap_unit_assert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assert_equals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assert_true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r>
              <a:rPr lang="en-US" sz="1050" dirty="0">
                <a:solidFill>
                  <a:srgbClr val="556B82"/>
                </a:solidFill>
              </a:rPr>
              <a:t>… reportam ao framework.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ABAP UNIT · BOAS PRÁTICAS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Como escrever testes que ajudam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 Test Classes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Classes de teste locais ficam na aba própria; o template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testClass</a:t>
            </a:r>
            <a:r>
              <a:rPr lang="en-US" sz="1200" dirty="0">
                <a:solidFill>
                  <a:srgbClr val="556B82"/>
                </a:solidFill>
              </a:rPr>
              <a:t> gera o esqueleto.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Testes privados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framework chama métodos privados: deixe-os na seção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Sem ordem fixa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Os testes rodam em ordem indefinida: nenhum pode depender de outro.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Test doubles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Substitua banco e dependências externas para testar só a lógica da classe.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5851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485851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Com IA  </a:t>
            </a:r>
            <a:r>
              <a:rPr lang="en-US" sz="1200" b="1" dirty="0">
                <a:solidFill>
                  <a:srgbClr val="1D2D3E"/>
                </a:solidFill>
              </a:rPr>
              <a:t>Joule → Start Chat for ABAP Unit</a:t>
            </a:r>
            <a:r>
              <a:rPr lang="en-US" sz="1200" dirty="0">
                <a:solidFill>
                  <a:srgbClr val="1D2D3E"/>
                </a:solidFill>
              </a:rPr>
              <a:t> gera testes, explica testes existentes e aponta dependências difíceis de testar. Revise o resultado.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9443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269443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653" y="2694432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146" y="2694432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98652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04.01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Medindo o desempenho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</a:t>
            </a:r>
            <a:r>
              <a:rPr lang="en-US" sz="1600" b="1" dirty="0">
                <a:solidFill>
                  <a:srgbClr val="D1EFFF"/>
                </a:solidFill>
              </a:rPr>
              <a:t>ABAP Profiler</a:t>
            </a:r>
            <a:r>
              <a:rPr lang="en-US" sz="1600" dirty="0">
                <a:solidFill>
                  <a:srgbClr val="D1EFFF"/>
                </a:solidFill>
              </a:rPr>
              <a:t> mostra onde o tempo vai; o </a:t>
            </a:r>
            <a:r>
              <a:rPr lang="en-US" sz="1600" b="1" dirty="0">
                <a:solidFill>
                  <a:srgbClr val="D1EFFF"/>
                </a:solidFill>
              </a:rPr>
              <a:t>SQL Trace</a:t>
            </a:r>
            <a:r>
              <a:rPr lang="en-US" sz="1600" dirty="0">
                <a:solidFill>
                  <a:srgbClr val="D1EFFF"/>
                </a:solidFill>
              </a:rPr>
              <a:t> mostra quais acessos ao banco custam caro.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Profiling</a:t>
            </a:r>
            <a:r>
              <a:rPr lang="en-US" sz="1000" dirty="0">
                <a:solidFill>
                  <a:srgbClr val="D1EFFF"/>
                </a:solidFill>
              </a:rPr>
              <a:t>  perspectiva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Aggregation</a:t>
            </a:r>
            <a:r>
              <a:rPr lang="en-US" sz="1000" dirty="0">
                <a:solidFill>
                  <a:srgbClr val="D1EFFF"/>
                </a:solidFill>
              </a:rPr>
              <a:t>  tamanho do trace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 list · call tree</a:t>
            </a:r>
            <a:r>
              <a:rPr lang="en-US" sz="1000" dirty="0">
                <a:solidFill>
                  <a:srgbClr val="D1EFFF"/>
                </a:solidFill>
              </a:rPr>
              <a:t>  análises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Trace</a:t>
            </a:r>
            <a:r>
              <a:rPr lang="en-US" sz="1000" dirty="0">
                <a:solidFill>
                  <a:srgbClr val="D1EFFF"/>
                </a:solidFill>
              </a:rPr>
              <a:t>  banco de dados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DESEMPENHO · ABAP PROFILER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Parâmetros que definem o trace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479605"/>
                <a:gridCol w="834049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Parâmetro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Opções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Agregação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Nenhuma (arquivo grande, todas as análises) · por chamada · total (arquivo pequeno, sem call tree)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Granularidade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Só unidades procedurais · + SQL · + SQL e tabelas internas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Início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Imediato (todo o programa) ou ligar e desligar a partir de um breakpoint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11480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Para que serve  </a:t>
            </a:r>
            <a:r>
              <a:rPr lang="en-US" sz="1200" dirty="0">
                <a:solidFill>
                  <a:srgbClr val="1D2D3E"/>
                </a:solidFill>
              </a:rPr>
              <a:t>achar instruções caras, comparar implementações, ver chamadas excessivas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1D2D3E"/>
                </a:solidFill>
              </a:rPr>
              <a:t>s dentro de loops.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24281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DESEMPENHO · SQL TRACE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Encontrando o acesso ao banco mais caro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56489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Ativar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Botão direito no projeto → </a:t>
            </a:r>
            <a:r>
              <a:rPr lang="en-US" sz="1150" b="1" dirty="0">
                <a:solidFill>
                  <a:srgbClr val="556B82"/>
                </a:solidFill>
              </a:rPr>
              <a:t>SQL Trace…</a:t>
            </a:r>
            <a:r>
              <a:rPr lang="en-US" sz="1150" dirty="0">
                <a:solidFill>
                  <a:srgbClr val="556B82"/>
                </a:solidFill>
              </a:rPr>
              <a:t> → </a:t>
            </a:r>
            <a:r>
              <a:rPr lang="en-US" sz="1150" i="1" dirty="0">
                <a:solidFill>
                  <a:srgbClr val="556B82"/>
                </a:solidFill>
              </a:rPr>
              <a:t>Activate</a:t>
            </a:r>
            <a:r>
              <a:rPr lang="en-US" sz="1150" dirty="0">
                <a:solidFill>
                  <a:srgbClr val="556B82"/>
                </a:solidFill>
              </a:rPr>
              <a:t>. Só um usuário por vez.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Executar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Rode o cenário, por exemplo a classe com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F9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Desativar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556B82"/>
                </a:solidFill>
              </a:rPr>
              <a:t>SQL Trace…</a:t>
            </a:r>
            <a:r>
              <a:rPr lang="en-US" sz="1150" dirty="0">
                <a:solidFill>
                  <a:srgbClr val="556B82"/>
                </a:solidFill>
              </a:rPr>
              <a:t> → </a:t>
            </a:r>
            <a:r>
              <a:rPr lang="en-US" sz="1150" i="1" dirty="0">
                <a:solidFill>
                  <a:srgbClr val="556B82"/>
                </a:solidFill>
              </a:rPr>
              <a:t>Deactivate</a:t>
            </a:r>
            <a:r>
              <a:rPr lang="en-US" sz="1150" dirty="0">
                <a:solidFill>
                  <a:srgbClr val="556B82"/>
                </a:solidFill>
              </a:rPr>
              <a:t> e </a:t>
            </a:r>
            <a:r>
              <a:rPr lang="en-US" sz="1150" i="1" dirty="0">
                <a:solidFill>
                  <a:srgbClr val="556B82"/>
                </a:solidFill>
              </a:rPr>
              <a:t>View Trace Directory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No Technical Monitoring Cockpit, filtre pelo programa e ordene por registros ou duração.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337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503377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Padrão típico  </a:t>
            </a:r>
            <a:r>
              <a:rPr lang="en-US" sz="1200" dirty="0">
                <a:solidFill>
                  <a:srgbClr val="1D2D3E"/>
                </a:solidFill>
              </a:rPr>
              <a:t>centenas de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SINGLE</a:t>
            </a:r>
            <a:r>
              <a:rPr lang="en-US" sz="1200" dirty="0">
                <a:solidFill>
                  <a:srgbClr val="1D2D3E"/>
                </a:solidFill>
              </a:rPr>
              <a:t> dentro de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200" dirty="0">
                <a:solidFill>
                  <a:srgbClr val="1D2D3E"/>
                </a:solidFill>
              </a:rPr>
              <a:t>. A solução costuma ser um único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1D2D3E"/>
                </a:solidFill>
              </a:rPr>
              <a:t> ou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1D2D3E"/>
                </a:solidFill>
              </a:rPr>
              <a:t> (aula 04.04).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6624" y="3241548"/>
            <a:ext cx="329184" cy="329184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728" y="3241548"/>
            <a:ext cx="329184" cy="329184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519" y="3241548"/>
            <a:ext cx="329184" cy="329184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3241548"/>
            <a:ext cx="329184" cy="329184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16178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04.01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</a:t>
            </a:r>
            <a:r>
              <a:rPr lang="en-US" sz="1400" b="1" dirty="0">
                <a:solidFill>
                  <a:srgbClr val="FFFFFF"/>
                </a:solidFill>
              </a:rPr>
              <a:t>verificação de sintaxe</a:t>
            </a:r>
            <a:r>
              <a:rPr lang="en-US" sz="1400" dirty="0">
                <a:solidFill>
                  <a:srgbClr val="FFFFFF"/>
                </a:solidFill>
              </a:rPr>
              <a:t> é obrigatória; o </a:t>
            </a:r>
            <a:r>
              <a:rPr lang="en-US" sz="1400" b="1" dirty="0">
                <a:solidFill>
                  <a:srgbClr val="FFFFFF"/>
                </a:solidFill>
              </a:rPr>
              <a:t>ATC</a:t>
            </a:r>
            <a:r>
              <a:rPr lang="en-US" sz="1400" dirty="0">
                <a:solidFill>
                  <a:srgbClr val="FFFFFF"/>
                </a:solidFill>
              </a:rPr>
              <a:t> traz checagens configuráveis por variante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Achados podem ser suprimidos com </a:t>
            </a:r>
            <a:r>
              <a:rPr lang="en-US" sz="1400" b="1" dirty="0">
                <a:solidFill>
                  <a:srgbClr val="FFFFFF"/>
                </a:solidFill>
              </a:rPr>
              <a:t>pseudo comentários</a:t>
            </a:r>
            <a:r>
              <a:rPr lang="en-US" sz="1400" dirty="0">
                <a:solidFill>
                  <a:srgbClr val="FFFFFF"/>
                </a:solidFill>
              </a:rPr>
              <a:t> ou </a:t>
            </a:r>
            <a:r>
              <a:rPr lang="en-US" sz="1400" b="1" dirty="0">
                <a:solidFill>
                  <a:srgbClr val="FFFFFF"/>
                </a:solidFill>
              </a:rPr>
              <a:t>pragmas</a:t>
            </a:r>
            <a:r>
              <a:rPr lang="en-US" sz="1400" dirty="0">
                <a:solidFill>
                  <a:srgbClr val="FFFFFF"/>
                </a:solidFill>
              </a:rPr>
              <a:t>, com critério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Testes </a:t>
            </a:r>
            <a:r>
              <a:rPr lang="en-US" sz="1400" b="1" dirty="0">
                <a:solidFill>
                  <a:srgbClr val="FFFFFF"/>
                </a:solidFill>
              </a:rPr>
              <a:t>ABAP Unit</a:t>
            </a:r>
            <a:r>
              <a:rPr lang="en-US" sz="1400" dirty="0">
                <a:solidFill>
                  <a:srgbClr val="FFFFFF"/>
                </a:solidFill>
              </a:rPr>
              <a:t> usam classes e métodos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TESTING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cl_abap_unit_assert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LEVEL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r>
              <a:rPr lang="en-US" sz="1400" dirty="0">
                <a:solidFill>
                  <a:srgbClr val="FFFFFF"/>
                </a:solidFill>
              </a:rPr>
              <a:t> e test doubles mantêm os testes seguros e isolados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Joule</a:t>
            </a:r>
            <a:r>
              <a:rPr lang="en-US" sz="1400" dirty="0">
                <a:solidFill>
                  <a:srgbClr val="FFFFFF"/>
                </a:solidFill>
              </a:rPr>
              <a:t> gera e explica testes, mas o resultado precisa de revisão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ABAP Profiler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SQL Trace</a:t>
            </a:r>
            <a:r>
              <a:rPr lang="en-US" sz="1400" dirty="0">
                <a:solidFill>
                  <a:srgbClr val="FFFFFF"/>
                </a:solidFill>
              </a:rPr>
              <a:t> mostram onde o tempo e o banco são consumidos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04.02  </a:t>
            </a:r>
            <a:r>
              <a:rPr lang="en-US" sz="1500" dirty="0">
                <a:solidFill>
                  <a:srgbClr val="FFFFFF"/>
                </a:solidFill>
              </a:rPr>
              <a:t>Tipos e conversões: Tipos técnicos, conversões e datas.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04.01 Analisando e testando código</dc:title>
  <dc:subject>ABAP Moderno – Módulo 04: Programação ABAP Intermediária</dc:subject>
  <dc:creator>Adriano Bispo</dc:creator>
  <cp:lastModifiedBy>Adriano Bispo</cp:lastModifiedBy>
  <cp:revision>1</cp:revision>
  <dcterms:created xsi:type="dcterms:W3CDTF">2026-10-29T01:08:22Z</dcterms:created>
  <dcterms:modified xsi:type="dcterms:W3CDTF">2026-10-29T01:08:22Z</dcterms:modified>
</cp:coreProperties>
</file>