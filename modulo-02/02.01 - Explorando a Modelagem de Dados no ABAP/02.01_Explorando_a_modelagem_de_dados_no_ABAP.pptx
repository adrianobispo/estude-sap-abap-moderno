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02  ·  02.01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02  ·  02.01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Revolução Silenciosa da Modelagem de Dados no S/4HANA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Um guia arquitetural: do Dicionário Clássico (SE11) ao Virtual Data Model (VDM) com ABAP CDS.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SE11 · Database Views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SAP HANA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 Pushdown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ABAP CDS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Virtual Data Model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Mundo que Conhecíamos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Modelagem de Dados na Era do ECC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No passado, o </a:t>
            </a:r>
            <a:r>
              <a:rPr lang="en-US" sz="1700" b="1" dirty="0">
                <a:solidFill>
                  <a:srgbClr val="1D2D3E"/>
                </a:solidFill>
              </a:rPr>
              <a:t>ABAP Dictionary (SE11)</a:t>
            </a:r>
            <a:r>
              <a:rPr lang="en-US" sz="1700" dirty="0">
                <a:solidFill>
                  <a:srgbClr val="1D2D3E"/>
                </a:solidFill>
              </a:rPr>
              <a:t> era o centro do nosso universo de dados. O foco era a estrutura física.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54203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Tabelas Transparentes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Definiam o armazenamento.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345643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Database Views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Realizavam junções simples (Inner Joins).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6400800" cy="1280160"/>
          </a:xfrm>
          <a:prstGeom prst="roundRect">
            <a:avLst>
              <a:gd name="adj" fmla="val 8571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46177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Limitações:</a:t>
            </a:r>
            <a:r>
              <a:rPr lang="en-US" sz="1500" dirty="0">
                <a:solidFill>
                  <a:srgbClr val="1D2D3E"/>
                </a:solidFill>
              </a:rPr>
              <a:t> as views da SE11 não suportavam cálculos, agregações, parâmetros ou lógica condicional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500" dirty="0">
                <a:solidFill>
                  <a:srgbClr val="1D2D3E"/>
                </a:solidFill>
              </a:rPr>
              <a:t>). Toda a inteligência residia no servidor de aplicação ABAP.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3337560"/>
            <a:ext cx="822960" cy="822960"/>
          </a:xfrm>
          <a:prstGeom prst="ellipse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3566160"/>
            <a:ext cx="548640" cy="36576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1600200"/>
            <a:ext cx="19476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92640" y="1600200"/>
            <a:ext cx="1947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Servidor de Aplicação ABAP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35440" y="329184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SE11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27080" y="2697480"/>
            <a:ext cx="457200" cy="210312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8" name="Shape 16"/>
          <p:cNvSpPr/>
          <p:nvPr/>
        </p:nvSpPr>
        <p:spPr>
          <a:xfrm>
            <a:off x="9692640" y="4892040"/>
            <a:ext cx="1947672" cy="1005840"/>
          </a:xfrm>
          <a:prstGeom prst="roundRect">
            <a:avLst>
              <a:gd name="adj" fmla="val 12727"/>
            </a:avLst>
          </a:prstGeom>
          <a:solidFill>
            <a:srgbClr val="EEF1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92640" y="4892040"/>
            <a:ext cx="1947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Banco de Dados Genérico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691994"/>
            <a:ext cx="285293" cy="285293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606394"/>
            <a:ext cx="285293" cy="285293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84064"/>
            <a:ext cx="347472" cy="347472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470" y="3535070"/>
            <a:ext cx="427939" cy="427939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47472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Gargalo do Paradigma “Data-to-Code”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 abordagem clássica era como transportar matéria-prima bruta para uma fábrica distante.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1737360"/>
          </a:xfrm>
          <a:prstGeom prst="roundRect">
            <a:avLst>
              <a:gd name="adj" fmla="val 8421"/>
            </a:avLst>
          </a:prstGeom>
          <a:solidFill>
            <a:srgbClr val="EEF1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Banco de Dados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2560320"/>
            <a:ext cx="4572000" cy="1920240"/>
          </a:xfrm>
          <a:prstGeom prst="rightArrow">
            <a:avLst/>
          </a:prstGeom>
          <a:solidFill>
            <a:srgbClr val="C4CCD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34640" y="25603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Antes</a:t>
            </a:r>
            <a:endParaRPr lang="en-US" sz="16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Milhões de linhas transferidas pela rede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2286000"/>
            <a:ext cx="4144975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20A0A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26680" y="242316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Servidor de Aplicação ABAP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CPU em sobrecarga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Memória RAM esgotada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92040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Armazenar em tabelas internas gigantes.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Fazer loops para somar e agrupar valores.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FFEA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557784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Resultado:</a:t>
            </a:r>
            <a:r>
              <a:rPr lang="en-US" sz="1600" dirty="0">
                <a:solidFill>
                  <a:srgbClr val="1D2D3E"/>
                </a:solidFill>
              </a:rPr>
              <a:t> ineficiência extrema em grandes volumes de dados, consumindo tempo, rede e memória.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80360"/>
            <a:ext cx="731520" cy="73152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017520"/>
            <a:ext cx="457200" cy="45720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794760"/>
            <a:ext cx="457200" cy="45720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24144"/>
            <a:ext cx="347472" cy="347472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Catalisador da Mudança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Chegada do SAP HANA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 transição para o SAP HANA inverteu a lógica de desenvolvimento. O banco de dados deixou de ser um “arquivo passivo” para se tornar um </a:t>
            </a:r>
            <a:r>
              <a:rPr lang="en-US" sz="1700" b="1" dirty="0">
                <a:solidFill>
                  <a:srgbClr val="1D2D3E"/>
                </a:solidFill>
              </a:rPr>
              <a:t>“motor de cálculo”</a:t>
            </a:r>
            <a:r>
              <a:rPr lang="en-US" sz="1700" dirty="0">
                <a:solidFill>
                  <a:srgbClr val="1D2D3E"/>
                </a:solidFill>
              </a:rPr>
              <a:t> ativo e inteligente.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2606040"/>
            <a:ext cx="2377440" cy="2103120"/>
          </a:xfrm>
          <a:prstGeom prst="roundRect">
            <a:avLst>
              <a:gd name="adj" fmla="val 8696"/>
            </a:avLst>
          </a:prstGeom>
          <a:solidFill>
            <a:srgbClr val="EEF1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6B82"/>
                </a:solidFill>
              </a:rPr>
              <a:t>Armazenamento Passivo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3200400"/>
            <a:ext cx="3749040" cy="914400"/>
          </a:xfrm>
          <a:prstGeom prst="rightArrow">
            <a:avLst/>
          </a:prstGeom>
          <a:solidFill>
            <a:srgbClr val="07838F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2606040"/>
            <a:ext cx="2377440" cy="2103120"/>
          </a:xfrm>
          <a:prstGeom prst="roundRect">
            <a:avLst>
              <a:gd name="adj" fmla="val 8696"/>
            </a:avLst>
          </a:prstGeom>
          <a:solidFill>
            <a:srgbClr val="1D2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0" y="3931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SAP HANA: Motor de Processamento em Memória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E0F7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51663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“Com a chegada do SAP HANA, foi necessário criar uma linguagem que explorasse o poder do banco.”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880360"/>
            <a:ext cx="1005840" cy="100584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04104"/>
            <a:ext cx="347472" cy="347472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88036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Leve o código até os dados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Nova Filosofia: “Code Pushdown”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Data-to-Code | O Antigo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Banco → Rede → ABAP (processamento) → Tela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8" name="Shape 6"/>
          <p:cNvSpPr/>
          <p:nvPr/>
        </p:nvSpPr>
        <p:spPr>
          <a:xfrm>
            <a:off x="4724248" y="329184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3429000"/>
            <a:ext cx="2621128" cy="548640"/>
          </a:xfrm>
          <a:prstGeom prst="rightArrow">
            <a:avLst/>
          </a:prstGeom>
          <a:solidFill>
            <a:srgbClr val="C4CCD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20240" y="3977640"/>
            <a:ext cx="2621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Milhões de linhas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Traga os dados até o código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8728" y="1600200"/>
            <a:ext cx="5364328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Code-to-Data | O Novo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37744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ABAP envia instrução → HANA (processa, filtra, agrega) → ABAP recebe resultado final → Tela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44488" y="329184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54335" y="329184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50328" y="3520440"/>
            <a:ext cx="2621128" cy="0"/>
          </a:xfrm>
          <a:prstGeom prst="line">
            <a:avLst/>
          </a:prstGeom>
          <a:noFill/>
          <a:ln w="3175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50328" y="3886200"/>
            <a:ext cx="2621128" cy="0"/>
          </a:xfrm>
          <a:prstGeom prst="line">
            <a:avLst/>
          </a:prstGeom>
          <a:noFill/>
          <a:ln w="31750">
            <a:solidFill>
              <a:srgbClr val="30914C"/>
            </a:solidFill>
            <a:prstDash val="solid"/>
            <a:head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650328" y="3977640"/>
            <a:ext cx="2621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Apenas o resultado final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45720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Empurre a lógica para os dados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5FAE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8016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Performance massiva.</a:t>
            </a:r>
            <a:r>
              <a:rPr lang="en-US" sz="1700" dirty="0">
                <a:solidFill>
                  <a:srgbClr val="1D2D3E"/>
                </a:solidFill>
              </a:rPr>
              <a:t> Operações que levavam horas agora levam segundos.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3489350"/>
            <a:ext cx="427939" cy="427939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758" y="3489350"/>
            <a:ext cx="427939" cy="427939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998" y="3489350"/>
            <a:ext cx="427939" cy="427939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55564"/>
            <a:ext cx="347472" cy="347472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846" y="3489350"/>
            <a:ext cx="427939" cy="4279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ABAP CDS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Veículo para o Code Pushdown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As </a:t>
            </a:r>
            <a:r>
              <a:rPr lang="en-US" sz="1600" b="1" dirty="0">
                <a:solidFill>
                  <a:srgbClr val="1D2D3E"/>
                </a:solidFill>
              </a:rPr>
              <a:t>Core Data Services (CDS)</a:t>
            </a:r>
            <a:r>
              <a:rPr lang="en-US" sz="1600" dirty="0">
                <a:solidFill>
                  <a:srgbClr val="1D2D3E"/>
                </a:solidFill>
              </a:rPr>
              <a:t> são a infraestrutura de modelagem de “próxima geração” que permite definir modelos de dados semanticamente ricos diretamente no banco de dados.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67864" cy="2880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334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346704"/>
            <a:ext cx="2055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Associações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Relacionamentos inteligentes entre entidades.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90824" y="2377440"/>
            <a:ext cx="2567864" cy="2880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46856" y="26334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6856" y="3346704"/>
            <a:ext cx="2055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Anotações de Metadados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Enriquecem o modelo para UI, APIs e Analytics.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3008" y="2377440"/>
            <a:ext cx="2567864" cy="2880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89040" y="26334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89040" y="3346704"/>
            <a:ext cx="2055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Controle de Acesso (DCL)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Segurança integrada no nível do modelo.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75191" y="2377440"/>
            <a:ext cx="2567864" cy="2880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31223" y="26334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31223" y="3346704"/>
            <a:ext cx="2055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Lógica de Negócio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Suporte a cálculos, agregações e condicionais (CASE).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0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Uma CDS View não é apenas uma “View SQL”: é uma </a:t>
            </a:r>
            <a:r>
              <a:rPr lang="en-US" sz="1800" b="1" dirty="0">
                <a:solidFill>
                  <a:srgbClr val="1D2D3E"/>
                </a:solidFill>
              </a:rPr>
              <a:t>entidade de modelagem completa</a:t>
            </a:r>
            <a:r>
              <a:rPr lang="en-US" sz="18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765146"/>
            <a:ext cx="285293" cy="285293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529" y="2765146"/>
            <a:ext cx="285293" cy="285293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13" y="2765146"/>
            <a:ext cx="285293" cy="285293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897" y="2765146"/>
            <a:ext cx="285293" cy="285293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555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Nova Divisão de Trabalho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Dictionary vs. CDS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Dicionário de Dados não morreu, mas seu papel mudou: voltou a ser responsável apenas pela </a:t>
            </a:r>
            <a:r>
              <a:rPr lang="en-US" sz="1600" b="1" dirty="0">
                <a:solidFill>
                  <a:srgbClr val="1D2D3E"/>
                </a:solidFill>
              </a:rPr>
              <a:t>definição física</a:t>
            </a:r>
            <a:r>
              <a:rPr lang="en-US" sz="1600" dirty="0">
                <a:solidFill>
                  <a:srgbClr val="1D2D3E"/>
                </a:solidFill>
              </a:rPr>
              <a:t> e tipagem.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533095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Artefato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Ferramenta / Local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Função no Modelo Moderno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Tabela de Banco de Dados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ABAP Dictionary (via ADT)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Armazenamento físico (persistência). Onde os dados moram.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Elemento de Dados / Domínio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ABAP Dictionary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Semântica técnica. Tipos reutilizáveis, labels, ajudas de pesquisa técnicas.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Views (Visões)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4D9"/>
                          </a:solidFill>
                        </a:rPr>
                        <a:t>ABAP CDS</a:t>
                      </a:r>
                      <a:r>
                        <a:rPr lang="en-US" sz="1400" dirty="0">
                          <a:solidFill>
                            <a:srgbClr val="0064D9"/>
                          </a:solidFill>
                        </a:rPr>
                        <a:t> (Eclipse/ADT)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4D9"/>
                          </a:solidFill>
                        </a:rPr>
                        <a:t>Modelagem lógica.</a:t>
                      </a:r>
                      <a:r>
                        <a:rPr lang="en-US" sz="1400" dirty="0">
                          <a:solidFill>
                            <a:srgbClr val="0064D9"/>
                          </a:solidFill>
                        </a:rPr>
                        <a:t> Joins, associações, cálculos, agregações e segurança.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Search Helps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64D9"/>
                          </a:solidFill>
                        </a:rPr>
                        <a:t>ABAP CDS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Listas de valores inteligentes, flexíveis e performáticas.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8016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Regra prática:</a:t>
            </a:r>
            <a:r>
              <a:rPr lang="en-US" sz="1600" dirty="0">
                <a:solidFill>
                  <a:srgbClr val="1D2D3E"/>
                </a:solidFill>
              </a:rPr>
              <a:t> use o Dictionary para criar a </a:t>
            </a:r>
            <a:r>
              <a:rPr lang="en-US" sz="1600" b="1" dirty="0">
                <a:solidFill>
                  <a:srgbClr val="1D2D3E"/>
                </a:solidFill>
              </a:rPr>
              <a:t>tabela física</a:t>
            </a:r>
            <a:r>
              <a:rPr lang="en-US" sz="1600" dirty="0">
                <a:solidFill>
                  <a:srgbClr val="1D2D3E"/>
                </a:solidFill>
              </a:rPr>
              <a:t>. Use CDS para </a:t>
            </a:r>
            <a:r>
              <a:rPr lang="en-US" sz="1600" b="1" dirty="0">
                <a:solidFill>
                  <a:srgbClr val="1D2D3E"/>
                </a:solidFill>
              </a:rPr>
              <a:t>todo o resto</a:t>
            </a:r>
            <a:r>
              <a:rPr lang="en-US" sz="1600" dirty="0">
                <a:solidFill>
                  <a:srgbClr val="1D2D3E"/>
                </a:solidFill>
              </a:rPr>
              <a:t> (ler, transformar, expor, calcular).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555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Blueprint da Abstração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Construindo com o Virtual Data Model (VDM)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No S/4HANA, desencorajamos o acesso direto a tabelas físicas (como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VBAK</a:t>
            </a:r>
            <a:r>
              <a:rPr lang="en-US" sz="1600" dirty="0">
                <a:solidFill>
                  <a:srgbClr val="1D2D3E"/>
                </a:solidFill>
              </a:rPr>
              <a:t>,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r>
              <a:rPr lang="en-US" sz="1600" dirty="0">
                <a:solidFill>
                  <a:srgbClr val="1D2D3E"/>
                </a:solidFill>
              </a:rPr>
              <a:t>). Em vez disso, construímos uma hierarquia de CDS Views chamada </a:t>
            </a:r>
            <a:r>
              <a:rPr lang="en-US" sz="1600" b="1" dirty="0">
                <a:solidFill>
                  <a:srgbClr val="1D2D3E"/>
                </a:solidFill>
              </a:rPr>
              <a:t>VDM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Por que o VDM? (Os benefícios da abstração)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290779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Estabilidade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Protege a aplicação de mudanças na estrutura física das tabelas.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25880" y="395935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Reutilização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Fornece visões de negócio prontas para consumo.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501091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Semântica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Expõe os dados com nomes de negócio claros, não técnicos.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2514600"/>
            <a:ext cx="2864815" cy="1005840"/>
          </a:xfrm>
          <a:prstGeom prst="roundRect">
            <a:avLst>
              <a:gd name="adj" fmla="val 9091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251460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Fachada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Consumption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55280" y="3703320"/>
            <a:ext cx="3413455" cy="1005840"/>
          </a:xfrm>
          <a:prstGeom prst="roundRect">
            <a:avLst>
              <a:gd name="adj" fmla="val 9091"/>
            </a:avLst>
          </a:prstGeom>
          <a:solidFill>
            <a:srgbClr val="785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370332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Estrutura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Composite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0960" y="4892040"/>
            <a:ext cx="3962095" cy="1005840"/>
          </a:xfrm>
          <a:prstGeom prst="roundRect">
            <a:avLst>
              <a:gd name="adj" fmla="val 9091"/>
            </a:avLst>
          </a:prstGeom>
          <a:solidFill>
            <a:srgbClr val="3091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489204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Fundação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Basic / Interface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057754"/>
            <a:ext cx="285293" cy="285293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5160874"/>
            <a:ext cx="285293" cy="285293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10931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Camada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Basic (Interface) Views: A Fonte da Verdade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572000"/>
          </a:xfrm>
          <a:prstGeom prst="roundRect">
            <a:avLst>
              <a:gd name="adj" fmla="val 5556"/>
            </a:avLst>
          </a:prstGeom>
          <a:solidFill>
            <a:srgbClr val="F5FA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06240" y="160020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Função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65960"/>
            <a:ext cx="7436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Espelhar os dados brutos da tabela física, mas com nomes limpos e semânticos. É a “fonte da verdade” reutilizável.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74320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Características principais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108960"/>
            <a:ext cx="7436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Acessam diretamente </a:t>
            </a:r>
            <a:r>
              <a:rPr lang="en-US" sz="1500" b="1" dirty="0">
                <a:solidFill>
                  <a:srgbClr val="1D2D3E"/>
                </a:solidFill>
              </a:rPr>
              <a:t>uma</a:t>
            </a:r>
            <a:r>
              <a:rPr lang="en-US" sz="1500" dirty="0">
                <a:solidFill>
                  <a:srgbClr val="1D2D3E"/>
                </a:solidFill>
              </a:rPr>
              <a:t> tabela do banco.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Normalizam nomes (ex.: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MATNR</a:t>
            </a:r>
            <a:r>
              <a:rPr lang="en-US" sz="1500" dirty="0">
                <a:solidFill>
                  <a:srgbClr val="1D2D3E"/>
                </a:solidFill>
              </a:rPr>
              <a:t> vira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</a:t>
            </a:r>
            <a:r>
              <a:rPr lang="en-US" sz="1500" dirty="0">
                <a:solidFill>
                  <a:srgbClr val="1D2D3E"/>
                </a:solidFill>
              </a:rPr>
              <a:t>).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Não devem ter filtros restritivos (sem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500" dirty="0">
                <a:solidFill>
                  <a:srgbClr val="1D2D3E"/>
                </a:solidFill>
              </a:rPr>
              <a:t>), para máxima reutilização.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4754880"/>
            <a:ext cx="358124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34840" y="4892040"/>
            <a:ext cx="3124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Nomenclatura padrão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I_NomeDaEntidade</a:t>
            </a:r>
            <a:r>
              <a:rPr lang="en-US" sz="1400" dirty="0">
                <a:solidFill>
                  <a:srgbClr val="1D2D3E"/>
                </a:solidFill>
              </a:rPr>
              <a:t>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I_SalesOrder</a:t>
            </a:r>
            <a:r>
              <a:rPr lang="en-US" sz="1400" dirty="0">
                <a:solidFill>
                  <a:srgbClr val="1D2D3E"/>
                </a:solidFill>
              </a:rPr>
              <a:t>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61808" y="4754880"/>
            <a:ext cx="358124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0408" y="4892040"/>
            <a:ext cx="312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Anotação chave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44688" y="5257800"/>
            <a:ext cx="3215488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73288" y="5422392"/>
            <a:ext cx="2758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@VDM.viewType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#BASIC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971800"/>
            <a:ext cx="18288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Camada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Composite Views: Onde a Lógica de Negócio Acontece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572000"/>
          </a:xfrm>
          <a:prstGeom prst="roundRect">
            <a:avLst>
              <a:gd name="adj" fmla="val 5556"/>
            </a:avLst>
          </a:prstGeom>
          <a:solidFill>
            <a:srgbClr val="F1ED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06240" y="160020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Função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65960"/>
            <a:ext cx="7436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Combinar múltiplas Interface Views para formar cubos de dados ou visões de negócio mais ricas.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74320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Características principais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108960"/>
            <a:ext cx="7436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Realizam joins e associações entre Interface Views.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Contêm a lógica de negócio reutilizável (ex.: ‘Buscar Cliente com Endereço’).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Servem como base principal para a analítica.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4754880"/>
            <a:ext cx="358124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34840" y="4892040"/>
            <a:ext cx="3124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Nomenclatura padrão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I_NomeComposto</a:t>
            </a:r>
            <a:r>
              <a:rPr lang="en-US" sz="1400" dirty="0">
                <a:solidFill>
                  <a:srgbClr val="1D2D3E"/>
                </a:solidFill>
              </a:rPr>
              <a:t>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I_SalesOrderWithCustomer</a:t>
            </a:r>
            <a:r>
              <a:rPr lang="en-US" sz="1400" dirty="0">
                <a:solidFill>
                  <a:srgbClr val="1D2D3E"/>
                </a:solidFill>
              </a:rPr>
              <a:t>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61808" y="4754880"/>
            <a:ext cx="358124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0408" y="4892040"/>
            <a:ext cx="312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Anotação chave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44688" y="5257800"/>
            <a:ext cx="3215488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73288" y="5422392"/>
            <a:ext cx="2758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@VDM.viewType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#COMPOSITE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971800"/>
            <a:ext cx="18288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Camada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Consumption Views: A Interface com o Usuário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572000"/>
          </a:xfrm>
          <a:prstGeom prst="roundRect">
            <a:avLst>
              <a:gd name="adj" fmla="val 5556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06240" y="160020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Função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65960"/>
            <a:ext cx="7436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Atender a uma necessidade específica de uma tela (UI) ou API. É a “ponta do iceberg”.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74320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Características principais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108960"/>
            <a:ext cx="7436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Filtra e projeta apenas os campos que o app Fiori ou a API precisa.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Contém anotações específicas de UI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500" dirty="0">
                <a:solidFill>
                  <a:srgbClr val="1D2D3E"/>
                </a:solidFill>
              </a:rPr>
              <a:t>).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Define parâmetros de pesquisa e rótulos específicos da aplicação.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4754880"/>
            <a:ext cx="358124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34840" y="4892040"/>
            <a:ext cx="3124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Nomenclatura padrão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C_NomeEspecifico</a:t>
            </a:r>
            <a:r>
              <a:rPr lang="en-US" sz="1400" dirty="0">
                <a:solidFill>
                  <a:srgbClr val="1D2D3E"/>
                </a:solidFill>
              </a:rPr>
              <a:t>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C_SalesOrderAnalytics</a:t>
            </a:r>
            <a:r>
              <a:rPr lang="en-US" sz="1400" dirty="0">
                <a:solidFill>
                  <a:srgbClr val="1D2D3E"/>
                </a:solidFill>
              </a:rPr>
              <a:t>,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C_ApproveTravel</a:t>
            </a:r>
            <a:r>
              <a:rPr lang="en-US" sz="1400" dirty="0">
                <a:solidFill>
                  <a:srgbClr val="1D2D3E"/>
                </a:solidFill>
              </a:rPr>
              <a:t>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61808" y="4754880"/>
            <a:ext cx="358124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90408" y="4892040"/>
            <a:ext cx="312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Anotação chave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44688" y="5257800"/>
            <a:ext cx="3215488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73288" y="5422392"/>
            <a:ext cx="2758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@VDM.viewType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#CONSUMPTION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971800"/>
            <a:ext cx="18288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VDM em 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 Cenário de Vendas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673352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Tabela Física  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ZTB_SALES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Campos: ID, AMT, CUR, CUST_ID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274320" cy="201168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61488"/>
            <a:ext cx="1109441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16936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283464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Camada 1 – Interface View  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I_Sales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17296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Lê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ZTB_SALES</a:t>
            </a:r>
            <a:r>
              <a:rPr lang="en-US" sz="1300" dirty="0">
                <a:solidFill>
                  <a:srgbClr val="556B82"/>
                </a:solidFill>
              </a:rPr>
              <a:t>. Renomeia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CUST_ID</a:t>
            </a:r>
            <a:r>
              <a:rPr lang="en-US" sz="1300" dirty="0">
                <a:solidFill>
                  <a:srgbClr val="556B82"/>
                </a:solidFill>
              </a:rPr>
              <a:t> para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300" dirty="0">
                <a:solidFill>
                  <a:srgbClr val="556B82"/>
                </a:solidFill>
              </a:rPr>
              <a:t>, define semântica de moeda, cria associação para Cliente.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721608"/>
            <a:ext cx="274320" cy="201168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22776"/>
            <a:ext cx="1109441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078224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1ED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995928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Camada 2 – Composite View  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I_SalesWithCustomer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334256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Lê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I_Sales</a:t>
            </a:r>
            <a:r>
              <a:rPr lang="en-US" sz="1300" dirty="0">
                <a:solidFill>
                  <a:srgbClr val="556B82"/>
                </a:solidFill>
              </a:rPr>
              <a:t>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I_Customer</a:t>
            </a:r>
            <a:r>
              <a:rPr lang="en-US" sz="1300" dirty="0">
                <a:solidFill>
                  <a:srgbClr val="556B82"/>
                </a:solidFill>
              </a:rPr>
              <a:t>. Faz a associação, calcula totais por região, adiciona textos descritivos.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882896"/>
            <a:ext cx="274320" cy="201168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084064"/>
            <a:ext cx="1109441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23951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54480" y="5157216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Camada 3 – Consumption View  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C_SalesReport_App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495544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Lê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I_SalesWithCustomer</a:t>
            </a:r>
            <a:r>
              <a:rPr lang="en-US" sz="1300" dirty="0">
                <a:solidFill>
                  <a:srgbClr val="556B82"/>
                </a:solidFill>
              </a:rPr>
              <a:t>. Seleciona campos e adiciona anotações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300" dirty="0">
                <a:solidFill>
                  <a:srgbClr val="556B82"/>
                </a:solidFill>
              </a:rPr>
              <a:t> (‘Região’ é filtro, ‘Total’ é gráfico de barras). Expõe via OData.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909267"/>
            <a:ext cx="332842" cy="332842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3070555"/>
            <a:ext cx="332842" cy="332842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5393131"/>
            <a:ext cx="332842" cy="332842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4231843"/>
            <a:ext cx="332842" cy="3328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Manual de Regras do VDM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Resumo Estratégico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560320"/>
                <a:gridCol w="2587752"/>
              </a:tblGrid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Camada VDM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Objetivo Principal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Nível de Reutilização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Acessível por SQL externo?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Interface (Basic)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Normalização e semântica básica. Espelho limpo do banco.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Alta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(base para tudo).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Sim (por outras views e ABAP).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Composite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Combinação de dados e lógica de negócio centralizada.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64D9"/>
                          </a:solidFill>
                        </a:rPr>
                        <a:t>Média</a:t>
                      </a:r>
                      <a:r>
                        <a:rPr lang="en-US" sz="1500" dirty="0">
                          <a:solidFill>
                            <a:srgbClr val="0064D9"/>
                          </a:solidFill>
                        </a:rPr>
                        <a:t> (base para vários apps).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Sim.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Consumption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Específica para um cenário (tela/API). Projeção final.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56B82"/>
                          </a:solidFill>
                        </a:rPr>
                        <a:t>Baixa</a:t>
                      </a:r>
                      <a:r>
                        <a:rPr lang="en-US" sz="1500" dirty="0">
                          <a:solidFill>
                            <a:srgbClr val="556B82"/>
                          </a:solidFill>
                        </a:rPr>
                        <a:t> (específica do app).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4F00"/>
                          </a:solidFill>
                        </a:rPr>
                        <a:t>Não recomendado</a:t>
                      </a:r>
                      <a:r>
                        <a:rPr lang="en-US" sz="1500" dirty="0">
                          <a:solidFill>
                            <a:srgbClr val="B44F00"/>
                          </a:solidFill>
                        </a:rPr>
                        <a:t> (consumir via OData/InA).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Essencial para o Desenvolvedor Moderno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523744"/>
            <a:ext cx="4897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ABAP CDS (Core Data Services)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Linguagem de definição de dados (DDL) avançada que permite criar modelos semanticamente ricos e executar lógica complexa (Code Pushdown) no nível do banco.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9040" y="185623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89040" y="2523744"/>
            <a:ext cx="4897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VDM (Virtual Data Model)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Representação estruturada, hierárquica e abstrata dos dados de negócio do S/4HANA, composta inteiramente por CDS Views.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27939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946904"/>
            <a:ext cx="4897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Code Pushdown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Técnica de otimização que delega operações intensivas de dados (agregações, filtros, cálculos) para a camada de banco de dados (HANA).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9040" y="427939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89040" y="4946904"/>
            <a:ext cx="4897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ADT (ABAP Development Tools)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IDE baseada em Eclipse onde as CDS Views devem ser criadas; obrigatória para qualquer desenvolvimento S/4HANA ou RAP.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76933"/>
            <a:ext cx="261518" cy="26151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740" y="1976933"/>
            <a:ext cx="261518" cy="26151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740" y="4400093"/>
            <a:ext cx="261518" cy="26151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400093"/>
            <a:ext cx="261518" cy="261518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O Alicerce do Futuro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Por Que Dominar CDS e VDM é Inegociável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90008" y="1920240"/>
            <a:ext cx="2011680" cy="1737360"/>
          </a:xfrm>
          <a:prstGeom prst="roundRect">
            <a:avLst>
              <a:gd name="adj" fmla="val 10526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90008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CDS View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40968" y="182880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18208" y="1828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Analítica em Tempo Real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24648" y="182880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01888" y="1828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APIs OData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40968" y="288036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18208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Aplicações UI5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24648" y="288036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01888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 Transacional RAP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062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As CDS Views são o </a:t>
            </a:r>
            <a:r>
              <a:rPr lang="en-US" sz="1800" b="1" dirty="0">
                <a:solidFill>
                  <a:srgbClr val="C9D3DE"/>
                </a:solidFill>
              </a:rPr>
              <a:t>alicerce insubstituível do S/4HANA</a:t>
            </a:r>
            <a:r>
              <a:rPr lang="en-US" sz="1800" dirty="0">
                <a:solidFill>
                  <a:srgbClr val="C9D3DE"/>
                </a:solidFill>
              </a:rPr>
              <a:t>. Construir sobre esta base é a única forma de desenvolver soluções robustas, performáticas e preparadas para o futuro no ecossistema SAP.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2029968"/>
            <a:ext cx="420624" cy="420624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68" y="2103120"/>
            <a:ext cx="822960" cy="82296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528" y="2029968"/>
            <a:ext cx="420624" cy="420624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848" y="3081528"/>
            <a:ext cx="420624" cy="420624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528" y="3081528"/>
            <a:ext cx="420624" cy="4206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Revolução Silenciosa da Modelagem de Dados no S/4HANA</dc:title>
  <dc:subject>ABAP Moderno – Módulo 02</dc:subject>
  <dc:creator>Adriano Bispo</dc:creator>
  <cp:lastModifiedBy>Adriano Bispo</cp:lastModifiedBy>
  <cp:revision>1</cp:revision>
  <dcterms:created xsi:type="dcterms:W3CDTF">2026-10-25T04:06:17Z</dcterms:created>
  <dcterms:modified xsi:type="dcterms:W3CDTF">2026-10-25T04:06:17Z</dcterms:modified>
</cp:coreProperties>
</file>