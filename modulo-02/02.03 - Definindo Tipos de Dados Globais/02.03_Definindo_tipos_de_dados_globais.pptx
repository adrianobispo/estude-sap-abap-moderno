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Dominando Tipos de Dados Globais no ABAP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 base para aplicações Fiori robustas, traduzíveis e de fácil manutenção.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abap.char(20)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Domínio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Elemento de Dados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Field Labels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BEGIN OF ENUM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Dilema do Desenvolvedor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“Por que não usar apenas abap.char(20)?”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D2D3E"/>
                </a:solidFill>
              </a:rPr>
              <a:t>No desenvolvimento ágil, a velocidade parece essencial. Definir um tipo diretamente na tabela é o caminho mais rápido para ter um campo funcional. Mas qual é o custo real desse atalho a longo prazo?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17920" y="1600200"/>
            <a:ext cx="5425135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46520" y="1764792"/>
            <a:ext cx="49679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zmy_table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z_user_status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3886200"/>
            <a:ext cx="542513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4069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3886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O Atalho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Rápido hoje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5029200"/>
            <a:ext cx="5425135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52120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5029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 Estrutura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Sustentável amanhã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166" y="4211726"/>
            <a:ext cx="309067" cy="309067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5354726"/>
            <a:ext cx="309067" cy="309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Quando o Atalho Cobra seu Preço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Pesadelo da Manutenção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706624"/>
            <a:ext cx="300319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UI Quebrada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Sem rótulos definidos, o Fiori exibe nomes técnicos como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Z_USER_STATUS</a:t>
            </a:r>
            <a:r>
              <a:rPr lang="en-US" sz="1500" dirty="0">
                <a:solidFill>
                  <a:srgbClr val="556B82"/>
                </a:solidFill>
              </a:rPr>
              <a:t>, que ainda são cortados em telas pequenas.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2706624"/>
            <a:ext cx="300319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Caos na Tradução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O mesmo rótulo precisa ser traduzido manualmente em 10 lugares diferentes — português, inglês, alemão…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356616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1856232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2706624"/>
            <a:ext cx="300319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Análise de Impacto Cega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Onde mais este conceito de negócio é usado? Impossível saber com um tipo primitivo.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EA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Um campo, múltiplos problemas.</a:t>
            </a:r>
            <a:r>
              <a:rPr lang="en-US" sz="1800" dirty="0">
                <a:solidFill>
                  <a:srgbClr val="1D2D3E"/>
                </a:solidFill>
              </a:rPr>
              <a:t> Multiplique por 100 campos.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20824"/>
            <a:ext cx="356616" cy="356616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020824"/>
            <a:ext cx="356616" cy="35661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020824"/>
            <a:ext cx="356616" cy="356616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 Estratégica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Princípio da Fonte Única da Verdade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ABAP Dictionary desacopla a </a:t>
            </a:r>
            <a:r>
              <a:rPr lang="en-US" sz="1600" b="1" dirty="0">
                <a:solidFill>
                  <a:srgbClr val="1D2D3E"/>
                </a:solidFill>
              </a:rPr>
              <a:t>definição</a:t>
            </a:r>
            <a:r>
              <a:rPr lang="en-US" sz="1600" dirty="0">
                <a:solidFill>
                  <a:srgbClr val="1D2D3E"/>
                </a:solidFill>
              </a:rPr>
              <a:t> do </a:t>
            </a:r>
            <a:r>
              <a:rPr lang="en-US" sz="1600" b="1" dirty="0">
                <a:solidFill>
                  <a:srgbClr val="1D2D3E"/>
                </a:solidFill>
              </a:rPr>
              <a:t>uso</a:t>
            </a:r>
            <a:r>
              <a:rPr lang="en-US" sz="1600" dirty="0">
                <a:solidFill>
                  <a:srgbClr val="1D2D3E"/>
                </a:solidFill>
              </a:rPr>
              <a:t>. A semântica, os textos e as traduções de um campo são definidos </a:t>
            </a:r>
            <a:r>
              <a:rPr lang="en-US" sz="1600" b="1" dirty="0">
                <a:solidFill>
                  <a:srgbClr val="1D2D3E"/>
                </a:solidFill>
              </a:rPr>
              <a:t>uma vez</a:t>
            </a:r>
            <a:r>
              <a:rPr lang="en-US" sz="1600" dirty="0">
                <a:solidFill>
                  <a:srgbClr val="1D2D3E"/>
                </a:solidFill>
              </a:rPr>
              <a:t> e reutilizados consistentemente em </a:t>
            </a:r>
            <a:r>
              <a:rPr lang="en-US" sz="1600" b="1" dirty="0">
                <a:solidFill>
                  <a:srgbClr val="1D2D3E"/>
                </a:solidFill>
              </a:rPr>
              <a:t>todos</a:t>
            </a:r>
            <a:r>
              <a:rPr lang="en-US" sz="1600" dirty="0">
                <a:solidFill>
                  <a:srgbClr val="1D2D3E"/>
                </a:solidFill>
              </a:rPr>
              <a:t> os lugares.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17520" y="3154680"/>
            <a:ext cx="3078328" cy="960120"/>
          </a:xfrm>
          <a:prstGeom prst="line">
            <a:avLst/>
          </a:prstGeom>
          <a:noFill/>
          <a:ln w="31750">
            <a:solidFill>
              <a:srgbClr val="0783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95848" y="3154680"/>
            <a:ext cx="3078328" cy="960120"/>
          </a:xfrm>
          <a:prstGeom prst="line">
            <a:avLst/>
          </a:prstGeom>
          <a:noFill/>
          <a:ln w="31750">
            <a:solidFill>
              <a:srgbClr val="07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017520" y="4114800"/>
            <a:ext cx="3078328" cy="1143000"/>
          </a:xfrm>
          <a:prstGeom prst="line">
            <a:avLst/>
          </a:prstGeom>
          <a:noFill/>
          <a:ln w="31750">
            <a:solidFill>
              <a:srgbClr val="0783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5848" y="4114800"/>
            <a:ext cx="3078328" cy="1143000"/>
          </a:xfrm>
          <a:prstGeom prst="line">
            <a:avLst/>
          </a:prstGeom>
          <a:noFill/>
          <a:ln w="31750">
            <a:solidFill>
              <a:srgbClr val="0783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65176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94560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Tabela de Banco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51215" y="265176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1215" y="3273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CDS 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47548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194560" y="5376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Tela Fiori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51215" y="47548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51215" y="5376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Classe ABAP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4248" y="3383280"/>
            <a:ext cx="2743200" cy="1463040"/>
          </a:xfrm>
          <a:prstGeom prst="roundRect">
            <a:avLst>
              <a:gd name="adj" fmla="val 12500"/>
            </a:avLst>
          </a:prstGeom>
          <a:solidFill>
            <a:srgbClr val="1D2D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24248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Definição Global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Z_STATUS_PEDIDO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761488"/>
            <a:ext cx="457200" cy="45720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75" y="2761488"/>
            <a:ext cx="457200" cy="45720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864608"/>
            <a:ext cx="457200" cy="457200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575" y="4864608"/>
            <a:ext cx="457200" cy="45720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352044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Arquitetura de Duas Camadas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Base da Excelência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182880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O TÉCNICO: DOMÍNIO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Define as propriedades puramente técnicas.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2278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Tipo de dado e tamanho (CHAR, DEC etc.)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9136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Propriedades de saída (ex.: permite minúsculas)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5994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Rotinas de conversão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56B82"/>
                </a:solidFill>
              </a:rPr>
              <a:t>Como o dado é armazenado e formatado?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18288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21728" y="1828800"/>
            <a:ext cx="399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F00"/>
                </a:solidFill>
              </a:rPr>
              <a:t>O SEMÂNTICO: ELEMENTO DE DADOS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26974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Adiciona significado de negócio.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93128" y="32278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Rótulos de campo (curto, médio, longo)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39136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Ajuda de pesquisa (Value Help)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4599432"/>
            <a:ext cx="4175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Documentação (Ajuda F1)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54406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56B82"/>
                </a:solidFill>
              </a:rPr>
              <a:t>O que este dado significa para o usuário?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91840"/>
            <a:ext cx="384048" cy="38404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77640"/>
            <a:ext cx="384048" cy="384048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63440"/>
            <a:ext cx="384048" cy="384048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640" y="1993392"/>
            <a:ext cx="356616" cy="356616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4663440"/>
            <a:ext cx="384048" cy="384048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3977640"/>
            <a:ext cx="384048" cy="384048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329184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Em Foco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Domínio, a Fundação Técnica Reutilizável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Reutilização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Vários Elementos de Dados (‘Telefone Comercial’, ‘Telefone Celular’) podem compartilhar o mesmo Domínio técnico (ex.: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Z_CHAR30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26060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Elem. Dados: </a:t>
            </a: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Z_TEL_COMERCIAL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16368" y="2148840"/>
            <a:ext cx="0" cy="41148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006840" y="1600200"/>
            <a:ext cx="26060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0684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Elem. Dados: </a:t>
            </a: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Z_TEL_CELULAR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45168" y="2148840"/>
            <a:ext cx="0" cy="41148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9440" y="256032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0783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2560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Domínio: Z_CHAR30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Tipo: CHAR, Comp.: 30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O Poder da Rotina de Conversão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rotina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500" dirty="0">
                <a:solidFill>
                  <a:srgbClr val="1D2D3E"/>
                </a:solidFill>
              </a:rPr>
              <a:t> garante a consistência de chaves numéricas sem esforço do desenvolvedor: é executada automaticamente ao mover dados da tela para o banco (INPUT) e vice-versa (OUTPUT).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40233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Tela (INPUT)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2440" y="4160520"/>
            <a:ext cx="1463040" cy="594360"/>
          </a:xfrm>
          <a:prstGeom prst="rightArrow">
            <a:avLst/>
          </a:prstGeom>
          <a:solidFill>
            <a:srgbClr val="E765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92440" y="4160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4023360"/>
            <a:ext cx="1950415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4023360"/>
            <a:ext cx="1950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Banco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0000000123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5120640"/>
            <a:ext cx="17373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5120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Tela (OUTPUT)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92440" y="5257800"/>
            <a:ext cx="1463040" cy="594360"/>
          </a:xfrm>
          <a:prstGeom prst="leftArrow">
            <a:avLst/>
          </a:prstGeom>
          <a:solidFill>
            <a:srgbClr val="E765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52578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ALPHA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5120640"/>
            <a:ext cx="1950415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0" y="5120640"/>
            <a:ext cx="1950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Banco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0000000123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Elemento de Dados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Segredo da UI Perfeita no Fiori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Você define os rótulos (curto, médio, longo, cabeçalho) </a:t>
            </a:r>
            <a:r>
              <a:rPr lang="en-US" sz="1600" b="1" dirty="0">
                <a:solidFill>
                  <a:srgbClr val="1D2D3E"/>
                </a:solidFill>
              </a:rPr>
              <a:t>uma única vez</a:t>
            </a:r>
            <a:r>
              <a:rPr lang="en-US" sz="1600" dirty="0">
                <a:solidFill>
                  <a:srgbClr val="1D2D3E"/>
                </a:solidFill>
              </a:rPr>
              <a:t>. O Fiori Elements escolhe o melhor para cada dispositivo, automaticamente. </a:t>
            </a:r>
            <a:r>
              <a:rPr lang="en-US" sz="1600" b="1" dirty="0">
                <a:solidFill>
                  <a:srgbClr val="1D2D3E"/>
                </a:solidFill>
              </a:rPr>
              <a:t>Isso é design responsivo inteligente.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7589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274320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Rótulo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Tamanho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Usado em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Curto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Celular — colunas estreitas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Status Processam.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Tablet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Longo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Status Atual do Processamento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Desktop — formulários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Cabeçalho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Status Atual do Processamento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Cabeçalhos de coluna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412480" y="4069080"/>
            <a:ext cx="3230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Mesmo campo, rótulo certo para cada tela.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8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8016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Se você </a:t>
            </a:r>
            <a:r>
              <a:rPr lang="en-US" sz="1600" b="1" dirty="0">
                <a:solidFill>
                  <a:srgbClr val="1D2D3E"/>
                </a:solidFill>
              </a:rPr>
              <a:t>não</a:t>
            </a:r>
            <a:r>
              <a:rPr lang="en-US" sz="1600" dirty="0">
                <a:solidFill>
                  <a:srgbClr val="1D2D3E"/>
                </a:solidFill>
              </a:rPr>
              <a:t> preencher os rótulos corretamente, a UI ficará quebrada em telas pequenas.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468880"/>
            <a:ext cx="1463040" cy="14630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2834640"/>
            <a:ext cx="1005840" cy="100584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Evolução dos Valores Fixos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 Listas Estáticas para Código Tipado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O Clássico: Valores Fixos de Domínio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+</a:t>
            </a:r>
            <a:r>
              <a:rPr lang="en-US" sz="1700" dirty="0">
                <a:solidFill>
                  <a:srgbClr val="1D2D3E"/>
                </a:solidFill>
              </a:rPr>
              <a:t> Validação automática em telas antigas (Dynpro).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−</a:t>
            </a:r>
            <a:r>
              <a:rPr lang="en-US" sz="1700" dirty="0">
                <a:solidFill>
                  <a:srgbClr val="1D2D3E"/>
                </a:solidFill>
              </a:rPr>
              <a:t> Não há segurança de tipo (type-safety) no código ABAP: o compilador não ajuda a prevenir erros lógicos com ‘magic strings’.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O Moderno: Enumerações (Enums)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+</a:t>
            </a:r>
            <a:r>
              <a:rPr lang="en-US" sz="1700" dirty="0">
                <a:solidFill>
                  <a:srgbClr val="1D2D3E"/>
                </a:solidFill>
              </a:rPr>
              <a:t> Segurança de tipo (à prova de erros).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+</a:t>
            </a:r>
            <a:r>
              <a:rPr lang="en-US" sz="1700" dirty="0">
                <a:solidFill>
                  <a:srgbClr val="1D2D3E"/>
                </a:solidFill>
              </a:rPr>
              <a:t> Código mais legível e auto-documentado.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Best practice</a:t>
            </a:r>
            <a:r>
              <a:rPr lang="en-US" sz="1700" dirty="0">
                <a:solidFill>
                  <a:srgbClr val="1D2D3E"/>
                </a:solidFill>
              </a:rPr>
              <a:t> para valores fixos no ABAP moderno.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21208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Enumerações trazem para o código ABAP a mesma segurança que os valores fixos de domínio davam às telas — mas verificada pelo </a:t>
            </a:r>
            <a:r>
              <a:rPr lang="en-US" sz="1600" b="1" dirty="0">
                <a:solidFill>
                  <a:srgbClr val="1D2D3E"/>
                </a:solidFill>
              </a:rPr>
              <a:t>compilador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184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Apresentando as Enumerações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Código Legível e à Prova de Erros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Defina um conjunto </a:t>
            </a:r>
            <a:r>
              <a:rPr lang="en-US" sz="1600" b="1" dirty="0">
                <a:solidFill>
                  <a:srgbClr val="1D2D3E"/>
                </a:solidFill>
              </a:rPr>
              <a:t>finito de valores nomeados</a:t>
            </a:r>
            <a:r>
              <a:rPr lang="en-US" sz="1600" dirty="0">
                <a:solidFill>
                  <a:srgbClr val="1D2D3E"/>
                </a:solidFill>
              </a:rPr>
              <a:t>. Uma </a:t>
            </a:r>
            <a:r>
              <a:rPr lang="en-US" sz="1600" b="1" dirty="0">
                <a:solidFill>
                  <a:srgbClr val="1D2D3E"/>
                </a:solidFill>
              </a:rPr>
              <a:t>variável tipada</a:t>
            </a:r>
            <a:r>
              <a:rPr lang="en-US" sz="1600" dirty="0">
                <a:solidFill>
                  <a:srgbClr val="1D2D3E"/>
                </a:solidFill>
              </a:rPr>
              <a:t> com um Enum só pode aceitar os valores definidos nele. O código se torna auto-documentado e o compilador, seu aliado.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694944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87752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if_status_enums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char1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2423160"/>
            <a:ext cx="38706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6992" y="28072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36992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42316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TYPE</a:t>
            </a:r>
            <a:r>
              <a:rPr lang="en-US" sz="1400" dirty="0">
                <a:solidFill>
                  <a:srgbClr val="1D2D3E"/>
                </a:solidFill>
              </a:rPr>
              <a:t> define o </a:t>
            </a:r>
            <a:r>
              <a:rPr lang="en-US" sz="1400" b="1" dirty="0">
                <a:solidFill>
                  <a:srgbClr val="1D2D3E"/>
                </a:solidFill>
              </a:rPr>
              <a:t>tipo técnico</a:t>
            </a:r>
            <a:r>
              <a:rPr lang="en-US" sz="1400" dirty="0">
                <a:solidFill>
                  <a:srgbClr val="1D2D3E"/>
                </a:solidFill>
              </a:rPr>
              <a:t> que será armazenado no banco de dados.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3749040"/>
            <a:ext cx="38706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6992" y="41330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36992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74904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Cada nome </a:t>
            </a:r>
            <a:r>
              <a:rPr lang="en-US" sz="1400" b="1" dirty="0">
                <a:solidFill>
                  <a:srgbClr val="1D2D3E"/>
                </a:solidFill>
              </a:rPr>
              <a:t>semântico</a:t>
            </a:r>
            <a:r>
              <a:rPr lang="en-US" sz="1400" dirty="0">
                <a:solidFill>
                  <a:srgbClr val="1D2D3E"/>
                </a:solidFill>
              </a:rPr>
              <a:t> (legível no código) é mapeado para um </a:t>
            </a:r>
            <a:r>
              <a:rPr lang="en-US" sz="1400" b="1" dirty="0">
                <a:solidFill>
                  <a:srgbClr val="1D2D3E"/>
                </a:solidFill>
              </a:rPr>
              <a:t>valor técnico</a:t>
            </a:r>
            <a:r>
              <a:rPr lang="en-US" sz="1400" dirty="0">
                <a:solidFill>
                  <a:srgbClr val="1D2D3E"/>
                </a:solidFill>
              </a:rPr>
              <a:t> armazenado.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5074920"/>
            <a:ext cx="38706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54589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36992" y="5458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074920"/>
            <a:ext cx="3093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Com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TYPE</a:t>
            </a:r>
            <a:r>
              <a:rPr lang="en-US" sz="1400" dirty="0">
                <a:solidFill>
                  <a:srgbClr val="1D2D3E"/>
                </a:solidFill>
              </a:rPr>
              <a:t>, um dos valores deve ser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IS INITIAL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Compilador Como Seu Guardião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28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✓  Correto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12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490712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if_status_enums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if_status_enums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status-rejected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if_status_enums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status-rejected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07328" y="1728216"/>
            <a:ext cx="490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✗  Rejeitado pelo compilador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2112264"/>
            <a:ext cx="536432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2240280"/>
            <a:ext cx="490712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if_status_enums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lv_status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Erro de sintaxe!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364328" cy="914400"/>
          </a:xfrm>
          <a:prstGeom prst="roundRect">
            <a:avLst>
              <a:gd name="adj" fmla="val 1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754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Código claro, seguro e sem ‘magic strings’.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8728" y="4754880"/>
            <a:ext cx="5364328" cy="914400"/>
          </a:xfrm>
          <a:prstGeom prst="roundRect">
            <a:avLst>
              <a:gd name="adj" fmla="val 12000"/>
            </a:avLst>
          </a:prstGeom>
          <a:solidFill>
            <a:srgbClr val="FFEA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10248" y="4754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Atribuições inválidas são impossíveis. O erro é pego </a:t>
            </a:r>
            <a:r>
              <a:rPr lang="en-US" sz="1500" b="1" dirty="0">
                <a:solidFill>
                  <a:srgbClr val="1D2D3E"/>
                </a:solidFill>
              </a:rPr>
              <a:t>em tempo de compilação</a:t>
            </a:r>
            <a:r>
              <a:rPr lang="en-US" sz="1500" dirty="0">
                <a:solidFill>
                  <a:srgbClr val="1D2D3E"/>
                </a:solidFill>
              </a:rPr>
              <a:t>, não em produção.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38344"/>
            <a:ext cx="347472" cy="34747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5038344"/>
            <a:ext cx="347472" cy="347472"/>
          </a:xfrm>
          <a:prstGeom prst="rect">
            <a:avLst/>
          </a:prstGeom>
        </p:spPr>
      </p:pic>
      <p:sp>
        <p:nvSpPr>
          <p:cNvPr id="1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Teoria à Prática no Eclipse (ADT)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766560" cy="384048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6766560" cy="411480"/>
          </a:xfrm>
          <a:prstGeom prst="rect">
            <a:avLst/>
          </a:prstGeom>
          <a:solidFill>
            <a:srgbClr val="C4CCD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Data Element: Z_STATUS_VENDA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Domain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286000"/>
            <a:ext cx="48463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783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ZD_STATUS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358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Short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3035808"/>
            <a:ext cx="48463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3035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Status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8561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Medium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3785616"/>
            <a:ext cx="48463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E76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0280" y="3785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Status Venda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354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B82"/>
                </a:solidFill>
              </a:rPr>
              <a:t>Long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4535424"/>
            <a:ext cx="48463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0280" y="4535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Status Atual da Venda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1874520"/>
            <a:ext cx="4053535" cy="1005840"/>
          </a:xfrm>
          <a:prstGeom prst="roundRect">
            <a:avLst>
              <a:gd name="adj" fmla="val 10909"/>
            </a:avLst>
          </a:prstGeom>
          <a:solidFill>
            <a:srgbClr val="E0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874520"/>
            <a:ext cx="3047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Domain:</a:t>
            </a:r>
            <a:r>
              <a:rPr lang="en-US" sz="1500" dirty="0">
                <a:solidFill>
                  <a:srgbClr val="1D2D3E"/>
                </a:solidFill>
              </a:rPr>
              <a:t> aqui você conecta a base TÉCNICA.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89520" y="3108960"/>
            <a:ext cx="4053535" cy="1188720"/>
          </a:xfrm>
          <a:prstGeom prst="roundRect">
            <a:avLst>
              <a:gd name="adj" fmla="val 9231"/>
            </a:avLst>
          </a:prstGeom>
          <a:solidFill>
            <a:srgbClr val="FFF8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3108960"/>
            <a:ext cx="3047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Field Labels:</a:t>
            </a:r>
            <a:r>
              <a:rPr lang="en-US" sz="1500" dirty="0">
                <a:solidFill>
                  <a:srgbClr val="1D2D3E"/>
                </a:solidFill>
              </a:rPr>
              <a:t> a aba mais IMPORTANTE para o sucesso da sua UI.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BF8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80160" y="56235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Dica:</a:t>
            </a:r>
            <a:r>
              <a:rPr lang="en-US" sz="1400" dirty="0">
                <a:solidFill>
                  <a:srgbClr val="1D2D3E"/>
                </a:solidFill>
              </a:rPr>
              <a:t> embora seja um editor de formulário, ele está totalmente integrado ao seu projeto e ao controle de versão (Git).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203704"/>
            <a:ext cx="347472" cy="347472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529584"/>
            <a:ext cx="347472" cy="347472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47004"/>
            <a:ext cx="347472" cy="347472"/>
          </a:xfrm>
          <a:prstGeom prst="rect">
            <a:avLst/>
          </a:prstGeom>
        </p:spPr>
      </p:pic>
      <p:sp>
        <p:nvSpPr>
          <p:cNvPr id="2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Estrutura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Visão Geral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853409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17830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600200"/>
            <a:ext cx="7162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Tabela: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ZCLIENTE-TEL_COMERCIAL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campo da tabela referencia o elemento de dados.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12968" y="2697480"/>
            <a:ext cx="365760" cy="320040"/>
          </a:xfrm>
          <a:prstGeom prst="downArrow">
            <a:avLst/>
          </a:prstGeom>
          <a:solidFill>
            <a:srgbClr val="1D2D3E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17520"/>
            <a:ext cx="853409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57400" y="32004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7520" y="3017520"/>
            <a:ext cx="7162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Elemento de Dados: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Z_TELEFONE_COMERCIAL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Semântica: ‘Telefone Comercial’, ‘Tel. Comercial do Cliente’.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12968" y="4114800"/>
            <a:ext cx="365760" cy="320040"/>
          </a:xfrm>
          <a:prstGeom prst="downArrow">
            <a:avLst/>
          </a:prstGeom>
          <a:solidFill>
            <a:srgbClr val="1D2D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4434840"/>
            <a:ext cx="8534095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46177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17520" y="4434840"/>
            <a:ext cx="7162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Domínio: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Z_CHAR30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Técnica: CHAR(30), case-insensitive.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6B82"/>
                </a:solidFill>
              </a:rPr>
              <a:t>Cada camada tem sua responsabilidade, criando um sistema desacoplado, reutilizável e fácil de manter.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965" y="1958645"/>
            <a:ext cx="380390" cy="38039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65" y="3375965"/>
            <a:ext cx="380390" cy="38039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965" y="479328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Diretrizes Para o Sucesso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7360" y="201168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Pense em camadas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Separe sempre a definição técnica (Domínio) da semântica (Elemento de Dados).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201168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Priorize os rótulos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O preenchimento correto dos Field Labels diferencia uma UI amadora de uma profissional e responsiva.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39776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Adote Enums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Para valores fixos, use Enumerações: a abordagem moderna, segura e legível.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794760"/>
            <a:ext cx="5440680" cy="1737360"/>
          </a:xfrm>
          <a:prstGeom prst="roundRect">
            <a:avLst>
              <a:gd name="adj" fmla="val 736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397764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Invista tempo agora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O tempo gasto na modelagem correta é pago com juros na manutenção e evolução do aplicativo.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40"/>
            <a:ext cx="640080" cy="6400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14800"/>
            <a:ext cx="640080" cy="6400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Dominando Tipos de Dados Globais no ABAP</dc:title>
  <dc:subject>ABAP Moderno – Módulo 02</dc:subject>
  <dc:creator>Adriano Bispo</dc:creator>
  <cp:lastModifiedBy>Adriano Bispo</cp:lastModifiedBy>
  <cp:revision>1</cp:revision>
  <dcterms:created xsi:type="dcterms:W3CDTF">2026-10-25T04:09:54Z</dcterms:created>
  <dcterms:modified xsi:type="dcterms:W3CDTF">2026-10-25T04:09:54Z</dcterms:modified>
</cp:coreProperties>
</file>