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02 — Modelagem de Dados com Dicionário e CDS  ·  Aula 3 de 7 — Tipos globais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02 — Modelagem de Dados com Dicionário e CDS  ·  Aula 3 de 7 — Tipos globais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02 · AULA 03 DE 07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Definindo tipos de dados globais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Domínios e data elements, estruturas e table types do Dicionário, e quando preferir tipos em classes e interfaces.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8" name="Shape 6"/>
          <p:cNvSpPr/>
          <p:nvPr/>
        </p:nvSpPr>
        <p:spPr>
          <a:xfrm>
            <a:off x="8660674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9" name="Shape 7"/>
          <p:cNvSpPr/>
          <p:nvPr/>
        </p:nvSpPr>
        <p:spPr>
          <a:xfrm>
            <a:off x="9137469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89D1FF"/>
          </a:solidFill>
          <a:ln/>
        </p:spPr>
      </p:sp>
      <p:sp>
        <p:nvSpPr>
          <p:cNvPr id="10" name="Shape 8"/>
          <p:cNvSpPr/>
          <p:nvPr/>
        </p:nvSpPr>
        <p:spPr>
          <a:xfrm>
            <a:off x="9614263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10091057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2" name="Shape 10"/>
          <p:cNvSpPr/>
          <p:nvPr/>
        </p:nvSpPr>
        <p:spPr>
          <a:xfrm>
            <a:off x="10567851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3" name="Shape 11"/>
          <p:cNvSpPr/>
          <p:nvPr/>
        </p:nvSpPr>
        <p:spPr>
          <a:xfrm>
            <a:off x="11044646" y="4937760"/>
            <a:ext cx="385354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Aula 3 de 7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02 — Modelagem de Dados com Dicionário e CDS · Design System SAP Horizon</a:t>
            </a:r>
            <a:endParaRPr lang="en-US" sz="11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Módulo 02 em 7 aulas: Dicionário e CDS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Modelagem no ABAP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Dicionário x CDS, code-to-data e VDM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67964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32556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32556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3532556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Tabelas de banco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532556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DEFINE TABLE, chaves, tipos e ajustes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87288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1880" y="1828800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518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3</a:t>
            </a:r>
            <a:endParaRPr lang="en-US" sz="1260" dirty="0"/>
          </a:p>
        </p:txBody>
      </p:sp>
      <p:sp>
        <p:nvSpPr>
          <p:cNvPr id="17" name="Text 15"/>
          <p:cNvSpPr txBox="1"/>
          <p:nvPr/>
        </p:nvSpPr>
        <p:spPr>
          <a:xfrm>
            <a:off x="6351880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Tipos globais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351880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Domínios, data elements, estruturas e table types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27368" y="1892808"/>
            <a:ext cx="1188720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827368" y="18928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Você está aqui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9006611" y="164592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71203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171203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4" name="Text 22"/>
          <p:cNvSpPr txBox="1"/>
          <p:nvPr/>
        </p:nvSpPr>
        <p:spPr>
          <a:xfrm>
            <a:off x="9171203" y="233172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CDS views básicas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9171203" y="278892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View entities, anotações e views sobre views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3232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1323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5</a:t>
            </a:r>
            <a:endParaRPr lang="en-US" sz="1260" dirty="0"/>
          </a:p>
        </p:txBody>
      </p:sp>
      <p:sp>
        <p:nvSpPr>
          <p:cNvPr id="29" name="Text 27"/>
          <p:cNvSpPr txBox="1"/>
          <p:nvPr/>
        </p:nvSpPr>
        <p:spPr>
          <a:xfrm>
            <a:off x="713232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Associações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713232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Chaves estrangeiras, associações e path expressions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367964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532556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3532556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6</a:t>
            </a:r>
            <a:endParaRPr lang="en-US" sz="1260" dirty="0"/>
          </a:p>
        </p:txBody>
      </p:sp>
      <p:sp>
        <p:nvSpPr>
          <p:cNvPr id="34" name="Text 32"/>
          <p:cNvSpPr txBox="1"/>
          <p:nvPr/>
        </p:nvSpPr>
        <p:spPr>
          <a:xfrm>
            <a:off x="3532556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Code pushdown em CDS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3532556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Expressões, funções, parâmetros e agregações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187288" y="3657600"/>
            <a:ext cx="2636444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5188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35188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7</a:t>
            </a:r>
            <a:endParaRPr lang="en-US" sz="1260" dirty="0"/>
          </a:p>
        </p:txBody>
      </p:sp>
      <p:sp>
        <p:nvSpPr>
          <p:cNvPr id="39" name="Text 37"/>
          <p:cNvSpPr txBox="1"/>
          <p:nvPr/>
        </p:nvSpPr>
        <p:spPr>
          <a:xfrm>
            <a:off x="6351880" y="4343400"/>
            <a:ext cx="23072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Meta objetos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6351880" y="4800600"/>
            <a:ext cx="23072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DCL, extensões e metadata extensions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Nesta aula  </a:t>
            </a:r>
            <a:r>
              <a:rPr lang="en-US" sz="1200" dirty="0">
                <a:solidFill>
                  <a:srgbClr val="1D2D3E"/>
                </a:solidFill>
              </a:rPr>
              <a:t>construímos a camada de tipos do modelo de funcionários: do domínio técnico ao data element com rótulos, até estruturas e tabelas.</a:t>
            </a:r>
            <a:endParaRPr lang="en-US" sz="1400" dirty="0"/>
          </a:p>
        </p:txBody>
      </p:sp>
      <p:pic>
        <p:nvPicPr>
          <p:cNvPr id="4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5768" y="1847088"/>
            <a:ext cx="347472" cy="347472"/>
          </a:xfrm>
          <a:prstGeom prst="rect">
            <a:avLst/>
          </a:prstGeom>
        </p:spPr>
      </p:pic>
      <p:pic>
        <p:nvPicPr>
          <p:cNvPr id="4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6444" y="1847088"/>
            <a:ext cx="347472" cy="347472"/>
          </a:xfrm>
          <a:prstGeom prst="rect">
            <a:avLst/>
          </a:prstGeom>
        </p:spPr>
      </p:pic>
      <p:pic>
        <p:nvPicPr>
          <p:cNvPr id="4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091" y="1847088"/>
            <a:ext cx="347472" cy="347472"/>
          </a:xfrm>
          <a:prstGeom prst="rect">
            <a:avLst/>
          </a:prstGeom>
        </p:spPr>
      </p:pic>
      <p:pic>
        <p:nvPicPr>
          <p:cNvPr id="4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4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5768" y="3858768"/>
            <a:ext cx="347472" cy="347472"/>
          </a:xfrm>
          <a:prstGeom prst="rect">
            <a:avLst/>
          </a:prstGeom>
        </p:spPr>
      </p:pic>
      <p:pic>
        <p:nvPicPr>
          <p:cNvPr id="4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6444" y="3858768"/>
            <a:ext cx="347472" cy="347472"/>
          </a:xfrm>
          <a:prstGeom prst="rect">
            <a:avLst/>
          </a:prstGeom>
        </p:spPr>
      </p:pic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091" y="3858768"/>
            <a:ext cx="347472" cy="347472"/>
          </a:xfrm>
          <a:prstGeom prst="rect">
            <a:avLst/>
          </a:prstGeom>
        </p:spPr>
      </p:pic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Do domínio técnico ao rótulo na tela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Cada camada acrescenta algo: o domínio diz </a:t>
            </a:r>
            <a:r>
              <a:rPr lang="en-US" sz="1400" b="1" dirty="0">
                <a:solidFill>
                  <a:srgbClr val="556B82"/>
                </a:solidFill>
              </a:rPr>
              <a:t>como</a:t>
            </a:r>
            <a:r>
              <a:rPr lang="en-US" sz="1400" dirty="0">
                <a:solidFill>
                  <a:srgbClr val="556B82"/>
                </a:solidFill>
              </a:rPr>
              <a:t> guardar, o data element diz </a:t>
            </a:r>
            <a:r>
              <a:rPr lang="en-US" sz="1400" b="1" dirty="0">
                <a:solidFill>
                  <a:srgbClr val="556B82"/>
                </a:solidFill>
              </a:rPr>
              <a:t>o que</a:t>
            </a:r>
            <a:r>
              <a:rPr lang="en-US" sz="1400" dirty="0">
                <a:solidFill>
                  <a:srgbClr val="556B82"/>
                </a:solidFill>
              </a:rPr>
              <a:t> o campo significa.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Domínio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Tipo técnico, tamanho e faixa de valores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086786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8" name="Shape 6"/>
          <p:cNvSpPr/>
          <p:nvPr/>
        </p:nvSpPr>
        <p:spPr>
          <a:xfrm>
            <a:off x="3425114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516554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Data element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Tipo do campo com rótulos traduzíveis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63260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1" name="Shape 9"/>
          <p:cNvSpPr/>
          <p:nvPr/>
        </p:nvSpPr>
        <p:spPr>
          <a:xfrm>
            <a:off x="6301588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393028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Uso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Campos de tabela, variáveis, parâmetros, CDS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839733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4" name="Shape 12"/>
          <p:cNvSpPr/>
          <p:nvPr/>
        </p:nvSpPr>
        <p:spPr>
          <a:xfrm>
            <a:off x="9178061" y="1920240"/>
            <a:ext cx="2464994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30914C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269501" y="2514600"/>
            <a:ext cx="228211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256F3A"/>
                </a:solidFill>
              </a:rPr>
              <a:t>UI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Rótulos e formatação automáticos no app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543290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4343400"/>
            <a:ext cx="50671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Um domínio, vários data elements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Mudar o domínio muda todos os campos que dependem dele, por exemplo o tamanho de um código.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10148" y="3657600"/>
            <a:ext cx="543290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93028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93028" y="4343400"/>
            <a:ext cx="506714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Domínio não é tipo ABAP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Domínios só servem de base para data elements; não podem tipar variáveis nem campos de tabela.</a:t>
            </a:r>
            <a:endParaRPr lang="en-US" sz="14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8257" y="2084832"/>
            <a:ext cx="365760" cy="365760"/>
          </a:xfrm>
          <a:prstGeom prst="rect">
            <a:avLst/>
          </a:prstGeom>
        </p:spPr>
      </p:pic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4731" y="2084832"/>
            <a:ext cx="365760" cy="365760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205" y="2084832"/>
            <a:ext cx="365760" cy="365760"/>
          </a:xfrm>
          <a:prstGeom prst="rect">
            <a:avLst/>
          </a:prstGeom>
        </p:spPr>
      </p:pic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27678" y="2084832"/>
            <a:ext cx="365760" cy="365760"/>
          </a:xfrm>
          <a:prstGeom prst="rect">
            <a:avLst/>
          </a:prstGeom>
        </p:spPr>
      </p:pic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034" y="3928994"/>
            <a:ext cx="225308" cy="225308"/>
          </a:xfrm>
          <a:prstGeom prst="rect">
            <a:avLst/>
          </a:prstGeom>
        </p:spPr>
      </p:pic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1542" y="3928994"/>
            <a:ext cx="225308" cy="2253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02.03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Domínios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O domínio define as </a:t>
            </a:r>
            <a:r>
              <a:rPr lang="en-US" sz="1600" b="1" dirty="0">
                <a:solidFill>
                  <a:srgbClr val="D1EFFF"/>
                </a:solidFill>
              </a:rPr>
              <a:t>propriedades técnicas</a:t>
            </a:r>
            <a:r>
              <a:rPr lang="en-US" sz="1600" dirty="0">
                <a:solidFill>
                  <a:srgbClr val="D1EFFF"/>
                </a:solidFill>
              </a:rPr>
              <a:t> de um campo e, se preciso, restringe e formata os valores aceitos.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 e tamanho</a:t>
            </a:r>
            <a:r>
              <a:rPr lang="en-US" sz="1000" dirty="0">
                <a:solidFill>
                  <a:srgbClr val="D1EFFF"/>
                </a:solidFill>
              </a:rPr>
              <a:t>  ex.: NUMC 6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Valores fixos</a:t>
            </a:r>
            <a:r>
              <a:rPr lang="en-US" sz="1000" dirty="0">
                <a:solidFill>
                  <a:srgbClr val="D1EFFF"/>
                </a:solidFill>
              </a:rPr>
              <a:t>  faixa de valores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Rotina de conversão</a:t>
            </a:r>
            <a:r>
              <a:rPr lang="en-US" sz="1000" dirty="0">
                <a:solidFill>
                  <a:srgbClr val="D1EFFF"/>
                </a:solidFill>
              </a:rPr>
              <a:t>  ex.: ALPHA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Saída</a:t>
            </a:r>
            <a:r>
              <a:rPr lang="en-US" sz="1000" dirty="0">
                <a:solidFill>
                  <a:srgbClr val="D1EFFF"/>
                </a:solidFill>
              </a:rPr>
              <a:t>  tamanho, sinal, minúsculas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DOMÍNIOS · PROPRIEDADES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que um domínio define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3290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84708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2450592"/>
            <a:ext cx="50305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Tipo técnico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Um tipo do Dicionário com comprimento e casas decimais. Para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</a:t>
            </a:r>
            <a:r>
              <a:rPr lang="en-US" sz="1200" dirty="0">
                <a:solidFill>
                  <a:srgbClr val="556B82"/>
                </a:solidFill>
              </a:rPr>
              <a:t>,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</a:t>
            </a:r>
            <a:r>
              <a:rPr lang="en-US" sz="1200" dirty="0">
                <a:solidFill>
                  <a:srgbClr val="556B82"/>
                </a:solidFill>
              </a:rPr>
              <a:t> e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</a:t>
            </a:r>
            <a:r>
              <a:rPr lang="en-US" sz="1200" dirty="0">
                <a:solidFill>
                  <a:srgbClr val="556B82"/>
                </a:solidFill>
              </a:rPr>
              <a:t>, prefira comprimentos ímpares.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0148" y="1645920"/>
            <a:ext cx="543290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11316" y="184708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11316" y="2450592"/>
            <a:ext cx="50305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Faixa de valores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Valores fixos ou intervalos permitidos, usados em checagens e listas de valores.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543290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385876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4462272"/>
            <a:ext cx="50305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Rotina de conversão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Converte entre o formato interno e o de exibição, como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ALPHA</a:t>
            </a:r>
            <a:r>
              <a:rPr lang="en-US" sz="1200" dirty="0">
                <a:solidFill>
                  <a:srgbClr val="556B82"/>
                </a:solidFill>
              </a:rPr>
              <a:t> (zeros à esquerda).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0148" y="3657600"/>
            <a:ext cx="543290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11316" y="385876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11316" y="4462272"/>
            <a:ext cx="50305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Características de saída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Tamanho de saída, sinal e se o campo aceita letras minúsculas.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Exercício oficial  </a:t>
            </a:r>
            <a:r>
              <a:rPr lang="en-US" sz="1200" dirty="0">
                <a:solidFill>
                  <a:srgbClr val="1D2D3E"/>
                </a:solidFill>
              </a:rPr>
              <a:t>o número do funcionário é um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NUMC</a:t>
            </a:r>
            <a:r>
              <a:rPr lang="en-US" sz="1200" dirty="0">
                <a:solidFill>
                  <a:srgbClr val="1D2D3E"/>
                </a:solidFill>
              </a:rPr>
              <a:t> de 6 posições: só dígitos, com o mesmo nome para domínio e data element.</a:t>
            </a:r>
            <a:endParaRPr lang="en-US" sz="14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11900" y="1947672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1947672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1900" y="3959352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" y="3959352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02.03 · SEÇÃO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Data elements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O data element dá </a:t>
            </a:r>
            <a:r>
              <a:rPr lang="en-US" sz="1600" b="1" dirty="0">
                <a:solidFill>
                  <a:srgbClr val="D1EFFF"/>
                </a:solidFill>
              </a:rPr>
              <a:t>significado</a:t>
            </a:r>
            <a:r>
              <a:rPr lang="en-US" sz="1600" dirty="0">
                <a:solidFill>
                  <a:srgbClr val="D1EFFF"/>
                </a:solidFill>
              </a:rPr>
              <a:t> ao campo: tipo técnico (em geral, por um domínio) e </a:t>
            </a:r>
            <a:r>
              <a:rPr lang="en-US" sz="1600" b="1" dirty="0">
                <a:solidFill>
                  <a:srgbClr val="D1EFFF"/>
                </a:solidFill>
              </a:rPr>
              <a:t>rótulos</a:t>
            </a:r>
            <a:r>
              <a:rPr lang="en-US" sz="1600" dirty="0">
                <a:solidFill>
                  <a:srgbClr val="D1EFFF"/>
                </a:solidFill>
              </a:rPr>
              <a:t> que aparecem na interface.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Categoria</a:t>
            </a:r>
            <a:r>
              <a:rPr lang="en-US" sz="1000" dirty="0">
                <a:solidFill>
                  <a:srgbClr val="D1EFFF"/>
                </a:solidFill>
              </a:rPr>
              <a:t>  domínio, tipo ou referência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 labels</a:t>
            </a:r>
            <a:r>
              <a:rPr lang="en-US" sz="1000" dirty="0">
                <a:solidFill>
                  <a:srgbClr val="D1EFFF"/>
                </a:solidFill>
              </a:rPr>
              <a:t>  curto a título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Descrição</a:t>
            </a:r>
            <a:r>
              <a:rPr lang="en-US" sz="1000" dirty="0">
                <a:solidFill>
                  <a:srgbClr val="D1EFFF"/>
                </a:solidFill>
              </a:rPr>
              <a:t>  para desenvolvedores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Idioma original</a:t>
            </a:r>
            <a:r>
              <a:rPr lang="en-US" sz="1000" dirty="0">
                <a:solidFill>
                  <a:srgbClr val="D1EFFF"/>
                </a:solidFill>
              </a:rPr>
              <a:t>  base da tradução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DATA ELEMENTS · RÓTULOS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Os quatro rótulos de um data element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7025335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6751015" cy="914400"/>
        </p:xfrm>
        <a:graphic>
          <a:graphicData uri="http://schemas.openxmlformats.org/drawingml/2006/table">
            <a:tbl>
              <a:tblPr/>
              <a:tblGrid>
                <a:gridCol w="1547108"/>
                <a:gridCol w="1547108"/>
                <a:gridCol w="36568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Rótulo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Tamanho sugerido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Exemplo: salário anual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Short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Salary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Medium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20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Annual salary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Long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40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Annual salary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Heading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55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Annual salary (cabeçalho de coluna)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802575" y="164592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985455" y="182880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534095" y="1810512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Traduzíveis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Mantidos no idioma original do objeto (aba Properties) e traduzidos depois.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802575" y="3017520"/>
            <a:ext cx="38404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985455" y="320040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534095" y="3182112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Descrição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Não é para o usuário final: ajuda quem analisa ou reutiliza o data element.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438912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207008" y="438912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Tipo técnico  </a:t>
            </a:r>
            <a:r>
              <a:rPr lang="en-US" sz="1200" dirty="0">
                <a:solidFill>
                  <a:srgbClr val="1D2D3E"/>
                </a:solidFill>
              </a:rPr>
              <a:t>prefira referenciar um </a:t>
            </a:r>
            <a:r>
              <a:rPr lang="en-US" sz="1200" b="1" dirty="0">
                <a:solidFill>
                  <a:srgbClr val="1D2D3E"/>
                </a:solidFill>
              </a:rPr>
              <a:t>domínio</a:t>
            </a:r>
            <a:r>
              <a:rPr lang="en-US" sz="1200" dirty="0">
                <a:solidFill>
                  <a:srgbClr val="1D2D3E"/>
                </a:solidFill>
              </a:rPr>
              <a:t>; também é possível usar um tipo do Dicionário direto ou um tipo de referência.</a:t>
            </a:r>
            <a:endParaRPr lang="en-US" sz="14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73969" y="1917314"/>
            <a:ext cx="225308" cy="225308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3969" y="3288914"/>
            <a:ext cx="225308" cy="225308"/>
          </a:xfrm>
          <a:prstGeom prst="rect">
            <a:avLst/>
          </a:prstGeom>
        </p:spPr>
      </p:pic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51713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02.03 · SEÇÃO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Estruturas e table types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O Dicionário também define </a:t>
            </a:r>
            <a:r>
              <a:rPr lang="en-US" sz="1600" b="1" dirty="0">
                <a:solidFill>
                  <a:srgbClr val="D1EFFF"/>
                </a:solidFill>
              </a:rPr>
              <a:t>estruturas</a:t>
            </a:r>
            <a:r>
              <a:rPr lang="en-US" sz="1600" dirty="0">
                <a:solidFill>
                  <a:srgbClr val="D1EFFF"/>
                </a:solidFill>
              </a:rPr>
              <a:t> (em código, como tabelas) e </a:t>
            </a:r>
            <a:r>
              <a:rPr lang="en-US" sz="1600" b="1" dirty="0">
                <a:solidFill>
                  <a:srgbClr val="D1EFFF"/>
                </a:solidFill>
              </a:rPr>
              <a:t>table types</a:t>
            </a:r>
            <a:r>
              <a:rPr lang="en-US" sz="1600" dirty="0">
                <a:solidFill>
                  <a:srgbClr val="D1EFFF"/>
                </a:solidFill>
              </a:rPr>
              <a:t> (em formulário), visíveis em todo o sistema.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structure</a:t>
            </a:r>
            <a:r>
              <a:rPr lang="en-US" sz="1000" dirty="0">
                <a:solidFill>
                  <a:srgbClr val="D1EFFF"/>
                </a:solidFill>
              </a:rPr>
              <a:t>  estrutura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 · named include</a:t>
            </a:r>
            <a:r>
              <a:rPr lang="en-US" sz="1000" dirty="0">
                <a:solidFill>
                  <a:srgbClr val="D1EFFF"/>
                </a:solidFill>
              </a:rPr>
              <a:t>  reuso de campos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type</a:t>
            </a:r>
            <a:r>
              <a:rPr lang="en-US" sz="1000" dirty="0">
                <a:solidFill>
                  <a:srgbClr val="D1EFFF"/>
                </a:solidFill>
              </a:rPr>
              <a:t>  linha, acesso, chaves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Ranges</a:t>
            </a:r>
            <a:r>
              <a:rPr lang="en-US" sz="1000" dirty="0">
                <a:solidFill>
                  <a:srgbClr val="D1EFFF"/>
                </a:solidFill>
              </a:rPr>
              <a:t>  SIGN · OPTION · LOW · HIGH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TIPOS COMPOSTOS · ESTRUTURAS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Estruturas simples, aninhadas e com include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386584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386584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203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zs4d430_s_person.tabl.abap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ZS4D430_## › Dictionary › Structures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@EndUserText.label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'Endereço'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@AbapCatalog.enhancement.category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#NOT_EXTENSIBLE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zs4d430_s_address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street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post_code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@EndUserText.label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'Pessoa'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@AbapCatalog.enhancement.category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58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#NOT_EXTENSIBLE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zs4d430_s_person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first_name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last_name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DCDC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zs4d430_s_address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structure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Mesma lógica de uma tabela, sem criar nada no banco.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Aninhada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 : zs4d430_s_address;</a:t>
            </a:r>
            <a:r>
              <a:rPr lang="en-US" sz="1050" dirty="0">
                <a:solidFill>
                  <a:srgbClr val="556B82"/>
                </a:solidFill>
              </a:rPr>
              <a:t> acessa como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person-address-city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Include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 …;</a:t>
            </a:r>
            <a:r>
              <a:rPr lang="en-US" sz="1050" dirty="0">
                <a:solidFill>
                  <a:srgbClr val="556B82"/>
                </a:solidFill>
              </a:rPr>
              <a:t> põe os campos no mesmo nível: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person-city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Named include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address : include …;</a:t>
            </a:r>
            <a:r>
              <a:rPr lang="en-US" sz="1050" dirty="0">
                <a:solidFill>
                  <a:srgbClr val="556B82"/>
                </a:solidFill>
              </a:rPr>
              <a:t> permite os dois acessos, padrão dos tipos do RAP.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TIPOS COMPOSTOS · TABLE TYPES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editor de table types e o equivalente em ABAP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457907" cy="274320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245790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548"/>
                </a:solidFill>
              </a:rPr>
              <a:t>No Dicionário (formulário)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029968"/>
            <a:ext cx="5410048" cy="1783080"/>
          </a:xfrm>
          <a:prstGeom prst="roundRect">
            <a:avLst>
              <a:gd name="adj" fmla="val 4103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66928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2084832"/>
            <a:ext cx="2075688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2084832"/>
            <a:ext cx="2075688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103120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zs4d430_t_address.ttyp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487168"/>
            <a:ext cx="320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487168"/>
            <a:ext cx="47699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zs4d430_s_address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Primary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components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post_code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Secondary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nenhuma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931920"/>
            <a:ext cx="541004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Seções: tipo da linha, inicialização e acesso, visão geral das chaves e detalhes de cada chave.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33008" y="1645920"/>
            <a:ext cx="929030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33008" y="1645920"/>
            <a:ext cx="9290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Em ABAP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33008" y="2029968"/>
            <a:ext cx="5410048" cy="1783080"/>
          </a:xfrm>
          <a:prstGeom prst="roundRect">
            <a:avLst>
              <a:gd name="adj" fmla="val 4103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51296" y="2048256"/>
            <a:ext cx="5373472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18" name="Shape 16"/>
          <p:cNvSpPr/>
          <p:nvPr/>
        </p:nvSpPr>
        <p:spPr>
          <a:xfrm>
            <a:off x="6324448" y="2084832"/>
            <a:ext cx="1609344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19" name="Shape 17"/>
          <p:cNvSpPr/>
          <p:nvPr/>
        </p:nvSpPr>
        <p:spPr>
          <a:xfrm>
            <a:off x="6324448" y="2084832"/>
            <a:ext cx="1609344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15888" y="2103120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equivalente.abap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370168" y="2487168"/>
            <a:ext cx="320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735928" y="2487168"/>
            <a:ext cx="47699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tt_addresses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SORTED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zs4d430_s_address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post_code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233008" y="3931920"/>
            <a:ext cx="5410048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O tipo da linha vem depois de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1200" dirty="0">
                <a:solidFill>
                  <a:srgbClr val="556B82"/>
                </a:solidFill>
              </a:rPr>
              <a:t>, o acesso depois de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200" dirty="0">
                <a:solidFill>
                  <a:srgbClr val="556B82"/>
                </a:solidFill>
              </a:rPr>
              <a:t> e a chave depois de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1200" dirty="0">
                <a:solidFill>
                  <a:srgbClr val="556B82"/>
                </a:solidFill>
              </a:rPr>
              <a:t>. Chave </a:t>
            </a:r>
            <a:r>
              <a:rPr lang="en-US" sz="1200" i="1" dirty="0">
                <a:solidFill>
                  <a:srgbClr val="556B82"/>
                </a:solidFill>
              </a:rPr>
              <a:t>row type</a:t>
            </a:r>
            <a:r>
              <a:rPr lang="en-US" sz="1200" dirty="0">
                <a:solidFill>
                  <a:srgbClr val="556B82"/>
                </a:solidFill>
              </a:rPr>
              <a:t> corresponde a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table_line</a:t>
            </a:r>
            <a:r>
              <a:rPr lang="en-US" sz="120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02.03 · SEÇÃO 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Usando tipos globais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Tipos do Dicionário servem para variáveis e parâmetros, mas hoje </a:t>
            </a:r>
            <a:r>
              <a:rPr lang="en-US" sz="1600" b="1" dirty="0">
                <a:solidFill>
                  <a:srgbClr val="D1EFFF"/>
                </a:solidFill>
              </a:rPr>
              <a:t>tipos em classes e interfaces</a:t>
            </a:r>
            <a:r>
              <a:rPr lang="en-US" sz="1600" dirty="0">
                <a:solidFill>
                  <a:srgbClr val="D1EFFF"/>
                </a:solidFill>
              </a:rPr>
              <a:t> costumam ser a melhor escolha.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element</a:t>
            </a:r>
            <a:r>
              <a:rPr lang="en-US" sz="1000" dirty="0">
                <a:solidFill>
                  <a:srgbClr val="D1EFFF"/>
                </a:solidFill>
              </a:rPr>
              <a:t>  escalar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 · DB table</a:t>
            </a:r>
            <a:r>
              <a:rPr lang="en-US" sz="1000" dirty="0">
                <a:solidFill>
                  <a:srgbClr val="D1EFFF"/>
                </a:solidFill>
              </a:rPr>
              <a:t>  estrutura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type</a:t>
            </a:r>
            <a:r>
              <a:rPr lang="en-US" sz="1000" dirty="0">
                <a:solidFill>
                  <a:srgbClr val="D1EFFF"/>
                </a:solidFill>
              </a:rPr>
              <a:t>  tabela interna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 OF ENUM</a:t>
            </a:r>
            <a:r>
              <a:rPr lang="en-US" sz="1000" dirty="0">
                <a:solidFill>
                  <a:srgbClr val="D1EFFF"/>
                </a:solidFill>
              </a:rPr>
              <a:t>  enumerações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USO · NATUREZA DO TIPO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tipo decide qual atribuição compila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3794760"/>
          </a:xfrm>
          <a:prstGeom prst="roundRect">
            <a:avLst>
              <a:gd name="adj" fmla="val 1928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075688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075688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1892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zcl_03_types.clas.abap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ZS4D430_## › ZCL_03_TYPES › main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/dmo/travel_id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data element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DATA travel TYPE /dmo/s_travel_key.   " structure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DATA travel TYPE /dmo/travel.         " database table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DATA travel TYPE /dmo/t_travel.       " table type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'123'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elementar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'123'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estrutura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travel_id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'123'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tabela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Data element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Tipo escalar: só a primeira atribuição compila.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73177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7317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713482"/>
            <a:ext cx="3367735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Structure e tabela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Uma tabela de banco usada como tipo é uma </a:t>
            </a:r>
            <a:r>
              <a:rPr lang="en-US" sz="1050" b="1" dirty="0">
                <a:solidFill>
                  <a:srgbClr val="556B82"/>
                </a:solidFill>
              </a:rPr>
              <a:t>estrutura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5890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5890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570732"/>
            <a:ext cx="3367735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Table type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Tipo de tabela interna: aceita só a terceira forma.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44627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44627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427982"/>
            <a:ext cx="3367735" cy="811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F2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Mostra que tipo de objeto do Dicionário está por trás.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5550408"/>
            <a:ext cx="11094415" cy="502920"/>
          </a:xfrm>
          <a:prstGeom prst="roundRect">
            <a:avLst>
              <a:gd name="adj" fmla="val 14545"/>
            </a:avLst>
          </a:prstGeom>
          <a:solidFill>
            <a:srgbClr val="E1F4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207008" y="5550408"/>
            <a:ext cx="10225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Recomendação oficial  </a:t>
            </a:r>
            <a:r>
              <a:rPr lang="en-US" sz="1200" dirty="0">
                <a:solidFill>
                  <a:srgbClr val="1D2D3E"/>
                </a:solidFill>
              </a:rPr>
              <a:t>evite criar objetos do Dicionário só para tipar dados; use tipos públicos de classes e interfaces, que trazem contexto.</a:t>
            </a:r>
            <a:endParaRPr lang="en-US" sz="14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646420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USO · ENUMERAÇÕES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Valores possíveis definidos no próprio tipo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464308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464308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2814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zif_s4d430_status.intf.abap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ZS4D430_## › ZIF_S4D430_STATUS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zif_s4d430_status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ty_status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accepted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rejected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ty_status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ENDINTERFACE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Uso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zif_s4d430_status=&gt;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status-open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zif_s4d430_status=&gt;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status-accepted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i="1" dirty="0">
                <a:solidFill>
                  <a:srgbClr val="6A99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…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69C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ENDIF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 OF ENUM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Só os valores listados são aceitos: nada de códigos soltos como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'A'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326136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3261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3243072"/>
            <a:ext cx="3367735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 status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Agrupa os valores: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status-open</a:t>
            </a:r>
            <a:r>
              <a:rPr lang="en-US" sz="1050" dirty="0">
                <a:solidFill>
                  <a:srgbClr val="556B82"/>
                </a:solidFill>
              </a:rPr>
              <a:t>,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status-accepted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464820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4648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4629912"/>
            <a:ext cx="3367735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Na interface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 tipo fica visível em todo o sistema, com o contexto da interface.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aprendemos na aula 02.03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 </a:t>
            </a:r>
            <a:r>
              <a:rPr lang="en-US" sz="1400" b="1" dirty="0">
                <a:solidFill>
                  <a:srgbClr val="FFFFFF"/>
                </a:solidFill>
              </a:rPr>
              <a:t>domínio</a:t>
            </a:r>
            <a:r>
              <a:rPr lang="en-US" sz="1400" dirty="0">
                <a:solidFill>
                  <a:srgbClr val="FFFFFF"/>
                </a:solidFill>
              </a:rPr>
              <a:t> define tipo, tamanho, faixa de valores e formatação; não é um tipo ABAP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 </a:t>
            </a:r>
            <a:r>
              <a:rPr lang="en-US" sz="1400" b="1" dirty="0">
                <a:solidFill>
                  <a:srgbClr val="FFFFFF"/>
                </a:solidFill>
              </a:rPr>
              <a:t>data element</a:t>
            </a:r>
            <a:r>
              <a:rPr lang="en-US" sz="1400" dirty="0">
                <a:solidFill>
                  <a:srgbClr val="FFFFFF"/>
                </a:solidFill>
              </a:rPr>
              <a:t> dá significado e </a:t>
            </a:r>
            <a:r>
              <a:rPr lang="en-US" sz="1400" b="1" dirty="0">
                <a:solidFill>
                  <a:srgbClr val="FFFFFF"/>
                </a:solidFill>
              </a:rPr>
              <a:t>rótulos</a:t>
            </a:r>
            <a:r>
              <a:rPr lang="en-US" sz="1400" dirty="0">
                <a:solidFill>
                  <a:srgbClr val="FFFFFF"/>
                </a:solidFill>
              </a:rPr>
              <a:t> traduzíveis ao campo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Estruturas</a:t>
            </a:r>
            <a:r>
              <a:rPr lang="en-US" sz="1400" dirty="0">
                <a:solidFill>
                  <a:srgbClr val="FFFFFF"/>
                </a:solidFill>
              </a:rPr>
              <a:t> do Dicionário: simples, aninhadas, com include ou named include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Table types</a:t>
            </a:r>
            <a:r>
              <a:rPr lang="en-US" sz="1400" dirty="0">
                <a:solidFill>
                  <a:srgbClr val="FFFFFF"/>
                </a:solidFill>
              </a:rPr>
              <a:t> definem linha, tipo de acesso e chaves; ranges têm SIGN, OPTION, LOW e HIGH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Tabela de banco usada como tipo é uma estrutura; evite usá-la assim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Prefira </a:t>
            </a:r>
            <a:r>
              <a:rPr lang="en-US" sz="1400" b="1" dirty="0">
                <a:solidFill>
                  <a:srgbClr val="FFFFFF"/>
                </a:solidFill>
              </a:rPr>
              <a:t>tipos em classes e interfaces</a:t>
            </a:r>
            <a:r>
              <a:rPr lang="en-US" sz="1400" dirty="0">
                <a:solidFill>
                  <a:srgbClr val="FFFFFF"/>
                </a:solidFill>
              </a:rPr>
              <a:t>, inclusive </a:t>
            </a:r>
            <a:r>
              <a:rPr lang="en-US" sz="1400" b="1" dirty="0">
                <a:solidFill>
                  <a:srgbClr val="FFFFFF"/>
                </a:solidFill>
              </a:rPr>
              <a:t>enumerações</a:t>
            </a:r>
            <a:r>
              <a:rPr lang="en-US" sz="1400" dirty="0">
                <a:solidFill>
                  <a:srgbClr val="FFFFFF"/>
                </a:solidFill>
              </a:rPr>
              <a:t> com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 OF ENUM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aula · 02.04  </a:t>
            </a:r>
            <a:r>
              <a:rPr lang="en-US" sz="1500" dirty="0">
                <a:solidFill>
                  <a:srgbClr val="FFFFFF"/>
                </a:solidFill>
              </a:rPr>
              <a:t>CDS views básicas: View entities, anotações e views sobre views.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02.03 Definindo tipos de dados globais</dc:title>
  <dc:subject>ABAP Moderno – Módulo 02: Modelagem de Dados com Dicionário e CDS</dc:subject>
  <dc:creator>Adriano Bispo</dc:creator>
  <cp:lastModifiedBy>Adriano Bispo</cp:lastModifiedBy>
  <cp:revision>1</cp:revision>
  <dcterms:created xsi:type="dcterms:W3CDTF">2026-10-29T01:02:24Z</dcterms:created>
  <dcterms:modified xsi:type="dcterms:W3CDTF">2026-10-29T01:02:24Z</dcterms:modified>
</cp:coreProperties>
</file>