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Programação ABAP Intermediária  ·  Aula 2 de 9 — Tipos e conversões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Programação ABAP Intermediária  ·  Aula 2 de 9 — Tipos e conversões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02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Tipos de dados e conversões corretas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Classificar os tipos técnicos, evitar armadilhas de conversão e calcular com datas, horas e timestamps.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2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44179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44179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9" name="Text 47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vemos onde conversões implícitas truncam ou arredondam sem avisar e como o projeto Pedidos de Compras converte com segurança a validade do cartão, preços e datas.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tipos embutidos do ABAP, por categoria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4057536"/>
                <a:gridCol w="405753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Categoria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Completos (tamanho fixo)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Incompletos (exigem LENGTH)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Numéricos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int8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decfloat16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decfloat34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(com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DECIMALS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Caracteres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Bytes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xstring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 e hora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utclong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976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29768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Por que importa  </a:t>
            </a:r>
            <a:r>
              <a:rPr lang="en-US" sz="1200" dirty="0">
                <a:solidFill>
                  <a:srgbClr val="1D2D3E"/>
                </a:solidFill>
              </a:rPr>
              <a:t>algumas operações só valem para caracteres, outras só para números, e caracteres e bytes não se misturam na mesma operação.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2569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02.02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Escolhendo o tipo certo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tipo define </a:t>
            </a:r>
            <a:r>
              <a:rPr lang="en-US" sz="1600" b="1" dirty="0">
                <a:solidFill>
                  <a:srgbClr val="D1EFFF"/>
                </a:solidFill>
              </a:rPr>
              <a:t>precisão, faixa de valores e operações</a:t>
            </a:r>
            <a:r>
              <a:rPr lang="en-US" sz="1600" dirty="0">
                <a:solidFill>
                  <a:srgbClr val="D1EFFF"/>
                </a:solidFill>
              </a:rPr>
              <a:t>. Escolher bem evita arredondamentos e estouros silenciosos.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int8</a:t>
            </a:r>
            <a:r>
              <a:rPr lang="en-US" sz="1000" dirty="0">
                <a:solidFill>
                  <a:srgbClr val="D1EFFF"/>
                </a:solidFill>
              </a:rPr>
              <a:t>  inteiros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00" dirty="0">
                <a:solidFill>
                  <a:srgbClr val="D1EFFF"/>
                </a:solidFill>
              </a:rPr>
              <a:t>  decimais exatos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decfloat34</a:t>
            </a:r>
            <a:r>
              <a:rPr lang="en-US" sz="1000" dirty="0">
                <a:solidFill>
                  <a:srgbClr val="D1EFFF"/>
                </a:solidFill>
              </a:rPr>
              <a:t>  alta precisão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000" dirty="0">
                <a:solidFill>
                  <a:srgbClr val="D1EFFF"/>
                </a:solidFill>
              </a:rPr>
              <a:t>  evitar em cálculos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· NÚMEROS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Qual tipo numérico usar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1D2D3E"/>
                </a:solidFill>
              </a:rPr>
              <a:t> e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Números inteiros. Use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</a:t>
            </a:r>
            <a:r>
              <a:rPr lang="en-US" sz="1200" dirty="0">
                <a:solidFill>
                  <a:srgbClr val="556B82"/>
                </a:solidFill>
              </a:rPr>
              <a:t> quando a faixa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00" dirty="0">
                <a:solidFill>
                  <a:srgbClr val="556B82"/>
                </a:solidFill>
              </a:rPr>
              <a:t> (≈ ±2,1 bilhões) não bastar.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Decimais exatos, até 14 casas. O padrão para valores monetários e quantidades.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decfloat34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Quando a faixa ou a precisão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200" dirty="0">
                <a:solidFill>
                  <a:srgbClr val="556B82"/>
                </a:solidFill>
              </a:rPr>
              <a:t> não bastar: 34 dígitos significativos.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Ponto flutuante binário: gera erros de arredondamento. Evite em cálculos de negócio.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5851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85851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Datas e horas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200" dirty="0">
                <a:solidFill>
                  <a:srgbClr val="1D2D3E"/>
                </a:solidFill>
              </a:rPr>
              <a:t> só tem precisão de segundos; para mais precisão e fuso horário, use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</a:t>
            </a:r>
            <a:r>
              <a:rPr lang="en-US" sz="1200" dirty="0">
                <a:solidFill>
                  <a:srgbClr val="1D2D3E"/>
                </a:solidFill>
              </a:rPr>
              <a:t> (100 nanossegundos).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9443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269443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653" y="269443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269443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8652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02.02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Armadilhas de conversão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Atribuir entre tipos diferentes dispara uma </a:t>
            </a:r>
            <a:r>
              <a:rPr lang="en-US" sz="1600" b="1" dirty="0">
                <a:solidFill>
                  <a:srgbClr val="D1EFFF"/>
                </a:solidFill>
              </a:rPr>
              <a:t>conversão</a:t>
            </a:r>
            <a:r>
              <a:rPr lang="en-US" sz="1600" dirty="0">
                <a:solidFill>
                  <a:srgbClr val="D1EFFF"/>
                </a:solidFill>
              </a:rPr>
              <a:t>. Ela pode falhar, </a:t>
            </a:r>
            <a:r>
              <a:rPr lang="en-US" sz="1600" b="1" dirty="0">
                <a:solidFill>
                  <a:srgbClr val="D1EFFF"/>
                </a:solidFill>
              </a:rPr>
              <a:t>truncar</a:t>
            </a:r>
            <a:r>
              <a:rPr lang="en-US" sz="1600" dirty="0">
                <a:solidFill>
                  <a:srgbClr val="D1EFFF"/>
                </a:solidFill>
              </a:rPr>
              <a:t> ou </a:t>
            </a:r>
            <a:r>
              <a:rPr lang="en-US" sz="1600" b="1" dirty="0">
                <a:solidFill>
                  <a:srgbClr val="D1EFFF"/>
                </a:solidFill>
              </a:rPr>
              <a:t>arredondar</a:t>
            </a:r>
            <a:r>
              <a:rPr lang="en-US" sz="1600" dirty="0">
                <a:solidFill>
                  <a:srgbClr val="D1EFFF"/>
                </a:solidFill>
              </a:rPr>
              <a:t> sem avisar.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CX_SY_CONVERSION_*</a:t>
            </a:r>
            <a:r>
              <a:rPr lang="en-US" sz="1000" dirty="0">
                <a:solidFill>
                  <a:srgbClr val="D1EFFF"/>
                </a:solidFill>
              </a:rPr>
              <a:t>  exceções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Truncamento</a:t>
            </a:r>
            <a:r>
              <a:rPr lang="en-US" sz="1000" dirty="0">
                <a:solidFill>
                  <a:srgbClr val="D1EFFF"/>
                </a:solidFill>
              </a:rPr>
              <a:t>  texto mais curto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Arredondamento</a:t>
            </a:r>
            <a:r>
              <a:rPr lang="en-US" sz="1000" dirty="0">
                <a:solidFill>
                  <a:srgbClr val="D1EFFF"/>
                </a:solidFill>
              </a:rPr>
              <a:t>  menos casas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r>
              <a:rPr lang="en-US" sz="1000" dirty="0">
                <a:solidFill>
                  <a:srgbClr val="D1EFFF"/>
                </a:solidFill>
              </a:rPr>
              <a:t>  tipo do lado direito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CONVERSÕES · O QUE PODE DAR ERRADO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Exceções, truncamento e arredondamento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zcl_02_conv.clas.abap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ZCL_02_CONV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var_int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var_pack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máximo 999.99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short_char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var_int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`12345`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ok: texto numérico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var_int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`ABCDE`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CX_SY_CONVERSION_NO_NUMBER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var_pack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CX_SY_CONVERSION_OVERFLOW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short_char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'ABCDE'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vira 'ABC' (truncado)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var_pack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0.13 (arredondado)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`R2D2`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vira '0022'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Falhas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Valores incompatíveis levantam exceções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CX_SY_CONVERSION_…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Truncamento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Texto maior que o destino perde os últimos caracteres, sem aviso.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Arredondamento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Menos casas decimais no destino: arredondamento comercial.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Descarta o que não é dígito e completa com zeros à esquerda.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CONVERSÕES · SURPRESAS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Datas como números e o tipo da declaração inline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38374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538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Datas e horas viram números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002536"/>
          </a:xfrm>
          <a:prstGeom prst="roundRect">
            <a:avLst>
              <a:gd name="adj" fmla="val 36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4538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4538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surpresas.abap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var_int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var_int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dias desde 01.01.0001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'20221232'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aceito! d é texto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541004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Data é tecnicamente um campo de caracteres: o ABAP aceita datas inválidas em atribuições.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3182112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Inline herda o tipo do lado direito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002536"/>
          </a:xfrm>
          <a:prstGeom prst="roundRect">
            <a:avLst>
              <a:gd name="adj" fmla="val 36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4538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4538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surpresas.abap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i: 50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i: 1 (arredondado!)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decfloat34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0.5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151376"/>
            <a:ext cx="541004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Literais inteiros fazem a variável inline ser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00" dirty="0">
                <a:solidFill>
                  <a:srgbClr val="556B82"/>
                </a:solidFill>
              </a:rPr>
              <a:t>. Declare o tipo explicitamente ou use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02.02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Conversões explícitas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Quando a conversão é intencional, deixe-a </a:t>
            </a:r>
            <a:r>
              <a:rPr lang="en-US" sz="1600" b="1" dirty="0">
                <a:solidFill>
                  <a:srgbClr val="D1EFFF"/>
                </a:solidFill>
              </a:rPr>
              <a:t>explícita</a:t>
            </a:r>
            <a:r>
              <a:rPr lang="en-US" sz="1600" dirty="0">
                <a:solidFill>
                  <a:srgbClr val="D1EFFF"/>
                </a:solidFill>
              </a:rPr>
              <a:t> com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600" dirty="0">
                <a:solidFill>
                  <a:srgbClr val="D1EFFF"/>
                </a:solidFill>
              </a:rPr>
              <a:t>. Quando nenhuma perda é aceitável, use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#( )</a:t>
            </a:r>
            <a:r>
              <a:rPr lang="en-US" sz="1000" dirty="0">
                <a:solidFill>
                  <a:srgbClr val="D1EFFF"/>
                </a:solidFill>
              </a:rPr>
              <a:t>  converte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#( )</a:t>
            </a:r>
            <a:r>
              <a:rPr lang="en-US" sz="1000" dirty="0">
                <a:solidFill>
                  <a:srgbClr val="D1EFFF"/>
                </a:solidFill>
              </a:rPr>
              <a:t>  converte sem perdas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cx_sy_conversion_error</a:t>
            </a:r>
            <a:r>
              <a:rPr lang="en-US" sz="1000" dirty="0">
                <a:solidFill>
                  <a:srgbClr val="D1EFFF"/>
                </a:solidFill>
              </a:rPr>
              <a:t>  exceção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corretos</a:t>
            </a:r>
            <a:r>
              <a:rPr lang="en-US" sz="1000" dirty="0">
                <a:solidFill>
                  <a:srgbClr val="D1EFFF"/>
                </a:solidFill>
              </a:rPr>
              <a:t>  a verdadeira correção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CONV E EXACT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CONV para converter, EXACT para validar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zcl_02_conv.clas.abap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ZCL_02_CONV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O método espera string: CONV evita o erro de sintaxe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lcl_helper=&gt;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var_int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EXACT levanta exceção se houver perda ou valor inválido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'20221232'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cx_sy_conversion_error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`20221232 não é uma data válida`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sku_da_planilha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cx_sy_conversion_error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maior que os 21 caracteres de zta_pc_item-sku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#(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Converte para o tipo esperado; pode levantar exceções de conversão.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#(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aceita se não houver truncamento, arredondamento ou valor inválido.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Diagnóstico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 SKU de planilha maior que o campo levanta exceção, em vez de ser cortado em silêncio.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 correção real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Tipar atributos e parâmetros com os data elements certos.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02.02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Datas, horas e timestamps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Datas e horas permitem </a:t>
            </a:r>
            <a:r>
              <a:rPr lang="en-US" sz="1600" b="1" dirty="0">
                <a:solidFill>
                  <a:srgbClr val="D1EFFF"/>
                </a:solidFill>
              </a:rPr>
              <a:t>aritmética direta</a:t>
            </a:r>
            <a:r>
              <a:rPr lang="en-US" sz="1600" dirty="0">
                <a:solidFill>
                  <a:srgbClr val="D1EFFF"/>
                </a:solidFill>
              </a:rPr>
              <a:t>; timestamps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</a:t>
            </a:r>
            <a:r>
              <a:rPr lang="en-US" sz="1600" dirty="0">
                <a:solidFill>
                  <a:srgbClr val="D1EFFF"/>
                </a:solidFill>
              </a:rPr>
              <a:t> representam um instante em </a:t>
            </a:r>
            <a:r>
              <a:rPr lang="en-US" sz="1600" b="1" dirty="0">
                <a:solidFill>
                  <a:srgbClr val="D1EFFF"/>
                </a:solidFill>
              </a:rPr>
              <a:t>UTC</a:t>
            </a:r>
            <a:r>
              <a:rPr lang="en-US" sz="1600" dirty="0">
                <a:solidFill>
                  <a:srgbClr val="D1EFFF"/>
                </a:solidFill>
              </a:rPr>
              <a:t>, com fuso horário explícito.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+ 7</a:t>
            </a:r>
            <a:r>
              <a:rPr lang="en-US" sz="1000" dirty="0">
                <a:solidFill>
                  <a:srgbClr val="D1EFFF"/>
                </a:solidFill>
              </a:rPr>
              <a:t>  aritmética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</a:t>
            </a:r>
            <a:r>
              <a:rPr lang="en-US" sz="1000" dirty="0">
                <a:solidFill>
                  <a:srgbClr val="D1EFFF"/>
                </a:solidFill>
              </a:rPr>
              <a:t>  data e fuso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utclong_add · _diff</a:t>
            </a:r>
            <a:r>
              <a:rPr lang="en-US" sz="1000" dirty="0">
                <a:solidFill>
                  <a:srgbClr val="D1EFFF"/>
                </a:solidFill>
              </a:rPr>
              <a:t>  timestamps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 … UTCLONG</a:t>
            </a:r>
            <a:r>
              <a:rPr lang="en-US" sz="1000" dirty="0">
                <a:solidFill>
                  <a:srgbClr val="D1EFFF"/>
                </a:solidFill>
              </a:rPr>
              <a:t>  fusos horários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TEMPO · ARITMÉTICA E TIMESTAMPS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Calculando com d, t e utclong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zcl_02_time.clas.abap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ZCL_02_TIME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next_week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dias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offset e comprimento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utclong_current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utclong_add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utclong_diff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date_user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time_user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date_user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time_user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get_user_time_zone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250" b="1" dirty="0">
                <a:solidFill>
                  <a:srgbClr val="1D2D3E"/>
                </a:solidFill>
              </a:rPr>
              <a:t> e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Viram dias desde 01.01.0001 e segundos desde a meia-noite para calcular.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31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31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134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Offset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today+4(2)</a:t>
            </a:r>
            <a:r>
              <a:rPr lang="en-US" sz="1050" dirty="0">
                <a:solidFill>
                  <a:srgbClr val="556B82"/>
                </a:solidFill>
              </a:rPr>
              <a:t> lê o mês;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today(4)</a:t>
            </a:r>
            <a:r>
              <a:rPr lang="en-US" sz="1050" dirty="0">
                <a:solidFill>
                  <a:srgbClr val="556B82"/>
                </a:solidFill>
              </a:rPr>
              <a:t> o ano;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today+6(2)</a:t>
            </a:r>
            <a:r>
              <a:rPr lang="en-US" sz="1050" dirty="0">
                <a:solidFill>
                  <a:srgbClr val="556B82"/>
                </a:solidFill>
              </a:rPr>
              <a:t> o dia.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5890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707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Instante em UTC com 100 ns de precisão; funções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utclong_*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4462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446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279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 UTCLONG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Separa em data e hora locais de um fuso horário, e o inverso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UTCLONG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projeto  </a:t>
            </a:r>
            <a:r>
              <a:rPr lang="en-US" sz="1200" dirty="0">
                <a:solidFill>
                  <a:srgbClr val="1D2D3E"/>
                </a:solidFill>
              </a:rPr>
              <a:t>o pagamento simulado compara a validade MM/AA com a data do sistema por offsets: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i( lv_validade(2) )</a:t>
            </a:r>
            <a:r>
              <a:rPr lang="en-US" sz="1200" dirty="0">
                <a:solidFill>
                  <a:srgbClr val="1D2D3E"/>
                </a:solidFill>
              </a:rPr>
              <a:t> é o mês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i( lv_hoje(4) )</a:t>
            </a:r>
            <a:r>
              <a:rPr lang="en-US" sz="1200" dirty="0">
                <a:solidFill>
                  <a:srgbClr val="1D2D3E"/>
                </a:solidFill>
              </a:rPr>
              <a:t>, o ano.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Tipos são </a:t>
            </a:r>
            <a:r>
              <a:rPr lang="en-US" sz="1400" b="1" dirty="0">
                <a:solidFill>
                  <a:srgbClr val="FFFFFF"/>
                </a:solidFill>
              </a:rPr>
              <a:t>completos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b="1" dirty="0">
                <a:solidFill>
                  <a:srgbClr val="FFFFFF"/>
                </a:solidFill>
              </a:rPr>
              <a:t>incompletos</a:t>
            </a:r>
            <a:r>
              <a:rPr lang="en-US" sz="1400" dirty="0">
                <a:solidFill>
                  <a:srgbClr val="FFFFFF"/>
                </a:solidFill>
              </a:rPr>
              <a:t> e se dividem em numéricos, caracteres, bytes e tempo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FFFFFF"/>
                </a:solidFill>
              </a:rPr>
              <a:t>/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</a:t>
            </a:r>
            <a:r>
              <a:rPr lang="en-US" sz="1400" dirty="0">
                <a:solidFill>
                  <a:srgbClr val="FFFFFF"/>
                </a:solidFill>
              </a:rPr>
              <a:t> para inteiros,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400" dirty="0">
                <a:solidFill>
                  <a:srgbClr val="FFFFFF"/>
                </a:solidFill>
              </a:rPr>
              <a:t> para decimais exatos,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decfloat34</a:t>
            </a:r>
            <a:r>
              <a:rPr lang="en-US" sz="1400" dirty="0">
                <a:solidFill>
                  <a:srgbClr val="FFFFFF"/>
                </a:solidFill>
              </a:rPr>
              <a:t> para alta precisão; evite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Conversões podem </a:t>
            </a:r>
            <a:r>
              <a:rPr lang="en-US" sz="1400" b="1" dirty="0">
                <a:solidFill>
                  <a:srgbClr val="FFFFFF"/>
                </a:solidFill>
              </a:rPr>
              <a:t>falhar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truncar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b="1" dirty="0">
                <a:solidFill>
                  <a:srgbClr val="FFFFFF"/>
                </a:solidFill>
              </a:rPr>
              <a:t>arredondar</a:t>
            </a:r>
            <a:r>
              <a:rPr lang="en-US" sz="1400" dirty="0">
                <a:solidFill>
                  <a:srgbClr val="FFFFFF"/>
                </a:solidFill>
              </a:rPr>
              <a:t> sem aviso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Declarações inline herdam o tipo do lado direito: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r>
              <a:rPr lang="en-US" sz="1400" dirty="0">
                <a:solidFill>
                  <a:srgbClr val="FFFFFF"/>
                </a:solidFill>
              </a:rPr>
              <a:t> vira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400" dirty="0">
                <a:solidFill>
                  <a:srgbClr val="FFFFFF"/>
                </a:solidFill>
              </a:rPr>
              <a:t> torna conversões explícitas;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</a:t>
            </a:r>
            <a:r>
              <a:rPr lang="en-US" sz="1400" dirty="0">
                <a:solidFill>
                  <a:srgbClr val="FFFFFF"/>
                </a:solidFill>
              </a:rPr>
              <a:t> recusa qualquer perda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Datas e horas permitem aritmética;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utclong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r>
              <a:rPr lang="en-US" sz="1400" dirty="0">
                <a:solidFill>
                  <a:srgbClr val="FFFFFF"/>
                </a:solidFill>
              </a:rPr>
              <a:t> tratam fusos horários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02.03  </a:t>
            </a:r>
            <a:r>
              <a:rPr lang="en-US" sz="1500" dirty="0">
                <a:solidFill>
                  <a:srgbClr val="FFFFFF"/>
                </a:solidFill>
              </a:rPr>
              <a:t>Campos de caracteres: Funções, regex e textos traduzíveis.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02.02 Tipos de dados e conversões corretas</dc:title>
  <dc:subject>ABAP Moderno – Módulo 02: Programação ABAP Intermediária</dc:subject>
  <dc:creator>Adriano Bispo</dc:creator>
  <cp:lastModifiedBy>Adriano Bispo</cp:lastModifiedBy>
  <cp:revision>1</cp:revision>
  <dcterms:created xsi:type="dcterms:W3CDTF">2026-10-29T13:30:21Z</dcterms:created>
  <dcterms:modified xsi:type="dcterms:W3CDTF">2026-10-29T13:30:21Z</dcterms:modified>
</cp:coreProperties>
</file>