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04 — Programação ABAP Intermediária  ·  Aula 2 de 9 — Tipos e conversões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04 — Programação ABAP Intermediária  ·  Aula 2 de 9 — Tipos e conversões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04 · AULA 02 DE 09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Tipos de dados e conversões corretas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Classificar os tipos técnicos, evitar armadilhas de conversão e calcular com datas, horas e timestamps.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5547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9" name="Shape 7"/>
          <p:cNvSpPr/>
          <p:nvPr/>
        </p:nvSpPr>
        <p:spPr>
          <a:xfrm>
            <a:off x="89255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2964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66724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3808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0892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7976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150600" y="4937760"/>
            <a:ext cx="279400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2 de 9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04 — Programação ABAP Intermediária · Design System SAP Horizon</a:t>
            </a:r>
            <a:endParaRPr 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04 em 9 aulas: ABAP intermediário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Analisar e testar código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ATC, ABAP Unit, Profiling e SQL Trace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04099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68691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6869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968691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e conversões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968691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técnicos, conversões e datas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44179" y="1892808"/>
            <a:ext cx="792419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44179" y="1892808"/>
            <a:ext cx="7924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59558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2415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415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5224150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Campos de caracteres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24150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Funções, regex e textos traduzíveis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017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7960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7960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7479609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no SQL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79609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joins, agregações e UNION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570476" y="164592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73506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350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9735068" y="233172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Performance de tabelas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735068" y="278892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Chaves, field symbols e chaves secundárias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713232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Autorizações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713232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Conceito, CDS DCL e AUTHORITY-CHECK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04099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96869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6869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2968691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OO eficaz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2968691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Herança, interfaces e factory methods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059558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522415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2415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5224150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de exceção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224150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Categorias, T100 e tratamento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315017" y="3657600"/>
            <a:ext cx="2072579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47960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47960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9" name="Text 47"/>
          <p:cNvSpPr txBox="1"/>
          <p:nvPr/>
        </p:nvSpPr>
        <p:spPr>
          <a:xfrm>
            <a:off x="7479609" y="4343400"/>
            <a:ext cx="17433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ABAP Doc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479609" y="4800600"/>
            <a:ext cx="17433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Documentação no código e no ADT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descobrimos por que o nome da companhia aparece cortado e o voo de carga sai com IDs trocados, e corrigimos com tipos e conversões seguras.</a:t>
            </a:r>
            <a:endParaRPr lang="en-US" sz="1400" dirty="0"/>
          </a:p>
        </p:txBody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579" y="1847088"/>
            <a:ext cx="347472" cy="347472"/>
          </a:xfrm>
          <a:prstGeom prst="rect">
            <a:avLst/>
          </a:prstGeom>
        </p:spPr>
      </p:pic>
      <p:pic>
        <p:nvPicPr>
          <p:cNvPr id="5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038" y="1847088"/>
            <a:ext cx="347472" cy="347472"/>
          </a:xfrm>
          <a:prstGeom prst="rect">
            <a:avLst/>
          </a:prstGeom>
        </p:spPr>
      </p:pic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497" y="1847088"/>
            <a:ext cx="347472" cy="347472"/>
          </a:xfrm>
          <a:prstGeom prst="rect">
            <a:avLst/>
          </a:prstGeom>
        </p:spPr>
      </p:pic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8956" y="1847088"/>
            <a:ext cx="347472" cy="347472"/>
          </a:xfrm>
          <a:prstGeom prst="rect">
            <a:avLst/>
          </a:prstGeom>
        </p:spPr>
      </p:pic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2579" y="3858768"/>
            <a:ext cx="347472" cy="347472"/>
          </a:xfrm>
          <a:prstGeom prst="rect">
            <a:avLst/>
          </a:prstGeom>
        </p:spPr>
      </p:pic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8038" y="3858768"/>
            <a:ext cx="347472" cy="347472"/>
          </a:xfrm>
          <a:prstGeom prst="rect">
            <a:avLst/>
          </a:prstGeom>
        </p:spPr>
      </p:pic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8956" y="3858768"/>
            <a:ext cx="347472" cy="347472"/>
          </a:xfrm>
          <a:prstGeom prst="rect">
            <a:avLst/>
          </a:prstGeom>
        </p:spPr>
      </p:pic>
      <p:pic>
        <p:nvPicPr>
          <p:cNvPr id="6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497" y="3858768"/>
            <a:ext cx="347472" cy="347472"/>
          </a:xfrm>
          <a:prstGeom prst="rect">
            <a:avLst/>
          </a:prstGeom>
        </p:spPr>
      </p:pic>
      <p:pic>
        <p:nvPicPr>
          <p:cNvPr id="6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tipos embutidos do ABAP, por categoria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705024"/>
                <a:gridCol w="4057536"/>
                <a:gridCol w="405753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Categoria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Completos (tamanho fixo)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Incompletos (exigem LENGTH)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Numéricos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int8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decfloat16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decfloat34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(com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DECIMALS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Caracteres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Bytes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xstring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 e hora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utclong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FF8D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29768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Por que importa  </a:t>
            </a:r>
            <a:r>
              <a:rPr lang="en-US" sz="1200" dirty="0">
                <a:solidFill>
                  <a:srgbClr val="1D2D3E"/>
                </a:solidFill>
              </a:rPr>
              <a:t>algumas operações só valem para caracteres, outras só para números, e caracteres e bytes não se misturam na mesma operação.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42569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04.02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Escolhendo o tipo certo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tipo define </a:t>
            </a:r>
            <a:r>
              <a:rPr lang="en-US" sz="1600" b="1" dirty="0">
                <a:solidFill>
                  <a:srgbClr val="D1EFFF"/>
                </a:solidFill>
              </a:rPr>
              <a:t>precisão, faixa de valores e operações</a:t>
            </a:r>
            <a:r>
              <a:rPr lang="en-US" sz="1600" dirty="0">
                <a:solidFill>
                  <a:srgbClr val="D1EFFF"/>
                </a:solidFill>
              </a:rPr>
              <a:t>. Escolher bem evita arredondamentos e estouros silenciosos.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· int8</a:t>
            </a:r>
            <a:r>
              <a:rPr lang="en-US" sz="1000" dirty="0">
                <a:solidFill>
                  <a:srgbClr val="D1EFFF"/>
                </a:solidFill>
              </a:rPr>
              <a:t>  inteiros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000" dirty="0">
                <a:solidFill>
                  <a:srgbClr val="D1EFFF"/>
                </a:solidFill>
              </a:rPr>
              <a:t>  decimais exatos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decfloat34</a:t>
            </a:r>
            <a:r>
              <a:rPr lang="en-US" sz="1000" dirty="0">
                <a:solidFill>
                  <a:srgbClr val="D1EFFF"/>
                </a:solidFill>
              </a:rPr>
              <a:t>  alta precisão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1000" dirty="0">
                <a:solidFill>
                  <a:srgbClr val="D1EFFF"/>
                </a:solidFill>
              </a:rPr>
              <a:t>  evitar em cálculos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TIPOS · NÚMEROS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Qual tipo numérico usar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92680"/>
            <a:ext cx="2602154" cy="2282952"/>
          </a:xfrm>
          <a:prstGeom prst="roundRect">
            <a:avLst>
              <a:gd name="adj" fmla="val 40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5938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197352"/>
            <a:ext cx="2199818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500" b="1" dirty="0">
                <a:solidFill>
                  <a:srgbClr val="1D2D3E"/>
                </a:solidFill>
              </a:rPr>
              <a:t> e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Números inteiros. Use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r>
              <a:rPr lang="en-US" sz="1200" dirty="0">
                <a:solidFill>
                  <a:srgbClr val="556B82"/>
                </a:solidFill>
              </a:rPr>
              <a:t> quando a faixa de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200" dirty="0">
                <a:solidFill>
                  <a:srgbClr val="556B82"/>
                </a:solidFill>
              </a:rPr>
              <a:t> (≈ ±2,1 bilhões) não bastar.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9394" y="2392680"/>
            <a:ext cx="2602154" cy="2282952"/>
          </a:xfrm>
          <a:prstGeom prst="roundRect">
            <a:avLst>
              <a:gd name="adj" fmla="val 40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0562" y="25938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0562" y="3197352"/>
            <a:ext cx="2199818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Decimais exatos, até 14 casas. O padrão para valores monetários e quantidades.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0148" y="2392680"/>
            <a:ext cx="2602154" cy="2282952"/>
          </a:xfrm>
          <a:prstGeom prst="roundRect">
            <a:avLst>
              <a:gd name="adj" fmla="val 40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1316" y="25938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1316" y="3197352"/>
            <a:ext cx="2199818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decfloat34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Quando a faixa ou a precisão de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200" dirty="0">
                <a:solidFill>
                  <a:srgbClr val="556B82"/>
                </a:solidFill>
              </a:rPr>
              <a:t> não bastar: 34 dígitos significativos.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0901" y="2392680"/>
            <a:ext cx="2602154" cy="2282952"/>
          </a:xfrm>
          <a:prstGeom prst="roundRect">
            <a:avLst>
              <a:gd name="adj" fmla="val 400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42069" y="259384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42069" y="3197352"/>
            <a:ext cx="2199818" cy="1368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Ponto flutuante binário: gera erros de arredondamento. Evite em cálculos de negócio.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5851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07008" y="485851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Datas e horas 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200" dirty="0">
                <a:solidFill>
                  <a:srgbClr val="1D2D3E"/>
                </a:solidFill>
              </a:rPr>
              <a:t> só tem precisão de segundos; para mais precisão e fuso horário, use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</a:t>
            </a:r>
            <a:r>
              <a:rPr lang="en-US" sz="1200" dirty="0">
                <a:solidFill>
                  <a:srgbClr val="1D2D3E"/>
                </a:solidFill>
              </a:rPr>
              <a:t> (100 nanossegundos).</a:t>
            </a:r>
            <a:endParaRPr lang="en-US" sz="14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694432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146" y="2694432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653" y="2694432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900" y="2694432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98652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04.02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Armadilhas de conversão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Atribuir entre tipos diferentes dispara uma </a:t>
            </a:r>
            <a:r>
              <a:rPr lang="en-US" sz="1600" b="1" dirty="0">
                <a:solidFill>
                  <a:srgbClr val="D1EFFF"/>
                </a:solidFill>
              </a:rPr>
              <a:t>conversão</a:t>
            </a:r>
            <a:r>
              <a:rPr lang="en-US" sz="1600" dirty="0">
                <a:solidFill>
                  <a:srgbClr val="D1EFFF"/>
                </a:solidFill>
              </a:rPr>
              <a:t>. Ela pode falhar, </a:t>
            </a:r>
            <a:r>
              <a:rPr lang="en-US" sz="1600" b="1" dirty="0">
                <a:solidFill>
                  <a:srgbClr val="D1EFFF"/>
                </a:solidFill>
              </a:rPr>
              <a:t>truncar</a:t>
            </a:r>
            <a:r>
              <a:rPr lang="en-US" sz="1600" dirty="0">
                <a:solidFill>
                  <a:srgbClr val="D1EFFF"/>
                </a:solidFill>
              </a:rPr>
              <a:t> ou </a:t>
            </a:r>
            <a:r>
              <a:rPr lang="en-US" sz="1600" b="1" dirty="0">
                <a:solidFill>
                  <a:srgbClr val="D1EFFF"/>
                </a:solidFill>
              </a:rPr>
              <a:t>arredondar</a:t>
            </a:r>
            <a:r>
              <a:rPr lang="en-US" sz="1600" dirty="0">
                <a:solidFill>
                  <a:srgbClr val="D1EFFF"/>
                </a:solidFill>
              </a:rPr>
              <a:t> sem avisar.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CX_SY_CONVERSION_*</a:t>
            </a:r>
            <a:r>
              <a:rPr lang="en-US" sz="1000" dirty="0">
                <a:solidFill>
                  <a:srgbClr val="D1EFFF"/>
                </a:solidFill>
              </a:rPr>
              <a:t>  exceções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Truncamento</a:t>
            </a:r>
            <a:r>
              <a:rPr lang="en-US" sz="1000" dirty="0">
                <a:solidFill>
                  <a:srgbClr val="D1EFFF"/>
                </a:solidFill>
              </a:rPr>
              <a:t>  texto mais curto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Arredondamento</a:t>
            </a:r>
            <a:r>
              <a:rPr lang="en-US" sz="1000" dirty="0">
                <a:solidFill>
                  <a:srgbClr val="D1EFFF"/>
                </a:solidFill>
              </a:rPr>
              <a:t>  menos casas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</a:t>
            </a:r>
            <a:r>
              <a:rPr lang="en-US" sz="1000" dirty="0">
                <a:solidFill>
                  <a:srgbClr val="D1EFFF"/>
                </a:solidFill>
              </a:rPr>
              <a:t>  tipo do lado direito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CONVERSÕES · O QUE PODE DAR ERRADO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Exceções, truncamento e arredondamento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zcl_04_conv.clas.abap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ZCL_04_CONV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var_int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var_pack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máximo 999.99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short_char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var_int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`12345`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ok: texto numérico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var_int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`ABCDE`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CX_SY_CONVERSION_NO_NUMBER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var_pack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CX_SY_CONVERSION_OVERFLOW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short_char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'ABCDE'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vira 'ABC' (truncado)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var_pack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0.13 (arredondado)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`R2D2`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vira '0022'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Falhas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 incompatíveis levantam exceções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CX_SY_CONVERSION_…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Truncamento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Texto maior que o destino perde os últimos caracteres, sem aviso.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Arredondamento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Menos casas decimais no destino: arredondamento comercial.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Tipo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Descarta o que não é dígito e completa com zeros à esquerda.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CONVERSÕES · SURPRESAS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Datas como números e o tipo da declaração inline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38374" cy="27432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538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Datas e horas viram números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45389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45389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surpresas.abap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get_system_date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var_int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var_int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dias desde 01.01.0001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'20221232'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aceito! d é texto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Data é tecnicamente um campo de caracteres: o ABAP aceita datas inválidas em atribuições.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3182112" cy="27432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Inline herda o tipo do lado direito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002536"/>
          </a:xfrm>
          <a:prstGeom prst="roundRect">
            <a:avLst>
              <a:gd name="adj" fmla="val 365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45389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45389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surpresas.abap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i: 50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i: 1 (arredondado!)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decfloat34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0.5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151376"/>
            <a:ext cx="5410048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Literais inteiros fazem a variável inline ser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200" dirty="0">
                <a:solidFill>
                  <a:srgbClr val="556B82"/>
                </a:solidFill>
              </a:rPr>
              <a:t>. Declare o tipo explicitamente ou use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04.02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Conversões explícitas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Quando a conversão é intencional, deixe-a </a:t>
            </a:r>
            <a:r>
              <a:rPr lang="en-US" sz="1600" b="1" dirty="0">
                <a:solidFill>
                  <a:srgbClr val="D1EFFF"/>
                </a:solidFill>
              </a:rPr>
              <a:t>explícita</a:t>
            </a:r>
            <a:r>
              <a:rPr lang="en-US" sz="1600" dirty="0">
                <a:solidFill>
                  <a:srgbClr val="D1EFFF"/>
                </a:solidFill>
              </a:rPr>
              <a:t> com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r>
              <a:rPr lang="en-US" sz="1600" dirty="0">
                <a:solidFill>
                  <a:srgbClr val="D1EFFF"/>
                </a:solidFill>
              </a:rPr>
              <a:t>. Quando nenhuma perda é aceitável, use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 #( )</a:t>
            </a:r>
            <a:r>
              <a:rPr lang="en-US" sz="1000" dirty="0">
                <a:solidFill>
                  <a:srgbClr val="D1EFFF"/>
                </a:solidFill>
              </a:rPr>
              <a:t>  converte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#( )</a:t>
            </a:r>
            <a:r>
              <a:rPr lang="en-US" sz="1000" dirty="0">
                <a:solidFill>
                  <a:srgbClr val="D1EFFF"/>
                </a:solidFill>
              </a:rPr>
              <a:t>  converte sem perdas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cx_sy_conversion_error</a:t>
            </a:r>
            <a:r>
              <a:rPr lang="en-US" sz="1000" dirty="0">
                <a:solidFill>
                  <a:srgbClr val="D1EFFF"/>
                </a:solidFill>
              </a:rPr>
              <a:t>  exceção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Tipos corretos</a:t>
            </a:r>
            <a:r>
              <a:rPr lang="en-US" sz="1000" dirty="0">
                <a:solidFill>
                  <a:srgbClr val="D1EFFF"/>
                </a:solidFill>
              </a:rPr>
              <a:t>  a verdadeira correção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CONV E EXACT · NA PRÁTICA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CONV para converter, EXACT para validar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zcl_04_conv.clas.abap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ZCL_04_CONV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 método espera string: CONV evita o erro de sintaxe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lcl_helper=&gt;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var_int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EXACT levanta exceção se houver perda ou valor inválido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'20221232'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cx_sy_conversion_error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`20221232 não é uma data válida`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i_carrier_id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cx_sy_conversion_error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 tamanho dos tipos não bate: corrija a declaração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 #(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Converte para o tipo esperado; pode levantar exceções de conversão.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#(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aceita se não houver truncamento, arredondamento ou valor inválido.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Diagnóstico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 exercício oficial,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</a:t>
            </a:r>
            <a:r>
              <a:rPr lang="en-US" sz="1050" dirty="0">
                <a:solidFill>
                  <a:srgbClr val="556B82"/>
                </a:solidFill>
              </a:rPr>
              <a:t> revela IDs com tipos trocados (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1050" dirty="0">
                <a:solidFill>
                  <a:srgbClr val="556B82"/>
                </a:solidFill>
              </a:rPr>
              <a:t> x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1050" dirty="0">
                <a:solidFill>
                  <a:srgbClr val="556B82"/>
                </a:solidFill>
              </a:rPr>
              <a:t>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 correção real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Tipar atributos e parâmetros com os data elements certos.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04.02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Datas, horas e timestamps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Datas e horas permitem </a:t>
            </a:r>
            <a:r>
              <a:rPr lang="en-US" sz="1600" b="1" dirty="0">
                <a:solidFill>
                  <a:srgbClr val="D1EFFF"/>
                </a:solidFill>
              </a:rPr>
              <a:t>aritmética direta</a:t>
            </a:r>
            <a:r>
              <a:rPr lang="en-US" sz="1600" dirty="0">
                <a:solidFill>
                  <a:srgbClr val="D1EFFF"/>
                </a:solidFill>
              </a:rPr>
              <a:t>; timestamps </a:t>
            </a:r>
            <a:r>
              <a:rPr lang="en-US" sz="16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</a:t>
            </a:r>
            <a:r>
              <a:rPr lang="en-US" sz="1600" dirty="0">
                <a:solidFill>
                  <a:srgbClr val="D1EFFF"/>
                </a:solidFill>
              </a:rPr>
              <a:t> representam um instante em </a:t>
            </a:r>
            <a:r>
              <a:rPr lang="en-US" sz="1600" b="1" dirty="0">
                <a:solidFill>
                  <a:srgbClr val="D1EFFF"/>
                </a:solidFill>
              </a:rPr>
              <a:t>UTC</a:t>
            </a:r>
            <a:r>
              <a:rPr lang="en-US" sz="1600" dirty="0">
                <a:solidFill>
                  <a:srgbClr val="D1EFFF"/>
                </a:solidFill>
              </a:rPr>
              <a:t>, com fuso horário explícito.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+ 7</a:t>
            </a:r>
            <a:r>
              <a:rPr lang="en-US" sz="1000" dirty="0">
                <a:solidFill>
                  <a:srgbClr val="D1EFFF"/>
                </a:solidFill>
              </a:rPr>
              <a:t>  aritmética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</a:t>
            </a:r>
            <a:r>
              <a:rPr lang="en-US" sz="1000" dirty="0">
                <a:solidFill>
                  <a:srgbClr val="D1EFFF"/>
                </a:solidFill>
              </a:rPr>
              <a:t>  data e fuso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utclong_add · _diff</a:t>
            </a:r>
            <a:r>
              <a:rPr lang="en-US" sz="1000" dirty="0">
                <a:solidFill>
                  <a:srgbClr val="D1EFFF"/>
                </a:solidFill>
              </a:rPr>
              <a:t>  timestamps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 … UTCLONG</a:t>
            </a:r>
            <a:r>
              <a:rPr lang="en-US" sz="1000" dirty="0">
                <a:solidFill>
                  <a:srgbClr val="D1EFFF"/>
                </a:solidFill>
              </a:rPr>
              <a:t>  fusos horários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TEMPO · ARITMÉTICA E TIMESTAMPS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Calculando com d, t e utclong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794760"/>
          </a:xfrm>
          <a:prstGeom prst="roundRect">
            <a:avLst>
              <a:gd name="adj" fmla="val 192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zcl_04_time.clas.abap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ZS4D401_## › ZCL_04_TIME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get_system_date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next_week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dias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offset e comprimento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utclong_current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utclong_add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utclong_diff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date_user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time_user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date_user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time_user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get_user_time_zone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250" b="1" dirty="0">
                <a:solidFill>
                  <a:srgbClr val="1D2D3E"/>
                </a:solidFill>
              </a:rPr>
              <a:t> e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Viram dias desde 01.01.0001 e segundos desde a meia-noite para calcular.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31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317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134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Offset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today+4(2)</a:t>
            </a:r>
            <a:r>
              <a:rPr lang="en-US" sz="1050" dirty="0">
                <a:solidFill>
                  <a:srgbClr val="556B82"/>
                </a:solidFill>
              </a:rPr>
              <a:t> lê o mês;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today(4)</a:t>
            </a:r>
            <a:r>
              <a:rPr lang="en-US" sz="1050" dirty="0">
                <a:solidFill>
                  <a:srgbClr val="556B82"/>
                </a:solidFill>
              </a:rPr>
              <a:t> o ano;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today+6(2)</a:t>
            </a:r>
            <a:r>
              <a:rPr lang="en-US" sz="1050" dirty="0">
                <a:solidFill>
                  <a:srgbClr val="556B82"/>
                </a:solidFill>
              </a:rPr>
              <a:t> o dia.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5890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589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57073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Instante em UTC com 100 ns de precisão; funções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utclong_*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4462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446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427982"/>
            <a:ext cx="3367735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 UTCLONG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Separa em data e hora locais de um fuso horário, e o inverso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 UTCLONG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55040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Exercício oficial  </a:t>
            </a:r>
            <a:r>
              <a:rPr lang="en-US" sz="1200" dirty="0">
                <a:solidFill>
                  <a:srgbClr val="1D2D3E"/>
                </a:solidFill>
              </a:rPr>
              <a:t>a duração de um voo entre fusos diferentes só fica certa convertendo partida e chegada para UTC antes de subtrair.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464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04.02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Tipos são </a:t>
            </a:r>
            <a:r>
              <a:rPr lang="en-US" sz="1400" b="1" dirty="0">
                <a:solidFill>
                  <a:srgbClr val="FFFFFF"/>
                </a:solidFill>
              </a:rPr>
              <a:t>completos</a:t>
            </a:r>
            <a:r>
              <a:rPr lang="en-US" sz="1400" dirty="0">
                <a:solidFill>
                  <a:srgbClr val="FFFFFF"/>
                </a:solidFill>
              </a:rPr>
              <a:t> ou </a:t>
            </a:r>
            <a:r>
              <a:rPr lang="en-US" sz="1400" b="1" dirty="0">
                <a:solidFill>
                  <a:srgbClr val="FFFFFF"/>
                </a:solidFill>
              </a:rPr>
              <a:t>incompletos</a:t>
            </a:r>
            <a:r>
              <a:rPr lang="en-US" sz="1400" dirty="0">
                <a:solidFill>
                  <a:srgbClr val="FFFFFF"/>
                </a:solidFill>
              </a:rPr>
              <a:t> e se dividem em numéricos, caracteres, bytes e tempo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Use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400" dirty="0">
                <a:solidFill>
                  <a:srgbClr val="FFFFFF"/>
                </a:solidFill>
              </a:rPr>
              <a:t>/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r>
              <a:rPr lang="en-US" sz="1400" dirty="0">
                <a:solidFill>
                  <a:srgbClr val="FFFFFF"/>
                </a:solidFill>
              </a:rPr>
              <a:t> para inteiros,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400" dirty="0">
                <a:solidFill>
                  <a:srgbClr val="FFFFFF"/>
                </a:solidFill>
              </a:rPr>
              <a:t> para decimais exatos,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decfloat34</a:t>
            </a:r>
            <a:r>
              <a:rPr lang="en-US" sz="1400" dirty="0">
                <a:solidFill>
                  <a:srgbClr val="FFFFFF"/>
                </a:solidFill>
              </a:rPr>
              <a:t> para alta precisão; evite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Conversões podem </a:t>
            </a:r>
            <a:r>
              <a:rPr lang="en-US" sz="1400" b="1" dirty="0">
                <a:solidFill>
                  <a:srgbClr val="FFFFFF"/>
                </a:solidFill>
              </a:rPr>
              <a:t>falhar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truncar</a:t>
            </a:r>
            <a:r>
              <a:rPr lang="en-US" sz="1400" dirty="0">
                <a:solidFill>
                  <a:srgbClr val="FFFFFF"/>
                </a:solidFill>
              </a:rPr>
              <a:t> ou </a:t>
            </a:r>
            <a:r>
              <a:rPr lang="en-US" sz="1400" b="1" dirty="0">
                <a:solidFill>
                  <a:srgbClr val="FFFFFF"/>
                </a:solidFill>
              </a:rPr>
              <a:t>arredondar</a:t>
            </a:r>
            <a:r>
              <a:rPr lang="en-US" sz="1400" dirty="0">
                <a:solidFill>
                  <a:srgbClr val="FFFFFF"/>
                </a:solidFill>
              </a:rPr>
              <a:t> sem aviso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Declarações inline herdam o tipo do lado direito: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</a:t>
            </a:r>
            <a:r>
              <a:rPr lang="en-US" sz="1400" dirty="0">
                <a:solidFill>
                  <a:srgbClr val="FFFFFF"/>
                </a:solidFill>
              </a:rPr>
              <a:t> vira 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r>
              <a:rPr lang="en-US" sz="1400" dirty="0">
                <a:solidFill>
                  <a:srgbClr val="FFFFFF"/>
                </a:solidFill>
              </a:rPr>
              <a:t> torna conversões explícitas;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</a:t>
            </a:r>
            <a:r>
              <a:rPr lang="en-US" sz="1400" dirty="0">
                <a:solidFill>
                  <a:srgbClr val="FFFFFF"/>
                </a:solidFill>
              </a:rPr>
              <a:t> recusa qualquer perda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Datas e horas permitem aritmética;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utclong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</a:t>
            </a:r>
            <a:r>
              <a:rPr lang="en-US" sz="1400" dirty="0">
                <a:solidFill>
                  <a:srgbClr val="FFFFFF"/>
                </a:solidFill>
              </a:rPr>
              <a:t> tratam fusos horários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04.03  </a:t>
            </a:r>
            <a:r>
              <a:rPr lang="en-US" sz="1500" dirty="0">
                <a:solidFill>
                  <a:srgbClr val="FFFFFF"/>
                </a:solidFill>
              </a:rPr>
              <a:t>Campos de caracteres: Funções, regex e textos traduzíveis.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04.02 Tipos de dados e conversões corretas</dc:title>
  <dc:subject>ABAP Moderno – Módulo 04: Programação ABAP Intermediária</dc:subject>
  <dc:creator>Adriano Bispo</dc:creator>
  <cp:lastModifiedBy>Adriano Bispo</cp:lastModifiedBy>
  <cp:revision>1</cp:revision>
  <dcterms:created xsi:type="dcterms:W3CDTF">2026-10-29T01:09:06Z</dcterms:created>
  <dcterms:modified xsi:type="dcterms:W3CDTF">2026-10-29T01:09:06Z</dcterms:modified>
</cp:coreProperties>
</file>