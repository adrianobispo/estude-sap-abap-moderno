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02.07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02.07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Definindo Meta Objetos (Metadata Extensions)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Arquitetura limpa e separação de preocupações no SAP RAP.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Z_MONSTER_VIEW.ddls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allowExtensions: true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 view … with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 → #CUSTOMER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15819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Arquitetura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Compreender e aplicar o princípio de ‘Separação de Preocupações’ (lógica de dados vs. lógica de apresentação).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963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Configuração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Habilitar CDS Views para enriquecimento externo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4107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Implementação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Criar arquivos MDE (.ddlx) para centralizar anotações de UI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5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43251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Interface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Dominar propriedades como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500" dirty="0">
                <a:solidFill>
                  <a:srgbClr val="556B82"/>
                </a:solidFill>
              </a:rPr>
              <a:t> 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52395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Hierarquia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Entender o conceito de Layering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#PARTNER</a:t>
            </a:r>
            <a:r>
              <a:rPr lang="en-US" sz="1500" dirty="0">
                <a:solidFill>
                  <a:srgbClr val="556B82"/>
                </a:solidFill>
              </a:rPr>
              <a:t>,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</a:t>
            </a:r>
            <a:r>
              <a:rPr lang="en-US" sz="15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3560674"/>
            <a:ext cx="285293" cy="285293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475074"/>
            <a:ext cx="285293" cy="28529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389474"/>
            <a:ext cx="285293" cy="285293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Perigo do Acoplamento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“CDS View Monstro”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Z_MONSTER_VIEW.ddls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12264"/>
            <a:ext cx="576072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5303520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'Travel'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Z_MONSTER_VIEW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'Travel'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'StatusCriticality'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centenas de linhas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</a:rPr>
              <a:t>Os 3 riscos principais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21488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2130552"/>
            <a:ext cx="4327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Poluição visual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desenvolvedor backend não consegue enxergar a lógica de negócio ou o modelo de dados.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32461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3227832"/>
            <a:ext cx="4327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Rigidez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Anotações ‘chumbadas’ (hardcoded) impedem o reuso da View para diferentes apps (desktop vs. mobile).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43434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4325112"/>
            <a:ext cx="4327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Conflitos de versão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Desenvolvedores de UI e de dados editam o mesmo arquivo simultaneamente.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553212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B82"/>
                </a:solidFill>
              </a:rPr>
              <a:t>Resultado: arquivos com milhares de linhas e manutenção dolorosa.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381" y="2269541"/>
            <a:ext cx="261518" cy="26151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4464101"/>
            <a:ext cx="261518" cy="26151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336682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Metadata Extensions (MDE)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438912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6B82"/>
                </a:solidFill>
              </a:rPr>
              <a:t>Backend / Estrutura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834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CDS View (.ddls)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A ‘Verdade do Dado’.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Contém: SQL, associações, lógica de cálculo.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88175" y="1783080"/>
            <a:ext cx="438912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08215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6B82"/>
                </a:solidFill>
              </a:rPr>
              <a:t>Frontend / Estilo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08215" y="2834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Metadata Extension (.ddlx)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O ‘Estilo do Dado’.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B82"/>
                </a:solidFill>
              </a:rPr>
              <a:t>Contém: anotações @UI, layout, labels.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47208" y="2971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70F2"/>
                </a:solidFill>
              </a:rPr>
              <a:t>+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Assim como o CSS limpa o HTML, o MDE limpa a CDS View.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965960"/>
            <a:ext cx="594360" cy="59436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1965960"/>
            <a:ext cx="594360" cy="59436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Habilitando Extensões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Contrato de Flexibilidade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6B82"/>
                </a:solidFill>
              </a:rPr>
              <a:t>Views são fechadas por padrão. É preciso autorizar o enriquecimento.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59152"/>
            <a:ext cx="106372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#CHECK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'Projection View for Travel'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LINHA MÁGICA: */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D36FF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8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8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4709160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Atenção:</a:t>
            </a:r>
            <a:r>
              <a:rPr lang="en-US" sz="1700" dirty="0">
                <a:solidFill>
                  <a:srgbClr val="1D2D3E"/>
                </a:solidFill>
              </a:rPr>
              <a:t> se o arquivo MDE estiver perfeito, mas o Fiori exibir a tela ‘crua’ (sem formatação), em 90% das vezes o erro é a ausência de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700" dirty="0">
                <a:solidFill>
                  <a:srgbClr val="1D2D3E"/>
                </a:solidFill>
              </a:rPr>
              <a:t>. O framework falha </a:t>
            </a:r>
            <a:r>
              <a:rPr lang="en-US" sz="1700" b="1" dirty="0">
                <a:solidFill>
                  <a:srgbClr val="1D2D3E"/>
                </a:solidFill>
              </a:rPr>
              <a:t>silenciosamente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212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Mão na Massa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Criando o Arquivo MDE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2377440"/>
            <a:ext cx="402336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6596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70F2"/>
                </a:solidFill>
              </a:rPr>
              <a:t>1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01752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Botão direito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No ADT (Eclipse), clique com o botão direito no pacote.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54680" y="196596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70F2"/>
                </a:solidFill>
              </a:rPr>
              <a:t>2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01752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Novo objeto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Selecione </a:t>
            </a:r>
            <a:r>
              <a:rPr lang="en-US" sz="1400" b="1" dirty="0">
                <a:solidFill>
                  <a:srgbClr val="556B82"/>
                </a:solidFill>
              </a:rPr>
              <a:t>Core Data Services &gt; Metadata Extension</a:t>
            </a:r>
            <a:r>
              <a:rPr lang="en-US" sz="14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6360" y="1965960"/>
            <a:ext cx="822960" cy="822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70F2"/>
                </a:solidFill>
              </a:rPr>
              <a:t>3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01752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Nomeie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Dê um nome ao objeto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Z_C_TRAVEL_M</a:t>
            </a:r>
            <a:r>
              <a:rPr lang="en-US" sz="14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1783080"/>
            <a:ext cx="4693615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78040" y="1947672"/>
            <a:ext cx="4236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5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As configurações de campo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aqui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4663440"/>
            <a:ext cx="469361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4663440"/>
            <a:ext cx="3687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 view Z_C_TRAVEL</a:t>
            </a:r>
            <a:r>
              <a:rPr lang="en-US" sz="1500" dirty="0">
                <a:solidFill>
                  <a:srgbClr val="1D2D3E"/>
                </a:solidFill>
              </a:rPr>
              <a:t> é o </a:t>
            </a:r>
            <a:r>
              <a:rPr lang="en-US" sz="1500" b="1" dirty="0">
                <a:solidFill>
                  <a:srgbClr val="1D2D3E"/>
                </a:solidFill>
              </a:rPr>
              <a:t>vínculo</a:t>
            </a:r>
            <a:r>
              <a:rPr lang="en-US" sz="1500" dirty="0">
                <a:solidFill>
                  <a:srgbClr val="1D2D3E"/>
                </a:solidFill>
              </a:rPr>
              <a:t> com a CDS View original.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9240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Estruturando a Página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Header e Facets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'Travel'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#STANDARD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6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'Detalhes da Viagem'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1783080"/>
            <a:ext cx="4967935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0" y="1783080"/>
            <a:ext cx="4967935" cy="91440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1783080"/>
            <a:ext cx="4967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Header Area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2971800"/>
            <a:ext cx="4419295" cy="2377440"/>
          </a:xfrm>
          <a:prstGeom prst="roundRect">
            <a:avLst>
              <a:gd name="adj" fmla="val 3077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306324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Detalhes da Viagem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0" y="361188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41968" y="361188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411480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41968" y="411480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461772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1968" y="4617720"/>
            <a:ext cx="184388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576072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#IDENTIFICATION_REFERENCE</a:t>
            </a:r>
            <a:r>
              <a:rPr lang="en-US" sz="1400" dirty="0">
                <a:solidFill>
                  <a:srgbClr val="1D2D3E"/>
                </a:solidFill>
              </a:rPr>
              <a:t> define o </a:t>
            </a:r>
            <a:r>
              <a:rPr lang="en-US" sz="1400" b="1" dirty="0">
                <a:solidFill>
                  <a:srgbClr val="1D2D3E"/>
                </a:solidFill>
              </a:rPr>
              <a:t>contêiner</a:t>
            </a:r>
            <a:r>
              <a:rPr lang="en-US" sz="1400" dirty="0">
                <a:solidFill>
                  <a:srgbClr val="1D2D3E"/>
                </a:solidFill>
              </a:rPr>
              <a:t> que receberá os campos anotados com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8155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Detalhando Campos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Colunas, Filtros e Cores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TravelID: primeira coluna e primeiro filtro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Status: cor dinâmica (0-3)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'StatusCriticality'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CustomerID: ocultável em mobile */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75320" y="1581912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lineItem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Define a ordem das colunas na tabela.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0" y="2743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75320" y="2724912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selectionField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 o campo na barra de filtros superior.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3867912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importance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300" dirty="0">
                <a:solidFill>
                  <a:srgbClr val="556B82"/>
                </a:solidFill>
              </a:rPr>
              <a:t> (sempre visível) vs.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#MEDIUM</a:t>
            </a:r>
            <a:r>
              <a:rPr lang="en-US" sz="1300" dirty="0">
                <a:solidFill>
                  <a:srgbClr val="556B82"/>
                </a:solidFill>
              </a:rPr>
              <a:t> (oculto em telas pequenas/mobile).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9520" y="5029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5010912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criticality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Renderiza cores de semáforo (verde/amarelo/vermelho) com base no valor do campo apontado.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709928"/>
            <a:ext cx="237744" cy="237744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852928"/>
            <a:ext cx="237744" cy="237744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3995928"/>
            <a:ext cx="237744" cy="23774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513892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Poder das Camadas (Layering)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108960" y="160020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E76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108960" y="16002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#CUSTOMER  </a:t>
            </a:r>
            <a:r>
              <a:rPr lang="en-US" sz="1300" dirty="0">
                <a:solidFill>
                  <a:srgbClr val="FFFFFF"/>
                </a:solidFill>
              </a:rPr>
              <a:t>Cliente final — prioridade máxima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8880" y="2404872"/>
            <a:ext cx="4206240" cy="713232"/>
          </a:xfrm>
          <a:prstGeom prst="roundRect">
            <a:avLst>
              <a:gd name="adj" fmla="val 10256"/>
            </a:avLst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68880" y="24048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#PARTNER  </a:t>
            </a:r>
            <a:r>
              <a:rPr lang="en-US" sz="1300" dirty="0">
                <a:solidFill>
                  <a:srgbClr val="FFFFFF"/>
                </a:solidFill>
              </a:rPr>
              <a:t>Parceiro implementador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209544"/>
            <a:ext cx="5486400" cy="713232"/>
          </a:xfrm>
          <a:prstGeom prst="roundRect">
            <a:avLst>
              <a:gd name="adj" fmla="val 10256"/>
            </a:avLst>
          </a:prstGeom>
          <a:solidFill>
            <a:srgbClr val="1A86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320954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#INDUSTRY  </a:t>
            </a:r>
            <a:r>
              <a:rPr lang="en-US" sz="1300" dirty="0">
                <a:solidFill>
                  <a:srgbClr val="FFFFFF"/>
                </a:solidFill>
              </a:rPr>
              <a:t>Setor industrial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4014216"/>
            <a:ext cx="6766560" cy="713232"/>
          </a:xfrm>
          <a:prstGeom prst="roundRect">
            <a:avLst>
              <a:gd name="adj" fmla="val 10256"/>
            </a:avLst>
          </a:prstGeom>
          <a:solidFill>
            <a:srgbClr val="5AA9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14216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#LOCALIZATION  </a:t>
            </a:r>
            <a:r>
              <a:rPr lang="en-US" sz="1300" dirty="0">
                <a:solidFill>
                  <a:srgbClr val="FFFFFF"/>
                </a:solidFill>
              </a:rPr>
              <a:t>País/região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818888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A9B4B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8188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#CORE  </a:t>
            </a:r>
            <a:r>
              <a:rPr lang="en-US" sz="1300" dirty="0">
                <a:solidFill>
                  <a:srgbClr val="1D2D3E"/>
                </a:solidFill>
              </a:rPr>
              <a:t>Base — SAP/Dev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640080" cy="3931920"/>
          </a:xfrm>
          <a:prstGeom prst="upArrow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29800" y="2971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Prioridade de sobrescrita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66928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56692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sistema faz o ‘merge’ em tempo de execução. </a:t>
            </a:r>
            <a:r>
              <a:rPr lang="en-US" sz="1500" b="1" dirty="0">
                <a:solidFill>
                  <a:srgbClr val="1D2D3E"/>
                </a:solidFill>
              </a:rPr>
              <a:t>A camada superior sempre vence.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69864"/>
            <a:ext cx="347472" cy="347472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Layering na Prática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Quem Vence?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0" cy="1371600"/>
          </a:xfrm>
          <a:prstGeom prst="roundRect">
            <a:avLst>
              <a:gd name="adj" fmla="val 9333"/>
            </a:avLst>
          </a:prstGeom>
          <a:solidFill>
            <a:srgbClr val="EAECEE"/>
          </a:solidFill>
          <a:ln w="19050">
            <a:solidFill>
              <a:srgbClr val="556B8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Camada #CORE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Define AgencyID na </a:t>
            </a:r>
            <a:r>
              <a:rPr lang="en-US" sz="1500" b="1" dirty="0">
                <a:solidFill>
                  <a:srgbClr val="1D2D3E"/>
                </a:solidFill>
              </a:rPr>
              <a:t>position: 20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85455" y="1965960"/>
            <a:ext cx="3657600" cy="1371600"/>
          </a:xfrm>
          <a:prstGeom prst="roundRect">
            <a:avLst>
              <a:gd name="adj" fmla="val 9333"/>
            </a:avLst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85455" y="1965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Camada #PARTNER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Define AgencyID na </a:t>
            </a:r>
            <a:r>
              <a:rPr lang="en-US" sz="1500" b="1" dirty="0">
                <a:solidFill>
                  <a:srgbClr val="1D2D3E"/>
                </a:solidFill>
              </a:rPr>
              <a:t>position: 90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01488" y="2057400"/>
            <a:ext cx="1188720" cy="11887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2468880"/>
            <a:ext cx="1020928" cy="36576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827368" y="2468880"/>
            <a:ext cx="1020928" cy="365760"/>
          </a:xfrm>
          <a:prstGeom prst="lef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5867248" y="3337560"/>
            <a:ext cx="457200" cy="5486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901288" y="3977640"/>
            <a:ext cx="4389120" cy="1280160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01288" y="39776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Resultado na tela (Fiori)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usuário vê AgencyID na </a:t>
            </a:r>
            <a:r>
              <a:rPr lang="en-US" sz="1500" b="1" dirty="0">
                <a:solidFill>
                  <a:srgbClr val="1D2D3E"/>
                </a:solidFill>
              </a:rPr>
              <a:t>position: 90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56B82"/>
                </a:solidFill>
              </a:rPr>
              <a:t>Flexibilidade total sem tocar no código-fonte original (Upgrade Safe).</a:t>
            </a:r>
            <a:endParaRPr lang="en-US" sz="1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233172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Comparativo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Inline vs. Metadata Extension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Inline (.ddls)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Extension (.ddlx)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Localização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Misturada ao SQL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Arquivo separado dedicado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Legibilidade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Baixa (polui a lógica)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Alta (foco em UI)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Flexibilidade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AA0808"/>
                          </a:solidFill>
                        </a:rPr>
                        <a:t>Rígida (exige regeneração)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56F3A"/>
                          </a:solidFill>
                        </a:rPr>
                        <a:t>Flexível (suporta camadas)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Uso recomendado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Anotações semânticas/técnicas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Anotações de UI (</a:t>
                      </a: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</a:t>
                      </a: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Metadata Extension (MDE)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Objeto .ddlx que separa anotações de UI da definição de dados.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Separation of Concerns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Princípio em que o modelo de dados é agnóstico à sua apresentação.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@Metadata.allowExtensions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A ‘chave mestra’ na CDS View que autoriza o enriquecimento externo.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Layer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Propriedade de prioridade (#CORE → #CUSTOMER) que gerencia conflitos de configuração.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D2D3E"/>
                </a:solidFill>
              </a:rPr>
              <a:t>Criticality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Propriedade de UI para renderização dinâmica de status (cores/ícones).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954987"/>
            <a:ext cx="213970" cy="21397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006" y="1954987"/>
            <a:ext cx="213970" cy="21397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378147"/>
            <a:ext cx="213970" cy="21397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584" y="1954987"/>
            <a:ext cx="213970" cy="21397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378147"/>
            <a:ext cx="213970" cy="213970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Pontos de Atenção e Melhores Práticas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2374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Use MDE para </a:t>
            </a:r>
            <a:r>
              <a:rPr lang="en-US" sz="1600" b="1" dirty="0">
                <a:solidFill>
                  <a:srgbClr val="556B82"/>
                </a:solidFill>
              </a:rPr>
              <a:t>todas</a:t>
            </a:r>
            <a:r>
              <a:rPr lang="en-US" sz="1600" dirty="0">
                <a:solidFill>
                  <a:srgbClr val="556B82"/>
                </a:solidFill>
              </a:rPr>
              <a:t> as anotações relacionadas à UI (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@UI.*</a:t>
            </a:r>
            <a:r>
              <a:rPr lang="en-US" sz="1600" dirty="0">
                <a:solidFill>
                  <a:srgbClr val="556B82"/>
                </a:solidFill>
              </a:rPr>
              <a:t>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52374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DON’T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Esquecer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600" dirty="0">
                <a:solidFill>
                  <a:srgbClr val="556B82"/>
                </a:solidFill>
              </a:rPr>
              <a:t> na CDS View (causa tela sem formatação).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94690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Utilize a propriedade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600" dirty="0">
                <a:solidFill>
                  <a:srgbClr val="556B82"/>
                </a:solidFill>
              </a:rPr>
              <a:t> para garantir que campos críticos apareçam em dispositivos móveis.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4946904"/>
            <a:ext cx="48979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INSIGHT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‘Clean Code’ não é apenas lógica eficiente: é organização e responsabilidade única dos arquivos.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740" y="1976933"/>
            <a:ext cx="261518" cy="26151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400093"/>
            <a:ext cx="261518" cy="26151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740" y="4400093"/>
            <a:ext cx="261518" cy="261518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Quiz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0F2"/>
                </a:solidFill>
              </a:rPr>
              <a:t>Q1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8036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que acontece com a UI se o arquivo MDE estiver correto, mas a CDS View não tiver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allowExtensions: true</a:t>
            </a:r>
            <a:r>
              <a:rPr lang="en-US" sz="1700" dirty="0">
                <a:solidFill>
                  <a:srgbClr val="1D2D3E"/>
                </a:solidFill>
              </a:rPr>
              <a:t>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58258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0F2"/>
                </a:solidFill>
              </a:rPr>
              <a:t>Q2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58258" y="288036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Por que o uso de MDE promove o princípio de “Clean Code” no RAP?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874520"/>
            <a:ext cx="3515258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47837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70F2"/>
                </a:solidFill>
              </a:rPr>
              <a:t>Q3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47837" y="2880360"/>
            <a:ext cx="28751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Em um conflito de anotações entre a camada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r>
              <a:rPr lang="en-US" sz="1700" dirty="0">
                <a:solidFill>
                  <a:srgbClr val="1D2D3E"/>
                </a:solidFill>
              </a:rPr>
              <a:t> e a camada 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</a:t>
            </a:r>
            <a:r>
              <a:rPr lang="en-US" sz="1700" dirty="0">
                <a:solidFill>
                  <a:srgbClr val="1D2D3E"/>
                </a:solidFill>
              </a:rPr>
              <a:t>, qual configuração prevalece na tela?</a:t>
            </a:r>
            <a:endParaRPr lang="en-US" sz="1600" dirty="0"/>
          </a:p>
        </p:txBody>
      </p:sp>
      <p:sp>
        <p:nvSpPr>
          <p:cNvPr id="1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Transforme seu Código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Dados no Backend,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DB1FF"/>
                </a:solidFill>
              </a:rPr>
              <a:t>Estilo na Extensão.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3DE"/>
                </a:solidFill>
              </a:rPr>
              <a:t>Revise sua última CDS View e refatore as anotações de UI para um arquivo MDE hoje mesmo.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Definindo Meta Objetos (Metadata Extensions)</dc:title>
  <dc:subject>ABAP Moderno – Módulo 02</dc:subject>
  <dc:creator>Adriano Bispo</dc:creator>
  <cp:lastModifiedBy>Adriano Bispo</cp:lastModifiedBy>
  <cp:revision>1</cp:revision>
  <dcterms:created xsi:type="dcterms:W3CDTF">2026-10-25T15:26:06Z</dcterms:created>
  <dcterms:modified xsi:type="dcterms:W3CDTF">2026-10-25T15:26:06Z</dcterms:modified>
</cp:coreProperties>
</file>