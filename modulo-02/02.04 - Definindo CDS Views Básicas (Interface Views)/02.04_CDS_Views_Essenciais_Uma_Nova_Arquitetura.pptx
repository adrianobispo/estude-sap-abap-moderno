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02.04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Base de Aplicações Modernas: Dominando as CDS Views Essenciais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Para Fiori e APIs OData de alta performance com o ABAP RAP, a fundação é uma só: a CDS View Entity.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travel_uuid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TravelID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Base de Aplicações Modernas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Nova Filosofia de Desenvolvimento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S/4HANA, a modelagem de dados evoluiu. Para construir aplicações Fiori e APIs OData de alta performance com o ABAP RAP, a fundação é uma só: a </a:t>
            </a:r>
            <a:r>
              <a:rPr lang="en-US" sz="1700" b="1" dirty="0">
                <a:solidFill>
                  <a:srgbClr val="1D2D3E"/>
                </a:solidFill>
              </a:rPr>
              <a:t>CDS View Entity</a:t>
            </a:r>
            <a:r>
              <a:rPr lang="en-US" sz="1700" dirty="0">
                <a:solidFill>
                  <a:srgbClr val="1D2D3E"/>
                </a:solidFill>
              </a:rPr>
              <a:t>. Não é apenas uma nova sintaxe — é uma nova filosofia de desenvolvimento.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2529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78040" y="1600200"/>
            <a:ext cx="1706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Fiori Apps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13368" y="1600200"/>
            <a:ext cx="2529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890608" y="1600200"/>
            <a:ext cx="1706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OData APIs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47608" y="2606040"/>
            <a:ext cx="548640" cy="548640"/>
          </a:xfrm>
          <a:prstGeom prst="up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46120"/>
            <a:ext cx="5242255" cy="1097280"/>
          </a:xfrm>
          <a:prstGeom prst="roundRect">
            <a:avLst>
              <a:gd name="adj" fmla="val 11667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3246120"/>
            <a:ext cx="5242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CDS VIEW ENTITY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4480560"/>
            <a:ext cx="5242255" cy="1097280"/>
          </a:xfrm>
          <a:prstGeom prst="roundRect">
            <a:avLst>
              <a:gd name="adj" fmla="val 11667"/>
            </a:avLst>
          </a:prstGeom>
          <a:solidFill>
            <a:srgbClr val="1D2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0" y="448056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HANA Database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47088"/>
            <a:ext cx="420624" cy="420624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968" y="1847088"/>
            <a:ext cx="420624" cy="420624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7548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Mundo Antigo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Débito Técnico do DEFINE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B82"/>
                </a:solidFill>
              </a:rPr>
              <a:t>Por que a abordagem clássica se tornou um obstáculo?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19456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3904488"/>
            <a:ext cx="36576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0" cy="164592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3108960"/>
            <a:ext cx="41148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4754880"/>
            <a:ext cx="41148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2697480"/>
            <a:ext cx="237744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1188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Entidade CDS (Eclipse)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43434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5875">
            <a:solidFill>
              <a:srgbClr val="D20A0A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611880" y="4343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0808"/>
                </a:solidFill>
              </a:rPr>
              <a:t>View DDIC (Legado)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A0808"/>
                </a:solidFill>
              </a:rPr>
              <a:t>Consequências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2697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267919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Duplicidade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Geração de objetos desnecessários na SE11.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37947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06640" y="377647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Lentidão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Ativações mais lentas e complexas.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4892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487375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Limitações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Restrições de namespace (nomes de 16 caracteres) e compatibilidade com regras antigas do Dicionário ABAP.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821" y="2818181"/>
            <a:ext cx="261518" cy="261518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3915461"/>
            <a:ext cx="261518" cy="26151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1" y="501274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Evolução Necessária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DEFINE VIEW ENTITY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partir do ABAP 7.55, e como padrão obrigatório no ABAP Cloud, a solução é nativa, limpa e poderosa.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548640" cy="36576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3063240"/>
            <a:ext cx="2377440" cy="1554480"/>
          </a:xfrm>
          <a:prstGeom prst="roundRect">
            <a:avLst>
              <a:gd name="adj" fmla="val 8235"/>
            </a:avLst>
          </a:prstGeom>
          <a:solidFill>
            <a:srgbClr val="F5FAE5"/>
          </a:solidFill>
          <a:ln w="19050">
            <a:solidFill>
              <a:srgbClr val="3091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Entidade CDS Nativa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Gerenciada pelo kernel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Principais vantagens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2788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277063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Artefato único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Não cria nenhuma view na SE11: a entidade é gerenciada diretamente pelo kernel ABAP e pelo HANA.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3886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386791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Validação estrita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Compilador mais rigoroso, exigindo tipos perfeitos e sem ambiguidades: código mais limpo e seguro.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75120" y="4983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496519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Performance superior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Ativação muito mais rápida e plano de execução otimizado pelo HANA.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3200400"/>
            <a:ext cx="548640" cy="5486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909621"/>
            <a:ext cx="261518" cy="261518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1" y="5104181"/>
            <a:ext cx="261518" cy="261518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400690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Confronto Direto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DEFINE VIEW vs. DEFINE VIEW ENTITY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DEFINE VIEW (legado)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DEFINE VIEW ENTITY (padrão moderno)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Artefato na SE11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AA0808"/>
                          </a:solidFill>
                        </a:rPr>
                        <a:t>Sim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, cria uma View de Banco de Dados.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Nenhum.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Só existe no nível do CDS.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Performance de ativação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AA0808"/>
                          </a:solidFill>
                        </a:rPr>
                        <a:t>Mais lenta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, devido à checagem dupla.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Muito mais rápida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e otimizada.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Validação de sintaxe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Menos rigorosa, tolera ambiguidades.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Estrita.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Garante código mais robusto.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Capacidade de cálculo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Limitada em alguns cenários SQL.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Suporte total a expressões SQL avançadas.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Recomendação de uso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Apenas para manutenção de código legado.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Sempre usar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em S/4HANA e ABAP Cloud.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Anatomia de uma View Moderna e Poderosa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Todo artefato DEFINE VIEW ENTITY segue uma estrutura clara, dividida em três seções principais.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760720" cy="1207008"/>
          </a:xfrm>
          <a:prstGeom prst="roundRect">
            <a:avLst>
              <a:gd name="adj" fmla="val 9091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5349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A. Anotações de Cabeçalho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A ‘configuração’: comportamento, segurança e metadados. Sempre começam com @ (ex.: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300" dirty="0">
                <a:solidFill>
                  <a:srgbClr val="1D2D3E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3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2194560"/>
            <a:ext cx="5150815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20840" y="2359152"/>
            <a:ext cx="46936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Seção A: Anotações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'Viagens'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5760720" cy="1207008"/>
          </a:xfrm>
          <a:prstGeom prst="roundRect">
            <a:avLst>
              <a:gd name="adj" fmla="val 9091"/>
            </a:avLst>
          </a:prstGeom>
          <a:solidFill>
            <a:srgbClr val="F5FA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538728"/>
            <a:ext cx="5349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B. Definição e Fonte de Dados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‘esqueleto’: declara o nome da view e sua tabela de origem.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3538728"/>
            <a:ext cx="5150815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20840" y="3703320"/>
            <a:ext cx="46936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Seção B: Definição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5760720" cy="1207008"/>
          </a:xfrm>
          <a:prstGeom prst="roundRect">
            <a:avLst>
              <a:gd name="adj" fmla="val 9091"/>
            </a:avLst>
          </a:prstGeom>
          <a:solidFill>
            <a:srgbClr val="F1ED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882896"/>
            <a:ext cx="5349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36FF"/>
                </a:solidFill>
              </a:rPr>
              <a:t>C. Lista de Projeção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‘coração’: dentro das chaves { }, selecionamos campos, criamos aliases, fazemos cálculos e definimos associações.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4882896"/>
            <a:ext cx="5150815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20840" y="5047488"/>
            <a:ext cx="46936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Seção C: Lista de Projeção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Mapa do Território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Entendendo o Virtual Data Model (VDM)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No S/4HANA, as views não são criadas aleatoriamente: seguem o VDM, uma arquitetura em camadas que garante reuso e estabilidade.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08960" y="2514600"/>
            <a:ext cx="5943600" cy="1600200"/>
          </a:xfrm>
          <a:prstGeom prst="roundRect">
            <a:avLst>
              <a:gd name="adj" fmla="val 8000"/>
            </a:avLst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83280" y="251460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CONSUMPTION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Prefixo: C_  (ex.: Z_C_Travel_Analytics)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Específicas para uma aplicação ou um cenário de consumo (UI, API). Foco em usabilidade.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4297680"/>
            <a:ext cx="9601200" cy="1600200"/>
          </a:xfrm>
          <a:prstGeom prst="roundRect">
            <a:avLst>
              <a:gd name="adj" fmla="val 8000"/>
            </a:avLst>
          </a:prstGeom>
          <a:solidFill>
            <a:srgbClr val="1D2D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4297680"/>
            <a:ext cx="9052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INTERFACE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Prefixo: I_  (ex.: Z_I_Travel)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base reutilizável. Expõe os dados de negócio de forma estável e agnóstica de UI. </a:t>
            </a:r>
            <a:r>
              <a:rPr lang="en-US" sz="1400" b="1" dirty="0">
                <a:solidFill>
                  <a:srgbClr val="FFFFFF"/>
                </a:solidFill>
              </a:rPr>
              <a:t>Nosso foco hoje.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640080" cy="457200"/>
          </a:xfrm>
          <a:prstGeom prst="rightArrow">
            <a:avLst/>
          </a:prstGeom>
          <a:solidFill>
            <a:srgbClr val="E7650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Nosso Exemplo Prático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a Interface View Z_I_TRAVEL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Objetivo: </a:t>
            </a:r>
            <a:r>
              <a:rPr lang="en-US" sz="1500" dirty="0">
                <a:solidFill>
                  <a:srgbClr val="556B82"/>
                </a:solidFill>
              </a:rPr>
              <a:t>transformar a tabela física zrap_travel em uma interface de negócio limpa, semântica e pronta para consumo.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5895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30552"/>
            <a:ext cx="7132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'Interface View para Viagens'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@Metadata.ignorePropagatedAnnotations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BookingFee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@Semantics.user.createdBy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@Semantics.systemDateTime.createdAt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@Semantics.user.lastChangedBy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LastChangedBy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@Semantics.systemDateTime.lastChangedAt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LastChangedAt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321040" y="1965960"/>
            <a:ext cx="33220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5632" y="22585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85632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965960"/>
            <a:ext cx="2544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Cabeçalho:</a:t>
            </a:r>
            <a:r>
              <a:rPr lang="en-US" sz="1200" dirty="0">
                <a:solidFill>
                  <a:srgbClr val="1D2D3E"/>
                </a:solidFill>
              </a:rPr>
              <a:t> autorização, label e controle de anotações herdadas.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1040" y="3063240"/>
            <a:ext cx="33220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85632" y="33558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85632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063240"/>
            <a:ext cx="2544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Chave:</a:t>
            </a:r>
            <a:r>
              <a:rPr lang="en-US" sz="1200" dirty="0">
                <a:solidFill>
                  <a:srgbClr val="1D2D3E"/>
                </a:solidFill>
              </a:rPr>
              <a:t>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travel_uuid</a:t>
            </a:r>
            <a:r>
              <a:rPr lang="en-US" sz="1200" dirty="0">
                <a:solidFill>
                  <a:srgbClr val="1D2D3E"/>
                </a:solidFill>
              </a:rPr>
              <a:t> identifica unicamente o registro.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4160520"/>
            <a:ext cx="33220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44531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85632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4160520"/>
            <a:ext cx="2544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Aliases em CamelCase</a:t>
            </a:r>
            <a:r>
              <a:rPr lang="en-US" sz="1200" dirty="0">
                <a:solidFill>
                  <a:srgbClr val="1D2D3E"/>
                </a:solidFill>
              </a:rPr>
              <a:t> para todos os campos.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5257800"/>
            <a:ext cx="33220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5632" y="55504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85632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5257800"/>
            <a:ext cx="2544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@Semantics:</a:t>
            </a:r>
            <a:r>
              <a:rPr lang="en-US" sz="1200" dirty="0">
                <a:solidFill>
                  <a:srgbClr val="1D2D3E"/>
                </a:solidFill>
              </a:rPr>
              <a:t> moeda e campos de auditoria automáticos.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Fundamentos da Projeção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Chaves e a Arte do CamelCase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64D9"/>
                </a:solidFill>
              </a:rPr>
              <a:t>A palavra-chave key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81568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2496312"/>
            <a:ext cx="4358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é: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travel_uuid as TravelUUID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Por que é crítico:</a:t>
            </a:r>
            <a:r>
              <a:rPr lang="en-US" sz="1500" dirty="0">
                <a:solidFill>
                  <a:srgbClr val="1D2D3E"/>
                </a:solidFill>
              </a:rPr>
              <a:t> define o identificador único do registro. Sem ele, OData e Fiori Elements não conseguem ler, editar ou navegar em itens individuais. Esquecer 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500" dirty="0">
                <a:solidFill>
                  <a:srgbClr val="1D2D3E"/>
                </a:solidFill>
              </a:rPr>
              <a:t> quebra a aplicação.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64D9"/>
                </a:solidFill>
              </a:rPr>
              <a:t>O poder do alias as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53048" y="2331720"/>
            <a:ext cx="481568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81648" y="2496312"/>
            <a:ext cx="4358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8862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é: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 as TravelID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343400"/>
            <a:ext cx="4815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Por que é estratégico:</a:t>
            </a:r>
            <a:r>
              <a:rPr lang="en-US" sz="1500" dirty="0">
                <a:solidFill>
                  <a:srgbClr val="1D2D3E"/>
                </a:solidFill>
              </a:rPr>
              <a:t> converte nomes técnicos do banco (TRAVEL_ID) para </a:t>
            </a:r>
            <a:r>
              <a:rPr lang="en-US" sz="1500" b="1" dirty="0">
                <a:solidFill>
                  <a:srgbClr val="1D2D3E"/>
                </a:solidFill>
              </a:rPr>
              <a:t>CamelCase</a:t>
            </a:r>
            <a:r>
              <a:rPr lang="en-US" sz="1500" dirty="0">
                <a:solidFill>
                  <a:srgbClr val="1D2D3E"/>
                </a:solidFill>
              </a:rPr>
              <a:t> (TravelID), padrão de UI5, Fiori e APIs REST. Resolvemos a padronização na fonte.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Segredo da Automação (Parte 1)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Semântica na Interface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Anotações que ensinam o sistema sobre o significado dos seus dados.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21992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ela faz:</a:t>
            </a:r>
            <a:r>
              <a:rPr lang="en-US" sz="1500" dirty="0">
                <a:solidFill>
                  <a:srgbClr val="1D2D3E"/>
                </a:solidFill>
              </a:rPr>
              <a:t> vincula um campo de valor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r>
              <a:rPr lang="en-US" sz="1500" dirty="0">
                <a:solidFill>
                  <a:srgbClr val="1D2D3E"/>
                </a:solidFill>
              </a:rPr>
              <a:t>) ao seu campo de moeda correspondente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361188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7373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Sem a anotação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4297680"/>
            <a:ext cx="3108960" cy="429768"/>
          </a:xfrm>
          <a:prstGeom prst="rect">
            <a:avLst/>
          </a:prstGeom>
          <a:solidFill>
            <a:srgbClr val="EEF1F4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4297680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TotalPrice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4727448"/>
            <a:ext cx="31089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4727448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1000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5157216"/>
            <a:ext cx="31089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5157216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1500.50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5586984"/>
            <a:ext cx="31089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74520" y="5586984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200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71055" y="361188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45375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Com a anotação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45375" y="4297680"/>
            <a:ext cx="3108960" cy="429768"/>
          </a:xfrm>
          <a:prstGeom prst="rect">
            <a:avLst/>
          </a:prstGeom>
          <a:solidFill>
            <a:srgbClr val="EEF1F4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82535" y="4297680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TotalPrice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45375" y="4727448"/>
            <a:ext cx="31089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82535" y="4727448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1.000,00 EUR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45375" y="5157216"/>
            <a:ext cx="31089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82535" y="5157216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1.500,50 USD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45375" y="5586984"/>
            <a:ext cx="31089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82535" y="5586984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200 JPY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181448" y="4526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O impacto ‘mágico’ na UI</a:t>
            </a:r>
            <a:endParaRPr lang="en-US" sz="1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3767328"/>
            <a:ext cx="384048" cy="384048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3767328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Segredo da Automação (Parte 2)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Delegando ao Framework 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@Semantics.user.createdBy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@Semantics.systemDateTime.createdAt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O que elas fazem:</a:t>
            </a:r>
            <a:r>
              <a:rPr lang="en-US" sz="1500" dirty="0">
                <a:solidFill>
                  <a:srgbClr val="1D2D3E"/>
                </a:solidFill>
              </a:rPr>
              <a:t> marcam os campos com um significado de negócio específico: ‘Usuário de Criação’ e ‘Data/Hora de Criação’.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Em um cenário RAP Managed,</a:t>
            </a:r>
            <a:r>
              <a:rPr lang="en-US" sz="1500" dirty="0">
                <a:solidFill>
                  <a:srgbClr val="1D2D3E"/>
                </a:solidFill>
              </a:rPr>
              <a:t> o framework identifica essas anotações.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No momento de um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500" dirty="0">
                <a:solidFill>
                  <a:srgbClr val="1D2D3E"/>
                </a:solidFill>
              </a:rPr>
              <a:t>, ele </a:t>
            </a:r>
            <a:r>
              <a:rPr lang="en-US" sz="1500" b="1" dirty="0">
                <a:solidFill>
                  <a:srgbClr val="1D2D3E"/>
                </a:solidFill>
              </a:rPr>
              <a:t>preenche automaticamente</a:t>
            </a:r>
            <a:r>
              <a:rPr lang="en-US" sz="1500" dirty="0">
                <a:solidFill>
                  <a:srgbClr val="1D2D3E"/>
                </a:solidFill>
              </a:rPr>
              <a:t> os campos com o usuário e o timestamp atuais.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Resultado:</a:t>
            </a:r>
            <a:r>
              <a:rPr lang="en-US" sz="1500" dirty="0">
                <a:solidFill>
                  <a:srgbClr val="1D2D3E"/>
                </a:solidFill>
              </a:rPr>
              <a:t> o desenvolvedor não escreve </a:t>
            </a:r>
            <a:r>
              <a:rPr lang="en-US" sz="1500" b="1" dirty="0">
                <a:solidFill>
                  <a:srgbClr val="1D2D3E"/>
                </a:solidFill>
              </a:rPr>
              <a:t>uma única linha de código ABAP</a:t>
            </a:r>
            <a:r>
              <a:rPr lang="en-US" sz="1500" dirty="0">
                <a:solidFill>
                  <a:srgbClr val="1D2D3E"/>
                </a:solidFill>
              </a:rPr>
              <a:t> para a lógica de auditoria.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053535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0" y="1673352"/>
            <a:ext cx="38706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@Semantics na CDS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informa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33408" y="2468880"/>
            <a:ext cx="365760" cy="36576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2880360"/>
            <a:ext cx="4053535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0" y="2953512"/>
            <a:ext cx="38706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Framework RAP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executa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33408" y="3749040"/>
            <a:ext cx="365760" cy="365760"/>
          </a:xfrm>
          <a:prstGeom prst="downArrow">
            <a:avLst/>
          </a:prstGeom>
          <a:solidFill>
            <a:srgbClr val="0070F2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4206240"/>
          <a:ext cx="4053535" cy="914400"/>
        </p:xfrm>
        <a:graphic>
          <a:graphicData uri="http://schemas.openxmlformats.org/drawingml/2006/table">
            <a:tbl>
              <a:tblPr/>
              <a:tblGrid>
                <a:gridCol w="2026768"/>
                <a:gridCol w="202676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CreatedAt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DEV_USER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20231027093045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519008" y="53492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19008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F3A"/>
                </a:solidFill>
              </a:rPr>
              <a:t>Zero código ABAP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Segredo da Performance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Deixando o HANA Fazer o Trabalho Pesado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A0808"/>
                </a:solidFill>
              </a:rPr>
              <a:t>O Paradigma Antigo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1.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r>
              <a:rPr lang="en-US" sz="1500" dirty="0">
                <a:solidFill>
                  <a:srgbClr val="1D2D3E"/>
                </a:solidFill>
              </a:rPr>
              <a:t> da tabela para uma tabela interna.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2.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itab</a:t>
            </a:r>
            <a:r>
              <a:rPr lang="en-US" sz="1500" dirty="0">
                <a:solidFill>
                  <a:srgbClr val="1D2D3E"/>
                </a:solidFill>
              </a:rPr>
              <a:t> no servidor ABAP para cálculos, concatenações ou conversões.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3.</a:t>
            </a:r>
            <a:r>
              <a:rPr lang="en-US" sz="1500" dirty="0">
                <a:solidFill>
                  <a:srgbClr val="1D2D3E"/>
                </a:solidFill>
              </a:rPr>
              <a:t> Ineficiente para grandes volumes de dados.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1391869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4873752"/>
            <a:ext cx="120898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DB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todos os dados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7981" y="518922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2534869" y="4800600"/>
            <a:ext cx="1391869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20A0A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26309" y="4873752"/>
            <a:ext cx="120898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Servidor ABAP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IF / CASE / LOOP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99890" y="518922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46778" y="4800600"/>
            <a:ext cx="1391869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38218" y="4873752"/>
            <a:ext cx="120898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Resultado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F3A"/>
                </a:solidFill>
              </a:rPr>
              <a:t>O Paradigma Moderno (Code Pushdown)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33172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1.</a:t>
            </a:r>
            <a:r>
              <a:rPr lang="en-US" sz="1500" dirty="0">
                <a:solidFill>
                  <a:srgbClr val="1D2D3E"/>
                </a:solidFill>
              </a:rPr>
              <a:t> Cálculos incorporados </a:t>
            </a:r>
            <a:r>
              <a:rPr lang="en-US" sz="1500" b="1" dirty="0">
                <a:solidFill>
                  <a:srgbClr val="1D2D3E"/>
                </a:solidFill>
              </a:rPr>
              <a:t>diretamente na definição da CDS View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2.</a:t>
            </a:r>
            <a:r>
              <a:rPr lang="en-US" sz="1500" dirty="0">
                <a:solidFill>
                  <a:srgbClr val="1D2D3E"/>
                </a:solidFill>
              </a:rPr>
              <a:t> O otimizador do HANA executa essas operações de forma massivamente paralela.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3.</a:t>
            </a:r>
            <a:r>
              <a:rPr lang="en-US" sz="1500" dirty="0">
                <a:solidFill>
                  <a:srgbClr val="1D2D3E"/>
                </a:solidFill>
              </a:rPr>
              <a:t> O servidor ABAP recebe apenas o resultado final.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3048" y="4800600"/>
            <a:ext cx="2247824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44488" y="4873752"/>
            <a:ext cx="20649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DB (HANA)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CASE · CONCAT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74023" y="518922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1" name="Shape 19"/>
          <p:cNvSpPr/>
          <p:nvPr/>
        </p:nvSpPr>
        <p:spPr>
          <a:xfrm>
            <a:off x="9120911" y="4800600"/>
            <a:ext cx="2247824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12351" y="4873752"/>
            <a:ext cx="20649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Resultado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apenas o necessário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Code Pushdown na Prática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SQL Moderno em 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Exemplos de lógica que você pode mover para dentro da sua View.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15258" cy="40690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22402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Lógica Condicional (CASE)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Para categorizar dados na fonte.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3149498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639312"/>
            <a:ext cx="26922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'High Value'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'Medium Value'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'Low Value'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PriceCategory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8218" y="2103120"/>
            <a:ext cx="3515258" cy="40690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6818" y="2286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2618" y="22402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Operações de String e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66818" y="29718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Para transformar dados brutos.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1098" y="3474720"/>
            <a:ext cx="3149498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49698" y="3639312"/>
            <a:ext cx="26922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DurationDays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797" y="2103120"/>
            <a:ext cx="3515258" cy="40690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6397" y="2286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42197" y="22402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Conversão de Tipo (Casting)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56397" y="29718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Para garantir a compatibilidade de tipos.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10677" y="3474720"/>
            <a:ext cx="3149498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39277" y="3639312"/>
            <a:ext cx="26922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PriceAsFloat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417674"/>
            <a:ext cx="285293" cy="285293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492" y="2417674"/>
            <a:ext cx="285293" cy="285293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70" y="241767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Glossário do Desenvolvedor Moderno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CDS View Entity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A evolução da CDS View: entidade gerenciada pelo kernel ABAP, sem artefato na SE11, com performance e validação superiores.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Key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Palavra-chave que define os campos de identificação única. Mandatória para o funcionamento correto de serviços OData.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Alias (as)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Nome alternativo para um campo na projeção, usado para converter nomes técnicos em nomes semânticos (CamelCase).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@Semantics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Família de anotações que descreve o significado de um dado, habilitando automações no RAP e a renderização do Fiori.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CamelCase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Padrão de nomenclatura (ExemploDeNome) essencial para consumo por UIs e APIs modernas.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2584" y="1954987"/>
            <a:ext cx="213970" cy="21397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1954987"/>
            <a:ext cx="213970" cy="21397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006" y="1954987"/>
            <a:ext cx="213970" cy="21397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4378147"/>
            <a:ext cx="213970" cy="21397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06" y="4378147"/>
            <a:ext cx="213970" cy="213970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Princípios da Modelagem de Dados Moderna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SEMPRE </a:t>
            </a:r>
            <a:r>
              <a:rPr lang="en-US" sz="1600" dirty="0">
                <a:solidFill>
                  <a:srgbClr val="1D2D3E"/>
                </a:solidFill>
              </a:rPr>
              <a:t>use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r>
              <a:rPr lang="en-US" sz="1600" dirty="0">
                <a:solidFill>
                  <a:srgbClr val="1D2D3E"/>
                </a:solidFill>
              </a:rPr>
              <a:t>. A abordagem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</a:t>
            </a:r>
            <a:r>
              <a:rPr lang="en-US" sz="1600" dirty="0">
                <a:solidFill>
                  <a:srgbClr val="1D2D3E"/>
                </a:solidFill>
              </a:rPr>
              <a:t> é estritamente para código legado.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49631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96312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PENSE </a:t>
            </a:r>
            <a:r>
              <a:rPr lang="en-US" sz="1600" dirty="0">
                <a:solidFill>
                  <a:srgbClr val="1D2D3E"/>
                </a:solidFill>
              </a:rPr>
              <a:t>em CamelCase. Seus aliases são a API que você expõe ao mundo: faça-a limpa e padronizada.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92424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3924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92424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NUNCA </a:t>
            </a:r>
            <a:r>
              <a:rPr lang="en-US" sz="1600" dirty="0">
                <a:solidFill>
                  <a:srgbClr val="1D2D3E"/>
                </a:solidFill>
              </a:rPr>
              <a:t>se esqueça da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600" dirty="0">
                <a:solidFill>
                  <a:srgbClr val="1D2D3E"/>
                </a:solidFill>
              </a:rPr>
              <a:t>. É a base para que OData e Fiori funcionem corretamente.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428853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88536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DELEGUE </a:t>
            </a:r>
            <a:r>
              <a:rPr lang="en-US" sz="1600" dirty="0">
                <a:solidFill>
                  <a:srgbClr val="1D2D3E"/>
                </a:solidFill>
              </a:rPr>
              <a:t>trabalho com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</a:t>
            </a:r>
            <a:r>
              <a:rPr lang="en-US" sz="1600" dirty="0">
                <a:solidFill>
                  <a:srgbClr val="1D2D3E"/>
                </a:solidFill>
              </a:rPr>
              <a:t>. Deixe o framework cuidar da formatação de UI e da auditoria.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84648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51846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84648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EMPURRE </a:t>
            </a:r>
            <a:r>
              <a:rPr lang="en-US" sz="1600" dirty="0">
                <a:solidFill>
                  <a:srgbClr val="1D2D3E"/>
                </a:solidFill>
              </a:rPr>
              <a:t>a lógica para o HANA. Use cálculos na view para evitar loops ineficientes no ABAP.</a:t>
            </a:r>
            <a:endParaRPr lang="en-US" sz="1600" dirty="0"/>
          </a:p>
        </p:txBody>
      </p:sp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Mais que Sintaxe, Uma Nova Arquitetura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3DE"/>
                </a:solidFill>
              </a:rPr>
              <a:t>Adotar </a:t>
            </a:r>
            <a:r>
              <a:rPr lang="en-US" sz="19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r>
              <a:rPr lang="en-US" sz="1900" dirty="0">
                <a:solidFill>
                  <a:srgbClr val="C9D3DE"/>
                </a:solidFill>
              </a:rPr>
              <a:t> não é apenas aprender um novo comando. É abraçar uma arquitetura mais limpa, integrada e performática, onde o modelo de dados é o </a:t>
            </a:r>
            <a:r>
              <a:rPr lang="en-US" sz="1900" b="1" dirty="0">
                <a:solidFill>
                  <a:srgbClr val="C9D3DE"/>
                </a:solidFill>
              </a:rPr>
              <a:t>coração inteligente da aplicação</a:t>
            </a:r>
            <a:r>
              <a:rPr lang="en-US" sz="1900" dirty="0">
                <a:solidFill>
                  <a:srgbClr val="C9D3D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396A8"/>
                </a:solidFill>
              </a:rPr>
              <a:t>ANTES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66160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Basic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87952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87952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ABAP Server · LOOP AT…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09744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09744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DEFINE VIEW + SE11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431536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431536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HANA DB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31546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DB1FF"/>
                </a:solidFill>
              </a:rPr>
              <a:t>AGORA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78728" y="3566160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3566160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Fiori UI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187952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1608" y="4187952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RAP Framework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4809744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4809744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DEFINE VIEW ENTITY · cálculos, semântica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8728" y="5431536"/>
            <a:ext cx="5364328" cy="512064"/>
          </a:xfrm>
          <a:prstGeom prst="roundRect">
            <a:avLst>
              <a:gd name="adj" fmla="val 1428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1608" y="5431536"/>
            <a:ext cx="499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HANA DB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CDS Views Essenciais: Uma Nova Arquitetura</dc:title>
  <dc:subject>ABAP Moderno – Módulo 02</dc:subject>
  <dc:creator>Adriano Bispo</dc:creator>
  <cp:lastModifiedBy>Adriano Bispo</cp:lastModifiedBy>
  <cp:revision>1</cp:revision>
  <dcterms:created xsi:type="dcterms:W3CDTF">2026-10-25T15:20:17Z</dcterms:created>
  <dcterms:modified xsi:type="dcterms:W3CDTF">2026-10-25T15:20:17Z</dcterms:modified>
</cp:coreProperties>
</file>