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02 — Modelagem de Dados com Dicionário e CDS  ·  Aula 4 de 7 — CDS views básicas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02 — Modelagem de Dados com Dicionário e CDS  ·  Aula 4 de 7 — CDS views básicas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02 · AULA 04 DE 07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Definindo CDS views básicas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A data definition, a lista de elementos, as anotações ABAP mais importantes e a construção de views sobre views.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60674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137469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614263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1" name="Shape 9"/>
          <p:cNvSpPr/>
          <p:nvPr/>
        </p:nvSpPr>
        <p:spPr>
          <a:xfrm>
            <a:off x="10091057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67851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44646" y="4937760"/>
            <a:ext cx="385354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4 de 7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02 — Modelagem de Dados com Dicionário e CDS · Design System SAP Horizon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02 em 7 aulas: Dicionário e CDS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Modelagem no ABAP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Dicionário x CDS, code-to-data e VDM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de banco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TABLE, chaves, tipos e ajustes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Tipos globais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Domínios, data elements, estruturas e table types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CDS views básicas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View entities, anotações e views sobre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646691" y="189280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46691" y="189280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Associações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Chaves estrangeiras, associações e path expressions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Code pushdown em CDS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Expressões, funções, parâmetros e agregações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Meta objetos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DCL, extensões e metadata extensions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desacoplamos o acesso aos dados da tabela de funcionários com uma view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</a:t>
            </a:r>
            <a:r>
              <a:rPr lang="en-US" sz="1200" dirty="0">
                <a:solidFill>
                  <a:srgbClr val="1D2D3E"/>
                </a:solidFill>
              </a:rPr>
              <a:t> e criamos sobre ela uma view de consumo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4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4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4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view nunca guarda dados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56B82"/>
                </a:solidFill>
              </a:rPr>
              <a:t>Uma CDS view lê de uma ou mais </a:t>
            </a:r>
            <a:r>
              <a:rPr lang="en-US" sz="1500" b="1" dirty="0">
                <a:solidFill>
                  <a:srgbClr val="556B82"/>
                </a:solidFill>
              </a:rPr>
              <a:t>fontes de dados</a:t>
            </a:r>
            <a:r>
              <a:rPr lang="en-US" sz="1500" dirty="0">
                <a:solidFill>
                  <a:srgbClr val="556B82"/>
                </a:solidFill>
              </a:rPr>
              <a:t> (tabelas ou outras views) e devolve o resultado com nomes e semântica próprios.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Data definition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 objeto do repositório que contém a view. O template recomendado é </a:t>
            </a:r>
            <a:r>
              <a:rPr lang="en-US" sz="1300" b="1" dirty="0">
                <a:solidFill>
                  <a:srgbClr val="556B82"/>
                </a:solidFill>
              </a:rPr>
              <a:t>Define View Entity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978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4146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4146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Fonte de dados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Depois de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300" dirty="0">
                <a:solidFill>
                  <a:srgbClr val="556B82"/>
                </a:solidFill>
              </a:rPr>
              <a:t>: tabela de banco ou outra CDS view.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Ctrl+Space</a:t>
            </a:r>
            <a:r>
              <a:rPr lang="en-US" sz="1300" dirty="0">
                <a:solidFill>
                  <a:srgbClr val="556B82"/>
                </a:solidFill>
              </a:rPr>
              <a:t> só sugere fontes válidas.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7317" y="3116199"/>
            <a:ext cx="3545738" cy="2134362"/>
          </a:xfrm>
          <a:prstGeom prst="roundRect">
            <a:avLst>
              <a:gd name="adj" fmla="val 4284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98485" y="3317367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98485" y="3920871"/>
            <a:ext cx="3143402" cy="1219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Lista de elementos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Os campos da view entre chaves, com chave, alias e anotações de elemento.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417951"/>
            <a:ext cx="256032" cy="256032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417951"/>
            <a:ext cx="256032" cy="256032"/>
          </a:xfrm>
          <a:prstGeom prst="rect">
            <a:avLst/>
          </a:prstGeom>
        </p:spPr>
      </p:pic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417951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02.04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 primeira view entity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 view lê a tabela de funcionários, renomeia os campos em </a:t>
            </a:r>
            <a:r>
              <a:rPr lang="en-US" sz="1600" i="1" dirty="0">
                <a:solidFill>
                  <a:srgbClr val="D1EFFF"/>
                </a:solidFill>
              </a:rPr>
              <a:t>mixed case</a:t>
            </a:r>
            <a:r>
              <a:rPr lang="en-US" sz="1600" dirty="0">
                <a:solidFill>
                  <a:srgbClr val="D1EFFF"/>
                </a:solidFill>
              </a:rPr>
              <a:t> e define a mesma chave da tabela.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view entity</a:t>
            </a:r>
            <a:r>
              <a:rPr lang="en-US" sz="1000" dirty="0">
                <a:solidFill>
                  <a:srgbClr val="D1EFFF"/>
                </a:solidFill>
              </a:rPr>
              <a:t>  nome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select from</a:t>
            </a:r>
            <a:r>
              <a:rPr lang="en-US" sz="1000" dirty="0">
                <a:solidFill>
                  <a:srgbClr val="D1EFFF"/>
                </a:solidFill>
              </a:rPr>
              <a:t>  fonte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00" dirty="0">
                <a:solidFill>
                  <a:srgbClr val="D1EFFF"/>
                </a:solidFill>
              </a:rPr>
              <a:t>  chave da view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00" dirty="0">
                <a:solidFill>
                  <a:srgbClr val="D1EFFF"/>
                </a:solidFill>
              </a:rPr>
              <a:t>  alias em mixed case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DEFINIÇÃO · VIEW R_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view entity sobre a tabela de funcionários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9748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9748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zs4d430_r_employee.ddls.asddls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ZS4D430_## › Core Data Services › Data Definitions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'Employee (data model)'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ZS4D430_R_Employee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zs4d430_employ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DepartmentId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'CurrencyCode'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annual_salary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AnnualSalary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currency_code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CurrencyCode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Sem o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campo de mandante da tabela não entra na lista de elementos.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Os elementos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556B82"/>
                </a:solidFill>
              </a:rPr>
              <a:t> vêm juntos no início e devem igualar a chave da fonte.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Alias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556B82"/>
                </a:solidFill>
              </a:rPr>
              <a:t> dá nomes em </a:t>
            </a:r>
            <a:r>
              <a:rPr lang="en-US" sz="1050" i="1" dirty="0">
                <a:solidFill>
                  <a:srgbClr val="556B82"/>
                </a:solidFill>
              </a:rPr>
              <a:t>mixed case</a:t>
            </a:r>
            <a:r>
              <a:rPr lang="en-US" sz="1050" dirty="0">
                <a:solidFill>
                  <a:srgbClr val="556B82"/>
                </a:solidFill>
              </a:rPr>
              <a:t>; sem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556B82"/>
                </a:solidFill>
              </a:rPr>
              <a:t>, o nome do campo é mantido.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Atalhos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Ctrl+Space</a:t>
            </a:r>
            <a:r>
              <a:rPr lang="en-US" sz="1050" dirty="0">
                <a:solidFill>
                  <a:srgbClr val="556B82"/>
                </a:solidFill>
              </a:rPr>
              <a:t> → </a:t>
            </a:r>
            <a:r>
              <a:rPr lang="en-US" sz="1050" i="1" dirty="0">
                <a:solidFill>
                  <a:srgbClr val="556B82"/>
                </a:solidFill>
              </a:rPr>
              <a:t>Insert all elements</a:t>
            </a:r>
            <a:r>
              <a:rPr lang="en-US" sz="1050" dirty="0">
                <a:solidFill>
                  <a:srgbClr val="556B82"/>
                </a:solidFill>
              </a:rPr>
              <a:t> preenche tudo;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Ctrl+F1</a:t>
            </a:r>
            <a:r>
              <a:rPr lang="en-US" sz="1050" dirty="0">
                <a:solidFill>
                  <a:srgbClr val="556B82"/>
                </a:solidFill>
              </a:rPr>
              <a:t> formata o DDL.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DEFINIÇÃO · AVISOS DO EDITOR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a verificação de sintaxe cobra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08048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10921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2712720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Sem chave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 chave não é obrigatória, mas a falta dela gera aviso. Defina sempre ao menos um elemento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0148" y="1908048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11316" y="210921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11316" y="2712720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diferente da fonte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Outro aviso: em geral a chave da view deve ser a da fonte (sem o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20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49808" y="42245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4828032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Valores sem moeda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Em view entities,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200" dirty="0">
                <a:solidFill>
                  <a:srgbClr val="556B82"/>
                </a:solidFill>
              </a:rPr>
              <a:t> é </a:t>
            </a:r>
            <a:r>
              <a:rPr lang="en-US" sz="1200" b="1" dirty="0">
                <a:solidFill>
                  <a:srgbClr val="556B82"/>
                </a:solidFill>
              </a:rPr>
              <a:t>obrigatória</a:t>
            </a:r>
            <a:r>
              <a:rPr lang="en-US" sz="1200" dirty="0">
                <a:solidFill>
                  <a:srgbClr val="556B82"/>
                </a:solidFill>
              </a:rPr>
              <a:t> para campos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0148" y="4023360"/>
            <a:ext cx="5432908" cy="1886712"/>
          </a:xfrm>
          <a:prstGeom prst="roundRect">
            <a:avLst>
              <a:gd name="adj" fmla="val 484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11316" y="42245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11316" y="4828032"/>
            <a:ext cx="503057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Quantidades sem unidade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Do mesmo modo,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@Semantics.quantity.unitOfMeasure</a:t>
            </a:r>
            <a:r>
              <a:rPr lang="en-US" sz="1200" dirty="0">
                <a:solidFill>
                  <a:srgbClr val="556B82"/>
                </a:solidFill>
              </a:rPr>
              <a:t> é obrigatória para campos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</a:t>
            </a:r>
            <a:r>
              <a:rPr lang="en-US" sz="12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209800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4325112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900" y="2209800"/>
            <a:ext cx="256032" cy="25603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00" y="432511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02.04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Anotações ABAP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Anotações </a:t>
            </a:r>
            <a:r>
              <a:rPr lang="en-US" sz="1600" b="1" dirty="0">
                <a:solidFill>
                  <a:srgbClr val="D1EFFF"/>
                </a:solidFill>
              </a:rPr>
              <a:t>ABAP</a:t>
            </a:r>
            <a:r>
              <a:rPr lang="en-US" sz="1600" dirty="0">
                <a:solidFill>
                  <a:srgbClr val="D1EFFF"/>
                </a:solidFill>
              </a:rPr>
              <a:t> são avaliadas na ativação e no runtime; anotações </a:t>
            </a:r>
            <a:r>
              <a:rPr lang="en-US" sz="1600" b="1" dirty="0">
                <a:solidFill>
                  <a:srgbClr val="D1EFFF"/>
                </a:solidFill>
              </a:rPr>
              <a:t>de framework</a:t>
            </a:r>
            <a:r>
              <a:rPr lang="en-US" sz="1600" dirty="0">
                <a:solidFill>
                  <a:srgbClr val="D1EFFF"/>
                </a:solidFill>
              </a:rPr>
              <a:t> seguem para OData, UI e Analytics.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00" dirty="0">
                <a:solidFill>
                  <a:srgbClr val="D1EFFF"/>
                </a:solidFill>
              </a:rPr>
              <a:t>  antes do define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Element</a:t>
            </a:r>
            <a:r>
              <a:rPr lang="en-US" sz="1000" dirty="0">
                <a:solidFill>
                  <a:srgbClr val="D1EFFF"/>
                </a:solidFill>
              </a:rPr>
              <a:t>  antes do elemento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</a:t>
            </a:r>
            <a:r>
              <a:rPr lang="en-US" sz="1000" dirty="0">
                <a:solidFill>
                  <a:srgbClr val="D1EFFF"/>
                </a:solidFill>
              </a:rPr>
              <a:t>  antes do parâmetro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… }</a:t>
            </a:r>
            <a:r>
              <a:rPr lang="en-US" sz="1000" dirty="0">
                <a:solidFill>
                  <a:srgbClr val="D1EFFF"/>
                </a:solidFill>
              </a:rPr>
              <a:t>  agrupamento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ANOTAÇÕES · AS MAIS USADAS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Anotações ABAP importantes em view entities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82696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4508373"/>
                <a:gridCol w="631172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Anotação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Efeito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@AccessControl.authorizationCheck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Define a checagem implícita de acesso quando o ABAP SQL lê a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@AbapCatalog.dataMaintenance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Restringe o Data Preview da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@AbapCatalog.viewEnhancementCategory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Como a view pode ser estendida (aula 02.07)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@ObjectModel.usageType.*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Classe de dados, qualidade de serviço e tamanho, para desempenho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@AbapCatalog.entityBuffer.definitionAllowed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Permite ou não o buffer da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354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@Semantics.amount · .quantity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Ligam valores e quantidades à moeda e à unidade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11496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5111496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Escopos  </a:t>
            </a:r>
            <a:r>
              <a:rPr lang="en-US" sz="1200" dirty="0">
                <a:solidFill>
                  <a:srgbClr val="1D2D3E"/>
                </a:solidFill>
              </a:rPr>
              <a:t>anotações de entidade, de elemento, de parâmetro, de extensão e de função; cada uma no seu lugar no código.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239512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ANOTAÇÕES · SINTAXE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Anotações planas ou agrupadas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Uma por linha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783080"/>
          </a:xfrm>
          <a:prstGeom prst="roundRect">
            <a:avLst>
              <a:gd name="adj" fmla="val 410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plana.ddls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@ObjectModel.usageType.serviceQuality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@ObjectModel.usageType.sizeCategory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@ObjectModel.usageType.dataClass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#MASTER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931920"/>
            <a:ext cx="54100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linha repete o caminho completo da anotação.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08996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0899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Agrupadas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783080"/>
          </a:xfrm>
          <a:prstGeom prst="roundRect">
            <a:avLst>
              <a:gd name="adj" fmla="val 4103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37617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37617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1932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agrupada.ddls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@ObjectModel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serviceQuality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sizeCategory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#MASTER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931920"/>
            <a:ext cx="54100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Chaves agrupam anotações da mesma categoria. O ADT pode inserir neste formato por padrão (</a:t>
            </a:r>
            <a:r>
              <a:rPr lang="en-US" sz="1200" i="1" dirty="0">
                <a:solidFill>
                  <a:srgbClr val="556B82"/>
                </a:solidFill>
              </a:rPr>
              <a:t>Preferences → CDS → Code Completion</a:t>
            </a:r>
            <a:r>
              <a:rPr lang="en-US" sz="1200" dirty="0">
                <a:solidFill>
                  <a:srgbClr val="556B82"/>
                </a:solidFill>
              </a:rPr>
              <a:t>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02.04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Views sobre views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Uma view pode ler de outra. Isso permite </a:t>
            </a:r>
            <a:r>
              <a:rPr lang="en-US" sz="1600" b="1" dirty="0">
                <a:solidFill>
                  <a:srgbClr val="D1EFFF"/>
                </a:solidFill>
              </a:rPr>
              <a:t>reuso</a:t>
            </a:r>
            <a:r>
              <a:rPr lang="en-US" sz="1600" dirty="0">
                <a:solidFill>
                  <a:srgbClr val="D1EFFF"/>
                </a:solidFill>
              </a:rPr>
              <a:t>, contorna limites de aninhamento de expressões e organiza o modelo em </a:t>
            </a:r>
            <a:r>
              <a:rPr lang="en-US" sz="1600" b="1" dirty="0">
                <a:solidFill>
                  <a:srgbClr val="D1EFFF"/>
                </a:solidFill>
              </a:rPr>
              <a:t>camadas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 → C_</a:t>
            </a:r>
            <a:r>
              <a:rPr lang="en-US" sz="1000" dirty="0">
                <a:solidFill>
                  <a:srgbClr val="D1EFFF"/>
                </a:solidFill>
              </a:rPr>
              <a:t>  modelo e consumo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Propagação</a:t>
            </a:r>
            <a:r>
              <a:rPr lang="en-US" sz="1000" dirty="0">
                <a:solidFill>
                  <a:srgbClr val="D1EFFF"/>
                </a:solidFill>
              </a:rPr>
              <a:t>  anotações de elemento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ignorePropagatedAnnotations</a:t>
            </a:r>
            <a:r>
              <a:rPr lang="en-US" sz="1000" dirty="0">
                <a:solidFill>
                  <a:srgbClr val="D1EFFF"/>
                </a:solidFill>
              </a:rPr>
              <a:t>  controle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Active Annotations</a:t>
            </a:r>
            <a:r>
              <a:rPr lang="en-US" sz="1000" dirty="0">
                <a:solidFill>
                  <a:srgbClr val="D1EFFF"/>
                </a:solidFill>
              </a:rPr>
              <a:t>  view do ADT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CAMADAS · VIEW C_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Uma view de consumo sobre a view de modelo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9748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9748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zs4d430_c_employee.ddls.asddls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ZS4D430_## › Core Data Services › Data Definitions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@AccessControl.authorizationCheck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#NOT_REQUIRED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'Employee (consumption)'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@Metadata.ignorePropagatedAnnotations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ZS4D430_C_Employee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ZS4D430_R_Employee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'CurrencyCode'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AnnualSalary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CurrencyCode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Fonte é uma view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ZS4D430_R_Employee</a:t>
            </a:r>
            <a:r>
              <a:rPr lang="en-US" sz="1050" dirty="0">
                <a:solidFill>
                  <a:srgbClr val="556B82"/>
                </a:solidFill>
              </a:rPr>
              <a:t>: a lógica da view de modelo é reutilizada.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Propagação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Por padrão, anotações de </a:t>
            </a:r>
            <a:r>
              <a:rPr lang="en-US" sz="1050" b="1" dirty="0">
                <a:solidFill>
                  <a:srgbClr val="556B82"/>
                </a:solidFill>
              </a:rPr>
              <a:t>elemento</a:t>
            </a:r>
            <a:r>
              <a:rPr lang="en-US" sz="1050" dirty="0">
                <a:solidFill>
                  <a:srgbClr val="556B82"/>
                </a:solidFill>
              </a:rPr>
              <a:t> da fonte são herdadas.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ignorePropagated…: true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Desliga a herança; aqui, a anotação de moeda volta a ser obrigatória.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Entidade não propaga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Anotações de entidade nunca são herdadas.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CAMADAS · POR QUE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Três motivos para views sobre views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Reuso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Como métodos em classes: evita redundância e facilita análise de erros e manutenção.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Limites técnicos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Há limites para aninhar expressões e funções SQL na mesma view; uma view intermediária resolve.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Modelo e consumo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No RAP, views de modelo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R_</a:t>
            </a:r>
            <a:r>
              <a:rPr lang="en-US" sz="1300" dirty="0">
                <a:solidFill>
                  <a:srgbClr val="556B82"/>
                </a:solidFill>
              </a:rPr>
              <a:t>) guardam a lógica geral; views de consumo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</a:t>
            </a:r>
            <a:r>
              <a:rPr lang="en-US" sz="1300" dirty="0">
                <a:solidFill>
                  <a:srgbClr val="556B82"/>
                </a:solidFill>
              </a:rPr>
              <a:t>) a lógica e os metadados de cada uso.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915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8915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ADT  </a:t>
            </a:r>
            <a:r>
              <a:rPr lang="en-US" sz="1200" dirty="0">
                <a:solidFill>
                  <a:srgbClr val="1D2D3E"/>
                </a:solidFill>
              </a:rPr>
              <a:t>a view </a:t>
            </a:r>
            <a:r>
              <a:rPr lang="en-US" sz="1200" b="1" dirty="0">
                <a:solidFill>
                  <a:srgbClr val="1D2D3E"/>
                </a:solidFill>
              </a:rPr>
              <a:t>Active Annotations</a:t>
            </a:r>
            <a:r>
              <a:rPr lang="en-US" sz="1200" dirty="0">
                <a:solidFill>
                  <a:srgbClr val="1D2D3E"/>
                </a:solidFill>
              </a:rPr>
              <a:t> mostra quais anotações valem para cada elemento, inclusive as herdadas.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6141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9069" y="266141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730" y="2661412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1954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02.04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Uma </a:t>
            </a:r>
            <a:r>
              <a:rPr lang="en-US" sz="1400" b="1" dirty="0">
                <a:solidFill>
                  <a:srgbClr val="FFFFFF"/>
                </a:solidFill>
              </a:rPr>
              <a:t>data definition</a:t>
            </a:r>
            <a:r>
              <a:rPr lang="en-US" sz="1400" dirty="0">
                <a:solidFill>
                  <a:srgbClr val="FFFFFF"/>
                </a:solidFill>
              </a:rPr>
              <a:t> guarda a view; o template recomendado é </a:t>
            </a:r>
            <a:r>
              <a:rPr lang="en-US" sz="1400" i="1" dirty="0">
                <a:solidFill>
                  <a:srgbClr val="FFFFFF"/>
                </a:solidFill>
              </a:rPr>
              <a:t>Define View Entity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view lê de tabelas ou views e define </a:t>
            </a:r>
            <a:r>
              <a:rPr lang="en-US" sz="1400" b="1" dirty="0">
                <a:solidFill>
                  <a:srgbClr val="FFFFFF"/>
                </a:solidFill>
              </a:rPr>
              <a:t>chave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b="1" dirty="0">
                <a:solidFill>
                  <a:srgbClr val="FFFFFF"/>
                </a:solidFill>
              </a:rPr>
              <a:t>alias</a:t>
            </a:r>
            <a:r>
              <a:rPr lang="en-US" sz="1400" dirty="0">
                <a:solidFill>
                  <a:srgbClr val="FFFFFF"/>
                </a:solidFill>
              </a:rPr>
              <a:t> para cada elemento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1400" dirty="0">
                <a:solidFill>
                  <a:srgbClr val="FFFFFF"/>
                </a:solidFill>
              </a:rPr>
              <a:t> fica de fora; a chave da view deve igualar a da fonte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Anotações </a:t>
            </a:r>
            <a:r>
              <a:rPr lang="en-US" sz="1400" b="1" dirty="0">
                <a:solidFill>
                  <a:srgbClr val="FFFFFF"/>
                </a:solidFill>
              </a:rPr>
              <a:t>ABAP</a:t>
            </a:r>
            <a:r>
              <a:rPr lang="en-US" sz="1400" dirty="0">
                <a:solidFill>
                  <a:srgbClr val="FFFFFF"/>
                </a:solidFill>
              </a:rPr>
              <a:t> agem na ativação e no runtime; as de </a:t>
            </a:r>
            <a:r>
              <a:rPr lang="en-US" sz="1400" b="1" dirty="0">
                <a:solidFill>
                  <a:srgbClr val="FFFFFF"/>
                </a:solidFill>
              </a:rPr>
              <a:t>framework</a:t>
            </a:r>
            <a:r>
              <a:rPr lang="en-US" sz="1400" dirty="0">
                <a:solidFill>
                  <a:srgbClr val="FFFFFF"/>
                </a:solidFill>
              </a:rPr>
              <a:t> vão para os consumidores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Valores e quantidades exigem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@Semantics.quantity</a:t>
            </a:r>
            <a:r>
              <a:rPr lang="en-US" sz="1400" dirty="0">
                <a:solidFill>
                  <a:srgbClr val="FFFFFF"/>
                </a:solidFill>
              </a:rPr>
              <a:t> em view entities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Views sobre views organizam o modelo em </a:t>
            </a:r>
            <a:r>
              <a:rPr lang="en-US" sz="1400" b="1" dirty="0">
                <a:solidFill>
                  <a:srgbClr val="FFFFFF"/>
                </a:solidFill>
              </a:rPr>
              <a:t>camadas</a:t>
            </a:r>
            <a:r>
              <a:rPr lang="en-US" sz="1400" dirty="0">
                <a:solidFill>
                  <a:srgbClr val="FFFFFF"/>
                </a:solidFill>
              </a:rPr>
              <a:t>, com propagação de anotações de elemento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02.05  </a:t>
            </a:r>
            <a:r>
              <a:rPr lang="en-US" sz="1500" dirty="0">
                <a:solidFill>
                  <a:srgbClr val="FFFFFF"/>
                </a:solidFill>
              </a:rPr>
              <a:t>Associações: Chaves estrangeiras, associações e path expressions.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02.04 Definindo CDS views básicas</dc:title>
  <dc:subject>ABAP Moderno – Módulo 02: Modelagem de Dados com Dicionário e CDS</dc:subject>
  <dc:creator>Adriano Bispo</dc:creator>
  <cp:lastModifiedBy>Adriano Bispo</cp:lastModifiedBy>
  <cp:revision>1</cp:revision>
  <dcterms:created xsi:type="dcterms:W3CDTF">2026-10-29T01:03:20Z</dcterms:created>
  <dcterms:modified xsi:type="dcterms:W3CDTF">2026-10-29T01:03:20Z</dcterms:modified>
</cp:coreProperties>
</file>