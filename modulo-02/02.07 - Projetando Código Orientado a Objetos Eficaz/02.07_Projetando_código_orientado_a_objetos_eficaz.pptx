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Programação ABAP Intermediária  ·  Aula 7 de 9 — OO eficaz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Programação ABAP Intermediária  ·  Aula 7 de 9 — OO eficaz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07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Projetando código orientado a objetos eficaz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Herança e polimorfismo, interfaces como contratos, casting e factory methods que controlam a criação de objetos.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7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44179" y="390448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444179" y="390448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9" name="Text 47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modelamos formas de pagamento com herança, vemos como a interface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ZIF_PC_VIACEP</a:t>
            </a:r>
            <a:r>
              <a:rPr lang="en-US" sz="1200" dirty="0">
                <a:solidFill>
                  <a:srgbClr val="1D2D3E"/>
                </a:solidFill>
              </a:rPr>
              <a:t> aceita duas implementações da consulta de CEP e centralizamos a criação de itens com um factory method.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Herança ou interface?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000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Herança: "é um"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 pagamento no crédito </a:t>
            </a:r>
            <a:r>
              <a:rPr lang="en-US" sz="1350" b="1" dirty="0">
                <a:solidFill>
                  <a:srgbClr val="1D2D3E"/>
                </a:solidFill>
              </a:rPr>
              <a:t>é um</a:t>
            </a:r>
            <a:r>
              <a:rPr lang="en-US" sz="1350" dirty="0">
                <a:solidFill>
                  <a:srgbClr val="1D2D3E"/>
                </a:solidFill>
              </a:rPr>
              <a:t> pagamento: herda atributos e métodos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Uma única superclasse direta por subclasse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Subclasses podem </a:t>
            </a:r>
            <a:r>
              <a:rPr lang="en-US" sz="1350" b="1" dirty="0">
                <a:solidFill>
                  <a:srgbClr val="1D2D3E"/>
                </a:solidFill>
              </a:rPr>
              <a:t>redefinir</a:t>
            </a:r>
            <a:r>
              <a:rPr lang="en-US" sz="1350" dirty="0">
                <a:solidFill>
                  <a:srgbClr val="1D2D3E"/>
                </a:solidFill>
              </a:rPr>
              <a:t> métodos herdados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31000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Interface: "sabe fazer"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 consulta de CEP do BTP e a do On-Premise não têm relação, mas ambas </a:t>
            </a:r>
            <a:r>
              <a:rPr lang="en-US" sz="1350" b="1" dirty="0">
                <a:solidFill>
                  <a:srgbClr val="1D2D3E"/>
                </a:solidFill>
              </a:rPr>
              <a:t>cumprem o contrato</a:t>
            </a:r>
            <a:r>
              <a:rPr lang="en-US" sz="1350" dirty="0">
                <a:solidFill>
                  <a:srgbClr val="1D2D3E"/>
                </a:solidFill>
              </a:rPr>
              <a:t>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ZIF_PC_VIACEP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Uma classe implementa quantas interfaces precisar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o contrato: sem implementação, sem instâncias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41189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41189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Teste do "é um"  </a:t>
            </a:r>
            <a:r>
              <a:rPr lang="en-US" sz="1200" dirty="0">
                <a:solidFill>
                  <a:srgbClr val="1D2D3E"/>
                </a:solidFill>
              </a:rPr>
              <a:t>se a frase "a subclasse é uma superclasse" soa estranha, a herança está errada e vai causar problemas.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69205"/>
            <a:ext cx="310896" cy="31089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684907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68490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02.07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Herança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subclasse herda </a:t>
            </a:r>
            <a:r>
              <a:rPr lang="en-US" sz="1600" b="1" dirty="0">
                <a:solidFill>
                  <a:srgbClr val="D1EFFF"/>
                </a:solidFill>
              </a:rPr>
              <a:t>todos os componentes</a:t>
            </a:r>
            <a:r>
              <a:rPr lang="en-US" sz="1600" dirty="0">
                <a:solidFill>
                  <a:srgbClr val="D1EFFF"/>
                </a:solidFill>
              </a:rPr>
              <a:t> da superclasse e pode acrescentar novos ou </a:t>
            </a:r>
            <a:r>
              <a:rPr lang="en-US" sz="1600" b="1" dirty="0">
                <a:solidFill>
                  <a:srgbClr val="D1EFFF"/>
                </a:solidFill>
              </a:rPr>
              <a:t>redefinir</a:t>
            </a:r>
            <a:r>
              <a:rPr lang="en-US" sz="1600" dirty="0">
                <a:solidFill>
                  <a:srgbClr val="D1EFFF"/>
                </a:solidFill>
              </a:rPr>
              <a:t> métodos herdados.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INHERITING FROM</a:t>
            </a:r>
            <a:r>
              <a:rPr lang="en-US" sz="1000" dirty="0">
                <a:solidFill>
                  <a:srgbClr val="D1EFFF"/>
                </a:solidFill>
              </a:rPr>
              <a:t>  relação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000" dirty="0">
                <a:solidFill>
                  <a:srgbClr val="D1EFFF"/>
                </a:solidFill>
              </a:rPr>
              <a:t>  visível às subclasses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REDEFINITION</a:t>
            </a:r>
            <a:r>
              <a:rPr lang="en-US" sz="1000" dirty="0">
                <a:solidFill>
                  <a:srgbClr val="D1EFFF"/>
                </a:solidFill>
              </a:rPr>
              <a:t>  nova implementação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super-&gt;</a:t>
            </a:r>
            <a:r>
              <a:rPr lang="en-US" sz="1000" dirty="0">
                <a:solidFill>
                  <a:srgbClr val="D1EFFF"/>
                </a:solidFill>
              </a:rPr>
              <a:t>  chama a original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HERANÇA · DEFINIR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superclasse e uma subclasse que redefine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63016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63016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zcl_pc_pagamento_demo.clas.locals_imp.abap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inspirado no pagamento simulado (ZCL_PC_PAGAMENTO_SIM)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8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lcl_pagamento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i_bandeira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i_ultimos4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get_resumo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r_result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string_table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bandeira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ultimos4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lcl_pagamento_credito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INHERITING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lcl_pagamento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i_bandeira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i_ultimos4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i_parcelas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get_resumo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REDEFINITION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parcelas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lcl_pagamento_credito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super-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i_bandeira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i_bandeira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i_ultimos4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i_ultimos4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parcelas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i_parcelas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get_resumo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r_result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super-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get_resumo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|Crédito em { parcelas }x|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r_result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INHERITING FROM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subclasse conhece a superclasse; a superclasse não conhece as subclasses.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Visível para a classe e as subclasses; atributos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556B82"/>
                </a:solidFill>
              </a:rPr>
              <a:t> não são acessíveis a elas.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Construtor da subclasse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Deve chamar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super-&gt;constructor( )</a:t>
            </a:r>
            <a:r>
              <a:rPr lang="en-US" sz="1050" dirty="0">
                <a:solidFill>
                  <a:srgbClr val="556B82"/>
                </a:solidFill>
              </a:rPr>
              <a:t> antes de usar componentes herdados.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REDEFINITION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Nova implementação;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super-&gt;</a:t>
            </a:r>
            <a:r>
              <a:rPr lang="en-US" sz="1050" dirty="0">
                <a:solidFill>
                  <a:srgbClr val="556B82"/>
                </a:solidFill>
              </a:rPr>
              <a:t> reaproveita a original.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HERANÇA · POLIMORFISMO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referência da superclasse, várias implementações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77520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77520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zcl_pc_pagamento_demo.clas.abap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·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lcl_pagamento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lcl_pagamento_debito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i_bandeira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'VISA'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i_ultimos4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'1111'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up-cast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lcl_pagamento_credito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i_bandeira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'MASTERCARD'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i_ultimos4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'4444'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i_parcelas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up-cast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get_resumo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chama a redefinição certa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lcl_pagamento_credito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lcl_pagamento_credito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down-cast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Up-cast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referência da superclasse guarda objetos de qualquer subclasse; sempre seguro.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Polimorfismo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 tempo de execução, roda a implementação da classe real do objeto.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Visão restrita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Pela referência da superclasse só se vê o que a superclasse define.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Down-cast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050" dirty="0">
                <a:solidFill>
                  <a:srgbClr val="556B82"/>
                </a:solidFill>
              </a:rPr>
              <a:t> volta ao tipo específico; teste antes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INSTANCE OF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02.07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Interfaces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</a:t>
            </a:r>
            <a:r>
              <a:rPr lang="en-US" sz="1600" b="1" dirty="0">
                <a:solidFill>
                  <a:srgbClr val="D1EFFF"/>
                </a:solidFill>
              </a:rPr>
              <a:t>interface</a:t>
            </a:r>
            <a:r>
              <a:rPr lang="en-US" sz="1600" dirty="0">
                <a:solidFill>
                  <a:srgbClr val="D1EFFF"/>
                </a:solidFill>
              </a:rPr>
              <a:t> define métodos, tipos e constantes </a:t>
            </a:r>
            <a:r>
              <a:rPr lang="en-US" sz="1600" b="1" dirty="0">
                <a:solidFill>
                  <a:srgbClr val="D1EFFF"/>
                </a:solidFill>
              </a:rPr>
              <a:t>sem implementação</a:t>
            </a:r>
            <a:r>
              <a:rPr lang="en-US" sz="1600" dirty="0">
                <a:solidFill>
                  <a:srgbClr val="D1EFFF"/>
                </a:solidFill>
              </a:rPr>
              <a:t>. Cada classe que a implementa cumpre o contrato do seu jeito.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… ENDINTERFACE</a:t>
            </a:r>
            <a:r>
              <a:rPr lang="en-US" sz="1000" dirty="0">
                <a:solidFill>
                  <a:srgbClr val="D1EFFF"/>
                </a:solidFill>
              </a:rPr>
              <a:t>  contrato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r>
              <a:rPr lang="en-US" sz="1000" dirty="0">
                <a:solidFill>
                  <a:srgbClr val="D1EFFF"/>
                </a:solidFill>
              </a:rPr>
              <a:t>  na classe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intf~method</a:t>
            </a:r>
            <a:r>
              <a:rPr lang="en-US" sz="1000" dirty="0">
                <a:solidFill>
                  <a:srgbClr val="D1EFFF"/>
                </a:solidFill>
              </a:rPr>
              <a:t>  nome completo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ALIASES</a:t>
            </a:r>
            <a:r>
              <a:rPr lang="en-US" sz="1000" dirty="0">
                <a:solidFill>
                  <a:srgbClr val="D1EFFF"/>
                </a:solidFill>
              </a:rPr>
              <a:t>  nome curto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INTERFACES · CONTRATO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contrato da consulta de CEP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zif_pc_viacep.intf.abap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ZAVBS_PC_COMMON › ZIF_PC_VIACEP e ZCL_PC_VIACEP (simplificadas)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zif_pc_viacep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ty_resultado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valido, indisponivel, endereco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CLASS-METHODS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iv_cep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csequence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rs_resultado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ty_resultado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ENDINTERFACE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zcl_pc_viacep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zif_pc_viacep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ALIASES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zif_pc_viacep~consultar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BTP: HTTP pela URL; On-Premise: destination da SM59.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Quem chama não muda: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ls_cep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zcl_pc_viacep=&gt;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'01310100'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Sem seções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Tudo em uma interface é público; ela não tem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classe passa a ter os componentes e deve implementar os métodos.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zif_pc_viacep~…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Nome completo do método na classe;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ALIASES</a:t>
            </a:r>
            <a:r>
              <a:rPr lang="en-US" sz="1050" dirty="0">
                <a:solidFill>
                  <a:srgbClr val="556B82"/>
                </a:solidFill>
              </a:rPr>
              <a:t> cria o atalho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Duas implementações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pasta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ZCL_PC_VIACEP_T2</a:t>
            </a:r>
            <a:r>
              <a:rPr lang="en-US" sz="1050" dirty="0">
                <a:solidFill>
                  <a:srgbClr val="556B82"/>
                </a:solidFill>
              </a:rPr>
              <a:t> traz a versão On-Premise com o mesmo contrato.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INTERFACES · PARA QUE SERVEM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Dois usos importantes das interfaces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543290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503057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Tratamento uniforme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Classes sem relação de herança oferecem o mesmo serviço com a mesma assinatura. O consumidor chama todas do mesmo jeito.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2466975"/>
            <a:ext cx="543290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3271647"/>
            <a:ext cx="503057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Visão simplificada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Uma interface expõe só parte de uma classe complexa: o consumidor vê apenas o que precisa.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ABAP Cloud  </a:t>
            </a:r>
            <a:r>
              <a:rPr lang="en-US" sz="1200" dirty="0">
                <a:solidFill>
                  <a:srgbClr val="1D2D3E"/>
                </a:solidFill>
              </a:rPr>
              <a:t>interfaces liberadas,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200" dirty="0">
                <a:solidFill>
                  <a:srgbClr val="1D2D3E"/>
                </a:solidFill>
              </a:rPr>
              <a:t>, são contratos estáveis da SAP que suas classes implementam.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2768727"/>
            <a:ext cx="256032" cy="256032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02.07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Factory methods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Com </a:t>
            </a:r>
            <a:r>
              <a:rPr lang="en-US" sz="1600" b="1" dirty="0">
                <a:solidFill>
                  <a:srgbClr val="D1EFFF"/>
                </a:solidFill>
              </a:rPr>
              <a:t>CREATE PRIVATE</a:t>
            </a:r>
            <a:r>
              <a:rPr lang="en-US" sz="1600" dirty="0">
                <a:solidFill>
                  <a:srgbClr val="D1EFFF"/>
                </a:solidFill>
              </a:rPr>
              <a:t>, ninguém de fora usa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600" dirty="0">
                <a:solidFill>
                  <a:srgbClr val="D1EFFF"/>
                </a:solidFill>
              </a:rPr>
              <a:t>: um </a:t>
            </a:r>
            <a:r>
              <a:rPr lang="en-US" sz="1600" b="1" dirty="0">
                <a:solidFill>
                  <a:srgbClr val="D1EFFF"/>
                </a:solidFill>
              </a:rPr>
              <a:t>método estático</a:t>
            </a:r>
            <a:r>
              <a:rPr lang="en-US" sz="1600" dirty="0">
                <a:solidFill>
                  <a:srgbClr val="D1EFFF"/>
                </a:solidFill>
              </a:rPr>
              <a:t> cria, valida e devolve as instâncias.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PRIVATE</a:t>
            </a:r>
            <a:r>
              <a:rPr lang="en-US" sz="1000" dirty="0">
                <a:solidFill>
                  <a:srgbClr val="D1EFFF"/>
                </a:solidFill>
              </a:rPr>
              <a:t>  bloqueia NEW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CLASS-METHODS</a:t>
            </a:r>
            <a:r>
              <a:rPr lang="en-US" sz="1000" dirty="0">
                <a:solidFill>
                  <a:srgbClr val="D1EFFF"/>
                </a:solidFill>
              </a:rPr>
              <a:t>  factory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 REF TO</a:t>
            </a:r>
            <a:r>
              <a:rPr lang="en-US" sz="1000" dirty="0">
                <a:solidFill>
                  <a:srgbClr val="D1EFFF"/>
                </a:solidFill>
              </a:rPr>
              <a:t>  a instância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r>
              <a:rPr lang="en-US" sz="1000" dirty="0">
                <a:solidFill>
                  <a:srgbClr val="D1EFFF"/>
                </a:solidFill>
              </a:rPr>
              <a:t>  reaproveitar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FACTORY · INSTÂNCIAS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classe controla as próprias instâncias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4747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4747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zcl_pc_estoque_demo.clas.locals_imp.abap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ZR_PC_ITEM › Local Types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CLASS-METHODS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get_item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i_sku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zta_pc_item-sku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CLASS-DATA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zta_pc_item-sku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zta_pc_item-nome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table_line-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i_sku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r_item-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i_sku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i_sku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r_item-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PRIVATE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556B82"/>
                </a:solidFill>
              </a:rPr>
              <a:t> fora da classe vira erro de sintaxe. No ABAP não se muda a visibilidade do construtor.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Método estático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Única porta de entrada: valida, lê o banco e cria a instância.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Buffer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Devolve a instância já existente, uma por SKU, como o cache de CEPs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ZCL_PC_VIACEP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Flexível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factory pode devolver subclasses ou implementações diferentes de uma interface.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</a:t>
            </a:r>
            <a:r>
              <a:rPr lang="en-US" sz="1400" b="1" dirty="0">
                <a:solidFill>
                  <a:srgbClr val="FFFFFF"/>
                </a:solidFill>
              </a:rPr>
              <a:t>herança</a:t>
            </a:r>
            <a:r>
              <a:rPr lang="en-US" sz="1400" dirty="0">
                <a:solidFill>
                  <a:srgbClr val="FFFFFF"/>
                </a:solidFill>
              </a:rPr>
              <a:t> só quando a relação é "é um"; a subclasse herda tudo e redefine métodos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400" dirty="0">
                <a:solidFill>
                  <a:srgbClr val="FFFFFF"/>
                </a:solidFill>
              </a:rPr>
              <a:t> abre componentes às subclasses;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super-&gt;</a:t>
            </a:r>
            <a:r>
              <a:rPr lang="en-US" sz="1400" dirty="0">
                <a:solidFill>
                  <a:srgbClr val="FFFFFF"/>
                </a:solidFill>
              </a:rPr>
              <a:t> reaproveita a implementação original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Up-cast</a:t>
            </a:r>
            <a:r>
              <a:rPr lang="en-US" sz="1400" dirty="0">
                <a:solidFill>
                  <a:srgbClr val="FFFFFF"/>
                </a:solidFill>
              </a:rPr>
              <a:t> é sempre seguro; </a:t>
            </a:r>
            <a:r>
              <a:rPr lang="en-US" sz="1400" b="1" dirty="0">
                <a:solidFill>
                  <a:srgbClr val="FFFFFF"/>
                </a:solidFill>
              </a:rPr>
              <a:t>down-cast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400" dirty="0">
                <a:solidFill>
                  <a:srgbClr val="FFFFFF"/>
                </a:solidFill>
              </a:rPr>
              <a:t> após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INSTANCE OF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Polimorfismo</a:t>
            </a:r>
            <a:r>
              <a:rPr lang="en-US" sz="1400" dirty="0">
                <a:solidFill>
                  <a:srgbClr val="FFFFFF"/>
                </a:solidFill>
              </a:rPr>
              <a:t>: a implementação executada é a da classe real do objeto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Interfaces</a:t>
            </a:r>
            <a:r>
              <a:rPr lang="en-US" sz="1400" dirty="0">
                <a:solidFill>
                  <a:srgbClr val="FFFFFF"/>
                </a:solidFill>
              </a:rPr>
              <a:t> definem contratos implementados por classes sem relação de herança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Factory methods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PRIVATE</a:t>
            </a:r>
            <a:r>
              <a:rPr lang="en-US" sz="1400" dirty="0">
                <a:solidFill>
                  <a:srgbClr val="FFFFFF"/>
                </a:solidFill>
              </a:rPr>
              <a:t> controlam e reaproveitam instâncias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02.08  </a:t>
            </a:r>
            <a:r>
              <a:rPr lang="en-US" sz="1500" dirty="0">
                <a:solidFill>
                  <a:srgbClr val="FFFFFF"/>
                </a:solidFill>
              </a:rPr>
              <a:t>Classes de exceção: Categorias, T100 e tratamento.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02.07 Projetando código orientado a objetos eficaz</dc:title>
  <dc:subject>ABAP Moderno – Módulo 02: Programação ABAP Intermediária</dc:subject>
  <dc:creator>Adriano Bispo</dc:creator>
  <cp:lastModifiedBy>Adriano Bispo</cp:lastModifiedBy>
  <cp:revision>1</cp:revision>
  <dcterms:created xsi:type="dcterms:W3CDTF">2026-10-29T13:30:46Z</dcterms:created>
  <dcterms:modified xsi:type="dcterms:W3CDTF">2026-10-29T13:30:46Z</dcterms:modified>
</cp:coreProperties>
</file>