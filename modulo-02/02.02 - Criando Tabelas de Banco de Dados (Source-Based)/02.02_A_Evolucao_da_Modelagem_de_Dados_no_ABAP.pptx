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02.02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02  ·  02.02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02  ·  02.02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Evolução da Modelagem de Dados no ABAP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De formulários a código-fonte: dominando a criação de tabelas no ABAP Cloud.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SE11 · formulários e abas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table 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#RESTRICTED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Mundo que Conhecemos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Era da Transação SE11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EEF1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120640" cy="411480"/>
          </a:xfrm>
          <a:prstGeom prst="rect">
            <a:avLst/>
          </a:prstGeom>
          <a:solidFill>
            <a:srgbClr val="C4CCD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ABAP Dictionary: Initial Screen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150876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Delivery and Maintenance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2240280"/>
            <a:ext cx="150876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22402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Fields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2240280"/>
            <a:ext cx="150876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22402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Technical Settings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4754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54680"/>
            <a:ext cx="4754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20440"/>
            <a:ext cx="4754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86200"/>
            <a:ext cx="4754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51960"/>
            <a:ext cx="4754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617720"/>
            <a:ext cx="4754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983480"/>
            <a:ext cx="4754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160020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Durante décadas, a SE11 foi o coração da modelagem de dados. Navegávamos por abas, preenchíamos formulários e ativávamos objetos em uma interface gráfica que, apesar de poderosa, apresentava seus desafios.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200400"/>
            <a:ext cx="55165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Navegação entre múltiplas abas: ‘Delivery and Maintenance’, ‘Fields’, ‘Technical Settings’.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Configurações críticas escondidas em pop-ups e menus.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Processo manual e propenso a cliques errados.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Totalmente desconectado de ferramentas modernas de versionamento.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Revolução do Código-Fonte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Bem-vindo ao ABAP Development Tools (ADT)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No ABAP moderno, especialmente no </a:t>
            </a:r>
            <a:r>
              <a:rPr lang="en-US" sz="1700" b="1" dirty="0">
                <a:solidFill>
                  <a:srgbClr val="1D2D3E"/>
                </a:solidFill>
              </a:rPr>
              <a:t>ABAP Cloud</a:t>
            </a:r>
            <a:r>
              <a:rPr lang="en-US" sz="1700" dirty="0">
                <a:solidFill>
                  <a:srgbClr val="1D2D3E"/>
                </a:solidFill>
              </a:rPr>
              <a:t>, a </a:t>
            </a:r>
            <a:r>
              <a:rPr lang="en-US" sz="1700" b="1" dirty="0">
                <a:solidFill>
                  <a:srgbClr val="1D2D3E"/>
                </a:solidFill>
              </a:rPr>
              <a:t>definição de uma tabela</a:t>
            </a:r>
            <a:r>
              <a:rPr lang="en-US" sz="1700" dirty="0">
                <a:solidFill>
                  <a:srgbClr val="1D2D3E"/>
                </a:solidFill>
              </a:rPr>
              <a:t> é agora um </a:t>
            </a:r>
            <a:r>
              <a:rPr lang="en-US" sz="1700" b="1" dirty="0">
                <a:solidFill>
                  <a:srgbClr val="1D2D3E"/>
                </a:solidFill>
              </a:rPr>
              <a:t>artefato de texto puro</a:t>
            </a:r>
            <a:r>
              <a:rPr lang="en-US" sz="1700" dirty="0">
                <a:solidFill>
                  <a:srgbClr val="1D2D3E"/>
                </a:solidFill>
              </a:rPr>
              <a:t>. O que antes eram cliques, agora são linhas de código claras e explícitas.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86207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666744"/>
            <a:ext cx="300319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Versionamento Total com Git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A definição da tabela é um arquivo de texto. Compare versões (diff), reverta alterações e trabalhe em equipe com segurança via abapGit.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8218" y="260604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4250" y="286207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4250" y="3666744"/>
            <a:ext cx="300319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Produtividade Acelerada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Copiar, colar, duplicar e refatorar tabelas inteiras com a velocidade de um editor de texto. Adeus, telas lentas do SAP GUI.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260604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3829" y="286207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83829" y="3666744"/>
            <a:ext cx="300319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Clareza e Transparência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Todas as configurações técnicas, antes ocultas, agora estão explícitas como anotações no topo do arquivo. Nada fica escondido.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3015691"/>
            <a:ext cx="332842" cy="33284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870" y="3015691"/>
            <a:ext cx="332842" cy="33284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448" y="3015691"/>
            <a:ext cx="332842" cy="3328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Anatomia de uma Tabela Moderna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Cabeçalho Técnico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Tudo começa com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TABLE</a:t>
            </a:r>
            <a:r>
              <a:rPr lang="en-US" sz="1500" dirty="0">
                <a:solidFill>
                  <a:srgbClr val="1D2D3E"/>
                </a:solidFill>
              </a:rPr>
              <a:t>, mas o comportamento real é ditado pelas anotações que a precedem. Elas substituem as abas ‘Delivery and Maintenance’ e ‘Technical Settings’.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87752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'Descrição Curta da Tabela'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@AbapCatalog.tableCategory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#TRANSPARENT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@AbapCatalog.deliveryClass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@AbapCatalog.dataMaintenance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#RESTRICTED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zdemo_minha_tabela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423160"/>
          <a:ext cx="54251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70632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56B82"/>
                          </a:solidFill>
                        </a:rPr>
                        <a:t>Anotação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56B82"/>
                          </a:solidFill>
                        </a:rPr>
                        <a:t>Equivalente na SE11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@EndUserText.label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O texto do campo ‘Short Description’.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@AbapCatalog.tableCategory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A configuração ‘Table Category’ (ex.: Transparent Table).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@AbapCatalog.deliveryClass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A ‘Delivery Class’ (ex.: A, C, L).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@AbapCatalog.dataMaintenance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A configuração ‘Data Browser/Table View Maint.’.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Protegendo Seus Dados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Poder do @AbapCatalog.dataMaintenance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Esta anotação é sua primeira linha de defesa para a integridade dos dados. Ela controla o acesso e a modificação através de ferramentas genéricas como SE16N e SM30.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#NOT_ALLOWED</a:t>
            </a:r>
            <a:r>
              <a:rPr lang="en-US" sz="1700" b="1" dirty="0">
                <a:solidFill>
                  <a:srgbClr val="1D2D3E"/>
                </a:solidFill>
              </a:rPr>
              <a:t> ou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#RESTRICTED</a:t>
            </a:r>
            <a:r>
              <a:rPr lang="en-US" sz="1700" b="1" dirty="0">
                <a:solidFill>
                  <a:srgbClr val="1D2D3E"/>
                </a:solidFill>
              </a:rPr>
              <a:t> (recomendado para RAP)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O que faz:</a:t>
            </a:r>
            <a:r>
              <a:rPr lang="en-US" sz="1500" dirty="0">
                <a:solidFill>
                  <a:srgbClr val="1D2D3E"/>
                </a:solidFill>
              </a:rPr>
              <a:t> bloqueia a edição direta da tabela.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Por que é crucial:</a:t>
            </a:r>
            <a:r>
              <a:rPr lang="en-US" sz="1500" dirty="0">
                <a:solidFill>
                  <a:srgbClr val="1D2D3E"/>
                </a:solidFill>
              </a:rPr>
              <a:t> força que toda alteração nos dados passe pelo seu aplicativo Fiori e pelo seu Business Object, garantindo que validações, autorizações e lógicas de negócio sejam </a:t>
            </a:r>
            <a:r>
              <a:rPr lang="en-US" sz="1500" b="1" dirty="0">
                <a:solidFill>
                  <a:srgbClr val="1D2D3E"/>
                </a:solidFill>
              </a:rPr>
              <a:t>sempre</a:t>
            </a:r>
            <a:r>
              <a:rPr lang="en-US" sz="1500" dirty="0">
                <a:solidFill>
                  <a:srgbClr val="1D2D3E"/>
                </a:solidFill>
              </a:rPr>
              <a:t> executadas.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41605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5120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SE16N / SM30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4617720"/>
            <a:ext cx="2194560" cy="0"/>
          </a:xfrm>
          <a:prstGeom prst="line">
            <a:avLst/>
          </a:prstGeom>
          <a:noFill/>
          <a:ln w="31750">
            <a:solidFill>
              <a:srgbClr val="D20A0A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40680" y="41605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4617720"/>
            <a:ext cx="2194560" cy="0"/>
          </a:xfrm>
          <a:prstGeom prst="line">
            <a:avLst/>
          </a:prstGeom>
          <a:noFill/>
          <a:ln w="31750">
            <a:solidFill>
              <a:srgbClr val="30914C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8869680" y="41605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5120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App Fiori + BO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548640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Pílula de sabedoria:</a:t>
            </a:r>
            <a:r>
              <a:rPr lang="en-US" sz="1400" dirty="0">
                <a:solidFill>
                  <a:srgbClr val="1D2D3E"/>
                </a:solidFill>
              </a:rPr>
              <a:t> pense nesta anotação não como uma restrição, mas como um </a:t>
            </a:r>
            <a:r>
              <a:rPr lang="en-US" sz="1400" b="1" dirty="0">
                <a:solidFill>
                  <a:srgbClr val="1D2D3E"/>
                </a:solidFill>
              </a:rPr>
              <a:t>guardião</a:t>
            </a:r>
            <a:r>
              <a:rPr lang="en-US" sz="1400" dirty="0">
                <a:solidFill>
                  <a:srgbClr val="1D2D3E"/>
                </a:solidFill>
              </a:rPr>
              <a:t> do seu modelo de negócio. Ela garante que a lógica que você construiu não possa ser contornada.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136" y="4379976"/>
            <a:ext cx="475488" cy="47548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4434840"/>
            <a:ext cx="365760" cy="36576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4379976"/>
            <a:ext cx="475488" cy="47548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4379976"/>
            <a:ext cx="475488" cy="47548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784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Definindo a Fundação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Chaves Primárias Modernas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600200"/>
            <a:ext cx="51508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client : abap.clnt</a:t>
            </a:r>
            <a:r>
              <a:rPr lang="en-US" sz="1400" dirty="0">
                <a:solidFill>
                  <a:srgbClr val="1D2D3E"/>
                </a:solidFill>
              </a:rPr>
              <a:t> — o campo de mandante é </a:t>
            </a:r>
            <a:r>
              <a:rPr lang="en-US" sz="1400" b="1" dirty="0">
                <a:solidFill>
                  <a:srgbClr val="1D2D3E"/>
                </a:solidFill>
              </a:rPr>
              <a:t>sempre</a:t>
            </a:r>
            <a:r>
              <a:rPr lang="en-US" sz="1400" dirty="0">
                <a:solidFill>
                  <a:srgbClr val="1D2D3E"/>
                </a:solidFill>
              </a:rPr>
              <a:t> o primeiro campo da chave para dados de negócio. Esquecê-lo torna a tabela ‘Client-Independent’, um erro comum e perigoso.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travel_uuid : sysuuid_x16</a:t>
            </a:r>
            <a:r>
              <a:rPr lang="en-US" sz="1400" dirty="0">
                <a:solidFill>
                  <a:srgbClr val="1D2D3E"/>
                </a:solidFill>
              </a:rPr>
              <a:t> — a chave primária técnica. No RAP, favorecemos </a:t>
            </a:r>
            <a:r>
              <a:rPr lang="en-US" sz="1400" b="1" dirty="0">
                <a:solidFill>
                  <a:srgbClr val="1D2D3E"/>
                </a:solidFill>
              </a:rPr>
              <a:t>UUIDs</a:t>
            </a:r>
            <a:r>
              <a:rPr lang="en-US" sz="1400" dirty="0">
                <a:solidFill>
                  <a:srgbClr val="1D2D3E"/>
                </a:solidFill>
              </a:rPr>
              <a:t> em vez de números sequenciais (como o Travel ID).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1094415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425196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45920" y="425196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O porquê arquitetural: UUIDs são a chave para o cenário de Rascunhos (Drafts)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4937760"/>
            <a:ext cx="9722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UUIDs permitem criar registros em modo ‘Rascunho’: o objeto é salvo no banco com uma chave técnica única e estável </a:t>
            </a:r>
            <a:r>
              <a:rPr lang="en-US" sz="1500" b="1" dirty="0">
                <a:solidFill>
                  <a:srgbClr val="1D2D3E"/>
                </a:solidFill>
              </a:rPr>
              <a:t>antes</a:t>
            </a:r>
            <a:r>
              <a:rPr lang="en-US" sz="1500" dirty="0">
                <a:solidFill>
                  <a:srgbClr val="1D2D3E"/>
                </a:solidFill>
              </a:rPr>
              <a:t> de receber seu número de negócio final (ex.: ‘Travel 100023’). É a base do </a:t>
            </a:r>
            <a:r>
              <a:rPr lang="en-US" sz="1500" b="1" dirty="0">
                <a:solidFill>
                  <a:srgbClr val="1D2D3E"/>
                </a:solidFill>
              </a:rPr>
              <a:t>Late Numbering</a:t>
            </a:r>
            <a:r>
              <a:rPr lang="en-US" sz="1500" dirty="0">
                <a:solidFill>
                  <a:srgbClr val="1D2D3E"/>
                </a:solidFill>
              </a:rPr>
              <a:t> e de aplicações Fiori que não perdem dados.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Escolha Arquitetural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Data Elements vs. Tipos Primitivos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Para cada campo, você decide: usar um objeto reutilizável do dicionário ou um tipo técnico direto? A escolha impacta profundamente a qualidade e a manutenibilidade do aplicativo.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64328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64D9"/>
                </a:solidFill>
              </a:rPr>
              <a:t>Data Elements  </a:t>
            </a:r>
            <a:r>
              <a:rPr lang="en-US" sz="1400" dirty="0">
                <a:solidFill>
                  <a:srgbClr val="556B82"/>
                </a:solidFill>
              </a:rPr>
              <a:t>A abordagem semântica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4815688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3273552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/dmo/customer_id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8620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Conceito: </a:t>
            </a:r>
            <a:r>
              <a:rPr lang="en-US" sz="1400" dirty="0">
                <a:solidFill>
                  <a:srgbClr val="1D2D3E"/>
                </a:solidFill>
              </a:rPr>
              <a:t>Refere-se a um objeto global do ABAP Dictionary.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Benefício imediato: </a:t>
            </a:r>
            <a:r>
              <a:rPr lang="en-US" sz="1400" dirty="0">
                <a:solidFill>
                  <a:srgbClr val="1D2D3E"/>
                </a:solidFill>
              </a:rPr>
              <a:t>Herda automaticamente rótulos de campo (traduzidos!), ajuda de pesquisa (F4) e documentação (F1). Essencial para campos de negócio.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2377440"/>
            <a:ext cx="5364328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53048" y="256032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56B82"/>
                </a:solidFill>
              </a:rPr>
              <a:t>Built-in Types  </a:t>
            </a:r>
            <a:r>
              <a:rPr lang="en-US" sz="1400" dirty="0">
                <a:solidFill>
                  <a:srgbClr val="556B82"/>
                </a:solidFill>
              </a:rPr>
              <a:t>A abordagem técnica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53048" y="3108960"/>
            <a:ext cx="4815688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81648" y="3273552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creation_timestamp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388620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Conceito: </a:t>
            </a:r>
            <a:r>
              <a:rPr lang="en-US" sz="1400" dirty="0">
                <a:solidFill>
                  <a:srgbClr val="1D2D3E"/>
                </a:solidFill>
              </a:rPr>
              <a:t>Refere-se a um tipo ABAP primitivo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abap.int4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400" dirty="0">
                <a:solidFill>
                  <a:srgbClr val="1D2D3E"/>
                </a:solidFill>
              </a:rPr>
              <a:t>).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4617720"/>
            <a:ext cx="481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Benefício imediato: </a:t>
            </a:r>
            <a:r>
              <a:rPr lang="en-US" sz="1400" dirty="0">
                <a:solidFill>
                  <a:srgbClr val="1D2D3E"/>
                </a:solidFill>
              </a:rPr>
              <a:t>Direto e sem dependências. Ideal para campos puramente técnicos que o usuário final nunca verá.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Framework de Decisão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Quando Usar Data Element vs. Built-in Type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41655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Critério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Data Element (ex.: /dmo/customer_id)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Built-in Type (ex.: abap.char(10))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Reutilização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56F3A"/>
                          </a:solidFill>
                        </a:rPr>
                        <a:t>Alta.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 Garante consistência de tipo em todo o sistema (tabelas, estruturas, métodos).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AA0808"/>
                          </a:solidFill>
                        </a:rPr>
                        <a:t>Baixa.</a:t>
                      </a:r>
                      <a:r>
                        <a:rPr lang="en-US" sz="1400" dirty="0">
                          <a:solidFill>
                            <a:srgbClr val="AA0808"/>
                          </a:solidFill>
                        </a:rPr>
                        <a:t> Definição local e isolada; alterações manuais em todos os lugares.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Semântica de UI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56F3A"/>
                          </a:solidFill>
                        </a:rPr>
                        <a:t>Automática.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 Traz textos de cabeçalho e descrições traduzidas para o Fiori sem esforço extra.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AA0808"/>
                          </a:solidFill>
                        </a:rPr>
                        <a:t>Manual.</a:t>
                      </a:r>
                      <a:r>
                        <a:rPr lang="en-US" sz="1400" dirty="0">
                          <a:solidFill>
                            <a:srgbClr val="AA0808"/>
                          </a:solidFill>
                        </a:rPr>
                        <a:t> O Fiori exibe o nome técnico; exige redefinir o label em cada CDS View.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Ajuda de Pesquisa (F4)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56F3A"/>
                          </a:solidFill>
                        </a:rPr>
                        <a:t>Integrada.</a:t>
                      </a:r>
                      <a:r>
                        <a:rPr lang="en-US" sz="1400" dirty="0">
                          <a:solidFill>
                            <a:srgbClr val="256F3A"/>
                          </a:solidFill>
                        </a:rPr>
                        <a:t> Pode ter um Search Help global anexado.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AA0808"/>
                          </a:solidFill>
                        </a:rPr>
                        <a:t>Nenhuma.</a:t>
                      </a:r>
                      <a:r>
                        <a:rPr lang="en-US" sz="1400" dirty="0">
                          <a:solidFill>
                            <a:srgbClr val="AA0808"/>
                          </a:solidFill>
                        </a:rPr>
                        <a:t> Requer implementação manual de Value Helps.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Uso Ideal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Campos de negócio</a:t>
                      </a: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 visíveis ao usuário: cliente, material, status, moeda, datas.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Campos técnicos</a:t>
                      </a: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 internos: UUIDs, flags de controle, timestamps de sistema.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Semântica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Adicionando Significado aos Números: Moedas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Um número em uma coluna é apenas um número. O SAP precisa saber que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100.00</a:t>
            </a:r>
            <a:r>
              <a:rPr lang="en-US" sz="1500" dirty="0">
                <a:solidFill>
                  <a:srgbClr val="1D2D3E"/>
                </a:solidFill>
              </a:rPr>
              <a:t> no campo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500" dirty="0">
                <a:solidFill>
                  <a:srgbClr val="1D2D3E"/>
                </a:solidFill>
              </a:rPr>
              <a:t> está na moeda do campo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500" dirty="0">
                <a:solidFill>
                  <a:srgbClr val="1D2D3E"/>
                </a:solidFill>
              </a:rPr>
              <a:t>. Sem essa ligação, erros de formatação são inevitáveis.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73152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42032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Ligação semântica obrigatória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5D36FF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'zrap_travel.currency_code'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booking_fee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/dmo/booking_fee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5D36FF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'zrap_travel.currency_code'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/dmo/total_price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/dmo/currency_code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FEA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5257800"/>
            <a:ext cx="10088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O perigo de esquecer a anotação @Semantics:</a:t>
            </a:r>
            <a:r>
              <a:rPr lang="en-US" sz="1400" dirty="0">
                <a:solidFill>
                  <a:srgbClr val="1D2D3E"/>
                </a:solidFill>
              </a:rPr>
              <a:t> o sistema tratará o valor como um número genérico, causando erros graves de exibição em moedas sem 2 casas decimais (como Iene JPY ou Peso Chileno CLP) — mostrando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400" dirty="0">
                <a:solidFill>
                  <a:srgbClr val="1D2D3E"/>
                </a:solidFill>
              </a:rPr>
              <a:t> em vez de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r>
              <a:rPr lang="en-US" sz="1400" dirty="0">
                <a:solidFill>
                  <a:srgbClr val="1D2D3E"/>
                </a:solidFill>
              </a:rPr>
              <a:t>, ou vice-versa.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2377440"/>
            <a:ext cx="3504895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2377440"/>
            <a:ext cx="31391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100.00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currency_code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F3A"/>
                </a:solidFill>
              </a:rPr>
              <a:t>=  valor monetário correto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641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Deixando Rastros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Campos de Auditoria para Rastreabilidade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Um bom modelo de dados registra quem criou e alterou um registro, e quando. No ABAP moderno, esses campos são padronizados e seu preenchimento pode ser totalmente automatizado.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03504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42032"/>
            <a:ext cx="5577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Campos administrativos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(Audit Trail - gerenciados pelo RAP)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syuname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last_changed_by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syuname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last_changed_at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377440"/>
            <a:ext cx="4785055" cy="3794760"/>
          </a:xfrm>
          <a:prstGeom prst="roundRect">
            <a:avLst>
              <a:gd name="adj" fmla="val 3373"/>
            </a:avLst>
          </a:prstGeom>
          <a:solidFill>
            <a:srgbClr val="FFF8D6"/>
          </a:solidFill>
          <a:ln w="9525">
            <a:solidFill>
              <a:srgbClr val="F5D7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26060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18120" y="2606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Mágica do Framework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91840"/>
            <a:ext cx="4236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Estes não são campos decorativos. Ao usar o comportamento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r>
              <a:rPr lang="en-US" sz="1400" dirty="0">
                <a:solidFill>
                  <a:srgbClr val="1D2D3E"/>
                </a:solidFill>
              </a:rPr>
              <a:t> no seu Business Object RAP, o framework preenche e atualiza esses campos automaticamente em cada operação de Create/Update.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0" y="4892040"/>
            <a:ext cx="122925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223760" y="4965192"/>
            <a:ext cx="10463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Salvar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Fiori UI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34730" y="5257800"/>
            <a:ext cx="12801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4" name="Shape 12"/>
          <p:cNvSpPr/>
          <p:nvPr/>
        </p:nvSpPr>
        <p:spPr>
          <a:xfrm>
            <a:off x="8635898" y="4892040"/>
            <a:ext cx="122925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727338" y="4965192"/>
            <a:ext cx="10463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RAP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managed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38309" y="5257800"/>
            <a:ext cx="12801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39477" y="4892040"/>
            <a:ext cx="122925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230917" y="4965192"/>
            <a:ext cx="10463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Tabela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created_at…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4" y="273771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Obra Completa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Nossa Tabela ZRAP_TRAVEL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22376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67665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'Tabela de Viagens - RAP Demo'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@AbapCatalog.enhancement.category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#NOT_EXTENSIBLE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@AbapCatalog.tableCategory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#TRANSPARENT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@AbapCatalog.deliveryClass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@AbapCatalog.dataMaintenance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#RESTRICTED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/dmo/travel_id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/dmo/agency_id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/dmo/customer_id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/dmo/begin_date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/dmo/end_date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'zrap_travel.currency_code'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booking_fee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/dmo/booking_fee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'zrap_travel.currency_code'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/dmo/total_price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/dmo/currency_code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/dmo/description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/dmo/overall_status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syuname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last_changed_by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syuname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last_changed_at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046720" y="1600200"/>
            <a:ext cx="3596335" cy="777240"/>
          </a:xfrm>
          <a:prstGeom prst="roundRect">
            <a:avLst>
              <a:gd name="adj" fmla="val 11765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75320" y="1600200"/>
            <a:ext cx="3230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Cabeçalho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Categoria, entrega e proteção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0" y="2514600"/>
            <a:ext cx="3596335" cy="777240"/>
          </a:xfrm>
          <a:prstGeom prst="roundRect">
            <a:avLst>
              <a:gd name="adj" fmla="val 11765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75320" y="2514600"/>
            <a:ext cx="3230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F00"/>
                </a:solidFill>
              </a:rPr>
              <a:t>Chaves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client + UUID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3429000"/>
            <a:ext cx="3596335" cy="777240"/>
          </a:xfrm>
          <a:prstGeom prst="roundRect">
            <a:avLst>
              <a:gd name="adj" fmla="val 11765"/>
            </a:avLst>
          </a:prstGeom>
          <a:solidFill>
            <a:srgbClr val="F5FA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3429000"/>
            <a:ext cx="3230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F3A"/>
                </a:solidFill>
              </a:rPr>
              <a:t>Dados de Negócio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Data Elements semânticos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4343400"/>
            <a:ext cx="3596335" cy="777240"/>
          </a:xfrm>
          <a:prstGeom prst="roundRect">
            <a:avLst>
              <a:gd name="adj" fmla="val 11765"/>
            </a:avLst>
          </a:prstGeom>
          <a:solidFill>
            <a:srgbClr val="F1ED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4343400"/>
            <a:ext cx="3230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36FF"/>
                </a:solidFill>
              </a:rPr>
              <a:t>Semântica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Valor ↔ moeda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5257800"/>
            <a:ext cx="3596335" cy="777240"/>
          </a:xfrm>
          <a:prstGeom prst="roundRect">
            <a:avLst>
              <a:gd name="adj" fmla="val 11765"/>
            </a:avLst>
          </a:prstGeom>
          <a:solidFill>
            <a:srgbClr val="E0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5257800"/>
            <a:ext cx="3230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C76"/>
                </a:solidFill>
              </a:rPr>
              <a:t>Auditoria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Preenchidos pelo RAP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Glossário Rápido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Termos Essenciais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478024"/>
            <a:ext cx="48979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Delivery Class (#A vs. #C)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Define o transporte dos dados da tabela. #A (Application) para dados de negócio, que não são transportados. #C (Customizing) para dados de configuração, transportados nas requests.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89040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89040" y="2478024"/>
            <a:ext cx="48979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MANDT (Client)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O pilar do isolamento de dados no SAP. Primeiro campo da chave, particiona os dados logicamente para que uma empresa não veja os dados da outra.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4901184"/>
            <a:ext cx="48979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UUID (sysuuid_x16)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O padrão-ouro para chaves primárias no RAP. Identificador de 128 bits que garante unicidade global, essencial para Drafts e APIs stateless.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9040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9040" y="4901184"/>
            <a:ext cx="48979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Semantic Annotations (@Semantics…)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Metadados que adicionam significado de negócio a campos técnicos, permitindo que o Fiori interprete e formate valores corretamente (moedas, quantidades).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237744" cy="237744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8" y="1965960"/>
            <a:ext cx="237744" cy="237744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4389120"/>
            <a:ext cx="237744" cy="23774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120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Seu Checklist para a Modelagem de Dados Moderna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234440"/>
          </a:xfrm>
          <a:prstGeom prst="roundRect">
            <a:avLst>
              <a:gd name="adj" fmla="val 1037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82880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Comece no ADT, não na SE11.</a:t>
            </a:r>
            <a:r>
              <a:rPr lang="en-US" sz="1500" dirty="0">
                <a:solidFill>
                  <a:srgbClr val="FFFFFF"/>
                </a:solidFill>
              </a:rPr>
              <a:t> Abrace a abordagem baseada em código.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828800"/>
            <a:ext cx="5440680" cy="1234440"/>
          </a:xfrm>
          <a:prstGeom prst="roundRect">
            <a:avLst>
              <a:gd name="adj" fmla="val 1037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86600" y="182880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Defina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@dataMaintenance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rgbClr val="FFFFFF"/>
                </a:solidFill>
              </a:rPr>
              <a:t>como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#RESTRICTED</a:t>
            </a:r>
            <a:r>
              <a:rPr lang="en-US" sz="1500" dirty="0">
                <a:solidFill>
                  <a:srgbClr val="FFFFFF"/>
                </a:solidFill>
              </a:rPr>
              <a:t> para proteger a integridade dos dados.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40680" cy="1234440"/>
          </a:xfrm>
          <a:prstGeom prst="roundRect">
            <a:avLst>
              <a:gd name="adj" fmla="val 1037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32461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 UUID como chave primária técnica</a:t>
            </a:r>
            <a:r>
              <a:rPr lang="en-US" sz="1500" dirty="0">
                <a:solidFill>
                  <a:srgbClr val="FFFFFF"/>
                </a:solidFill>
              </a:rPr>
              <a:t> para cenários RAP e Draft.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3246120"/>
            <a:ext cx="5440680" cy="1234440"/>
          </a:xfrm>
          <a:prstGeom prst="roundRect">
            <a:avLst>
              <a:gd name="adj" fmla="val 1037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0" y="32461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Prefira Data Elements</a:t>
            </a:r>
            <a:r>
              <a:rPr lang="en-US" sz="1500" dirty="0">
                <a:solidFill>
                  <a:srgbClr val="FFFFFF"/>
                </a:solidFill>
              </a:rPr>
              <a:t> para campos com significado de negócio e visíveis na UI.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440680" cy="1234440"/>
          </a:xfrm>
          <a:prstGeom prst="roundRect">
            <a:avLst>
              <a:gd name="adj" fmla="val 1037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466344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Nunca esqueça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500" dirty="0">
                <a:solidFill>
                  <a:srgbClr val="FFFFFF"/>
                </a:solidFill>
              </a:rPr>
              <a:t> em campos de valor.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4663440"/>
            <a:ext cx="5440680" cy="1234440"/>
          </a:xfrm>
          <a:prstGeom prst="roundRect">
            <a:avLst>
              <a:gd name="adj" fmla="val 1037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466344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Inclua os campos de auditoria padrão</a:t>
            </a:r>
            <a:r>
              <a:rPr lang="en-US" sz="1500" dirty="0">
                <a:solidFill>
                  <a:srgbClr val="FFFFFF"/>
                </a:solidFill>
              </a:rPr>
              <a:t> para rastreabilidade futura.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502920" cy="50292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502920" cy="50292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11880"/>
            <a:ext cx="502920" cy="50292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11880"/>
            <a:ext cx="502920" cy="50292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029200"/>
            <a:ext cx="502920" cy="50292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029200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Evolução da Modelagem de Dados no ABAP</dc:title>
  <dc:subject>ABAP Moderno – Módulo 02</dc:subject>
  <dc:creator>Adriano Bispo</dc:creator>
  <cp:lastModifiedBy>Adriano Bispo</cp:lastModifiedBy>
  <cp:revision>1</cp:revision>
  <dcterms:created xsi:type="dcterms:W3CDTF">2026-10-25T04:08:03Z</dcterms:created>
  <dcterms:modified xsi:type="dcterms:W3CDTF">2026-10-25T04:08:03Z</dcterms:modified>
</cp:coreProperties>
</file>