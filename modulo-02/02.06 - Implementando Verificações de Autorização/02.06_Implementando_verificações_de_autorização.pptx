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C7"/>
                </a:solidFill>
              </a:rPr>
              <a:t>ABAP Moderno · Módulo 02 — Programação ABAP Intermediária  ·  Aula 6 de 9 — Autorizações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rgbClr val="0064D9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D2D3E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ABAP Moderno · Módulo 02 — Programação ABAP Intermediária  ·  Aula 6 de 9 — Autorizações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slideLayout" Target="../slideLayouts/slideLayout4.xml"/><Relationship Id="rId1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MÓDULO 02 · AULA 06 DE 09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Implementando verificações de autorização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9476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1EFFF"/>
                </a:solidFill>
              </a:rPr>
              <a:t>O conceito de autorização do ABAP, o filtro automático com CDS access controls e a checagem explícita com AUTHORITY-CHECK.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183880" y="1325880"/>
            <a:ext cx="3246120" cy="3246120"/>
          </a:xfrm>
          <a:prstGeom prst="roundRect">
            <a:avLst>
              <a:gd name="adj" fmla="val 15493"/>
            </a:avLst>
          </a:prstGeom>
          <a:solidFill>
            <a:srgbClr val="1B3A7A"/>
          </a:solidFill>
          <a:ln/>
        </p:spPr>
      </p:sp>
      <p:sp>
        <p:nvSpPr>
          <p:cNvPr id="6" name="Shape 4"/>
          <p:cNvSpPr/>
          <p:nvPr/>
        </p:nvSpPr>
        <p:spPr>
          <a:xfrm>
            <a:off x="8732520" y="1874520"/>
            <a:ext cx="2148840" cy="2148840"/>
          </a:xfrm>
          <a:prstGeom prst="roundRect">
            <a:avLst>
              <a:gd name="adj" fmla="val 17021"/>
            </a:avLst>
          </a:prstGeom>
          <a:solidFill>
            <a:srgbClr val="0070F2"/>
          </a:solidFill>
          <a:ln/>
        </p:spPr>
      </p:sp>
      <p:sp>
        <p:nvSpPr>
          <p:cNvPr id="7" name="Shape 5"/>
          <p:cNvSpPr/>
          <p:nvPr/>
        </p:nvSpPr>
        <p:spPr>
          <a:xfrm>
            <a:off x="818388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8" name="Shape 6"/>
          <p:cNvSpPr/>
          <p:nvPr/>
        </p:nvSpPr>
        <p:spPr>
          <a:xfrm>
            <a:off x="855472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9" name="Shape 7"/>
          <p:cNvSpPr/>
          <p:nvPr/>
        </p:nvSpPr>
        <p:spPr>
          <a:xfrm>
            <a:off x="892556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0" name="Shape 8"/>
          <p:cNvSpPr/>
          <p:nvPr/>
        </p:nvSpPr>
        <p:spPr>
          <a:xfrm>
            <a:off x="929640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1" name="Shape 9"/>
          <p:cNvSpPr/>
          <p:nvPr/>
        </p:nvSpPr>
        <p:spPr>
          <a:xfrm>
            <a:off x="966724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3808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89D1F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40892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4" name="Shape 12"/>
          <p:cNvSpPr/>
          <p:nvPr/>
        </p:nvSpPr>
        <p:spPr>
          <a:xfrm>
            <a:off x="1077976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5" name="Shape 13"/>
          <p:cNvSpPr/>
          <p:nvPr/>
        </p:nvSpPr>
        <p:spPr>
          <a:xfrm>
            <a:off x="1115060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183880" y="51206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Aula 6 de 9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989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A3C7"/>
                </a:solidFill>
              </a:rPr>
              <a:t>ABAP Moderno · Módulo 02 — Programação ABAP Intermediária · Design System SAP Horizon</a:t>
            </a:r>
            <a:endParaRPr lang="en-US" sz="11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0" y="2468880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 SÉRIE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Módulo 02 em 9 aulas: ABAP intermediário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1</a:t>
            </a:r>
            <a:endParaRPr lang="en-US" sz="126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3172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Analisar e testar código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78892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ATC, ABAP Unit, Profiling e SQL Trace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04099" y="164592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968691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68691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2</a:t>
            </a:r>
            <a:endParaRPr lang="en-US" sz="1260" dirty="0"/>
          </a:p>
        </p:txBody>
      </p:sp>
      <p:sp>
        <p:nvSpPr>
          <p:cNvPr id="12" name="Text 10"/>
          <p:cNvSpPr txBox="1"/>
          <p:nvPr/>
        </p:nvSpPr>
        <p:spPr>
          <a:xfrm>
            <a:off x="2968691" y="233172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Tipos e conversões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968691" y="278892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Tipos técnicos, conversões e datas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59558" y="164592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224150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22415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3</a:t>
            </a:r>
            <a:endParaRPr lang="en-US" sz="1260" dirty="0"/>
          </a:p>
        </p:txBody>
      </p:sp>
      <p:sp>
        <p:nvSpPr>
          <p:cNvPr id="17" name="Text 15"/>
          <p:cNvSpPr txBox="1"/>
          <p:nvPr/>
        </p:nvSpPr>
        <p:spPr>
          <a:xfrm>
            <a:off x="5224150" y="233172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Campos de caracteres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224150" y="278892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Funções, regex e textos traduzíveis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315017" y="164592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479609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79609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4</a:t>
            </a:r>
            <a:endParaRPr lang="en-US" sz="1260" dirty="0"/>
          </a:p>
        </p:txBody>
      </p:sp>
      <p:sp>
        <p:nvSpPr>
          <p:cNvPr id="22" name="Text 20"/>
          <p:cNvSpPr txBox="1"/>
          <p:nvPr/>
        </p:nvSpPr>
        <p:spPr>
          <a:xfrm>
            <a:off x="7479609" y="233172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Code pushdown no SQL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7479609" y="278892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Expressões, joins, agregações e UNION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570476" y="164592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735068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73506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5</a:t>
            </a:r>
            <a:endParaRPr lang="en-US" sz="1260" dirty="0"/>
          </a:p>
        </p:txBody>
      </p:sp>
      <p:sp>
        <p:nvSpPr>
          <p:cNvPr id="27" name="Text 25"/>
          <p:cNvSpPr txBox="1"/>
          <p:nvPr/>
        </p:nvSpPr>
        <p:spPr>
          <a:xfrm>
            <a:off x="9735068" y="233172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Performance de tabelas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9735068" y="278892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Chaves, field symbols e chaves secundárias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365760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3232" y="3840480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13232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</a:rPr>
              <a:t>6</a:t>
            </a:r>
            <a:endParaRPr lang="en-US" sz="1260" dirty="0"/>
          </a:p>
        </p:txBody>
      </p:sp>
      <p:sp>
        <p:nvSpPr>
          <p:cNvPr id="32" name="Text 30"/>
          <p:cNvSpPr txBox="1"/>
          <p:nvPr/>
        </p:nvSpPr>
        <p:spPr>
          <a:xfrm>
            <a:off x="713232" y="434340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Autorizações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713232" y="480060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Conceito, CDS DCL e AUTHORITY-CHECK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1188720" y="3904488"/>
            <a:ext cx="792419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188720" y="3904488"/>
            <a:ext cx="79241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64D9"/>
                </a:solidFill>
              </a:rPr>
              <a:t>Você está aqui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804099" y="365760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2968691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968691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7</a:t>
            </a:r>
            <a:endParaRPr lang="en-US" sz="1260" dirty="0"/>
          </a:p>
        </p:txBody>
      </p:sp>
      <p:sp>
        <p:nvSpPr>
          <p:cNvPr id="39" name="Text 37"/>
          <p:cNvSpPr txBox="1"/>
          <p:nvPr/>
        </p:nvSpPr>
        <p:spPr>
          <a:xfrm>
            <a:off x="2968691" y="434340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OO eficaz</a:t>
            </a:r>
            <a:endParaRPr lang="en-US" sz="1350" dirty="0"/>
          </a:p>
        </p:txBody>
      </p:sp>
      <p:sp>
        <p:nvSpPr>
          <p:cNvPr id="40" name="Text 38"/>
          <p:cNvSpPr txBox="1"/>
          <p:nvPr/>
        </p:nvSpPr>
        <p:spPr>
          <a:xfrm>
            <a:off x="2968691" y="480060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Herança, interfaces e factory methods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059558" y="365760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5224150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22415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8</a:t>
            </a:r>
            <a:endParaRPr lang="en-US" sz="1260" dirty="0"/>
          </a:p>
        </p:txBody>
      </p:sp>
      <p:sp>
        <p:nvSpPr>
          <p:cNvPr id="44" name="Text 42"/>
          <p:cNvSpPr txBox="1"/>
          <p:nvPr/>
        </p:nvSpPr>
        <p:spPr>
          <a:xfrm>
            <a:off x="5224150" y="434340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Classes de exceção</a:t>
            </a:r>
            <a:endParaRPr lang="en-US" sz="1350" dirty="0"/>
          </a:p>
        </p:txBody>
      </p:sp>
      <p:sp>
        <p:nvSpPr>
          <p:cNvPr id="45" name="Text 43"/>
          <p:cNvSpPr txBox="1"/>
          <p:nvPr/>
        </p:nvSpPr>
        <p:spPr>
          <a:xfrm>
            <a:off x="5224150" y="480060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Categorias, T100 e tratamento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7315017" y="365760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7479609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7479609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9</a:t>
            </a:r>
            <a:endParaRPr lang="en-US" sz="1260" dirty="0"/>
          </a:p>
        </p:txBody>
      </p:sp>
      <p:sp>
        <p:nvSpPr>
          <p:cNvPr id="49" name="Text 47"/>
          <p:cNvSpPr txBox="1"/>
          <p:nvPr/>
        </p:nvSpPr>
        <p:spPr>
          <a:xfrm>
            <a:off x="7479609" y="434340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ABAP Doc</a:t>
            </a:r>
            <a:endParaRPr lang="en-US" sz="1350" dirty="0"/>
          </a:p>
        </p:txBody>
      </p:sp>
      <p:sp>
        <p:nvSpPr>
          <p:cNvPr id="50" name="Text 48"/>
          <p:cNvSpPr txBox="1"/>
          <p:nvPr/>
        </p:nvSpPr>
        <p:spPr>
          <a:xfrm>
            <a:off x="7479609" y="480060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Documentação no código e no ADT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548640" y="562356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1207008" y="5623560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Nesta aula  </a:t>
            </a:r>
            <a:r>
              <a:rPr lang="en-US" sz="1200" dirty="0">
                <a:solidFill>
                  <a:srgbClr val="1D2D3E"/>
                </a:solidFill>
              </a:rPr>
              <a:t>filtramos a leitura dos clientes pelas UFs autorizadas e checamos a atividade de cada operação do pedido com a classe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ZCL_PC_AUTH</a:t>
            </a:r>
            <a:r>
              <a:rPr lang="en-US" sz="1200" dirty="0">
                <a:solidFill>
                  <a:srgbClr val="1D2D3E"/>
                </a:solidFill>
              </a:rPr>
              <a:t> do projeto.</a:t>
            </a:r>
            <a:endParaRPr lang="en-US" sz="1400" dirty="0"/>
          </a:p>
        </p:txBody>
      </p:sp>
      <p:pic>
        <p:nvPicPr>
          <p:cNvPr id="5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497" y="1847088"/>
            <a:ext cx="347472" cy="347472"/>
          </a:xfrm>
          <a:prstGeom prst="rect">
            <a:avLst/>
          </a:prstGeom>
        </p:spPr>
      </p:pic>
      <p:pic>
        <p:nvPicPr>
          <p:cNvPr id="5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2579" y="1847088"/>
            <a:ext cx="347472" cy="347472"/>
          </a:xfrm>
          <a:prstGeom prst="rect">
            <a:avLst/>
          </a:prstGeom>
        </p:spPr>
      </p:pic>
      <p:pic>
        <p:nvPicPr>
          <p:cNvPr id="5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8038" y="1847088"/>
            <a:ext cx="347472" cy="347472"/>
          </a:xfrm>
          <a:prstGeom prst="rect">
            <a:avLst/>
          </a:prstGeom>
        </p:spPr>
      </p:pic>
      <p:pic>
        <p:nvPicPr>
          <p:cNvPr id="5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72579" y="3858768"/>
            <a:ext cx="347472" cy="347472"/>
          </a:xfrm>
          <a:prstGeom prst="rect">
            <a:avLst/>
          </a:prstGeom>
        </p:spPr>
      </p:pic>
      <p:pic>
        <p:nvPicPr>
          <p:cNvPr id="5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38956" y="1847088"/>
            <a:ext cx="347472" cy="347472"/>
          </a:xfrm>
          <a:prstGeom prst="rect">
            <a:avLst/>
          </a:prstGeom>
        </p:spPr>
      </p:pic>
      <p:pic>
        <p:nvPicPr>
          <p:cNvPr id="5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94415" y="1847088"/>
            <a:ext cx="347472" cy="347472"/>
          </a:xfrm>
          <a:prstGeom prst="rect">
            <a:avLst/>
          </a:prstGeom>
        </p:spPr>
      </p:pic>
      <p:pic>
        <p:nvPicPr>
          <p:cNvPr id="5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497" y="3858768"/>
            <a:ext cx="347472" cy="347472"/>
          </a:xfrm>
          <a:prstGeom prst="rect">
            <a:avLst/>
          </a:prstGeom>
        </p:spPr>
      </p:pic>
      <p:pic>
        <p:nvPicPr>
          <p:cNvPr id="6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28038" y="3858768"/>
            <a:ext cx="347472" cy="347472"/>
          </a:xfrm>
          <a:prstGeom prst="rect">
            <a:avLst/>
          </a:prstGeom>
        </p:spPr>
      </p:pic>
      <p:pic>
        <p:nvPicPr>
          <p:cNvPr id="6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38956" y="3858768"/>
            <a:ext cx="347472" cy="347472"/>
          </a:xfrm>
          <a:prstGeom prst="rect">
            <a:avLst/>
          </a:prstGeom>
        </p:spPr>
      </p:pic>
      <p:pic>
        <p:nvPicPr>
          <p:cNvPr id="6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9808" y="5751576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VISÃO GERAL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Por que o ABAP precisa checar autorizações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 interface de banco se conecta com </a:t>
            </a:r>
            <a:r>
              <a:rPr lang="en-US" sz="1400" b="1" dirty="0">
                <a:solidFill>
                  <a:srgbClr val="556B82"/>
                </a:solidFill>
              </a:rPr>
              <a:t>um usuário técnico que pode tudo</a:t>
            </a:r>
            <a:r>
              <a:rPr lang="en-US" sz="1400" dirty="0">
                <a:solidFill>
                  <a:srgbClr val="556B82"/>
                </a:solidFill>
              </a:rPr>
              <a:t>. Quem limita o usuário de negócio é o próprio ABAP.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464994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2514600"/>
            <a:ext cx="22821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064D9"/>
                </a:solidFill>
              </a:rPr>
              <a:t>Usuário de negócio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Tem papéis com autorizações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086786" y="2532888"/>
            <a:ext cx="265176" cy="237744"/>
          </a:xfrm>
          <a:prstGeom prst="rightArrow">
            <a:avLst/>
          </a:prstGeom>
          <a:solidFill>
            <a:srgbClr val="0070F2"/>
          </a:solidFill>
          <a:ln/>
        </p:spPr>
      </p:sp>
      <p:sp>
        <p:nvSpPr>
          <p:cNvPr id="8" name="Shape 6"/>
          <p:cNvSpPr/>
          <p:nvPr/>
        </p:nvSpPr>
        <p:spPr>
          <a:xfrm>
            <a:off x="3425114" y="1920240"/>
            <a:ext cx="2464994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516554" y="2514600"/>
            <a:ext cx="22821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064D9"/>
                </a:solidFill>
              </a:rPr>
              <a:t>Aplicação ABAP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Checa a autorização antes de ler ou gravar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63260" y="2532888"/>
            <a:ext cx="265176" cy="237744"/>
          </a:xfrm>
          <a:prstGeom prst="rightArrow">
            <a:avLst/>
          </a:prstGeom>
          <a:solidFill>
            <a:srgbClr val="0070F2"/>
          </a:solidFill>
          <a:ln/>
        </p:spPr>
      </p:sp>
      <p:sp>
        <p:nvSpPr>
          <p:cNvPr id="11" name="Shape 9"/>
          <p:cNvSpPr/>
          <p:nvPr/>
        </p:nvSpPr>
        <p:spPr>
          <a:xfrm>
            <a:off x="6301588" y="1920240"/>
            <a:ext cx="2464994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393028" y="2514600"/>
            <a:ext cx="22821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064D9"/>
                </a:solidFill>
              </a:rPr>
              <a:t>Interface de BD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Conecta com um usuário técnico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839733" y="2532888"/>
            <a:ext cx="265176" cy="237744"/>
          </a:xfrm>
          <a:prstGeom prst="rightArrow">
            <a:avLst/>
          </a:prstGeom>
          <a:solidFill>
            <a:srgbClr val="0070F2"/>
          </a:solidFill>
          <a:ln/>
        </p:spPr>
      </p:sp>
      <p:sp>
        <p:nvSpPr>
          <p:cNvPr id="14" name="Shape 12"/>
          <p:cNvSpPr/>
          <p:nvPr/>
        </p:nvSpPr>
        <p:spPr>
          <a:xfrm>
            <a:off x="9178061" y="1920240"/>
            <a:ext cx="2464994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5875">
            <a:solidFill>
              <a:srgbClr val="E76500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269501" y="2514600"/>
            <a:ext cx="22821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B44F00"/>
                </a:solidFill>
              </a:rPr>
              <a:t>Banco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Executa qualquer instrução recebida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657600"/>
            <a:ext cx="5432908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31520" y="38404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4343400"/>
            <a:ext cx="506714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D3E"/>
                </a:solidFill>
              </a:rPr>
              <a:t>Leitura: CDS access control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Filtra automaticamente as linhas que o usuário pode ver, sem como contornar.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210148" y="3657600"/>
            <a:ext cx="5432908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93028" y="38404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393028" y="4343400"/>
            <a:ext cx="506714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D3E"/>
                </a:solidFill>
              </a:rPr>
              <a:t>Escrita: AUTHORITY-CHECK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Checagem explícita antes de criar, alterar ou apagar. O desenvolvedor decide o que fazer.</a:t>
            </a:r>
            <a:endParaRPr lang="en-US" sz="14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8257" y="2084832"/>
            <a:ext cx="365760" cy="365760"/>
          </a:xfrm>
          <a:prstGeom prst="rect">
            <a:avLst/>
          </a:prstGeom>
        </p:spPr>
      </p:pic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4731" y="2084832"/>
            <a:ext cx="365760" cy="365760"/>
          </a:xfrm>
          <a:prstGeom prst="rect">
            <a:avLst/>
          </a:prstGeom>
        </p:spPr>
      </p:pic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1205" y="2084832"/>
            <a:ext cx="365760" cy="365760"/>
          </a:xfrm>
          <a:prstGeom prst="rect">
            <a:avLst/>
          </a:prstGeom>
        </p:spPr>
      </p:pic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1542" y="3928994"/>
            <a:ext cx="225308" cy="225308"/>
          </a:xfrm>
          <a:prstGeom prst="rect">
            <a:avLst/>
          </a:prstGeom>
        </p:spPr>
      </p:pic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034" y="3928994"/>
            <a:ext cx="225308" cy="225308"/>
          </a:xfrm>
          <a:prstGeom prst="rect">
            <a:avLst/>
          </a:prstGeom>
        </p:spPr>
      </p:pic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678" y="2084832"/>
            <a:ext cx="365760" cy="365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02.06 · SEÇÃO 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O modelo de autorização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Autorizações são </a:t>
            </a:r>
            <a:r>
              <a:rPr lang="en-US" sz="1600" b="1" dirty="0">
                <a:solidFill>
                  <a:srgbClr val="D1EFFF"/>
                </a:solidFill>
              </a:rPr>
              <a:t>valores permitidos</a:t>
            </a:r>
            <a:r>
              <a:rPr lang="en-US" sz="1600" dirty="0">
                <a:solidFill>
                  <a:srgbClr val="D1EFFF"/>
                </a:solidFill>
              </a:rPr>
              <a:t> para os campos de um </a:t>
            </a:r>
            <a:r>
              <a:rPr lang="en-US" sz="1600" b="1" dirty="0">
                <a:solidFill>
                  <a:srgbClr val="D1EFFF"/>
                </a:solidFill>
              </a:rPr>
              <a:t>objeto de autorização</a:t>
            </a:r>
            <a:r>
              <a:rPr lang="en-US" sz="1600" dirty="0">
                <a:solidFill>
                  <a:srgbClr val="D1EFFF"/>
                </a:solidFill>
              </a:rPr>
              <a:t>, entregues ao usuário por papéis.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Authorization object</a:t>
            </a:r>
            <a:r>
              <a:rPr lang="en-US" sz="1000" dirty="0">
                <a:solidFill>
                  <a:srgbClr val="D1EFFF"/>
                </a:solidFill>
              </a:rPr>
              <a:t>  ex.: ZPC_PEDIDO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Authorization field</a:t>
            </a:r>
            <a:r>
              <a:rPr lang="en-US" sz="1000" dirty="0">
                <a:solidFill>
                  <a:srgbClr val="D1EFFF"/>
                </a:solidFill>
              </a:rPr>
              <a:t>  ex.: ACTVT, ZPC_UF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ACTVT</a:t>
            </a:r>
            <a:r>
              <a:rPr lang="en-US" sz="1000" dirty="0">
                <a:solidFill>
                  <a:srgbClr val="D1EFFF"/>
                </a:solidFill>
              </a:rPr>
              <a:t>  atividade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Business role</a:t>
            </a:r>
            <a:r>
              <a:rPr lang="en-US" sz="1000" dirty="0">
                <a:solidFill>
                  <a:srgbClr val="D1EFFF"/>
                </a:solidFill>
              </a:rPr>
              <a:t>  atribuição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CONCEITO · PEÇAS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Do objeto de autorização ao usuário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3127248"/>
          </a:xfrm>
          <a:prstGeom prst="roundRect">
            <a:avLst>
              <a:gd name="adj" fmla="val 2924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83080"/>
          <a:ext cx="10820095" cy="914400"/>
        </p:xfrm>
        <a:graphic>
          <a:graphicData uri="http://schemas.openxmlformats.org/drawingml/2006/table">
            <a:tbl>
              <a:tblPr/>
              <a:tblGrid>
                <a:gridCol w="3155861"/>
                <a:gridCol w="7664234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Peça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Papel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Authorization field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Um aspecto a proteger, ligado a um data element (ex.: UF do cliente,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ZPC_UF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)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Authorization object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Agrupa até 10 campos checados juntos (ex.: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ZPC_PEDIDO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 e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ZPC_ADMIN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 do projeto)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ACTVT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Campo padrão de atividade: 01 criar, 02 alterar, 03 exibir, 06 apagar, 16 executar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Autorização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Valores concretos, ex.: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ZPC_PEDIDO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 com atividade 03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Papel (role)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Reúne autorizações e é atribuído ao usuário (no Fiori: app </a:t>
                      </a:r>
                      <a:r>
                        <a:rPr lang="en-US" sz="1100" i="1" dirty="0">
                          <a:solidFill>
                            <a:srgbClr val="1D2D3E"/>
                          </a:solidFill>
                        </a:rPr>
                        <a:t>Maintain Business Roles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; no projeto,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ZPC_BR_ADMIN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 e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ZPC_BR_COMUM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)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956048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207008" y="4956048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Regra do RAP  </a:t>
            </a:r>
            <a:r>
              <a:rPr lang="en-US" sz="1200" b="1" dirty="0">
                <a:solidFill>
                  <a:srgbClr val="1D2D3E"/>
                </a:solidFill>
              </a:rPr>
              <a:t>access controls</a:t>
            </a:r>
            <a:r>
              <a:rPr lang="en-US" sz="1200" dirty="0">
                <a:solidFill>
                  <a:srgbClr val="1D2D3E"/>
                </a:solidFill>
              </a:rPr>
              <a:t> para leitura e </a:t>
            </a:r>
            <a:r>
              <a:rPr lang="en-US" sz="1200" b="1" dirty="0">
                <a:solidFill>
                  <a:srgbClr val="1D2D3E"/>
                </a:solidFill>
              </a:rPr>
              <a:t>AUTHORITY-CHECK</a:t>
            </a:r>
            <a:r>
              <a:rPr lang="en-US" sz="1200" dirty="0">
                <a:solidFill>
                  <a:srgbClr val="1D2D3E"/>
                </a:solidFill>
              </a:rPr>
              <a:t> (ou checagens de autorização do RAP) antes de mudar dados.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084064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02.06 · SEÇÃO 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Leitura com CDS access control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Um </a:t>
            </a:r>
            <a:r>
              <a:rPr lang="en-US" sz="1600" b="1" dirty="0">
                <a:solidFill>
                  <a:srgbClr val="D1EFFF"/>
                </a:solidFill>
              </a:rPr>
              <a:t>access control</a:t>
            </a:r>
            <a:r>
              <a:rPr lang="en-US" sz="1600" dirty="0">
                <a:solidFill>
                  <a:srgbClr val="D1EFFF"/>
                </a:solidFill>
              </a:rPr>
              <a:t> ligado a uma CDS view filtra o resultado de cada leitura pelas autorizações do usuário, de forma </a:t>
            </a:r>
            <a:r>
              <a:rPr lang="en-US" sz="1600" b="1" dirty="0">
                <a:solidFill>
                  <a:srgbClr val="D1EFFF"/>
                </a:solidFill>
              </a:rPr>
              <a:t>segura e eficiente</a:t>
            </a:r>
            <a:r>
              <a:rPr lang="en-US" sz="1600" dirty="0">
                <a:solidFill>
                  <a:srgbClr val="D1EFFF"/>
                </a:solidFill>
              </a:rPr>
              <a:t>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 role</a:t>
            </a:r>
            <a:r>
              <a:rPr lang="en-US" sz="1000" dirty="0">
                <a:solidFill>
                  <a:srgbClr val="D1EFFF"/>
                </a:solidFill>
              </a:rPr>
              <a:t>  papel CDS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aspect pfcg_auth</a:t>
            </a:r>
            <a:r>
              <a:rPr lang="en-US" sz="1000" dirty="0">
                <a:solidFill>
                  <a:srgbClr val="D1EFFF"/>
                </a:solidFill>
              </a:rPr>
              <a:t>  liga à autorização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Ctrl+Shift+G</a:t>
            </a:r>
            <a:r>
              <a:rPr lang="en-US" sz="1000" dirty="0">
                <a:solidFill>
                  <a:srgbClr val="D1EFFF"/>
                </a:solidFill>
              </a:rPr>
              <a:t>  encontrar o DCL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DCLS/DL</a:t>
            </a:r>
            <a:r>
              <a:rPr lang="en-US" sz="1000" dirty="0">
                <a:solidFill>
                  <a:srgbClr val="D1EFFF"/>
                </a:solidFill>
              </a:rPr>
              <a:t>  tipo do objeto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DCL · O FILTRO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Só os clientes das UFs autorizadas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3566160"/>
          </a:xfrm>
          <a:prstGeom prst="roundRect">
            <a:avLst>
              <a:gd name="adj" fmla="val 2051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2075688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2075688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zc_pc_cliente_app.dcls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ZAVBS_PC_CLIENTES › Access Control (abap/README.md, seção 7.6)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272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272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'Acesso aos clientes'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@MappingRole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ZC_PC_CLIENTE_APP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grant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ZC_PC_CLIENTE_APP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UfPrincipal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aspect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pfcg_auth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ZPC_ADMIN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ZPC_UF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ACTVT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'03'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Elemento × campo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UfPrincipal</a:t>
            </a:r>
            <a:r>
              <a:rPr lang="en-US" sz="1050" dirty="0">
                <a:solidFill>
                  <a:srgbClr val="556B82"/>
                </a:solidFill>
              </a:rPr>
              <a:t> da view é comparado com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ZPC_UF</a:t>
            </a:r>
            <a:r>
              <a:rPr lang="en-US" sz="1050" dirty="0">
                <a:solidFill>
                  <a:srgbClr val="556B82"/>
                </a:solidFill>
              </a:rPr>
              <a:t> das autorizações.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6746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6746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656332"/>
            <a:ext cx="3367735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ACTVT = '03'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Só autorizações de exibição contam.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4747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474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456432"/>
            <a:ext cx="3367735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No banco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O filtro vira condição do SQL: só as linhas autorizadas são lidas.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2748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2748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256532"/>
            <a:ext cx="3367735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Sem contorno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Toda leitura da view pelo ABAP SQL passa pelo filtro.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5321808"/>
            <a:ext cx="11094415" cy="502920"/>
          </a:xfrm>
          <a:prstGeom prst="roundRect">
            <a:avLst>
              <a:gd name="adj" fmla="val 14545"/>
            </a:avLst>
          </a:prstGeom>
          <a:solidFill>
            <a:srgbClr val="E1F4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207008" y="532180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Encontrar o DCL 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Ctrl+Shift+G</a:t>
            </a:r>
            <a:r>
              <a:rPr lang="en-US" sz="1200" dirty="0">
                <a:solidFill>
                  <a:srgbClr val="1D2D3E"/>
                </a:solidFill>
              </a:rPr>
              <a:t> sobre a view abre o where-used; filtre pelo tipo </a:t>
            </a:r>
            <a:r>
              <a:rPr lang="en-US" sz="1200" b="1" dirty="0">
                <a:solidFill>
                  <a:srgbClr val="1D2D3E"/>
                </a:solidFill>
              </a:rPr>
              <a:t>DCLS/DL</a:t>
            </a:r>
            <a:r>
              <a:rPr lang="en-US" sz="1200" dirty="0">
                <a:solidFill>
                  <a:srgbClr val="1D2D3E"/>
                </a:solidFill>
              </a:rPr>
              <a:t> para ver os access controls.</a:t>
            </a:r>
            <a:endParaRPr lang="en-US" sz="14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417820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02.06 · SEÇÃO 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Checagem explícita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AUTHORITY-CHECK</a:t>
            </a:r>
            <a:r>
              <a:rPr lang="en-US" sz="1600" dirty="0">
                <a:solidFill>
                  <a:srgbClr val="D1EFFF"/>
                </a:solidFill>
              </a:rPr>
              <a:t> pergunta se o usuário tem uma autorização. Ele </a:t>
            </a:r>
            <a:r>
              <a:rPr lang="en-US" sz="1600" b="1" dirty="0">
                <a:solidFill>
                  <a:srgbClr val="D1EFFF"/>
                </a:solidFill>
              </a:rPr>
              <a:t>não bloqueia nada</a:t>
            </a:r>
            <a:r>
              <a:rPr lang="en-US" sz="1600" dirty="0">
                <a:solidFill>
                  <a:srgbClr val="D1EFFF"/>
                </a:solidFill>
              </a:rPr>
              <a:t>: o código precisa agir conforme o </a:t>
            </a:r>
            <a:r>
              <a:rPr lang="en-US" sz="16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r>
              <a:rPr lang="en-US" sz="1600" dirty="0">
                <a:solidFill>
                  <a:srgbClr val="D1EFFF"/>
                </a:solidFill>
              </a:rPr>
              <a:t>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AUTHORITY-CHECK OBJECT</a:t>
            </a:r>
            <a:r>
              <a:rPr lang="en-US" sz="1000" dirty="0">
                <a:solidFill>
                  <a:srgbClr val="D1EFFF"/>
                </a:solidFill>
              </a:rPr>
              <a:t>  a pergunta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… FIELD …</a:t>
            </a:r>
            <a:r>
              <a:rPr lang="en-US" sz="1000" dirty="0">
                <a:solidFill>
                  <a:srgbClr val="D1EFFF"/>
                </a:solidFill>
              </a:rPr>
              <a:t>  valores exigidos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r>
              <a:rPr lang="en-US" sz="1000" dirty="0">
                <a:solidFill>
                  <a:srgbClr val="D1EFFF"/>
                </a:solidFill>
              </a:rPr>
              <a:t>  0 = autorizado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cx_abap_auth_check_exception</a:t>
            </a:r>
            <a:r>
              <a:rPr lang="en-US" sz="1000" dirty="0">
                <a:solidFill>
                  <a:srgbClr val="D1EFFF"/>
                </a:solidFill>
              </a:rPr>
              <a:t>  erro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AUTHORITY-CHECK · NO PROJETO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Checar a atividade antes de cada operação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1997964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1997964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18150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zcl_pc_auth.clas.abap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ZCL_PC_AUTH e ZBP_R_PC_PEDIDO (trechos)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verificar_pedido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zif_pc_constants=&gt;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c_modo_trial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rv_autorizado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trial: sem business roles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AUTHORITY-CHECK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'ZPC_PEDIDO'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'ACTVT'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iv_actvt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rv_autorizado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BO Pedido: get_global_authorizations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requested_authorizations-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if_abap_behv=&gt;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mk-on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result-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zcl_pc_auth=&gt;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pedido_pode_criar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if_abap_behv=&gt;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auth-allowed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if_abap_behv=&gt;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auth-unauthorized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AUTHORITY-CHECK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Objeto, campos e valores exigidos; o resultado vai para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r>
              <a:rPr lang="en-US" sz="105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0 autorizado;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r>
              <a:rPr lang="en-US" sz="1050" dirty="0">
                <a:solidFill>
                  <a:srgbClr val="556B82"/>
                </a:solidFill>
              </a:rPr>
              <a:t> transforma a condição em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r>
              <a:rPr lang="en-US" sz="1050" dirty="0">
                <a:solidFill>
                  <a:srgbClr val="556B82"/>
                </a:solidFill>
              </a:rPr>
              <a:t> ou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r>
              <a:rPr lang="en-US" sz="105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Uma atividade por operação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Criar 01, alterar 02, excluir 06, executar ações 16: nunca uma atividade genérica.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No RAP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get_global_authorizations</a:t>
            </a:r>
            <a:r>
              <a:rPr lang="en-US" sz="1050" dirty="0">
                <a:solidFill>
                  <a:srgbClr val="556B82"/>
                </a:solidFill>
              </a:rPr>
              <a:t> devolve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auth-allowed</a:t>
            </a:r>
            <a:r>
              <a:rPr lang="en-US" sz="1050" dirty="0">
                <a:solidFill>
                  <a:srgbClr val="556B82"/>
                </a:solidFill>
              </a:rPr>
              <a:t> ou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auth-unauthorized</a:t>
            </a:r>
            <a:r>
              <a:rPr lang="en-US" sz="1050" dirty="0">
                <a:solidFill>
                  <a:srgbClr val="556B82"/>
                </a:solidFill>
              </a:rPr>
              <a:t>, e o app esconde o botão.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AUTHORITY-CHECK · COMPARAÇÃO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CDS access control ou AUTHORITY-CHECK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620899"/>
            <a:ext cx="5410048" cy="2576322"/>
          </a:xfrm>
          <a:prstGeom prst="roundRect">
            <a:avLst>
              <a:gd name="adj" fmla="val 354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2620899"/>
            <a:ext cx="5410048" cy="73152"/>
          </a:xfrm>
          <a:prstGeom prst="rect">
            <a:avLst/>
          </a:prstGeom>
          <a:solidFill>
            <a:srgbClr val="556B82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895219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FF1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895219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3548"/>
                </a:solidFill>
              </a:rPr>
              <a:t>CDS access control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535299"/>
            <a:ext cx="4952848" cy="1524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Declarativo: definido uma vez, na view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Automático em toda leitura pelo ABAP SQL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Filtra no banco: nada a mais é lido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Ideal para </a:t>
            </a:r>
            <a:r>
              <a:rPr lang="en-US" sz="1350" b="1" dirty="0">
                <a:solidFill>
                  <a:srgbClr val="1D2D3E"/>
                </a:solidFill>
              </a:rPr>
              <a:t>leitura</a:t>
            </a:r>
            <a:r>
              <a:rPr lang="en-US" sz="1350" dirty="0">
                <a:solidFill>
                  <a:srgbClr val="1D2D3E"/>
                </a:solidFill>
              </a:rPr>
              <a:t> de listas e relatórios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33008" y="2620899"/>
            <a:ext cx="5410048" cy="2576322"/>
          </a:xfrm>
          <a:prstGeom prst="roundRect">
            <a:avLst>
              <a:gd name="adj" fmla="val 354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33008" y="2620899"/>
            <a:ext cx="5410048" cy="73152"/>
          </a:xfrm>
          <a:prstGeom prst="rect">
            <a:avLst/>
          </a:prstGeom>
          <a:solidFill>
            <a:srgbClr val="E76500"/>
          </a:solidFill>
          <a:ln/>
        </p:spPr>
      </p:sp>
      <p:sp>
        <p:nvSpPr>
          <p:cNvPr id="11" name="Shape 9"/>
          <p:cNvSpPr/>
          <p:nvPr/>
        </p:nvSpPr>
        <p:spPr>
          <a:xfrm>
            <a:off x="6461608" y="2895219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8D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55968" y="2895219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44F00"/>
                </a:solidFill>
              </a:rPr>
              <a:t>AUTHORITY-CHECK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61608" y="3535299"/>
            <a:ext cx="4952848" cy="1524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Imperativo: escrito em cada ponto que precisa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Só informa; o código decide o que fazer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Não esconde dados por si só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Ideal antes de </a:t>
            </a:r>
            <a:r>
              <a:rPr lang="en-US" sz="1350" b="1" dirty="0">
                <a:solidFill>
                  <a:srgbClr val="1D2D3E"/>
                </a:solidFill>
              </a:rPr>
              <a:t>criar, alterar ou apagar</a:t>
            </a:r>
            <a:endParaRPr lang="en-US" sz="14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2995803"/>
            <a:ext cx="256032" cy="256032"/>
          </a:xfrm>
          <a:prstGeom prst="rect">
            <a:avLst/>
          </a:prstGeom>
        </p:spPr>
      </p:pic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2995803"/>
            <a:ext cx="256032" cy="256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RESUMO DA AULA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que aprendemos na aula 02.06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5331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O banco é acessado por um usuário técnico; quem protege os dados é o </a:t>
            </a:r>
            <a:r>
              <a:rPr lang="en-US" sz="1400" b="1" dirty="0">
                <a:solidFill>
                  <a:srgbClr val="FFFFFF"/>
                </a:solidFill>
              </a:rPr>
              <a:t>ABAP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6364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8543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Autorizações são valores para os campos de um </a:t>
            </a:r>
            <a:r>
              <a:rPr lang="en-US" sz="1400" b="1" dirty="0">
                <a:solidFill>
                  <a:srgbClr val="FFFFFF"/>
                </a:solidFill>
              </a:rPr>
              <a:t>objeto de autorização</a:t>
            </a:r>
            <a:r>
              <a:rPr lang="en-US" sz="1400" dirty="0">
                <a:solidFill>
                  <a:srgbClr val="FFFFFF"/>
                </a:solidFill>
              </a:rPr>
              <a:t>, entregues por papéis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5331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CDS access controls</a:t>
            </a:r>
            <a:r>
              <a:rPr lang="en-US" sz="1400" dirty="0">
                <a:solidFill>
                  <a:srgbClr val="FFFFFF"/>
                </a:solidFill>
              </a:rPr>
              <a:t> filtram a leitura automaticamente, no banco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8543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aspect pfcg_auth</a:t>
            </a:r>
            <a:r>
              <a:rPr lang="en-US" sz="1400" dirty="0">
                <a:solidFill>
                  <a:srgbClr val="FFFFFF"/>
                </a:solidFill>
              </a:rPr>
              <a:t> liga elementos da view às autorizações;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ACTVT = '03'</a:t>
            </a:r>
            <a:r>
              <a:rPr lang="en-US" sz="1400" dirty="0">
                <a:solidFill>
                  <a:srgbClr val="FFFFFF"/>
                </a:solidFill>
              </a:rPr>
              <a:t> é exibir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5331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AUTHORITY-CHECK</a:t>
            </a:r>
            <a:r>
              <a:rPr lang="en-US" sz="1400" dirty="0">
                <a:solidFill>
                  <a:srgbClr val="FFFFFF"/>
                </a:solidFill>
              </a:rPr>
              <a:t> só informa via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r>
              <a:rPr lang="en-US" sz="1400" dirty="0">
                <a:solidFill>
                  <a:srgbClr val="FFFFFF"/>
                </a:solidFill>
              </a:rPr>
              <a:t>: o código precisa reagir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6364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8543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Use DCL para ler e AUTHORITY-CHECK antes de mudar dados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5349240"/>
            <a:ext cx="10698480" cy="749808"/>
          </a:xfrm>
          <a:prstGeom prst="roundRect">
            <a:avLst>
              <a:gd name="adj" fmla="val 12195"/>
            </a:avLst>
          </a:prstGeom>
          <a:solidFill>
            <a:srgbClr val="1B3A7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508760" y="5349240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9D1FF"/>
                </a:solidFill>
              </a:rPr>
              <a:t>Próxima aula · 02.07  </a:t>
            </a:r>
            <a:r>
              <a:rPr lang="en-US" sz="1500" dirty="0">
                <a:solidFill>
                  <a:srgbClr val="FFFFFF"/>
                </a:solidFill>
              </a:rPr>
              <a:t>OO eficaz: Herança, interfaces e factory methods.</a:t>
            </a:r>
            <a:endParaRPr lang="en-US" sz="15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65960"/>
            <a:ext cx="256032" cy="256032"/>
          </a:xfrm>
          <a:prstGeom prst="rect">
            <a:avLst/>
          </a:prstGeom>
        </p:spPr>
      </p:pic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965960"/>
            <a:ext cx="256032" cy="256032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926080"/>
            <a:ext cx="256032" cy="256032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2926080"/>
            <a:ext cx="256032" cy="256032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886200"/>
            <a:ext cx="256032" cy="256032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3886200"/>
            <a:ext cx="256032" cy="256032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5541264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BAP Moderno">
  <a:themeElements>
    <a:clrScheme name="ABAP Moderno">
      <a:dk1>
        <a:srgbClr val="1D2D3E"/>
      </a:dk1>
      <a:lt1>
        <a:srgbClr val="FFFFFF"/>
      </a:lt1>
      <a:dk2>
        <a:srgbClr val="556B82"/>
      </a:dk2>
      <a:lt2>
        <a:srgbClr val="F5F6F7"/>
      </a:lt2>
      <a:accent1>
        <a:srgbClr val="0070F2"/>
      </a:accent1>
      <a:accent2>
        <a:srgbClr val="30914C"/>
      </a:accent2>
      <a:accent3>
        <a:srgbClr val="E76500"/>
      </a:accent3>
      <a:accent4>
        <a:srgbClr val="D20A0A"/>
      </a:accent4>
      <a:accent5>
        <a:srgbClr val="1B3A7A"/>
      </a:accent5>
      <a:accent6>
        <a:srgbClr val="89D1FF"/>
      </a:accent6>
      <a:hlink>
        <a:srgbClr val="0064D9"/>
      </a:hlink>
      <a:folHlink>
        <a:srgbClr val="1B3A7A"/>
      </a:folHlink>
    </a:clrScheme>
    <a:fontScheme name="ABAP Modern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02.06 Implementando verificações de autorização</dc:title>
  <dc:subject>ABAP Moderno – Módulo 02: Programação ABAP Intermediária</dc:subject>
  <dc:creator>Adriano Bispo</dc:creator>
  <cp:lastModifiedBy>Adriano Bispo</cp:lastModifiedBy>
  <cp:revision>1</cp:revision>
  <dcterms:created xsi:type="dcterms:W3CDTF">2026-10-29T13:37:21Z</dcterms:created>
  <dcterms:modified xsi:type="dcterms:W3CDTF">2026-10-29T13:37:21Z</dcterms:modified>
</cp:coreProperties>
</file>