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02  ·  02.05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02  ·  02.05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02  ·  02.05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02  ·  02.05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Revolução Silenciosa: De JOINs a Associações em ABAP CDS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Modelando dados com mais inteligência, performance e reusabilidade.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OUTER JOIN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 [0..1]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_Customer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Navigation Property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Mundo que Conhecemos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Poder e o Peso do JOIN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D2D3E"/>
                </a:solidFill>
              </a:rPr>
              <a:t>Em Views SQL tradicionais (SE11), o LEFT OUTER JOIN é a ferramenta padrão para conectar tabelas. É poderoso e direto.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No entanto, ele possui um custo oculto fundamental: o banco de dados executa a junção fisicamente </a:t>
            </a:r>
            <a:r>
              <a:rPr lang="en-US" sz="1800" b="1" dirty="0">
                <a:solidFill>
                  <a:srgbClr val="B44F00"/>
                </a:solidFill>
              </a:rPr>
              <a:t>toda vez</a:t>
            </a:r>
            <a:r>
              <a:rPr lang="en-US" sz="1800" dirty="0">
                <a:solidFill>
                  <a:srgbClr val="1D2D3E"/>
                </a:solidFill>
              </a:rPr>
              <a:t> que a view é lida, independentemente de os dados da tabela secundária serem necessários.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0" y="1965960"/>
            <a:ext cx="18288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0" y="19659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Tabela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Pedidos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3977640"/>
            <a:ext cx="18288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0" y="3977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Tabela 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Clientes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OUTER JOIN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2423160"/>
            <a:ext cx="365760" cy="0"/>
          </a:xfrm>
          <a:prstGeom prst="line">
            <a:avLst/>
          </a:prstGeom>
          <a:noFill/>
          <a:ln w="38100">
            <a:solidFill>
              <a:srgbClr val="556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34840"/>
            <a:ext cx="365760" cy="0"/>
          </a:xfrm>
          <a:prstGeom prst="line">
            <a:avLst/>
          </a:prstGeom>
          <a:noFill/>
          <a:ln w="38100">
            <a:solidFill>
              <a:srgbClr val="556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0" y="2423160"/>
            <a:ext cx="0" cy="2011680"/>
          </a:xfrm>
          <a:prstGeom prst="line">
            <a:avLst/>
          </a:prstGeom>
          <a:noFill/>
          <a:ln w="38100">
            <a:solidFill>
              <a:srgbClr val="556B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41080" y="3200400"/>
            <a:ext cx="640080" cy="45720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4" name="Shape 12"/>
          <p:cNvSpPr/>
          <p:nvPr/>
        </p:nvSpPr>
        <p:spPr>
          <a:xfrm>
            <a:off x="9418320" y="1783080"/>
            <a:ext cx="2224735" cy="3291840"/>
          </a:xfrm>
          <a:prstGeom prst="roundRect">
            <a:avLst>
              <a:gd name="adj" fmla="val 575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418320" y="1874520"/>
            <a:ext cx="2224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Resultado da View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0" y="2377440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04120" y="2377440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07040" y="2377440"/>
            <a:ext cx="502920" cy="347472"/>
          </a:xfrm>
          <a:prstGeom prst="rect">
            <a:avLst/>
          </a:prstGeom>
          <a:solidFill>
            <a:srgbClr val="DCE3E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09960" y="2377440"/>
            <a:ext cx="502920" cy="347472"/>
          </a:xfrm>
          <a:prstGeom prst="rect">
            <a:avLst/>
          </a:prstGeom>
          <a:solidFill>
            <a:srgbClr val="DCE3E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0" y="2724912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04120" y="2724912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0" y="2724912"/>
            <a:ext cx="502920" cy="347472"/>
          </a:xfrm>
          <a:prstGeom prst="rect">
            <a:avLst/>
          </a:prstGeom>
          <a:solidFill>
            <a:srgbClr val="DCE3E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9960" y="2724912"/>
            <a:ext cx="502920" cy="347472"/>
          </a:xfrm>
          <a:prstGeom prst="rect">
            <a:avLst/>
          </a:prstGeom>
          <a:solidFill>
            <a:srgbClr val="DCE3E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0" y="3072384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04120" y="3072384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07040" y="3072384"/>
            <a:ext cx="502920" cy="347472"/>
          </a:xfrm>
          <a:prstGeom prst="rect">
            <a:avLst/>
          </a:prstGeom>
          <a:solidFill>
            <a:srgbClr val="DCE3E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109960" y="3072384"/>
            <a:ext cx="502920" cy="347472"/>
          </a:xfrm>
          <a:prstGeom prst="rect">
            <a:avLst/>
          </a:prstGeom>
          <a:solidFill>
            <a:srgbClr val="DCE3E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0" y="3419856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04120" y="3419856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07040" y="3419856"/>
            <a:ext cx="502920" cy="347472"/>
          </a:xfrm>
          <a:prstGeom prst="rect">
            <a:avLst/>
          </a:prstGeom>
          <a:solidFill>
            <a:srgbClr val="DCE3E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09960" y="3419856"/>
            <a:ext cx="502920" cy="347472"/>
          </a:xfrm>
          <a:prstGeom prst="rect">
            <a:avLst/>
          </a:prstGeom>
          <a:solidFill>
            <a:srgbClr val="DCE3E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3767328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04120" y="3767328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07040" y="3767328"/>
            <a:ext cx="502920" cy="347472"/>
          </a:xfrm>
          <a:prstGeom prst="rect">
            <a:avLst/>
          </a:prstGeom>
          <a:solidFill>
            <a:srgbClr val="DCE3E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09960" y="3767328"/>
            <a:ext cx="502920" cy="347472"/>
          </a:xfrm>
          <a:prstGeom prst="rect">
            <a:avLst/>
          </a:prstGeom>
          <a:solidFill>
            <a:srgbClr val="DCE3E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01200" y="4114800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04120" y="4114800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07040" y="4114800"/>
            <a:ext cx="502920" cy="347472"/>
          </a:xfrm>
          <a:prstGeom prst="rect">
            <a:avLst/>
          </a:prstGeom>
          <a:solidFill>
            <a:srgbClr val="DCE3E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09960" y="4114800"/>
            <a:ext cx="502920" cy="347472"/>
          </a:xfrm>
          <a:prstGeom prst="rect">
            <a:avLst/>
          </a:prstGeom>
          <a:solidFill>
            <a:srgbClr val="DCE3E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01200" y="4462272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04120" y="4462272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07040" y="4462272"/>
            <a:ext cx="502920" cy="347472"/>
          </a:xfrm>
          <a:prstGeom prst="rect">
            <a:avLst/>
          </a:prstGeom>
          <a:solidFill>
            <a:srgbClr val="DCE3E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109960" y="4462272"/>
            <a:ext cx="502920" cy="347472"/>
          </a:xfrm>
          <a:prstGeom prst="rect">
            <a:avLst/>
          </a:prstGeom>
          <a:solidFill>
            <a:srgbClr val="DCE3E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Custo Oculto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“Eager Loading” (Carregamento Ansioso)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Este comportamento é chamado de </a:t>
            </a:r>
            <a:r>
              <a:rPr lang="en-US" sz="1700" b="1" dirty="0">
                <a:solidFill>
                  <a:srgbClr val="1D2D3E"/>
                </a:solidFill>
              </a:rPr>
              <a:t>Eager Loading</a:t>
            </a:r>
            <a:r>
              <a:rPr lang="en-US" sz="1700" dirty="0">
                <a:solidFill>
                  <a:srgbClr val="1D2D3E"/>
                </a:solidFill>
              </a:rPr>
              <a:t>: a consulta carrega tudo antecipadamente, ‘ansiosamente’.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Imagine um relatório que precisa apenas do ID do Pedido e do Valor Total. Ao ler a view, o banco desperdiça CPU e memória buscando o Endereço do Cliente — mesmo que essa informação nunca seja exibida.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11094415" cy="1645920"/>
          </a:xfrm>
          <a:prstGeom prst="roundRect">
            <a:avLst>
              <a:gd name="adj" fmla="val 8889"/>
            </a:avLst>
          </a:prstGeom>
          <a:solidFill>
            <a:srgbClr val="EEF1F4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931920"/>
            <a:ext cx="658368" cy="1005840"/>
          </a:xfrm>
          <a:prstGeom prst="rect">
            <a:avLst/>
          </a:prstGeom>
          <a:solidFill>
            <a:srgbClr val="A9B4BE"/>
          </a:solidFill>
          <a:ln/>
        </p:spPr>
      </p:sp>
      <p:sp>
        <p:nvSpPr>
          <p:cNvPr id="7" name="Shape 5"/>
          <p:cNvSpPr/>
          <p:nvPr/>
        </p:nvSpPr>
        <p:spPr>
          <a:xfrm>
            <a:off x="1664208" y="3931920"/>
            <a:ext cx="658368" cy="1005840"/>
          </a:xfrm>
          <a:prstGeom prst="rect">
            <a:avLst/>
          </a:prstGeom>
          <a:solidFill>
            <a:srgbClr val="A9B4BE"/>
          </a:solidFill>
          <a:ln/>
        </p:spPr>
      </p:sp>
      <p:sp>
        <p:nvSpPr>
          <p:cNvPr id="8" name="Shape 6"/>
          <p:cNvSpPr/>
          <p:nvPr/>
        </p:nvSpPr>
        <p:spPr>
          <a:xfrm>
            <a:off x="2414016" y="3931920"/>
            <a:ext cx="658368" cy="1005840"/>
          </a:xfrm>
          <a:prstGeom prst="rect">
            <a:avLst/>
          </a:prstGeom>
          <a:solidFill>
            <a:srgbClr val="A9B4BE"/>
          </a:solidFill>
          <a:ln/>
        </p:spPr>
      </p:sp>
      <p:sp>
        <p:nvSpPr>
          <p:cNvPr id="9" name="Shape 7"/>
          <p:cNvSpPr/>
          <p:nvPr/>
        </p:nvSpPr>
        <p:spPr>
          <a:xfrm>
            <a:off x="3163824" y="3931920"/>
            <a:ext cx="658368" cy="1005840"/>
          </a:xfrm>
          <a:prstGeom prst="rect">
            <a:avLst/>
          </a:prstGeom>
          <a:solidFill>
            <a:srgbClr val="A9B4BE"/>
          </a:solidFill>
          <a:ln/>
        </p:spPr>
      </p:sp>
      <p:sp>
        <p:nvSpPr>
          <p:cNvPr id="10" name="Shape 8"/>
          <p:cNvSpPr/>
          <p:nvPr/>
        </p:nvSpPr>
        <p:spPr>
          <a:xfrm>
            <a:off x="3913632" y="3931920"/>
            <a:ext cx="658368" cy="1005840"/>
          </a:xfrm>
          <a:prstGeom prst="rect">
            <a:avLst/>
          </a:prstGeom>
          <a:solidFill>
            <a:srgbClr val="A9B4BE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3931920"/>
            <a:ext cx="658368" cy="1005840"/>
          </a:xfrm>
          <a:prstGeom prst="rect">
            <a:avLst/>
          </a:prstGeom>
          <a:solidFill>
            <a:srgbClr val="A9B4BE"/>
          </a:solidFill>
          <a:ln/>
        </p:spPr>
      </p:sp>
      <p:sp>
        <p:nvSpPr>
          <p:cNvPr id="12" name="Shape 10"/>
          <p:cNvSpPr/>
          <p:nvPr/>
        </p:nvSpPr>
        <p:spPr>
          <a:xfrm>
            <a:off x="5413248" y="3931920"/>
            <a:ext cx="658368" cy="1005840"/>
          </a:xfrm>
          <a:prstGeom prst="rect">
            <a:avLst/>
          </a:prstGeom>
          <a:solidFill>
            <a:srgbClr val="A9B4BE"/>
          </a:solidFill>
          <a:ln/>
        </p:spPr>
      </p:sp>
      <p:sp>
        <p:nvSpPr>
          <p:cNvPr id="13" name="Shape 11"/>
          <p:cNvSpPr/>
          <p:nvPr/>
        </p:nvSpPr>
        <p:spPr>
          <a:xfrm>
            <a:off x="6163056" y="3931920"/>
            <a:ext cx="658368" cy="1005840"/>
          </a:xfrm>
          <a:prstGeom prst="rect">
            <a:avLst/>
          </a:prstGeom>
          <a:solidFill>
            <a:srgbClr val="E765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912864" y="3931920"/>
            <a:ext cx="658368" cy="1005840"/>
          </a:xfrm>
          <a:prstGeom prst="rect">
            <a:avLst/>
          </a:prstGeom>
          <a:solidFill>
            <a:srgbClr val="A9B4BE"/>
          </a:solidFill>
          <a:ln/>
        </p:spPr>
      </p:sp>
      <p:sp>
        <p:nvSpPr>
          <p:cNvPr id="15" name="Shape 13"/>
          <p:cNvSpPr/>
          <p:nvPr/>
        </p:nvSpPr>
        <p:spPr>
          <a:xfrm>
            <a:off x="7662672" y="3931920"/>
            <a:ext cx="658368" cy="1005840"/>
          </a:xfrm>
          <a:prstGeom prst="rect">
            <a:avLst/>
          </a:prstGeom>
          <a:solidFill>
            <a:srgbClr val="A9B4BE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3931920"/>
            <a:ext cx="658368" cy="1005840"/>
          </a:xfrm>
          <a:prstGeom prst="rect">
            <a:avLst/>
          </a:prstGeom>
          <a:solidFill>
            <a:srgbClr val="A9B4BE"/>
          </a:solidFill>
          <a:ln/>
        </p:spPr>
      </p:sp>
      <p:sp>
        <p:nvSpPr>
          <p:cNvPr id="17" name="Shape 15"/>
          <p:cNvSpPr/>
          <p:nvPr/>
        </p:nvSpPr>
        <p:spPr>
          <a:xfrm>
            <a:off x="9162288" y="3931920"/>
            <a:ext cx="658368" cy="1005840"/>
          </a:xfrm>
          <a:prstGeom prst="rect">
            <a:avLst/>
          </a:prstGeom>
          <a:solidFill>
            <a:srgbClr val="A9B4BE"/>
          </a:solidFill>
          <a:ln/>
        </p:spPr>
      </p:sp>
      <p:sp>
        <p:nvSpPr>
          <p:cNvPr id="18" name="Shape 16"/>
          <p:cNvSpPr/>
          <p:nvPr/>
        </p:nvSpPr>
        <p:spPr>
          <a:xfrm>
            <a:off x="9912096" y="3931920"/>
            <a:ext cx="658368" cy="1005840"/>
          </a:xfrm>
          <a:prstGeom prst="rect">
            <a:avLst/>
          </a:prstGeom>
          <a:solidFill>
            <a:srgbClr val="A9B4B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61904" y="3931920"/>
            <a:ext cx="658368" cy="1005840"/>
          </a:xfrm>
          <a:prstGeom prst="rect">
            <a:avLst/>
          </a:prstGeom>
          <a:solidFill>
            <a:srgbClr val="A9B4B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FFF8D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80160" y="54864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“Transportando um contêiner inteiro para entregar um único envelope.”</a:t>
            </a:r>
            <a:endParaRPr lang="en-US" sz="16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4206240"/>
            <a:ext cx="438912" cy="438912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5556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Um Novo Paradigma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“Lazy Loading” com Associações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No ABAP CDS, uma Associação funciona como um </a:t>
            </a:r>
            <a:r>
              <a:rPr lang="en-US" sz="1700" b="1" dirty="0">
                <a:solidFill>
                  <a:srgbClr val="1D2D3E"/>
                </a:solidFill>
              </a:rPr>
              <a:t>‘Join sob Demanda’</a:t>
            </a:r>
            <a:r>
              <a:rPr lang="en-US" sz="1700" dirty="0">
                <a:solidFill>
                  <a:srgbClr val="1D2D3E"/>
                </a:solidFill>
              </a:rPr>
              <a:t> (Lazy Join): uma mudança fundamental na forma como os relacionamentos são executados.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33724" y="3063240"/>
            <a:ext cx="4724248" cy="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76524" y="2606040"/>
            <a:ext cx="914400" cy="914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76524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F2"/>
                </a:solidFill>
              </a:rPr>
              <a:t>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3749040"/>
            <a:ext cx="4577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Somente campos da entidade primária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 associação permanece ‘adormecida’. O JOIN físico </a:t>
            </a:r>
            <a:r>
              <a:rPr lang="en-US" sz="1400" b="1" dirty="0">
                <a:solidFill>
                  <a:srgbClr val="556B82"/>
                </a:solidFill>
              </a:rPr>
              <a:t>não acontece</a:t>
            </a:r>
            <a:r>
              <a:rPr lang="en-US" sz="14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00771" y="2606040"/>
            <a:ext cx="914400" cy="914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00771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F2"/>
                </a:solidFill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169000" y="3749040"/>
            <a:ext cx="4577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Campo da entidade associada solicitado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JOIN só é executado no momento exato em que um campo do destino é </a:t>
            </a:r>
            <a:r>
              <a:rPr lang="en-US" sz="1400" b="1" dirty="0">
                <a:solidFill>
                  <a:srgbClr val="556B82"/>
                </a:solidFill>
              </a:rPr>
              <a:t>explicitamente</a:t>
            </a:r>
            <a:r>
              <a:rPr lang="en-US" sz="1400" dirty="0">
                <a:solidFill>
                  <a:srgbClr val="556B82"/>
                </a:solidFill>
              </a:rPr>
              <a:t> pedido na consulta.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F5FA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80160" y="54864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“Recebendo apenas o que você pediu, exatamente quando precisa.”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5556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Essência da Associação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Uma Definição Lógica, Não uma Execução Imediata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Uma Associação é uma </a:t>
            </a:r>
            <a:r>
              <a:rPr lang="en-US" sz="1800" b="1" dirty="0">
                <a:solidFill>
                  <a:srgbClr val="1D2D3E"/>
                </a:solidFill>
              </a:rPr>
              <a:t>definição semântica de um relacionamento</a:t>
            </a:r>
            <a:r>
              <a:rPr lang="en-US" sz="1800" dirty="0">
                <a:solidFill>
                  <a:srgbClr val="1D2D3E"/>
                </a:solidFill>
              </a:rPr>
              <a:t>. É uma promessa de conexão, não uma instrução para o banco executar a junção imediatamente.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651760" y="2788920"/>
            <a:ext cx="1371600" cy="13716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103120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Definição Lógica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138160" y="2788920"/>
            <a:ext cx="1371600" cy="13716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0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Execução Física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7889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56B82"/>
                </a:solidFill>
              </a:rPr>
              <a:t>≠</a:t>
            </a:r>
            <a:endParaRPr lang="en-US" sz="8000" dirty="0"/>
          </a:p>
        </p:txBody>
      </p:sp>
      <p:sp>
        <p:nvSpPr>
          <p:cNvPr id="10" name="Shape 8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512064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 benefício estratégico:</a:t>
            </a:r>
            <a:r>
              <a:rPr lang="en-US" sz="1500" dirty="0">
                <a:solidFill>
                  <a:srgbClr val="1D2D3E"/>
                </a:solidFill>
              </a:rPr>
              <a:t> essa abordagem economiza memória e CPU drasticamente no SAP HANA. Permite views ricas e reutilizáveis, com dezenas de associações potenciais, sem penalizar a performance de consultas simples que não as utilizam.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0944" y="3118104"/>
            <a:ext cx="713232" cy="713232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472684"/>
            <a:ext cx="347472" cy="347472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3118104"/>
            <a:ext cx="713232" cy="7132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Anatomia de uma Associação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Dominando a Sintaxe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cardinalidade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Entidade_Destino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_Alias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$projection.MeuCampo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_Alias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CampoDeles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5760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383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56B82"/>
                          </a:solidFill>
                        </a:rPr>
                        <a:t>Parte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56B82"/>
                          </a:solidFill>
                        </a:rPr>
                        <a:t>Significado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[cardinalidade]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Instrução para o otimizador do banco de dados.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Entidade_Destino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A view ou tabela que você quer conectar.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_Alias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O ‘apelido’ do relacionamento. Convenção: iniciar com </a:t>
                      </a:r>
                      <a:r>
                        <a:rPr lang="en-US" sz="13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</a:t>
                      </a: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$projection.MeuCampo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Refere-se a um campo da sua própria view.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 _Alias.CampoDeles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A condição de junção, como em um JOIN.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83680" y="2788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269480" y="2770632"/>
            <a:ext cx="4373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_Alias: convenção de nome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Iniciar com underscore é padrão SAP: distingue colunas físicas de relacionamentos navegáveis (ex.: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_Customer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_Currency</a:t>
            </a:r>
            <a:r>
              <a:rPr lang="en-US" sz="1300" dirty="0">
                <a:solidFill>
                  <a:srgbClr val="556B82"/>
                </a:solidFill>
              </a:rPr>
              <a:t>).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83680" y="3931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269480" y="3913632"/>
            <a:ext cx="4373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$projection: referência inteligente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Refere-se a um campo da lista de seleção da própria view: depende do alias, não do nome físico.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0" y="5074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269480" y="5056632"/>
            <a:ext cx="4373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Condições ON: flexibilidade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Podem incluir filtros fixos para associações mais específicas (ex.: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and _Config.Status = 'Ativo'</a:t>
            </a:r>
            <a:r>
              <a:rPr lang="en-US" sz="1300" dirty="0">
                <a:solidFill>
                  <a:srgbClr val="556B82"/>
                </a:solidFill>
              </a:rPr>
              <a:t>).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2898648"/>
            <a:ext cx="237744" cy="237744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4041648"/>
            <a:ext cx="237744" cy="237744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5184648"/>
            <a:ext cx="237744" cy="237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Falando a Língua do Otimizador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Papel da Cardinalidade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 cardinalidade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[min..max]</a:t>
            </a:r>
            <a:r>
              <a:rPr lang="en-US" sz="1600" dirty="0">
                <a:solidFill>
                  <a:srgbClr val="1D2D3E"/>
                </a:solidFill>
              </a:rPr>
              <a:t> é uma instrução direta para o otimizador do SAP HANA: informa as regras do relacionamento, permitindo escolher o plano de execução SQL mais eficiente.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15258" cy="370332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3017520"/>
            <a:ext cx="457200" cy="457200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3246120"/>
            <a:ext cx="1686458" cy="0"/>
          </a:xfrm>
          <a:prstGeom prst="line">
            <a:avLst/>
          </a:prstGeom>
          <a:noFill/>
          <a:ln w="31750">
            <a:solidFill>
              <a:srgbClr val="0070F2"/>
            </a:solidFill>
            <a:prstDash val="dash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49498" y="30175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1605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[0..1]  Para Um, Opcional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66344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Uma Viagem </a:t>
            </a:r>
            <a:r>
              <a:rPr lang="en-US" sz="1400" b="1" dirty="0">
                <a:solidFill>
                  <a:srgbClr val="1D2D3E"/>
                </a:solidFill>
              </a:rPr>
              <a:t>pode ter</a:t>
            </a:r>
            <a:r>
              <a:rPr lang="en-US" sz="1400" dirty="0">
                <a:solidFill>
                  <a:srgbClr val="1D2D3E"/>
                </a:solidFill>
              </a:rPr>
              <a:t> uma Agência. Corresponde a um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OUTER JOIN</a:t>
            </a:r>
            <a:r>
              <a:rPr lang="en-US" sz="1400" dirty="0">
                <a:solidFill>
                  <a:srgbClr val="1D2D3E"/>
                </a:solidFill>
              </a:rPr>
              <a:t>. É o padrão se omitido.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38218" y="2468880"/>
            <a:ext cx="3515258" cy="370332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95418" y="3017520"/>
            <a:ext cx="457200" cy="457200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3" name="Shape 11"/>
          <p:cNvSpPr/>
          <p:nvPr/>
        </p:nvSpPr>
        <p:spPr>
          <a:xfrm>
            <a:off x="5252618" y="3246120"/>
            <a:ext cx="1686458" cy="0"/>
          </a:xfrm>
          <a:prstGeom prst="line">
            <a:avLst/>
          </a:prstGeom>
          <a:noFill/>
          <a:ln w="3175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39077" y="3017520"/>
            <a:ext cx="457200" cy="457200"/>
          </a:xfrm>
          <a:prstGeom prst="ellipse">
            <a:avLst/>
          </a:prstGeom>
          <a:solidFill>
            <a:srgbClr val="0070F2"/>
          </a:solidFill>
          <a:ln w="25400">
            <a:solidFill>
              <a:srgbClr val="0070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2538" y="41605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[1..1]  Para Um, Obrigatório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612538" y="466344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Um Item de Pedido </a:t>
            </a:r>
            <a:r>
              <a:rPr lang="en-US" sz="1400" b="1" dirty="0">
                <a:solidFill>
                  <a:srgbClr val="1D2D3E"/>
                </a:solidFill>
              </a:rPr>
              <a:t>deve ter</a:t>
            </a:r>
            <a:r>
              <a:rPr lang="en-US" sz="1400" dirty="0">
                <a:solidFill>
                  <a:srgbClr val="1D2D3E"/>
                </a:solidFill>
              </a:rPr>
              <a:t> um Cabeçalho. Permite que o banco use um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</a:t>
            </a:r>
            <a:r>
              <a:rPr lang="en-US" sz="1400" dirty="0">
                <a:solidFill>
                  <a:srgbClr val="1D2D3E"/>
                </a:solidFill>
              </a:rPr>
              <a:t> se for mais performático.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7797" y="2468880"/>
            <a:ext cx="3515258" cy="370332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84997" y="3017520"/>
            <a:ext cx="457200" cy="457200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9" name="Shape 17"/>
          <p:cNvSpPr/>
          <p:nvPr/>
        </p:nvSpPr>
        <p:spPr>
          <a:xfrm flipV="1">
            <a:off x="9042197" y="2697480"/>
            <a:ext cx="1686458" cy="548640"/>
          </a:xfrm>
          <a:prstGeom prst="line">
            <a:avLst/>
          </a:prstGeom>
          <a:noFill/>
          <a:ln w="31750">
            <a:solidFill>
              <a:srgbClr val="0070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28655" y="2468880"/>
            <a:ext cx="457200" cy="457200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1" name="Shape 19"/>
          <p:cNvSpPr/>
          <p:nvPr/>
        </p:nvSpPr>
        <p:spPr>
          <a:xfrm>
            <a:off x="9042197" y="3246120"/>
            <a:ext cx="1686458" cy="0"/>
          </a:xfrm>
          <a:prstGeom prst="line">
            <a:avLst/>
          </a:prstGeom>
          <a:noFill/>
          <a:ln w="31750">
            <a:solidFill>
              <a:srgbClr val="0070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28655" y="3017520"/>
            <a:ext cx="457200" cy="457200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3" name="Shape 21"/>
          <p:cNvSpPr/>
          <p:nvPr/>
        </p:nvSpPr>
        <p:spPr>
          <a:xfrm>
            <a:off x="9042197" y="3246120"/>
            <a:ext cx="1686458" cy="548640"/>
          </a:xfrm>
          <a:prstGeom prst="line">
            <a:avLst/>
          </a:prstGeom>
          <a:noFill/>
          <a:ln w="31750">
            <a:solidFill>
              <a:srgbClr val="0070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28655" y="3566160"/>
            <a:ext cx="457200" cy="457200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02117" y="41605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[1..*]  Para Muitos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402117" y="466344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Uma Viagem </a:t>
            </a:r>
            <a:r>
              <a:rPr lang="en-US" sz="1400" b="1" dirty="0">
                <a:solidFill>
                  <a:srgbClr val="1D2D3E"/>
                </a:solidFill>
              </a:rPr>
              <a:t>tem muitas</a:t>
            </a:r>
            <a:r>
              <a:rPr lang="en-US" sz="1400" dirty="0">
                <a:solidFill>
                  <a:srgbClr val="1D2D3E"/>
                </a:solidFill>
              </a:rPr>
              <a:t> Reservas. Alerta sobre a possibilidade de duplicar linhas da origem se campos da associação forem selecionados.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Exemplo Prático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Enriquecendo a View de Viagens Z_I_TRAVEL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Associações conectam uma viagem à sua agência, cliente e moeda, sem poluir a seleção de dados principal.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749808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130552"/>
            <a:ext cx="70408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Z_I_TRAVEL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zrap_travel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Definição das associações (relacionamentos lógicos) */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/DMO/I_Agency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_Agency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$projection.AgencyID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_Agency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AgencyID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/DMO/I_Customer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_Customer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$projection.CustomerID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_Customer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I_Currency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_Currency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$projection.CurrencyCode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_Currency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travel_uuid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TravelUUID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agency_id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CurrencyCode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/* Exposição das associações (publicação) */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_Agency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_Customer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_Currency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321040" y="1965960"/>
            <a:ext cx="3322015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85632" y="253288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85632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1965960"/>
            <a:ext cx="2544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Definição:</a:t>
            </a:r>
            <a:r>
              <a:rPr lang="en-US" sz="1400" dirty="0">
                <a:solidFill>
                  <a:srgbClr val="1D2D3E"/>
                </a:solidFill>
              </a:rPr>
              <a:t> as associações são declaradas entre 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from</a:t>
            </a:r>
            <a:r>
              <a:rPr lang="en-US" sz="1400" dirty="0">
                <a:solidFill>
                  <a:srgbClr val="1D2D3E"/>
                </a:solidFill>
              </a:rPr>
              <a:t> e a lista de campos.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21040" y="3703320"/>
            <a:ext cx="3322015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85632" y="427024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85632" y="4270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3703320"/>
            <a:ext cx="2544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Exposição:</a:t>
            </a:r>
            <a:r>
              <a:rPr lang="en-US" sz="1400" dirty="0">
                <a:solidFill>
                  <a:srgbClr val="1D2D3E"/>
                </a:solidFill>
              </a:rPr>
              <a:t> ao incluir o alias na lista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r>
              <a:rPr lang="en-US" sz="1400" dirty="0">
                <a:solidFill>
                  <a:srgbClr val="1D2D3E"/>
                </a:solidFill>
              </a:rPr>
              <a:t>, o relacionamento ‘privado’ se torna uma </a:t>
            </a:r>
            <a:r>
              <a:rPr lang="en-US" sz="1400" b="1" dirty="0">
                <a:solidFill>
                  <a:srgbClr val="1D2D3E"/>
                </a:solidFill>
              </a:rPr>
              <a:t>navegação pública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Poder da Exposição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 Relacionamento Privado a Navegação Pública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Definir uma associação permite usá-la </a:t>
            </a:r>
            <a:r>
              <a:rPr lang="en-US" sz="1600" b="1" dirty="0">
                <a:solidFill>
                  <a:srgbClr val="1D2D3E"/>
                </a:solidFill>
              </a:rPr>
              <a:t>dentro</a:t>
            </a:r>
            <a:r>
              <a:rPr lang="en-US" sz="1600" dirty="0">
                <a:solidFill>
                  <a:srgbClr val="1D2D3E"/>
                </a:solidFill>
              </a:rPr>
              <a:t> da própria view. Para que consumidores externos (outras views, apps Fiori) utilizem o relacionamento, precisamos </a:t>
            </a:r>
            <a:r>
              <a:rPr lang="en-US" sz="1600" b="1" dirty="0">
                <a:solidFill>
                  <a:srgbClr val="1D2D3E"/>
                </a:solidFill>
              </a:rPr>
              <a:t>expô-lo</a:t>
            </a:r>
            <a:r>
              <a:rPr lang="en-US" sz="1600" dirty="0">
                <a:solidFill>
                  <a:srgbClr val="1D2D3E"/>
                </a:solidFill>
              </a:rPr>
              <a:t>, adicionando o alias (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_Customer</a:t>
            </a:r>
            <a:r>
              <a:rPr lang="en-US" sz="1600" dirty="0">
                <a:solidFill>
                  <a:srgbClr val="1D2D3E"/>
                </a:solidFill>
              </a:rPr>
              <a:t>) à lista de campos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r>
              <a:rPr lang="en-US" sz="16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364328" cy="361188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74320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Benefício 1: Reutilização do Modelo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Outra CDS view que consome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Z_I_TRAVEL</a:t>
            </a:r>
            <a:r>
              <a:rPr lang="en-US" sz="1400" dirty="0">
                <a:solidFill>
                  <a:srgbClr val="1D2D3E"/>
                </a:solidFill>
              </a:rPr>
              <a:t> pode acessar campos do cliente diretamente, sem refazer o relacionamento.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4815688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51560" y="4279392"/>
            <a:ext cx="43584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Z_I_TRAVEL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TravelID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_Customer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EmailAddress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78728" y="2560320"/>
            <a:ext cx="5364328" cy="361188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53048" y="274320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Benefício 2: Navegação para OData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32004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Este é o passo que conecta o back-end ao front-end.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53048" y="4114800"/>
            <a:ext cx="1391869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44488" y="4187952"/>
            <a:ext cx="1208989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CDS View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Back-end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18069" y="4617720"/>
            <a:ext cx="17373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6" name="Shape 14"/>
          <p:cNvSpPr/>
          <p:nvPr/>
        </p:nvSpPr>
        <p:spPr>
          <a:xfrm>
            <a:off x="8264957" y="4114800"/>
            <a:ext cx="1391869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56397" y="4187952"/>
            <a:ext cx="1208989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OData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Service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729978" y="4617720"/>
            <a:ext cx="17373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9" name="Shape 17"/>
          <p:cNvSpPr/>
          <p:nvPr/>
        </p:nvSpPr>
        <p:spPr>
          <a:xfrm>
            <a:off x="9976866" y="4114800"/>
            <a:ext cx="1391869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68306" y="4187952"/>
            <a:ext cx="1208989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Fiori App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Front-end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Resultado Final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Associações como Propriedades de Navegação em OData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No mundo OData, uma associação exposta se transforma em uma </a:t>
            </a:r>
            <a:r>
              <a:rPr lang="en-US" sz="1600" b="1" dirty="0">
                <a:solidFill>
                  <a:srgbClr val="1D2D3E"/>
                </a:solidFill>
              </a:rPr>
              <a:t>Navigation Property</a:t>
            </a:r>
            <a:r>
              <a:rPr lang="en-US" sz="1600" dirty="0">
                <a:solidFill>
                  <a:srgbClr val="1D2D3E"/>
                </a:solidFill>
              </a:rPr>
              <a:t>, permitindo que o Fiori Elements crie experiências de ‘drill-down’ automaticamente.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Back-end (CDS)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OData Service (URL)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Front-end (Fiori UI)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2918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3227832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_Customer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931920" y="3794760"/>
            <a:ext cx="320040" cy="32004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3520440"/>
            <a:ext cx="338328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434840" y="3520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.../TravelSet('001')/to_Customer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3794760"/>
            <a:ext cx="320040" cy="32004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0" y="3063240"/>
            <a:ext cx="341345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12480" y="3154680"/>
            <a:ext cx="30476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Detalhes do Cliente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Nome: John Doe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E-mail: john.doe@example.com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EBF8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80160" y="5212080"/>
            <a:ext cx="100885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usuário clica no ID do Cliente na tela de Viagem e abre os detalhes do contato — tudo gerenciado pelo framework através da associação que definimos.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1840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Confronto Direto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JOIN vs. Association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507992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Característica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JOIN (SQL clássico)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ASSOCIATION (CDS)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Execução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AA0808"/>
                          </a:solidFill>
                        </a:rPr>
                        <a:t>Eager: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 sempre executa a junção, independentemente do uso.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56F3A"/>
                          </a:solidFill>
                        </a:rPr>
                        <a:t>Lazy: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 só executa a junção se campos do destino forem explicitamente solicitados.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Sintaxe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LEFT OUTER JOIN Tabela ON ...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 [1..1] to Entidade ...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Reutilização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Local para aquela query específica.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Pode ser exposta na projeção e reutilizada por consumidores (views/apps).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Semântica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Apenas técnica (colunas).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Define hierarquia, cardinalidade e relação de negócio (pai/filho).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Seu Léxico Técnico para Modelagem Moderna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5623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43230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Association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Relacionamento semântico entre entidades CDS. Materializa-se em tempo de execução apenas se os dados forem solicitados (‘Lazy Loading’).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94250" y="185623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4250" y="243230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_Alias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Convenção de nomenclatura para associações que ajuda a diferenciar campos físicos de relacionamentos navegáveis.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383829" y="185623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83829" y="243230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Cardinality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Expressão [min..max] que define a regra numérica do relacionamento. Crucial para o otimizador do banco.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427939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85546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$projection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Palavra-chave na condição ON que referencia o alias de um campo da lista de seleção da view atual.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94250" y="427939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94250" y="485546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Navigation Property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Conceito OData: uma associação exposta que se torna navegável no serviço, permitindo acesso a dados relacionados via URL.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1954987"/>
            <a:ext cx="213970" cy="21397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006" y="1954987"/>
            <a:ext cx="213970" cy="213970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584" y="1954987"/>
            <a:ext cx="213970" cy="213970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" y="4378147"/>
            <a:ext cx="213970" cy="213970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006" y="4378147"/>
            <a:ext cx="213970" cy="213970"/>
          </a:xfrm>
          <a:prstGeom prst="rect">
            <a:avLst/>
          </a:prstGeom>
        </p:spPr>
      </p:pic>
      <p:sp>
        <p:nvSpPr>
          <p:cNvPr id="23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Verifique seu Entendimento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Pontos-Chave para Levar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1325880"/>
          </a:xfrm>
          <a:prstGeom prst="roundRect">
            <a:avLst>
              <a:gd name="adj" fmla="val 9655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731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B1FF"/>
                </a:solidFill>
              </a:rPr>
              <a:t>Q1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83080"/>
            <a:ext cx="985997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Qual a principal vantagem de performance de ASSOCIATION sobre JOIN?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A execução ‘sob demanda’ (</a:t>
            </a:r>
            <a:r>
              <a:rPr lang="en-US" sz="1400" b="1" dirty="0">
                <a:solidFill>
                  <a:srgbClr val="C9D3DE"/>
                </a:solidFill>
              </a:rPr>
              <a:t>Lazy Loading</a:t>
            </a:r>
            <a:r>
              <a:rPr lang="en-US" sz="1400" dirty="0">
                <a:solidFill>
                  <a:srgbClr val="C9D3DE"/>
                </a:solidFill>
              </a:rPr>
              <a:t>): a junção física só ocorre se colunas da tabela associada forem solicitadas, economizando CPU e memória.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1094415" cy="1325880"/>
          </a:xfrm>
          <a:prstGeom prst="roundRect">
            <a:avLst>
              <a:gd name="adj" fmla="val 9655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291840"/>
            <a:ext cx="731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B1FF"/>
                </a:solidFill>
              </a:rPr>
              <a:t>Q2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91840"/>
            <a:ext cx="985997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O que significa a cardinalidade [0..*] para o banco de dados?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É um relacionamento </a:t>
            </a:r>
            <a:r>
              <a:rPr lang="en-US" sz="1400" b="1" dirty="0">
                <a:solidFill>
                  <a:srgbClr val="C9D3DE"/>
                </a:solidFill>
              </a:rPr>
              <a:t>‘Um para Muitos’</a:t>
            </a:r>
            <a:r>
              <a:rPr lang="en-US" sz="1400" dirty="0">
                <a:solidFill>
                  <a:srgbClr val="C9D3DE"/>
                </a:solidFill>
              </a:rPr>
              <a:t>: o otimizador é alertado sobre o risco de duplicação de linhas da origem se a consulta for mal construída.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800600"/>
            <a:ext cx="11094415" cy="1325880"/>
          </a:xfrm>
          <a:prstGeom prst="roundRect">
            <a:avLst>
              <a:gd name="adj" fmla="val 9655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800600"/>
            <a:ext cx="731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B1FF"/>
                </a:solidFill>
              </a:rPr>
              <a:t>Q3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800600"/>
            <a:ext cx="985997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Para um ‘drill-down’ de Viagem para Cliente no Fiori, o que é indispensável na CDS?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A associação (</a:t>
            </a:r>
            <a:r>
              <a:rPr lang="en-US" sz="14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_Customer</a:t>
            </a:r>
            <a:r>
              <a:rPr lang="en-US" sz="1400" dirty="0">
                <a:solidFill>
                  <a:srgbClr val="C9D3DE"/>
                </a:solidFill>
              </a:rPr>
              <a:t>) deve ser definida e, crucialmente, </a:t>
            </a:r>
            <a:r>
              <a:rPr lang="en-US" sz="1400" b="1" dirty="0">
                <a:solidFill>
                  <a:srgbClr val="C9D3DE"/>
                </a:solidFill>
              </a:rPr>
              <a:t>exposta</a:t>
            </a:r>
            <a:r>
              <a:rPr lang="en-US" sz="1400" dirty="0">
                <a:solidFill>
                  <a:srgbClr val="C9D3DE"/>
                </a:solidFill>
              </a:rPr>
              <a:t> na lista de campos </a:t>
            </a:r>
            <a:r>
              <a:rPr lang="en-US" sz="14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r>
              <a:rPr lang="en-US" sz="1400" dirty="0">
                <a:solidFill>
                  <a:srgbClr val="C9D3DE"/>
                </a:solidFill>
              </a:rPr>
              <a:t> para se tornar uma </a:t>
            </a:r>
            <a:r>
              <a:rPr lang="en-US" sz="1400" b="1" dirty="0">
                <a:solidFill>
                  <a:srgbClr val="C9D3DE"/>
                </a:solidFill>
              </a:rPr>
              <a:t>Navigation Property</a:t>
            </a:r>
            <a:r>
              <a:rPr lang="en-US" sz="1400" dirty="0">
                <a:solidFill>
                  <a:srgbClr val="C9D3DE"/>
                </a:solidFill>
              </a:rPr>
              <a:t> no OData.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JOINs a Associações em ABAP CDS</dc:title>
  <dc:subject>ABAP Moderno – Módulo 02</dc:subject>
  <dc:creator>Adriano Bispo</dc:creator>
  <cp:lastModifiedBy>Adriano Bispo</cp:lastModifiedBy>
  <cp:revision>1</cp:revision>
  <dcterms:created xsi:type="dcterms:W3CDTF">2026-10-25T15:22:30Z</dcterms:created>
  <dcterms:modified xsi:type="dcterms:W3CDTF">2026-10-25T15:22:30Z</dcterms:modified>
</cp:coreProperties>
</file>