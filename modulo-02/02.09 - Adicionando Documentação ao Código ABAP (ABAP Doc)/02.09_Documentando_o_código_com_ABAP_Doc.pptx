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02 — Programação ABAP Intermediária  ·  Aula 9 de 9 — ABAP Doc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02 — Programação ABAP Intermediária  ·  Aula 9 de 9 — ABAP Doc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02 · AULA 09 DE 09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Documentando o código com ABAP Doc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Comentários "! que viram documentação no Element Info, com tags, parâmetros, links e texto curto sincronizado.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5547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9255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2964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66724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380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089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797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506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9 de 9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02 — Programação ABAP Intermediária · Design System SAP Horizon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02 em 9 aulas: ABAP intermediário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Analisar e testar código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ATC, ABAP Unit, Profiling e SQL Trace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4099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6869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6869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968691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Tipos e conversões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68691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técnicos, conversões e datas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59558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2415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2415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5224150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Campos de caracteres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224150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Funções, regex e textos traduzíveis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017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7960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7960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7479609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Code pushdown no SQL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79609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Expressões, joins, agregações e UNION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70476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3506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3506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9735068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Performance de tabelas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735068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Chaves, field symbols e chaves secundárias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Autorizações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13232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Conceito, CDS DCL e AUTHORITY-CHECK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804099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96869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96869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2968691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OO eficaz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2968691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Herança, interfaces e factory methods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59558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22415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22415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2" name="Text 40"/>
          <p:cNvSpPr txBox="1"/>
          <p:nvPr/>
        </p:nvSpPr>
        <p:spPr>
          <a:xfrm>
            <a:off x="5224150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de exceção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5224150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Categorias, T100 e tratamento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315017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479609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47960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9</a:t>
            </a:r>
            <a:endParaRPr lang="en-US" sz="1260" dirty="0"/>
          </a:p>
        </p:txBody>
      </p:sp>
      <p:sp>
        <p:nvSpPr>
          <p:cNvPr id="47" name="Text 45"/>
          <p:cNvSpPr txBox="1"/>
          <p:nvPr/>
        </p:nvSpPr>
        <p:spPr>
          <a:xfrm>
            <a:off x="7479609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ABAP Doc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7479609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Documentação no código e no ADT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955097" y="3904488"/>
            <a:ext cx="792419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955097" y="3904488"/>
            <a:ext cx="7924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documentamos interfaces e métodos do projeto Pedidos de Compras para que quem usar o código entenda tudo pelo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497" y="1847088"/>
            <a:ext cx="347472" cy="347472"/>
          </a:xfrm>
          <a:prstGeom prst="rect">
            <a:avLst/>
          </a:prstGeom>
        </p:spPr>
      </p:pic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579" y="1847088"/>
            <a:ext cx="347472" cy="347472"/>
          </a:xfrm>
          <a:prstGeom prst="rect">
            <a:avLst/>
          </a:prstGeom>
        </p:spPr>
      </p:pic>
      <p:pic>
        <p:nvPicPr>
          <p:cNvPr id="5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038" y="1847088"/>
            <a:ext cx="347472" cy="347472"/>
          </a:xfrm>
          <a:prstGeom prst="rect">
            <a:avLst/>
          </a:prstGeom>
        </p:spPr>
      </p:pic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956" y="1847088"/>
            <a:ext cx="347472" cy="347472"/>
          </a:xfrm>
          <a:prstGeom prst="rect">
            <a:avLst/>
          </a:prstGeom>
        </p:spPr>
      </p:pic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2579" y="3858768"/>
            <a:ext cx="347472" cy="347472"/>
          </a:xfrm>
          <a:prstGeom prst="rect">
            <a:avLst/>
          </a:prstGeom>
        </p:spPr>
      </p:pic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497" y="3858768"/>
            <a:ext cx="347472" cy="347472"/>
          </a:xfrm>
          <a:prstGeom prst="rect">
            <a:avLst/>
          </a:prstGeom>
        </p:spPr>
      </p:pic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8038" y="3858768"/>
            <a:ext cx="347472" cy="347472"/>
          </a:xfrm>
          <a:prstGeom prst="rect">
            <a:avLst/>
          </a:prstGeom>
        </p:spPr>
      </p:pic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8956" y="3858768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Comentário comum ou ABAP Doc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02847"/>
            <a:ext cx="5410048" cy="2680907"/>
          </a:xfrm>
          <a:prstGeom prst="roundRect">
            <a:avLst>
              <a:gd name="adj" fmla="val 341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202847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47716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477167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Comentário com "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17247"/>
            <a:ext cx="4952848" cy="162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Só aparece para quem abre o código-fonte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Fica onde foi escrito, sem ligação com o elemento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Bom para explicar </a:t>
            </a:r>
            <a:r>
              <a:rPr lang="en-US" sz="1350" b="1" dirty="0">
                <a:solidFill>
                  <a:srgbClr val="1D2D3E"/>
                </a:solidFill>
              </a:rPr>
              <a:t>por que</a:t>
            </a:r>
            <a:r>
              <a:rPr lang="en-US" sz="1350" dirty="0">
                <a:solidFill>
                  <a:srgbClr val="1D2D3E"/>
                </a:solidFill>
              </a:rPr>
              <a:t> algo foi feito de certo jeito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202847"/>
            <a:ext cx="5410048" cy="2680907"/>
          </a:xfrm>
          <a:prstGeom prst="roundRect">
            <a:avLst>
              <a:gd name="adj" fmla="val 341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202847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47716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477167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ABAP Doc com "!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117247"/>
            <a:ext cx="4952848" cy="162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Vira documentação do elemento: aparece no </a:t>
            </a:r>
            <a:r>
              <a:rPr lang="en-US" sz="1350" b="1" dirty="0">
                <a:solidFill>
                  <a:srgbClr val="1D2D3E"/>
                </a:solidFill>
              </a:rPr>
              <a:t>Element Info</a:t>
            </a:r>
            <a:r>
              <a:rPr lang="en-US" sz="1350" dirty="0">
                <a:solidFill>
                  <a:srgbClr val="1D2D3E"/>
                </a:solidFill>
              </a:rPr>
              <a:t> (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</a:t>
            </a:r>
            <a:r>
              <a:rPr lang="en-US" sz="1350" dirty="0">
                <a:solidFill>
                  <a:srgbClr val="1D2D3E"/>
                </a:solidFill>
              </a:rPr>
              <a:t>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Documenta classes, interfaces, métodos, parâmetros, exceções, tipos e atributos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Explica </a:t>
            </a:r>
            <a:r>
              <a:rPr lang="en-US" sz="1350" b="1" dirty="0">
                <a:solidFill>
                  <a:srgbClr val="1D2D3E"/>
                </a:solidFill>
              </a:rPr>
              <a:t>o que</a:t>
            </a:r>
            <a:r>
              <a:rPr lang="en-US" sz="1350" dirty="0">
                <a:solidFill>
                  <a:srgbClr val="1D2D3E"/>
                </a:solidFill>
              </a:rPr>
              <a:t> o elemento faz e como usá-lo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048345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8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5048345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Idioma  </a:t>
            </a:r>
            <a:r>
              <a:rPr lang="en-US" sz="1200" dirty="0">
                <a:solidFill>
                  <a:srgbClr val="1D2D3E"/>
                </a:solidFill>
              </a:rPr>
              <a:t>ABAP Doc não é traduzido: escolha com cuidado o idioma da documentação.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577751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176361"/>
            <a:ext cx="310896" cy="310896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92" y="2577751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02.09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Escrevendo ABAP Doc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Linhas que começam com </a:t>
            </a:r>
            <a:r>
              <a:rPr lang="en-US" sz="1600" b="1" dirty="0">
                <a:solidFill>
                  <a:srgbClr val="D1EFFF"/>
                </a:solidFill>
              </a:rPr>
              <a:t>"!</a:t>
            </a:r>
            <a:r>
              <a:rPr lang="en-US" sz="1600" dirty="0">
                <a:solidFill>
                  <a:srgbClr val="D1EFFF"/>
                </a:solidFill>
              </a:rPr>
              <a:t> imediatamente antes de uma declaração documentam aquele elemento.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</a:t>
            </a:r>
            <a:r>
              <a:rPr lang="en-US" sz="1000" dirty="0">
                <a:solidFill>
                  <a:srgbClr val="D1EFFF"/>
                </a:solidFill>
              </a:rPr>
              <a:t>  comentário de documentação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@parameter … |</a:t>
            </a:r>
            <a:r>
              <a:rPr lang="en-US" sz="1000" dirty="0">
                <a:solidFill>
                  <a:srgbClr val="D1EFFF"/>
                </a:solidFill>
              </a:rPr>
              <a:t>  parâmetro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@raising … |</a:t>
            </a:r>
            <a:r>
              <a:rPr lang="en-US" sz="1000" dirty="0">
                <a:solidFill>
                  <a:srgbClr val="D1EFFF"/>
                </a:solidFill>
              </a:rPr>
              <a:t>  exceção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Ctrl+1</a:t>
            </a:r>
            <a:r>
              <a:rPr lang="en-US" sz="1000" dirty="0">
                <a:solidFill>
                  <a:srgbClr val="D1EFFF"/>
                </a:solidFill>
              </a:rPr>
              <a:t>  Add ABAP Doc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SINTAXE · NO PROJETO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Documentando a interface e o método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38658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38658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zif_pc_numeracao.intf.abap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ZAVBS_PC_COMMON › ZIF_PC_NUMERACAO (com tags @parameter e @raising)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Constantes, tipos e métodos públicos de ZCL_PC_NUMERACAO,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que implementa esta interface.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zif_pc_numeracao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ty_sku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SKU no formato SKU-&lt;3 letras da categoria&gt;-&lt;10 dígitos&gt;.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Ex.: SKU-ELE-0000000042 (18 caracteres; campo CHAR 21).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@parameter iv_categoria | Código da categoria, ex.: ELETRONICOS.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@parameter rv_sku       | SKU gerado pelo intervalo 02 de ZPC_NR.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@raising cx_number_ranges | Intervalo inexistente ou esgotado.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CLASS-METHODS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gerar_sku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iv_categoria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csequence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rv_sku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ty_sku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RAISING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cx_number_ranges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ENDINTERFACE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Antes do elemento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ABAP Doc fica imediatamente antes da declaração; fora do lugar, gera aviso e é ignorado.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@parameter … |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Documenta cada parâmetro; o texto vem depois da barra vertical.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@raising … |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Explica quando e por que a exceção é levantada.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Quick fix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Ctrl+1</a:t>
            </a:r>
            <a:r>
              <a:rPr lang="en-US" sz="1050" dirty="0">
                <a:solidFill>
                  <a:srgbClr val="556B82"/>
                </a:solidFill>
              </a:rPr>
              <a:t> → </a:t>
            </a:r>
            <a:r>
              <a:rPr lang="en-US" sz="1050" i="1" dirty="0">
                <a:solidFill>
                  <a:srgbClr val="556B82"/>
                </a:solidFill>
              </a:rPr>
              <a:t>Add ABAP Doc</a:t>
            </a:r>
            <a:r>
              <a:rPr lang="en-US" sz="1050" dirty="0">
                <a:solidFill>
                  <a:srgbClr val="556B82"/>
                </a:solidFill>
              </a:rPr>
              <a:t> gera o esqueleto; ao mudar a assinatura, outro quick fix ajusta.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SINTAXE · FORMATAÇÃO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Tags HTML aceitas no ABAP Doc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798064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3381280"/>
                <a:gridCol w="7438815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Tag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Uso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&lt;strong&gt; · &lt;em&gt;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Destaque forte e ênfase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&lt;br&gt;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Quebra de linha (sem ela, linhas seguidas viram uma só)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&lt;p&gt;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Parágrafo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&lt;h1&gt; · &lt;h2&gt; · &lt;h3&gt;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Títulos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&lt;ul&gt;&lt;li&gt; · &lt;ol&gt;&lt;li&gt;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Listas sem e com numeração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2686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626864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Dica  </a:t>
            </a:r>
            <a:r>
              <a:rPr lang="en-US" sz="1200" dirty="0">
                <a:solidFill>
                  <a:srgbClr val="1D2D3E"/>
                </a:solidFill>
              </a:rPr>
              <a:t>dentro de um comentário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</a:t>
            </a:r>
            <a:r>
              <a:rPr lang="en-US" sz="1200" dirty="0">
                <a:solidFill>
                  <a:srgbClr val="1D2D3E"/>
                </a:solidFill>
              </a:rPr>
              <a:t>,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Ctrl+Space</a:t>
            </a:r>
            <a:r>
              <a:rPr lang="en-US" sz="1200" dirty="0">
                <a:solidFill>
                  <a:srgbClr val="1D2D3E"/>
                </a:solidFill>
              </a:rPr>
              <a:t> insere as tags de formatação.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75488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02.09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Recursos avançados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Links entre elementos e um </a:t>
            </a:r>
            <a:r>
              <a:rPr lang="en-US" sz="1600" b="1" dirty="0">
                <a:solidFill>
                  <a:srgbClr val="D1EFFF"/>
                </a:solidFill>
              </a:rPr>
              <a:t>texto curto sincronizado</a:t>
            </a:r>
            <a:r>
              <a:rPr lang="en-US" sz="1600" dirty="0">
                <a:solidFill>
                  <a:srgbClr val="D1EFFF"/>
                </a:solidFill>
              </a:rPr>
              <a:t> com a descrição do objeto mantêm a documentação navegável e consistente.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{@link …}</a:t>
            </a:r>
            <a:r>
              <a:rPr lang="en-US" sz="1000" dirty="0">
                <a:solidFill>
                  <a:srgbClr val="D1EFFF"/>
                </a:solidFill>
              </a:rPr>
              <a:t>  navegação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shorttext synchronized</a:t>
            </a:r>
            <a:r>
              <a:rPr lang="en-US" sz="1000" dirty="0">
                <a:solidFill>
                  <a:srgbClr val="D1EFFF"/>
                </a:solidFill>
              </a:rPr>
              <a:t>  descrição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</a:t>
            </a:r>
            <a:r>
              <a:rPr lang="en-US" sz="1000" dirty="0">
                <a:solidFill>
                  <a:srgbClr val="D1EFFF"/>
                </a:solidFill>
              </a:rPr>
              <a:t>  Element Info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Boas práticas</a:t>
            </a:r>
            <a:r>
              <a:rPr lang="en-US" sz="1000" dirty="0">
                <a:solidFill>
                  <a:srgbClr val="D1EFFF"/>
                </a:solidFill>
              </a:rPr>
              <a:t>  o quê, não o como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AVANÇADO · LINKS E TEXTO CURTO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Navegação e descrição sempre em dia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9796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9796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zif_pc_auth.intf.abap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ZAVBS_PC_COMMON › ZIF_PC_AUTH (com links)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&lt;p class="shorttext synchronized"&gt;Pedidos de Compras - Verificação de perfil&lt;/p&gt;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Constantes, tipos e métodos públicos de {@link zcl_pc_auth}.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O modo trial está em {@link zif_pc_constants.DATA:c_modo_trial}.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zif_pc_auth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&lt;strong&gt;Criar pedidos&lt;/strong&gt;: atividade 01 de ZPC_PEDIDO.&lt;br&gt;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 Sempre verdadeiro no modo trial.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CLASS-METHODS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pedido_pode_criar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rv_autorizado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abap_boolean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ENDINTERFACE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shorttext synchronized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parágrafo vira a descrição do objeto, e vice-versa.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{@link …}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Link para outro objeto ou elemento; abre a documentação dele.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IDs de elemento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556B82"/>
                </a:solidFill>
              </a:rPr>
              <a:t> constantes e variáveis,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</a:t>
            </a:r>
            <a:r>
              <a:rPr lang="en-US" sz="1050" dirty="0">
                <a:solidFill>
                  <a:srgbClr val="556B82"/>
                </a:solidFill>
              </a:rPr>
              <a:t> métodos,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INTF</a:t>
            </a:r>
            <a:r>
              <a:rPr lang="en-US" sz="1050" dirty="0">
                <a:solidFill>
                  <a:srgbClr val="556B82"/>
                </a:solidFill>
              </a:rPr>
              <a:t> interfaces,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</a:t>
            </a:r>
            <a:r>
              <a:rPr lang="en-US" sz="1050" dirty="0">
                <a:solidFill>
                  <a:srgbClr val="556B82"/>
                </a:solidFill>
              </a:rPr>
              <a:t> domínios.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Formatação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r>
              <a:rPr lang="en-US" sz="1050" dirty="0">
                <a:solidFill>
                  <a:srgbClr val="556B82"/>
                </a:solidFill>
              </a:rPr>
              <a:t> 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r>
              <a:rPr lang="en-US" sz="1050" dirty="0">
                <a:solidFill>
                  <a:srgbClr val="556B82"/>
                </a:solidFill>
              </a:rPr>
              <a:t> controlam a exibição no Element Info.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AVANÇADO · BOAS PRÁTICAS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Documentação que ajuda de verdade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67584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9687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572256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O quê, não o como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Descreva o contrato: entradas, saída, efeitos e erros. O "como" está no código.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9394" y="2767584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80562" y="29687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80562" y="3572256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Foque no público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Classes, interfaces e métodos públicos são usados por outros: documente-os primeiro.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0148" y="2767584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1316" y="29687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1316" y="3572256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Nomes claros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Bons nomes reduzem a documentação necessária; ABAP Doc complementa, não substitui.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40901" y="2767584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242069" y="29687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42069" y="3572256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Mantenha em dia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Use os quick fixes ao mudar assinaturas: documentação errada é pior que nenhuma.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1146" y="3069336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069336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3069336"/>
            <a:ext cx="256032" cy="256032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2653" y="3069336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02.09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Comentários </a:t>
            </a:r>
            <a:r>
              <a:rPr lang="en-US" sz="1400" b="1" dirty="0">
                <a:solidFill>
                  <a:srgbClr val="FFFFFF"/>
                </a:solidFill>
              </a:rPr>
              <a:t>"!</a:t>
            </a:r>
            <a:r>
              <a:rPr lang="en-US" sz="1400" dirty="0">
                <a:solidFill>
                  <a:srgbClr val="FFFFFF"/>
                </a:solidFill>
              </a:rPr>
              <a:t> antes de uma declaração viram documentação do elemento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documentação aparece no </a:t>
            </a:r>
            <a:r>
              <a:rPr lang="en-US" sz="1400" b="1" dirty="0">
                <a:solidFill>
                  <a:srgbClr val="FFFFFF"/>
                </a:solidFill>
              </a:rPr>
              <a:t>Element Info</a:t>
            </a:r>
            <a:r>
              <a:rPr lang="en-US" sz="1400" dirty="0">
                <a:solidFill>
                  <a:srgbClr val="FFFFFF"/>
                </a:solidFill>
              </a:rPr>
              <a:t> (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</a:t>
            </a:r>
            <a:r>
              <a:rPr lang="en-US" sz="1400" dirty="0">
                <a:solidFill>
                  <a:srgbClr val="FFFFFF"/>
                </a:solidFill>
              </a:rPr>
              <a:t>) para quem usa o código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@parameter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@raising</a:t>
            </a:r>
            <a:r>
              <a:rPr lang="en-US" sz="1400" dirty="0">
                <a:solidFill>
                  <a:srgbClr val="FFFFFF"/>
                </a:solidFill>
              </a:rPr>
              <a:t> documentam a assinatura;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Ctrl+1</a:t>
            </a:r>
            <a:r>
              <a:rPr lang="en-US" sz="1400" dirty="0">
                <a:solidFill>
                  <a:srgbClr val="FFFFFF"/>
                </a:solidFill>
              </a:rPr>
              <a:t> gera o esqueleto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Tags HTML como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400" dirty="0">
                <a:solidFill>
                  <a:srgbClr val="FFFFFF"/>
                </a:solidFill>
              </a:rPr>
              <a:t> e listas formatam o texto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{@link …}</a:t>
            </a:r>
            <a:r>
              <a:rPr lang="en-US" sz="1400" dirty="0">
                <a:solidFill>
                  <a:srgbClr val="FFFFFF"/>
                </a:solidFill>
              </a:rPr>
              <a:t> cria navegação;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shorttext synchronized</a:t>
            </a:r>
            <a:r>
              <a:rPr lang="en-US" sz="1400" dirty="0">
                <a:solidFill>
                  <a:srgbClr val="FFFFFF"/>
                </a:solidFill>
              </a:rPr>
              <a:t> mantém a descrição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ABAP Doc não é traduzido: documente o contrato público, em um idioma escolhido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etapa  </a:t>
            </a:r>
            <a:r>
              <a:rPr lang="en-US" sz="1500" dirty="0">
                <a:solidFill>
                  <a:srgbClr val="FFFFFF"/>
                </a:solidFill>
              </a:rPr>
              <a:t>Módulo 03: modelagem de dados com Dicionário ABAP e CDS.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02.09 Documentando o código com ABAP Doc</dc:title>
  <dc:subject>ABAP Moderno – Módulo 02: Programação ABAP Intermediária</dc:subject>
  <dc:creator>Adriano Bispo</dc:creator>
  <cp:lastModifiedBy>Adriano Bispo</cp:lastModifiedBy>
  <cp:revision>1</cp:revision>
  <dcterms:created xsi:type="dcterms:W3CDTF">2026-10-29T13:37:26Z</dcterms:created>
  <dcterms:modified xsi:type="dcterms:W3CDTF">2026-10-29T13:37:26Z</dcterms:modified>
</cp:coreProperties>
</file>